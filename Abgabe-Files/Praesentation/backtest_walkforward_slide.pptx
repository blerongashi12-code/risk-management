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0010e047fb406c" /><Relationship Type="http://schemas.openxmlformats.org/officeDocument/2006/relationships/extended-properties" Target="/docProps/app.xml" Id="R341aea32a8ba4b69" /><Relationship Type="http://schemas.openxmlformats.org/officeDocument/2006/relationships/officeDocument" Target="/ppt/presentation.xml" Id="R982c459443eb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0ade554394dae"/>
  </p:sldMasterIdLst>
  <p:notesMasterIdLst>
    <p:notesMasterId xmlns:r="http://schemas.openxmlformats.org/officeDocument/2006/relationships" r:id="R9ad49df666474526"/>
  </p:notesMasterIdLst>
  <p:sldIdLst>
    <p:sldId xmlns:r="http://schemas.openxmlformats.org/officeDocument/2006/relationships" id="256" r:id="Rb4d90a359b3941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eebda065e4976" /><Relationship Type="http://schemas.openxmlformats.org/officeDocument/2006/relationships/slideMaster" Target="/ppt/slideMasters/slideMaster1.xml" Id="R0380ade554394dae" /><Relationship Type="http://schemas.openxmlformats.org/officeDocument/2006/relationships/notesMaster" Target="/ppt/notesMasters/notesMaster1.xml" Id="R9ad49df666474526" /><Relationship Type="http://schemas.openxmlformats.org/officeDocument/2006/relationships/presProps" Target="/ppt/presProps.xml" Id="R5cc00178163e4ebc" /><Relationship Type="http://schemas.openxmlformats.org/officeDocument/2006/relationships/tableStyles" Target="/ppt/tableStyles.xml" Id="R61ee2f0c62e64161" /><Relationship Type="http://schemas.openxmlformats.org/officeDocument/2006/relationships/slide" Target="/ppt/slides/slide1.xml" Id="Rb4d90a359b39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53a955d5c64d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57c1a466d4cd4" /><Relationship Type="http://schemas.openxmlformats.org/officeDocument/2006/relationships/notesMaster" Target="/ppt/notesMasters/notesMaster1.xml" Id="Rc17c335e7c874b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7bc61329846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e09bd6a31448a" /><Relationship Type="http://schemas.openxmlformats.org/officeDocument/2006/relationships/slideLayout" Target="/ppt/slideLayouts/slideLayout1.xml" Id="Rd38b4982e3e044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b4982e3e044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9f25904a64398" /><Relationship Type="http://schemas.openxmlformats.org/officeDocument/2006/relationships/notesSlide" Target="/ppt/notesSlides/notesSlide1.xml" Id="Raef26b16a5794b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18362887-7D6B-4230-8924-2820499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7"/>
          </a:solidFill>
          <a:ln xmlns:a="http://schemas.openxmlformats.org/drawingml/2006/main" w="0">
            <a:solidFill>
              <a:srgbClr val="D9E2E7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40F065-DF2F-44A2-81E4-E317E18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A9A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A9A5"/>
                </a:solidFill>
                <a:latin typeface="Aptos"/>
                <a:ea typeface="Aptos"/>
                <a:cs typeface="Aptos"/>
              </a:rPr>
              <a:t>Backtest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7F63DC-DFFB-4A11-A0D6-75440460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Backtest ohne Zukunftsblick: Vorjahr einfrieren, Folgejahr prüfen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9064110-8133-4D6A-A0F0-4CF8F759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7F93"/>
                </a:solidFill>
                <a:latin typeface="Aptos"/>
                <a:ea typeface="Aptos"/>
                <a:cs typeface="Aptos"/>
              </a:rPr>
              <a:t>Die Validierung vergleicht die Stress-CET1 aus Informationsstand t erst dann mit der gemeldeten CET1, wenn t+1 veröffentlicht ist.</a:t>
            </a:r>
          </a:p>
        </p:txBody>
      </p:sp>
      <p:sp>
        <p:nvSpPr>
          <p:cNvPr id="5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58E11178-D570-40B0-8B79-E2E82DE8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107251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</p:sp>
      <p:sp>
        <p:nvSpPr>
          <p:cNvPr id="6" name="tick-164">
            <a:extLst xmlns:a="http://schemas.openxmlformats.org/drawingml/2006/main">
              <a:ext uri="{FF2B5EF4-FFF2-40B4-BE49-F238E27FC236}">
                <a16:creationId xmlns:a16="http://schemas.microsoft.com/office/drawing/2014/main" id="{7D30EDB5-A344-418C-AEE7-B77C20CA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149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</p:sp>
      <p:sp>
        <p:nvSpPr>
          <p:cNvPr id="7" name="date-31.12.2021">
            <a:extLst xmlns:a="http://schemas.openxmlformats.org/drawingml/2006/main">
              <a:ext uri="{FF2B5EF4-FFF2-40B4-BE49-F238E27FC236}">
                <a16:creationId xmlns:a16="http://schemas.microsoft.com/office/drawing/2014/main" id="{817458EA-DB96-46C1-8D6C-2E84276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31.12.2021</a:t>
            </a:r>
          </a:p>
        </p:txBody>
      </p:sp>
      <p:sp>
        <p:nvSpPr>
          <p:cNvPr id="8" name="tick-498">
            <a:extLst xmlns:a="http://schemas.openxmlformats.org/drawingml/2006/main">
              <a:ext uri="{FF2B5EF4-FFF2-40B4-BE49-F238E27FC236}">
                <a16:creationId xmlns:a16="http://schemas.microsoft.com/office/drawing/2014/main" id="{D2F8968A-03EC-40C8-A32D-B314CB01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149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</p:sp>
      <p:sp>
        <p:nvSpPr>
          <p:cNvPr id="9" name="date-31.12.2022">
            <a:extLst xmlns:a="http://schemas.openxmlformats.org/drawingml/2006/main">
              <a:ext uri="{FF2B5EF4-FFF2-40B4-BE49-F238E27FC236}">
                <a16:creationId xmlns:a16="http://schemas.microsoft.com/office/drawing/2014/main" id="{A9E86B99-FEB5-47A8-A021-5D009F6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626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31.12.2022</a:t>
            </a:r>
          </a:p>
        </p:txBody>
      </p:sp>
      <p:sp>
        <p:nvSpPr>
          <p:cNvPr id="10" name="tick-832">
            <a:extLst xmlns:a="http://schemas.openxmlformats.org/drawingml/2006/main">
              <a:ext uri="{FF2B5EF4-FFF2-40B4-BE49-F238E27FC236}">
                <a16:creationId xmlns:a16="http://schemas.microsoft.com/office/drawing/2014/main" id="{7FEB4A9D-FBEE-44F7-BFDA-5C4A5B34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149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</p:sp>
      <p:sp>
        <p:nvSpPr>
          <p:cNvPr id="11" name="date-31.12.2023">
            <a:extLst xmlns:a="http://schemas.openxmlformats.org/drawingml/2006/main">
              <a:ext uri="{FF2B5EF4-FFF2-40B4-BE49-F238E27FC236}">
                <a16:creationId xmlns:a16="http://schemas.microsoft.com/office/drawing/2014/main" id="{2355FC9A-E728-42F8-824F-0177F5FE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626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31.12.2023</a:t>
            </a:r>
          </a:p>
        </p:txBody>
      </p:sp>
      <p:sp>
        <p:nvSpPr>
          <p:cNvPr id="12" name="tick-1166">
            <a:extLst xmlns:a="http://schemas.openxmlformats.org/drawingml/2006/main">
              <a:ext uri="{FF2B5EF4-FFF2-40B4-BE49-F238E27FC236}">
                <a16:creationId xmlns:a16="http://schemas.microsoft.com/office/drawing/2014/main" id="{83FF4214-B4B5-464C-B3E6-CF7AB2B2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9149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</p:sp>
      <p:sp>
        <p:nvSpPr>
          <p:cNvPr id="13" name="date-31.12.2024">
            <a:extLst xmlns:a="http://schemas.openxmlformats.org/drawingml/2006/main">
              <a:ext uri="{FF2B5EF4-FFF2-40B4-BE49-F238E27FC236}">
                <a16:creationId xmlns:a16="http://schemas.microsoft.com/office/drawing/2014/main" id="{F5E9371C-F4C1-4730-A1BB-BB331650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626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31.12.2024</a:t>
            </a:r>
          </a:p>
        </p:txBody>
      </p:sp>
      <p:sp>
        <p:nvSpPr>
          <p:cNvPr id="14" name="freeze-arrow-1-shaft">
            <a:extLst xmlns:a="http://schemas.openxmlformats.org/drawingml/2006/main">
              <a:ext uri="{FF2B5EF4-FFF2-40B4-BE49-F238E27FC236}">
                <a16:creationId xmlns:a16="http://schemas.microsoft.com/office/drawing/2014/main" id="{7F96EC58-05E4-4189-8F85-3582E0E1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38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15" name="freeze-arrow-1-head">
            <a:extLst xmlns:a="http://schemas.openxmlformats.org/drawingml/2006/main">
              <a:ext uri="{FF2B5EF4-FFF2-40B4-BE49-F238E27FC236}">
                <a16:creationId xmlns:a16="http://schemas.microsoft.com/office/drawing/2014/main" id="{D14420F2-F1B1-4096-B9D4-A28C40DC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466850" y="4962525"/>
            <a:ext cx="1905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16" name="compare-arrow-1-shaft">
            <a:extLst xmlns:a="http://schemas.openxmlformats.org/drawingml/2006/main">
              <a:ext uri="{FF2B5EF4-FFF2-40B4-BE49-F238E27FC236}">
                <a16:creationId xmlns:a16="http://schemas.microsoft.com/office/drawing/2014/main" id="{A2B77E87-A162-4138-BE15-BB6490F0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17" name="compare-arrow-1-head">
            <a:extLst xmlns:a="http://schemas.openxmlformats.org/drawingml/2006/main">
              <a:ext uri="{FF2B5EF4-FFF2-40B4-BE49-F238E27FC236}">
                <a16:creationId xmlns:a16="http://schemas.microsoft.com/office/drawing/2014/main" id="{E37F7FDF-829F-4E69-868A-057E3204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648200" y="4962525"/>
            <a:ext cx="1905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18" name="freeze-arrow-2-shaft">
            <a:extLst xmlns:a="http://schemas.openxmlformats.org/drawingml/2006/main">
              <a:ext uri="{FF2B5EF4-FFF2-40B4-BE49-F238E27FC236}">
                <a16:creationId xmlns:a16="http://schemas.microsoft.com/office/drawing/2014/main" id="{371B19D5-8076-489D-A220-68E1C725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38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19" name="freeze-arrow-2-head">
            <a:extLst xmlns:a="http://schemas.openxmlformats.org/drawingml/2006/main">
              <a:ext uri="{FF2B5EF4-FFF2-40B4-BE49-F238E27FC236}">
                <a16:creationId xmlns:a16="http://schemas.microsoft.com/office/drawing/2014/main" id="{FB4CEEFE-F139-4AC2-8F60-203B244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648200" y="4962525"/>
            <a:ext cx="1905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0" name="compare-arrow-2-shaft">
            <a:extLst xmlns:a="http://schemas.openxmlformats.org/drawingml/2006/main">
              <a:ext uri="{FF2B5EF4-FFF2-40B4-BE49-F238E27FC236}">
                <a16:creationId xmlns:a16="http://schemas.microsoft.com/office/drawing/2014/main" id="{E649194D-82D4-4BF1-ACA3-CE34F3F7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1" name="compare-arrow-2-head">
            <a:extLst xmlns:a="http://schemas.openxmlformats.org/drawingml/2006/main">
              <a:ext uri="{FF2B5EF4-FFF2-40B4-BE49-F238E27FC236}">
                <a16:creationId xmlns:a16="http://schemas.microsoft.com/office/drawing/2014/main" id="{76011BA5-158C-468B-BB5E-3816CB4E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29550" y="4962525"/>
            <a:ext cx="1905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2" name="freeze-arrow-3-shaft">
            <a:extLst xmlns:a="http://schemas.openxmlformats.org/drawingml/2006/main">
              <a:ext uri="{FF2B5EF4-FFF2-40B4-BE49-F238E27FC236}">
                <a16:creationId xmlns:a16="http://schemas.microsoft.com/office/drawing/2014/main" id="{00C0C6AD-47AB-49B2-9920-8E2B30A2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81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3" name="freeze-arrow-3-head">
            <a:extLst xmlns:a="http://schemas.openxmlformats.org/drawingml/2006/main">
              <a:ext uri="{FF2B5EF4-FFF2-40B4-BE49-F238E27FC236}">
                <a16:creationId xmlns:a16="http://schemas.microsoft.com/office/drawing/2014/main" id="{B5D985A3-D840-40EA-9963-53C9C06D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29550" y="4962525"/>
            <a:ext cx="1905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4" name="compare-arrow-3-shaft">
            <a:extLst xmlns:a="http://schemas.openxmlformats.org/drawingml/2006/main">
              <a:ext uri="{FF2B5EF4-FFF2-40B4-BE49-F238E27FC236}">
                <a16:creationId xmlns:a16="http://schemas.microsoft.com/office/drawing/2014/main" id="{74D9A24B-C31F-4ABB-938B-A05FDF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85775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5" name="compare-arrow-3-head">
            <a:extLst xmlns:a="http://schemas.openxmlformats.org/drawingml/2006/main">
              <a:ext uri="{FF2B5EF4-FFF2-40B4-BE49-F238E27FC236}">
                <a16:creationId xmlns:a16="http://schemas.microsoft.com/office/drawing/2014/main" id="{7685CD78-FE26-40DE-A760-174BBCF5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010900" y="4962525"/>
            <a:ext cx="1905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</p:sp>
      <p:sp>
        <p:nvSpPr>
          <p:cNvPr id="26" name="freeze-1">
            <a:extLst xmlns:a="http://schemas.openxmlformats.org/drawingml/2006/main">
              <a:ext uri="{FF2B5EF4-FFF2-40B4-BE49-F238E27FC236}">
                <a16:creationId xmlns:a16="http://schemas.microsoft.com/office/drawing/2014/main" id="{3BD74A90-DAC0-4F5E-834C-22B5B75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einfrieren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(PD/LGD/EAD 2021)</a:t>
            </a:r>
          </a:p>
        </p:txBody>
      </p:sp>
      <p:sp>
        <p:nvSpPr>
          <p:cNvPr id="27" name="shock-1">
            <a:extLst xmlns:a="http://schemas.openxmlformats.org/drawingml/2006/main">
              <a:ext uri="{FF2B5EF4-FFF2-40B4-BE49-F238E27FC236}">
                <a16:creationId xmlns:a16="http://schemas.microsoft.com/office/drawing/2014/main" id="{59005F84-7E2D-4636-B153-C02E258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48000"/>
            <a:ext cx="2343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1AC22"/>
          </a:solidFill>
          <a:ln xmlns:a="http://schemas.openxmlformats.org/drawingml/2006/main" w="0">
            <a:solidFill>
              <a:srgbClr val="D1AC2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realer Öl-/Zins-Schock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2022 einspielen</a:t>
            </a:r>
          </a:p>
        </p:txBody>
      </p:sp>
      <p:sp>
        <p:nvSpPr>
          <p:cNvPr id="28" name="compare-1">
            <a:extLst xmlns:a="http://schemas.openxmlformats.org/drawingml/2006/main">
              <a:ext uri="{FF2B5EF4-FFF2-40B4-BE49-F238E27FC236}">
                <a16:creationId xmlns:a16="http://schemas.microsoft.com/office/drawing/2014/main" id="{5751EA09-73F7-4148-8384-E9AF536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33850"/>
            <a:ext cx="1943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8A9A5"/>
          </a:solidFill>
          <a:ln xmlns:a="http://schemas.openxmlformats.org/drawingml/2006/main" w="0">
            <a:solidFill>
              <a:srgbClr val="08A9A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Prognose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vs. gemeldete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2022</a:t>
            </a:r>
          </a:p>
        </p:txBody>
      </p:sp>
      <p:cxnSp>
        <p:nvCxnSpPr>
          <p:cNvPr id="80" name=""/>
          <p:cNvCxnSpPr>
            <a:stCxn xmlns:a="http://schemas.openxmlformats.org/drawingml/2006/main" id="27" idx="3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4591050" y="3352800"/>
            <a:ext cx="1524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A9A5"/>
            </a:solidFill>
            <a:prstDash val="solid"/>
          </a:ln>
        </p:spPr>
      </p:cxnSp>
      <p:sp>
        <p:nvSpPr>
          <p:cNvPr id="30" name="roll-forward-1">
            <a:extLst xmlns:a="http://schemas.openxmlformats.org/drawingml/2006/main">
              <a:ext uri="{FF2B5EF4-FFF2-40B4-BE49-F238E27FC236}">
                <a16:creationId xmlns:a16="http://schemas.microsoft.com/office/drawing/2014/main" id="{065FD352-7F26-4514-9284-11B049BE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F93"/>
            </a:solidFill>
            <a:prstDash val="dash"/>
          </a:ln>
        </p:spPr>
      </p:sp>
      <p:sp>
        <p:nvSpPr>
          <p:cNvPr id="31" name="roll-forward-head-1">
            <a:extLst xmlns:a="http://schemas.openxmlformats.org/drawingml/2006/main">
              <a:ext uri="{FF2B5EF4-FFF2-40B4-BE49-F238E27FC236}">
                <a16:creationId xmlns:a16="http://schemas.microsoft.com/office/drawing/2014/main" id="{29D2F0BA-FE80-426E-97A0-E30A7E40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27432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F93"/>
          </a:solidFill>
          <a:ln xmlns:a="http://schemas.openxmlformats.org/drawingml/2006/main" w="0">
            <a:solidFill>
              <a:srgbClr val="5F7F93"/>
            </a:solidFill>
            <a:prstDash val="solid"/>
          </a:ln>
        </p:spPr>
      </p:sp>
      <p:sp>
        <p:nvSpPr>
          <p:cNvPr id="32" name="roll-forward-label-1">
            <a:extLst xmlns:a="http://schemas.openxmlformats.org/drawingml/2006/main">
              <a:ext uri="{FF2B5EF4-FFF2-40B4-BE49-F238E27FC236}">
                <a16:creationId xmlns:a16="http://schemas.microsoft.com/office/drawing/2014/main" id="{90BF81B3-66A8-44D3-9DC1-5E7978AB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F93"/>
                </a:solidFill>
                <a:latin typeface="Aptos"/>
                <a:ea typeface="Aptos"/>
                <a:cs typeface="Aptos"/>
              </a:rPr>
              <a:t>weiterrollen</a:t>
            </a:r>
          </a:p>
        </p:txBody>
      </p:sp>
      <p:sp>
        <p:nvSpPr>
          <p:cNvPr id="33" name="freeze-2">
            <a:extLst xmlns:a="http://schemas.openxmlformats.org/drawingml/2006/main">
              <a:ext uri="{FF2B5EF4-FFF2-40B4-BE49-F238E27FC236}">
                <a16:creationId xmlns:a16="http://schemas.microsoft.com/office/drawing/2014/main" id="{C282D575-0B0E-416B-BC23-42ABCFD9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einfrieren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(PD/LGD/EAD 2022)</a:t>
            </a:r>
          </a:p>
        </p:txBody>
      </p:sp>
      <p:sp>
        <p:nvSpPr>
          <p:cNvPr id="34" name="shock-2">
            <a:extLst xmlns:a="http://schemas.openxmlformats.org/drawingml/2006/main">
              <a:ext uri="{FF2B5EF4-FFF2-40B4-BE49-F238E27FC236}">
                <a16:creationId xmlns:a16="http://schemas.microsoft.com/office/drawing/2014/main" id="{1992946C-725C-452A-A061-781DD13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2343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1AC22"/>
          </a:solidFill>
          <a:ln xmlns:a="http://schemas.openxmlformats.org/drawingml/2006/main" w="0">
            <a:solidFill>
              <a:srgbClr val="D1AC2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realer Öl-/Zins-Schock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2023 einspielen</a:t>
            </a:r>
          </a:p>
        </p:txBody>
      </p:sp>
      <p:sp>
        <p:nvSpPr>
          <p:cNvPr id="35" name="compare-2">
            <a:extLst xmlns:a="http://schemas.openxmlformats.org/drawingml/2006/main">
              <a:ext uri="{FF2B5EF4-FFF2-40B4-BE49-F238E27FC236}">
                <a16:creationId xmlns:a16="http://schemas.microsoft.com/office/drawing/2014/main" id="{AB062A20-40F0-458C-82FA-0CAEE865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1943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8A9A5"/>
          </a:solidFill>
          <a:ln xmlns:a="http://schemas.openxmlformats.org/drawingml/2006/main" w="0">
            <a:solidFill>
              <a:srgbClr val="08A9A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Prognose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vs. gemeldete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2023</a:t>
            </a:r>
          </a:p>
        </p:txBody>
      </p:sp>
      <p:cxnSp>
        <p:nvCxnSpPr>
          <p:cNvPr id="87" name=""/>
          <p:cNvCxnSpPr>
            <a:stCxn xmlns:a="http://schemas.openxmlformats.org/drawingml/2006/main" id="34" idx="3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7772400" y="3352800"/>
            <a:ext cx="1524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A9A5"/>
            </a:solidFill>
            <a:prstDash val="solid"/>
          </a:ln>
        </p:spPr>
      </p:cxnSp>
      <p:sp>
        <p:nvSpPr>
          <p:cNvPr id="37" name="roll-forward-2">
            <a:extLst xmlns:a="http://schemas.openxmlformats.org/drawingml/2006/main">
              <a:ext uri="{FF2B5EF4-FFF2-40B4-BE49-F238E27FC236}">
                <a16:creationId xmlns:a16="http://schemas.microsoft.com/office/drawing/2014/main" id="{154424AD-E8F2-4E57-9244-1EE89A2C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7F93"/>
            </a:solidFill>
            <a:prstDash val="dash"/>
          </a:ln>
        </p:spPr>
      </p:sp>
      <p:sp>
        <p:nvSpPr>
          <p:cNvPr id="38" name="roll-forward-head-2">
            <a:extLst xmlns:a="http://schemas.openxmlformats.org/drawingml/2006/main">
              <a:ext uri="{FF2B5EF4-FFF2-40B4-BE49-F238E27FC236}">
                <a16:creationId xmlns:a16="http://schemas.microsoft.com/office/drawing/2014/main" id="{BCCFD27B-5BFC-455C-A925-EDCB4EE7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20150" y="2743200"/>
            <a:ext cx="123825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7F93"/>
          </a:solidFill>
          <a:ln xmlns:a="http://schemas.openxmlformats.org/drawingml/2006/main" w="0">
            <a:solidFill>
              <a:srgbClr val="5F7F93"/>
            </a:solidFill>
            <a:prstDash val="solid"/>
          </a:ln>
        </p:spPr>
      </p:sp>
      <p:sp>
        <p:nvSpPr>
          <p:cNvPr id="39" name="roll-forward-label-2">
            <a:extLst xmlns:a="http://schemas.openxmlformats.org/drawingml/2006/main">
              <a:ext uri="{FF2B5EF4-FFF2-40B4-BE49-F238E27FC236}">
                <a16:creationId xmlns:a16="http://schemas.microsoft.com/office/drawing/2014/main" id="{1C5E7CB8-564D-4203-862B-CEFD7091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7F9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F93"/>
                </a:solidFill>
                <a:latin typeface="Aptos"/>
                <a:ea typeface="Aptos"/>
                <a:cs typeface="Aptos"/>
              </a:rPr>
              <a:t>weiterrollen</a:t>
            </a:r>
          </a:p>
        </p:txBody>
      </p:sp>
      <p:sp>
        <p:nvSpPr>
          <p:cNvPr id="40" name="freeze-3">
            <a:extLst xmlns:a="http://schemas.openxmlformats.org/drawingml/2006/main">
              <a:ext uri="{FF2B5EF4-FFF2-40B4-BE49-F238E27FC236}">
                <a16:creationId xmlns:a16="http://schemas.microsoft.com/office/drawing/2014/main" id="{DE5246FB-7006-4154-9E5D-2EA2E7D8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66900"/>
            <a:ext cx="20955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5174"/>
          </a:solidFill>
          <a:ln xmlns:a="http://schemas.openxmlformats.org/drawingml/2006/main" w="0">
            <a:solidFill>
              <a:srgbClr val="005174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Portfolio einfrieren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(PD/LGD/EAD 2023)</a:t>
            </a:r>
          </a:p>
        </p:txBody>
      </p:sp>
      <p:sp>
        <p:nvSpPr>
          <p:cNvPr id="41" name="shock-3">
            <a:extLst xmlns:a="http://schemas.openxmlformats.org/drawingml/2006/main">
              <a:ext uri="{FF2B5EF4-FFF2-40B4-BE49-F238E27FC236}">
                <a16:creationId xmlns:a16="http://schemas.microsoft.com/office/drawing/2014/main" id="{04BD755D-CDBD-46EF-9481-29B850C9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3431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1AC22"/>
          </a:solidFill>
          <a:ln xmlns:a="http://schemas.openxmlformats.org/drawingml/2006/main" w="0">
            <a:solidFill>
              <a:srgbClr val="D1AC22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realer Öl-/Zins-Schock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2024 einspielen</a:t>
            </a:r>
          </a:p>
        </p:txBody>
      </p:sp>
      <p:sp>
        <p:nvSpPr>
          <p:cNvPr id="42" name="compare-3">
            <a:extLst xmlns:a="http://schemas.openxmlformats.org/drawingml/2006/main">
              <a:ext uri="{FF2B5EF4-FFF2-40B4-BE49-F238E27FC236}">
                <a16:creationId xmlns:a16="http://schemas.microsoft.com/office/drawing/2014/main" id="{C226A321-6368-4E4E-8566-DF84A5BD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33850"/>
            <a:ext cx="1943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8A9A5"/>
          </a:solidFill>
          <a:ln xmlns:a="http://schemas.openxmlformats.org/drawingml/2006/main" w="0">
            <a:solidFill>
              <a:srgbClr val="08A9A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Prognose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vs. gemeldete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2024</a:t>
            </a:r>
          </a:p>
        </p:txBody>
      </p:sp>
      <p:cxnSp>
        <p:nvCxnSpPr>
          <p:cNvPr id="94" name=""/>
          <p:cNvCxnSpPr>
            <a:stCxn xmlns:a="http://schemas.openxmlformats.org/drawingml/2006/main" id="41" idx="3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10953750" y="3352800"/>
            <a:ext cx="1143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A9A5"/>
            </a:solidFill>
            <a:prstDash val="solid"/>
          </a:ln>
        </p:spPr>
      </p:cxnSp>
      <p:sp>
        <p:nvSpPr>
          <p:cNvPr id="44" name="bottom-note-band">
            <a:extLst xmlns:a="http://schemas.openxmlformats.org/drawingml/2006/main">
              <a:ext uri="{FF2B5EF4-FFF2-40B4-BE49-F238E27FC236}">
                <a16:creationId xmlns:a16="http://schemas.microsoft.com/office/drawing/2014/main" id="{3773E671-D919-498A-B03C-9984173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2E7"/>
            </a:solidFill>
            <a:prstDash val="solid"/>
          </a:ln>
        </p:spPr>
      </p:sp>
      <p:sp>
        <p:nvSpPr>
          <p:cNvPr id="45" name="step-1-dot">
            <a:extLst xmlns:a="http://schemas.openxmlformats.org/drawingml/2006/main">
              <a:ext uri="{FF2B5EF4-FFF2-40B4-BE49-F238E27FC236}">
                <a16:creationId xmlns:a16="http://schemas.microsoft.com/office/drawing/2014/main" id="{97B77435-3AC1-407F-8E24-F660116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6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900179C8-4A4F-41E2-9177-FC1B1F5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57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Datenstand t wird eingefroren</a:t>
            </a:r>
          </a:p>
        </p:txBody>
      </p:sp>
      <p:sp>
        <p:nvSpPr>
          <p:cNvPr id="47" name="step-2-dot">
            <a:extLst xmlns:a="http://schemas.openxmlformats.org/drawingml/2006/main">
              <a:ext uri="{FF2B5EF4-FFF2-40B4-BE49-F238E27FC236}">
                <a16:creationId xmlns:a16="http://schemas.microsoft.com/office/drawing/2014/main" id="{ED673C3A-E718-4AAF-9B50-6D1A623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05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45632AC7-898B-4096-BFE3-04585667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57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Realer Schock aus t+1 wird nachträglich eingespielt</a:t>
            </a:r>
          </a:p>
        </p:txBody>
      </p:sp>
      <p:sp>
        <p:nvSpPr>
          <p:cNvPr id="49" name="step-3-dot">
            <a:extLst xmlns:a="http://schemas.openxmlformats.org/drawingml/2006/main">
              <a:ext uri="{FF2B5EF4-FFF2-40B4-BE49-F238E27FC236}">
                <a16:creationId xmlns:a16="http://schemas.microsoft.com/office/drawing/2014/main" id="{6FD82D7E-A431-43BF-B028-E3EB6DBD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905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D2D"/>
          </a:solidFill>
          <a:ln xmlns:a="http://schemas.openxmlformats.org/drawingml/2006/main" w="0">
            <a:solidFill>
              <a:srgbClr val="061D2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9A7FD9A3-68F1-4181-A045-EAB35394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57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61D2D"/>
                </a:solidFill>
                <a:latin typeface="Aptos"/>
                <a:ea typeface="Aptos"/>
                <a:cs typeface="Aptos"/>
              </a:rPr>
              <a:t>Vergleich mit gemeldeter CET1 t+1</a:t>
            </a:r>
          </a:p>
        </p:txBody>
      </p:sp>
      <p:sp>
        <p:nvSpPr>
          <p:cNvPr id="51" name="bottom-claim">
            <a:extLst xmlns:a="http://schemas.openxmlformats.org/drawingml/2006/main">
              <a:ext uri="{FF2B5EF4-FFF2-40B4-BE49-F238E27FC236}">
                <a16:creationId xmlns:a16="http://schemas.microsoft.com/office/drawing/2014/main" id="{3FC248CD-2BDA-4D59-A311-DA590C00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198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D2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1D2D"/>
                </a:solidFill>
                <a:latin typeface="Aptos"/>
                <a:ea typeface="Aptos"/>
                <a:cs typeface="Aptos"/>
              </a:rPr>
              <a:t>Kernaussage: Der Backtest ist bewusst zeitlich versetzt. Dadurch misst er Prognosegüte statt nachträglicher Kalibrierung.</a:t>
            </a:r>
          </a:p>
        </p:txBody>
      </p:sp>
    </p:spTree>
    <p:extLst>
      <p:ext uri="{BB962C8B-B14F-4D97-AF65-F5344CB8AC3E}">
        <p14:creationId xmlns:p14="http://schemas.microsoft.com/office/powerpoint/2010/main" val="1213176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2026-07-02T18:11:04.3970000Z</dcterms:created>
  <dcterms:modified xsi:type="dcterms:W3CDTF">2026-07-02T18:11:04.3970000Z</dcterms:modified>
</coreProperties>
</file>