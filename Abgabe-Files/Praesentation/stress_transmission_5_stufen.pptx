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8ae9a1caa246e7" /><Relationship Type="http://schemas.openxmlformats.org/officeDocument/2006/relationships/extended-properties" Target="/docProps/app.xml" Id="R6b1616f4f74a46a9" /><Relationship Type="http://schemas.openxmlformats.org/officeDocument/2006/relationships/officeDocument" Target="/ppt/presentation.xml" Id="Rf1358c8f22b14a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3aed857b0940ed"/>
  </p:sldMasterIdLst>
  <p:notesMasterIdLst>
    <p:notesMasterId xmlns:r="http://schemas.openxmlformats.org/officeDocument/2006/relationships" r:id="R8514b450ac7a4f38"/>
  </p:notesMasterIdLst>
  <p:sldIdLst>
    <p:sldId xmlns:r="http://schemas.openxmlformats.org/officeDocument/2006/relationships" id="256" r:id="R6275ee03314745b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3c0d6e69c242fe" /><Relationship Type="http://schemas.openxmlformats.org/officeDocument/2006/relationships/slideMaster" Target="/ppt/slideMasters/slideMaster1.xml" Id="Rfb3aed857b0940ed" /><Relationship Type="http://schemas.openxmlformats.org/officeDocument/2006/relationships/notesMaster" Target="/ppt/notesMasters/notesMaster1.xml" Id="R8514b450ac7a4f38" /><Relationship Type="http://schemas.openxmlformats.org/officeDocument/2006/relationships/presProps" Target="/ppt/presProps.xml" Id="R2e3b013ecb3d4033" /><Relationship Type="http://schemas.openxmlformats.org/officeDocument/2006/relationships/tableStyles" Target="/ppt/tableStyles.xml" Id="R9e4b4f1917ad4b04" /><Relationship Type="http://schemas.openxmlformats.org/officeDocument/2006/relationships/slide" Target="/ppt/slides/slide1.xml" Id="R6275ee03314745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a89fa656f349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d26366867d41d1" /><Relationship Type="http://schemas.openxmlformats.org/officeDocument/2006/relationships/notesMaster" Target="/ppt/notesMasters/notesMaster1.xml" Id="Rad232de94c7140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d3a3ba50de49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7de4e8bc134cf4" /><Relationship Type="http://schemas.openxmlformats.org/officeDocument/2006/relationships/slideLayout" Target="/ppt/slideLayouts/slideLayout1.xml" Id="Rb1d51e2c90e84d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d51e2c90e84d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fd0e5422449ea" /><Relationship Type="http://schemas.openxmlformats.org/officeDocument/2006/relationships/notesSlide" Target="/ppt/notesSlides/notesSlide1.xml" Id="R24eb6f4b38c74e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2027B32C-A10D-4068-A36C-0C8C48D8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7"/>
          </a:solidFill>
          <a:ln xmlns:a="http://schemas.openxmlformats.org/drawingml/2006/main" w="9525">
            <a:solidFill>
              <a:srgbClr val="D9E2E7"/>
            </a:solidFill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BB2967F-CEEB-4B77-B532-7E68E58E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A9A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A9A5"/>
                </a:solidFill>
                <a:latin typeface="Aptos"/>
                <a:ea typeface="Aptos"/>
                <a:cs typeface="Aptos"/>
              </a:rPr>
              <a:t>Kapitel 2 · CET1-Ergebnis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1FB41B-92D6-4129-91D7-A5AF25CE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61D2D"/>
                </a:solidFill>
                <a:latin typeface="Aptos"/>
                <a:ea typeface="Aptos"/>
                <a:cs typeface="Aptos"/>
              </a:rPr>
              <a:t>Fünf Stufen übersetzen den Stress in die CET1-Quote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4A8EF409-155D-413F-A380-8F9AC974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F9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F93"/>
                </a:solidFill>
                <a:latin typeface="Aptos"/>
                <a:ea typeface="Aptos"/>
                <a:cs typeface="Aptos"/>
              </a:rPr>
              <a:t>Szenario: Ölpreis +65 % und 10J-Zins +2,00 pp wirken getrennt, laufen aber in einer gemeinsamen Kapitalquote zusammen.</a:t>
            </a:r>
          </a:p>
        </p:txBody>
      </p:sp>
      <p:sp>
        <p:nvSpPr>
          <p:cNvPr id="5" name="process-rail">
            <a:extLst xmlns:a="http://schemas.openxmlformats.org/drawingml/2006/main">
              <a:ext uri="{FF2B5EF4-FFF2-40B4-BE49-F238E27FC236}">
                <a16:creationId xmlns:a16="http://schemas.microsoft.com/office/drawing/2014/main" id="{738CBAB6-428A-40B0-884A-FBAD2FCC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62325"/>
            <a:ext cx="103536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C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</p:sp>
      <p:sp>
        <p:nvSpPr>
          <p:cNvPr id="6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8DB50D3-7D87-4529-B09C-9721DAA4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95650"/>
            <a:ext cx="2000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7F93"/>
          </a:solidFill>
          <a:ln xmlns:a="http://schemas.openxmlformats.org/drawingml/2006/main" w="9525">
            <a:solidFill>
              <a:srgbClr val="5F7F93"/>
            </a:solidFill>
            <a:prstDash val="solid"/>
          </a:ln>
        </p:spPr>
      </p:sp>
      <p:sp>
        <p:nvSpPr>
          <p:cNvPr id="7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B226866C-93AB-4D59-B036-10D58DEF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295650"/>
            <a:ext cx="2000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7F93"/>
          </a:solidFill>
          <a:ln xmlns:a="http://schemas.openxmlformats.org/drawingml/2006/main" w="9525">
            <a:solidFill>
              <a:srgbClr val="5F7F93"/>
            </a:solidFill>
            <a:prstDash val="solid"/>
          </a:ln>
        </p:spPr>
      </p:sp>
      <p:sp>
        <p:nvSpPr>
          <p:cNvPr id="8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196F2A7E-7863-403B-BEAF-8AAB1F04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95650"/>
            <a:ext cx="2000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7F93"/>
          </a:solidFill>
          <a:ln xmlns:a="http://schemas.openxmlformats.org/drawingml/2006/main" w="9525">
            <a:solidFill>
              <a:srgbClr val="5F7F93"/>
            </a:solidFill>
            <a:prstDash val="solid"/>
          </a:ln>
        </p:spPr>
      </p:sp>
      <p:sp>
        <p:nvSpPr>
          <p:cNvPr id="9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494F0F0B-044F-4B9A-AD2A-283069FE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295650"/>
            <a:ext cx="2000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7F93"/>
          </a:solidFill>
          <a:ln xmlns:a="http://schemas.openxmlformats.org/drawingml/2006/main" w="9525">
            <a:solidFill>
              <a:srgbClr val="5F7F93"/>
            </a:solidFill>
            <a:prstDash val="solid"/>
          </a:ln>
        </p:spPr>
      </p:sp>
      <p:sp>
        <p:nvSpPr>
          <p:cNvPr id="10" name="stage-1-card">
            <a:extLst xmlns:a="http://schemas.openxmlformats.org/drawingml/2006/main">
              <a:ext uri="{FF2B5EF4-FFF2-40B4-BE49-F238E27FC236}">
                <a16:creationId xmlns:a16="http://schemas.microsoft.com/office/drawing/2014/main" id="{EFF1C45B-D65C-42C0-B85E-3E207EA8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981200" cy="28003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stage-1-accent">
            <a:extLst xmlns:a="http://schemas.openxmlformats.org/drawingml/2006/main">
              <a:ext uri="{FF2B5EF4-FFF2-40B4-BE49-F238E27FC236}">
                <a16:creationId xmlns:a16="http://schemas.microsoft.com/office/drawing/2014/main" id="{16602E74-4702-46ED-A2B3-D95ABB83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981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C22"/>
          </a:solidFill>
          <a:ln xmlns:a="http://schemas.openxmlformats.org/drawingml/2006/main" w="9525">
            <a:solidFill>
              <a:srgbClr val="D1AC22"/>
            </a:solidFill>
            <a:prstDash val="solid"/>
          </a:ln>
        </p:spPr>
      </p:sp>
      <p:sp>
        <p:nvSpPr>
          <p:cNvPr id="12" name="step-1-badge">
            <a:extLst xmlns:a="http://schemas.openxmlformats.org/drawingml/2006/main">
              <a:ext uri="{FF2B5EF4-FFF2-40B4-BE49-F238E27FC236}">
                <a16:creationId xmlns:a16="http://schemas.microsoft.com/office/drawing/2014/main" id="{0353A9D3-CC57-4113-B3DA-94977D1D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AC22"/>
          </a:solidFill>
          <a:ln xmlns:a="http://schemas.openxmlformats.org/drawingml/2006/main" w="9525">
            <a:solidFill>
              <a:srgbClr val="D1AC2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814F8003-8A19-45DE-A106-EB31436E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717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D2D"/>
                </a:solidFill>
                <a:latin typeface="Aptos"/>
                <a:ea typeface="Aptos"/>
                <a:cs typeface="Aptos"/>
              </a:rPr>
              <a:t>Stressimpuls setzen</a:t>
            </a:r>
          </a:p>
        </p:txBody>
      </p:sp>
      <p:sp>
        <p:nvSpPr>
          <p:cNvPr id="14" name="oil-shock-pill">
            <a:extLst xmlns:a="http://schemas.openxmlformats.org/drawingml/2006/main">
              <a:ext uri="{FF2B5EF4-FFF2-40B4-BE49-F238E27FC236}">
                <a16:creationId xmlns:a16="http://schemas.microsoft.com/office/drawing/2014/main" id="{358B4421-26D7-4A6F-91F7-14E4BC42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638300" cy="438150"/>
          </a:xfrm>
          <a:prstGeom xmlns:a="http://schemas.openxmlformats.org/drawingml/2006/main" prst="roundRect">
            <a:avLst>
              <a:gd name="adj" fmla="val 39130"/>
            </a:avLst>
          </a:prstGeom>
          <a:solidFill xmlns:a="http://schemas.openxmlformats.org/drawingml/2006/main">
            <a:srgbClr val="D1AC22"/>
          </a:solidFill>
          <a:ln xmlns:a="http://schemas.openxmlformats.org/drawingml/2006/main" w="9525">
            <a:solidFill>
              <a:srgbClr val="D1AC22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01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010"/>
                </a:solidFill>
                <a:latin typeface="Aptos"/>
                <a:ea typeface="Aptos"/>
                <a:cs typeface="Aptos"/>
              </a:rPr>
              <a:t>Ölpreis +65 %</a:t>
            </a:r>
          </a:p>
        </p:txBody>
      </p:sp>
      <p:sp>
        <p:nvSpPr>
          <p:cNvPr id="15" name="rate-shock-pill">
            <a:extLst xmlns:a="http://schemas.openxmlformats.org/drawingml/2006/main">
              <a:ext uri="{FF2B5EF4-FFF2-40B4-BE49-F238E27FC236}">
                <a16:creationId xmlns:a16="http://schemas.microsoft.com/office/drawing/2014/main" id="{A1CE09F5-F9E1-428D-BC1E-16116BA9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1638300" cy="438150"/>
          </a:xfrm>
          <a:prstGeom xmlns:a="http://schemas.openxmlformats.org/drawingml/2006/main" prst="roundRect">
            <a:avLst>
              <a:gd name="adj" fmla="val 39130"/>
            </a:avLst>
          </a:prstGeom>
          <a:solidFill xmlns:a="http://schemas.openxmlformats.org/drawingml/2006/main">
            <a:srgbClr val="B02A50"/>
          </a:solidFill>
          <a:ln xmlns:a="http://schemas.openxmlformats.org/drawingml/2006/main" w="9525">
            <a:solidFill>
              <a:srgbClr val="B02A50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10J-Zins +2,00 pp</a:t>
            </a:r>
          </a:p>
        </p:txBody>
      </p:sp>
      <p:sp>
        <p:nvSpPr>
          <p:cNvPr id="16" name="shock-caption">
            <a:extLst xmlns:a="http://schemas.openxmlformats.org/drawingml/2006/main">
              <a:ext uri="{FF2B5EF4-FFF2-40B4-BE49-F238E27FC236}">
                <a16:creationId xmlns:a16="http://schemas.microsoft.com/office/drawing/2014/main" id="{76F7B9D9-7BFA-4F69-BBE1-9AEF1949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7F9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F93"/>
                </a:solidFill>
                <a:latin typeface="Aptos"/>
                <a:ea typeface="Aptos"/>
                <a:cs typeface="Aptos"/>
              </a:rPr>
              <a:t>Zwei unabhängige Makrotreiber starten denselben CET1-Prozess.</a:t>
            </a:r>
          </a:p>
        </p:txBody>
      </p:sp>
      <p:sp>
        <p:nvSpPr>
          <p:cNvPr id="17" name="stage-2-card">
            <a:extLst xmlns:a="http://schemas.openxmlformats.org/drawingml/2006/main">
              <a:ext uri="{FF2B5EF4-FFF2-40B4-BE49-F238E27FC236}">
                <a16:creationId xmlns:a16="http://schemas.microsoft.com/office/drawing/2014/main" id="{CA6D91A4-5866-4963-A95E-3BE6257E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19300"/>
            <a:ext cx="1981200" cy="28003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stage-2-accent">
            <a:extLst xmlns:a="http://schemas.openxmlformats.org/drawingml/2006/main">
              <a:ext uri="{FF2B5EF4-FFF2-40B4-BE49-F238E27FC236}">
                <a16:creationId xmlns:a16="http://schemas.microsoft.com/office/drawing/2014/main" id="{ACC33A38-E9CC-4F52-8B9A-7E9F7085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19300"/>
            <a:ext cx="1981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174"/>
          </a:solidFill>
          <a:ln xmlns:a="http://schemas.openxmlformats.org/drawingml/2006/main" w="9525">
            <a:solidFill>
              <a:srgbClr val="005174"/>
            </a:solidFill>
            <a:prstDash val="solid"/>
          </a:ln>
        </p:spPr>
      </p:sp>
      <p:sp>
        <p:nvSpPr>
          <p:cNvPr id="19" name="step-2-badge">
            <a:extLst xmlns:a="http://schemas.openxmlformats.org/drawingml/2006/main">
              <a:ext uri="{FF2B5EF4-FFF2-40B4-BE49-F238E27FC236}">
                <a16:creationId xmlns:a16="http://schemas.microsoft.com/office/drawing/2014/main" id="{2C436CCF-7631-4BB4-AB40-0B4E2DC5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190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174"/>
          </a:solidFill>
          <a:ln xmlns:a="http://schemas.openxmlformats.org/drawingml/2006/main" w="9525">
            <a:solidFill>
              <a:srgbClr val="00517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AB3351D7-4B21-45FA-9C09-D0715276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717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D2D"/>
                </a:solidFill>
                <a:latin typeface="Aptos"/>
                <a:ea typeface="Aptos"/>
                <a:cs typeface="Aptos"/>
              </a:rPr>
              <a:t>Bankdaten fixieren</a:t>
            </a:r>
          </a:p>
        </p:txBody>
      </p:sp>
      <p:sp>
        <p:nvSpPr>
          <p:cNvPr id="21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FD580748-7F6B-442C-BFB3-BFA9AE1D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09900"/>
            <a:ext cx="1638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61D2D"/>
                </a:solidFill>
                <a:latin typeface="Aptos"/>
                <a:ea typeface="Aptos"/>
                <a:cs typeface="Aptos"/>
              </a:rPr>
              <a:t>EAD, PD, LGD und Sovereign-Buckets bilden die Ausgangsbasis je Bank.</a:t>
            </a:r>
          </a:p>
        </p:txBody>
      </p:sp>
      <p:sp>
        <p:nvSpPr>
          <p:cNvPr id="22" name="stage-3-card">
            <a:extLst xmlns:a="http://schemas.openxmlformats.org/drawingml/2006/main">
              <a:ext uri="{FF2B5EF4-FFF2-40B4-BE49-F238E27FC236}">
                <a16:creationId xmlns:a16="http://schemas.microsoft.com/office/drawing/2014/main" id="{13A2789D-24B0-4164-9AD1-A57919D3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19300"/>
            <a:ext cx="1981200" cy="28003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stage-3-accent">
            <a:extLst xmlns:a="http://schemas.openxmlformats.org/drawingml/2006/main">
              <a:ext uri="{FF2B5EF4-FFF2-40B4-BE49-F238E27FC236}">
                <a16:creationId xmlns:a16="http://schemas.microsoft.com/office/drawing/2014/main" id="{A877723F-0BD2-4BCF-8EFE-CB6F6BC2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19300"/>
            <a:ext cx="1981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9A5"/>
          </a:solidFill>
          <a:ln xmlns:a="http://schemas.openxmlformats.org/drawingml/2006/main" w="9525">
            <a:solidFill>
              <a:srgbClr val="08A9A5"/>
            </a:solidFill>
            <a:prstDash val="solid"/>
          </a:ln>
        </p:spPr>
      </p:sp>
      <p:sp>
        <p:nvSpPr>
          <p:cNvPr id="24" name="step-3-badge">
            <a:extLst xmlns:a="http://schemas.openxmlformats.org/drawingml/2006/main">
              <a:ext uri="{FF2B5EF4-FFF2-40B4-BE49-F238E27FC236}">
                <a16:creationId xmlns:a16="http://schemas.microsoft.com/office/drawing/2014/main" id="{66099C88-5673-4507-BFA3-3B5EF2B3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90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9A5"/>
          </a:solidFill>
          <a:ln xmlns:a="http://schemas.openxmlformats.org/drawingml/2006/main" w="9525">
            <a:solidFill>
              <a:srgbClr val="08A9A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5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A796D15C-9A2D-48AF-9B2A-BCFD5E7F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717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D2D"/>
                </a:solidFill>
                <a:latin typeface="Aptos"/>
                <a:ea typeface="Aptos"/>
                <a:cs typeface="Aptos"/>
              </a:rPr>
              <a:t>Risiko übertragen</a:t>
            </a:r>
          </a:p>
        </p:txBody>
      </p:sp>
      <p:sp>
        <p:nvSpPr>
          <p:cNvPr id="26" name="credit-channel">
            <a:extLst xmlns:a="http://schemas.openxmlformats.org/drawingml/2006/main">
              <a:ext uri="{FF2B5EF4-FFF2-40B4-BE49-F238E27FC236}">
                <a16:creationId xmlns:a16="http://schemas.microsoft.com/office/drawing/2014/main" id="{A330E18A-C445-4037-B534-0718A76E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95600"/>
            <a:ext cx="1676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174"/>
          </a:solidFill>
          <a:ln xmlns:a="http://schemas.openxmlformats.org/drawingml/2006/main" w="9525">
            <a:solidFill>
              <a:srgbClr val="005174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Kreditkanal</a:t>
            </a:r>
          </a:p>
        </p:txBody>
      </p:sp>
      <p:sp>
        <p:nvSpPr>
          <p:cNvPr id="27" name="credit-channel-copy">
            <a:extLst xmlns:a="http://schemas.openxmlformats.org/drawingml/2006/main">
              <a:ext uri="{FF2B5EF4-FFF2-40B4-BE49-F238E27FC236}">
                <a16:creationId xmlns:a16="http://schemas.microsoft.com/office/drawing/2014/main" id="{39C1165C-8F6C-43A5-8039-5EE2F431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61D2D"/>
                </a:solidFill>
                <a:latin typeface="Aptos"/>
                <a:ea typeface="Aptos"/>
                <a:cs typeface="Aptos"/>
              </a:rPr>
              <a:t>β/γ-Matrix</a:t>
            </a:r>
          </a:p>
          <a:p xmlns:a="http://schemas.openxmlformats.org/drawingml/2006/main">
            <a:pPr algn="ctr">
              <a:defRPr sz="1125" b="0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61D2D"/>
                </a:solidFill>
                <a:latin typeface="Aptos"/>
                <a:ea typeface="Aptos"/>
                <a:cs typeface="Aptos"/>
              </a:rPr>
              <a:t>→ ΔPD, ΔLGD je Klasse</a:t>
            </a:r>
          </a:p>
        </p:txBody>
      </p:sp>
      <p:sp>
        <p:nvSpPr>
          <p:cNvPr id="28" name="sovereign-channel">
            <a:extLst xmlns:a="http://schemas.openxmlformats.org/drawingml/2006/main">
              <a:ext uri="{FF2B5EF4-FFF2-40B4-BE49-F238E27FC236}">
                <a16:creationId xmlns:a16="http://schemas.microsoft.com/office/drawing/2014/main" id="{DC032D8B-718D-47A8-AE85-930BB608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38600"/>
            <a:ext cx="1676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A9A5"/>
          </a:solidFill>
          <a:ln xmlns:a="http://schemas.openxmlformats.org/drawingml/2006/main" w="9525">
            <a:solidFill>
              <a:srgbClr val="08A9A5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Sovereign-Kanal</a:t>
            </a:r>
          </a:p>
        </p:txBody>
      </p:sp>
      <p:sp>
        <p:nvSpPr>
          <p:cNvPr id="29" name="sovereign-channel-copy">
            <a:extLst xmlns:a="http://schemas.openxmlformats.org/drawingml/2006/main">
              <a:ext uri="{FF2B5EF4-FFF2-40B4-BE49-F238E27FC236}">
                <a16:creationId xmlns:a16="http://schemas.microsoft.com/office/drawing/2014/main" id="{02CBCA22-59F3-4B68-A101-9888C011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386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61D2D"/>
                </a:solidFill>
                <a:latin typeface="Aptos"/>
                <a:ea typeface="Aptos"/>
                <a:cs typeface="Aptos"/>
              </a:rPr>
              <a:t>Duration × Δr</a:t>
            </a:r>
          </a:p>
          <a:p xmlns:a="http://schemas.openxmlformats.org/drawingml/2006/main">
            <a:pPr algn="ctr">
              <a:defRPr sz="1125" b="0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61D2D"/>
                </a:solidFill>
                <a:latin typeface="Aptos"/>
                <a:ea typeface="Aptos"/>
                <a:cs typeface="Aptos"/>
              </a:rPr>
              <a:t>→ ΔFV im Bondbuch</a:t>
            </a:r>
          </a:p>
        </p:txBody>
      </p:sp>
      <p:sp>
        <p:nvSpPr>
          <p:cNvPr id="30" name="stage-4-card">
            <a:extLst xmlns:a="http://schemas.openxmlformats.org/drawingml/2006/main">
              <a:ext uri="{FF2B5EF4-FFF2-40B4-BE49-F238E27FC236}">
                <a16:creationId xmlns:a16="http://schemas.microsoft.com/office/drawing/2014/main" id="{239A530F-C6C7-416A-9A94-EBFDB006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019300"/>
            <a:ext cx="1981200" cy="28003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stage-4-accent">
            <a:extLst xmlns:a="http://schemas.openxmlformats.org/drawingml/2006/main">
              <a:ext uri="{FF2B5EF4-FFF2-40B4-BE49-F238E27FC236}">
                <a16:creationId xmlns:a16="http://schemas.microsoft.com/office/drawing/2014/main" id="{F4F6FCDD-2347-4E5D-9141-5487282B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019300"/>
            <a:ext cx="1981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2A"/>
          </a:solidFill>
          <a:ln xmlns:a="http://schemas.openxmlformats.org/drawingml/2006/main" w="9525">
            <a:solidFill>
              <a:srgbClr val="001B2A"/>
            </a:solidFill>
            <a:prstDash val="solid"/>
          </a:ln>
        </p:spPr>
      </p:sp>
      <p:sp>
        <p:nvSpPr>
          <p:cNvPr id="32" name="step-4-badge">
            <a:extLst xmlns:a="http://schemas.openxmlformats.org/drawingml/2006/main">
              <a:ext uri="{FF2B5EF4-FFF2-40B4-BE49-F238E27FC236}">
                <a16:creationId xmlns:a16="http://schemas.microsoft.com/office/drawing/2014/main" id="{2A4D4C92-3A41-42E3-8355-86A583F3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190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1B2A"/>
          </a:solidFill>
          <a:ln xmlns:a="http://schemas.openxmlformats.org/drawingml/2006/main" w="9525">
            <a:solidFill>
              <a:srgbClr val="001B2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2FD40490-D8D3-49D2-9001-D8C7FC5B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1717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D2D"/>
                </a:solidFill>
                <a:latin typeface="Aptos"/>
                <a:ea typeface="Aptos"/>
                <a:cs typeface="Aptos"/>
              </a:rPr>
              <a:t>Kapitalwirkung rechnen</a:t>
            </a:r>
          </a:p>
        </p:txBody>
      </p:sp>
      <p:sp>
        <p:nvSpPr>
          <p:cNvPr id="34" name="capital-credit">
            <a:extLst xmlns:a="http://schemas.openxmlformats.org/drawingml/2006/main">
              <a:ext uri="{FF2B5EF4-FFF2-40B4-BE49-F238E27FC236}">
                <a16:creationId xmlns:a16="http://schemas.microsoft.com/office/drawing/2014/main" id="{BB500B8B-C8D2-4CC9-B40B-CBF629C8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009900"/>
            <a:ext cx="163830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005174"/>
          </a:solidFill>
          <a:ln xmlns:a="http://schemas.openxmlformats.org/drawingml/2006/main" w="9525">
            <a:solidFill>
              <a:srgbClr val="005174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ΔEL + ΔRWA</a:t>
            </a:r>
          </a:p>
        </p:txBody>
      </p:sp>
      <p:sp>
        <p:nvSpPr>
          <p:cNvPr id="35" name="capital-credit-copy">
            <a:extLst xmlns:a="http://schemas.openxmlformats.org/drawingml/2006/main">
              <a:ext uri="{FF2B5EF4-FFF2-40B4-BE49-F238E27FC236}">
                <a16:creationId xmlns:a16="http://schemas.microsoft.com/office/drawing/2014/main" id="{645DD523-8426-4950-8451-5F24ABA6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0520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61D2D"/>
                </a:solidFill>
                <a:latin typeface="Aptos"/>
                <a:ea typeface="Aptos"/>
                <a:cs typeface="Aptos"/>
              </a:rPr>
              <a:t>Basel-III-IRB übersetzt gestresste PD/LGD/EAD in Kapitalbedarf.</a:t>
            </a:r>
          </a:p>
        </p:txBody>
      </p:sp>
      <p:sp>
        <p:nvSpPr>
          <p:cNvPr id="36" name="capital-mtm">
            <a:extLst xmlns:a="http://schemas.openxmlformats.org/drawingml/2006/main">
              <a:ext uri="{FF2B5EF4-FFF2-40B4-BE49-F238E27FC236}">
                <a16:creationId xmlns:a16="http://schemas.microsoft.com/office/drawing/2014/main" id="{872E3FD4-5335-426B-8663-E7F20E73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229100"/>
            <a:ext cx="163830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08A9A5"/>
          </a:solidFill>
          <a:ln xmlns:a="http://schemas.openxmlformats.org/drawingml/2006/main" w="9525">
            <a:solidFill>
              <a:srgbClr val="08A9A5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ΔCET1 aus MtM</a:t>
            </a:r>
          </a:p>
        </p:txBody>
      </p:sp>
      <p:sp>
        <p:nvSpPr>
          <p:cNvPr id="37" name="stage-5-card">
            <a:extLst xmlns:a="http://schemas.openxmlformats.org/drawingml/2006/main">
              <a:ext uri="{FF2B5EF4-FFF2-40B4-BE49-F238E27FC236}">
                <a16:creationId xmlns:a16="http://schemas.microsoft.com/office/drawing/2014/main" id="{A336D2C0-91B8-4D33-9390-90EB0A9A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19300"/>
            <a:ext cx="1981200" cy="28003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stage-5-accent">
            <a:extLst xmlns:a="http://schemas.openxmlformats.org/drawingml/2006/main">
              <a:ext uri="{FF2B5EF4-FFF2-40B4-BE49-F238E27FC236}">
                <a16:creationId xmlns:a16="http://schemas.microsoft.com/office/drawing/2014/main" id="{36F96B26-1344-4AF6-A158-E926AEFA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19300"/>
            <a:ext cx="1981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7A"/>
          </a:solidFill>
          <a:ln xmlns:a="http://schemas.openxmlformats.org/drawingml/2006/main" w="9525">
            <a:solidFill>
              <a:srgbClr val="007D7A"/>
            </a:solidFill>
            <a:prstDash val="solid"/>
          </a:ln>
        </p:spPr>
      </p:sp>
      <p:sp>
        <p:nvSpPr>
          <p:cNvPr id="39" name="step-5-badge">
            <a:extLst xmlns:a="http://schemas.openxmlformats.org/drawingml/2006/main">
              <a:ext uri="{FF2B5EF4-FFF2-40B4-BE49-F238E27FC236}">
                <a16:creationId xmlns:a16="http://schemas.microsoft.com/office/drawing/2014/main" id="{C9A7EAD0-C6BE-49F4-8430-B2872EBC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D7A"/>
          </a:solidFill>
          <a:ln xmlns:a="http://schemas.openxmlformats.org/drawingml/2006/main" w="9525">
            <a:solidFill>
              <a:srgbClr val="007D7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0" name="stage-5-title">
            <a:extLst xmlns:a="http://schemas.openxmlformats.org/drawingml/2006/main">
              <a:ext uri="{FF2B5EF4-FFF2-40B4-BE49-F238E27FC236}">
                <a16:creationId xmlns:a16="http://schemas.microsoft.com/office/drawing/2014/main" id="{029A9E4D-EF43-41B0-9968-60FEE90D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717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D2D"/>
                </a:solidFill>
                <a:latin typeface="Aptos"/>
                <a:ea typeface="Aptos"/>
                <a:cs typeface="Aptos"/>
              </a:rPr>
              <a:t>CET1-Ergebnis lesen</a:t>
            </a:r>
          </a:p>
        </p:txBody>
      </p:sp>
      <p:sp>
        <p:nvSpPr>
          <p:cNvPr id="41" name="result-core">
            <a:extLst xmlns:a="http://schemas.openxmlformats.org/drawingml/2006/main">
              <a:ext uri="{FF2B5EF4-FFF2-40B4-BE49-F238E27FC236}">
                <a16:creationId xmlns:a16="http://schemas.microsoft.com/office/drawing/2014/main" id="{CBA4003F-6C68-462E-9410-B3E8D26C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14650"/>
            <a:ext cx="1638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01B2A"/>
          </a:solidFill>
          <a:ln xmlns:a="http://schemas.openxmlformats.org/drawingml/2006/main" w="9525">
            <a:solidFill>
              <a:srgbClr val="001B2A"/>
            </a:solidFill>
            <a:prstDash val="solid"/>
          </a:ln>
        </p:spPr>
      </p:sp>
      <p:sp>
        <p:nvSpPr>
          <p:cNvPr id="42" name="result-core-text">
            <a:extLst xmlns:a="http://schemas.openxmlformats.org/drawingml/2006/main">
              <a:ext uri="{FF2B5EF4-FFF2-40B4-BE49-F238E27FC236}">
                <a16:creationId xmlns:a16="http://schemas.microsoft.com/office/drawing/2014/main" id="{9768AE7B-CB4A-466C-BD89-6D9B2D8F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051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CET1 unter Stress</a:t>
            </a:r>
          </a:p>
        </p:txBody>
      </p:sp>
      <p:sp>
        <p:nvSpPr>
          <p:cNvPr id="43" name="result-formula-mini">
            <a:extLst xmlns:a="http://schemas.openxmlformats.org/drawingml/2006/main">
              <a:ext uri="{FF2B5EF4-FFF2-40B4-BE49-F238E27FC236}">
                <a16:creationId xmlns:a16="http://schemas.microsoft.com/office/drawing/2014/main" id="{8040906B-954D-4B2A-B746-A17869B0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290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(CET1 − ΔEL + ΔFV)</a:t>
            </a:r>
          </a:p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/ (RWA + ΔRWA)</a:t>
            </a:r>
          </a:p>
        </p:txBody>
      </p:sp>
      <p:sp>
        <p:nvSpPr>
          <p:cNvPr id="44" name="threshold-title">
            <a:extLst xmlns:a="http://schemas.openxmlformats.org/drawingml/2006/main">
              <a:ext uri="{FF2B5EF4-FFF2-40B4-BE49-F238E27FC236}">
                <a16:creationId xmlns:a16="http://schemas.microsoft.com/office/drawing/2014/main" id="{1DD9C31C-B8B6-4140-AD6F-D7055313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195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7F9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F7F93"/>
                </a:solidFill>
                <a:latin typeface="Aptos"/>
                <a:ea typeface="Aptos"/>
                <a:cs typeface="Aptos"/>
              </a:rPr>
              <a:t>Einordnung gegen Schwellen</a:t>
            </a:r>
          </a:p>
        </p:txBody>
      </p:sp>
      <p:sp>
        <p:nvSpPr>
          <p:cNvPr id="45" name="threshold-rail">
            <a:extLst xmlns:a="http://schemas.openxmlformats.org/drawingml/2006/main">
              <a:ext uri="{FF2B5EF4-FFF2-40B4-BE49-F238E27FC236}">
                <a16:creationId xmlns:a16="http://schemas.microsoft.com/office/drawing/2014/main" id="{D34A6697-FAAF-4A4E-8058-AFB2AEF5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40055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7"/>
          </a:solidFill>
          <a:ln xmlns:a="http://schemas.openxmlformats.org/drawingml/2006/main" w="9525">
            <a:solidFill>
              <a:srgbClr val="D9E2E7"/>
            </a:solidFill>
            <a:prstDash val="solid"/>
          </a:ln>
        </p:spPr>
      </p:sp>
      <p:sp>
        <p:nvSpPr>
          <p:cNvPr id="46" name="threshold-4,5">
            <a:extLst xmlns:a="http://schemas.openxmlformats.org/drawingml/2006/main">
              <a:ext uri="{FF2B5EF4-FFF2-40B4-BE49-F238E27FC236}">
                <a16:creationId xmlns:a16="http://schemas.microsoft.com/office/drawing/2014/main" id="{467DFDE4-22F4-46C3-B39E-E5E19DCF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434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2A50"/>
          </a:solidFill>
          <a:ln xmlns:a="http://schemas.openxmlformats.org/drawingml/2006/main" w="9525">
            <a:solidFill>
              <a:srgbClr val="B02A50"/>
            </a:solidFill>
            <a:prstDash val="solid"/>
          </a:ln>
        </p:spPr>
      </p:sp>
      <p:sp>
        <p:nvSpPr>
          <p:cNvPr id="47" name="threshold-4,5-label">
            <a:extLst xmlns:a="http://schemas.openxmlformats.org/drawingml/2006/main">
              <a:ext uri="{FF2B5EF4-FFF2-40B4-BE49-F238E27FC236}">
                <a16:creationId xmlns:a16="http://schemas.microsoft.com/office/drawing/2014/main" id="{1AB84B3B-C94C-4836-A33A-C8A380ED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552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61D2D"/>
                </a:solidFill>
                <a:latin typeface="Aptos"/>
                <a:ea typeface="Aptos"/>
                <a:cs typeface="Aptos"/>
              </a:rPr>
              <a:t>4,5%</a:t>
            </a:r>
          </a:p>
        </p:txBody>
      </p:sp>
      <p:sp>
        <p:nvSpPr>
          <p:cNvPr id="48" name="threshold-7,0">
            <a:extLst xmlns:a="http://schemas.openxmlformats.org/drawingml/2006/main">
              <a:ext uri="{FF2B5EF4-FFF2-40B4-BE49-F238E27FC236}">
                <a16:creationId xmlns:a16="http://schemas.microsoft.com/office/drawing/2014/main" id="{1F48DCCD-8ED1-4915-9E4E-22C8D067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434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AC22"/>
          </a:solidFill>
          <a:ln xmlns:a="http://schemas.openxmlformats.org/drawingml/2006/main" w="9525">
            <a:solidFill>
              <a:srgbClr val="D1AC22"/>
            </a:solidFill>
            <a:prstDash val="solid"/>
          </a:ln>
        </p:spPr>
      </p:sp>
      <p:sp>
        <p:nvSpPr>
          <p:cNvPr id="49" name="threshold-7,0-label">
            <a:extLst xmlns:a="http://schemas.openxmlformats.org/drawingml/2006/main">
              <a:ext uri="{FF2B5EF4-FFF2-40B4-BE49-F238E27FC236}">
                <a16:creationId xmlns:a16="http://schemas.microsoft.com/office/drawing/2014/main" id="{458F2BD5-7AE5-4069-98CB-8FC629AE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552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61D2D"/>
                </a:solidFill>
                <a:latin typeface="Aptos"/>
                <a:ea typeface="Aptos"/>
                <a:cs typeface="Aptos"/>
              </a:rPr>
              <a:t>7,0%</a:t>
            </a:r>
          </a:p>
        </p:txBody>
      </p:sp>
      <p:sp>
        <p:nvSpPr>
          <p:cNvPr id="50" name="threshold-8,0">
            <a:extLst xmlns:a="http://schemas.openxmlformats.org/drawingml/2006/main">
              <a:ext uri="{FF2B5EF4-FFF2-40B4-BE49-F238E27FC236}">
                <a16:creationId xmlns:a16="http://schemas.microsoft.com/office/drawing/2014/main" id="{8305A9F5-75AD-47C7-BB7B-417FEA18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3434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9A5"/>
          </a:solidFill>
          <a:ln xmlns:a="http://schemas.openxmlformats.org/drawingml/2006/main" w="9525">
            <a:solidFill>
              <a:srgbClr val="08A9A5"/>
            </a:solidFill>
            <a:prstDash val="solid"/>
          </a:ln>
        </p:spPr>
      </p:sp>
      <p:sp>
        <p:nvSpPr>
          <p:cNvPr id="51" name="threshold-8,0-label">
            <a:extLst xmlns:a="http://schemas.openxmlformats.org/drawingml/2006/main">
              <a:ext uri="{FF2B5EF4-FFF2-40B4-BE49-F238E27FC236}">
                <a16:creationId xmlns:a16="http://schemas.microsoft.com/office/drawing/2014/main" id="{5A6A421D-288B-4A2A-9091-3C969FC8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552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61D2D"/>
                </a:solidFill>
                <a:latin typeface="Aptos"/>
                <a:ea typeface="Aptos"/>
                <a:cs typeface="Aptos"/>
              </a:rPr>
              <a:t>8,0%</a:t>
            </a:r>
          </a:p>
        </p:txBody>
      </p:sp>
      <p:sp>
        <p:nvSpPr>
          <p:cNvPr id="52" name="equation-band">
            <a:extLst xmlns:a="http://schemas.openxmlformats.org/drawingml/2006/main">
              <a:ext uri="{FF2B5EF4-FFF2-40B4-BE49-F238E27FC236}">
                <a16:creationId xmlns:a16="http://schemas.microsoft.com/office/drawing/2014/main" id="{EA613A7D-F94A-4F1E-9F91-6AF134C9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2E7"/>
            </a:solidFill>
            <a:prstDash val="solid"/>
          </a:ln>
        </p:spPr>
      </p:sp>
      <p:sp>
        <p:nvSpPr>
          <p:cNvPr id="53" name="equation-label">
            <a:extLst xmlns:a="http://schemas.openxmlformats.org/drawingml/2006/main">
              <a:ext uri="{FF2B5EF4-FFF2-40B4-BE49-F238E27FC236}">
                <a16:creationId xmlns:a16="http://schemas.microsoft.com/office/drawing/2014/main" id="{64FCF988-A341-4C1B-A073-44199818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D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D7A"/>
                </a:solidFill>
                <a:latin typeface="Aptos"/>
                <a:ea typeface="Aptos"/>
                <a:cs typeface="Aptos"/>
              </a:rPr>
              <a:t>CET1-Aggregation</a:t>
            </a:r>
          </a:p>
        </p:txBody>
      </p:sp>
      <p:sp>
        <p:nvSpPr>
          <p:cNvPr id="54" name="equation">
            <a:extLst xmlns:a="http://schemas.openxmlformats.org/drawingml/2006/main">
              <a:ext uri="{FF2B5EF4-FFF2-40B4-BE49-F238E27FC236}">
                <a16:creationId xmlns:a16="http://schemas.microsoft.com/office/drawing/2014/main" id="{61C0DFA9-A561-4E0C-8984-B26A1028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530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D2D"/>
                </a:solidFill>
                <a:latin typeface="Aptos"/>
                <a:ea typeface="Aptos"/>
                <a:cs typeface="Aptos"/>
              </a:rPr>
              <a:t>CET1 Stress = (CET1 Basis − ΔEL Kredit + ΔFV Sovereign) / (RWA Basis + ΔRWA Kredit)</a:t>
            </a:r>
          </a:p>
        </p:txBody>
      </p:sp>
      <p:sp>
        <p:nvSpPr>
          <p:cNvPr id="55" name="equation-note">
            <a:extLst xmlns:a="http://schemas.openxmlformats.org/drawingml/2006/main">
              <a:ext uri="{FF2B5EF4-FFF2-40B4-BE49-F238E27FC236}">
                <a16:creationId xmlns:a16="http://schemas.microsoft.com/office/drawing/2014/main" id="{8D5F4E03-B0C8-48AF-A04A-E09C5FD0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578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7F9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F93"/>
                </a:solidFill>
                <a:latin typeface="Aptos"/>
                <a:ea typeface="Aptos"/>
                <a:cs typeface="Aptos"/>
              </a:rPr>
              <a:t>Damit bleibt die Story prozessual sauber: erst Schock, dann Parameter, dann Kapitalmechanik, erst am Ende die Quote.</a:t>
            </a:r>
          </a:p>
        </p:txBody>
      </p:sp>
      <p:sp>
        <p:nvSpPr>
          <p:cNvPr id="56" name="bottom-claim">
            <a:extLst xmlns:a="http://schemas.openxmlformats.org/drawingml/2006/main">
              <a:ext uri="{FF2B5EF4-FFF2-40B4-BE49-F238E27FC236}">
                <a16:creationId xmlns:a16="http://schemas.microsoft.com/office/drawing/2014/main" id="{4C85A08C-2FB7-4D6B-A976-0158A9C4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103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D2D"/>
                </a:solidFill>
                <a:latin typeface="Aptos"/>
                <a:ea typeface="Aptos"/>
                <a:cs typeface="Aptos"/>
              </a:rPr>
              <a:t>Kernaussage: Der CET1-Effekt entsteht nicht direkt aus dem Makro-Schock, sondern aus einer nachvollziehbaren Transmission über Kreditbuch und Sovereign-Buch.</a:t>
            </a:r>
          </a:p>
        </p:txBody>
      </p:sp>
    </p:spTree>
    <p:extLst>
      <p:ext uri="{BB962C8B-B14F-4D97-AF65-F5344CB8AC3E}">
        <p14:creationId xmlns:p14="http://schemas.microsoft.com/office/powerpoint/2010/main" val="570519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2026-07-06T10:35:41.1770000Z</dcterms:created>
  <dcterms:modified xsi:type="dcterms:W3CDTF">2026-07-06T10:35:41.1780000Z</dcterms:modified>
</coreProperties>
</file>