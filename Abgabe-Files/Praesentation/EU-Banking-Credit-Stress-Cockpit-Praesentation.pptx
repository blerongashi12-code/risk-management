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charts/chart1.xml" ContentType="application/vnd.openxmlformats-officedocument.drawingml.chart+xml"/>
  <Override PartName="/ppt/notesSlides/notesSlide26.xml" ContentType="application/vnd.openxmlformats-officedocument.presentationml.notesSlide+xml"/>
  <Override PartName="/ppt/charts/chart2.xml" ContentType="application/vnd.openxmlformats-officedocument.drawingml.chart+xml"/>
  <Override PartName="/ppt/notesSlides/notesSlide27.xml" ContentType="application/vnd.openxmlformats-officedocument.presentationml.notesSlide+xml"/>
  <Override PartName="/ppt/charts/chart3.xml" ContentType="application/vnd.openxmlformats-officedocument.drawingml.chart+xml"/>
  <Override PartName="/ppt/charts/chart4.xml" ContentType="application/vnd.openxmlformats-officedocument.drawingml.chart+xml"/>
  <Override PartName="/ppt/notesSlides/notesSlide28.xml" ContentType="application/vnd.openxmlformats-officedocument.presentationml.notesSlide+xml"/>
  <Override PartName="/ppt/charts/chart5.xml" ContentType="application/vnd.openxmlformats-officedocument.drawingml.chart+xml"/>
  <Override PartName="/ppt/notesSlides/notesSlide29.xml" ContentType="application/vnd.openxmlformats-officedocument.presentationml.notesSlide+xml"/>
  <Override PartName="/ppt/charts/chart6.xml" ContentType="application/vnd.openxmlformats-officedocument.drawingml.chart+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theme/themeOverride1.xml" ContentType="application/vnd.openxmlformats-officedocument.themeOverr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4"/>
  </p:sldMasterIdLst>
  <p:notesMasterIdLst>
    <p:notesMasterId r:id="rId69"/>
  </p:notesMasterIdLst>
  <p:sldIdLst>
    <p:sldId id="256" r:id="rId5"/>
    <p:sldId id="257" r:id="rId6"/>
    <p:sldId id="259" r:id="rId7"/>
    <p:sldId id="309" r:id="rId8"/>
    <p:sldId id="315" r:id="rId9"/>
    <p:sldId id="310" r:id="rId10"/>
    <p:sldId id="308" r:id="rId11"/>
    <p:sldId id="307" r:id="rId12"/>
    <p:sldId id="267" r:id="rId13"/>
    <p:sldId id="264" r:id="rId14"/>
    <p:sldId id="311" r:id="rId15"/>
    <p:sldId id="261" r:id="rId16"/>
    <p:sldId id="262" r:id="rId17"/>
    <p:sldId id="260" r:id="rId18"/>
    <p:sldId id="263" r:id="rId19"/>
    <p:sldId id="312" r:id="rId20"/>
    <p:sldId id="313" r:id="rId21"/>
    <p:sldId id="368" r:id="rId22"/>
    <p:sldId id="270" r:id="rId23"/>
    <p:sldId id="324" r:id="rId24"/>
    <p:sldId id="325" r:id="rId25"/>
    <p:sldId id="326" r:id="rId26"/>
    <p:sldId id="328" r:id="rId27"/>
    <p:sldId id="337" r:id="rId28"/>
    <p:sldId id="330" r:id="rId29"/>
    <p:sldId id="338" r:id="rId30"/>
    <p:sldId id="343" r:id="rId31"/>
    <p:sldId id="340" r:id="rId32"/>
    <p:sldId id="341" r:id="rId33"/>
    <p:sldId id="334" r:id="rId34"/>
    <p:sldId id="342" r:id="rId35"/>
    <p:sldId id="276" r:id="rId36"/>
    <p:sldId id="346" r:id="rId37"/>
    <p:sldId id="347" r:id="rId38"/>
    <p:sldId id="348" r:id="rId39"/>
    <p:sldId id="350" r:id="rId40"/>
    <p:sldId id="349" r:id="rId41"/>
    <p:sldId id="351" r:id="rId42"/>
    <p:sldId id="352" r:id="rId43"/>
    <p:sldId id="354" r:id="rId44"/>
    <p:sldId id="353" r:id="rId45"/>
    <p:sldId id="355" r:id="rId46"/>
    <p:sldId id="282" r:id="rId47"/>
    <p:sldId id="357" r:id="rId48"/>
    <p:sldId id="358" r:id="rId49"/>
    <p:sldId id="359" r:id="rId50"/>
    <p:sldId id="371" r:id="rId51"/>
    <p:sldId id="361" r:id="rId52"/>
    <p:sldId id="370" r:id="rId53"/>
    <p:sldId id="363" r:id="rId54"/>
    <p:sldId id="364" r:id="rId55"/>
    <p:sldId id="365" r:id="rId56"/>
    <p:sldId id="366" r:id="rId57"/>
    <p:sldId id="369" r:id="rId58"/>
    <p:sldId id="316" r:id="rId59"/>
    <p:sldId id="317" r:id="rId60"/>
    <p:sldId id="336" r:id="rId61"/>
    <p:sldId id="258" r:id="rId62"/>
    <p:sldId id="318" r:id="rId63"/>
    <p:sldId id="319" r:id="rId64"/>
    <p:sldId id="321" r:id="rId65"/>
    <p:sldId id="322" r:id="rId66"/>
    <p:sldId id="265" r:id="rId67"/>
    <p:sldId id="294" r:id="rId68"/>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356F2B91-F9F2-8485-4A3D-9A48DA42E6EF}" name="Alrihawi, Hamzah" initials="HA" userId="S::hamzah.alrihawi@study.hs-duesseldorf.de::72811587-1dd6-4e7d-a376-efbf6c95deb1"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091DE4E-E34F-1E45-AA34-31309EB43676}" v="601" dt="2026-07-08T20:31:10.240"/>
    <p1510:client id="{3C2126C9-0F39-5C8C-94B1-33DA822FE969}" v="5" dt="2026-07-08T20:38:08.495"/>
    <p1510:client id="{598C8F26-017D-451B-8E0F-2535EEA14A47}" v="108" dt="2026-07-08T20:34:35.993"/>
    <p1510:client id="{91CF1815-5872-C97E-33F2-418996BBCA0D}" v="46" dt="2026-07-07T21:10:51.555"/>
    <p1510:client id="{A7A80382-FBDC-4E07-2A43-31888EDD3300}" v="7" dt="2026-07-08T20:22:01.142"/>
    <p1510:client id="{AC4F2BED-3C5F-47E1-A7E0-DBFF17D4473C}" v="212" dt="2026-07-08T17:30:22.11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howGuides="1">
      <p:cViewPr varScale="1">
        <p:scale>
          <a:sx n="105" d="100"/>
          <a:sy n="105" d="100"/>
        </p:scale>
        <p:origin x="798" y="9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74" Type="http://schemas.microsoft.com/office/2016/11/relationships/changesInfo" Target="changesInfos/changesInfo1.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notesMaster" Target="notesMasters/notesMaster1.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presProps" Target="presProps.xml"/><Relationship Id="rId75"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microsoft.com/office/2018/10/relationships/authors" Target="authors.xml"/><Relationship Id="rId7" Type="http://schemas.openxmlformats.org/officeDocument/2006/relationships/slide" Target="slides/slide3.xml"/><Relationship Id="rId71"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en Romdhane, Eya" userId="S::eya.benromdhane@study.hs-duesseldorf.de::60048e57-a9a3-4011-9387-1ae00cc1a133" providerId="AD" clId="Web-{7E33BA38-4BC8-E6A9-13F8-7E99E4DB771B}"/>
    <pc:docChg chg="delSld modSld sldOrd">
      <pc:chgData name="Ben Romdhane, Eya" userId="S::eya.benromdhane@study.hs-duesseldorf.de::60048e57-a9a3-4011-9387-1ae00cc1a133" providerId="AD" clId="Web-{7E33BA38-4BC8-E6A9-13F8-7E99E4DB771B}" dt="2026-07-07T17:57:30.271" v="36" actId="20577"/>
      <pc:docMkLst>
        <pc:docMk/>
      </pc:docMkLst>
      <pc:sldChg chg="delSp modSp">
        <pc:chgData name="Ben Romdhane, Eya" userId="S::eya.benromdhane@study.hs-duesseldorf.de::60048e57-a9a3-4011-9387-1ae00cc1a133" providerId="AD" clId="Web-{7E33BA38-4BC8-E6A9-13F8-7E99E4DB771B}" dt="2026-07-07T17:56:04.205" v="29" actId="20577"/>
        <pc:sldMkLst>
          <pc:docMk/>
          <pc:sldMk cId="0" sldId="258"/>
        </pc:sldMkLst>
        <pc:spChg chg="mod">
          <ac:chgData name="Ben Romdhane, Eya" userId="S::eya.benromdhane@study.hs-duesseldorf.de::60048e57-a9a3-4011-9387-1ae00cc1a133" providerId="AD" clId="Web-{7E33BA38-4BC8-E6A9-13F8-7E99E4DB771B}" dt="2026-07-07T17:56:04.205" v="29" actId="20577"/>
          <ac:spMkLst>
            <pc:docMk/>
            <pc:sldMk cId="0" sldId="258"/>
            <ac:spMk id="7" creationId="{00000000-0000-0000-0000-000000000000}"/>
          </ac:spMkLst>
        </pc:spChg>
        <pc:spChg chg="del">
          <ac:chgData name="Ben Romdhane, Eya" userId="S::eya.benromdhane@study.hs-duesseldorf.de::60048e57-a9a3-4011-9387-1ae00cc1a133" providerId="AD" clId="Web-{7E33BA38-4BC8-E6A9-13F8-7E99E4DB771B}" dt="2026-07-07T17:27:44.568" v="2"/>
          <ac:spMkLst>
            <pc:docMk/>
            <pc:sldMk cId="0" sldId="258"/>
            <ac:spMk id="34" creationId="{5BB3AC64-2752-C11C-0B70-956A9619DBD4}"/>
          </ac:spMkLst>
        </pc:spChg>
      </pc:sldChg>
      <pc:sldChg chg="delSp modSp ord">
        <pc:chgData name="Ben Romdhane, Eya" userId="S::eya.benromdhane@study.hs-duesseldorf.de::60048e57-a9a3-4011-9387-1ae00cc1a133" providerId="AD" clId="Web-{7E33BA38-4BC8-E6A9-13F8-7E99E4DB771B}" dt="2026-07-07T17:56:52.191" v="35" actId="20577"/>
        <pc:sldMkLst>
          <pc:docMk/>
          <pc:sldMk cId="0" sldId="265"/>
        </pc:sldMkLst>
        <pc:spChg chg="mod">
          <ac:chgData name="Ben Romdhane, Eya" userId="S::eya.benromdhane@study.hs-duesseldorf.de::60048e57-a9a3-4011-9387-1ae00cc1a133" providerId="AD" clId="Web-{7E33BA38-4BC8-E6A9-13F8-7E99E4DB771B}" dt="2026-07-07T17:56:52.191" v="35" actId="20577"/>
          <ac:spMkLst>
            <pc:docMk/>
            <pc:sldMk cId="0" sldId="265"/>
            <ac:spMk id="7" creationId="{00000000-0000-0000-0000-000000000000}"/>
          </ac:spMkLst>
        </pc:spChg>
        <pc:spChg chg="del">
          <ac:chgData name="Ben Romdhane, Eya" userId="S::eya.benromdhane@study.hs-duesseldorf.de::60048e57-a9a3-4011-9387-1ae00cc1a133" providerId="AD" clId="Web-{7E33BA38-4BC8-E6A9-13F8-7E99E4DB771B}" dt="2026-07-07T17:29:05.774" v="11"/>
          <ac:spMkLst>
            <pc:docMk/>
            <pc:sldMk cId="0" sldId="265"/>
            <ac:spMk id="27" creationId="{9E3CD779-60C2-FFB3-058A-9C9AF5724DB4}"/>
          </ac:spMkLst>
        </pc:spChg>
      </pc:sldChg>
      <pc:sldChg chg="modSp">
        <pc:chgData name="Ben Romdhane, Eya" userId="S::eya.benromdhane@study.hs-duesseldorf.de::60048e57-a9a3-4011-9387-1ae00cc1a133" providerId="AD" clId="Web-{7E33BA38-4BC8-E6A9-13F8-7E99E4DB771B}" dt="2026-07-07T17:57:30.271" v="36" actId="20577"/>
        <pc:sldMkLst>
          <pc:docMk/>
          <pc:sldMk cId="0" sldId="316"/>
        </pc:sldMkLst>
        <pc:spChg chg="mod">
          <ac:chgData name="Ben Romdhane, Eya" userId="S::eya.benromdhane@study.hs-duesseldorf.de::60048e57-a9a3-4011-9387-1ae00cc1a133" providerId="AD" clId="Web-{7E33BA38-4BC8-E6A9-13F8-7E99E4DB771B}" dt="2026-07-07T17:57:30.271" v="36" actId="20577"/>
          <ac:spMkLst>
            <pc:docMk/>
            <pc:sldMk cId="0" sldId="316"/>
            <ac:spMk id="8" creationId="{00000000-0000-0000-0000-000000000000}"/>
          </ac:spMkLst>
        </pc:spChg>
      </pc:sldChg>
      <pc:sldChg chg="delSp modSp">
        <pc:chgData name="Ben Romdhane, Eya" userId="S::eya.benromdhane@study.hs-duesseldorf.de::60048e57-a9a3-4011-9387-1ae00cc1a133" providerId="AD" clId="Web-{7E33BA38-4BC8-E6A9-13F8-7E99E4DB771B}" dt="2026-07-07T17:54:56.625" v="14" actId="20577"/>
        <pc:sldMkLst>
          <pc:docMk/>
          <pc:sldMk cId="0" sldId="317"/>
        </pc:sldMkLst>
        <pc:spChg chg="mod">
          <ac:chgData name="Ben Romdhane, Eya" userId="S::eya.benromdhane@study.hs-duesseldorf.de::60048e57-a9a3-4011-9387-1ae00cc1a133" providerId="AD" clId="Web-{7E33BA38-4BC8-E6A9-13F8-7E99E4DB771B}" dt="2026-07-07T17:54:56.625" v="14" actId="20577"/>
          <ac:spMkLst>
            <pc:docMk/>
            <pc:sldMk cId="0" sldId="317"/>
            <ac:spMk id="7" creationId="{00000000-0000-0000-0000-000000000000}"/>
          </ac:spMkLst>
        </pc:spChg>
        <pc:spChg chg="del">
          <ac:chgData name="Ben Romdhane, Eya" userId="S::eya.benromdhane@study.hs-duesseldorf.de::60048e57-a9a3-4011-9387-1ae00cc1a133" providerId="AD" clId="Web-{7E33BA38-4BC8-E6A9-13F8-7E99E4DB771B}" dt="2026-07-07T17:27:32.083" v="0"/>
          <ac:spMkLst>
            <pc:docMk/>
            <pc:sldMk cId="0" sldId="317"/>
            <ac:spMk id="36" creationId="{966E89D7-0BB8-E264-CD98-2CF15910CB91}"/>
          </ac:spMkLst>
        </pc:spChg>
      </pc:sldChg>
      <pc:sldChg chg="delSp modSp">
        <pc:chgData name="Ben Romdhane, Eya" userId="S::eya.benromdhane@study.hs-duesseldorf.de::60048e57-a9a3-4011-9387-1ae00cc1a133" providerId="AD" clId="Web-{7E33BA38-4BC8-E6A9-13F8-7E99E4DB771B}" dt="2026-07-07T17:56:11.487" v="31" actId="20577"/>
        <pc:sldMkLst>
          <pc:docMk/>
          <pc:sldMk cId="0" sldId="318"/>
        </pc:sldMkLst>
        <pc:spChg chg="mod">
          <ac:chgData name="Ben Romdhane, Eya" userId="S::eya.benromdhane@study.hs-duesseldorf.de::60048e57-a9a3-4011-9387-1ae00cc1a133" providerId="AD" clId="Web-{7E33BA38-4BC8-E6A9-13F8-7E99E4DB771B}" dt="2026-07-07T17:56:11.487" v="31" actId="20577"/>
          <ac:spMkLst>
            <pc:docMk/>
            <pc:sldMk cId="0" sldId="318"/>
            <ac:spMk id="7" creationId="{00000000-0000-0000-0000-000000000000}"/>
          </ac:spMkLst>
        </pc:spChg>
        <pc:spChg chg="del">
          <ac:chgData name="Ben Romdhane, Eya" userId="S::eya.benromdhane@study.hs-duesseldorf.de::60048e57-a9a3-4011-9387-1ae00cc1a133" providerId="AD" clId="Web-{7E33BA38-4BC8-E6A9-13F8-7E99E4DB771B}" dt="2026-07-07T17:27:49.990" v="3"/>
          <ac:spMkLst>
            <pc:docMk/>
            <pc:sldMk cId="0" sldId="318"/>
            <ac:spMk id="20" creationId="{BCF5C7CC-D6DF-1CEC-7225-E535E8825706}"/>
          </ac:spMkLst>
        </pc:spChg>
      </pc:sldChg>
      <pc:sldChg chg="delSp modSp">
        <pc:chgData name="Ben Romdhane, Eya" userId="S::eya.benromdhane@study.hs-duesseldorf.de::60048e57-a9a3-4011-9387-1ae00cc1a133" providerId="AD" clId="Web-{7E33BA38-4BC8-E6A9-13F8-7E99E4DB771B}" dt="2026-07-07T17:56:19.675" v="32" actId="20577"/>
        <pc:sldMkLst>
          <pc:docMk/>
          <pc:sldMk cId="0" sldId="319"/>
        </pc:sldMkLst>
        <pc:spChg chg="mod">
          <ac:chgData name="Ben Romdhane, Eya" userId="S::eya.benromdhane@study.hs-duesseldorf.de::60048e57-a9a3-4011-9387-1ae00cc1a133" providerId="AD" clId="Web-{7E33BA38-4BC8-E6A9-13F8-7E99E4DB771B}" dt="2026-07-07T17:56:19.675" v="32" actId="20577"/>
          <ac:spMkLst>
            <pc:docMk/>
            <pc:sldMk cId="0" sldId="319"/>
            <ac:spMk id="7" creationId="{00000000-0000-0000-0000-000000000000}"/>
          </ac:spMkLst>
        </pc:spChg>
        <pc:spChg chg="del">
          <ac:chgData name="Ben Romdhane, Eya" userId="S::eya.benromdhane@study.hs-duesseldorf.de::60048e57-a9a3-4011-9387-1ae00cc1a133" providerId="AD" clId="Web-{7E33BA38-4BC8-E6A9-13F8-7E99E4DB771B}" dt="2026-07-07T17:27:56.350" v="4"/>
          <ac:spMkLst>
            <pc:docMk/>
            <pc:sldMk cId="0" sldId="319"/>
            <ac:spMk id="20" creationId="{FDBC1051-2C45-259E-2B53-1F59133EEBF2}"/>
          </ac:spMkLst>
        </pc:spChg>
      </pc:sldChg>
      <pc:sldChg chg="del">
        <pc:chgData name="Ben Romdhane, Eya" userId="S::eya.benromdhane@study.hs-duesseldorf.de::60048e57-a9a3-4011-9387-1ae00cc1a133" providerId="AD" clId="Web-{7E33BA38-4BC8-E6A9-13F8-7E99E4DB771B}" dt="2026-07-07T17:28:02.162" v="5"/>
        <pc:sldMkLst>
          <pc:docMk/>
          <pc:sldMk cId="0" sldId="320"/>
        </pc:sldMkLst>
      </pc:sldChg>
      <pc:sldChg chg="delSp modSp">
        <pc:chgData name="Ben Romdhane, Eya" userId="S::eya.benromdhane@study.hs-duesseldorf.de::60048e57-a9a3-4011-9387-1ae00cc1a133" providerId="AD" clId="Web-{7E33BA38-4BC8-E6A9-13F8-7E99E4DB771B}" dt="2026-07-07T17:56:27.519" v="33" actId="20577"/>
        <pc:sldMkLst>
          <pc:docMk/>
          <pc:sldMk cId="0" sldId="321"/>
        </pc:sldMkLst>
        <pc:spChg chg="mod">
          <ac:chgData name="Ben Romdhane, Eya" userId="S::eya.benromdhane@study.hs-duesseldorf.de::60048e57-a9a3-4011-9387-1ae00cc1a133" providerId="AD" clId="Web-{7E33BA38-4BC8-E6A9-13F8-7E99E4DB771B}" dt="2026-07-07T17:28:18.491" v="8" actId="20577"/>
          <ac:spMkLst>
            <pc:docMk/>
            <pc:sldMk cId="0" sldId="321"/>
            <ac:spMk id="5" creationId="{00000000-0000-0000-0000-000000000000}"/>
          </ac:spMkLst>
        </pc:spChg>
        <pc:spChg chg="mod">
          <ac:chgData name="Ben Romdhane, Eya" userId="S::eya.benromdhane@study.hs-duesseldorf.de::60048e57-a9a3-4011-9387-1ae00cc1a133" providerId="AD" clId="Web-{7E33BA38-4BC8-E6A9-13F8-7E99E4DB771B}" dt="2026-07-07T17:56:27.519" v="33" actId="20577"/>
          <ac:spMkLst>
            <pc:docMk/>
            <pc:sldMk cId="0" sldId="321"/>
            <ac:spMk id="7" creationId="{00000000-0000-0000-0000-000000000000}"/>
          </ac:spMkLst>
        </pc:spChg>
        <pc:spChg chg="del">
          <ac:chgData name="Ben Romdhane, Eya" userId="S::eya.benromdhane@study.hs-duesseldorf.de::60048e57-a9a3-4011-9387-1ae00cc1a133" providerId="AD" clId="Web-{7E33BA38-4BC8-E6A9-13F8-7E99E4DB771B}" dt="2026-07-07T17:28:06.288" v="6"/>
          <ac:spMkLst>
            <pc:docMk/>
            <pc:sldMk cId="0" sldId="321"/>
            <ac:spMk id="29" creationId="{A7878C4B-6664-B098-B2F1-E7B92264B3F3}"/>
          </ac:spMkLst>
        </pc:spChg>
      </pc:sldChg>
      <pc:sldChg chg="delSp modSp">
        <pc:chgData name="Ben Romdhane, Eya" userId="S::eya.benromdhane@study.hs-duesseldorf.de::60048e57-a9a3-4011-9387-1ae00cc1a133" providerId="AD" clId="Web-{7E33BA38-4BC8-E6A9-13F8-7E99E4DB771B}" dt="2026-07-07T17:56:38.785" v="34" actId="20577"/>
        <pc:sldMkLst>
          <pc:docMk/>
          <pc:sldMk cId="0" sldId="322"/>
        </pc:sldMkLst>
        <pc:spChg chg="mod">
          <ac:chgData name="Ben Romdhane, Eya" userId="S::eya.benromdhane@study.hs-duesseldorf.de::60048e57-a9a3-4011-9387-1ae00cc1a133" providerId="AD" clId="Web-{7E33BA38-4BC8-E6A9-13F8-7E99E4DB771B}" dt="2026-07-07T17:56:38.785" v="34" actId="20577"/>
          <ac:spMkLst>
            <pc:docMk/>
            <pc:sldMk cId="0" sldId="322"/>
            <ac:spMk id="7" creationId="{00000000-0000-0000-0000-000000000000}"/>
          </ac:spMkLst>
        </pc:spChg>
        <pc:spChg chg="del">
          <ac:chgData name="Ben Romdhane, Eya" userId="S::eya.benromdhane@study.hs-duesseldorf.de::60048e57-a9a3-4011-9387-1ae00cc1a133" providerId="AD" clId="Web-{7E33BA38-4BC8-E6A9-13F8-7E99E4DB771B}" dt="2026-07-07T17:28:27.945" v="9"/>
          <ac:spMkLst>
            <pc:docMk/>
            <pc:sldMk cId="0" sldId="322"/>
            <ac:spMk id="23" creationId="{F1E2D921-BB9A-E143-7AAA-083F24530AF8}"/>
          </ac:spMkLst>
        </pc:spChg>
      </pc:sldChg>
      <pc:sldChg chg="del">
        <pc:chgData name="Ben Romdhane, Eya" userId="S::eya.benromdhane@study.hs-duesseldorf.de::60048e57-a9a3-4011-9387-1ae00cc1a133" providerId="AD" clId="Web-{7E33BA38-4BC8-E6A9-13F8-7E99E4DB771B}" dt="2026-07-07T17:29:02.024" v="10"/>
        <pc:sldMkLst>
          <pc:docMk/>
          <pc:sldMk cId="0" sldId="323"/>
        </pc:sldMkLst>
      </pc:sldChg>
      <pc:sldChg chg="addSp delSp modSp">
        <pc:chgData name="Ben Romdhane, Eya" userId="S::eya.benromdhane@study.hs-duesseldorf.de::60048e57-a9a3-4011-9387-1ae00cc1a133" providerId="AD" clId="Web-{7E33BA38-4BC8-E6A9-13F8-7E99E4DB771B}" dt="2026-07-07T17:55:56.111" v="27" actId="20577"/>
        <pc:sldMkLst>
          <pc:docMk/>
          <pc:sldMk cId="1213176608" sldId="336"/>
        </pc:sldMkLst>
        <pc:spChg chg="del">
          <ac:chgData name="Ben Romdhane, Eya" userId="S::eya.benromdhane@study.hs-duesseldorf.de::60048e57-a9a3-4011-9387-1ae00cc1a133" providerId="AD" clId="Web-{7E33BA38-4BC8-E6A9-13F8-7E99E4DB771B}" dt="2026-07-07T17:27:39.662" v="1"/>
          <ac:spMkLst>
            <pc:docMk/>
            <pc:sldMk cId="1213176608" sldId="336"/>
            <ac:spMk id="2" creationId="{FEB7CE15-3BC0-C36A-C753-3201407847EA}"/>
          </ac:spMkLst>
        </pc:spChg>
        <pc:spChg chg="add del mod">
          <ac:chgData name="Ben Romdhane, Eya" userId="S::eya.benromdhane@study.hs-duesseldorf.de::60048e57-a9a3-4011-9387-1ae00cc1a133" providerId="AD" clId="Web-{7E33BA38-4BC8-E6A9-13F8-7E99E4DB771B}" dt="2026-07-07T17:55:19.688" v="17"/>
          <ac:spMkLst>
            <pc:docMk/>
            <pc:sldMk cId="1213176608" sldId="336"/>
            <ac:spMk id="29" creationId="{FCBB21B1-BADB-1A9D-B027-FBFA9CF113D0}"/>
          </ac:spMkLst>
        </pc:spChg>
        <pc:spChg chg="add mod">
          <ac:chgData name="Ben Romdhane, Eya" userId="S::eya.benromdhane@study.hs-duesseldorf.de::60048e57-a9a3-4011-9387-1ae00cc1a133" providerId="AD" clId="Web-{7E33BA38-4BC8-E6A9-13F8-7E99E4DB771B}" dt="2026-07-07T17:55:56.111" v="27" actId="20577"/>
          <ac:spMkLst>
            <pc:docMk/>
            <pc:sldMk cId="1213176608" sldId="336"/>
            <ac:spMk id="36" creationId="{1C21ED41-E011-4332-78CF-700AB0B72B31}"/>
          </ac:spMkLst>
        </pc:spChg>
      </pc:sldChg>
    </pc:docChg>
  </pc:docChgLst>
  <pc:docChgLst>
    <pc:chgData name="Ben Romdhane, Eya" userId="60048e57-a9a3-4011-9387-1ae00cc1a133" providerId="ADAL" clId="{5D36E32F-D828-47A0-B6A2-AFD750237AB8}"/>
    <pc:docChg chg="undo custSel addSld delSld modSld sldOrd">
      <pc:chgData name="Ben Romdhane, Eya" userId="60048e57-a9a3-4011-9387-1ae00cc1a133" providerId="ADAL" clId="{5D36E32F-D828-47A0-B6A2-AFD750237AB8}" dt="2026-07-06T19:18:00.659" v="397" actId="729"/>
      <pc:docMkLst>
        <pc:docMk/>
      </pc:docMkLst>
      <pc:sldChg chg="addSp delSp modSp add mod setBg modNotesTx">
        <pc:chgData name="Ben Romdhane, Eya" userId="60048e57-a9a3-4011-9387-1ae00cc1a133" providerId="ADAL" clId="{5D36E32F-D828-47A0-B6A2-AFD750237AB8}" dt="2026-07-05T13:10:33.109" v="319" actId="478"/>
        <pc:sldMkLst>
          <pc:docMk/>
          <pc:sldMk cId="0" sldId="258"/>
        </pc:sldMkLst>
        <pc:spChg chg="mod">
          <ac:chgData name="Ben Romdhane, Eya" userId="60048e57-a9a3-4011-9387-1ae00cc1a133" providerId="ADAL" clId="{5D36E32F-D828-47A0-B6A2-AFD750237AB8}" dt="2026-06-30T14:32:02.466" v="177" actId="27636"/>
          <ac:spMkLst>
            <pc:docMk/>
            <pc:sldMk cId="0" sldId="258"/>
            <ac:spMk id="9" creationId="{00000000-0000-0000-0000-000000000000}"/>
          </ac:spMkLst>
        </pc:spChg>
        <pc:spChg chg="mod">
          <ac:chgData name="Ben Romdhane, Eya" userId="60048e57-a9a3-4011-9387-1ae00cc1a133" providerId="ADAL" clId="{5D36E32F-D828-47A0-B6A2-AFD750237AB8}" dt="2026-06-30T14:32:10.486" v="180" actId="403"/>
          <ac:spMkLst>
            <pc:docMk/>
            <pc:sldMk cId="0" sldId="258"/>
            <ac:spMk id="11" creationId="{00000000-0000-0000-0000-000000000000}"/>
          </ac:spMkLst>
        </pc:spChg>
        <pc:spChg chg="mod">
          <ac:chgData name="Ben Romdhane, Eya" userId="60048e57-a9a3-4011-9387-1ae00cc1a133" providerId="ADAL" clId="{5D36E32F-D828-47A0-B6A2-AFD750237AB8}" dt="2026-06-30T14:32:24.294" v="181" actId="255"/>
          <ac:spMkLst>
            <pc:docMk/>
            <pc:sldMk cId="0" sldId="258"/>
            <ac:spMk id="13" creationId="{00000000-0000-0000-0000-000000000000}"/>
          </ac:spMkLst>
        </pc:spChg>
        <pc:spChg chg="mod">
          <ac:chgData name="Ben Romdhane, Eya" userId="60048e57-a9a3-4011-9387-1ae00cc1a133" providerId="ADAL" clId="{5D36E32F-D828-47A0-B6A2-AFD750237AB8}" dt="2026-06-30T14:32:46.670" v="185" actId="255"/>
          <ac:spMkLst>
            <pc:docMk/>
            <pc:sldMk cId="0" sldId="258"/>
            <ac:spMk id="15" creationId="{00000000-0000-0000-0000-000000000000}"/>
          </ac:spMkLst>
        </pc:spChg>
        <pc:spChg chg="mod">
          <ac:chgData name="Ben Romdhane, Eya" userId="60048e57-a9a3-4011-9387-1ae00cc1a133" providerId="ADAL" clId="{5D36E32F-D828-47A0-B6A2-AFD750237AB8}" dt="2026-06-30T14:32:28.750" v="182" actId="255"/>
          <ac:spMkLst>
            <pc:docMk/>
            <pc:sldMk cId="0" sldId="258"/>
            <ac:spMk id="17" creationId="{00000000-0000-0000-0000-000000000000}"/>
          </ac:spMkLst>
        </pc:spChg>
        <pc:spChg chg="mod">
          <ac:chgData name="Ben Romdhane, Eya" userId="60048e57-a9a3-4011-9387-1ae00cc1a133" providerId="ADAL" clId="{5D36E32F-D828-47A0-B6A2-AFD750237AB8}" dt="2026-06-30T14:32:52.528" v="186" actId="255"/>
          <ac:spMkLst>
            <pc:docMk/>
            <pc:sldMk cId="0" sldId="258"/>
            <ac:spMk id="19" creationId="{00000000-0000-0000-0000-000000000000}"/>
          </ac:spMkLst>
        </pc:spChg>
        <pc:spChg chg="mod">
          <ac:chgData name="Ben Romdhane, Eya" userId="60048e57-a9a3-4011-9387-1ae00cc1a133" providerId="ADAL" clId="{5D36E32F-D828-47A0-B6A2-AFD750237AB8}" dt="2026-06-30T14:32:34.185" v="183" actId="255"/>
          <ac:spMkLst>
            <pc:docMk/>
            <pc:sldMk cId="0" sldId="258"/>
            <ac:spMk id="21" creationId="{00000000-0000-0000-0000-000000000000}"/>
          </ac:spMkLst>
        </pc:spChg>
        <pc:spChg chg="mod">
          <ac:chgData name="Ben Romdhane, Eya" userId="60048e57-a9a3-4011-9387-1ae00cc1a133" providerId="ADAL" clId="{5D36E32F-D828-47A0-B6A2-AFD750237AB8}" dt="2026-06-30T14:32:56.719" v="187" actId="255"/>
          <ac:spMkLst>
            <pc:docMk/>
            <pc:sldMk cId="0" sldId="258"/>
            <ac:spMk id="23" creationId="{00000000-0000-0000-0000-000000000000}"/>
          </ac:spMkLst>
        </pc:spChg>
        <pc:spChg chg="mod">
          <ac:chgData name="Ben Romdhane, Eya" userId="60048e57-a9a3-4011-9387-1ae00cc1a133" providerId="ADAL" clId="{5D36E32F-D828-47A0-B6A2-AFD750237AB8}" dt="2026-06-30T14:32:39.026" v="184" actId="255"/>
          <ac:spMkLst>
            <pc:docMk/>
            <pc:sldMk cId="0" sldId="258"/>
            <ac:spMk id="25" creationId="{00000000-0000-0000-0000-000000000000}"/>
          </ac:spMkLst>
        </pc:spChg>
        <pc:spChg chg="mod">
          <ac:chgData name="Ben Romdhane, Eya" userId="60048e57-a9a3-4011-9387-1ae00cc1a133" providerId="ADAL" clId="{5D36E32F-D828-47A0-B6A2-AFD750237AB8}" dt="2026-06-27T22:23:50.175" v="70" actId="20577"/>
          <ac:spMkLst>
            <pc:docMk/>
            <pc:sldMk cId="0" sldId="258"/>
            <ac:spMk id="26" creationId="{00000000-0000-0000-0000-000000000000}"/>
          </ac:spMkLst>
        </pc:spChg>
        <pc:spChg chg="mod">
          <ac:chgData name="Ben Romdhane, Eya" userId="60048e57-a9a3-4011-9387-1ae00cc1a133" providerId="ADAL" clId="{5D36E32F-D828-47A0-B6A2-AFD750237AB8}" dt="2026-06-30T14:33:02.422" v="188" actId="255"/>
          <ac:spMkLst>
            <pc:docMk/>
            <pc:sldMk cId="0" sldId="258"/>
            <ac:spMk id="27" creationId="{00000000-0000-0000-0000-000000000000}"/>
          </ac:spMkLst>
        </pc:spChg>
        <pc:spChg chg="mod">
          <ac:chgData name="Ben Romdhane, Eya" userId="60048e57-a9a3-4011-9387-1ae00cc1a133" providerId="ADAL" clId="{5D36E32F-D828-47A0-B6A2-AFD750237AB8}" dt="2026-06-30T14:31:52.797" v="173" actId="255"/>
          <ac:spMkLst>
            <pc:docMk/>
            <pc:sldMk cId="0" sldId="258"/>
            <ac:spMk id="31" creationId="{00000000-0000-0000-0000-000000000000}"/>
          </ac:spMkLst>
        </pc:spChg>
        <pc:spChg chg="mod">
          <ac:chgData name="Ben Romdhane, Eya" userId="60048e57-a9a3-4011-9387-1ae00cc1a133" providerId="ADAL" clId="{5D36E32F-D828-47A0-B6A2-AFD750237AB8}" dt="2026-06-30T14:31:35.412" v="171" actId="255"/>
          <ac:spMkLst>
            <pc:docMk/>
            <pc:sldMk cId="0" sldId="258"/>
            <ac:spMk id="33" creationId="{00000000-0000-0000-0000-000000000000}"/>
          </ac:spMkLst>
        </pc:spChg>
      </pc:sldChg>
      <pc:sldChg chg="addSp delSp modSp add del mod setBg modNotesTx">
        <pc:chgData name="Ben Romdhane, Eya" userId="60048e57-a9a3-4011-9387-1ae00cc1a133" providerId="ADAL" clId="{5D36E32F-D828-47A0-B6A2-AFD750237AB8}" dt="2026-07-06T10:48:09.905" v="383" actId="20577"/>
        <pc:sldMkLst>
          <pc:docMk/>
          <pc:sldMk cId="0" sldId="265"/>
        </pc:sldMkLst>
        <pc:spChg chg="mod">
          <ac:chgData name="Ben Romdhane, Eya" userId="60048e57-a9a3-4011-9387-1ae00cc1a133" providerId="ADAL" clId="{5D36E32F-D828-47A0-B6A2-AFD750237AB8}" dt="2026-06-30T14:49:43.508" v="288" actId="2710"/>
          <ac:spMkLst>
            <pc:docMk/>
            <pc:sldMk cId="0" sldId="265"/>
            <ac:spMk id="8" creationId="{00000000-0000-0000-0000-000000000000}"/>
          </ac:spMkLst>
        </pc:spChg>
        <pc:spChg chg="mod">
          <ac:chgData name="Ben Romdhane, Eya" userId="60048e57-a9a3-4011-9387-1ae00cc1a133" providerId="ADAL" clId="{5D36E32F-D828-47A0-B6A2-AFD750237AB8}" dt="2026-06-30T14:52:45.299" v="309" actId="113"/>
          <ac:spMkLst>
            <pc:docMk/>
            <pc:sldMk cId="0" sldId="265"/>
            <ac:spMk id="9" creationId="{00000000-0000-0000-0000-000000000000}"/>
          </ac:spMkLst>
        </pc:spChg>
        <pc:spChg chg="mod">
          <ac:chgData name="Ben Romdhane, Eya" userId="60048e57-a9a3-4011-9387-1ae00cc1a133" providerId="ADAL" clId="{5D36E32F-D828-47A0-B6A2-AFD750237AB8}" dt="2026-06-30T14:50:32.100" v="294" actId="2710"/>
          <ac:spMkLst>
            <pc:docMk/>
            <pc:sldMk cId="0" sldId="265"/>
            <ac:spMk id="10" creationId="{00000000-0000-0000-0000-000000000000}"/>
          </ac:spMkLst>
        </pc:spChg>
        <pc:spChg chg="mod">
          <ac:chgData name="Ben Romdhane, Eya" userId="60048e57-a9a3-4011-9387-1ae00cc1a133" providerId="ADAL" clId="{5D36E32F-D828-47A0-B6A2-AFD750237AB8}" dt="2026-06-30T14:50:26.707" v="293" actId="2710"/>
          <ac:spMkLst>
            <pc:docMk/>
            <pc:sldMk cId="0" sldId="265"/>
            <ac:spMk id="13" creationId="{00000000-0000-0000-0000-000000000000}"/>
          </ac:spMkLst>
        </pc:spChg>
        <pc:spChg chg="mod">
          <ac:chgData name="Ben Romdhane, Eya" userId="60048e57-a9a3-4011-9387-1ae00cc1a133" providerId="ADAL" clId="{5D36E32F-D828-47A0-B6A2-AFD750237AB8}" dt="2026-07-06T10:48:09.905" v="383" actId="20577"/>
          <ac:spMkLst>
            <pc:docMk/>
            <pc:sldMk cId="0" sldId="265"/>
            <ac:spMk id="16" creationId="{00000000-0000-0000-0000-000000000000}"/>
          </ac:spMkLst>
        </pc:spChg>
        <pc:spChg chg="mod">
          <ac:chgData name="Ben Romdhane, Eya" userId="60048e57-a9a3-4011-9387-1ae00cc1a133" providerId="ADAL" clId="{5D36E32F-D828-47A0-B6A2-AFD750237AB8}" dt="2026-06-30T14:51:08.909" v="298" actId="404"/>
          <ac:spMkLst>
            <pc:docMk/>
            <pc:sldMk cId="0" sldId="265"/>
            <ac:spMk id="19" creationId="{00000000-0000-0000-0000-000000000000}"/>
          </ac:spMkLst>
        </pc:spChg>
        <pc:spChg chg="mod">
          <ac:chgData name="Ben Romdhane, Eya" userId="60048e57-a9a3-4011-9387-1ae00cc1a133" providerId="ADAL" clId="{5D36E32F-D828-47A0-B6A2-AFD750237AB8}" dt="2026-06-30T14:44:35.310" v="283" actId="2710"/>
          <ac:spMkLst>
            <pc:docMk/>
            <pc:sldMk cId="0" sldId="265"/>
            <ac:spMk id="21" creationId="{00000000-0000-0000-0000-000000000000}"/>
          </ac:spMkLst>
        </pc:spChg>
        <pc:spChg chg="mod">
          <ac:chgData name="Ben Romdhane, Eya" userId="60048e57-a9a3-4011-9387-1ae00cc1a133" providerId="ADAL" clId="{5D36E32F-D828-47A0-B6A2-AFD750237AB8}" dt="2026-06-30T14:51:17.130" v="300" actId="1076"/>
          <ac:spMkLst>
            <pc:docMk/>
            <pc:sldMk cId="0" sldId="265"/>
            <ac:spMk id="22" creationId="{00000000-0000-0000-0000-000000000000}"/>
          </ac:spMkLst>
        </pc:spChg>
        <pc:spChg chg="mod">
          <ac:chgData name="Ben Romdhane, Eya" userId="60048e57-a9a3-4011-9387-1ae00cc1a133" providerId="ADAL" clId="{5D36E32F-D828-47A0-B6A2-AFD750237AB8}" dt="2026-06-30T14:51:24.937" v="302" actId="404"/>
          <ac:spMkLst>
            <pc:docMk/>
            <pc:sldMk cId="0" sldId="265"/>
            <ac:spMk id="24" creationId="{00000000-0000-0000-0000-000000000000}"/>
          </ac:spMkLst>
        </pc:spChg>
        <pc:spChg chg="mod">
          <ac:chgData name="Ben Romdhane, Eya" userId="60048e57-a9a3-4011-9387-1ae00cc1a133" providerId="ADAL" clId="{5D36E32F-D828-47A0-B6A2-AFD750237AB8}" dt="2026-06-30T14:42:26.828" v="258" actId="403"/>
          <ac:spMkLst>
            <pc:docMk/>
            <pc:sldMk cId="0" sldId="265"/>
            <ac:spMk id="26" creationId="{00000000-0000-0000-0000-000000000000}"/>
          </ac:spMkLst>
        </pc:spChg>
      </pc:sldChg>
      <pc:sldChg chg="addSp delSp modSp add del mod ord setBg modNotesTx">
        <pc:chgData name="Ben Romdhane, Eya" userId="60048e57-a9a3-4011-9387-1ae00cc1a133" providerId="ADAL" clId="{5D36E32F-D828-47A0-B6A2-AFD750237AB8}" dt="2026-07-05T13:03:24.965" v="314" actId="478"/>
        <pc:sldMkLst>
          <pc:docMk/>
          <pc:sldMk cId="0" sldId="316"/>
        </pc:sldMkLst>
        <pc:spChg chg="mod">
          <ac:chgData name="Ben Romdhane, Eya" userId="60048e57-a9a3-4011-9387-1ae00cc1a133" providerId="ADAL" clId="{5D36E32F-D828-47A0-B6A2-AFD750237AB8}" dt="2026-06-30T14:29:39.429" v="159" actId="20577"/>
          <ac:spMkLst>
            <pc:docMk/>
            <pc:sldMk cId="0" sldId="316"/>
            <ac:spMk id="5" creationId="{00000000-0000-0000-0000-000000000000}"/>
          </ac:spMkLst>
        </pc:spChg>
        <pc:spChg chg="mod">
          <ac:chgData name="Ben Romdhane, Eya" userId="60048e57-a9a3-4011-9387-1ae00cc1a133" providerId="ADAL" clId="{5D36E32F-D828-47A0-B6A2-AFD750237AB8}" dt="2026-06-30T14:29:21.118" v="157" actId="403"/>
          <ac:spMkLst>
            <pc:docMk/>
            <pc:sldMk cId="0" sldId="316"/>
            <ac:spMk id="6" creationId="{00000000-0000-0000-0000-000000000000}"/>
          </ac:spMkLst>
        </pc:spChg>
        <pc:spChg chg="mod">
          <ac:chgData name="Ben Romdhane, Eya" userId="60048e57-a9a3-4011-9387-1ae00cc1a133" providerId="ADAL" clId="{5D36E32F-D828-47A0-B6A2-AFD750237AB8}" dt="2026-06-30T14:06:19.886" v="98" actId="20577"/>
          <ac:spMkLst>
            <pc:docMk/>
            <pc:sldMk cId="0" sldId="316"/>
            <ac:spMk id="7" creationId="{00000000-0000-0000-0000-000000000000}"/>
          </ac:spMkLst>
        </pc:spChg>
        <pc:spChg chg="add mod ord">
          <ac:chgData name="Ben Romdhane, Eya" userId="60048e57-a9a3-4011-9387-1ae00cc1a133" providerId="ADAL" clId="{5D36E32F-D828-47A0-B6A2-AFD750237AB8}" dt="2026-06-30T14:06:22.699" v="99" actId="1036"/>
          <ac:spMkLst>
            <pc:docMk/>
            <pc:sldMk cId="0" sldId="316"/>
            <ac:spMk id="9" creationId="{80AA67CA-F11C-F9A5-5DD5-965D9E99908F}"/>
          </ac:spMkLst>
        </pc:spChg>
      </pc:sldChg>
      <pc:sldChg chg="addSp delSp modSp add mod setBg modNotesTx">
        <pc:chgData name="Ben Romdhane, Eya" userId="60048e57-a9a3-4011-9387-1ae00cc1a133" providerId="ADAL" clId="{5D36E32F-D828-47A0-B6A2-AFD750237AB8}" dt="2026-07-05T13:03:14.961" v="311" actId="478"/>
        <pc:sldMkLst>
          <pc:docMk/>
          <pc:sldMk cId="0" sldId="317"/>
        </pc:sldMkLst>
        <pc:spChg chg="mod">
          <ac:chgData name="Ben Romdhane, Eya" userId="60048e57-a9a3-4011-9387-1ae00cc1a133" providerId="ADAL" clId="{5D36E32F-D828-47A0-B6A2-AFD750237AB8}" dt="2026-06-30T14:30:28.503" v="163" actId="403"/>
          <ac:spMkLst>
            <pc:docMk/>
            <pc:sldMk cId="0" sldId="317"/>
            <ac:spMk id="10" creationId="{00000000-0000-0000-0000-000000000000}"/>
          </ac:spMkLst>
        </pc:spChg>
        <pc:spChg chg="mod">
          <ac:chgData name="Ben Romdhane, Eya" userId="60048e57-a9a3-4011-9387-1ae00cc1a133" providerId="ADAL" clId="{5D36E32F-D828-47A0-B6A2-AFD750237AB8}" dt="2026-06-27T21:40:33.083" v="32" actId="1076"/>
          <ac:spMkLst>
            <pc:docMk/>
            <pc:sldMk cId="0" sldId="317"/>
            <ac:spMk id="11" creationId="{00000000-0000-0000-0000-000000000000}"/>
          </ac:spMkLst>
        </pc:spChg>
        <pc:spChg chg="mod">
          <ac:chgData name="Ben Romdhane, Eya" userId="60048e57-a9a3-4011-9387-1ae00cc1a133" providerId="ADAL" clId="{5D36E32F-D828-47A0-B6A2-AFD750237AB8}" dt="2026-06-27T21:41:55.528" v="47" actId="207"/>
          <ac:spMkLst>
            <pc:docMk/>
            <pc:sldMk cId="0" sldId="317"/>
            <ac:spMk id="12" creationId="{00000000-0000-0000-0000-000000000000}"/>
          </ac:spMkLst>
        </pc:spChg>
        <pc:spChg chg="mod">
          <ac:chgData name="Ben Romdhane, Eya" userId="60048e57-a9a3-4011-9387-1ae00cc1a133" providerId="ADAL" clId="{5D36E32F-D828-47A0-B6A2-AFD750237AB8}" dt="2026-06-30T14:30:35.802" v="164" actId="255"/>
          <ac:spMkLst>
            <pc:docMk/>
            <pc:sldMk cId="0" sldId="317"/>
            <ac:spMk id="16" creationId="{00000000-0000-0000-0000-000000000000}"/>
          </ac:spMkLst>
        </pc:spChg>
        <pc:spChg chg="mod">
          <ac:chgData name="Ben Romdhane, Eya" userId="60048e57-a9a3-4011-9387-1ae00cc1a133" providerId="ADAL" clId="{5D36E32F-D828-47A0-B6A2-AFD750237AB8}" dt="2026-06-30T14:31:13.971" v="169" actId="1076"/>
          <ac:spMkLst>
            <pc:docMk/>
            <pc:sldMk cId="0" sldId="317"/>
            <ac:spMk id="17" creationId="{00000000-0000-0000-0000-000000000000}"/>
          </ac:spMkLst>
        </pc:spChg>
        <pc:spChg chg="mod">
          <ac:chgData name="Ben Romdhane, Eya" userId="60048e57-a9a3-4011-9387-1ae00cc1a133" providerId="ADAL" clId="{5D36E32F-D828-47A0-B6A2-AFD750237AB8}" dt="2026-06-27T21:41:59.802" v="48" actId="207"/>
          <ac:spMkLst>
            <pc:docMk/>
            <pc:sldMk cId="0" sldId="317"/>
            <ac:spMk id="18" creationId="{00000000-0000-0000-0000-000000000000}"/>
          </ac:spMkLst>
        </pc:spChg>
        <pc:spChg chg="mod">
          <ac:chgData name="Ben Romdhane, Eya" userId="60048e57-a9a3-4011-9387-1ae00cc1a133" providerId="ADAL" clId="{5D36E32F-D828-47A0-B6A2-AFD750237AB8}" dt="2026-06-30T14:30:42.545" v="165" actId="255"/>
          <ac:spMkLst>
            <pc:docMk/>
            <pc:sldMk cId="0" sldId="317"/>
            <ac:spMk id="22" creationId="{00000000-0000-0000-0000-000000000000}"/>
          </ac:spMkLst>
        </pc:spChg>
        <pc:spChg chg="mod">
          <ac:chgData name="Ben Romdhane, Eya" userId="60048e57-a9a3-4011-9387-1ae00cc1a133" providerId="ADAL" clId="{5D36E32F-D828-47A0-B6A2-AFD750237AB8}" dt="2026-06-27T21:41:32.942" v="43" actId="1076"/>
          <ac:spMkLst>
            <pc:docMk/>
            <pc:sldMk cId="0" sldId="317"/>
            <ac:spMk id="23" creationId="{00000000-0000-0000-0000-000000000000}"/>
          </ac:spMkLst>
        </pc:spChg>
        <pc:spChg chg="mod">
          <ac:chgData name="Ben Romdhane, Eya" userId="60048e57-a9a3-4011-9387-1ae00cc1a133" providerId="ADAL" clId="{5D36E32F-D828-47A0-B6A2-AFD750237AB8}" dt="2026-06-27T21:42:02.726" v="49" actId="207"/>
          <ac:spMkLst>
            <pc:docMk/>
            <pc:sldMk cId="0" sldId="317"/>
            <ac:spMk id="24" creationId="{00000000-0000-0000-0000-000000000000}"/>
          </ac:spMkLst>
        </pc:spChg>
        <pc:spChg chg="mod">
          <ac:chgData name="Ben Romdhane, Eya" userId="60048e57-a9a3-4011-9387-1ae00cc1a133" providerId="ADAL" clId="{5D36E32F-D828-47A0-B6A2-AFD750237AB8}" dt="2026-06-30T14:31:05.705" v="168" actId="14100"/>
          <ac:spMkLst>
            <pc:docMk/>
            <pc:sldMk cId="0" sldId="317"/>
            <ac:spMk id="26" creationId="{00000000-0000-0000-0000-000000000000}"/>
          </ac:spMkLst>
        </pc:spChg>
        <pc:spChg chg="mod">
          <ac:chgData name="Ben Romdhane, Eya" userId="60048e57-a9a3-4011-9387-1ae00cc1a133" providerId="ADAL" clId="{5D36E32F-D828-47A0-B6A2-AFD750237AB8}" dt="2026-06-30T14:30:47.421" v="166" actId="255"/>
          <ac:spMkLst>
            <pc:docMk/>
            <pc:sldMk cId="0" sldId="317"/>
            <ac:spMk id="28" creationId="{00000000-0000-0000-0000-000000000000}"/>
          </ac:spMkLst>
        </pc:spChg>
        <pc:spChg chg="mod">
          <ac:chgData name="Ben Romdhane, Eya" userId="60048e57-a9a3-4011-9387-1ae00cc1a133" providerId="ADAL" clId="{5D36E32F-D828-47A0-B6A2-AFD750237AB8}" dt="2026-06-27T21:41:43.471" v="45" actId="1076"/>
          <ac:spMkLst>
            <pc:docMk/>
            <pc:sldMk cId="0" sldId="317"/>
            <ac:spMk id="29" creationId="{00000000-0000-0000-0000-000000000000}"/>
          </ac:spMkLst>
        </pc:spChg>
        <pc:spChg chg="mod">
          <ac:chgData name="Ben Romdhane, Eya" userId="60048e57-a9a3-4011-9387-1ae00cc1a133" providerId="ADAL" clId="{5D36E32F-D828-47A0-B6A2-AFD750237AB8}" dt="2026-06-27T21:42:07.556" v="50" actId="207"/>
          <ac:spMkLst>
            <pc:docMk/>
            <pc:sldMk cId="0" sldId="317"/>
            <ac:spMk id="30" creationId="{00000000-0000-0000-0000-000000000000}"/>
          </ac:spMkLst>
        </pc:spChg>
        <pc:spChg chg="mod">
          <ac:chgData name="Ben Romdhane, Eya" userId="60048e57-a9a3-4011-9387-1ae00cc1a133" providerId="ADAL" clId="{5D36E32F-D828-47A0-B6A2-AFD750237AB8}" dt="2026-06-30T14:30:52.692" v="167" actId="255"/>
          <ac:spMkLst>
            <pc:docMk/>
            <pc:sldMk cId="0" sldId="317"/>
            <ac:spMk id="33" creationId="{00000000-0000-0000-0000-000000000000}"/>
          </ac:spMkLst>
        </pc:spChg>
        <pc:spChg chg="mod">
          <ac:chgData name="Ben Romdhane, Eya" userId="60048e57-a9a3-4011-9387-1ae00cc1a133" providerId="ADAL" clId="{5D36E32F-D828-47A0-B6A2-AFD750237AB8}" dt="2026-06-30T14:31:24.661" v="170" actId="255"/>
          <ac:spMkLst>
            <pc:docMk/>
            <pc:sldMk cId="0" sldId="317"/>
            <ac:spMk id="35" creationId="{00000000-0000-0000-0000-000000000000}"/>
          </ac:spMkLst>
        </pc:spChg>
      </pc:sldChg>
      <pc:sldChg chg="addSp delSp modSp add mod setBg">
        <pc:chgData name="Ben Romdhane, Eya" userId="60048e57-a9a3-4011-9387-1ae00cc1a133" providerId="ADAL" clId="{5D36E32F-D828-47A0-B6A2-AFD750237AB8}" dt="2026-07-05T13:10:38.168" v="321"/>
        <pc:sldMkLst>
          <pc:docMk/>
          <pc:sldMk cId="0" sldId="318"/>
        </pc:sldMkLst>
        <pc:spChg chg="mod">
          <ac:chgData name="Ben Romdhane, Eya" userId="60048e57-a9a3-4011-9387-1ae00cc1a133" providerId="ADAL" clId="{5D36E32F-D828-47A0-B6A2-AFD750237AB8}" dt="2026-06-30T14:33:48.890" v="195" actId="255"/>
          <ac:spMkLst>
            <pc:docMk/>
            <pc:sldMk cId="0" sldId="318"/>
            <ac:spMk id="11" creationId="{00000000-0000-0000-0000-000000000000}"/>
          </ac:spMkLst>
        </pc:spChg>
        <pc:spChg chg="mod">
          <ac:chgData name="Ben Romdhane, Eya" userId="60048e57-a9a3-4011-9387-1ae00cc1a133" providerId="ADAL" clId="{5D36E32F-D828-47A0-B6A2-AFD750237AB8}" dt="2026-06-30T14:33:57.849" v="196" actId="255"/>
          <ac:spMkLst>
            <pc:docMk/>
            <pc:sldMk cId="0" sldId="318"/>
            <ac:spMk id="14" creationId="{00000000-0000-0000-0000-000000000000}"/>
          </ac:spMkLst>
        </pc:spChg>
        <pc:spChg chg="mod">
          <ac:chgData name="Ben Romdhane, Eya" userId="60048e57-a9a3-4011-9387-1ae00cc1a133" providerId="ADAL" clId="{5D36E32F-D828-47A0-B6A2-AFD750237AB8}" dt="2026-06-30T14:34:02.091" v="197" actId="255"/>
          <ac:spMkLst>
            <pc:docMk/>
            <pc:sldMk cId="0" sldId="318"/>
            <ac:spMk id="17" creationId="{00000000-0000-0000-0000-000000000000}"/>
          </ac:spMkLst>
        </pc:spChg>
        <pc:spChg chg="mod">
          <ac:chgData name="Ben Romdhane, Eya" userId="60048e57-a9a3-4011-9387-1ae00cc1a133" providerId="ADAL" clId="{5D36E32F-D828-47A0-B6A2-AFD750237AB8}" dt="2026-06-30T14:33:42.097" v="194" actId="403"/>
          <ac:spMkLst>
            <pc:docMk/>
            <pc:sldMk cId="0" sldId="318"/>
            <ac:spMk id="19" creationId="{00000000-0000-0000-0000-000000000000}"/>
          </ac:spMkLst>
        </pc:spChg>
      </pc:sldChg>
      <pc:sldChg chg="addSp delSp modSp add mod ord setBg modNotesTx">
        <pc:chgData name="Ben Romdhane, Eya" userId="60048e57-a9a3-4011-9387-1ae00cc1a133" providerId="ADAL" clId="{5D36E32F-D828-47A0-B6A2-AFD750237AB8}" dt="2026-07-05T13:10:45.494" v="323"/>
        <pc:sldMkLst>
          <pc:docMk/>
          <pc:sldMk cId="0" sldId="319"/>
        </pc:sldMkLst>
        <pc:spChg chg="mod">
          <ac:chgData name="Ben Romdhane, Eya" userId="60048e57-a9a3-4011-9387-1ae00cc1a133" providerId="ADAL" clId="{5D36E32F-D828-47A0-B6A2-AFD750237AB8}" dt="2026-06-30T14:38:28.066" v="198" actId="255"/>
          <ac:spMkLst>
            <pc:docMk/>
            <pc:sldMk cId="0" sldId="319"/>
            <ac:spMk id="11" creationId="{00000000-0000-0000-0000-000000000000}"/>
          </ac:spMkLst>
        </pc:spChg>
        <pc:spChg chg="mod">
          <ac:chgData name="Ben Romdhane, Eya" userId="60048e57-a9a3-4011-9387-1ae00cc1a133" providerId="ADAL" clId="{5D36E32F-D828-47A0-B6A2-AFD750237AB8}" dt="2026-06-30T14:38:32.995" v="199" actId="255"/>
          <ac:spMkLst>
            <pc:docMk/>
            <pc:sldMk cId="0" sldId="319"/>
            <ac:spMk id="14" creationId="{00000000-0000-0000-0000-000000000000}"/>
          </ac:spMkLst>
        </pc:spChg>
        <pc:spChg chg="mod">
          <ac:chgData name="Ben Romdhane, Eya" userId="60048e57-a9a3-4011-9387-1ae00cc1a133" providerId="ADAL" clId="{5D36E32F-D828-47A0-B6A2-AFD750237AB8}" dt="2026-06-30T14:38:37.774" v="200" actId="255"/>
          <ac:spMkLst>
            <pc:docMk/>
            <pc:sldMk cId="0" sldId="319"/>
            <ac:spMk id="17" creationId="{00000000-0000-0000-0000-000000000000}"/>
          </ac:spMkLst>
        </pc:spChg>
        <pc:spChg chg="mod">
          <ac:chgData name="Ben Romdhane, Eya" userId="60048e57-a9a3-4011-9387-1ae00cc1a133" providerId="ADAL" clId="{5D36E32F-D828-47A0-B6A2-AFD750237AB8}" dt="2026-06-30T14:38:43.311" v="201" actId="255"/>
          <ac:spMkLst>
            <pc:docMk/>
            <pc:sldMk cId="0" sldId="319"/>
            <ac:spMk id="19" creationId="{00000000-0000-0000-0000-000000000000}"/>
          </ac:spMkLst>
        </pc:spChg>
      </pc:sldChg>
      <pc:sldChg chg="addSp delSp modSp add mod setBg modNotesTx">
        <pc:chgData name="Ben Romdhane, Eya" userId="60048e57-a9a3-4011-9387-1ae00cc1a133" providerId="ADAL" clId="{5D36E32F-D828-47A0-B6A2-AFD750237AB8}" dt="2026-07-06T10:49:52.433" v="396" actId="1076"/>
        <pc:sldMkLst>
          <pc:docMk/>
          <pc:sldMk cId="0" sldId="321"/>
        </pc:sldMkLst>
        <pc:spChg chg="mod">
          <ac:chgData name="Ben Romdhane, Eya" userId="60048e57-a9a3-4011-9387-1ae00cc1a133" providerId="ADAL" clId="{5D36E32F-D828-47A0-B6A2-AFD750237AB8}" dt="2026-06-30T14:25:58.039" v="117" actId="27636"/>
          <ac:spMkLst>
            <pc:docMk/>
            <pc:sldMk cId="0" sldId="321"/>
            <ac:spMk id="10" creationId="{00000000-0000-0000-0000-000000000000}"/>
          </ac:spMkLst>
        </pc:spChg>
        <pc:spChg chg="mod">
          <ac:chgData name="Ben Romdhane, Eya" userId="60048e57-a9a3-4011-9387-1ae00cc1a133" providerId="ADAL" clId="{5D36E32F-D828-47A0-B6A2-AFD750237AB8}" dt="2026-06-30T14:26:02.557" v="119" actId="403"/>
          <ac:spMkLst>
            <pc:docMk/>
            <pc:sldMk cId="0" sldId="321"/>
            <ac:spMk id="12" creationId="{00000000-0000-0000-0000-000000000000}"/>
          </ac:spMkLst>
        </pc:spChg>
        <pc:spChg chg="mod">
          <ac:chgData name="Ben Romdhane, Eya" userId="60048e57-a9a3-4011-9387-1ae00cc1a133" providerId="ADAL" clId="{5D36E32F-D828-47A0-B6A2-AFD750237AB8}" dt="2026-07-06T10:49:47.913" v="395" actId="1076"/>
          <ac:spMkLst>
            <pc:docMk/>
            <pc:sldMk cId="0" sldId="321"/>
            <ac:spMk id="17" creationId="{00000000-0000-0000-0000-000000000000}"/>
          </ac:spMkLst>
        </pc:spChg>
        <pc:spChg chg="mod">
          <ac:chgData name="Ben Romdhane, Eya" userId="60048e57-a9a3-4011-9387-1ae00cc1a133" providerId="ADAL" clId="{5D36E32F-D828-47A0-B6A2-AFD750237AB8}" dt="2026-07-06T10:49:52.433" v="396" actId="1076"/>
          <ac:spMkLst>
            <pc:docMk/>
            <pc:sldMk cId="0" sldId="321"/>
            <ac:spMk id="18" creationId="{00000000-0000-0000-0000-000000000000}"/>
          </ac:spMkLst>
        </pc:spChg>
        <pc:spChg chg="mod">
          <ac:chgData name="Ben Romdhane, Eya" userId="60048e57-a9a3-4011-9387-1ae00cc1a133" providerId="ADAL" clId="{5D36E32F-D828-47A0-B6A2-AFD750237AB8}" dt="2026-07-06T10:49:22.742" v="391" actId="1076"/>
          <ac:spMkLst>
            <pc:docMk/>
            <pc:sldMk cId="0" sldId="321"/>
            <ac:spMk id="19" creationId="{00000000-0000-0000-0000-000000000000}"/>
          </ac:spMkLst>
        </pc:spChg>
        <pc:spChg chg="mod">
          <ac:chgData name="Ben Romdhane, Eya" userId="60048e57-a9a3-4011-9387-1ae00cc1a133" providerId="ADAL" clId="{5D36E32F-D828-47A0-B6A2-AFD750237AB8}" dt="2026-07-06T10:49:27.435" v="392" actId="1076"/>
          <ac:spMkLst>
            <pc:docMk/>
            <pc:sldMk cId="0" sldId="321"/>
            <ac:spMk id="20" creationId="{00000000-0000-0000-0000-000000000000}"/>
          </ac:spMkLst>
        </pc:spChg>
        <pc:spChg chg="mod">
          <ac:chgData name="Ben Romdhane, Eya" userId="60048e57-a9a3-4011-9387-1ae00cc1a133" providerId="ADAL" clId="{5D36E32F-D828-47A0-B6A2-AFD750237AB8}" dt="2026-06-30T14:25:38.198" v="110" actId="403"/>
          <ac:spMkLst>
            <pc:docMk/>
            <pc:sldMk cId="0" sldId="321"/>
            <ac:spMk id="22" creationId="{00000000-0000-0000-0000-000000000000}"/>
          </ac:spMkLst>
        </pc:spChg>
        <pc:spChg chg="mod">
          <ac:chgData name="Ben Romdhane, Eya" userId="60048e57-a9a3-4011-9387-1ae00cc1a133" providerId="ADAL" clId="{5D36E32F-D828-47A0-B6A2-AFD750237AB8}" dt="2026-06-30T14:39:25.099" v="208" actId="255"/>
          <ac:spMkLst>
            <pc:docMk/>
            <pc:sldMk cId="0" sldId="321"/>
            <ac:spMk id="24" creationId="{00000000-0000-0000-0000-000000000000}"/>
          </ac:spMkLst>
        </pc:spChg>
        <pc:spChg chg="mod">
          <ac:chgData name="Ben Romdhane, Eya" userId="60048e57-a9a3-4011-9387-1ae00cc1a133" providerId="ADAL" clId="{5D36E32F-D828-47A0-B6A2-AFD750237AB8}" dt="2026-06-30T14:25:07.249" v="102" actId="403"/>
          <ac:spMkLst>
            <pc:docMk/>
            <pc:sldMk cId="0" sldId="321"/>
            <ac:spMk id="26" creationId="{00000000-0000-0000-0000-000000000000}"/>
          </ac:spMkLst>
        </pc:spChg>
      </pc:sldChg>
      <pc:sldChg chg="addSp delSp modSp add mod setBg modNotesTx">
        <pc:chgData name="Ben Romdhane, Eya" userId="60048e57-a9a3-4011-9387-1ae00cc1a133" providerId="ADAL" clId="{5D36E32F-D828-47A0-B6A2-AFD750237AB8}" dt="2026-07-05T15:00:30.820" v="329"/>
        <pc:sldMkLst>
          <pc:docMk/>
          <pc:sldMk cId="0" sldId="322"/>
        </pc:sldMkLst>
        <pc:spChg chg="mod">
          <ac:chgData name="Ben Romdhane, Eya" userId="60048e57-a9a3-4011-9387-1ae00cc1a133" providerId="ADAL" clId="{5D36E32F-D828-47A0-B6A2-AFD750237AB8}" dt="2026-06-30T14:40:19.608" v="227" actId="403"/>
          <ac:spMkLst>
            <pc:docMk/>
            <pc:sldMk cId="0" sldId="322"/>
            <ac:spMk id="9" creationId="{00000000-0000-0000-0000-000000000000}"/>
          </ac:spMkLst>
        </pc:spChg>
        <pc:spChg chg="mod">
          <ac:chgData name="Ben Romdhane, Eya" userId="60048e57-a9a3-4011-9387-1ae00cc1a133" providerId="ADAL" clId="{5D36E32F-D828-47A0-B6A2-AFD750237AB8}" dt="2026-06-30T14:40:15.641" v="225" actId="403"/>
          <ac:spMkLst>
            <pc:docMk/>
            <pc:sldMk cId="0" sldId="322"/>
            <ac:spMk id="11" creationId="{00000000-0000-0000-0000-000000000000}"/>
          </ac:spMkLst>
        </pc:spChg>
        <pc:spChg chg="mod">
          <ac:chgData name="Ben Romdhane, Eya" userId="60048e57-a9a3-4011-9387-1ae00cc1a133" providerId="ADAL" clId="{5D36E32F-D828-47A0-B6A2-AFD750237AB8}" dt="2026-06-30T14:40:09.253" v="222" actId="27636"/>
          <ac:spMkLst>
            <pc:docMk/>
            <pc:sldMk cId="0" sldId="322"/>
            <ac:spMk id="13" creationId="{00000000-0000-0000-0000-000000000000}"/>
          </ac:spMkLst>
        </pc:spChg>
        <pc:spChg chg="mod">
          <ac:chgData name="Ben Romdhane, Eya" userId="60048e57-a9a3-4011-9387-1ae00cc1a133" providerId="ADAL" clId="{5D36E32F-D828-47A0-B6A2-AFD750237AB8}" dt="2026-06-30T14:40:11.915" v="223" actId="404"/>
          <ac:spMkLst>
            <pc:docMk/>
            <pc:sldMk cId="0" sldId="322"/>
            <ac:spMk id="15" creationId="{00000000-0000-0000-0000-000000000000}"/>
          </ac:spMkLst>
        </pc:spChg>
        <pc:spChg chg="mod">
          <ac:chgData name="Ben Romdhane, Eya" userId="60048e57-a9a3-4011-9387-1ae00cc1a133" providerId="ADAL" clId="{5D36E32F-D828-47A0-B6A2-AFD750237AB8}" dt="2026-06-30T14:39:44.704" v="213" actId="403"/>
          <ac:spMkLst>
            <pc:docMk/>
            <pc:sldMk cId="0" sldId="322"/>
            <ac:spMk id="18" creationId="{00000000-0000-0000-0000-000000000000}"/>
          </ac:spMkLst>
        </pc:spChg>
        <pc:spChg chg="mod">
          <ac:chgData name="Ben Romdhane, Eya" userId="60048e57-a9a3-4011-9387-1ae00cc1a133" providerId="ADAL" clId="{5D36E32F-D828-47A0-B6A2-AFD750237AB8}" dt="2026-06-30T14:40:46.898" v="233" actId="20577"/>
          <ac:spMkLst>
            <pc:docMk/>
            <pc:sldMk cId="0" sldId="322"/>
            <ac:spMk id="22" creationId="{00000000-0000-0000-0000-000000000000}"/>
          </ac:spMkLst>
        </pc:spChg>
      </pc:sldChg>
      <pc:sldChg chg="addSp delSp modSp mod modNotesTx">
        <pc:chgData name="Ben Romdhane, Eya" userId="60048e57-a9a3-4011-9387-1ae00cc1a133" providerId="ADAL" clId="{5D36E32F-D828-47A0-B6A2-AFD750237AB8}" dt="2026-07-06T08:15:03.626" v="382" actId="20577"/>
        <pc:sldMkLst>
          <pc:docMk/>
          <pc:sldMk cId="1213176608" sldId="336"/>
        </pc:sldMkLst>
      </pc:sldChg>
      <pc:sldMasterChg chg="delSldLayout">
        <pc:chgData name="Ben Romdhane, Eya" userId="60048e57-a9a3-4011-9387-1ae00cc1a133" providerId="ADAL" clId="{5D36E32F-D828-47A0-B6A2-AFD750237AB8}" dt="2026-06-27T19:10:29.538" v="6" actId="47"/>
        <pc:sldMasterMkLst>
          <pc:docMk/>
          <pc:sldMasterMk cId="0" sldId="2147483648"/>
        </pc:sldMasterMkLst>
      </pc:sldMasterChg>
    </pc:docChg>
  </pc:docChgLst>
  <pc:docChgLst>
    <pc:chgData name="Alsadakah, Dani" userId="15295a0b-9586-497d-a928-44476d0b7c74" providerId="ADAL" clId="{6B5D7491-E265-4C9A-949D-CDDB4503F6C0}"/>
    <pc:docChg chg="undo custSel addSld delSld modSld sldOrd">
      <pc:chgData name="Alsadakah, Dani" userId="15295a0b-9586-497d-a928-44476d0b7c74" providerId="ADAL" clId="{6B5D7491-E265-4C9A-949D-CDDB4503F6C0}" dt="2026-07-07T17:20:08.046" v="158" actId="20577"/>
      <pc:docMkLst>
        <pc:docMk/>
      </pc:docMkLst>
      <pc:sldChg chg="modSp mod">
        <pc:chgData name="Alsadakah, Dani" userId="15295a0b-9586-497d-a928-44476d0b7c74" providerId="ADAL" clId="{6B5D7491-E265-4C9A-949D-CDDB4503F6C0}" dt="2026-07-07T17:20:08.046" v="158" actId="20577"/>
        <pc:sldMkLst>
          <pc:docMk/>
          <pc:sldMk cId="23407895" sldId="270"/>
        </pc:sldMkLst>
        <pc:spChg chg="mod">
          <ac:chgData name="Alsadakah, Dani" userId="15295a0b-9586-497d-a928-44476d0b7c74" providerId="ADAL" clId="{6B5D7491-E265-4C9A-949D-CDDB4503F6C0}" dt="2026-07-07T17:20:08.046" v="158" actId="20577"/>
          <ac:spMkLst>
            <pc:docMk/>
            <pc:sldMk cId="23407895" sldId="270"/>
            <ac:spMk id="4" creationId="{61CE99DC-E233-4746-99C9-7EDD8C08C84A}"/>
          </ac:spMkLst>
        </pc:spChg>
      </pc:sldChg>
      <pc:sldChg chg="modSp mod ord">
        <pc:chgData name="Alsadakah, Dani" userId="15295a0b-9586-497d-a928-44476d0b7c74" providerId="ADAL" clId="{6B5D7491-E265-4C9A-949D-CDDB4503F6C0}" dt="2026-07-07T17:16:09.268" v="139" actId="20577"/>
        <pc:sldMkLst>
          <pc:docMk/>
          <pc:sldMk cId="3772502132" sldId="324"/>
        </pc:sldMkLst>
        <pc:spChg chg="mod">
          <ac:chgData name="Alsadakah, Dani" userId="15295a0b-9586-497d-a928-44476d0b7c74" providerId="ADAL" clId="{6B5D7491-E265-4C9A-949D-CDDB4503F6C0}" dt="2026-07-07T17:16:09.268" v="139" actId="20577"/>
          <ac:spMkLst>
            <pc:docMk/>
            <pc:sldMk cId="3772502132" sldId="324"/>
            <ac:spMk id="2" creationId="{00000000-0000-0000-0000-000000000000}"/>
          </ac:spMkLst>
        </pc:spChg>
        <pc:spChg chg="mod">
          <ac:chgData name="Alsadakah, Dani" userId="15295a0b-9586-497d-a928-44476d0b7c74" providerId="ADAL" clId="{6B5D7491-E265-4C9A-949D-CDDB4503F6C0}" dt="2026-07-07T16:36:01.966" v="0" actId="108"/>
          <ac:spMkLst>
            <pc:docMk/>
            <pc:sldMk cId="3772502132" sldId="324"/>
            <ac:spMk id="3" creationId="{00000000-0000-0000-0000-000000000000}"/>
          </ac:spMkLst>
        </pc:spChg>
        <pc:spChg chg="mod">
          <ac:chgData name="Alsadakah, Dani" userId="15295a0b-9586-497d-a928-44476d0b7c74" providerId="ADAL" clId="{6B5D7491-E265-4C9A-949D-CDDB4503F6C0}" dt="2026-07-07T17:00:57.806" v="61" actId="2711"/>
          <ac:spMkLst>
            <pc:docMk/>
            <pc:sldMk cId="3772502132" sldId="324"/>
            <ac:spMk id="4" creationId="{00000000-0000-0000-0000-000000000000}"/>
          </ac:spMkLst>
        </pc:spChg>
        <pc:spChg chg="mod">
          <ac:chgData name="Alsadakah, Dani" userId="15295a0b-9586-497d-a928-44476d0b7c74" providerId="ADAL" clId="{6B5D7491-E265-4C9A-949D-CDDB4503F6C0}" dt="2026-07-07T17:00:40.516" v="60" actId="1076"/>
          <ac:spMkLst>
            <pc:docMk/>
            <pc:sldMk cId="3772502132" sldId="324"/>
            <ac:spMk id="5" creationId="{00000000-0000-0000-0000-000000000000}"/>
          </ac:spMkLst>
        </pc:spChg>
        <pc:spChg chg="mod">
          <ac:chgData name="Alsadakah, Dani" userId="15295a0b-9586-497d-a928-44476d0b7c74" providerId="ADAL" clId="{6B5D7491-E265-4C9A-949D-CDDB4503F6C0}" dt="2026-07-07T17:02:05.453" v="65" actId="207"/>
          <ac:spMkLst>
            <pc:docMk/>
            <pc:sldMk cId="3772502132" sldId="324"/>
            <ac:spMk id="6" creationId="{00000000-0000-0000-0000-000000000000}"/>
          </ac:spMkLst>
        </pc:spChg>
        <pc:spChg chg="mod">
          <ac:chgData name="Alsadakah, Dani" userId="15295a0b-9586-497d-a928-44476d0b7c74" providerId="ADAL" clId="{6B5D7491-E265-4C9A-949D-CDDB4503F6C0}" dt="2026-07-07T17:02:19.924" v="68" actId="1076"/>
          <ac:spMkLst>
            <pc:docMk/>
            <pc:sldMk cId="3772502132" sldId="324"/>
            <ac:spMk id="8" creationId="{00000000-0000-0000-0000-000000000000}"/>
          </ac:spMkLst>
        </pc:spChg>
        <pc:spChg chg="mod">
          <ac:chgData name="Alsadakah, Dani" userId="15295a0b-9586-497d-a928-44476d0b7c74" providerId="ADAL" clId="{6B5D7491-E265-4C9A-949D-CDDB4503F6C0}" dt="2026-07-07T17:02:28.773" v="69" actId="108"/>
          <ac:spMkLst>
            <pc:docMk/>
            <pc:sldMk cId="3772502132" sldId="324"/>
            <ac:spMk id="9" creationId="{00000000-0000-0000-0000-000000000000}"/>
          </ac:spMkLst>
        </pc:spChg>
        <pc:spChg chg="mod">
          <ac:chgData name="Alsadakah, Dani" userId="15295a0b-9586-497d-a928-44476d0b7c74" providerId="ADAL" clId="{6B5D7491-E265-4C9A-949D-CDDB4503F6C0}" dt="2026-07-07T17:02:38.438" v="71" actId="1076"/>
          <ac:spMkLst>
            <pc:docMk/>
            <pc:sldMk cId="3772502132" sldId="324"/>
            <ac:spMk id="11" creationId="{00000000-0000-0000-0000-000000000000}"/>
          </ac:spMkLst>
        </pc:spChg>
        <pc:spChg chg="mod">
          <ac:chgData name="Alsadakah, Dani" userId="15295a0b-9586-497d-a928-44476d0b7c74" providerId="ADAL" clId="{6B5D7491-E265-4C9A-949D-CDDB4503F6C0}" dt="2026-07-07T17:02:44.294" v="72" actId="108"/>
          <ac:spMkLst>
            <pc:docMk/>
            <pc:sldMk cId="3772502132" sldId="324"/>
            <ac:spMk id="12" creationId="{00000000-0000-0000-0000-000000000000}"/>
          </ac:spMkLst>
        </pc:spChg>
        <pc:spChg chg="mod">
          <ac:chgData name="Alsadakah, Dani" userId="15295a0b-9586-497d-a928-44476d0b7c74" providerId="ADAL" clId="{6B5D7491-E265-4C9A-949D-CDDB4503F6C0}" dt="2026-07-07T17:02:51.948" v="74" actId="1076"/>
          <ac:spMkLst>
            <pc:docMk/>
            <pc:sldMk cId="3772502132" sldId="324"/>
            <ac:spMk id="14" creationId="{00000000-0000-0000-0000-000000000000}"/>
          </ac:spMkLst>
        </pc:spChg>
        <pc:spChg chg="mod">
          <ac:chgData name="Alsadakah, Dani" userId="15295a0b-9586-497d-a928-44476d0b7c74" providerId="ADAL" clId="{6B5D7491-E265-4C9A-949D-CDDB4503F6C0}" dt="2026-07-07T17:02:58.008" v="75" actId="108"/>
          <ac:spMkLst>
            <pc:docMk/>
            <pc:sldMk cId="3772502132" sldId="324"/>
            <ac:spMk id="15" creationId="{00000000-0000-0000-0000-000000000000}"/>
          </ac:spMkLst>
        </pc:spChg>
        <pc:spChg chg="mod">
          <ac:chgData name="Alsadakah, Dani" userId="15295a0b-9586-497d-a928-44476d0b7c74" providerId="ADAL" clId="{6B5D7491-E265-4C9A-949D-CDDB4503F6C0}" dt="2026-07-07T17:03:12.324" v="77" actId="255"/>
          <ac:spMkLst>
            <pc:docMk/>
            <pc:sldMk cId="3772502132" sldId="324"/>
            <ac:spMk id="18" creationId="{00000000-0000-0000-0000-000000000000}"/>
          </ac:spMkLst>
        </pc:spChg>
        <pc:spChg chg="mod">
          <ac:chgData name="Alsadakah, Dani" userId="15295a0b-9586-497d-a928-44476d0b7c74" providerId="ADAL" clId="{6B5D7491-E265-4C9A-949D-CDDB4503F6C0}" dt="2026-07-07T17:04:16.236" v="80" actId="255"/>
          <ac:spMkLst>
            <pc:docMk/>
            <pc:sldMk cId="3772502132" sldId="324"/>
            <ac:spMk id="19" creationId="{00000000-0000-0000-0000-000000000000}"/>
          </ac:spMkLst>
        </pc:spChg>
        <pc:spChg chg="mod">
          <ac:chgData name="Alsadakah, Dani" userId="15295a0b-9586-497d-a928-44476d0b7c74" providerId="ADAL" clId="{6B5D7491-E265-4C9A-949D-CDDB4503F6C0}" dt="2026-07-07T17:06:06.867" v="91" actId="1076"/>
          <ac:spMkLst>
            <pc:docMk/>
            <pc:sldMk cId="3772502132" sldId="324"/>
            <ac:spMk id="20" creationId="{00000000-0000-0000-0000-000000000000}"/>
          </ac:spMkLst>
        </pc:spChg>
        <pc:spChg chg="mod">
          <ac:chgData name="Alsadakah, Dani" userId="15295a0b-9586-497d-a928-44476d0b7c74" providerId="ADAL" clId="{6B5D7491-E265-4C9A-949D-CDDB4503F6C0}" dt="2026-07-07T17:05:50.509" v="89" actId="2711"/>
          <ac:spMkLst>
            <pc:docMk/>
            <pc:sldMk cId="3772502132" sldId="324"/>
            <ac:spMk id="21" creationId="{00000000-0000-0000-0000-000000000000}"/>
          </ac:spMkLst>
        </pc:spChg>
        <pc:spChg chg="mod">
          <ac:chgData name="Alsadakah, Dani" userId="15295a0b-9586-497d-a928-44476d0b7c74" providerId="ADAL" clId="{6B5D7491-E265-4C9A-949D-CDDB4503F6C0}" dt="2026-07-07T17:05:50.509" v="89" actId="2711"/>
          <ac:spMkLst>
            <pc:docMk/>
            <pc:sldMk cId="3772502132" sldId="324"/>
            <ac:spMk id="22" creationId="{00000000-0000-0000-0000-000000000000}"/>
          </ac:spMkLst>
        </pc:spChg>
        <pc:spChg chg="mod">
          <ac:chgData name="Alsadakah, Dani" userId="15295a0b-9586-497d-a928-44476d0b7c74" providerId="ADAL" clId="{6B5D7491-E265-4C9A-949D-CDDB4503F6C0}" dt="2026-07-07T17:05:50.509" v="89" actId="2711"/>
          <ac:spMkLst>
            <pc:docMk/>
            <pc:sldMk cId="3772502132" sldId="324"/>
            <ac:spMk id="23" creationId="{00000000-0000-0000-0000-000000000000}"/>
          </ac:spMkLst>
        </pc:spChg>
        <pc:spChg chg="mod">
          <ac:chgData name="Alsadakah, Dani" userId="15295a0b-9586-497d-a928-44476d0b7c74" providerId="ADAL" clId="{6B5D7491-E265-4C9A-949D-CDDB4503F6C0}" dt="2026-07-07T17:05:50.509" v="89" actId="2711"/>
          <ac:spMkLst>
            <pc:docMk/>
            <pc:sldMk cId="3772502132" sldId="324"/>
            <ac:spMk id="24" creationId="{00000000-0000-0000-0000-000000000000}"/>
          </ac:spMkLst>
        </pc:spChg>
        <pc:spChg chg="mod">
          <ac:chgData name="Alsadakah, Dani" userId="15295a0b-9586-497d-a928-44476d0b7c74" providerId="ADAL" clId="{6B5D7491-E265-4C9A-949D-CDDB4503F6C0}" dt="2026-07-07T17:05:50.509" v="89" actId="2711"/>
          <ac:spMkLst>
            <pc:docMk/>
            <pc:sldMk cId="3772502132" sldId="324"/>
            <ac:spMk id="25" creationId="{00000000-0000-0000-0000-000000000000}"/>
          </ac:spMkLst>
        </pc:spChg>
        <pc:spChg chg="mod">
          <ac:chgData name="Alsadakah, Dani" userId="15295a0b-9586-497d-a928-44476d0b7c74" providerId="ADAL" clId="{6B5D7491-E265-4C9A-949D-CDDB4503F6C0}" dt="2026-07-07T17:05:50.509" v="89" actId="2711"/>
          <ac:spMkLst>
            <pc:docMk/>
            <pc:sldMk cId="3772502132" sldId="324"/>
            <ac:spMk id="26" creationId="{00000000-0000-0000-0000-000000000000}"/>
          </ac:spMkLst>
        </pc:spChg>
        <pc:spChg chg="mod">
          <ac:chgData name="Alsadakah, Dani" userId="15295a0b-9586-497d-a928-44476d0b7c74" providerId="ADAL" clId="{6B5D7491-E265-4C9A-949D-CDDB4503F6C0}" dt="2026-07-07T17:05:50.509" v="89" actId="2711"/>
          <ac:spMkLst>
            <pc:docMk/>
            <pc:sldMk cId="3772502132" sldId="324"/>
            <ac:spMk id="27" creationId="{00000000-0000-0000-0000-000000000000}"/>
          </ac:spMkLst>
        </pc:spChg>
        <pc:spChg chg="mod">
          <ac:chgData name="Alsadakah, Dani" userId="15295a0b-9586-497d-a928-44476d0b7c74" providerId="ADAL" clId="{6B5D7491-E265-4C9A-949D-CDDB4503F6C0}" dt="2026-07-07T17:05:50.509" v="89" actId="2711"/>
          <ac:spMkLst>
            <pc:docMk/>
            <pc:sldMk cId="3772502132" sldId="324"/>
            <ac:spMk id="28" creationId="{00000000-0000-0000-0000-000000000000}"/>
          </ac:spMkLst>
        </pc:spChg>
        <pc:spChg chg="mod">
          <ac:chgData name="Alsadakah, Dani" userId="15295a0b-9586-497d-a928-44476d0b7c74" providerId="ADAL" clId="{6B5D7491-E265-4C9A-949D-CDDB4503F6C0}" dt="2026-07-07T17:06:23.151" v="92" actId="108"/>
          <ac:spMkLst>
            <pc:docMk/>
            <pc:sldMk cId="3772502132" sldId="324"/>
            <ac:spMk id="29" creationId="{00000000-0000-0000-0000-000000000000}"/>
          </ac:spMkLst>
        </pc:spChg>
        <pc:spChg chg="mod">
          <ac:chgData name="Alsadakah, Dani" userId="15295a0b-9586-497d-a928-44476d0b7c74" providerId="ADAL" clId="{6B5D7491-E265-4C9A-949D-CDDB4503F6C0}" dt="2026-07-07T17:03:54.991" v="78" actId="108"/>
          <ac:spMkLst>
            <pc:docMk/>
            <pc:sldMk cId="3772502132" sldId="324"/>
            <ac:spMk id="30" creationId="{00000000-0000-0000-0000-000000000000}"/>
          </ac:spMkLst>
        </pc:spChg>
        <pc:spChg chg="mod">
          <ac:chgData name="Alsadakah, Dani" userId="15295a0b-9586-497d-a928-44476d0b7c74" providerId="ADAL" clId="{6B5D7491-E265-4C9A-949D-CDDB4503F6C0}" dt="2026-07-07T16:57:14.057" v="44" actId="108"/>
          <ac:spMkLst>
            <pc:docMk/>
            <pc:sldMk cId="3772502132" sldId="324"/>
            <ac:spMk id="33" creationId="{30CB95FF-FB42-3875-2316-1A76DEBC1BE3}"/>
          </ac:spMkLst>
        </pc:spChg>
      </pc:sldChg>
      <pc:sldChg chg="modSp mod">
        <pc:chgData name="Alsadakah, Dani" userId="15295a0b-9586-497d-a928-44476d0b7c74" providerId="ADAL" clId="{6B5D7491-E265-4C9A-949D-CDDB4503F6C0}" dt="2026-07-07T17:08:45.714" v="103" actId="108"/>
        <pc:sldMkLst>
          <pc:docMk/>
          <pc:sldMk cId="725477515" sldId="326"/>
        </pc:sldMkLst>
        <pc:spChg chg="mod">
          <ac:chgData name="Alsadakah, Dani" userId="15295a0b-9586-497d-a928-44476d0b7c74" providerId="ADAL" clId="{6B5D7491-E265-4C9A-949D-CDDB4503F6C0}" dt="2026-07-07T16:57:22.620" v="45" actId="108"/>
          <ac:spMkLst>
            <pc:docMk/>
            <pc:sldMk cId="725477515" sldId="326"/>
            <ac:spMk id="2" creationId="{00000000-0000-0000-0000-000000000000}"/>
          </ac:spMkLst>
        </pc:spChg>
        <pc:spChg chg="mod">
          <ac:chgData name="Alsadakah, Dani" userId="15295a0b-9586-497d-a928-44476d0b7c74" providerId="ADAL" clId="{6B5D7491-E265-4C9A-949D-CDDB4503F6C0}" dt="2026-07-07T16:36:21.477" v="1" actId="108"/>
          <ac:spMkLst>
            <pc:docMk/>
            <pc:sldMk cId="725477515" sldId="326"/>
            <ac:spMk id="3" creationId="{00000000-0000-0000-0000-000000000000}"/>
          </ac:spMkLst>
        </pc:spChg>
        <pc:spChg chg="mod">
          <ac:chgData name="Alsadakah, Dani" userId="15295a0b-9586-497d-a928-44476d0b7c74" providerId="ADAL" clId="{6B5D7491-E265-4C9A-949D-CDDB4503F6C0}" dt="2026-07-07T16:52:01.283" v="27" actId="108"/>
          <ac:spMkLst>
            <pc:docMk/>
            <pc:sldMk cId="725477515" sldId="326"/>
            <ac:spMk id="4" creationId="{00000000-0000-0000-0000-000000000000}"/>
          </ac:spMkLst>
        </pc:spChg>
        <pc:spChg chg="mod">
          <ac:chgData name="Alsadakah, Dani" userId="15295a0b-9586-497d-a928-44476d0b7c74" providerId="ADAL" clId="{6B5D7491-E265-4C9A-949D-CDDB4503F6C0}" dt="2026-07-07T17:06:53.860" v="95" actId="2711"/>
          <ac:spMkLst>
            <pc:docMk/>
            <pc:sldMk cId="725477515" sldId="326"/>
            <ac:spMk id="6" creationId="{00000000-0000-0000-0000-000000000000}"/>
          </ac:spMkLst>
        </pc:spChg>
        <pc:spChg chg="mod">
          <ac:chgData name="Alsadakah, Dani" userId="15295a0b-9586-497d-a928-44476d0b7c74" providerId="ADAL" clId="{6B5D7491-E265-4C9A-949D-CDDB4503F6C0}" dt="2026-07-07T17:07:06.464" v="96" actId="2711"/>
          <ac:spMkLst>
            <pc:docMk/>
            <pc:sldMk cId="725477515" sldId="326"/>
            <ac:spMk id="7" creationId="{00000000-0000-0000-0000-000000000000}"/>
          </ac:spMkLst>
        </pc:spChg>
        <pc:spChg chg="mod">
          <ac:chgData name="Alsadakah, Dani" userId="15295a0b-9586-497d-a928-44476d0b7c74" providerId="ADAL" clId="{6B5D7491-E265-4C9A-949D-CDDB4503F6C0}" dt="2026-07-07T17:07:33.713" v="98" actId="2711"/>
          <ac:spMkLst>
            <pc:docMk/>
            <pc:sldMk cId="725477515" sldId="326"/>
            <ac:spMk id="9" creationId="{00000000-0000-0000-0000-000000000000}"/>
          </ac:spMkLst>
        </pc:spChg>
        <pc:spChg chg="mod">
          <ac:chgData name="Alsadakah, Dani" userId="15295a0b-9586-497d-a928-44476d0b7c74" providerId="ADAL" clId="{6B5D7491-E265-4C9A-949D-CDDB4503F6C0}" dt="2026-07-07T17:07:24.090" v="97" actId="2711"/>
          <ac:spMkLst>
            <pc:docMk/>
            <pc:sldMk cId="725477515" sldId="326"/>
            <ac:spMk id="10" creationId="{00000000-0000-0000-0000-000000000000}"/>
          </ac:spMkLst>
        </pc:spChg>
        <pc:spChg chg="mod">
          <ac:chgData name="Alsadakah, Dani" userId="15295a0b-9586-497d-a928-44476d0b7c74" providerId="ADAL" clId="{6B5D7491-E265-4C9A-949D-CDDB4503F6C0}" dt="2026-07-07T17:08:06.655" v="101" actId="2711"/>
          <ac:spMkLst>
            <pc:docMk/>
            <pc:sldMk cId="725477515" sldId="326"/>
            <ac:spMk id="12" creationId="{00000000-0000-0000-0000-000000000000}"/>
          </ac:spMkLst>
        </pc:spChg>
        <pc:spChg chg="mod">
          <ac:chgData name="Alsadakah, Dani" userId="15295a0b-9586-497d-a928-44476d0b7c74" providerId="ADAL" clId="{6B5D7491-E265-4C9A-949D-CDDB4503F6C0}" dt="2026-07-07T17:08:22.957" v="102" actId="2711"/>
          <ac:spMkLst>
            <pc:docMk/>
            <pc:sldMk cId="725477515" sldId="326"/>
            <ac:spMk id="13" creationId="{00000000-0000-0000-0000-000000000000}"/>
          </ac:spMkLst>
        </pc:spChg>
        <pc:spChg chg="mod">
          <ac:chgData name="Alsadakah, Dani" userId="15295a0b-9586-497d-a928-44476d0b7c74" providerId="ADAL" clId="{6B5D7491-E265-4C9A-949D-CDDB4503F6C0}" dt="2026-07-07T17:08:45.714" v="103" actId="108"/>
          <ac:spMkLst>
            <pc:docMk/>
            <pc:sldMk cId="725477515" sldId="326"/>
            <ac:spMk id="14" creationId="{00000000-0000-0000-0000-000000000000}"/>
          </ac:spMkLst>
        </pc:spChg>
        <pc:spChg chg="mod">
          <ac:chgData name="Alsadakah, Dani" userId="15295a0b-9586-497d-a928-44476d0b7c74" providerId="ADAL" clId="{6B5D7491-E265-4C9A-949D-CDDB4503F6C0}" dt="2026-07-07T17:07:49.084" v="99" actId="2711"/>
          <ac:spMkLst>
            <pc:docMk/>
            <pc:sldMk cId="725477515" sldId="326"/>
            <ac:spMk id="16" creationId="{00000000-0000-0000-0000-000000000000}"/>
          </ac:spMkLst>
        </pc:spChg>
        <pc:spChg chg="mod">
          <ac:chgData name="Alsadakah, Dani" userId="15295a0b-9586-497d-a928-44476d0b7c74" providerId="ADAL" clId="{6B5D7491-E265-4C9A-949D-CDDB4503F6C0}" dt="2026-07-07T17:07:57.661" v="100" actId="2711"/>
          <ac:spMkLst>
            <pc:docMk/>
            <pc:sldMk cId="725477515" sldId="326"/>
            <ac:spMk id="17" creationId="{00000000-0000-0000-0000-000000000000}"/>
          </ac:spMkLst>
        </pc:spChg>
      </pc:sldChg>
      <pc:sldChg chg="modSp mod">
        <pc:chgData name="Alsadakah, Dani" userId="15295a0b-9586-497d-a928-44476d0b7c74" providerId="ADAL" clId="{6B5D7491-E265-4C9A-949D-CDDB4503F6C0}" dt="2026-07-07T17:10:11.742" v="108" actId="2711"/>
        <pc:sldMkLst>
          <pc:docMk/>
          <pc:sldMk cId="1993432534" sldId="328"/>
        </pc:sldMkLst>
        <pc:spChg chg="mod">
          <ac:chgData name="Alsadakah, Dani" userId="15295a0b-9586-497d-a928-44476d0b7c74" providerId="ADAL" clId="{6B5D7491-E265-4C9A-949D-CDDB4503F6C0}" dt="2026-07-07T16:57:34.696" v="46" actId="108"/>
          <ac:spMkLst>
            <pc:docMk/>
            <pc:sldMk cId="1993432534" sldId="328"/>
            <ac:spMk id="2" creationId="{00000000-0000-0000-0000-000000000000}"/>
          </ac:spMkLst>
        </pc:spChg>
        <pc:spChg chg="mod">
          <ac:chgData name="Alsadakah, Dani" userId="15295a0b-9586-497d-a928-44476d0b7c74" providerId="ADAL" clId="{6B5D7491-E265-4C9A-949D-CDDB4503F6C0}" dt="2026-07-07T16:36:27.978" v="2" actId="108"/>
          <ac:spMkLst>
            <pc:docMk/>
            <pc:sldMk cId="1993432534" sldId="328"/>
            <ac:spMk id="3" creationId="{00000000-0000-0000-0000-000000000000}"/>
          </ac:spMkLst>
        </pc:spChg>
        <pc:spChg chg="mod">
          <ac:chgData name="Alsadakah, Dani" userId="15295a0b-9586-497d-a928-44476d0b7c74" providerId="ADAL" clId="{6B5D7491-E265-4C9A-949D-CDDB4503F6C0}" dt="2026-07-07T16:53:09.354" v="31" actId="108"/>
          <ac:spMkLst>
            <pc:docMk/>
            <pc:sldMk cId="1993432534" sldId="328"/>
            <ac:spMk id="4" creationId="{00000000-0000-0000-0000-000000000000}"/>
          </ac:spMkLst>
        </pc:spChg>
        <pc:spChg chg="mod">
          <ac:chgData name="Alsadakah, Dani" userId="15295a0b-9586-497d-a928-44476d0b7c74" providerId="ADAL" clId="{6B5D7491-E265-4C9A-949D-CDDB4503F6C0}" dt="2026-07-07T17:10:11.742" v="108" actId="2711"/>
          <ac:spMkLst>
            <pc:docMk/>
            <pc:sldMk cId="1993432534" sldId="328"/>
            <ac:spMk id="5" creationId="{00000000-0000-0000-0000-000000000000}"/>
          </ac:spMkLst>
        </pc:spChg>
        <pc:spChg chg="mod">
          <ac:chgData name="Alsadakah, Dani" userId="15295a0b-9586-497d-a928-44476d0b7c74" providerId="ADAL" clId="{6B5D7491-E265-4C9A-949D-CDDB4503F6C0}" dt="2026-07-07T17:09:11.881" v="105" actId="2711"/>
          <ac:spMkLst>
            <pc:docMk/>
            <pc:sldMk cId="1993432534" sldId="328"/>
            <ac:spMk id="6" creationId="{00000000-0000-0000-0000-000000000000}"/>
          </ac:spMkLst>
        </pc:spChg>
        <pc:spChg chg="mod">
          <ac:chgData name="Alsadakah, Dani" userId="15295a0b-9586-497d-a928-44476d0b7c74" providerId="ADAL" clId="{6B5D7491-E265-4C9A-949D-CDDB4503F6C0}" dt="2026-07-07T17:10:00.701" v="107" actId="2711"/>
          <ac:spMkLst>
            <pc:docMk/>
            <pc:sldMk cId="1993432534" sldId="328"/>
            <ac:spMk id="8" creationId="{00000000-0000-0000-0000-000000000000}"/>
          </ac:spMkLst>
        </pc:spChg>
        <pc:graphicFrameChg chg="modGraphic">
          <ac:chgData name="Alsadakah, Dani" userId="15295a0b-9586-497d-a928-44476d0b7c74" providerId="ADAL" clId="{6B5D7491-E265-4C9A-949D-CDDB4503F6C0}" dt="2026-07-07T17:09:38.931" v="106" actId="2711"/>
          <ac:graphicFrameMkLst>
            <pc:docMk/>
            <pc:sldMk cId="1993432534" sldId="328"/>
            <ac:graphicFrameMk id="7" creationId="{00000000-0000-0000-0000-000000000000}"/>
          </ac:graphicFrameMkLst>
        </pc:graphicFrameChg>
      </pc:sldChg>
      <pc:sldChg chg="modSp mod">
        <pc:chgData name="Alsadakah, Dani" userId="15295a0b-9586-497d-a928-44476d0b7c74" providerId="ADAL" clId="{6B5D7491-E265-4C9A-949D-CDDB4503F6C0}" dt="2026-07-07T17:14:50.008" v="136" actId="2711"/>
        <pc:sldMkLst>
          <pc:docMk/>
          <pc:sldMk cId="2355897747" sldId="330"/>
        </pc:sldMkLst>
        <pc:spChg chg="mod">
          <ac:chgData name="Alsadakah, Dani" userId="15295a0b-9586-497d-a928-44476d0b7c74" providerId="ADAL" clId="{6B5D7491-E265-4C9A-949D-CDDB4503F6C0}" dt="2026-07-07T16:57:50.350" v="48" actId="108"/>
          <ac:spMkLst>
            <pc:docMk/>
            <pc:sldMk cId="2355897747" sldId="330"/>
            <ac:spMk id="2" creationId="{00000000-0000-0000-0000-000000000000}"/>
          </ac:spMkLst>
        </pc:spChg>
        <pc:spChg chg="mod">
          <ac:chgData name="Alsadakah, Dani" userId="15295a0b-9586-497d-a928-44476d0b7c74" providerId="ADAL" clId="{6B5D7491-E265-4C9A-949D-CDDB4503F6C0}" dt="2026-07-07T16:49:23.986" v="20" actId="108"/>
          <ac:spMkLst>
            <pc:docMk/>
            <pc:sldMk cId="2355897747" sldId="330"/>
            <ac:spMk id="3" creationId="{00000000-0000-0000-0000-000000000000}"/>
          </ac:spMkLst>
        </pc:spChg>
        <pc:spChg chg="mod">
          <ac:chgData name="Alsadakah, Dani" userId="15295a0b-9586-497d-a928-44476d0b7c74" providerId="ADAL" clId="{6B5D7491-E265-4C9A-949D-CDDB4503F6C0}" dt="2026-07-07T16:54:15.676" v="32" actId="108"/>
          <ac:spMkLst>
            <pc:docMk/>
            <pc:sldMk cId="2355897747" sldId="330"/>
            <ac:spMk id="4" creationId="{00000000-0000-0000-0000-000000000000}"/>
          </ac:spMkLst>
        </pc:spChg>
        <pc:graphicFrameChg chg="mod">
          <ac:chgData name="Alsadakah, Dani" userId="15295a0b-9586-497d-a928-44476d0b7c74" providerId="ADAL" clId="{6B5D7491-E265-4C9A-949D-CDDB4503F6C0}" dt="2026-07-07T17:14:50.008" v="136" actId="2711"/>
          <ac:graphicFrameMkLst>
            <pc:docMk/>
            <pc:sldMk cId="2355897747" sldId="330"/>
            <ac:graphicFrameMk id="5" creationId="{00000000-0000-0000-0000-000000000000}"/>
          </ac:graphicFrameMkLst>
        </pc:graphicFrameChg>
      </pc:sldChg>
      <pc:sldChg chg="modSp mod">
        <pc:chgData name="Alsadakah, Dani" userId="15295a0b-9586-497d-a928-44476d0b7c74" providerId="ADAL" clId="{6B5D7491-E265-4C9A-949D-CDDB4503F6C0}" dt="2026-07-07T17:19:01.399" v="157" actId="20577"/>
        <pc:sldMkLst>
          <pc:docMk/>
          <pc:sldMk cId="3375771379" sldId="334"/>
        </pc:sldMkLst>
        <pc:spChg chg="mod">
          <ac:chgData name="Alsadakah, Dani" userId="15295a0b-9586-497d-a928-44476d0b7c74" providerId="ADAL" clId="{6B5D7491-E265-4C9A-949D-CDDB4503F6C0}" dt="2026-07-07T17:19:01.399" v="157" actId="20577"/>
          <ac:spMkLst>
            <pc:docMk/>
            <pc:sldMk cId="3375771379" sldId="334"/>
            <ac:spMk id="2" creationId="{73204AE6-2CE7-75D7-D5F8-AFED0A2E49D9}"/>
          </ac:spMkLst>
        </pc:spChg>
        <pc:spChg chg="mod">
          <ac:chgData name="Alsadakah, Dani" userId="15295a0b-9586-497d-a928-44476d0b7c74" providerId="ADAL" clId="{6B5D7491-E265-4C9A-949D-CDDB4503F6C0}" dt="2026-07-07T16:50:37.932" v="25" actId="108"/>
          <ac:spMkLst>
            <pc:docMk/>
            <pc:sldMk cId="3375771379" sldId="334"/>
            <ac:spMk id="3" creationId="{34AA7C32-4BC6-53AF-B3D0-30B08F8F2434}"/>
          </ac:spMkLst>
        </pc:spChg>
        <pc:spChg chg="mod">
          <ac:chgData name="Alsadakah, Dani" userId="15295a0b-9586-497d-a928-44476d0b7c74" providerId="ADAL" clId="{6B5D7491-E265-4C9A-949D-CDDB4503F6C0}" dt="2026-07-07T16:56:26.164" v="42" actId="108"/>
          <ac:spMkLst>
            <pc:docMk/>
            <pc:sldMk cId="3375771379" sldId="334"/>
            <ac:spMk id="4" creationId="{38100D4E-1472-64BD-5A7F-A6ECEBDB0B54}"/>
          </ac:spMkLst>
        </pc:spChg>
      </pc:sldChg>
      <pc:sldChg chg="modSp mod">
        <pc:chgData name="Alsadakah, Dani" userId="15295a0b-9586-497d-a928-44476d0b7c74" providerId="ADAL" clId="{6B5D7491-E265-4C9A-949D-CDDB4503F6C0}" dt="2026-07-07T17:14:34.851" v="135" actId="2711"/>
        <pc:sldMkLst>
          <pc:docMk/>
          <pc:sldMk cId="1673877571" sldId="337"/>
        </pc:sldMkLst>
        <pc:spChg chg="mod">
          <ac:chgData name="Alsadakah, Dani" userId="15295a0b-9586-497d-a928-44476d0b7c74" providerId="ADAL" clId="{6B5D7491-E265-4C9A-949D-CDDB4503F6C0}" dt="2026-07-07T16:57:41.256" v="47" actId="108"/>
          <ac:spMkLst>
            <pc:docMk/>
            <pc:sldMk cId="1673877571" sldId="337"/>
            <ac:spMk id="2" creationId="{00000000-0000-0000-0000-000000000000}"/>
          </ac:spMkLst>
        </pc:spChg>
        <pc:spChg chg="mod">
          <ac:chgData name="Alsadakah, Dani" userId="15295a0b-9586-497d-a928-44476d0b7c74" providerId="ADAL" clId="{6B5D7491-E265-4C9A-949D-CDDB4503F6C0}" dt="2026-07-07T16:48:21.761" v="19" actId="108"/>
          <ac:spMkLst>
            <pc:docMk/>
            <pc:sldMk cId="1673877571" sldId="337"/>
            <ac:spMk id="3" creationId="{00000000-0000-0000-0000-000000000000}"/>
          </ac:spMkLst>
        </pc:spChg>
        <pc:spChg chg="mod">
          <ac:chgData name="Alsadakah, Dani" userId="15295a0b-9586-497d-a928-44476d0b7c74" providerId="ADAL" clId="{6B5D7491-E265-4C9A-949D-CDDB4503F6C0}" dt="2026-07-07T17:10:33.655" v="109" actId="2711"/>
          <ac:spMkLst>
            <pc:docMk/>
            <pc:sldMk cId="1673877571" sldId="337"/>
            <ac:spMk id="6" creationId="{00000000-0000-0000-0000-000000000000}"/>
          </ac:spMkLst>
        </pc:spChg>
        <pc:spChg chg="mod">
          <ac:chgData name="Alsadakah, Dani" userId="15295a0b-9586-497d-a928-44476d0b7c74" providerId="ADAL" clId="{6B5D7491-E265-4C9A-949D-CDDB4503F6C0}" dt="2026-07-07T17:10:58.301" v="110" actId="2711"/>
          <ac:spMkLst>
            <pc:docMk/>
            <pc:sldMk cId="1673877571" sldId="337"/>
            <ac:spMk id="7" creationId="{00000000-0000-0000-0000-000000000000}"/>
          </ac:spMkLst>
        </pc:spChg>
        <pc:spChg chg="mod">
          <ac:chgData name="Alsadakah, Dani" userId="15295a0b-9586-497d-a928-44476d0b7c74" providerId="ADAL" clId="{6B5D7491-E265-4C9A-949D-CDDB4503F6C0}" dt="2026-07-07T17:11:08.339" v="111" actId="2711"/>
          <ac:spMkLst>
            <pc:docMk/>
            <pc:sldMk cId="1673877571" sldId="337"/>
            <ac:spMk id="8" creationId="{00000000-0000-0000-0000-000000000000}"/>
          </ac:spMkLst>
        </pc:spChg>
        <pc:spChg chg="mod">
          <ac:chgData name="Alsadakah, Dani" userId="15295a0b-9586-497d-a928-44476d0b7c74" providerId="ADAL" clId="{6B5D7491-E265-4C9A-949D-CDDB4503F6C0}" dt="2026-07-07T17:11:20.784" v="112" actId="2711"/>
          <ac:spMkLst>
            <pc:docMk/>
            <pc:sldMk cId="1673877571" sldId="337"/>
            <ac:spMk id="11" creationId="{00000000-0000-0000-0000-000000000000}"/>
          </ac:spMkLst>
        </pc:spChg>
        <pc:spChg chg="mod">
          <ac:chgData name="Alsadakah, Dani" userId="15295a0b-9586-497d-a928-44476d0b7c74" providerId="ADAL" clId="{6B5D7491-E265-4C9A-949D-CDDB4503F6C0}" dt="2026-07-07T17:11:31.267" v="113" actId="2711"/>
          <ac:spMkLst>
            <pc:docMk/>
            <pc:sldMk cId="1673877571" sldId="337"/>
            <ac:spMk id="12" creationId="{00000000-0000-0000-0000-000000000000}"/>
          </ac:spMkLst>
        </pc:spChg>
        <pc:spChg chg="mod">
          <ac:chgData name="Alsadakah, Dani" userId="15295a0b-9586-497d-a928-44476d0b7c74" providerId="ADAL" clId="{6B5D7491-E265-4C9A-949D-CDDB4503F6C0}" dt="2026-07-07T17:11:37.285" v="114" actId="2711"/>
          <ac:spMkLst>
            <pc:docMk/>
            <pc:sldMk cId="1673877571" sldId="337"/>
            <ac:spMk id="13" creationId="{00000000-0000-0000-0000-000000000000}"/>
          </ac:spMkLst>
        </pc:spChg>
        <pc:spChg chg="mod">
          <ac:chgData name="Alsadakah, Dani" userId="15295a0b-9586-497d-a928-44476d0b7c74" providerId="ADAL" clId="{6B5D7491-E265-4C9A-949D-CDDB4503F6C0}" dt="2026-07-07T17:12:01.349" v="116" actId="2711"/>
          <ac:spMkLst>
            <pc:docMk/>
            <pc:sldMk cId="1673877571" sldId="337"/>
            <ac:spMk id="16" creationId="{00000000-0000-0000-0000-000000000000}"/>
          </ac:spMkLst>
        </pc:spChg>
        <pc:spChg chg="mod">
          <ac:chgData name="Alsadakah, Dani" userId="15295a0b-9586-497d-a928-44476d0b7c74" providerId="ADAL" clId="{6B5D7491-E265-4C9A-949D-CDDB4503F6C0}" dt="2026-07-07T17:12:09.135" v="117" actId="2711"/>
          <ac:spMkLst>
            <pc:docMk/>
            <pc:sldMk cId="1673877571" sldId="337"/>
            <ac:spMk id="17" creationId="{00000000-0000-0000-0000-000000000000}"/>
          </ac:spMkLst>
        </pc:spChg>
        <pc:spChg chg="mod">
          <ac:chgData name="Alsadakah, Dani" userId="15295a0b-9586-497d-a928-44476d0b7c74" providerId="ADAL" clId="{6B5D7491-E265-4C9A-949D-CDDB4503F6C0}" dt="2026-07-07T17:12:22.614" v="119" actId="2711"/>
          <ac:spMkLst>
            <pc:docMk/>
            <pc:sldMk cId="1673877571" sldId="337"/>
            <ac:spMk id="18" creationId="{00000000-0000-0000-0000-000000000000}"/>
          </ac:spMkLst>
        </pc:spChg>
        <pc:spChg chg="mod">
          <ac:chgData name="Alsadakah, Dani" userId="15295a0b-9586-497d-a928-44476d0b7c74" providerId="ADAL" clId="{6B5D7491-E265-4C9A-949D-CDDB4503F6C0}" dt="2026-07-07T17:12:42.597" v="121" actId="2711"/>
          <ac:spMkLst>
            <pc:docMk/>
            <pc:sldMk cId="1673877571" sldId="337"/>
            <ac:spMk id="21" creationId="{00000000-0000-0000-0000-000000000000}"/>
          </ac:spMkLst>
        </pc:spChg>
        <pc:spChg chg="mod">
          <ac:chgData name="Alsadakah, Dani" userId="15295a0b-9586-497d-a928-44476d0b7c74" providerId="ADAL" clId="{6B5D7491-E265-4C9A-949D-CDDB4503F6C0}" dt="2026-07-07T17:12:48.463" v="122" actId="2711"/>
          <ac:spMkLst>
            <pc:docMk/>
            <pc:sldMk cId="1673877571" sldId="337"/>
            <ac:spMk id="22" creationId="{00000000-0000-0000-0000-000000000000}"/>
          </ac:spMkLst>
        </pc:spChg>
        <pc:spChg chg="mod">
          <ac:chgData name="Alsadakah, Dani" userId="15295a0b-9586-497d-a928-44476d0b7c74" providerId="ADAL" clId="{6B5D7491-E265-4C9A-949D-CDDB4503F6C0}" dt="2026-07-07T17:12:54.611" v="123" actId="2711"/>
          <ac:spMkLst>
            <pc:docMk/>
            <pc:sldMk cId="1673877571" sldId="337"/>
            <ac:spMk id="23" creationId="{00000000-0000-0000-0000-000000000000}"/>
          </ac:spMkLst>
        </pc:spChg>
        <pc:spChg chg="mod">
          <ac:chgData name="Alsadakah, Dani" userId="15295a0b-9586-497d-a928-44476d0b7c74" providerId="ADAL" clId="{6B5D7491-E265-4C9A-949D-CDDB4503F6C0}" dt="2026-07-07T17:13:01.721" v="124" actId="2711"/>
          <ac:spMkLst>
            <pc:docMk/>
            <pc:sldMk cId="1673877571" sldId="337"/>
            <ac:spMk id="26" creationId="{00000000-0000-0000-0000-000000000000}"/>
          </ac:spMkLst>
        </pc:spChg>
        <pc:spChg chg="mod">
          <ac:chgData name="Alsadakah, Dani" userId="15295a0b-9586-497d-a928-44476d0b7c74" providerId="ADAL" clId="{6B5D7491-E265-4C9A-949D-CDDB4503F6C0}" dt="2026-07-07T17:13:07.530" v="125" actId="2711"/>
          <ac:spMkLst>
            <pc:docMk/>
            <pc:sldMk cId="1673877571" sldId="337"/>
            <ac:spMk id="27" creationId="{00000000-0000-0000-0000-000000000000}"/>
          </ac:spMkLst>
        </pc:spChg>
        <pc:spChg chg="mod">
          <ac:chgData name="Alsadakah, Dani" userId="15295a0b-9586-497d-a928-44476d0b7c74" providerId="ADAL" clId="{6B5D7491-E265-4C9A-949D-CDDB4503F6C0}" dt="2026-07-07T17:13:14.237" v="126" actId="2711"/>
          <ac:spMkLst>
            <pc:docMk/>
            <pc:sldMk cId="1673877571" sldId="337"/>
            <ac:spMk id="28" creationId="{00000000-0000-0000-0000-000000000000}"/>
          </ac:spMkLst>
        </pc:spChg>
        <pc:spChg chg="mod">
          <ac:chgData name="Alsadakah, Dani" userId="15295a0b-9586-497d-a928-44476d0b7c74" providerId="ADAL" clId="{6B5D7491-E265-4C9A-949D-CDDB4503F6C0}" dt="2026-07-07T17:13:20.709" v="127" actId="2711"/>
          <ac:spMkLst>
            <pc:docMk/>
            <pc:sldMk cId="1673877571" sldId="337"/>
            <ac:spMk id="31" creationId="{00000000-0000-0000-0000-000000000000}"/>
          </ac:spMkLst>
        </pc:spChg>
        <pc:spChg chg="mod">
          <ac:chgData name="Alsadakah, Dani" userId="15295a0b-9586-497d-a928-44476d0b7c74" providerId="ADAL" clId="{6B5D7491-E265-4C9A-949D-CDDB4503F6C0}" dt="2026-07-07T17:13:27.359" v="128" actId="2711"/>
          <ac:spMkLst>
            <pc:docMk/>
            <pc:sldMk cId="1673877571" sldId="337"/>
            <ac:spMk id="32" creationId="{00000000-0000-0000-0000-000000000000}"/>
          </ac:spMkLst>
        </pc:spChg>
        <pc:spChg chg="mod">
          <ac:chgData name="Alsadakah, Dani" userId="15295a0b-9586-497d-a928-44476d0b7c74" providerId="ADAL" clId="{6B5D7491-E265-4C9A-949D-CDDB4503F6C0}" dt="2026-07-07T17:13:33.881" v="129" actId="2711"/>
          <ac:spMkLst>
            <pc:docMk/>
            <pc:sldMk cId="1673877571" sldId="337"/>
            <ac:spMk id="33" creationId="{00000000-0000-0000-0000-000000000000}"/>
          </ac:spMkLst>
        </pc:spChg>
        <pc:spChg chg="mod">
          <ac:chgData name="Alsadakah, Dani" userId="15295a0b-9586-497d-a928-44476d0b7c74" providerId="ADAL" clId="{6B5D7491-E265-4C9A-949D-CDDB4503F6C0}" dt="2026-07-07T17:14:11.126" v="132" actId="2711"/>
          <ac:spMkLst>
            <pc:docMk/>
            <pc:sldMk cId="1673877571" sldId="337"/>
            <ac:spMk id="34" creationId="{00000000-0000-0000-0000-000000000000}"/>
          </ac:spMkLst>
        </pc:spChg>
        <pc:spChg chg="mod">
          <ac:chgData name="Alsadakah, Dani" userId="15295a0b-9586-497d-a928-44476d0b7c74" providerId="ADAL" clId="{6B5D7491-E265-4C9A-949D-CDDB4503F6C0}" dt="2026-07-07T17:14:21.073" v="133" actId="2711"/>
          <ac:spMkLst>
            <pc:docMk/>
            <pc:sldMk cId="1673877571" sldId="337"/>
            <ac:spMk id="37" creationId="{00000000-0000-0000-0000-000000000000}"/>
          </ac:spMkLst>
        </pc:spChg>
        <pc:spChg chg="mod">
          <ac:chgData name="Alsadakah, Dani" userId="15295a0b-9586-497d-a928-44476d0b7c74" providerId="ADAL" clId="{6B5D7491-E265-4C9A-949D-CDDB4503F6C0}" dt="2026-07-07T17:14:34.851" v="135" actId="2711"/>
          <ac:spMkLst>
            <pc:docMk/>
            <pc:sldMk cId="1673877571" sldId="337"/>
            <ac:spMk id="38" creationId="{00000000-0000-0000-0000-000000000000}"/>
          </ac:spMkLst>
        </pc:spChg>
        <pc:graphicFrameChg chg="modGraphic">
          <ac:chgData name="Alsadakah, Dani" userId="15295a0b-9586-497d-a928-44476d0b7c74" providerId="ADAL" clId="{6B5D7491-E265-4C9A-949D-CDDB4503F6C0}" dt="2026-07-07T17:13:52.455" v="130" actId="2711"/>
          <ac:graphicFrameMkLst>
            <pc:docMk/>
            <pc:sldMk cId="1673877571" sldId="337"/>
            <ac:graphicFrameMk id="35" creationId="{00000000-0000-0000-0000-000000000000}"/>
          </ac:graphicFrameMkLst>
        </pc:graphicFrameChg>
      </pc:sldChg>
      <pc:sldChg chg="modSp mod">
        <pc:chgData name="Alsadakah, Dani" userId="15295a0b-9586-497d-a928-44476d0b7c74" providerId="ADAL" clId="{6B5D7491-E265-4C9A-949D-CDDB4503F6C0}" dt="2026-07-07T17:15:12.649" v="137" actId="2711"/>
        <pc:sldMkLst>
          <pc:docMk/>
          <pc:sldMk cId="163292538" sldId="338"/>
        </pc:sldMkLst>
        <pc:spChg chg="mod">
          <ac:chgData name="Alsadakah, Dani" userId="15295a0b-9586-497d-a928-44476d0b7c74" providerId="ADAL" clId="{6B5D7491-E265-4C9A-949D-CDDB4503F6C0}" dt="2026-07-07T16:58:03.285" v="49" actId="108"/>
          <ac:spMkLst>
            <pc:docMk/>
            <pc:sldMk cId="163292538" sldId="338"/>
            <ac:spMk id="2" creationId="{00000000-0000-0000-0000-000000000000}"/>
          </ac:spMkLst>
        </pc:spChg>
        <pc:spChg chg="mod">
          <ac:chgData name="Alsadakah, Dani" userId="15295a0b-9586-497d-a928-44476d0b7c74" providerId="ADAL" clId="{6B5D7491-E265-4C9A-949D-CDDB4503F6C0}" dt="2026-07-07T16:49:36.601" v="21" actId="108"/>
          <ac:spMkLst>
            <pc:docMk/>
            <pc:sldMk cId="163292538" sldId="338"/>
            <ac:spMk id="3" creationId="{00000000-0000-0000-0000-000000000000}"/>
          </ac:spMkLst>
        </pc:spChg>
        <pc:spChg chg="mod">
          <ac:chgData name="Alsadakah, Dani" userId="15295a0b-9586-497d-a928-44476d0b7c74" providerId="ADAL" clId="{6B5D7491-E265-4C9A-949D-CDDB4503F6C0}" dt="2026-07-07T16:54:52.574" v="38" actId="108"/>
          <ac:spMkLst>
            <pc:docMk/>
            <pc:sldMk cId="163292538" sldId="338"/>
            <ac:spMk id="4" creationId="{00000000-0000-0000-0000-000000000000}"/>
          </ac:spMkLst>
        </pc:spChg>
        <pc:graphicFrameChg chg="mod">
          <ac:chgData name="Alsadakah, Dani" userId="15295a0b-9586-497d-a928-44476d0b7c74" providerId="ADAL" clId="{6B5D7491-E265-4C9A-949D-CDDB4503F6C0}" dt="2026-07-07T17:15:12.649" v="137" actId="2711"/>
          <ac:graphicFrameMkLst>
            <pc:docMk/>
            <pc:sldMk cId="163292538" sldId="338"/>
            <ac:graphicFrameMk id="5" creationId="{00000000-0000-0000-0000-000000000000}"/>
          </ac:graphicFrameMkLst>
        </pc:graphicFrameChg>
      </pc:sldChg>
      <pc:sldChg chg="modSp mod">
        <pc:chgData name="Alsadakah, Dani" userId="15295a0b-9586-497d-a928-44476d0b7c74" providerId="ADAL" clId="{6B5D7491-E265-4C9A-949D-CDDB4503F6C0}" dt="2026-07-07T16:58:35.097" v="51" actId="108"/>
        <pc:sldMkLst>
          <pc:docMk/>
          <pc:sldMk cId="1775935088" sldId="340"/>
        </pc:sldMkLst>
        <pc:spChg chg="mod">
          <ac:chgData name="Alsadakah, Dani" userId="15295a0b-9586-497d-a928-44476d0b7c74" providerId="ADAL" clId="{6B5D7491-E265-4C9A-949D-CDDB4503F6C0}" dt="2026-07-07T16:58:35.097" v="51" actId="108"/>
          <ac:spMkLst>
            <pc:docMk/>
            <pc:sldMk cId="1775935088" sldId="340"/>
            <ac:spMk id="2" creationId="{00000000-0000-0000-0000-000000000000}"/>
          </ac:spMkLst>
        </pc:spChg>
        <pc:spChg chg="mod">
          <ac:chgData name="Alsadakah, Dani" userId="15295a0b-9586-497d-a928-44476d0b7c74" providerId="ADAL" clId="{6B5D7491-E265-4C9A-949D-CDDB4503F6C0}" dt="2026-07-07T16:50:11.416" v="23" actId="108"/>
          <ac:spMkLst>
            <pc:docMk/>
            <pc:sldMk cId="1775935088" sldId="340"/>
            <ac:spMk id="3" creationId="{00000000-0000-0000-0000-000000000000}"/>
          </ac:spMkLst>
        </pc:spChg>
      </pc:sldChg>
      <pc:sldChg chg="modSp mod">
        <pc:chgData name="Alsadakah, Dani" userId="15295a0b-9586-497d-a928-44476d0b7c74" providerId="ADAL" clId="{6B5D7491-E265-4C9A-949D-CDDB4503F6C0}" dt="2026-07-07T16:58:55.514" v="52" actId="108"/>
        <pc:sldMkLst>
          <pc:docMk/>
          <pc:sldMk cId="2876261703" sldId="341"/>
        </pc:sldMkLst>
        <pc:spChg chg="mod">
          <ac:chgData name="Alsadakah, Dani" userId="15295a0b-9586-497d-a928-44476d0b7c74" providerId="ADAL" clId="{6B5D7491-E265-4C9A-949D-CDDB4503F6C0}" dt="2026-07-07T16:58:55.514" v="52" actId="108"/>
          <ac:spMkLst>
            <pc:docMk/>
            <pc:sldMk cId="2876261703" sldId="341"/>
            <ac:spMk id="2" creationId="{00000000-0000-0000-0000-000000000000}"/>
          </ac:spMkLst>
        </pc:spChg>
        <pc:spChg chg="mod">
          <ac:chgData name="Alsadakah, Dani" userId="15295a0b-9586-497d-a928-44476d0b7c74" providerId="ADAL" clId="{6B5D7491-E265-4C9A-949D-CDDB4503F6C0}" dt="2026-07-07T16:50:25.051" v="24" actId="108"/>
          <ac:spMkLst>
            <pc:docMk/>
            <pc:sldMk cId="2876261703" sldId="341"/>
            <ac:spMk id="3" creationId="{00000000-0000-0000-0000-000000000000}"/>
          </ac:spMkLst>
        </pc:spChg>
        <pc:spChg chg="mod">
          <ac:chgData name="Alsadakah, Dani" userId="15295a0b-9586-497d-a928-44476d0b7c74" providerId="ADAL" clId="{6B5D7491-E265-4C9A-949D-CDDB4503F6C0}" dt="2026-07-07T16:56:06.363" v="41" actId="108"/>
          <ac:spMkLst>
            <pc:docMk/>
            <pc:sldMk cId="2876261703" sldId="341"/>
            <ac:spMk id="4" creationId="{00000000-0000-0000-0000-000000000000}"/>
          </ac:spMkLst>
        </pc:spChg>
      </pc:sldChg>
      <pc:sldChg chg="modSp mod modShow">
        <pc:chgData name="Alsadakah, Dani" userId="15295a0b-9586-497d-a928-44476d0b7c74" providerId="ADAL" clId="{6B5D7491-E265-4C9A-949D-CDDB4503F6C0}" dt="2026-07-07T17:17:46.565" v="156" actId="729"/>
        <pc:sldMkLst>
          <pc:docMk/>
          <pc:sldMk cId="267037709" sldId="342"/>
        </pc:sldMkLst>
        <pc:spChg chg="mod">
          <ac:chgData name="Alsadakah, Dani" userId="15295a0b-9586-497d-a928-44476d0b7c74" providerId="ADAL" clId="{6B5D7491-E265-4C9A-949D-CDDB4503F6C0}" dt="2026-07-07T16:59:43.201" v="58" actId="207"/>
          <ac:spMkLst>
            <pc:docMk/>
            <pc:sldMk cId="267037709" sldId="342"/>
            <ac:spMk id="3" creationId="{00000000-0000-0000-0000-000000000000}"/>
          </ac:spMkLst>
        </pc:spChg>
        <pc:spChg chg="mod">
          <ac:chgData name="Alsadakah, Dani" userId="15295a0b-9586-497d-a928-44476d0b7c74" providerId="ADAL" clId="{6B5D7491-E265-4C9A-949D-CDDB4503F6C0}" dt="2026-07-07T17:17:24.933" v="155" actId="108"/>
          <ac:spMkLst>
            <pc:docMk/>
            <pc:sldMk cId="267037709" sldId="342"/>
            <ac:spMk id="4" creationId="{00000000-0000-0000-0000-000000000000}"/>
          </ac:spMkLst>
        </pc:spChg>
      </pc:sldChg>
      <pc:sldChg chg="modSp mod">
        <pc:chgData name="Alsadakah, Dani" userId="15295a0b-9586-497d-a928-44476d0b7c74" providerId="ADAL" clId="{6B5D7491-E265-4C9A-949D-CDDB4503F6C0}" dt="2026-07-07T16:58:24.866" v="50" actId="108"/>
        <pc:sldMkLst>
          <pc:docMk/>
          <pc:sldMk cId="2643055258" sldId="343"/>
        </pc:sldMkLst>
        <pc:spChg chg="mod">
          <ac:chgData name="Alsadakah, Dani" userId="15295a0b-9586-497d-a928-44476d0b7c74" providerId="ADAL" clId="{6B5D7491-E265-4C9A-949D-CDDB4503F6C0}" dt="2026-07-07T16:58:24.866" v="50" actId="108"/>
          <ac:spMkLst>
            <pc:docMk/>
            <pc:sldMk cId="2643055258" sldId="343"/>
            <ac:spMk id="2" creationId="{00000000-0000-0000-0000-000000000000}"/>
          </ac:spMkLst>
        </pc:spChg>
        <pc:spChg chg="mod">
          <ac:chgData name="Alsadakah, Dani" userId="15295a0b-9586-497d-a928-44476d0b7c74" providerId="ADAL" clId="{6B5D7491-E265-4C9A-949D-CDDB4503F6C0}" dt="2026-07-07T16:49:46.947" v="22" actId="108"/>
          <ac:spMkLst>
            <pc:docMk/>
            <pc:sldMk cId="2643055258" sldId="343"/>
            <ac:spMk id="3" creationId="{00000000-0000-0000-0000-000000000000}"/>
          </ac:spMkLst>
        </pc:spChg>
      </pc:sldChg>
      <pc:sldChg chg="modSp mod">
        <pc:chgData name="Alsadakah, Dani" userId="15295a0b-9586-497d-a928-44476d0b7c74" providerId="ADAL" clId="{6B5D7491-E265-4C9A-949D-CDDB4503F6C0}" dt="2026-07-07T17:05:05.207" v="84" actId="108"/>
        <pc:sldMkLst>
          <pc:docMk/>
          <pc:sldMk cId="570519081" sldId="368"/>
        </pc:sldMkLst>
        <pc:spChg chg="mod">
          <ac:chgData name="Alsadakah, Dani" userId="15295a0b-9586-497d-a928-44476d0b7c74" providerId="ADAL" clId="{6B5D7491-E265-4C9A-949D-CDDB4503F6C0}" dt="2026-07-07T17:05:05.207" v="84" actId="108"/>
          <ac:spMkLst>
            <pc:docMk/>
            <pc:sldMk cId="570519081" sldId="368"/>
            <ac:spMk id="33" creationId="{2FD40490-D8D3-49D2-9001-D8C7FC5B8057}"/>
          </ac:spMkLst>
        </pc:spChg>
      </pc:sldChg>
      <pc:sldChg chg="new del">
        <pc:chgData name="Alsadakah, Dani" userId="15295a0b-9586-497d-a928-44476d0b7c74" providerId="ADAL" clId="{6B5D7491-E265-4C9A-949D-CDDB4503F6C0}" dt="2026-07-07T16:54:37.346" v="37" actId="47"/>
        <pc:sldMkLst>
          <pc:docMk/>
          <pc:sldMk cId="2125894247" sldId="369"/>
        </pc:sldMkLst>
      </pc:sldChg>
      <pc:sldChg chg="new del">
        <pc:chgData name="Alsadakah, Dani" userId="15295a0b-9586-497d-a928-44476d0b7c74" providerId="ADAL" clId="{6B5D7491-E265-4C9A-949D-CDDB4503F6C0}" dt="2026-07-07T16:54:37.346" v="37" actId="47"/>
        <pc:sldMkLst>
          <pc:docMk/>
          <pc:sldMk cId="3609921846" sldId="370"/>
        </pc:sldMkLst>
      </pc:sldChg>
      <pc:sldChg chg="new del">
        <pc:chgData name="Alsadakah, Dani" userId="15295a0b-9586-497d-a928-44476d0b7c74" providerId="ADAL" clId="{6B5D7491-E265-4C9A-949D-CDDB4503F6C0}" dt="2026-07-07T16:54:37.346" v="37" actId="47"/>
        <pc:sldMkLst>
          <pc:docMk/>
          <pc:sldMk cId="3439090324" sldId="371"/>
        </pc:sldMkLst>
      </pc:sldChg>
      <pc:sldChg chg="new del">
        <pc:chgData name="Alsadakah, Dani" userId="15295a0b-9586-497d-a928-44476d0b7c74" providerId="ADAL" clId="{6B5D7491-E265-4C9A-949D-CDDB4503F6C0}" dt="2026-07-07T16:54:37.346" v="37" actId="47"/>
        <pc:sldMkLst>
          <pc:docMk/>
          <pc:sldMk cId="848619939" sldId="372"/>
        </pc:sldMkLst>
      </pc:sldChg>
      <pc:sldChg chg="new del">
        <pc:chgData name="Alsadakah, Dani" userId="15295a0b-9586-497d-a928-44476d0b7c74" providerId="ADAL" clId="{6B5D7491-E265-4C9A-949D-CDDB4503F6C0}" dt="2026-07-07T16:54:37.346" v="37" actId="47"/>
        <pc:sldMkLst>
          <pc:docMk/>
          <pc:sldMk cId="3908491058" sldId="373"/>
        </pc:sldMkLst>
      </pc:sldChg>
      <pc:sldChg chg="new del">
        <pc:chgData name="Alsadakah, Dani" userId="15295a0b-9586-497d-a928-44476d0b7c74" providerId="ADAL" clId="{6B5D7491-E265-4C9A-949D-CDDB4503F6C0}" dt="2026-07-07T16:54:37.346" v="37" actId="47"/>
        <pc:sldMkLst>
          <pc:docMk/>
          <pc:sldMk cId="667408204" sldId="374"/>
        </pc:sldMkLst>
      </pc:sldChg>
      <pc:sldChg chg="new del">
        <pc:chgData name="Alsadakah, Dani" userId="15295a0b-9586-497d-a928-44476d0b7c74" providerId="ADAL" clId="{6B5D7491-E265-4C9A-949D-CDDB4503F6C0}" dt="2026-07-07T16:54:37.346" v="37" actId="47"/>
        <pc:sldMkLst>
          <pc:docMk/>
          <pc:sldMk cId="1249302282" sldId="375"/>
        </pc:sldMkLst>
      </pc:sldChg>
      <pc:sldChg chg="new del">
        <pc:chgData name="Alsadakah, Dani" userId="15295a0b-9586-497d-a928-44476d0b7c74" providerId="ADAL" clId="{6B5D7491-E265-4C9A-949D-CDDB4503F6C0}" dt="2026-07-07T16:54:37.346" v="37" actId="47"/>
        <pc:sldMkLst>
          <pc:docMk/>
          <pc:sldMk cId="2459874179" sldId="376"/>
        </pc:sldMkLst>
      </pc:sldChg>
      <pc:sldChg chg="new del">
        <pc:chgData name="Alsadakah, Dani" userId="15295a0b-9586-497d-a928-44476d0b7c74" providerId="ADAL" clId="{6B5D7491-E265-4C9A-949D-CDDB4503F6C0}" dt="2026-07-07T16:54:37.346" v="37" actId="47"/>
        <pc:sldMkLst>
          <pc:docMk/>
          <pc:sldMk cId="1613048918" sldId="377"/>
        </pc:sldMkLst>
      </pc:sldChg>
      <pc:sldChg chg="new del">
        <pc:chgData name="Alsadakah, Dani" userId="15295a0b-9586-497d-a928-44476d0b7c74" providerId="ADAL" clId="{6B5D7491-E265-4C9A-949D-CDDB4503F6C0}" dt="2026-07-07T16:54:37.346" v="37" actId="47"/>
        <pc:sldMkLst>
          <pc:docMk/>
          <pc:sldMk cId="2839924902" sldId="378"/>
        </pc:sldMkLst>
      </pc:sldChg>
      <pc:sldChg chg="new del">
        <pc:chgData name="Alsadakah, Dani" userId="15295a0b-9586-497d-a928-44476d0b7c74" providerId="ADAL" clId="{6B5D7491-E265-4C9A-949D-CDDB4503F6C0}" dt="2026-07-07T16:54:37.346" v="37" actId="47"/>
        <pc:sldMkLst>
          <pc:docMk/>
          <pc:sldMk cId="3803150457" sldId="379"/>
        </pc:sldMkLst>
      </pc:sldChg>
      <pc:sldChg chg="new del">
        <pc:chgData name="Alsadakah, Dani" userId="15295a0b-9586-497d-a928-44476d0b7c74" providerId="ADAL" clId="{6B5D7491-E265-4C9A-949D-CDDB4503F6C0}" dt="2026-07-07T16:54:37.346" v="37" actId="47"/>
        <pc:sldMkLst>
          <pc:docMk/>
          <pc:sldMk cId="2727755525" sldId="380"/>
        </pc:sldMkLst>
      </pc:sldChg>
      <pc:sldChg chg="new del">
        <pc:chgData name="Alsadakah, Dani" userId="15295a0b-9586-497d-a928-44476d0b7c74" providerId="ADAL" clId="{6B5D7491-E265-4C9A-949D-CDDB4503F6C0}" dt="2026-07-07T16:54:22.270" v="36" actId="47"/>
        <pc:sldMkLst>
          <pc:docMk/>
          <pc:sldMk cId="3424043282" sldId="381"/>
        </pc:sldMkLst>
      </pc:sldChg>
      <pc:sldChg chg="new del">
        <pc:chgData name="Alsadakah, Dani" userId="15295a0b-9586-497d-a928-44476d0b7c74" providerId="ADAL" clId="{6B5D7491-E265-4C9A-949D-CDDB4503F6C0}" dt="2026-07-07T16:54:21.393" v="35" actId="47"/>
        <pc:sldMkLst>
          <pc:docMk/>
          <pc:sldMk cId="1529883106" sldId="382"/>
        </pc:sldMkLst>
      </pc:sldChg>
      <pc:sldChg chg="new del">
        <pc:chgData name="Alsadakah, Dani" userId="15295a0b-9586-497d-a928-44476d0b7c74" providerId="ADAL" clId="{6B5D7491-E265-4C9A-949D-CDDB4503F6C0}" dt="2026-07-07T16:54:20.508" v="34" actId="47"/>
        <pc:sldMkLst>
          <pc:docMk/>
          <pc:sldMk cId="1119674846" sldId="383"/>
        </pc:sldMkLst>
      </pc:sldChg>
      <pc:sldChg chg="new del">
        <pc:chgData name="Alsadakah, Dani" userId="15295a0b-9586-497d-a928-44476d0b7c74" providerId="ADAL" clId="{6B5D7491-E265-4C9A-949D-CDDB4503F6C0}" dt="2026-07-07T16:54:18.380" v="33" actId="47"/>
        <pc:sldMkLst>
          <pc:docMk/>
          <pc:sldMk cId="3024939376" sldId="384"/>
        </pc:sldMkLst>
      </pc:sldChg>
    </pc:docChg>
  </pc:docChgLst>
  <pc:docChgLst>
    <pc:chgData name="Alsadakah, Dani" userId="S::dani.alsadakah@study.hs-duesseldorf.de::15295a0b-9586-497d-a928-44476d0b7c74" providerId="AD" clId="Web-{08402464-91AE-2766-7E9A-2A5037A9550D}"/>
    <pc:docChg chg="delSld">
      <pc:chgData name="Alsadakah, Dani" userId="S::dani.alsadakah@study.hs-duesseldorf.de::15295a0b-9586-497d-a928-44476d0b7c74" providerId="AD" clId="Web-{08402464-91AE-2766-7E9A-2A5037A9550D}" dt="2026-07-07T15:48:01.317" v="12"/>
      <pc:docMkLst>
        <pc:docMk/>
      </pc:docMkLst>
      <pc:sldChg chg="del">
        <pc:chgData name="Alsadakah, Dani" userId="S::dani.alsadakah@study.hs-duesseldorf.de::15295a0b-9586-497d-a928-44476d0b7c74" providerId="AD" clId="Web-{08402464-91AE-2766-7E9A-2A5037A9550D}" dt="2026-07-07T15:47:31.408" v="5"/>
        <pc:sldMkLst>
          <pc:docMk/>
          <pc:sldMk cId="0" sldId="266"/>
        </pc:sldMkLst>
      </pc:sldChg>
      <pc:sldChg chg="del">
        <pc:chgData name="Alsadakah, Dani" userId="S::dani.alsadakah@study.hs-duesseldorf.de::15295a0b-9586-497d-a928-44476d0b7c74" providerId="AD" clId="Web-{08402464-91AE-2766-7E9A-2A5037A9550D}" dt="2026-07-07T15:47:36.893" v="7"/>
        <pc:sldMkLst>
          <pc:docMk/>
          <pc:sldMk cId="0" sldId="268"/>
        </pc:sldMkLst>
      </pc:sldChg>
      <pc:sldChg chg="del">
        <pc:chgData name="Alsadakah, Dani" userId="S::dani.alsadakah@study.hs-duesseldorf.de::15295a0b-9586-497d-a928-44476d0b7c74" providerId="AD" clId="Web-{08402464-91AE-2766-7E9A-2A5037A9550D}" dt="2026-07-07T15:47:37.628" v="8"/>
        <pc:sldMkLst>
          <pc:docMk/>
          <pc:sldMk cId="1886788644" sldId="271"/>
        </pc:sldMkLst>
      </pc:sldChg>
      <pc:sldChg chg="del">
        <pc:chgData name="Alsadakah, Dani" userId="S::dani.alsadakah@study.hs-duesseldorf.de::15295a0b-9586-497d-a928-44476d0b7c74" providerId="AD" clId="Web-{08402464-91AE-2766-7E9A-2A5037A9550D}" dt="2026-07-07T15:47:39.050" v="9"/>
        <pc:sldMkLst>
          <pc:docMk/>
          <pc:sldMk cId="1578292816" sldId="272"/>
        </pc:sldMkLst>
      </pc:sldChg>
      <pc:sldChg chg="del">
        <pc:chgData name="Alsadakah, Dani" userId="S::dani.alsadakah@study.hs-duesseldorf.de::15295a0b-9586-497d-a928-44476d0b7c74" providerId="AD" clId="Web-{08402464-91AE-2766-7E9A-2A5037A9550D}" dt="2026-07-07T15:47:42.253" v="10"/>
        <pc:sldMkLst>
          <pc:docMk/>
          <pc:sldMk cId="1223668428" sldId="273"/>
        </pc:sldMkLst>
      </pc:sldChg>
      <pc:sldChg chg="del">
        <pc:chgData name="Alsadakah, Dani" userId="S::dani.alsadakah@study.hs-duesseldorf.de::15295a0b-9586-497d-a928-44476d0b7c74" providerId="AD" clId="Web-{08402464-91AE-2766-7E9A-2A5037A9550D}" dt="2026-07-07T15:47:50.785" v="11"/>
        <pc:sldMkLst>
          <pc:docMk/>
          <pc:sldMk cId="2115560912" sldId="274"/>
        </pc:sldMkLst>
      </pc:sldChg>
      <pc:sldChg chg="del">
        <pc:chgData name="Alsadakah, Dani" userId="S::dani.alsadakah@study.hs-duesseldorf.de::15295a0b-9586-497d-a928-44476d0b7c74" providerId="AD" clId="Web-{08402464-91AE-2766-7E9A-2A5037A9550D}" dt="2026-07-07T15:48:01.317" v="12"/>
        <pc:sldMkLst>
          <pc:docMk/>
          <pc:sldMk cId="383527744" sldId="275"/>
        </pc:sldMkLst>
      </pc:sldChg>
      <pc:sldChg chg="del">
        <pc:chgData name="Alsadakah, Dani" userId="S::dani.alsadakah@study.hs-duesseldorf.de::15295a0b-9586-497d-a928-44476d0b7c74" providerId="AD" clId="Web-{08402464-91AE-2766-7E9A-2A5037A9550D}" dt="2026-07-07T15:47:08.625" v="0"/>
        <pc:sldMkLst>
          <pc:docMk/>
          <pc:sldMk cId="2366013441" sldId="327"/>
        </pc:sldMkLst>
      </pc:sldChg>
      <pc:sldChg chg="del">
        <pc:chgData name="Alsadakah, Dani" userId="S::dani.alsadakah@study.hs-duesseldorf.de::15295a0b-9586-497d-a928-44476d0b7c74" providerId="AD" clId="Web-{08402464-91AE-2766-7E9A-2A5037A9550D}" dt="2026-07-07T15:47:17.970" v="1"/>
        <pc:sldMkLst>
          <pc:docMk/>
          <pc:sldMk cId="210693046" sldId="329"/>
        </pc:sldMkLst>
      </pc:sldChg>
      <pc:sldChg chg="del">
        <pc:chgData name="Alsadakah, Dani" userId="S::dani.alsadakah@study.hs-duesseldorf.de::15295a0b-9586-497d-a928-44476d0b7c74" providerId="AD" clId="Web-{08402464-91AE-2766-7E9A-2A5037A9550D}" dt="2026-07-07T15:47:25.642" v="2"/>
        <pc:sldMkLst>
          <pc:docMk/>
          <pc:sldMk cId="1623627741" sldId="331"/>
        </pc:sldMkLst>
      </pc:sldChg>
      <pc:sldChg chg="del">
        <pc:chgData name="Alsadakah, Dani" userId="S::dani.alsadakah@study.hs-duesseldorf.de::15295a0b-9586-497d-a928-44476d0b7c74" providerId="AD" clId="Web-{08402464-91AE-2766-7E9A-2A5037A9550D}" dt="2026-07-07T15:47:28.096" v="3"/>
        <pc:sldMkLst>
          <pc:docMk/>
          <pc:sldMk cId="3343851908" sldId="332"/>
        </pc:sldMkLst>
      </pc:sldChg>
      <pc:sldChg chg="del">
        <pc:chgData name="Alsadakah, Dani" userId="S::dani.alsadakah@study.hs-duesseldorf.de::15295a0b-9586-497d-a928-44476d0b7c74" providerId="AD" clId="Web-{08402464-91AE-2766-7E9A-2A5037A9550D}" dt="2026-07-07T15:47:32.612" v="6"/>
        <pc:sldMkLst>
          <pc:docMk/>
          <pc:sldMk cId="1166338838" sldId="333"/>
        </pc:sldMkLst>
      </pc:sldChg>
      <pc:sldChg chg="del">
        <pc:chgData name="Alsadakah, Dani" userId="S::dani.alsadakah@study.hs-duesseldorf.de::15295a0b-9586-497d-a928-44476d0b7c74" providerId="AD" clId="Web-{08402464-91AE-2766-7E9A-2A5037A9550D}" dt="2026-07-07T15:47:29.408" v="4"/>
        <pc:sldMkLst>
          <pc:docMk/>
          <pc:sldMk cId="1073540502" sldId="339"/>
        </pc:sldMkLst>
      </pc:sldChg>
    </pc:docChg>
  </pc:docChgLst>
  <pc:docChgLst>
    <pc:chgData name="Alrihawi, Hamzah" userId="72811587-1dd6-4e7d-a376-efbf6c95deb1" providerId="ADAL" clId="{818931FE-BB6C-4C31-BC7E-67846B9AF0AE}"/>
    <pc:docChg chg="undo custSel addSld delSld modSld sldOrd">
      <pc:chgData name="Alrihawi, Hamzah" userId="72811587-1dd6-4e7d-a376-efbf6c95deb1" providerId="ADAL" clId="{818931FE-BB6C-4C31-BC7E-67846B9AF0AE}" dt="2026-07-08T17:30:22.113" v="486"/>
      <pc:docMkLst>
        <pc:docMk/>
      </pc:docMkLst>
      <pc:sldChg chg="delSp mod">
        <pc:chgData name="Alrihawi, Hamzah" userId="72811587-1dd6-4e7d-a376-efbf6c95deb1" providerId="ADAL" clId="{818931FE-BB6C-4C31-BC7E-67846B9AF0AE}" dt="2026-07-08T17:26:49.646" v="442" actId="478"/>
        <pc:sldMkLst>
          <pc:docMk/>
          <pc:sldMk cId="1321980382" sldId="256"/>
        </pc:sldMkLst>
        <pc:spChg chg="del">
          <ac:chgData name="Alrihawi, Hamzah" userId="72811587-1dd6-4e7d-a376-efbf6c95deb1" providerId="ADAL" clId="{818931FE-BB6C-4C31-BC7E-67846B9AF0AE}" dt="2026-07-08T17:26:46.509" v="440" actId="478"/>
          <ac:spMkLst>
            <pc:docMk/>
            <pc:sldMk cId="1321980382" sldId="256"/>
            <ac:spMk id="9" creationId="{8420D27E-4478-4508-BD4B-D211AE5EF543}"/>
          </ac:spMkLst>
        </pc:spChg>
        <pc:spChg chg="del">
          <ac:chgData name="Alrihawi, Hamzah" userId="72811587-1dd6-4e7d-a376-efbf6c95deb1" providerId="ADAL" clId="{818931FE-BB6C-4C31-BC7E-67846B9AF0AE}" dt="2026-07-08T17:26:49.646" v="442" actId="478"/>
          <ac:spMkLst>
            <pc:docMk/>
            <pc:sldMk cId="1321980382" sldId="256"/>
            <ac:spMk id="10" creationId="{6C079713-21F3-487E-B818-03C6C5ABD5CE}"/>
          </ac:spMkLst>
        </pc:spChg>
        <pc:spChg chg="del">
          <ac:chgData name="Alrihawi, Hamzah" userId="72811587-1dd6-4e7d-a376-efbf6c95deb1" providerId="ADAL" clId="{818931FE-BB6C-4C31-BC7E-67846B9AF0AE}" dt="2026-07-08T17:26:48.280" v="441" actId="478"/>
          <ac:spMkLst>
            <pc:docMk/>
            <pc:sldMk cId="1321980382" sldId="256"/>
            <ac:spMk id="11" creationId="{4BCF3F95-12DE-4462-A57C-2B4E22DE4DCF}"/>
          </ac:spMkLst>
        </pc:spChg>
        <pc:spChg chg="del">
          <ac:chgData name="Alrihawi, Hamzah" userId="72811587-1dd6-4e7d-a376-efbf6c95deb1" providerId="ADAL" clId="{818931FE-BB6C-4C31-BC7E-67846B9AF0AE}" dt="2026-07-08T17:26:45.195" v="439" actId="478"/>
          <ac:spMkLst>
            <pc:docMk/>
            <pc:sldMk cId="1321980382" sldId="256"/>
            <ac:spMk id="12" creationId="{EB492B94-1D00-4A73-85BB-2B3A46967A4C}"/>
          </ac:spMkLst>
        </pc:spChg>
      </pc:sldChg>
      <pc:sldChg chg="delSp mod">
        <pc:chgData name="Alrihawi, Hamzah" userId="72811587-1dd6-4e7d-a376-efbf6c95deb1" providerId="ADAL" clId="{818931FE-BB6C-4C31-BC7E-67846B9AF0AE}" dt="2026-07-04T10:17:24.064" v="18" actId="478"/>
        <pc:sldMkLst>
          <pc:docMk/>
          <pc:sldMk cId="632045277" sldId="282"/>
        </pc:sldMkLst>
      </pc:sldChg>
      <pc:sldChg chg="add del mod modShow">
        <pc:chgData name="Alrihawi, Hamzah" userId="72811587-1dd6-4e7d-a376-efbf6c95deb1" providerId="ADAL" clId="{818931FE-BB6C-4C31-BC7E-67846B9AF0AE}" dt="2026-07-07T16:34:16.929" v="305" actId="47"/>
        <pc:sldMkLst>
          <pc:docMk/>
          <pc:sldMk cId="349171814" sldId="287"/>
        </pc:sldMkLst>
      </pc:sldChg>
      <pc:sldChg chg="add del mod modShow">
        <pc:chgData name="Alrihawi, Hamzah" userId="72811587-1dd6-4e7d-a376-efbf6c95deb1" providerId="ADAL" clId="{818931FE-BB6C-4C31-BC7E-67846B9AF0AE}" dt="2026-07-07T16:34:16.929" v="305" actId="47"/>
        <pc:sldMkLst>
          <pc:docMk/>
          <pc:sldMk cId="1609534428" sldId="288"/>
        </pc:sldMkLst>
      </pc:sldChg>
      <pc:sldChg chg="add del mod modShow">
        <pc:chgData name="Alrihawi, Hamzah" userId="72811587-1dd6-4e7d-a376-efbf6c95deb1" providerId="ADAL" clId="{818931FE-BB6C-4C31-BC7E-67846B9AF0AE}" dt="2026-07-07T16:34:16.929" v="305" actId="47"/>
        <pc:sldMkLst>
          <pc:docMk/>
          <pc:sldMk cId="1258428159" sldId="289"/>
        </pc:sldMkLst>
      </pc:sldChg>
      <pc:sldChg chg="add del mod modShow">
        <pc:chgData name="Alrihawi, Hamzah" userId="72811587-1dd6-4e7d-a376-efbf6c95deb1" providerId="ADAL" clId="{818931FE-BB6C-4C31-BC7E-67846B9AF0AE}" dt="2026-07-07T16:34:16.929" v="305" actId="47"/>
        <pc:sldMkLst>
          <pc:docMk/>
          <pc:sldMk cId="1707331297" sldId="290"/>
        </pc:sldMkLst>
      </pc:sldChg>
      <pc:sldChg chg="add del mod modShow">
        <pc:chgData name="Alrihawi, Hamzah" userId="72811587-1dd6-4e7d-a376-efbf6c95deb1" providerId="ADAL" clId="{818931FE-BB6C-4C31-BC7E-67846B9AF0AE}" dt="2026-07-07T16:34:16.929" v="305" actId="47"/>
        <pc:sldMkLst>
          <pc:docMk/>
          <pc:sldMk cId="1330503874" sldId="291"/>
        </pc:sldMkLst>
      </pc:sldChg>
      <pc:sldChg chg="add del mod modShow">
        <pc:chgData name="Alrihawi, Hamzah" userId="72811587-1dd6-4e7d-a376-efbf6c95deb1" providerId="ADAL" clId="{818931FE-BB6C-4C31-BC7E-67846B9AF0AE}" dt="2026-07-07T16:34:16.929" v="305" actId="47"/>
        <pc:sldMkLst>
          <pc:docMk/>
          <pc:sldMk cId="1999955470" sldId="292"/>
        </pc:sldMkLst>
      </pc:sldChg>
      <pc:sldChg chg="modSp add del mod modShow">
        <pc:chgData name="Alrihawi, Hamzah" userId="72811587-1dd6-4e7d-a376-efbf6c95deb1" providerId="ADAL" clId="{818931FE-BB6C-4C31-BC7E-67846B9AF0AE}" dt="2026-07-07T16:34:16.929" v="305" actId="47"/>
        <pc:sldMkLst>
          <pc:docMk/>
          <pc:sldMk cId="410525373" sldId="293"/>
        </pc:sldMkLst>
      </pc:sldChg>
      <pc:sldChg chg="modSp add del mod modShow">
        <pc:chgData name="Alrihawi, Hamzah" userId="72811587-1dd6-4e7d-a376-efbf6c95deb1" providerId="ADAL" clId="{818931FE-BB6C-4C31-BC7E-67846B9AF0AE}" dt="2026-07-07T16:34:16.929" v="305" actId="47"/>
        <pc:sldMkLst>
          <pc:docMk/>
          <pc:sldMk cId="874994331" sldId="295"/>
        </pc:sldMkLst>
      </pc:sldChg>
      <pc:sldChg chg="modSp add del mod modShow">
        <pc:chgData name="Alrihawi, Hamzah" userId="72811587-1dd6-4e7d-a376-efbf6c95deb1" providerId="ADAL" clId="{818931FE-BB6C-4C31-BC7E-67846B9AF0AE}" dt="2026-07-07T16:34:16.929" v="305" actId="47"/>
        <pc:sldMkLst>
          <pc:docMk/>
          <pc:sldMk cId="1955383369" sldId="296"/>
        </pc:sldMkLst>
      </pc:sldChg>
      <pc:sldChg chg="add del mod modShow">
        <pc:chgData name="Alrihawi, Hamzah" userId="72811587-1dd6-4e7d-a376-efbf6c95deb1" providerId="ADAL" clId="{818931FE-BB6C-4C31-BC7E-67846B9AF0AE}" dt="2026-07-07T16:34:16.929" v="305" actId="47"/>
        <pc:sldMkLst>
          <pc:docMk/>
          <pc:sldMk cId="1211645628" sldId="297"/>
        </pc:sldMkLst>
      </pc:sldChg>
      <pc:sldChg chg="modSp add del mod modShow">
        <pc:chgData name="Alrihawi, Hamzah" userId="72811587-1dd6-4e7d-a376-efbf6c95deb1" providerId="ADAL" clId="{818931FE-BB6C-4C31-BC7E-67846B9AF0AE}" dt="2026-07-07T16:34:16.929" v="305" actId="47"/>
        <pc:sldMkLst>
          <pc:docMk/>
          <pc:sldMk cId="1860137805" sldId="335"/>
        </pc:sldMkLst>
      </pc:sldChg>
      <pc:sldChg chg="delSp modSp add mod">
        <pc:chgData name="Alrihawi, Hamzah" userId="72811587-1dd6-4e7d-a376-efbf6c95deb1" providerId="ADAL" clId="{818931FE-BB6C-4C31-BC7E-67846B9AF0AE}" dt="2026-07-08T17:29:38.651" v="464" actId="20577"/>
        <pc:sldMkLst>
          <pc:docMk/>
          <pc:sldMk cId="4024034768" sldId="357"/>
        </pc:sldMkLst>
        <pc:spChg chg="mod">
          <ac:chgData name="Alrihawi, Hamzah" userId="72811587-1dd6-4e7d-a376-efbf6c95deb1" providerId="ADAL" clId="{818931FE-BB6C-4C31-BC7E-67846B9AF0AE}" dt="2026-07-07T16:15:03.276" v="21" actId="108"/>
          <ac:spMkLst>
            <pc:docMk/>
            <pc:sldMk cId="4024034768" sldId="357"/>
            <ac:spMk id="4" creationId="{8E67F757-56C7-4967-A890-0CFB29D44071}"/>
          </ac:spMkLst>
        </pc:spChg>
        <pc:spChg chg="mod">
          <ac:chgData name="Alrihawi, Hamzah" userId="72811587-1dd6-4e7d-a376-efbf6c95deb1" providerId="ADAL" clId="{818931FE-BB6C-4C31-BC7E-67846B9AF0AE}" dt="2026-07-07T16:24:46.142" v="53" actId="255"/>
          <ac:spMkLst>
            <pc:docMk/>
            <pc:sldMk cId="4024034768" sldId="357"/>
            <ac:spMk id="5" creationId="{0C763536-EBF9-4C91-B2EF-DA536951996B}"/>
          </ac:spMkLst>
        </pc:spChg>
        <pc:spChg chg="del mod">
          <ac:chgData name="Alrihawi, Hamzah" userId="72811587-1dd6-4e7d-a376-efbf6c95deb1" providerId="ADAL" clId="{818931FE-BB6C-4C31-BC7E-67846B9AF0AE}" dt="2026-07-07T16:31:11.815" v="288" actId="478"/>
          <ac:spMkLst>
            <pc:docMk/>
            <pc:sldMk cId="4024034768" sldId="357"/>
            <ac:spMk id="19" creationId="{EE0EF22E-6BD9-4174-882F-8DAFBC66BB0C}"/>
          </ac:spMkLst>
        </pc:spChg>
        <pc:spChg chg="del">
          <ac:chgData name="Alrihawi, Hamzah" userId="72811587-1dd6-4e7d-a376-efbf6c95deb1" providerId="ADAL" clId="{818931FE-BB6C-4C31-BC7E-67846B9AF0AE}" dt="2026-07-07T16:31:11.815" v="288" actId="478"/>
          <ac:spMkLst>
            <pc:docMk/>
            <pc:sldMk cId="4024034768" sldId="357"/>
            <ac:spMk id="20" creationId="{017E7493-3D1C-48C7-AE99-C576B35E3CE1}"/>
          </ac:spMkLst>
        </pc:spChg>
        <pc:spChg chg="del">
          <ac:chgData name="Alrihawi, Hamzah" userId="72811587-1dd6-4e7d-a376-efbf6c95deb1" providerId="ADAL" clId="{818931FE-BB6C-4C31-BC7E-67846B9AF0AE}" dt="2026-07-07T16:31:11.815" v="288" actId="478"/>
          <ac:spMkLst>
            <pc:docMk/>
            <pc:sldMk cId="4024034768" sldId="357"/>
            <ac:spMk id="21" creationId="{4327C67A-A52B-4020-95D9-80D497A738ED}"/>
          </ac:spMkLst>
        </pc:spChg>
        <pc:spChg chg="mod">
          <ac:chgData name="Alrihawi, Hamzah" userId="72811587-1dd6-4e7d-a376-efbf6c95deb1" providerId="ADAL" clId="{818931FE-BB6C-4C31-BC7E-67846B9AF0AE}" dt="2026-07-08T17:29:38.651" v="464" actId="20577"/>
          <ac:spMkLst>
            <pc:docMk/>
            <pc:sldMk cId="4024034768" sldId="357"/>
            <ac:spMk id="22" creationId="{1FCBE956-3757-4295-8135-72C3F87B340E}"/>
          </ac:spMkLst>
        </pc:spChg>
        <pc:spChg chg="del mod">
          <ac:chgData name="Alrihawi, Hamzah" userId="72811587-1dd6-4e7d-a376-efbf6c95deb1" providerId="ADAL" clId="{818931FE-BB6C-4C31-BC7E-67846B9AF0AE}" dt="2026-07-07T16:28:59.282" v="229" actId="478"/>
          <ac:spMkLst>
            <pc:docMk/>
            <pc:sldMk cId="4024034768" sldId="357"/>
            <ac:spMk id="24" creationId="{6F8F077A-DE29-4372-A6E3-7C43ACACBC19}"/>
          </ac:spMkLst>
        </pc:spChg>
      </pc:sldChg>
      <pc:sldChg chg="addSp delSp modSp add mod">
        <pc:chgData name="Alrihawi, Hamzah" userId="72811587-1dd6-4e7d-a376-efbf6c95deb1" providerId="ADAL" clId="{818931FE-BB6C-4C31-BC7E-67846B9AF0AE}" dt="2026-07-08T17:29:45.868" v="466"/>
        <pc:sldMkLst>
          <pc:docMk/>
          <pc:sldMk cId="2715775729" sldId="358"/>
        </pc:sldMkLst>
        <pc:spChg chg="mod">
          <ac:chgData name="Alrihawi, Hamzah" userId="72811587-1dd6-4e7d-a376-efbf6c95deb1" providerId="ADAL" clId="{818931FE-BB6C-4C31-BC7E-67846B9AF0AE}" dt="2026-07-07T16:15:14.635" v="22" actId="108"/>
          <ac:spMkLst>
            <pc:docMk/>
            <pc:sldMk cId="2715775729" sldId="358"/>
            <ac:spMk id="4" creationId="{65F0A488-CCB3-4FBF-AB83-3D225299C38F}"/>
          </ac:spMkLst>
        </pc:spChg>
        <pc:spChg chg="mod">
          <ac:chgData name="Alrihawi, Hamzah" userId="72811587-1dd6-4e7d-a376-efbf6c95deb1" providerId="ADAL" clId="{818931FE-BB6C-4C31-BC7E-67846B9AF0AE}" dt="2026-07-07T16:25:50.854" v="111" actId="1035"/>
          <ac:spMkLst>
            <pc:docMk/>
            <pc:sldMk cId="2715775729" sldId="358"/>
            <ac:spMk id="5" creationId="{4C6322EC-32E0-4236-8361-6D5CF1D77017}"/>
          </ac:spMkLst>
        </pc:spChg>
        <pc:spChg chg="del">
          <ac:chgData name="Alrihawi, Hamzah" userId="72811587-1dd6-4e7d-a376-efbf6c95deb1" providerId="ADAL" clId="{818931FE-BB6C-4C31-BC7E-67846B9AF0AE}" dt="2026-07-07T16:31:06.759" v="287" actId="478"/>
          <ac:spMkLst>
            <pc:docMk/>
            <pc:sldMk cId="2715775729" sldId="358"/>
            <ac:spMk id="27" creationId="{65E78E8A-02DE-4B29-847D-CA9B86446308}"/>
          </ac:spMkLst>
        </pc:spChg>
        <pc:spChg chg="del">
          <ac:chgData name="Alrihawi, Hamzah" userId="72811587-1dd6-4e7d-a376-efbf6c95deb1" providerId="ADAL" clId="{818931FE-BB6C-4C31-BC7E-67846B9AF0AE}" dt="2026-07-07T16:31:06.759" v="287" actId="478"/>
          <ac:spMkLst>
            <pc:docMk/>
            <pc:sldMk cId="2715775729" sldId="358"/>
            <ac:spMk id="28" creationId="{9FAFDDBF-9464-44EE-AB94-409816E95D4C}"/>
          </ac:spMkLst>
        </pc:spChg>
        <pc:spChg chg="del">
          <ac:chgData name="Alrihawi, Hamzah" userId="72811587-1dd6-4e7d-a376-efbf6c95deb1" providerId="ADAL" clId="{818931FE-BB6C-4C31-BC7E-67846B9AF0AE}" dt="2026-07-07T16:31:06.759" v="287" actId="478"/>
          <ac:spMkLst>
            <pc:docMk/>
            <pc:sldMk cId="2715775729" sldId="358"/>
            <ac:spMk id="29" creationId="{22DC05E9-3835-47CA-8319-3F08A0C63CBC}"/>
          </ac:spMkLst>
        </pc:spChg>
        <pc:spChg chg="del">
          <ac:chgData name="Alrihawi, Hamzah" userId="72811587-1dd6-4e7d-a376-efbf6c95deb1" providerId="ADAL" clId="{818931FE-BB6C-4C31-BC7E-67846B9AF0AE}" dt="2026-07-08T17:29:45.616" v="465" actId="478"/>
          <ac:spMkLst>
            <pc:docMk/>
            <pc:sldMk cId="2715775729" sldId="358"/>
            <ac:spMk id="30" creationId="{200DC0A8-5190-4241-9963-A25E517DAE5A}"/>
          </ac:spMkLst>
        </pc:spChg>
        <pc:spChg chg="del mod">
          <ac:chgData name="Alrihawi, Hamzah" userId="72811587-1dd6-4e7d-a376-efbf6c95deb1" providerId="ADAL" clId="{818931FE-BB6C-4C31-BC7E-67846B9AF0AE}" dt="2026-07-07T16:28:53.995" v="228" actId="478"/>
          <ac:spMkLst>
            <pc:docMk/>
            <pc:sldMk cId="2715775729" sldId="358"/>
            <ac:spMk id="32" creationId="{E61374B0-46E9-40C2-94EB-71512E6451EF}"/>
          </ac:spMkLst>
        </pc:spChg>
        <pc:spChg chg="add mod">
          <ac:chgData name="Alrihawi, Hamzah" userId="72811587-1dd6-4e7d-a376-efbf6c95deb1" providerId="ADAL" clId="{818931FE-BB6C-4C31-BC7E-67846B9AF0AE}" dt="2026-07-08T17:29:45.868" v="466"/>
          <ac:spMkLst>
            <pc:docMk/>
            <pc:sldMk cId="2715775729" sldId="358"/>
            <ac:spMk id="33" creationId="{7786DA95-FAE3-F4E4-9F31-6DDB4A048F6E}"/>
          </ac:spMkLst>
        </pc:spChg>
      </pc:sldChg>
      <pc:sldChg chg="addSp delSp modSp add mod">
        <pc:chgData name="Alrihawi, Hamzah" userId="72811587-1dd6-4e7d-a376-efbf6c95deb1" providerId="ADAL" clId="{818931FE-BB6C-4C31-BC7E-67846B9AF0AE}" dt="2026-07-08T17:29:49.068" v="468"/>
        <pc:sldMkLst>
          <pc:docMk/>
          <pc:sldMk cId="3569709768" sldId="359"/>
        </pc:sldMkLst>
        <pc:spChg chg="mod">
          <ac:chgData name="Alrihawi, Hamzah" userId="72811587-1dd6-4e7d-a376-efbf6c95deb1" providerId="ADAL" clId="{818931FE-BB6C-4C31-BC7E-67846B9AF0AE}" dt="2026-07-07T16:15:20.943" v="23" actId="108"/>
          <ac:spMkLst>
            <pc:docMk/>
            <pc:sldMk cId="3569709768" sldId="359"/>
            <ac:spMk id="4" creationId="{48795E6B-973F-4209-8758-6ACE7E7D7EE0}"/>
          </ac:spMkLst>
        </pc:spChg>
        <pc:spChg chg="mod">
          <ac:chgData name="Alrihawi, Hamzah" userId="72811587-1dd6-4e7d-a376-efbf6c95deb1" providerId="ADAL" clId="{818931FE-BB6C-4C31-BC7E-67846B9AF0AE}" dt="2026-07-07T16:25:43.364" v="97" actId="1035"/>
          <ac:spMkLst>
            <pc:docMk/>
            <pc:sldMk cId="3569709768" sldId="359"/>
            <ac:spMk id="5" creationId="{994BC4FF-E2A2-4461-9427-83F7738D467A}"/>
          </ac:spMkLst>
        </pc:spChg>
        <pc:spChg chg="del">
          <ac:chgData name="Alrihawi, Hamzah" userId="72811587-1dd6-4e7d-a376-efbf6c95deb1" providerId="ADAL" clId="{818931FE-BB6C-4C31-BC7E-67846B9AF0AE}" dt="2026-07-07T16:31:01.740" v="286" actId="478"/>
          <ac:spMkLst>
            <pc:docMk/>
            <pc:sldMk cId="3569709768" sldId="359"/>
            <ac:spMk id="17" creationId="{C8C3ADAF-E9C8-446E-A421-EB5BB8A2057F}"/>
          </ac:spMkLst>
        </pc:spChg>
        <pc:spChg chg="del">
          <ac:chgData name="Alrihawi, Hamzah" userId="72811587-1dd6-4e7d-a376-efbf6c95deb1" providerId="ADAL" clId="{818931FE-BB6C-4C31-BC7E-67846B9AF0AE}" dt="2026-07-07T16:31:01.740" v="286" actId="478"/>
          <ac:spMkLst>
            <pc:docMk/>
            <pc:sldMk cId="3569709768" sldId="359"/>
            <ac:spMk id="18" creationId="{90E7C64C-F194-4D06-B4BF-E20BD94EC781}"/>
          </ac:spMkLst>
        </pc:spChg>
        <pc:spChg chg="del">
          <ac:chgData name="Alrihawi, Hamzah" userId="72811587-1dd6-4e7d-a376-efbf6c95deb1" providerId="ADAL" clId="{818931FE-BB6C-4C31-BC7E-67846B9AF0AE}" dt="2026-07-07T16:31:01.740" v="286" actId="478"/>
          <ac:spMkLst>
            <pc:docMk/>
            <pc:sldMk cId="3569709768" sldId="359"/>
            <ac:spMk id="19" creationId="{F724BB40-B551-4BAE-B383-F09DCA5308E8}"/>
          </ac:spMkLst>
        </pc:spChg>
        <pc:spChg chg="del">
          <ac:chgData name="Alrihawi, Hamzah" userId="72811587-1dd6-4e7d-a376-efbf6c95deb1" providerId="ADAL" clId="{818931FE-BB6C-4C31-BC7E-67846B9AF0AE}" dt="2026-07-08T17:29:48.804" v="467" actId="478"/>
          <ac:spMkLst>
            <pc:docMk/>
            <pc:sldMk cId="3569709768" sldId="359"/>
            <ac:spMk id="20" creationId="{1AAC6DF3-5721-49FE-B995-892F6681D272}"/>
          </ac:spMkLst>
        </pc:spChg>
        <pc:spChg chg="del">
          <ac:chgData name="Alrihawi, Hamzah" userId="72811587-1dd6-4e7d-a376-efbf6c95deb1" providerId="ADAL" clId="{818931FE-BB6C-4C31-BC7E-67846B9AF0AE}" dt="2026-07-07T16:28:48.068" v="227" actId="478"/>
          <ac:spMkLst>
            <pc:docMk/>
            <pc:sldMk cId="3569709768" sldId="359"/>
            <ac:spMk id="22" creationId="{54693036-B9DB-4D53-9A53-48F8E28F3BC9}"/>
          </ac:spMkLst>
        </pc:spChg>
        <pc:spChg chg="add mod">
          <ac:chgData name="Alrihawi, Hamzah" userId="72811587-1dd6-4e7d-a376-efbf6c95deb1" providerId="ADAL" clId="{818931FE-BB6C-4C31-BC7E-67846B9AF0AE}" dt="2026-07-08T17:29:49.068" v="468"/>
          <ac:spMkLst>
            <pc:docMk/>
            <pc:sldMk cId="3569709768" sldId="359"/>
            <ac:spMk id="23" creationId="{F73672BE-6B61-0869-9349-9E1CF413BD43}"/>
          </ac:spMkLst>
        </pc:spChg>
      </pc:sldChg>
      <pc:sldChg chg="delSp modSp add del mod">
        <pc:chgData name="Alrihawi, Hamzah" userId="72811587-1dd6-4e7d-a376-efbf6c95deb1" providerId="ADAL" clId="{818931FE-BB6C-4C31-BC7E-67846B9AF0AE}" dt="2026-07-08T17:23:59.428" v="438" actId="47"/>
        <pc:sldMkLst>
          <pc:docMk/>
          <pc:sldMk cId="1438425356" sldId="360"/>
        </pc:sldMkLst>
        <pc:spChg chg="mod">
          <ac:chgData name="Alrihawi, Hamzah" userId="72811587-1dd6-4e7d-a376-efbf6c95deb1" providerId="ADAL" clId="{818931FE-BB6C-4C31-BC7E-67846B9AF0AE}" dt="2026-07-07T16:15:27.695" v="24" actId="108"/>
          <ac:spMkLst>
            <pc:docMk/>
            <pc:sldMk cId="1438425356" sldId="360"/>
            <ac:spMk id="4" creationId="{AAD55B66-96F0-40BE-B407-D83485DCB7F6}"/>
          </ac:spMkLst>
        </pc:spChg>
        <pc:spChg chg="mod">
          <ac:chgData name="Alrihawi, Hamzah" userId="72811587-1dd6-4e7d-a376-efbf6c95deb1" providerId="ADAL" clId="{818931FE-BB6C-4C31-BC7E-67846B9AF0AE}" dt="2026-07-07T16:25:30.542" v="73" actId="1035"/>
          <ac:spMkLst>
            <pc:docMk/>
            <pc:sldMk cId="1438425356" sldId="360"/>
            <ac:spMk id="5" creationId="{459D872A-72FC-448D-87F6-AF578409C11F}"/>
          </ac:spMkLst>
        </pc:spChg>
        <pc:spChg chg="mod">
          <ac:chgData name="Alrihawi, Hamzah" userId="72811587-1dd6-4e7d-a376-efbf6c95deb1" providerId="ADAL" clId="{818931FE-BB6C-4C31-BC7E-67846B9AF0AE}" dt="2026-07-07T19:11:21.441" v="350" actId="1038"/>
          <ac:spMkLst>
            <pc:docMk/>
            <pc:sldMk cId="1438425356" sldId="360"/>
            <ac:spMk id="6" creationId="{216DBA01-7314-4B63-B74D-8B972166ABCC}"/>
          </ac:spMkLst>
        </pc:spChg>
        <pc:spChg chg="mod">
          <ac:chgData name="Alrihawi, Hamzah" userId="72811587-1dd6-4e7d-a376-efbf6c95deb1" providerId="ADAL" clId="{818931FE-BB6C-4C31-BC7E-67846B9AF0AE}" dt="2026-07-07T19:11:21.441" v="350" actId="1038"/>
          <ac:spMkLst>
            <pc:docMk/>
            <pc:sldMk cId="1438425356" sldId="360"/>
            <ac:spMk id="7" creationId="{69E660B6-5DFD-444C-A843-D5AD4F10A7D5}"/>
          </ac:spMkLst>
        </pc:spChg>
        <pc:spChg chg="mod">
          <ac:chgData name="Alrihawi, Hamzah" userId="72811587-1dd6-4e7d-a376-efbf6c95deb1" providerId="ADAL" clId="{818931FE-BB6C-4C31-BC7E-67846B9AF0AE}" dt="2026-07-07T19:11:21.441" v="350" actId="1038"/>
          <ac:spMkLst>
            <pc:docMk/>
            <pc:sldMk cId="1438425356" sldId="360"/>
            <ac:spMk id="8" creationId="{239E6B5C-AC49-45D2-ABF9-F61C17CCFA9D}"/>
          </ac:spMkLst>
        </pc:spChg>
        <pc:spChg chg="mod">
          <ac:chgData name="Alrihawi, Hamzah" userId="72811587-1dd6-4e7d-a376-efbf6c95deb1" providerId="ADAL" clId="{818931FE-BB6C-4C31-BC7E-67846B9AF0AE}" dt="2026-07-07T19:11:21.441" v="350" actId="1038"/>
          <ac:spMkLst>
            <pc:docMk/>
            <pc:sldMk cId="1438425356" sldId="360"/>
            <ac:spMk id="9" creationId="{90E043B9-6F97-46B0-B119-D9AC69B0FEEC}"/>
          </ac:spMkLst>
        </pc:spChg>
        <pc:spChg chg="mod">
          <ac:chgData name="Alrihawi, Hamzah" userId="72811587-1dd6-4e7d-a376-efbf6c95deb1" providerId="ADAL" clId="{818931FE-BB6C-4C31-BC7E-67846B9AF0AE}" dt="2026-07-07T19:11:21.441" v="350" actId="1038"/>
          <ac:spMkLst>
            <pc:docMk/>
            <pc:sldMk cId="1438425356" sldId="360"/>
            <ac:spMk id="10" creationId="{E3C400EC-66BC-4A53-85A7-C22527D3DD0F}"/>
          </ac:spMkLst>
        </pc:spChg>
        <pc:spChg chg="mod">
          <ac:chgData name="Alrihawi, Hamzah" userId="72811587-1dd6-4e7d-a376-efbf6c95deb1" providerId="ADAL" clId="{818931FE-BB6C-4C31-BC7E-67846B9AF0AE}" dt="2026-07-07T19:11:21.441" v="350" actId="1038"/>
          <ac:spMkLst>
            <pc:docMk/>
            <pc:sldMk cId="1438425356" sldId="360"/>
            <ac:spMk id="11" creationId="{0D1E9E44-AF6A-4906-A8AF-58717558C49A}"/>
          </ac:spMkLst>
        </pc:spChg>
        <pc:spChg chg="mod">
          <ac:chgData name="Alrihawi, Hamzah" userId="72811587-1dd6-4e7d-a376-efbf6c95deb1" providerId="ADAL" clId="{818931FE-BB6C-4C31-BC7E-67846B9AF0AE}" dt="2026-07-07T19:11:21.441" v="350" actId="1038"/>
          <ac:spMkLst>
            <pc:docMk/>
            <pc:sldMk cId="1438425356" sldId="360"/>
            <ac:spMk id="12" creationId="{07CEA9A8-A746-4BE2-9F7D-F79AD3610108}"/>
          </ac:spMkLst>
        </pc:spChg>
        <pc:spChg chg="mod">
          <ac:chgData name="Alrihawi, Hamzah" userId="72811587-1dd6-4e7d-a376-efbf6c95deb1" providerId="ADAL" clId="{818931FE-BB6C-4C31-BC7E-67846B9AF0AE}" dt="2026-07-07T19:11:21.441" v="350" actId="1038"/>
          <ac:spMkLst>
            <pc:docMk/>
            <pc:sldMk cId="1438425356" sldId="360"/>
            <ac:spMk id="13" creationId="{77FB6890-C2EA-4638-A047-FC36C555FEB9}"/>
          </ac:spMkLst>
        </pc:spChg>
        <pc:spChg chg="mod">
          <ac:chgData name="Alrihawi, Hamzah" userId="72811587-1dd6-4e7d-a376-efbf6c95deb1" providerId="ADAL" clId="{818931FE-BB6C-4C31-BC7E-67846B9AF0AE}" dt="2026-07-07T19:11:21.441" v="350" actId="1038"/>
          <ac:spMkLst>
            <pc:docMk/>
            <pc:sldMk cId="1438425356" sldId="360"/>
            <ac:spMk id="14" creationId="{2F5CAF14-EFF0-4F89-B34A-20DC1BB9F414}"/>
          </ac:spMkLst>
        </pc:spChg>
        <pc:spChg chg="del">
          <ac:chgData name="Alrihawi, Hamzah" userId="72811587-1dd6-4e7d-a376-efbf6c95deb1" providerId="ADAL" clId="{818931FE-BB6C-4C31-BC7E-67846B9AF0AE}" dt="2026-07-07T16:30:56.633" v="285" actId="478"/>
          <ac:spMkLst>
            <pc:docMk/>
            <pc:sldMk cId="1438425356" sldId="360"/>
            <ac:spMk id="15" creationId="{6C0191EF-9AB5-49BB-84CB-4098B3170261}"/>
          </ac:spMkLst>
        </pc:spChg>
        <pc:spChg chg="del">
          <ac:chgData name="Alrihawi, Hamzah" userId="72811587-1dd6-4e7d-a376-efbf6c95deb1" providerId="ADAL" clId="{818931FE-BB6C-4C31-BC7E-67846B9AF0AE}" dt="2026-07-07T16:30:56.633" v="285" actId="478"/>
          <ac:spMkLst>
            <pc:docMk/>
            <pc:sldMk cId="1438425356" sldId="360"/>
            <ac:spMk id="16" creationId="{21F817DC-F4D4-44C6-8EE4-C66C2D93DCB7}"/>
          </ac:spMkLst>
        </pc:spChg>
        <pc:spChg chg="del">
          <ac:chgData name="Alrihawi, Hamzah" userId="72811587-1dd6-4e7d-a376-efbf6c95deb1" providerId="ADAL" clId="{818931FE-BB6C-4C31-BC7E-67846B9AF0AE}" dt="2026-07-07T16:30:56.633" v="285" actId="478"/>
          <ac:spMkLst>
            <pc:docMk/>
            <pc:sldMk cId="1438425356" sldId="360"/>
            <ac:spMk id="17" creationId="{BAE84667-1CD8-4F54-897E-A4EC296BC4E8}"/>
          </ac:spMkLst>
        </pc:spChg>
        <pc:spChg chg="del">
          <ac:chgData name="Alrihawi, Hamzah" userId="72811587-1dd6-4e7d-a376-efbf6c95deb1" providerId="ADAL" clId="{818931FE-BB6C-4C31-BC7E-67846B9AF0AE}" dt="2026-07-07T16:28:44.036" v="226" actId="478"/>
          <ac:spMkLst>
            <pc:docMk/>
            <pc:sldMk cId="1438425356" sldId="360"/>
            <ac:spMk id="20" creationId="{EA82B33C-B2D8-445F-BF40-722D25020888}"/>
          </ac:spMkLst>
        </pc:spChg>
      </pc:sldChg>
      <pc:sldChg chg="addSp delSp modSp add mod">
        <pc:chgData name="Alrihawi, Hamzah" userId="72811587-1dd6-4e7d-a376-efbf6c95deb1" providerId="ADAL" clId="{818931FE-BB6C-4C31-BC7E-67846B9AF0AE}" dt="2026-07-08T17:29:59.062" v="473"/>
        <pc:sldMkLst>
          <pc:docMk/>
          <pc:sldMk cId="1147123217" sldId="361"/>
        </pc:sldMkLst>
        <pc:spChg chg="mod">
          <ac:chgData name="Alrihawi, Hamzah" userId="72811587-1dd6-4e7d-a376-efbf6c95deb1" providerId="ADAL" clId="{818931FE-BB6C-4C31-BC7E-67846B9AF0AE}" dt="2026-07-07T16:15:32.714" v="25" actId="108"/>
          <ac:spMkLst>
            <pc:docMk/>
            <pc:sldMk cId="1147123217" sldId="361"/>
            <ac:spMk id="4" creationId="{AE93EA1A-6CA8-4AC3-82CE-9402A1912105}"/>
          </ac:spMkLst>
        </pc:spChg>
        <pc:spChg chg="mod">
          <ac:chgData name="Alrihawi, Hamzah" userId="72811587-1dd6-4e7d-a376-efbf6c95deb1" providerId="ADAL" clId="{818931FE-BB6C-4C31-BC7E-67846B9AF0AE}" dt="2026-07-07T16:26:09.286" v="128" actId="1036"/>
          <ac:spMkLst>
            <pc:docMk/>
            <pc:sldMk cId="1147123217" sldId="361"/>
            <ac:spMk id="5" creationId="{F8691F0B-184B-4DD5-82C7-3FC0F4CA2AAC}"/>
          </ac:spMkLst>
        </pc:spChg>
        <pc:spChg chg="del">
          <ac:chgData name="Alrihawi, Hamzah" userId="72811587-1dd6-4e7d-a376-efbf6c95deb1" providerId="ADAL" clId="{818931FE-BB6C-4C31-BC7E-67846B9AF0AE}" dt="2026-07-07T16:30:50.585" v="284" actId="478"/>
          <ac:spMkLst>
            <pc:docMk/>
            <pc:sldMk cId="1147123217" sldId="361"/>
            <ac:spMk id="26" creationId="{04BD6936-F3B8-4478-9DAF-9F028316EFA2}"/>
          </ac:spMkLst>
        </pc:spChg>
        <pc:spChg chg="del">
          <ac:chgData name="Alrihawi, Hamzah" userId="72811587-1dd6-4e7d-a376-efbf6c95deb1" providerId="ADAL" clId="{818931FE-BB6C-4C31-BC7E-67846B9AF0AE}" dt="2026-07-07T16:30:50.585" v="284" actId="478"/>
          <ac:spMkLst>
            <pc:docMk/>
            <pc:sldMk cId="1147123217" sldId="361"/>
            <ac:spMk id="27" creationId="{2A8D2B66-2672-47CA-804A-480190C2D530}"/>
          </ac:spMkLst>
        </pc:spChg>
        <pc:spChg chg="del">
          <ac:chgData name="Alrihawi, Hamzah" userId="72811587-1dd6-4e7d-a376-efbf6c95deb1" providerId="ADAL" clId="{818931FE-BB6C-4C31-BC7E-67846B9AF0AE}" dt="2026-07-07T16:30:50.585" v="284" actId="478"/>
          <ac:spMkLst>
            <pc:docMk/>
            <pc:sldMk cId="1147123217" sldId="361"/>
            <ac:spMk id="28" creationId="{36CA28A4-0926-4875-9152-9B5ABCD47AB8}"/>
          </ac:spMkLst>
        </pc:spChg>
        <pc:spChg chg="del">
          <ac:chgData name="Alrihawi, Hamzah" userId="72811587-1dd6-4e7d-a376-efbf6c95deb1" providerId="ADAL" clId="{818931FE-BB6C-4C31-BC7E-67846B9AF0AE}" dt="2026-07-08T17:29:58.756" v="472" actId="478"/>
          <ac:spMkLst>
            <pc:docMk/>
            <pc:sldMk cId="1147123217" sldId="361"/>
            <ac:spMk id="29" creationId="{79BB6601-C4DE-464C-81AC-6A35E3644B68}"/>
          </ac:spMkLst>
        </pc:spChg>
        <pc:spChg chg="del">
          <ac:chgData name="Alrihawi, Hamzah" userId="72811587-1dd6-4e7d-a376-efbf6c95deb1" providerId="ADAL" clId="{818931FE-BB6C-4C31-BC7E-67846B9AF0AE}" dt="2026-07-07T16:28:40.805" v="225" actId="478"/>
          <ac:spMkLst>
            <pc:docMk/>
            <pc:sldMk cId="1147123217" sldId="361"/>
            <ac:spMk id="31" creationId="{EAC00C14-2D71-4E77-85BB-FBFB7E12B744}"/>
          </ac:spMkLst>
        </pc:spChg>
        <pc:spChg chg="add mod">
          <ac:chgData name="Alrihawi, Hamzah" userId="72811587-1dd6-4e7d-a376-efbf6c95deb1" providerId="ADAL" clId="{818931FE-BB6C-4C31-BC7E-67846B9AF0AE}" dt="2026-07-08T17:29:59.062" v="473"/>
          <ac:spMkLst>
            <pc:docMk/>
            <pc:sldMk cId="1147123217" sldId="361"/>
            <ac:spMk id="32" creationId="{FDA63D6B-DA69-9066-E815-73CB7525E9CA}"/>
          </ac:spMkLst>
        </pc:spChg>
      </pc:sldChg>
      <pc:sldChg chg="delSp modSp add del mod">
        <pc:chgData name="Alrihawi, Hamzah" userId="72811587-1dd6-4e7d-a376-efbf6c95deb1" providerId="ADAL" clId="{818931FE-BB6C-4C31-BC7E-67846B9AF0AE}" dt="2026-07-08T17:23:40.958" v="436" actId="47"/>
        <pc:sldMkLst>
          <pc:docMk/>
          <pc:sldMk cId="2374235558" sldId="362"/>
        </pc:sldMkLst>
        <pc:spChg chg="mod">
          <ac:chgData name="Alrihawi, Hamzah" userId="72811587-1dd6-4e7d-a376-efbf6c95deb1" providerId="ADAL" clId="{818931FE-BB6C-4C31-BC7E-67846B9AF0AE}" dt="2026-07-07T16:15:39.303" v="26" actId="108"/>
          <ac:spMkLst>
            <pc:docMk/>
            <pc:sldMk cId="2374235558" sldId="362"/>
            <ac:spMk id="4" creationId="{AAD55B66-96F0-40BE-B407-D83485DCB7F6}"/>
          </ac:spMkLst>
        </pc:spChg>
        <pc:spChg chg="mod">
          <ac:chgData name="Alrihawi, Hamzah" userId="72811587-1dd6-4e7d-a376-efbf6c95deb1" providerId="ADAL" clId="{818931FE-BB6C-4C31-BC7E-67846B9AF0AE}" dt="2026-07-07T16:26:28.840" v="153" actId="1036"/>
          <ac:spMkLst>
            <pc:docMk/>
            <pc:sldMk cId="2374235558" sldId="362"/>
            <ac:spMk id="5" creationId="{459D872A-72FC-448D-87F6-AF578409C11F}"/>
          </ac:spMkLst>
        </pc:spChg>
        <pc:spChg chg="mod">
          <ac:chgData name="Alrihawi, Hamzah" userId="72811587-1dd6-4e7d-a376-efbf6c95deb1" providerId="ADAL" clId="{818931FE-BB6C-4C31-BC7E-67846B9AF0AE}" dt="2026-07-07T19:11:31.129" v="379" actId="1038"/>
          <ac:spMkLst>
            <pc:docMk/>
            <pc:sldMk cId="2374235558" sldId="362"/>
            <ac:spMk id="6" creationId="{216DBA01-7314-4B63-B74D-8B972166ABCC}"/>
          </ac:spMkLst>
        </pc:spChg>
        <pc:spChg chg="mod">
          <ac:chgData name="Alrihawi, Hamzah" userId="72811587-1dd6-4e7d-a376-efbf6c95deb1" providerId="ADAL" clId="{818931FE-BB6C-4C31-BC7E-67846B9AF0AE}" dt="2026-07-07T19:11:53.776" v="380" actId="108"/>
          <ac:spMkLst>
            <pc:docMk/>
            <pc:sldMk cId="2374235558" sldId="362"/>
            <ac:spMk id="7" creationId="{69E660B6-5DFD-444C-A843-D5AD4F10A7D5}"/>
          </ac:spMkLst>
        </pc:spChg>
        <pc:spChg chg="mod">
          <ac:chgData name="Alrihawi, Hamzah" userId="72811587-1dd6-4e7d-a376-efbf6c95deb1" providerId="ADAL" clId="{818931FE-BB6C-4C31-BC7E-67846B9AF0AE}" dt="2026-07-07T19:11:31.129" v="379" actId="1038"/>
          <ac:spMkLst>
            <pc:docMk/>
            <pc:sldMk cId="2374235558" sldId="362"/>
            <ac:spMk id="8" creationId="{239E6B5C-AC49-45D2-ABF9-F61C17CCFA9D}"/>
          </ac:spMkLst>
        </pc:spChg>
        <pc:spChg chg="mod">
          <ac:chgData name="Alrihawi, Hamzah" userId="72811587-1dd6-4e7d-a376-efbf6c95deb1" providerId="ADAL" clId="{818931FE-BB6C-4C31-BC7E-67846B9AF0AE}" dt="2026-07-07T19:11:31.129" v="379" actId="1038"/>
          <ac:spMkLst>
            <pc:docMk/>
            <pc:sldMk cId="2374235558" sldId="362"/>
            <ac:spMk id="9" creationId="{90E043B9-6F97-46B0-B119-D9AC69B0FEEC}"/>
          </ac:spMkLst>
        </pc:spChg>
        <pc:spChg chg="mod">
          <ac:chgData name="Alrihawi, Hamzah" userId="72811587-1dd6-4e7d-a376-efbf6c95deb1" providerId="ADAL" clId="{818931FE-BB6C-4C31-BC7E-67846B9AF0AE}" dt="2026-07-07T19:11:31.129" v="379" actId="1038"/>
          <ac:spMkLst>
            <pc:docMk/>
            <pc:sldMk cId="2374235558" sldId="362"/>
            <ac:spMk id="10" creationId="{E3C400EC-66BC-4A53-85A7-C22527D3DD0F}"/>
          </ac:spMkLst>
        </pc:spChg>
        <pc:spChg chg="mod">
          <ac:chgData name="Alrihawi, Hamzah" userId="72811587-1dd6-4e7d-a376-efbf6c95deb1" providerId="ADAL" clId="{818931FE-BB6C-4C31-BC7E-67846B9AF0AE}" dt="2026-07-07T19:11:31.129" v="379" actId="1038"/>
          <ac:spMkLst>
            <pc:docMk/>
            <pc:sldMk cId="2374235558" sldId="362"/>
            <ac:spMk id="11" creationId="{0D1E9E44-AF6A-4906-A8AF-58717558C49A}"/>
          </ac:spMkLst>
        </pc:spChg>
        <pc:spChg chg="mod">
          <ac:chgData name="Alrihawi, Hamzah" userId="72811587-1dd6-4e7d-a376-efbf6c95deb1" providerId="ADAL" clId="{818931FE-BB6C-4C31-BC7E-67846B9AF0AE}" dt="2026-07-07T19:11:31.129" v="379" actId="1038"/>
          <ac:spMkLst>
            <pc:docMk/>
            <pc:sldMk cId="2374235558" sldId="362"/>
            <ac:spMk id="12" creationId="{07CEA9A8-A746-4BE2-9F7D-F79AD3610108}"/>
          </ac:spMkLst>
        </pc:spChg>
        <pc:spChg chg="mod">
          <ac:chgData name="Alrihawi, Hamzah" userId="72811587-1dd6-4e7d-a376-efbf6c95deb1" providerId="ADAL" clId="{818931FE-BB6C-4C31-BC7E-67846B9AF0AE}" dt="2026-07-07T19:11:31.129" v="379" actId="1038"/>
          <ac:spMkLst>
            <pc:docMk/>
            <pc:sldMk cId="2374235558" sldId="362"/>
            <ac:spMk id="13" creationId="{77FB6890-C2EA-4638-A047-FC36C555FEB9}"/>
          </ac:spMkLst>
        </pc:spChg>
        <pc:spChg chg="mod">
          <ac:chgData name="Alrihawi, Hamzah" userId="72811587-1dd6-4e7d-a376-efbf6c95deb1" providerId="ADAL" clId="{818931FE-BB6C-4C31-BC7E-67846B9AF0AE}" dt="2026-07-07T19:11:31.129" v="379" actId="1038"/>
          <ac:spMkLst>
            <pc:docMk/>
            <pc:sldMk cId="2374235558" sldId="362"/>
            <ac:spMk id="14" creationId="{2F5CAF14-EFF0-4F89-B34A-20DC1BB9F414}"/>
          </ac:spMkLst>
        </pc:spChg>
        <pc:spChg chg="del">
          <ac:chgData name="Alrihawi, Hamzah" userId="72811587-1dd6-4e7d-a376-efbf6c95deb1" providerId="ADAL" clId="{818931FE-BB6C-4C31-BC7E-67846B9AF0AE}" dt="2026-07-07T16:30:45.376" v="283" actId="478"/>
          <ac:spMkLst>
            <pc:docMk/>
            <pc:sldMk cId="2374235558" sldId="362"/>
            <ac:spMk id="15" creationId="{6C0191EF-9AB5-49BB-84CB-4098B3170261}"/>
          </ac:spMkLst>
        </pc:spChg>
        <pc:spChg chg="del">
          <ac:chgData name="Alrihawi, Hamzah" userId="72811587-1dd6-4e7d-a376-efbf6c95deb1" providerId="ADAL" clId="{818931FE-BB6C-4C31-BC7E-67846B9AF0AE}" dt="2026-07-07T16:30:45.376" v="283" actId="478"/>
          <ac:spMkLst>
            <pc:docMk/>
            <pc:sldMk cId="2374235558" sldId="362"/>
            <ac:spMk id="16" creationId="{21F817DC-F4D4-44C6-8EE4-C66C2D93DCB7}"/>
          </ac:spMkLst>
        </pc:spChg>
        <pc:spChg chg="del">
          <ac:chgData name="Alrihawi, Hamzah" userId="72811587-1dd6-4e7d-a376-efbf6c95deb1" providerId="ADAL" clId="{818931FE-BB6C-4C31-BC7E-67846B9AF0AE}" dt="2026-07-07T16:30:45.376" v="283" actId="478"/>
          <ac:spMkLst>
            <pc:docMk/>
            <pc:sldMk cId="2374235558" sldId="362"/>
            <ac:spMk id="17" creationId="{BAE84667-1CD8-4F54-897E-A4EC296BC4E8}"/>
          </ac:spMkLst>
        </pc:spChg>
        <pc:spChg chg="del">
          <ac:chgData name="Alrihawi, Hamzah" userId="72811587-1dd6-4e7d-a376-efbf6c95deb1" providerId="ADAL" clId="{818931FE-BB6C-4C31-BC7E-67846B9AF0AE}" dt="2026-07-07T16:28:35.741" v="224" actId="478"/>
          <ac:spMkLst>
            <pc:docMk/>
            <pc:sldMk cId="2374235558" sldId="362"/>
            <ac:spMk id="20" creationId="{EA82B33C-B2D8-445F-BF40-722D25020888}"/>
          </ac:spMkLst>
        </pc:spChg>
      </pc:sldChg>
      <pc:sldChg chg="addSp delSp modSp add mod">
        <pc:chgData name="Alrihawi, Hamzah" userId="72811587-1dd6-4e7d-a376-efbf6c95deb1" providerId="ADAL" clId="{818931FE-BB6C-4C31-BC7E-67846B9AF0AE}" dt="2026-07-08T17:30:08.490" v="478"/>
        <pc:sldMkLst>
          <pc:docMk/>
          <pc:sldMk cId="8078720" sldId="363"/>
        </pc:sldMkLst>
        <pc:spChg chg="mod">
          <ac:chgData name="Alrihawi, Hamzah" userId="72811587-1dd6-4e7d-a376-efbf6c95deb1" providerId="ADAL" clId="{818931FE-BB6C-4C31-BC7E-67846B9AF0AE}" dt="2026-07-07T16:15:45.009" v="27" actId="108"/>
          <ac:spMkLst>
            <pc:docMk/>
            <pc:sldMk cId="8078720" sldId="363"/>
            <ac:spMk id="4" creationId="{AAD55B66-96F0-40BE-B407-D83485DCB7F6}"/>
          </ac:spMkLst>
        </pc:spChg>
        <pc:spChg chg="mod">
          <ac:chgData name="Alrihawi, Hamzah" userId="72811587-1dd6-4e7d-a376-efbf6c95deb1" providerId="ADAL" clId="{818931FE-BB6C-4C31-BC7E-67846B9AF0AE}" dt="2026-07-07T16:26:40.751" v="172" actId="1035"/>
          <ac:spMkLst>
            <pc:docMk/>
            <pc:sldMk cId="8078720" sldId="363"/>
            <ac:spMk id="5" creationId="{459D872A-72FC-448D-87F6-AF578409C11F}"/>
          </ac:spMkLst>
        </pc:spChg>
        <pc:spChg chg="add mod">
          <ac:chgData name="Alrihawi, Hamzah" userId="72811587-1dd6-4e7d-a376-efbf6c95deb1" providerId="ADAL" clId="{818931FE-BB6C-4C31-BC7E-67846B9AF0AE}" dt="2026-07-08T17:30:08.490" v="478"/>
          <ac:spMkLst>
            <pc:docMk/>
            <pc:sldMk cId="8078720" sldId="363"/>
            <ac:spMk id="6" creationId="{6C9E0797-D094-8A98-1AA3-7B93D945EB24}"/>
          </ac:spMkLst>
        </pc:spChg>
        <pc:spChg chg="del">
          <ac:chgData name="Alrihawi, Hamzah" userId="72811587-1dd6-4e7d-a376-efbf6c95deb1" providerId="ADAL" clId="{818931FE-BB6C-4C31-BC7E-67846B9AF0AE}" dt="2026-07-07T16:30:39.090" v="282" actId="478"/>
          <ac:spMkLst>
            <pc:docMk/>
            <pc:sldMk cId="8078720" sldId="363"/>
            <ac:spMk id="15" creationId="{6C0191EF-9AB5-49BB-84CB-4098B3170261}"/>
          </ac:spMkLst>
        </pc:spChg>
        <pc:spChg chg="del">
          <ac:chgData name="Alrihawi, Hamzah" userId="72811587-1dd6-4e7d-a376-efbf6c95deb1" providerId="ADAL" clId="{818931FE-BB6C-4C31-BC7E-67846B9AF0AE}" dt="2026-07-07T16:30:39.090" v="282" actId="478"/>
          <ac:spMkLst>
            <pc:docMk/>
            <pc:sldMk cId="8078720" sldId="363"/>
            <ac:spMk id="16" creationId="{21F817DC-F4D4-44C6-8EE4-C66C2D93DCB7}"/>
          </ac:spMkLst>
        </pc:spChg>
        <pc:spChg chg="del">
          <ac:chgData name="Alrihawi, Hamzah" userId="72811587-1dd6-4e7d-a376-efbf6c95deb1" providerId="ADAL" clId="{818931FE-BB6C-4C31-BC7E-67846B9AF0AE}" dt="2026-07-07T16:30:39.090" v="282" actId="478"/>
          <ac:spMkLst>
            <pc:docMk/>
            <pc:sldMk cId="8078720" sldId="363"/>
            <ac:spMk id="17" creationId="{BAE84667-1CD8-4F54-897E-A4EC296BC4E8}"/>
          </ac:spMkLst>
        </pc:spChg>
        <pc:spChg chg="del">
          <ac:chgData name="Alrihawi, Hamzah" userId="72811587-1dd6-4e7d-a376-efbf6c95deb1" providerId="ADAL" clId="{818931FE-BB6C-4C31-BC7E-67846B9AF0AE}" dt="2026-07-08T17:30:08.192" v="477" actId="478"/>
          <ac:spMkLst>
            <pc:docMk/>
            <pc:sldMk cId="8078720" sldId="363"/>
            <ac:spMk id="18" creationId="{E9702B96-4986-4816-A2CC-6B96ABCA81C5}"/>
          </ac:spMkLst>
        </pc:spChg>
        <pc:spChg chg="del">
          <ac:chgData name="Alrihawi, Hamzah" userId="72811587-1dd6-4e7d-a376-efbf6c95deb1" providerId="ADAL" clId="{818931FE-BB6C-4C31-BC7E-67846B9AF0AE}" dt="2026-07-07T16:28:31.894" v="223" actId="478"/>
          <ac:spMkLst>
            <pc:docMk/>
            <pc:sldMk cId="8078720" sldId="363"/>
            <ac:spMk id="20" creationId="{EA82B33C-B2D8-445F-BF40-722D25020888}"/>
          </ac:spMkLst>
        </pc:spChg>
      </pc:sldChg>
      <pc:sldChg chg="addSp delSp modSp add mod">
        <pc:chgData name="Alrihawi, Hamzah" userId="72811587-1dd6-4e7d-a376-efbf6c95deb1" providerId="ADAL" clId="{818931FE-BB6C-4C31-BC7E-67846B9AF0AE}" dt="2026-07-08T17:30:14.316" v="480"/>
        <pc:sldMkLst>
          <pc:docMk/>
          <pc:sldMk cId="3666289268" sldId="364"/>
        </pc:sldMkLst>
        <pc:spChg chg="mod">
          <ac:chgData name="Alrihawi, Hamzah" userId="72811587-1dd6-4e7d-a376-efbf6c95deb1" providerId="ADAL" clId="{818931FE-BB6C-4C31-BC7E-67846B9AF0AE}" dt="2026-07-07T16:15:51.114" v="28" actId="108"/>
          <ac:spMkLst>
            <pc:docMk/>
            <pc:sldMk cId="3666289268" sldId="364"/>
            <ac:spMk id="4" creationId="{AAD55B66-96F0-40BE-B407-D83485DCB7F6}"/>
          </ac:spMkLst>
        </pc:spChg>
        <pc:spChg chg="mod">
          <ac:chgData name="Alrihawi, Hamzah" userId="72811587-1dd6-4e7d-a376-efbf6c95deb1" providerId="ADAL" clId="{818931FE-BB6C-4C31-BC7E-67846B9AF0AE}" dt="2026-07-07T16:27:16.399" v="196" actId="1035"/>
          <ac:spMkLst>
            <pc:docMk/>
            <pc:sldMk cId="3666289268" sldId="364"/>
            <ac:spMk id="5" creationId="{459D872A-72FC-448D-87F6-AF578409C11F}"/>
          </ac:spMkLst>
        </pc:spChg>
        <pc:spChg chg="add mod">
          <ac:chgData name="Alrihawi, Hamzah" userId="72811587-1dd6-4e7d-a376-efbf6c95deb1" providerId="ADAL" clId="{818931FE-BB6C-4C31-BC7E-67846B9AF0AE}" dt="2026-07-08T17:30:14.316" v="480"/>
          <ac:spMkLst>
            <pc:docMk/>
            <pc:sldMk cId="3666289268" sldId="364"/>
            <ac:spMk id="6" creationId="{DE5067FC-5C07-3853-8BF8-ACB7F2BBAC9D}"/>
          </ac:spMkLst>
        </pc:spChg>
        <pc:spChg chg="del">
          <ac:chgData name="Alrihawi, Hamzah" userId="72811587-1dd6-4e7d-a376-efbf6c95deb1" providerId="ADAL" clId="{818931FE-BB6C-4C31-BC7E-67846B9AF0AE}" dt="2026-07-07T16:30:32.235" v="281" actId="478"/>
          <ac:spMkLst>
            <pc:docMk/>
            <pc:sldMk cId="3666289268" sldId="364"/>
            <ac:spMk id="15" creationId="{6C0191EF-9AB5-49BB-84CB-4098B3170261}"/>
          </ac:spMkLst>
        </pc:spChg>
        <pc:spChg chg="del">
          <ac:chgData name="Alrihawi, Hamzah" userId="72811587-1dd6-4e7d-a376-efbf6c95deb1" providerId="ADAL" clId="{818931FE-BB6C-4C31-BC7E-67846B9AF0AE}" dt="2026-07-07T16:30:32.235" v="281" actId="478"/>
          <ac:spMkLst>
            <pc:docMk/>
            <pc:sldMk cId="3666289268" sldId="364"/>
            <ac:spMk id="16" creationId="{21F817DC-F4D4-44C6-8EE4-C66C2D93DCB7}"/>
          </ac:spMkLst>
        </pc:spChg>
        <pc:spChg chg="del">
          <ac:chgData name="Alrihawi, Hamzah" userId="72811587-1dd6-4e7d-a376-efbf6c95deb1" providerId="ADAL" clId="{818931FE-BB6C-4C31-BC7E-67846B9AF0AE}" dt="2026-07-07T16:30:32.235" v="281" actId="478"/>
          <ac:spMkLst>
            <pc:docMk/>
            <pc:sldMk cId="3666289268" sldId="364"/>
            <ac:spMk id="17" creationId="{BAE84667-1CD8-4F54-897E-A4EC296BC4E8}"/>
          </ac:spMkLst>
        </pc:spChg>
        <pc:spChg chg="del">
          <ac:chgData name="Alrihawi, Hamzah" userId="72811587-1dd6-4e7d-a376-efbf6c95deb1" providerId="ADAL" clId="{818931FE-BB6C-4C31-BC7E-67846B9AF0AE}" dt="2026-07-08T17:30:14.019" v="479" actId="478"/>
          <ac:spMkLst>
            <pc:docMk/>
            <pc:sldMk cId="3666289268" sldId="364"/>
            <ac:spMk id="18" creationId="{E9702B96-4986-4816-A2CC-6B96ABCA81C5}"/>
          </ac:spMkLst>
        </pc:spChg>
        <pc:spChg chg="del">
          <ac:chgData name="Alrihawi, Hamzah" userId="72811587-1dd6-4e7d-a376-efbf6c95deb1" providerId="ADAL" clId="{818931FE-BB6C-4C31-BC7E-67846B9AF0AE}" dt="2026-07-07T16:28:26.658" v="222" actId="478"/>
          <ac:spMkLst>
            <pc:docMk/>
            <pc:sldMk cId="3666289268" sldId="364"/>
            <ac:spMk id="20" creationId="{EA82B33C-B2D8-445F-BF40-722D25020888}"/>
          </ac:spMkLst>
        </pc:spChg>
      </pc:sldChg>
      <pc:sldChg chg="addSp delSp modSp add mod setBg">
        <pc:chgData name="Alrihawi, Hamzah" userId="72811587-1dd6-4e7d-a376-efbf6c95deb1" providerId="ADAL" clId="{818931FE-BB6C-4C31-BC7E-67846B9AF0AE}" dt="2026-07-08T17:30:16.979" v="482"/>
        <pc:sldMkLst>
          <pc:docMk/>
          <pc:sldMk cId="2337056869" sldId="365"/>
        </pc:sldMkLst>
        <pc:spChg chg="mod">
          <ac:chgData name="Alrihawi, Hamzah" userId="72811587-1dd6-4e7d-a376-efbf6c95deb1" providerId="ADAL" clId="{818931FE-BB6C-4C31-BC7E-67846B9AF0AE}" dt="2026-07-07T16:16:04.322" v="30" actId="108"/>
          <ac:spMkLst>
            <pc:docMk/>
            <pc:sldMk cId="2337056869" sldId="365"/>
            <ac:spMk id="4" creationId="{AAD55B66-96F0-40BE-B407-D83485DCB7F6}"/>
          </ac:spMkLst>
        </pc:spChg>
        <pc:spChg chg="mod">
          <ac:chgData name="Alrihawi, Hamzah" userId="72811587-1dd6-4e7d-a376-efbf6c95deb1" providerId="ADAL" clId="{818931FE-BB6C-4C31-BC7E-67846B9AF0AE}" dt="2026-07-07T16:27:38.460" v="217" actId="1035"/>
          <ac:spMkLst>
            <pc:docMk/>
            <pc:sldMk cId="2337056869" sldId="365"/>
            <ac:spMk id="5" creationId="{459D872A-72FC-448D-87F6-AF578409C11F}"/>
          </ac:spMkLst>
        </pc:spChg>
        <pc:spChg chg="add mod">
          <ac:chgData name="Alrihawi, Hamzah" userId="72811587-1dd6-4e7d-a376-efbf6c95deb1" providerId="ADAL" clId="{818931FE-BB6C-4C31-BC7E-67846B9AF0AE}" dt="2026-07-08T17:30:16.979" v="482"/>
          <ac:spMkLst>
            <pc:docMk/>
            <pc:sldMk cId="2337056869" sldId="365"/>
            <ac:spMk id="6" creationId="{6C038D9B-7884-BE81-A022-97566FFECD84}"/>
          </ac:spMkLst>
        </pc:spChg>
        <pc:spChg chg="del">
          <ac:chgData name="Alrihawi, Hamzah" userId="72811587-1dd6-4e7d-a376-efbf6c95deb1" providerId="ADAL" clId="{818931FE-BB6C-4C31-BC7E-67846B9AF0AE}" dt="2026-07-07T16:30:26.850" v="280" actId="478"/>
          <ac:spMkLst>
            <pc:docMk/>
            <pc:sldMk cId="2337056869" sldId="365"/>
            <ac:spMk id="15" creationId="{6C0191EF-9AB5-49BB-84CB-4098B3170261}"/>
          </ac:spMkLst>
        </pc:spChg>
        <pc:spChg chg="del">
          <ac:chgData name="Alrihawi, Hamzah" userId="72811587-1dd6-4e7d-a376-efbf6c95deb1" providerId="ADAL" clId="{818931FE-BB6C-4C31-BC7E-67846B9AF0AE}" dt="2026-07-07T16:30:26.850" v="280" actId="478"/>
          <ac:spMkLst>
            <pc:docMk/>
            <pc:sldMk cId="2337056869" sldId="365"/>
            <ac:spMk id="16" creationId="{21F817DC-F4D4-44C6-8EE4-C66C2D93DCB7}"/>
          </ac:spMkLst>
        </pc:spChg>
        <pc:spChg chg="del">
          <ac:chgData name="Alrihawi, Hamzah" userId="72811587-1dd6-4e7d-a376-efbf6c95deb1" providerId="ADAL" clId="{818931FE-BB6C-4C31-BC7E-67846B9AF0AE}" dt="2026-07-07T16:30:26.850" v="280" actId="478"/>
          <ac:spMkLst>
            <pc:docMk/>
            <pc:sldMk cId="2337056869" sldId="365"/>
            <ac:spMk id="17" creationId="{BAE84667-1CD8-4F54-897E-A4EC296BC4E8}"/>
          </ac:spMkLst>
        </pc:spChg>
        <pc:spChg chg="del">
          <ac:chgData name="Alrihawi, Hamzah" userId="72811587-1dd6-4e7d-a376-efbf6c95deb1" providerId="ADAL" clId="{818931FE-BB6C-4C31-BC7E-67846B9AF0AE}" dt="2026-07-08T17:30:16.670" v="481" actId="478"/>
          <ac:spMkLst>
            <pc:docMk/>
            <pc:sldMk cId="2337056869" sldId="365"/>
            <ac:spMk id="18" creationId="{E9702B96-4986-4816-A2CC-6B96ABCA81C5}"/>
          </ac:spMkLst>
        </pc:spChg>
        <pc:spChg chg="del">
          <ac:chgData name="Alrihawi, Hamzah" userId="72811587-1dd6-4e7d-a376-efbf6c95deb1" providerId="ADAL" clId="{818931FE-BB6C-4C31-BC7E-67846B9AF0AE}" dt="2026-07-07T16:28:23.566" v="221" actId="478"/>
          <ac:spMkLst>
            <pc:docMk/>
            <pc:sldMk cId="2337056869" sldId="365"/>
            <ac:spMk id="20" creationId="{EA82B33C-B2D8-445F-BF40-722D25020888}"/>
          </ac:spMkLst>
        </pc:spChg>
      </pc:sldChg>
      <pc:sldChg chg="addSp delSp modSp add mod">
        <pc:chgData name="Alrihawi, Hamzah" userId="72811587-1dd6-4e7d-a376-efbf6c95deb1" providerId="ADAL" clId="{818931FE-BB6C-4C31-BC7E-67846B9AF0AE}" dt="2026-07-08T17:30:19.160" v="484"/>
        <pc:sldMkLst>
          <pc:docMk/>
          <pc:sldMk cId="2354189973" sldId="366"/>
        </pc:sldMkLst>
        <pc:spChg chg="mod">
          <ac:chgData name="Alrihawi, Hamzah" userId="72811587-1dd6-4e7d-a376-efbf6c95deb1" providerId="ADAL" clId="{818931FE-BB6C-4C31-BC7E-67846B9AF0AE}" dt="2026-07-07T16:16:10.478" v="31" actId="108"/>
          <ac:spMkLst>
            <pc:docMk/>
            <pc:sldMk cId="2354189973" sldId="366"/>
            <ac:spMk id="4" creationId="{AAD55B66-96F0-40BE-B407-D83485DCB7F6}"/>
          </ac:spMkLst>
        </pc:spChg>
        <pc:spChg chg="mod">
          <ac:chgData name="Alrihawi, Hamzah" userId="72811587-1dd6-4e7d-a376-efbf6c95deb1" providerId="ADAL" clId="{818931FE-BB6C-4C31-BC7E-67846B9AF0AE}" dt="2026-07-07T16:29:26.464" v="251" actId="1035"/>
          <ac:spMkLst>
            <pc:docMk/>
            <pc:sldMk cId="2354189973" sldId="366"/>
            <ac:spMk id="5" creationId="{459D872A-72FC-448D-87F6-AF578409C11F}"/>
          </ac:spMkLst>
        </pc:spChg>
        <pc:spChg chg="add mod">
          <ac:chgData name="Alrihawi, Hamzah" userId="72811587-1dd6-4e7d-a376-efbf6c95deb1" providerId="ADAL" clId="{818931FE-BB6C-4C31-BC7E-67846B9AF0AE}" dt="2026-07-08T17:30:19.160" v="484"/>
          <ac:spMkLst>
            <pc:docMk/>
            <pc:sldMk cId="2354189973" sldId="366"/>
            <ac:spMk id="6" creationId="{921C87E7-978E-20EE-2F65-F765D32D64BD}"/>
          </ac:spMkLst>
        </pc:spChg>
        <pc:spChg chg="del">
          <ac:chgData name="Alrihawi, Hamzah" userId="72811587-1dd6-4e7d-a376-efbf6c95deb1" providerId="ADAL" clId="{818931FE-BB6C-4C31-BC7E-67846B9AF0AE}" dt="2026-07-07T16:30:21.548" v="279" actId="478"/>
          <ac:spMkLst>
            <pc:docMk/>
            <pc:sldMk cId="2354189973" sldId="366"/>
            <ac:spMk id="15" creationId="{6C0191EF-9AB5-49BB-84CB-4098B3170261}"/>
          </ac:spMkLst>
        </pc:spChg>
        <pc:spChg chg="del">
          <ac:chgData name="Alrihawi, Hamzah" userId="72811587-1dd6-4e7d-a376-efbf6c95deb1" providerId="ADAL" clId="{818931FE-BB6C-4C31-BC7E-67846B9AF0AE}" dt="2026-07-07T16:30:21.548" v="279" actId="478"/>
          <ac:spMkLst>
            <pc:docMk/>
            <pc:sldMk cId="2354189973" sldId="366"/>
            <ac:spMk id="16" creationId="{21F817DC-F4D4-44C6-8EE4-C66C2D93DCB7}"/>
          </ac:spMkLst>
        </pc:spChg>
        <pc:spChg chg="del">
          <ac:chgData name="Alrihawi, Hamzah" userId="72811587-1dd6-4e7d-a376-efbf6c95deb1" providerId="ADAL" clId="{818931FE-BB6C-4C31-BC7E-67846B9AF0AE}" dt="2026-07-07T16:30:21.548" v="279" actId="478"/>
          <ac:spMkLst>
            <pc:docMk/>
            <pc:sldMk cId="2354189973" sldId="366"/>
            <ac:spMk id="17" creationId="{BAE84667-1CD8-4F54-897E-A4EC296BC4E8}"/>
          </ac:spMkLst>
        </pc:spChg>
        <pc:spChg chg="del">
          <ac:chgData name="Alrihawi, Hamzah" userId="72811587-1dd6-4e7d-a376-efbf6c95deb1" providerId="ADAL" clId="{818931FE-BB6C-4C31-BC7E-67846B9AF0AE}" dt="2026-07-08T17:30:18.836" v="483" actId="478"/>
          <ac:spMkLst>
            <pc:docMk/>
            <pc:sldMk cId="2354189973" sldId="366"/>
            <ac:spMk id="18" creationId="{E9702B96-4986-4816-A2CC-6B96ABCA81C5}"/>
          </ac:spMkLst>
        </pc:spChg>
        <pc:spChg chg="del mod">
          <ac:chgData name="Alrihawi, Hamzah" userId="72811587-1dd6-4e7d-a376-efbf6c95deb1" providerId="ADAL" clId="{818931FE-BB6C-4C31-BC7E-67846B9AF0AE}" dt="2026-07-07T16:28:19.670" v="220" actId="478"/>
          <ac:spMkLst>
            <pc:docMk/>
            <pc:sldMk cId="2354189973" sldId="366"/>
            <ac:spMk id="20" creationId="{EA82B33C-B2D8-445F-BF40-722D25020888}"/>
          </ac:spMkLst>
        </pc:spChg>
      </pc:sldChg>
      <pc:sldChg chg="delSp modSp add del mod">
        <pc:chgData name="Alrihawi, Hamzah" userId="72811587-1dd6-4e7d-a376-efbf6c95deb1" providerId="ADAL" clId="{818931FE-BB6C-4C31-BC7E-67846B9AF0AE}" dt="2026-07-08T17:23:05.029" v="432" actId="47"/>
        <pc:sldMkLst>
          <pc:docMk/>
          <pc:sldMk cId="3515811398" sldId="367"/>
        </pc:sldMkLst>
        <pc:spChg chg="mod">
          <ac:chgData name="Alrihawi, Hamzah" userId="72811587-1dd6-4e7d-a376-efbf6c95deb1" providerId="ADAL" clId="{818931FE-BB6C-4C31-BC7E-67846B9AF0AE}" dt="2026-07-07T16:16:22.939" v="32" actId="108"/>
          <ac:spMkLst>
            <pc:docMk/>
            <pc:sldMk cId="3515811398" sldId="367"/>
            <ac:spMk id="4" creationId="{AAD55B66-96F0-40BE-B407-D83485DCB7F6}"/>
          </ac:spMkLst>
        </pc:spChg>
        <pc:spChg chg="mod">
          <ac:chgData name="Alrihawi, Hamzah" userId="72811587-1dd6-4e7d-a376-efbf6c95deb1" providerId="ADAL" clId="{818931FE-BB6C-4C31-BC7E-67846B9AF0AE}" dt="2026-07-07T16:29:33.033" v="252" actId="255"/>
          <ac:spMkLst>
            <pc:docMk/>
            <pc:sldMk cId="3515811398" sldId="367"/>
            <ac:spMk id="5" creationId="{459D872A-72FC-448D-87F6-AF578409C11F}"/>
          </ac:spMkLst>
        </pc:spChg>
        <pc:spChg chg="mod">
          <ac:chgData name="Alrihawi, Hamzah" userId="72811587-1dd6-4e7d-a376-efbf6c95deb1" providerId="ADAL" clId="{818931FE-BB6C-4C31-BC7E-67846B9AF0AE}" dt="2026-07-07T19:12:55.254" v="421" actId="1037"/>
          <ac:spMkLst>
            <pc:docMk/>
            <pc:sldMk cId="3515811398" sldId="367"/>
            <ac:spMk id="6" creationId="{216DBA01-7314-4B63-B74D-8B972166ABCC}"/>
          </ac:spMkLst>
        </pc:spChg>
        <pc:spChg chg="mod">
          <ac:chgData name="Alrihawi, Hamzah" userId="72811587-1dd6-4e7d-a376-efbf6c95deb1" providerId="ADAL" clId="{818931FE-BB6C-4C31-BC7E-67846B9AF0AE}" dt="2026-07-07T19:12:55.254" v="421" actId="1037"/>
          <ac:spMkLst>
            <pc:docMk/>
            <pc:sldMk cId="3515811398" sldId="367"/>
            <ac:spMk id="7" creationId="{69E660B6-5DFD-444C-A843-D5AD4F10A7D5}"/>
          </ac:spMkLst>
        </pc:spChg>
        <pc:spChg chg="mod">
          <ac:chgData name="Alrihawi, Hamzah" userId="72811587-1dd6-4e7d-a376-efbf6c95deb1" providerId="ADAL" clId="{818931FE-BB6C-4C31-BC7E-67846B9AF0AE}" dt="2026-07-07T19:12:55.254" v="421" actId="1037"/>
          <ac:spMkLst>
            <pc:docMk/>
            <pc:sldMk cId="3515811398" sldId="367"/>
            <ac:spMk id="8" creationId="{239E6B5C-AC49-45D2-ABF9-F61C17CCFA9D}"/>
          </ac:spMkLst>
        </pc:spChg>
        <pc:spChg chg="mod">
          <ac:chgData name="Alrihawi, Hamzah" userId="72811587-1dd6-4e7d-a376-efbf6c95deb1" providerId="ADAL" clId="{818931FE-BB6C-4C31-BC7E-67846B9AF0AE}" dt="2026-07-07T19:12:55.254" v="421" actId="1037"/>
          <ac:spMkLst>
            <pc:docMk/>
            <pc:sldMk cId="3515811398" sldId="367"/>
            <ac:spMk id="9" creationId="{90E043B9-6F97-46B0-B119-D9AC69B0FEEC}"/>
          </ac:spMkLst>
        </pc:spChg>
        <pc:spChg chg="mod">
          <ac:chgData name="Alrihawi, Hamzah" userId="72811587-1dd6-4e7d-a376-efbf6c95deb1" providerId="ADAL" clId="{818931FE-BB6C-4C31-BC7E-67846B9AF0AE}" dt="2026-07-07T19:12:55.254" v="421" actId="1037"/>
          <ac:spMkLst>
            <pc:docMk/>
            <pc:sldMk cId="3515811398" sldId="367"/>
            <ac:spMk id="10" creationId="{E3C400EC-66BC-4A53-85A7-C22527D3DD0F}"/>
          </ac:spMkLst>
        </pc:spChg>
        <pc:spChg chg="mod">
          <ac:chgData name="Alrihawi, Hamzah" userId="72811587-1dd6-4e7d-a376-efbf6c95deb1" providerId="ADAL" clId="{818931FE-BB6C-4C31-BC7E-67846B9AF0AE}" dt="2026-07-07T19:12:55.254" v="421" actId="1037"/>
          <ac:spMkLst>
            <pc:docMk/>
            <pc:sldMk cId="3515811398" sldId="367"/>
            <ac:spMk id="11" creationId="{0D1E9E44-AF6A-4906-A8AF-58717558C49A}"/>
          </ac:spMkLst>
        </pc:spChg>
        <pc:spChg chg="mod">
          <ac:chgData name="Alrihawi, Hamzah" userId="72811587-1dd6-4e7d-a376-efbf6c95deb1" providerId="ADAL" clId="{818931FE-BB6C-4C31-BC7E-67846B9AF0AE}" dt="2026-07-07T19:12:55.254" v="421" actId="1037"/>
          <ac:spMkLst>
            <pc:docMk/>
            <pc:sldMk cId="3515811398" sldId="367"/>
            <ac:spMk id="12" creationId="{07CEA9A8-A746-4BE2-9F7D-F79AD3610108}"/>
          </ac:spMkLst>
        </pc:spChg>
        <pc:spChg chg="mod">
          <ac:chgData name="Alrihawi, Hamzah" userId="72811587-1dd6-4e7d-a376-efbf6c95deb1" providerId="ADAL" clId="{818931FE-BB6C-4C31-BC7E-67846B9AF0AE}" dt="2026-07-07T19:12:55.254" v="421" actId="1037"/>
          <ac:spMkLst>
            <pc:docMk/>
            <pc:sldMk cId="3515811398" sldId="367"/>
            <ac:spMk id="13" creationId="{77FB6890-C2EA-4638-A047-FC36C555FEB9}"/>
          </ac:spMkLst>
        </pc:spChg>
        <pc:spChg chg="mod">
          <ac:chgData name="Alrihawi, Hamzah" userId="72811587-1dd6-4e7d-a376-efbf6c95deb1" providerId="ADAL" clId="{818931FE-BB6C-4C31-BC7E-67846B9AF0AE}" dt="2026-07-07T19:12:55.254" v="421" actId="1037"/>
          <ac:spMkLst>
            <pc:docMk/>
            <pc:sldMk cId="3515811398" sldId="367"/>
            <ac:spMk id="14" creationId="{2F5CAF14-EFF0-4F89-B34A-20DC1BB9F414}"/>
          </ac:spMkLst>
        </pc:spChg>
        <pc:spChg chg="del">
          <ac:chgData name="Alrihawi, Hamzah" userId="72811587-1dd6-4e7d-a376-efbf6c95deb1" providerId="ADAL" clId="{818931FE-BB6C-4C31-BC7E-67846B9AF0AE}" dt="2026-07-07T16:30:03.902" v="276" actId="478"/>
          <ac:spMkLst>
            <pc:docMk/>
            <pc:sldMk cId="3515811398" sldId="367"/>
            <ac:spMk id="15" creationId="{6C0191EF-9AB5-49BB-84CB-4098B3170261}"/>
          </ac:spMkLst>
        </pc:spChg>
        <pc:spChg chg="del">
          <ac:chgData name="Alrihawi, Hamzah" userId="72811587-1dd6-4e7d-a376-efbf6c95deb1" providerId="ADAL" clId="{818931FE-BB6C-4C31-BC7E-67846B9AF0AE}" dt="2026-07-07T16:30:10.076" v="278" actId="478"/>
          <ac:spMkLst>
            <pc:docMk/>
            <pc:sldMk cId="3515811398" sldId="367"/>
            <ac:spMk id="16" creationId="{21F817DC-F4D4-44C6-8EE4-C66C2D93DCB7}"/>
          </ac:spMkLst>
        </pc:spChg>
        <pc:spChg chg="del">
          <ac:chgData name="Alrihawi, Hamzah" userId="72811587-1dd6-4e7d-a376-efbf6c95deb1" providerId="ADAL" clId="{818931FE-BB6C-4C31-BC7E-67846B9AF0AE}" dt="2026-07-07T16:30:07.549" v="277" actId="478"/>
          <ac:spMkLst>
            <pc:docMk/>
            <pc:sldMk cId="3515811398" sldId="367"/>
            <ac:spMk id="17" creationId="{BAE84667-1CD8-4F54-897E-A4EC296BC4E8}"/>
          </ac:spMkLst>
        </pc:spChg>
        <pc:spChg chg="del">
          <ac:chgData name="Alrihawi, Hamzah" userId="72811587-1dd6-4e7d-a376-efbf6c95deb1" providerId="ADAL" clId="{818931FE-BB6C-4C31-BC7E-67846B9AF0AE}" dt="2026-07-07T16:29:11.809" v="230" actId="478"/>
          <ac:spMkLst>
            <pc:docMk/>
            <pc:sldMk cId="3515811398" sldId="367"/>
            <ac:spMk id="20" creationId="{EA82B33C-B2D8-445F-BF40-722D25020888}"/>
          </ac:spMkLst>
        </pc:spChg>
        <pc:spChg chg="mod">
          <ac:chgData name="Alrihawi, Hamzah" userId="72811587-1dd6-4e7d-a376-efbf6c95deb1" providerId="ADAL" clId="{818931FE-BB6C-4C31-BC7E-67846B9AF0AE}" dt="2026-07-07T19:13:00.411" v="430" actId="1037"/>
          <ac:spMkLst>
            <pc:docMk/>
            <pc:sldMk cId="3515811398" sldId="367"/>
            <ac:spMk id="21" creationId="{77B1E257-5AB0-49D2-A720-1097DC7FA26B}"/>
          </ac:spMkLst>
        </pc:spChg>
        <pc:spChg chg="mod">
          <ac:chgData name="Alrihawi, Hamzah" userId="72811587-1dd6-4e7d-a376-efbf6c95deb1" providerId="ADAL" clId="{818931FE-BB6C-4C31-BC7E-67846B9AF0AE}" dt="2026-07-07T19:13:00.411" v="430" actId="1037"/>
          <ac:spMkLst>
            <pc:docMk/>
            <pc:sldMk cId="3515811398" sldId="367"/>
            <ac:spMk id="22" creationId="{1E97BA6A-6924-4397-AFE1-A7BE2F962EB4}"/>
          </ac:spMkLst>
        </pc:spChg>
      </pc:sldChg>
      <pc:sldChg chg="addSp delSp modSp add mod">
        <pc:chgData name="Alrihawi, Hamzah" userId="72811587-1dd6-4e7d-a376-efbf6c95deb1" providerId="ADAL" clId="{818931FE-BB6C-4C31-BC7E-67846B9AF0AE}" dt="2026-07-08T17:30:22.113" v="486"/>
        <pc:sldMkLst>
          <pc:docMk/>
          <pc:sldMk cId="3825895425" sldId="369"/>
        </pc:sldMkLst>
        <pc:spChg chg="add mod">
          <ac:chgData name="Alrihawi, Hamzah" userId="72811587-1dd6-4e7d-a376-efbf6c95deb1" providerId="ADAL" clId="{818931FE-BB6C-4C31-BC7E-67846B9AF0AE}" dt="2026-07-08T17:30:22.113" v="486"/>
          <ac:spMkLst>
            <pc:docMk/>
            <pc:sldMk cId="3825895425" sldId="369"/>
            <ac:spMk id="2" creationId="{D39E72A9-AC5C-AED4-3339-A2702F40BC9E}"/>
          </ac:spMkLst>
        </pc:spChg>
        <pc:spChg chg="del">
          <ac:chgData name="Alrihawi, Hamzah" userId="72811587-1dd6-4e7d-a376-efbf6c95deb1" providerId="ADAL" clId="{818931FE-BB6C-4C31-BC7E-67846B9AF0AE}" dt="2026-07-08T17:30:21.838" v="485" actId="478"/>
          <ac:spMkLst>
            <pc:docMk/>
            <pc:sldMk cId="3825895425" sldId="369"/>
            <ac:spMk id="18" creationId="{E9702B96-4986-4816-A2CC-6B96ABCA81C5}"/>
          </ac:spMkLst>
        </pc:spChg>
        <pc:spChg chg="mod">
          <ac:chgData name="Alrihawi, Hamzah" userId="72811587-1dd6-4e7d-a376-efbf6c95deb1" providerId="ADAL" clId="{818931FE-BB6C-4C31-BC7E-67846B9AF0AE}" dt="2026-07-08T17:29:19.158" v="447" actId="20577"/>
          <ac:spMkLst>
            <pc:docMk/>
            <pc:sldMk cId="3825895425" sldId="369"/>
            <ac:spMk id="22" creationId="{1E97BA6A-6924-4397-AFE1-A7BE2F962EB4}"/>
          </ac:spMkLst>
        </pc:spChg>
      </pc:sldChg>
      <pc:sldChg chg="addSp delSp modSp add mod ord">
        <pc:chgData name="Alrihawi, Hamzah" userId="72811587-1dd6-4e7d-a376-efbf6c95deb1" providerId="ADAL" clId="{818931FE-BB6C-4C31-BC7E-67846B9AF0AE}" dt="2026-07-08T17:30:04.619" v="476"/>
        <pc:sldMkLst>
          <pc:docMk/>
          <pc:sldMk cId="1951148751" sldId="370"/>
        </pc:sldMkLst>
        <pc:spChg chg="add mod">
          <ac:chgData name="Alrihawi, Hamzah" userId="72811587-1dd6-4e7d-a376-efbf6c95deb1" providerId="ADAL" clId="{818931FE-BB6C-4C31-BC7E-67846B9AF0AE}" dt="2026-07-08T17:30:01.354" v="474"/>
          <ac:spMkLst>
            <pc:docMk/>
            <pc:sldMk cId="1951148751" sldId="370"/>
            <ac:spMk id="2" creationId="{267DA5A9-3F77-8840-17DB-B06C50FFC6A7}"/>
          </ac:spMkLst>
        </pc:spChg>
        <pc:spChg chg="add mod">
          <ac:chgData name="Alrihawi, Hamzah" userId="72811587-1dd6-4e7d-a376-efbf6c95deb1" providerId="ADAL" clId="{818931FE-BB6C-4C31-BC7E-67846B9AF0AE}" dt="2026-07-08T17:30:04.619" v="476"/>
          <ac:spMkLst>
            <pc:docMk/>
            <pc:sldMk cId="1951148751" sldId="370"/>
            <ac:spMk id="15" creationId="{3826E76E-6947-069D-1183-A8B5607CC9E1}"/>
          </ac:spMkLst>
        </pc:spChg>
        <pc:spChg chg="del">
          <ac:chgData name="Alrihawi, Hamzah" userId="72811587-1dd6-4e7d-a376-efbf6c95deb1" providerId="ADAL" clId="{818931FE-BB6C-4C31-BC7E-67846B9AF0AE}" dt="2026-07-08T17:30:04.154" v="475" actId="478"/>
          <ac:spMkLst>
            <pc:docMk/>
            <pc:sldMk cId="1951148751" sldId="370"/>
            <ac:spMk id="18" creationId="{E9702B96-4986-4816-A2CC-6B96ABCA81C5}"/>
          </ac:spMkLst>
        </pc:spChg>
      </pc:sldChg>
      <pc:sldChg chg="addSp delSp modSp add mod">
        <pc:chgData name="Alrihawi, Hamzah" userId="72811587-1dd6-4e7d-a376-efbf6c95deb1" providerId="ADAL" clId="{818931FE-BB6C-4C31-BC7E-67846B9AF0AE}" dt="2026-07-08T17:29:55.723" v="471"/>
        <pc:sldMkLst>
          <pc:docMk/>
          <pc:sldMk cId="2560988626" sldId="371"/>
        </pc:sldMkLst>
        <pc:spChg chg="add mod">
          <ac:chgData name="Alrihawi, Hamzah" userId="72811587-1dd6-4e7d-a376-efbf6c95deb1" providerId="ADAL" clId="{818931FE-BB6C-4C31-BC7E-67846B9AF0AE}" dt="2026-07-08T17:29:52.223" v="469"/>
          <ac:spMkLst>
            <pc:docMk/>
            <pc:sldMk cId="2560988626" sldId="371"/>
            <ac:spMk id="2" creationId="{19F07646-16DC-9CA9-1346-30767F29B9BC}"/>
          </ac:spMkLst>
        </pc:spChg>
        <pc:spChg chg="add mod">
          <ac:chgData name="Alrihawi, Hamzah" userId="72811587-1dd6-4e7d-a376-efbf6c95deb1" providerId="ADAL" clId="{818931FE-BB6C-4C31-BC7E-67846B9AF0AE}" dt="2026-07-08T17:29:55.723" v="471"/>
          <ac:spMkLst>
            <pc:docMk/>
            <pc:sldMk cId="2560988626" sldId="371"/>
            <ac:spMk id="15" creationId="{050F4BA3-C761-78AC-EF00-80F2C667B281}"/>
          </ac:spMkLst>
        </pc:spChg>
        <pc:spChg chg="del">
          <ac:chgData name="Alrihawi, Hamzah" userId="72811587-1dd6-4e7d-a376-efbf6c95deb1" providerId="ADAL" clId="{818931FE-BB6C-4C31-BC7E-67846B9AF0AE}" dt="2026-07-08T17:29:55.047" v="470" actId="478"/>
          <ac:spMkLst>
            <pc:docMk/>
            <pc:sldMk cId="2560988626" sldId="371"/>
            <ac:spMk id="18" creationId="{E9702B96-4986-4816-A2CC-6B96ABCA81C5}"/>
          </ac:spMkLst>
        </pc:spChg>
      </pc:sldChg>
    </pc:docChg>
  </pc:docChgLst>
  <pc:docChgLst>
    <pc:chgData name="Ben Romdhane, Eya" userId="S::eya.benromdhane@study.hs-duesseldorf.de::60048e57-a9a3-4011-9387-1ae00cc1a133" providerId="AD" clId="Web-{91CF1815-5872-C97E-33F2-418996BBCA0D}"/>
    <pc:docChg chg="modSld">
      <pc:chgData name="Ben Romdhane, Eya" userId="S::eya.benromdhane@study.hs-duesseldorf.de::60048e57-a9a3-4011-9387-1ae00cc1a133" providerId="AD" clId="Web-{91CF1815-5872-C97E-33F2-418996BBCA0D}" dt="2026-07-07T21:10:51.555" v="40" actId="1076"/>
      <pc:docMkLst>
        <pc:docMk/>
      </pc:docMkLst>
      <pc:sldChg chg="modSp">
        <pc:chgData name="Ben Romdhane, Eya" userId="S::eya.benromdhane@study.hs-duesseldorf.de::60048e57-a9a3-4011-9387-1ae00cc1a133" providerId="AD" clId="Web-{91CF1815-5872-C97E-33F2-418996BBCA0D}" dt="2026-07-07T21:05:12.356" v="1" actId="20577"/>
        <pc:sldMkLst>
          <pc:docMk/>
          <pc:sldMk cId="1321980382" sldId="256"/>
        </pc:sldMkLst>
        <pc:spChg chg="mod">
          <ac:chgData name="Ben Romdhane, Eya" userId="S::eya.benromdhane@study.hs-duesseldorf.de::60048e57-a9a3-4011-9387-1ae00cc1a133" providerId="AD" clId="Web-{91CF1815-5872-C97E-33F2-418996BBCA0D}" dt="2026-07-07T21:05:12.356" v="1" actId="20577"/>
          <ac:spMkLst>
            <pc:docMk/>
            <pc:sldMk cId="1321980382" sldId="256"/>
            <ac:spMk id="8" creationId="{BBA868CA-EF15-4446-895A-F89C293A1324}"/>
          </ac:spMkLst>
        </pc:spChg>
      </pc:sldChg>
      <pc:sldChg chg="modSp">
        <pc:chgData name="Ben Romdhane, Eya" userId="S::eya.benromdhane@study.hs-duesseldorf.de::60048e57-a9a3-4011-9387-1ae00cc1a133" providerId="AD" clId="Web-{91CF1815-5872-C97E-33F2-418996BBCA0D}" dt="2026-07-07T21:09:04.156" v="13" actId="20577"/>
        <pc:sldMkLst>
          <pc:docMk/>
          <pc:sldMk cId="0" sldId="258"/>
        </pc:sldMkLst>
        <pc:spChg chg="mod">
          <ac:chgData name="Ben Romdhane, Eya" userId="S::eya.benromdhane@study.hs-duesseldorf.de::60048e57-a9a3-4011-9387-1ae00cc1a133" providerId="AD" clId="Web-{91CF1815-5872-C97E-33F2-418996BBCA0D}" dt="2026-07-07T21:09:04.156" v="13" actId="20577"/>
          <ac:spMkLst>
            <pc:docMk/>
            <pc:sldMk cId="0" sldId="258"/>
            <ac:spMk id="7" creationId="{00000000-0000-0000-0000-000000000000}"/>
          </ac:spMkLst>
        </pc:spChg>
      </pc:sldChg>
      <pc:sldChg chg="modSp">
        <pc:chgData name="Ben Romdhane, Eya" userId="S::eya.benromdhane@study.hs-duesseldorf.de::60048e57-a9a3-4011-9387-1ae00cc1a133" providerId="AD" clId="Web-{91CF1815-5872-C97E-33F2-418996BBCA0D}" dt="2026-07-07T21:10:24.647" v="39" actId="20577"/>
        <pc:sldMkLst>
          <pc:docMk/>
          <pc:sldMk cId="0" sldId="265"/>
        </pc:sldMkLst>
        <pc:spChg chg="mod">
          <ac:chgData name="Ben Romdhane, Eya" userId="S::eya.benromdhane@study.hs-duesseldorf.de::60048e57-a9a3-4011-9387-1ae00cc1a133" providerId="AD" clId="Web-{91CF1815-5872-C97E-33F2-418996BBCA0D}" dt="2026-07-07T21:10:24.647" v="39" actId="20577"/>
          <ac:spMkLst>
            <pc:docMk/>
            <pc:sldMk cId="0" sldId="265"/>
            <ac:spMk id="7" creationId="{00000000-0000-0000-0000-000000000000}"/>
          </ac:spMkLst>
        </pc:spChg>
      </pc:sldChg>
      <pc:sldChg chg="delSp">
        <pc:chgData name="Ben Romdhane, Eya" userId="S::eya.benromdhane@study.hs-duesseldorf.de::60048e57-a9a3-4011-9387-1ae00cc1a133" providerId="AD" clId="Web-{91CF1815-5872-C97E-33F2-418996BBCA0D}" dt="2026-07-07T21:07:07.709" v="4"/>
        <pc:sldMkLst>
          <pc:docMk/>
          <pc:sldMk cId="0" sldId="316"/>
        </pc:sldMkLst>
        <pc:spChg chg="del">
          <ac:chgData name="Ben Romdhane, Eya" userId="S::eya.benromdhane@study.hs-duesseldorf.de::60048e57-a9a3-4011-9387-1ae00cc1a133" providerId="AD" clId="Web-{91CF1815-5872-C97E-33F2-418996BBCA0D}" dt="2026-07-07T21:07:07.709" v="4"/>
          <ac:spMkLst>
            <pc:docMk/>
            <pc:sldMk cId="0" sldId="316"/>
            <ac:spMk id="8" creationId="{00000000-0000-0000-0000-000000000000}"/>
          </ac:spMkLst>
        </pc:spChg>
      </pc:sldChg>
      <pc:sldChg chg="modSp">
        <pc:chgData name="Ben Romdhane, Eya" userId="S::eya.benromdhane@study.hs-duesseldorf.de::60048e57-a9a3-4011-9387-1ae00cc1a133" providerId="AD" clId="Web-{91CF1815-5872-C97E-33F2-418996BBCA0D}" dt="2026-07-07T21:07:45.212" v="8" actId="20577"/>
        <pc:sldMkLst>
          <pc:docMk/>
          <pc:sldMk cId="0" sldId="317"/>
        </pc:sldMkLst>
        <pc:spChg chg="mod">
          <ac:chgData name="Ben Romdhane, Eya" userId="S::eya.benromdhane@study.hs-duesseldorf.de::60048e57-a9a3-4011-9387-1ae00cc1a133" providerId="AD" clId="Web-{91CF1815-5872-C97E-33F2-418996BBCA0D}" dt="2026-07-07T21:07:45.212" v="8" actId="20577"/>
          <ac:spMkLst>
            <pc:docMk/>
            <pc:sldMk cId="0" sldId="317"/>
            <ac:spMk id="7" creationId="{00000000-0000-0000-0000-000000000000}"/>
          </ac:spMkLst>
        </pc:spChg>
      </pc:sldChg>
      <pc:sldChg chg="modSp">
        <pc:chgData name="Ben Romdhane, Eya" userId="S::eya.benromdhane@study.hs-duesseldorf.de::60048e57-a9a3-4011-9387-1ae00cc1a133" providerId="AD" clId="Web-{91CF1815-5872-C97E-33F2-418996BBCA0D}" dt="2026-07-07T21:09:17.345" v="17" actId="20577"/>
        <pc:sldMkLst>
          <pc:docMk/>
          <pc:sldMk cId="0" sldId="318"/>
        </pc:sldMkLst>
        <pc:spChg chg="mod">
          <ac:chgData name="Ben Romdhane, Eya" userId="S::eya.benromdhane@study.hs-duesseldorf.de::60048e57-a9a3-4011-9387-1ae00cc1a133" providerId="AD" clId="Web-{91CF1815-5872-C97E-33F2-418996BBCA0D}" dt="2026-07-07T21:09:17.345" v="17" actId="20577"/>
          <ac:spMkLst>
            <pc:docMk/>
            <pc:sldMk cId="0" sldId="318"/>
            <ac:spMk id="7" creationId="{00000000-0000-0000-0000-000000000000}"/>
          </ac:spMkLst>
        </pc:spChg>
      </pc:sldChg>
      <pc:sldChg chg="modSp">
        <pc:chgData name="Ben Romdhane, Eya" userId="S::eya.benromdhane@study.hs-duesseldorf.de::60048e57-a9a3-4011-9387-1ae00cc1a133" providerId="AD" clId="Web-{91CF1815-5872-C97E-33F2-418996BBCA0D}" dt="2026-07-07T21:09:33.237" v="24" actId="20577"/>
        <pc:sldMkLst>
          <pc:docMk/>
          <pc:sldMk cId="0" sldId="319"/>
        </pc:sldMkLst>
        <pc:spChg chg="mod">
          <ac:chgData name="Ben Romdhane, Eya" userId="S::eya.benromdhane@study.hs-duesseldorf.de::60048e57-a9a3-4011-9387-1ae00cc1a133" providerId="AD" clId="Web-{91CF1815-5872-C97E-33F2-418996BBCA0D}" dt="2026-07-07T21:09:33.237" v="24" actId="20577"/>
          <ac:spMkLst>
            <pc:docMk/>
            <pc:sldMk cId="0" sldId="319"/>
            <ac:spMk id="7" creationId="{00000000-0000-0000-0000-000000000000}"/>
          </ac:spMkLst>
        </pc:spChg>
      </pc:sldChg>
      <pc:sldChg chg="modSp">
        <pc:chgData name="Ben Romdhane, Eya" userId="S::eya.benromdhane@study.hs-duesseldorf.de::60048e57-a9a3-4011-9387-1ae00cc1a133" providerId="AD" clId="Web-{91CF1815-5872-C97E-33F2-418996BBCA0D}" dt="2026-07-07T21:09:49.425" v="28" actId="20577"/>
        <pc:sldMkLst>
          <pc:docMk/>
          <pc:sldMk cId="0" sldId="321"/>
        </pc:sldMkLst>
        <pc:spChg chg="mod">
          <ac:chgData name="Ben Romdhane, Eya" userId="S::eya.benromdhane@study.hs-duesseldorf.de::60048e57-a9a3-4011-9387-1ae00cc1a133" providerId="AD" clId="Web-{91CF1815-5872-C97E-33F2-418996BBCA0D}" dt="2026-07-07T21:09:49.425" v="28" actId="20577"/>
          <ac:spMkLst>
            <pc:docMk/>
            <pc:sldMk cId="0" sldId="321"/>
            <ac:spMk id="7" creationId="{00000000-0000-0000-0000-000000000000}"/>
          </ac:spMkLst>
        </pc:spChg>
      </pc:sldChg>
      <pc:sldChg chg="modSp">
        <pc:chgData name="Ben Romdhane, Eya" userId="S::eya.benromdhane@study.hs-duesseldorf.de::60048e57-a9a3-4011-9387-1ae00cc1a133" providerId="AD" clId="Web-{91CF1815-5872-C97E-33F2-418996BBCA0D}" dt="2026-07-07T21:10:09.130" v="34" actId="20577"/>
        <pc:sldMkLst>
          <pc:docMk/>
          <pc:sldMk cId="0" sldId="322"/>
        </pc:sldMkLst>
        <pc:spChg chg="mod">
          <ac:chgData name="Ben Romdhane, Eya" userId="S::eya.benromdhane@study.hs-duesseldorf.de::60048e57-a9a3-4011-9387-1ae00cc1a133" providerId="AD" clId="Web-{91CF1815-5872-C97E-33F2-418996BBCA0D}" dt="2026-07-07T21:10:09.130" v="34" actId="20577"/>
          <ac:spMkLst>
            <pc:docMk/>
            <pc:sldMk cId="0" sldId="322"/>
            <ac:spMk id="7" creationId="{00000000-0000-0000-0000-000000000000}"/>
          </ac:spMkLst>
        </pc:spChg>
      </pc:sldChg>
      <pc:sldChg chg="modSp">
        <pc:chgData name="Ben Romdhane, Eya" userId="S::eya.benromdhane@study.hs-duesseldorf.de::60048e57-a9a3-4011-9387-1ae00cc1a133" providerId="AD" clId="Web-{91CF1815-5872-C97E-33F2-418996BBCA0D}" dt="2026-07-07T21:10:51.555" v="40" actId="1076"/>
        <pc:sldMkLst>
          <pc:docMk/>
          <pc:sldMk cId="1213176608" sldId="336"/>
        </pc:sldMkLst>
        <pc:spChg chg="mod">
          <ac:chgData name="Ben Romdhane, Eya" userId="S::eya.benromdhane@study.hs-duesseldorf.de::60048e57-a9a3-4011-9387-1ae00cc1a133" providerId="AD" clId="Web-{91CF1815-5872-C97E-33F2-418996BBCA0D}" dt="2026-07-07T21:10:51.555" v="40" actId="1076"/>
          <ac:spMkLst>
            <pc:docMk/>
            <pc:sldMk cId="1213176608" sldId="336"/>
            <ac:spMk id="36" creationId="{1C21ED41-E011-4332-78CF-700AB0B72B31}"/>
          </ac:spMkLst>
        </pc:spChg>
      </pc:sldChg>
    </pc:docChg>
  </pc:docChgLst>
  <pc:docChgLst>
    <pc:chgData name="Neubauer, Nico" userId="35c88a3a-0f6c-4699-a99a-90474f651e66" providerId="ADAL" clId="{DA966A02-432D-5B2E-BB1C-E07C49E8B7BA}"/>
    <pc:docChg chg="undo redo custSel addSld delSld modSld sldOrd">
      <pc:chgData name="Neubauer, Nico" userId="35c88a3a-0f6c-4699-a99a-90474f651e66" providerId="ADAL" clId="{DA966A02-432D-5B2E-BB1C-E07C49E8B7BA}" dt="2026-07-08T20:31:10.240" v="791" actId="478"/>
      <pc:docMkLst>
        <pc:docMk/>
      </pc:docMkLst>
      <pc:sldChg chg="modSp mod">
        <pc:chgData name="Neubauer, Nico" userId="35c88a3a-0f6c-4699-a99a-90474f651e66" providerId="ADAL" clId="{DA966A02-432D-5B2E-BB1C-E07C49E8B7BA}" dt="2026-07-08T20:27:51.645" v="787" actId="255"/>
        <pc:sldMkLst>
          <pc:docMk/>
          <pc:sldMk cId="1321980382" sldId="256"/>
        </pc:sldMkLst>
        <pc:spChg chg="mod">
          <ac:chgData name="Neubauer, Nico" userId="35c88a3a-0f6c-4699-a99a-90474f651e66" providerId="ADAL" clId="{DA966A02-432D-5B2E-BB1C-E07C49E8B7BA}" dt="2026-07-08T20:27:51.645" v="787" actId="255"/>
          <ac:spMkLst>
            <pc:docMk/>
            <pc:sldMk cId="1321980382" sldId="256"/>
            <ac:spMk id="8" creationId="{BBA868CA-EF15-4446-895A-F89C293A1324}"/>
          </ac:spMkLst>
        </pc:spChg>
      </pc:sldChg>
      <pc:sldChg chg="delSp mod">
        <pc:chgData name="Neubauer, Nico" userId="35c88a3a-0f6c-4699-a99a-90474f651e66" providerId="ADAL" clId="{DA966A02-432D-5B2E-BB1C-E07C49E8B7BA}" dt="2026-07-08T20:25:07.213" v="780" actId="478"/>
        <pc:sldMkLst>
          <pc:docMk/>
          <pc:sldMk cId="0" sldId="258"/>
        </pc:sldMkLst>
        <pc:spChg chg="del">
          <ac:chgData name="Neubauer, Nico" userId="35c88a3a-0f6c-4699-a99a-90474f651e66" providerId="ADAL" clId="{DA966A02-432D-5B2E-BB1C-E07C49E8B7BA}" dt="2026-07-08T20:25:07.213" v="780" actId="478"/>
          <ac:spMkLst>
            <pc:docMk/>
            <pc:sldMk cId="0" sldId="258"/>
            <ac:spMk id="7" creationId="{00000000-0000-0000-0000-000000000000}"/>
          </ac:spMkLst>
        </pc:spChg>
      </pc:sldChg>
      <pc:sldChg chg="delSp mod">
        <pc:chgData name="Neubauer, Nico" userId="35c88a3a-0f6c-4699-a99a-90474f651e66" providerId="ADAL" clId="{DA966A02-432D-5B2E-BB1C-E07C49E8B7BA}" dt="2026-07-08T20:31:10.240" v="791" actId="478"/>
        <pc:sldMkLst>
          <pc:docMk/>
          <pc:sldMk cId="1295098333" sldId="259"/>
        </pc:sldMkLst>
        <pc:spChg chg="del">
          <ac:chgData name="Neubauer, Nico" userId="35c88a3a-0f6c-4699-a99a-90474f651e66" providerId="ADAL" clId="{DA966A02-432D-5B2E-BB1C-E07C49E8B7BA}" dt="2026-07-08T20:31:10.240" v="791" actId="478"/>
          <ac:spMkLst>
            <pc:docMk/>
            <pc:sldMk cId="1295098333" sldId="259"/>
            <ac:spMk id="4" creationId="{64204976-E2C8-44ED-9698-A6CD75B595BB}"/>
          </ac:spMkLst>
        </pc:spChg>
        <pc:spChg chg="del">
          <ac:chgData name="Neubauer, Nico" userId="35c88a3a-0f6c-4699-a99a-90474f651e66" providerId="ADAL" clId="{DA966A02-432D-5B2E-BB1C-E07C49E8B7BA}" dt="2026-07-08T20:30:44.278" v="788" actId="478"/>
          <ac:spMkLst>
            <pc:docMk/>
            <pc:sldMk cId="1295098333" sldId="259"/>
            <ac:spMk id="8" creationId="{7A4E5C97-0916-470C-B701-72AC1FDAC50B}"/>
          </ac:spMkLst>
        </pc:spChg>
      </pc:sldChg>
      <pc:sldChg chg="delSp mod">
        <pc:chgData name="Neubauer, Nico" userId="35c88a3a-0f6c-4699-a99a-90474f651e66" providerId="ADAL" clId="{DA966A02-432D-5B2E-BB1C-E07C49E8B7BA}" dt="2026-07-08T20:22:18.820" v="729" actId="478"/>
        <pc:sldMkLst>
          <pc:docMk/>
          <pc:sldMk cId="826646563" sldId="260"/>
        </pc:sldMkLst>
        <pc:spChg chg="del">
          <ac:chgData name="Neubauer, Nico" userId="35c88a3a-0f6c-4699-a99a-90474f651e66" providerId="ADAL" clId="{DA966A02-432D-5B2E-BB1C-E07C49E8B7BA}" dt="2026-07-08T20:22:18.820" v="729" actId="478"/>
          <ac:spMkLst>
            <pc:docMk/>
            <pc:sldMk cId="826646563" sldId="260"/>
            <ac:spMk id="5" creationId="{8E14615A-CB5C-4408-A07D-AFBB936161F0}"/>
          </ac:spMkLst>
        </pc:spChg>
      </pc:sldChg>
      <pc:sldChg chg="delSp mod">
        <pc:chgData name="Neubauer, Nico" userId="35c88a3a-0f6c-4699-a99a-90474f651e66" providerId="ADAL" clId="{DA966A02-432D-5B2E-BB1C-E07C49E8B7BA}" dt="2026-07-08T20:22:17.071" v="727" actId="478"/>
        <pc:sldMkLst>
          <pc:docMk/>
          <pc:sldMk cId="1756087197" sldId="261"/>
        </pc:sldMkLst>
        <pc:spChg chg="del">
          <ac:chgData name="Neubauer, Nico" userId="35c88a3a-0f6c-4699-a99a-90474f651e66" providerId="ADAL" clId="{DA966A02-432D-5B2E-BB1C-E07C49E8B7BA}" dt="2026-07-08T20:22:17.071" v="727" actId="478"/>
          <ac:spMkLst>
            <pc:docMk/>
            <pc:sldMk cId="1756087197" sldId="261"/>
            <ac:spMk id="5" creationId="{82688CC3-1153-4997-A07D-C59B2E7A47FA}"/>
          </ac:spMkLst>
        </pc:spChg>
      </pc:sldChg>
      <pc:sldChg chg="delSp mod">
        <pc:chgData name="Neubauer, Nico" userId="35c88a3a-0f6c-4699-a99a-90474f651e66" providerId="ADAL" clId="{DA966A02-432D-5B2E-BB1C-E07C49E8B7BA}" dt="2026-07-08T20:22:17.922" v="728" actId="478"/>
        <pc:sldMkLst>
          <pc:docMk/>
          <pc:sldMk cId="1560447056" sldId="262"/>
        </pc:sldMkLst>
        <pc:spChg chg="del">
          <ac:chgData name="Neubauer, Nico" userId="35c88a3a-0f6c-4699-a99a-90474f651e66" providerId="ADAL" clId="{DA966A02-432D-5B2E-BB1C-E07C49E8B7BA}" dt="2026-07-08T20:22:17.922" v="728" actId="478"/>
          <ac:spMkLst>
            <pc:docMk/>
            <pc:sldMk cId="1560447056" sldId="262"/>
            <ac:spMk id="5" creationId="{A3760094-BA07-4AB5-8692-5A5F1721A079}"/>
          </ac:spMkLst>
        </pc:spChg>
      </pc:sldChg>
      <pc:sldChg chg="delSp mod">
        <pc:chgData name="Neubauer, Nico" userId="35c88a3a-0f6c-4699-a99a-90474f651e66" providerId="ADAL" clId="{DA966A02-432D-5B2E-BB1C-E07C49E8B7BA}" dt="2026-07-08T20:22:19.737" v="730" actId="478"/>
        <pc:sldMkLst>
          <pc:docMk/>
          <pc:sldMk cId="2845070572" sldId="263"/>
        </pc:sldMkLst>
        <pc:spChg chg="del">
          <ac:chgData name="Neubauer, Nico" userId="35c88a3a-0f6c-4699-a99a-90474f651e66" providerId="ADAL" clId="{DA966A02-432D-5B2E-BB1C-E07C49E8B7BA}" dt="2026-07-08T20:22:19.737" v="730" actId="478"/>
          <ac:spMkLst>
            <pc:docMk/>
            <pc:sldMk cId="2845070572" sldId="263"/>
            <ac:spMk id="5" creationId="{D4196010-B33E-4567-AF2A-24744491095C}"/>
          </ac:spMkLst>
        </pc:spChg>
      </pc:sldChg>
      <pc:sldChg chg="delSp mod">
        <pc:chgData name="Neubauer, Nico" userId="35c88a3a-0f6c-4699-a99a-90474f651e66" providerId="ADAL" clId="{DA966A02-432D-5B2E-BB1C-E07C49E8B7BA}" dt="2026-07-08T20:31:04.100" v="790" actId="478"/>
        <pc:sldMkLst>
          <pc:docMk/>
          <pc:sldMk cId="864619017" sldId="264"/>
        </pc:sldMkLst>
        <pc:spChg chg="del">
          <ac:chgData name="Neubauer, Nico" userId="35c88a3a-0f6c-4699-a99a-90474f651e66" providerId="ADAL" clId="{DA966A02-432D-5B2E-BB1C-E07C49E8B7BA}" dt="2026-07-08T20:31:04.100" v="790" actId="478"/>
          <ac:spMkLst>
            <pc:docMk/>
            <pc:sldMk cId="864619017" sldId="264"/>
            <ac:spMk id="4" creationId="{948E7D68-56CD-4FF7-9D4F-F56AA4F15EF5}"/>
          </ac:spMkLst>
        </pc:spChg>
        <pc:spChg chg="del">
          <ac:chgData name="Neubauer, Nico" userId="35c88a3a-0f6c-4699-a99a-90474f651e66" providerId="ADAL" clId="{DA966A02-432D-5B2E-BB1C-E07C49E8B7BA}" dt="2026-07-08T20:30:57.401" v="789" actId="478"/>
          <ac:spMkLst>
            <pc:docMk/>
            <pc:sldMk cId="864619017" sldId="264"/>
            <ac:spMk id="8" creationId="{D18CD52F-12F7-4D95-92D6-48220C923B24}"/>
          </ac:spMkLst>
        </pc:spChg>
      </pc:sldChg>
      <pc:sldChg chg="delSp mod">
        <pc:chgData name="Neubauer, Nico" userId="35c88a3a-0f6c-4699-a99a-90474f651e66" providerId="ADAL" clId="{DA966A02-432D-5B2E-BB1C-E07C49E8B7BA}" dt="2026-07-08T20:25:16.767" v="785" actId="478"/>
        <pc:sldMkLst>
          <pc:docMk/>
          <pc:sldMk cId="0" sldId="265"/>
        </pc:sldMkLst>
        <pc:spChg chg="del">
          <ac:chgData name="Neubauer, Nico" userId="35c88a3a-0f6c-4699-a99a-90474f651e66" providerId="ADAL" clId="{DA966A02-432D-5B2E-BB1C-E07C49E8B7BA}" dt="2026-07-08T20:25:16.767" v="785" actId="478"/>
          <ac:spMkLst>
            <pc:docMk/>
            <pc:sldMk cId="0" sldId="265"/>
            <ac:spMk id="7" creationId="{00000000-0000-0000-0000-000000000000}"/>
          </ac:spMkLst>
        </pc:spChg>
      </pc:sldChg>
      <pc:sldChg chg="delSp mod">
        <pc:chgData name="Neubauer, Nico" userId="35c88a3a-0f6c-4699-a99a-90474f651e66" providerId="ADAL" clId="{DA966A02-432D-5B2E-BB1C-E07C49E8B7BA}" dt="2026-07-08T20:22:14.433" v="725" actId="478"/>
        <pc:sldMkLst>
          <pc:docMk/>
          <pc:sldMk cId="937229113" sldId="267"/>
        </pc:sldMkLst>
        <pc:spChg chg="del">
          <ac:chgData name="Neubauer, Nico" userId="35c88a3a-0f6c-4699-a99a-90474f651e66" providerId="ADAL" clId="{DA966A02-432D-5B2E-BB1C-E07C49E8B7BA}" dt="2026-07-08T20:22:14.433" v="725" actId="478"/>
          <ac:spMkLst>
            <pc:docMk/>
            <pc:sldMk cId="937229113" sldId="267"/>
            <ac:spMk id="5" creationId="{9EDB92B5-477F-43B7-A0EA-DBAD822D08B9}"/>
          </ac:spMkLst>
        </pc:spChg>
      </pc:sldChg>
      <pc:sldChg chg="addSp delSp modSp mod">
        <pc:chgData name="Neubauer, Nico" userId="35c88a3a-0f6c-4699-a99a-90474f651e66" providerId="ADAL" clId="{DA966A02-432D-5B2E-BB1C-E07C49E8B7BA}" dt="2026-07-08T20:22:27.870" v="737" actId="1035"/>
        <pc:sldMkLst>
          <pc:docMk/>
          <pc:sldMk cId="23407895" sldId="270"/>
        </pc:sldMkLst>
        <pc:spChg chg="add del mod">
          <ac:chgData name="Neubauer, Nico" userId="35c88a3a-0f6c-4699-a99a-90474f651e66" providerId="ADAL" clId="{DA966A02-432D-5B2E-BB1C-E07C49E8B7BA}" dt="2026-07-08T20:22:27.870" v="737" actId="1035"/>
          <ac:spMkLst>
            <pc:docMk/>
            <pc:sldMk cId="23407895" sldId="270"/>
            <ac:spMk id="10" creationId="{6F8F7EA7-727F-4453-9246-758DA804F0BF}"/>
          </ac:spMkLst>
        </pc:spChg>
      </pc:sldChg>
      <pc:sldChg chg="delSp modSp add del mod">
        <pc:chgData name="Neubauer, Nico" userId="35c88a3a-0f6c-4699-a99a-90474f651e66" providerId="ADAL" clId="{DA966A02-432D-5B2E-BB1C-E07C49E8B7BA}" dt="2026-07-08T20:23:15.670" v="752" actId="478"/>
        <pc:sldMkLst>
          <pc:docMk/>
          <pc:sldMk cId="1640378129" sldId="276"/>
        </pc:sldMkLst>
        <pc:spChg chg="del">
          <ac:chgData name="Neubauer, Nico" userId="35c88a3a-0f6c-4699-a99a-90474f651e66" providerId="ADAL" clId="{DA966A02-432D-5B2E-BB1C-E07C49E8B7BA}" dt="2026-07-07T15:28:17.980" v="58" actId="478"/>
          <ac:spMkLst>
            <pc:docMk/>
            <pc:sldMk cId="1640378129" sldId="276"/>
            <ac:spMk id="4" creationId="{2575CEB2-6315-4698-8190-17A41201ED2E}"/>
          </ac:spMkLst>
        </pc:spChg>
        <pc:spChg chg="mod">
          <ac:chgData name="Neubauer, Nico" userId="35c88a3a-0f6c-4699-a99a-90474f651e66" providerId="ADAL" clId="{DA966A02-432D-5B2E-BB1C-E07C49E8B7BA}" dt="2026-07-07T15:28:27.186" v="59" actId="20577"/>
          <ac:spMkLst>
            <pc:docMk/>
            <pc:sldMk cId="1640378129" sldId="276"/>
            <ac:spMk id="7" creationId="{1BC4C753-B768-4D61-A563-2E6B74C56365}"/>
          </ac:spMkLst>
        </pc:spChg>
        <pc:spChg chg="del mod">
          <ac:chgData name="Neubauer, Nico" userId="35c88a3a-0f6c-4699-a99a-90474f651e66" providerId="ADAL" clId="{DA966A02-432D-5B2E-BB1C-E07C49E8B7BA}" dt="2026-07-08T14:57:48.534" v="193" actId="478"/>
          <ac:spMkLst>
            <pc:docMk/>
            <pc:sldMk cId="1640378129" sldId="276"/>
            <ac:spMk id="8" creationId="{B87B1354-83D3-4835-B2E3-85D27841B77A}"/>
          </ac:spMkLst>
        </pc:spChg>
        <pc:spChg chg="del mod">
          <ac:chgData name="Neubauer, Nico" userId="35c88a3a-0f6c-4699-a99a-90474f651e66" providerId="ADAL" clId="{DA966A02-432D-5B2E-BB1C-E07C49E8B7BA}" dt="2026-07-08T20:23:15.670" v="752" actId="478"/>
          <ac:spMkLst>
            <pc:docMk/>
            <pc:sldMk cId="1640378129" sldId="276"/>
            <ac:spMk id="9" creationId="{BB34A8BC-003A-4984-9C45-012B3F87AF57}"/>
          </ac:spMkLst>
        </pc:spChg>
      </pc:sldChg>
      <pc:sldChg chg="del mod modShow">
        <pc:chgData name="Neubauer, Nico" userId="35c88a3a-0f6c-4699-a99a-90474f651e66" providerId="ADAL" clId="{DA966A02-432D-5B2E-BB1C-E07C49E8B7BA}" dt="2026-07-07T15:30:22.633" v="74" actId="2696"/>
        <pc:sldMkLst>
          <pc:docMk/>
          <pc:sldMk cId="1819924789" sldId="277"/>
        </pc:sldMkLst>
      </pc:sldChg>
      <pc:sldChg chg="modSp del mod modShow">
        <pc:chgData name="Neubauer, Nico" userId="35c88a3a-0f6c-4699-a99a-90474f651e66" providerId="ADAL" clId="{DA966A02-432D-5B2E-BB1C-E07C49E8B7BA}" dt="2026-07-07T15:30:23.170" v="75" actId="2696"/>
        <pc:sldMkLst>
          <pc:docMk/>
          <pc:sldMk cId="1620689113" sldId="278"/>
        </pc:sldMkLst>
      </pc:sldChg>
      <pc:sldChg chg="delSp modSp add del mod modShow">
        <pc:chgData name="Neubauer, Nico" userId="35c88a3a-0f6c-4699-a99a-90474f651e66" providerId="ADAL" clId="{DA966A02-432D-5B2E-BB1C-E07C49E8B7BA}" dt="2026-07-07T15:30:23.651" v="76" actId="2696"/>
        <pc:sldMkLst>
          <pc:docMk/>
          <pc:sldMk cId="849301628" sldId="279"/>
        </pc:sldMkLst>
      </pc:sldChg>
      <pc:sldChg chg="delSp modSp add del mod modShow">
        <pc:chgData name="Neubauer, Nico" userId="35c88a3a-0f6c-4699-a99a-90474f651e66" providerId="ADAL" clId="{DA966A02-432D-5B2E-BB1C-E07C49E8B7BA}" dt="2026-07-07T15:30:24.082" v="77" actId="2696"/>
        <pc:sldMkLst>
          <pc:docMk/>
          <pc:sldMk cId="1229456950" sldId="280"/>
        </pc:sldMkLst>
      </pc:sldChg>
      <pc:sldChg chg="delSp modSp del mod modShow">
        <pc:chgData name="Neubauer, Nico" userId="35c88a3a-0f6c-4699-a99a-90474f651e66" providerId="ADAL" clId="{DA966A02-432D-5B2E-BB1C-E07C49E8B7BA}" dt="2026-07-07T15:30:24.505" v="78" actId="2696"/>
        <pc:sldMkLst>
          <pc:docMk/>
          <pc:sldMk cId="37730291" sldId="281"/>
        </pc:sldMkLst>
      </pc:sldChg>
      <pc:sldChg chg="delSp modSp mod">
        <pc:chgData name="Neubauer, Nico" userId="35c88a3a-0f6c-4699-a99a-90474f651e66" providerId="ADAL" clId="{DA966A02-432D-5B2E-BB1C-E07C49E8B7BA}" dt="2026-07-08T20:24:01.142" v="764" actId="478"/>
        <pc:sldMkLst>
          <pc:docMk/>
          <pc:sldMk cId="632045277" sldId="282"/>
        </pc:sldMkLst>
        <pc:spChg chg="del mod">
          <ac:chgData name="Neubauer, Nico" userId="35c88a3a-0f6c-4699-a99a-90474f651e66" providerId="ADAL" clId="{DA966A02-432D-5B2E-BB1C-E07C49E8B7BA}" dt="2026-07-08T20:24:01.142" v="764" actId="478"/>
          <ac:spMkLst>
            <pc:docMk/>
            <pc:sldMk cId="632045277" sldId="282"/>
            <ac:spMk id="9" creationId="{06C0588F-BEB2-4475-9E66-4F5DD9078070}"/>
          </ac:spMkLst>
        </pc:spChg>
      </pc:sldChg>
      <pc:sldChg chg="delSp mod">
        <pc:chgData name="Neubauer, Nico" userId="35c88a3a-0f6c-4699-a99a-90474f651e66" providerId="ADAL" clId="{DA966A02-432D-5B2E-BB1C-E07C49E8B7BA}" dt="2026-07-08T20:25:26.005" v="786" actId="478"/>
        <pc:sldMkLst>
          <pc:docMk/>
          <pc:sldMk cId="1445416330" sldId="294"/>
        </pc:sldMkLst>
        <pc:spChg chg="del">
          <ac:chgData name="Neubauer, Nico" userId="35c88a3a-0f6c-4699-a99a-90474f651e66" providerId="ADAL" clId="{DA966A02-432D-5B2E-BB1C-E07C49E8B7BA}" dt="2026-07-08T20:25:26.005" v="786" actId="478"/>
          <ac:spMkLst>
            <pc:docMk/>
            <pc:sldMk cId="1445416330" sldId="294"/>
            <ac:spMk id="3" creationId="{3CB51EA1-3B0A-45EB-B5E8-FA6065A784B0}"/>
          </ac:spMkLst>
        </pc:spChg>
      </pc:sldChg>
      <pc:sldChg chg="delSp mod">
        <pc:chgData name="Neubauer, Nico" userId="35c88a3a-0f6c-4699-a99a-90474f651e66" providerId="ADAL" clId="{DA966A02-432D-5B2E-BB1C-E07C49E8B7BA}" dt="2026-07-08T20:22:12.678" v="724" actId="478"/>
        <pc:sldMkLst>
          <pc:docMk/>
          <pc:sldMk cId="679013116" sldId="307"/>
        </pc:sldMkLst>
        <pc:spChg chg="del">
          <ac:chgData name="Neubauer, Nico" userId="35c88a3a-0f6c-4699-a99a-90474f651e66" providerId="ADAL" clId="{DA966A02-432D-5B2E-BB1C-E07C49E8B7BA}" dt="2026-07-08T20:22:12.678" v="724" actId="478"/>
          <ac:spMkLst>
            <pc:docMk/>
            <pc:sldMk cId="679013116" sldId="307"/>
            <ac:spMk id="109" creationId="{DFAC4082-70B1-4A10-B813-F0D1A1243F3A}"/>
          </ac:spMkLst>
        </pc:spChg>
      </pc:sldChg>
      <pc:sldChg chg="delSp mod">
        <pc:chgData name="Neubauer, Nico" userId="35c88a3a-0f6c-4699-a99a-90474f651e66" providerId="ADAL" clId="{DA966A02-432D-5B2E-BB1C-E07C49E8B7BA}" dt="2026-07-08T20:22:10.707" v="723" actId="478"/>
        <pc:sldMkLst>
          <pc:docMk/>
          <pc:sldMk cId="1954152214" sldId="308"/>
        </pc:sldMkLst>
        <pc:spChg chg="del">
          <ac:chgData name="Neubauer, Nico" userId="35c88a3a-0f6c-4699-a99a-90474f651e66" providerId="ADAL" clId="{DA966A02-432D-5B2E-BB1C-E07C49E8B7BA}" dt="2026-07-08T20:22:10.707" v="723" actId="478"/>
          <ac:spMkLst>
            <pc:docMk/>
            <pc:sldMk cId="1954152214" sldId="308"/>
            <ac:spMk id="74" creationId="{60A9A17A-D36A-428D-BC80-D0AB89A0AFC3}"/>
          </ac:spMkLst>
        </pc:spChg>
      </pc:sldChg>
      <pc:sldChg chg="delSp mod">
        <pc:chgData name="Neubauer, Nico" userId="35c88a3a-0f6c-4699-a99a-90474f651e66" providerId="ADAL" clId="{DA966A02-432D-5B2E-BB1C-E07C49E8B7BA}" dt="2026-07-08T20:22:02.934" v="720" actId="478"/>
        <pc:sldMkLst>
          <pc:docMk/>
          <pc:sldMk cId="145936364" sldId="309"/>
        </pc:sldMkLst>
        <pc:spChg chg="del">
          <ac:chgData name="Neubauer, Nico" userId="35c88a3a-0f6c-4699-a99a-90474f651e66" providerId="ADAL" clId="{DA966A02-432D-5B2E-BB1C-E07C49E8B7BA}" dt="2026-07-08T20:22:02.934" v="720" actId="478"/>
          <ac:spMkLst>
            <pc:docMk/>
            <pc:sldMk cId="145936364" sldId="309"/>
            <ac:spMk id="5" creationId="{9C3932DB-EE62-4BC1-948A-7F01364DE8F6}"/>
          </ac:spMkLst>
        </pc:spChg>
      </pc:sldChg>
      <pc:sldChg chg="delSp mod">
        <pc:chgData name="Neubauer, Nico" userId="35c88a3a-0f6c-4699-a99a-90474f651e66" providerId="ADAL" clId="{DA966A02-432D-5B2E-BB1C-E07C49E8B7BA}" dt="2026-07-08T20:22:09.454" v="722" actId="478"/>
        <pc:sldMkLst>
          <pc:docMk/>
          <pc:sldMk cId="998770386" sldId="310"/>
        </pc:sldMkLst>
        <pc:spChg chg="del">
          <ac:chgData name="Neubauer, Nico" userId="35c88a3a-0f6c-4699-a99a-90474f651e66" providerId="ADAL" clId="{DA966A02-432D-5B2E-BB1C-E07C49E8B7BA}" dt="2026-07-08T20:22:09.454" v="722" actId="478"/>
          <ac:spMkLst>
            <pc:docMk/>
            <pc:sldMk cId="998770386" sldId="310"/>
            <ac:spMk id="5" creationId="{9D4215F1-895B-4149-8924-005C9C47FE88}"/>
          </ac:spMkLst>
        </pc:spChg>
      </pc:sldChg>
      <pc:sldChg chg="delSp mod">
        <pc:chgData name="Neubauer, Nico" userId="35c88a3a-0f6c-4699-a99a-90474f651e66" providerId="ADAL" clId="{DA966A02-432D-5B2E-BB1C-E07C49E8B7BA}" dt="2026-07-08T20:22:15.977" v="726" actId="478"/>
        <pc:sldMkLst>
          <pc:docMk/>
          <pc:sldMk cId="2591975979" sldId="311"/>
        </pc:sldMkLst>
        <pc:spChg chg="del">
          <ac:chgData name="Neubauer, Nico" userId="35c88a3a-0f6c-4699-a99a-90474f651e66" providerId="ADAL" clId="{DA966A02-432D-5B2E-BB1C-E07C49E8B7BA}" dt="2026-07-08T20:22:15.977" v="726" actId="478"/>
          <ac:spMkLst>
            <pc:docMk/>
            <pc:sldMk cId="2591975979" sldId="311"/>
            <ac:spMk id="5" creationId="{E1AA40C6-EAA0-48A6-9E40-3EB12093C97B}"/>
          </ac:spMkLst>
        </pc:spChg>
      </pc:sldChg>
      <pc:sldChg chg="delSp mod">
        <pc:chgData name="Neubauer, Nico" userId="35c88a3a-0f6c-4699-a99a-90474f651e66" providerId="ADAL" clId="{DA966A02-432D-5B2E-BB1C-E07C49E8B7BA}" dt="2026-07-08T20:22:20.716" v="731" actId="478"/>
        <pc:sldMkLst>
          <pc:docMk/>
          <pc:sldMk cId="26071067" sldId="312"/>
        </pc:sldMkLst>
        <pc:spChg chg="del">
          <ac:chgData name="Neubauer, Nico" userId="35c88a3a-0f6c-4699-a99a-90474f651e66" providerId="ADAL" clId="{DA966A02-432D-5B2E-BB1C-E07C49E8B7BA}" dt="2026-07-08T20:22:20.716" v="731" actId="478"/>
          <ac:spMkLst>
            <pc:docMk/>
            <pc:sldMk cId="26071067" sldId="312"/>
            <ac:spMk id="5" creationId="{A12F359D-6CF4-4DB8-AE6A-28767671CED6}"/>
          </ac:spMkLst>
        </pc:spChg>
      </pc:sldChg>
      <pc:sldChg chg="delSp mod">
        <pc:chgData name="Neubauer, Nico" userId="35c88a3a-0f6c-4699-a99a-90474f651e66" providerId="ADAL" clId="{DA966A02-432D-5B2E-BB1C-E07C49E8B7BA}" dt="2026-07-08T20:22:21.572" v="732" actId="478"/>
        <pc:sldMkLst>
          <pc:docMk/>
          <pc:sldMk cId="2969215369" sldId="313"/>
        </pc:sldMkLst>
        <pc:spChg chg="del">
          <ac:chgData name="Neubauer, Nico" userId="35c88a3a-0f6c-4699-a99a-90474f651e66" providerId="ADAL" clId="{DA966A02-432D-5B2E-BB1C-E07C49E8B7BA}" dt="2026-07-08T20:22:21.572" v="732" actId="478"/>
          <ac:spMkLst>
            <pc:docMk/>
            <pc:sldMk cId="2969215369" sldId="313"/>
            <ac:spMk id="5" creationId="{D0575AFF-887E-4AAE-9ADE-9295105E379C}"/>
          </ac:spMkLst>
        </pc:spChg>
      </pc:sldChg>
      <pc:sldChg chg="delSp mod">
        <pc:chgData name="Neubauer, Nico" userId="35c88a3a-0f6c-4699-a99a-90474f651e66" providerId="ADAL" clId="{DA966A02-432D-5B2E-BB1C-E07C49E8B7BA}" dt="2026-07-08T20:22:08.054" v="721" actId="478"/>
        <pc:sldMkLst>
          <pc:docMk/>
          <pc:sldMk cId="1686239618" sldId="315"/>
        </pc:sldMkLst>
        <pc:spChg chg="del">
          <ac:chgData name="Neubauer, Nico" userId="35c88a3a-0f6c-4699-a99a-90474f651e66" providerId="ADAL" clId="{DA966A02-432D-5B2E-BB1C-E07C49E8B7BA}" dt="2026-07-08T20:22:08.054" v="721" actId="478"/>
          <ac:spMkLst>
            <pc:docMk/>
            <pc:sldMk cId="1686239618" sldId="315"/>
            <ac:spMk id="5" creationId="{493DF64D-6AE2-4F08-B7E3-B6805DA95A82}"/>
          </ac:spMkLst>
        </pc:spChg>
      </pc:sldChg>
      <pc:sldChg chg="delSp mod">
        <pc:chgData name="Neubauer, Nico" userId="35c88a3a-0f6c-4699-a99a-90474f651e66" providerId="ADAL" clId="{DA966A02-432D-5B2E-BB1C-E07C49E8B7BA}" dt="2026-07-08T20:24:59.844" v="778" actId="478"/>
        <pc:sldMkLst>
          <pc:docMk/>
          <pc:sldMk cId="0" sldId="317"/>
        </pc:sldMkLst>
        <pc:spChg chg="del">
          <ac:chgData name="Neubauer, Nico" userId="35c88a3a-0f6c-4699-a99a-90474f651e66" providerId="ADAL" clId="{DA966A02-432D-5B2E-BB1C-E07C49E8B7BA}" dt="2026-07-08T20:24:59.844" v="778" actId="478"/>
          <ac:spMkLst>
            <pc:docMk/>
            <pc:sldMk cId="0" sldId="317"/>
            <ac:spMk id="7" creationId="{00000000-0000-0000-0000-000000000000}"/>
          </ac:spMkLst>
        </pc:spChg>
      </pc:sldChg>
      <pc:sldChg chg="delSp mod">
        <pc:chgData name="Neubauer, Nico" userId="35c88a3a-0f6c-4699-a99a-90474f651e66" providerId="ADAL" clId="{DA966A02-432D-5B2E-BB1C-E07C49E8B7BA}" dt="2026-07-08T20:25:08.692" v="781" actId="478"/>
        <pc:sldMkLst>
          <pc:docMk/>
          <pc:sldMk cId="0" sldId="318"/>
        </pc:sldMkLst>
        <pc:spChg chg="del">
          <ac:chgData name="Neubauer, Nico" userId="35c88a3a-0f6c-4699-a99a-90474f651e66" providerId="ADAL" clId="{DA966A02-432D-5B2E-BB1C-E07C49E8B7BA}" dt="2026-07-08T20:25:08.692" v="781" actId="478"/>
          <ac:spMkLst>
            <pc:docMk/>
            <pc:sldMk cId="0" sldId="318"/>
            <ac:spMk id="7" creationId="{00000000-0000-0000-0000-000000000000}"/>
          </ac:spMkLst>
        </pc:spChg>
      </pc:sldChg>
      <pc:sldChg chg="delSp mod">
        <pc:chgData name="Neubauer, Nico" userId="35c88a3a-0f6c-4699-a99a-90474f651e66" providerId="ADAL" clId="{DA966A02-432D-5B2E-BB1C-E07C49E8B7BA}" dt="2026-07-08T20:25:10.688" v="782" actId="478"/>
        <pc:sldMkLst>
          <pc:docMk/>
          <pc:sldMk cId="0" sldId="319"/>
        </pc:sldMkLst>
        <pc:spChg chg="del">
          <ac:chgData name="Neubauer, Nico" userId="35c88a3a-0f6c-4699-a99a-90474f651e66" providerId="ADAL" clId="{DA966A02-432D-5B2E-BB1C-E07C49E8B7BA}" dt="2026-07-08T20:25:10.688" v="782" actId="478"/>
          <ac:spMkLst>
            <pc:docMk/>
            <pc:sldMk cId="0" sldId="319"/>
            <ac:spMk id="7" creationId="{00000000-0000-0000-0000-000000000000}"/>
          </ac:spMkLst>
        </pc:spChg>
      </pc:sldChg>
      <pc:sldChg chg="delSp mod">
        <pc:chgData name="Neubauer, Nico" userId="35c88a3a-0f6c-4699-a99a-90474f651e66" providerId="ADAL" clId="{DA966A02-432D-5B2E-BB1C-E07C49E8B7BA}" dt="2026-07-08T20:25:13.386" v="783" actId="478"/>
        <pc:sldMkLst>
          <pc:docMk/>
          <pc:sldMk cId="0" sldId="321"/>
        </pc:sldMkLst>
        <pc:spChg chg="del">
          <ac:chgData name="Neubauer, Nico" userId="35c88a3a-0f6c-4699-a99a-90474f651e66" providerId="ADAL" clId="{DA966A02-432D-5B2E-BB1C-E07C49E8B7BA}" dt="2026-07-08T20:25:13.386" v="783" actId="478"/>
          <ac:spMkLst>
            <pc:docMk/>
            <pc:sldMk cId="0" sldId="321"/>
            <ac:spMk id="7" creationId="{00000000-0000-0000-0000-000000000000}"/>
          </ac:spMkLst>
        </pc:spChg>
      </pc:sldChg>
      <pc:sldChg chg="delSp mod">
        <pc:chgData name="Neubauer, Nico" userId="35c88a3a-0f6c-4699-a99a-90474f651e66" providerId="ADAL" clId="{DA966A02-432D-5B2E-BB1C-E07C49E8B7BA}" dt="2026-07-08T20:25:15.065" v="784" actId="478"/>
        <pc:sldMkLst>
          <pc:docMk/>
          <pc:sldMk cId="0" sldId="322"/>
        </pc:sldMkLst>
        <pc:spChg chg="del">
          <ac:chgData name="Neubauer, Nico" userId="35c88a3a-0f6c-4699-a99a-90474f651e66" providerId="ADAL" clId="{DA966A02-432D-5B2E-BB1C-E07C49E8B7BA}" dt="2026-07-08T20:25:15.065" v="784" actId="478"/>
          <ac:spMkLst>
            <pc:docMk/>
            <pc:sldMk cId="0" sldId="322"/>
            <ac:spMk id="7" creationId="{00000000-0000-0000-0000-000000000000}"/>
          </ac:spMkLst>
        </pc:spChg>
      </pc:sldChg>
      <pc:sldChg chg="delSp mod">
        <pc:chgData name="Neubauer, Nico" userId="35c88a3a-0f6c-4699-a99a-90474f651e66" providerId="ADAL" clId="{DA966A02-432D-5B2E-BB1C-E07C49E8B7BA}" dt="2026-07-08T20:22:35.898" v="738" actId="478"/>
        <pc:sldMkLst>
          <pc:docMk/>
          <pc:sldMk cId="3772502132" sldId="324"/>
        </pc:sldMkLst>
        <pc:spChg chg="del">
          <ac:chgData name="Neubauer, Nico" userId="35c88a3a-0f6c-4699-a99a-90474f651e66" providerId="ADAL" clId="{DA966A02-432D-5B2E-BB1C-E07C49E8B7BA}" dt="2026-07-08T20:22:35.898" v="738" actId="478"/>
          <ac:spMkLst>
            <pc:docMk/>
            <pc:sldMk cId="3772502132" sldId="324"/>
            <ac:spMk id="31" creationId="{00000000-0000-0000-0000-000000000000}"/>
          </ac:spMkLst>
        </pc:spChg>
      </pc:sldChg>
      <pc:sldChg chg="delSp mod">
        <pc:chgData name="Neubauer, Nico" userId="35c88a3a-0f6c-4699-a99a-90474f651e66" providerId="ADAL" clId="{DA966A02-432D-5B2E-BB1C-E07C49E8B7BA}" dt="2026-07-08T20:22:37.218" v="739" actId="478"/>
        <pc:sldMkLst>
          <pc:docMk/>
          <pc:sldMk cId="2342997932" sldId="325"/>
        </pc:sldMkLst>
        <pc:spChg chg="del">
          <ac:chgData name="Neubauer, Nico" userId="35c88a3a-0f6c-4699-a99a-90474f651e66" providerId="ADAL" clId="{DA966A02-432D-5B2E-BB1C-E07C49E8B7BA}" dt="2026-07-08T20:22:37.218" v="739" actId="478"/>
          <ac:spMkLst>
            <pc:docMk/>
            <pc:sldMk cId="2342997932" sldId="325"/>
            <ac:spMk id="26" creationId="{00000000-0000-0000-0000-000000000000}"/>
          </ac:spMkLst>
        </pc:spChg>
      </pc:sldChg>
      <pc:sldChg chg="delSp mod">
        <pc:chgData name="Neubauer, Nico" userId="35c88a3a-0f6c-4699-a99a-90474f651e66" providerId="ADAL" clId="{DA966A02-432D-5B2E-BB1C-E07C49E8B7BA}" dt="2026-07-08T20:22:40.457" v="740" actId="478"/>
        <pc:sldMkLst>
          <pc:docMk/>
          <pc:sldMk cId="725477515" sldId="326"/>
        </pc:sldMkLst>
        <pc:spChg chg="del">
          <ac:chgData name="Neubauer, Nico" userId="35c88a3a-0f6c-4699-a99a-90474f651e66" providerId="ADAL" clId="{DA966A02-432D-5B2E-BB1C-E07C49E8B7BA}" dt="2026-07-08T20:22:40.457" v="740" actId="478"/>
          <ac:spMkLst>
            <pc:docMk/>
            <pc:sldMk cId="725477515" sldId="326"/>
            <ac:spMk id="19" creationId="{00000000-0000-0000-0000-000000000000}"/>
          </ac:spMkLst>
        </pc:spChg>
      </pc:sldChg>
      <pc:sldChg chg="delSp mod">
        <pc:chgData name="Neubauer, Nico" userId="35c88a3a-0f6c-4699-a99a-90474f651e66" providerId="ADAL" clId="{DA966A02-432D-5B2E-BB1C-E07C49E8B7BA}" dt="2026-07-08T20:22:47.916" v="741" actId="478"/>
        <pc:sldMkLst>
          <pc:docMk/>
          <pc:sldMk cId="1993432534" sldId="328"/>
        </pc:sldMkLst>
        <pc:spChg chg="del">
          <ac:chgData name="Neubauer, Nico" userId="35c88a3a-0f6c-4699-a99a-90474f651e66" providerId="ADAL" clId="{DA966A02-432D-5B2E-BB1C-E07C49E8B7BA}" dt="2026-07-08T20:22:47.916" v="741" actId="478"/>
          <ac:spMkLst>
            <pc:docMk/>
            <pc:sldMk cId="1993432534" sldId="328"/>
            <ac:spMk id="10" creationId="{00000000-0000-0000-0000-000000000000}"/>
          </ac:spMkLst>
        </pc:spChg>
      </pc:sldChg>
      <pc:sldChg chg="delSp mod">
        <pc:chgData name="Neubauer, Nico" userId="35c88a3a-0f6c-4699-a99a-90474f651e66" providerId="ADAL" clId="{DA966A02-432D-5B2E-BB1C-E07C49E8B7BA}" dt="2026-07-08T20:22:54.767" v="744" actId="478"/>
        <pc:sldMkLst>
          <pc:docMk/>
          <pc:sldMk cId="2355897747" sldId="330"/>
        </pc:sldMkLst>
        <pc:spChg chg="del">
          <ac:chgData name="Neubauer, Nico" userId="35c88a3a-0f6c-4699-a99a-90474f651e66" providerId="ADAL" clId="{DA966A02-432D-5B2E-BB1C-E07C49E8B7BA}" dt="2026-07-08T20:22:54.767" v="744" actId="478"/>
          <ac:spMkLst>
            <pc:docMk/>
            <pc:sldMk cId="2355897747" sldId="330"/>
            <ac:spMk id="7" creationId="{00000000-0000-0000-0000-000000000000}"/>
          </ac:spMkLst>
        </pc:spChg>
      </pc:sldChg>
      <pc:sldChg chg="delSp mod">
        <pc:chgData name="Neubauer, Nico" userId="35c88a3a-0f6c-4699-a99a-90474f651e66" providerId="ADAL" clId="{DA966A02-432D-5B2E-BB1C-E07C49E8B7BA}" dt="2026-07-08T20:23:09.201" v="750" actId="478"/>
        <pc:sldMkLst>
          <pc:docMk/>
          <pc:sldMk cId="3375771379" sldId="334"/>
        </pc:sldMkLst>
        <pc:spChg chg="del">
          <ac:chgData name="Neubauer, Nico" userId="35c88a3a-0f6c-4699-a99a-90474f651e66" providerId="ADAL" clId="{DA966A02-432D-5B2E-BB1C-E07C49E8B7BA}" dt="2026-07-08T20:23:09.201" v="750" actId="478"/>
          <ac:spMkLst>
            <pc:docMk/>
            <pc:sldMk cId="3375771379" sldId="334"/>
            <ac:spMk id="5" creationId="{C333FB21-D5C9-FAB3-A397-92A4010CDA32}"/>
          </ac:spMkLst>
        </pc:spChg>
      </pc:sldChg>
      <pc:sldChg chg="delSp mod">
        <pc:chgData name="Neubauer, Nico" userId="35c88a3a-0f6c-4699-a99a-90474f651e66" providerId="ADAL" clId="{DA966A02-432D-5B2E-BB1C-E07C49E8B7BA}" dt="2026-07-08T20:25:01.875" v="779" actId="478"/>
        <pc:sldMkLst>
          <pc:docMk/>
          <pc:sldMk cId="1213176608" sldId="336"/>
        </pc:sldMkLst>
        <pc:spChg chg="del">
          <ac:chgData name="Neubauer, Nico" userId="35c88a3a-0f6c-4699-a99a-90474f651e66" providerId="ADAL" clId="{DA966A02-432D-5B2E-BB1C-E07C49E8B7BA}" dt="2026-07-08T20:25:01.875" v="779" actId="478"/>
          <ac:spMkLst>
            <pc:docMk/>
            <pc:sldMk cId="1213176608" sldId="336"/>
            <ac:spMk id="36" creationId="{1C21ED41-E011-4332-78CF-700AB0B72B31}"/>
          </ac:spMkLst>
        </pc:spChg>
      </pc:sldChg>
      <pc:sldChg chg="delSp modSp mod">
        <pc:chgData name="Neubauer, Nico" userId="35c88a3a-0f6c-4699-a99a-90474f651e66" providerId="ADAL" clId="{DA966A02-432D-5B2E-BB1C-E07C49E8B7BA}" dt="2026-07-08T20:22:52.559" v="743" actId="478"/>
        <pc:sldMkLst>
          <pc:docMk/>
          <pc:sldMk cId="1673877571" sldId="337"/>
        </pc:sldMkLst>
        <pc:spChg chg="del mod">
          <ac:chgData name="Neubauer, Nico" userId="35c88a3a-0f6c-4699-a99a-90474f651e66" providerId="ADAL" clId="{DA966A02-432D-5B2E-BB1C-E07C49E8B7BA}" dt="2026-07-08T20:22:52.559" v="743" actId="478"/>
          <ac:spMkLst>
            <pc:docMk/>
            <pc:sldMk cId="1673877571" sldId="337"/>
            <ac:spMk id="40" creationId="{00000000-0000-0000-0000-000000000000}"/>
          </ac:spMkLst>
        </pc:spChg>
      </pc:sldChg>
      <pc:sldChg chg="delSp mod">
        <pc:chgData name="Neubauer, Nico" userId="35c88a3a-0f6c-4699-a99a-90474f651e66" providerId="ADAL" clId="{DA966A02-432D-5B2E-BB1C-E07C49E8B7BA}" dt="2026-07-08T20:22:55.777" v="745" actId="478"/>
        <pc:sldMkLst>
          <pc:docMk/>
          <pc:sldMk cId="163292538" sldId="338"/>
        </pc:sldMkLst>
        <pc:spChg chg="del">
          <ac:chgData name="Neubauer, Nico" userId="35c88a3a-0f6c-4699-a99a-90474f651e66" providerId="ADAL" clId="{DA966A02-432D-5B2E-BB1C-E07C49E8B7BA}" dt="2026-07-08T20:22:55.777" v="745" actId="478"/>
          <ac:spMkLst>
            <pc:docMk/>
            <pc:sldMk cId="163292538" sldId="338"/>
            <ac:spMk id="14" creationId="{00000000-0000-0000-0000-000000000000}"/>
          </ac:spMkLst>
        </pc:spChg>
      </pc:sldChg>
      <pc:sldChg chg="delSp mod">
        <pc:chgData name="Neubauer, Nico" userId="35c88a3a-0f6c-4699-a99a-90474f651e66" providerId="ADAL" clId="{DA966A02-432D-5B2E-BB1C-E07C49E8B7BA}" dt="2026-07-08T20:23:06.438" v="748" actId="478"/>
        <pc:sldMkLst>
          <pc:docMk/>
          <pc:sldMk cId="1775935088" sldId="340"/>
        </pc:sldMkLst>
        <pc:spChg chg="del">
          <ac:chgData name="Neubauer, Nico" userId="35c88a3a-0f6c-4699-a99a-90474f651e66" providerId="ADAL" clId="{DA966A02-432D-5B2E-BB1C-E07C49E8B7BA}" dt="2026-07-08T20:23:06.438" v="748" actId="478"/>
          <ac:spMkLst>
            <pc:docMk/>
            <pc:sldMk cId="1775935088" sldId="340"/>
            <ac:spMk id="13" creationId="{00000000-0000-0000-0000-000000000000}"/>
          </ac:spMkLst>
        </pc:spChg>
      </pc:sldChg>
      <pc:sldChg chg="delSp mod">
        <pc:chgData name="Neubauer, Nico" userId="35c88a3a-0f6c-4699-a99a-90474f651e66" providerId="ADAL" clId="{DA966A02-432D-5B2E-BB1C-E07C49E8B7BA}" dt="2026-07-08T20:23:08.043" v="749" actId="478"/>
        <pc:sldMkLst>
          <pc:docMk/>
          <pc:sldMk cId="2876261703" sldId="341"/>
        </pc:sldMkLst>
        <pc:spChg chg="del">
          <ac:chgData name="Neubauer, Nico" userId="35c88a3a-0f6c-4699-a99a-90474f651e66" providerId="ADAL" clId="{DA966A02-432D-5B2E-BB1C-E07C49E8B7BA}" dt="2026-07-08T20:23:08.043" v="749" actId="478"/>
          <ac:spMkLst>
            <pc:docMk/>
            <pc:sldMk cId="2876261703" sldId="341"/>
            <ac:spMk id="12" creationId="{00000000-0000-0000-0000-000000000000}"/>
          </ac:spMkLst>
        </pc:spChg>
      </pc:sldChg>
      <pc:sldChg chg="delSp modSp mod">
        <pc:chgData name="Neubauer, Nico" userId="35c88a3a-0f6c-4699-a99a-90474f651e66" providerId="ADAL" clId="{DA966A02-432D-5B2E-BB1C-E07C49E8B7BA}" dt="2026-07-08T20:23:00.463" v="747" actId="478"/>
        <pc:sldMkLst>
          <pc:docMk/>
          <pc:sldMk cId="2643055258" sldId="343"/>
        </pc:sldMkLst>
        <pc:spChg chg="del mod">
          <ac:chgData name="Neubauer, Nico" userId="35c88a3a-0f6c-4699-a99a-90474f651e66" providerId="ADAL" clId="{DA966A02-432D-5B2E-BB1C-E07C49E8B7BA}" dt="2026-07-08T20:23:00.463" v="747" actId="478"/>
          <ac:spMkLst>
            <pc:docMk/>
            <pc:sldMk cId="2643055258" sldId="343"/>
            <ac:spMk id="13" creationId="{00000000-0000-0000-0000-000000000000}"/>
          </ac:spMkLst>
        </pc:spChg>
      </pc:sldChg>
      <pc:sldChg chg="delSp modSp add del mod modNotesTx">
        <pc:chgData name="Neubauer, Nico" userId="35c88a3a-0f6c-4699-a99a-90474f651e66" providerId="ADAL" clId="{DA966A02-432D-5B2E-BB1C-E07C49E8B7BA}" dt="2026-07-08T20:23:18.542" v="753" actId="478"/>
        <pc:sldMkLst>
          <pc:docMk/>
          <pc:sldMk cId="0" sldId="346"/>
        </pc:sldMkLst>
        <pc:spChg chg="mod">
          <ac:chgData name="Neubauer, Nico" userId="35c88a3a-0f6c-4699-a99a-90474f651e66" providerId="ADAL" clId="{DA966A02-432D-5B2E-BB1C-E07C49E8B7BA}" dt="2026-07-07T15:32:24.646" v="98" actId="1076"/>
          <ac:spMkLst>
            <pc:docMk/>
            <pc:sldMk cId="0" sldId="346"/>
            <ac:spMk id="2" creationId="{00000000-0000-0000-0000-000000000000}"/>
          </ac:spMkLst>
        </pc:spChg>
        <pc:spChg chg="mod">
          <ac:chgData name="Neubauer, Nico" userId="35c88a3a-0f6c-4699-a99a-90474f651e66" providerId="ADAL" clId="{DA966A02-432D-5B2E-BB1C-E07C49E8B7BA}" dt="2026-07-07T15:35:42.191" v="184" actId="20577"/>
          <ac:spMkLst>
            <pc:docMk/>
            <pc:sldMk cId="0" sldId="346"/>
            <ac:spMk id="5" creationId="{00000000-0000-0000-0000-000000000000}"/>
          </ac:spMkLst>
        </pc:spChg>
        <pc:spChg chg="mod">
          <ac:chgData name="Neubauer, Nico" userId="35c88a3a-0f6c-4699-a99a-90474f651e66" providerId="ADAL" clId="{DA966A02-432D-5B2E-BB1C-E07C49E8B7BA}" dt="2026-07-07T15:30:55.199" v="79" actId="20577"/>
          <ac:spMkLst>
            <pc:docMk/>
            <pc:sldMk cId="0" sldId="346"/>
            <ac:spMk id="7" creationId="{00000000-0000-0000-0000-000000000000}"/>
          </ac:spMkLst>
        </pc:spChg>
        <pc:spChg chg="mod">
          <ac:chgData name="Neubauer, Nico" userId="35c88a3a-0f6c-4699-a99a-90474f651e66" providerId="ADAL" clId="{DA966A02-432D-5B2E-BB1C-E07C49E8B7BA}" dt="2026-07-07T15:33:16.038" v="104" actId="1037"/>
          <ac:spMkLst>
            <pc:docMk/>
            <pc:sldMk cId="0" sldId="346"/>
            <ac:spMk id="8" creationId="{00000000-0000-0000-0000-000000000000}"/>
          </ac:spMkLst>
        </pc:spChg>
        <pc:spChg chg="mod">
          <ac:chgData name="Neubauer, Nico" userId="35c88a3a-0f6c-4699-a99a-90474f651e66" providerId="ADAL" clId="{DA966A02-432D-5B2E-BB1C-E07C49E8B7BA}" dt="2026-07-07T15:33:16.038" v="104" actId="1037"/>
          <ac:spMkLst>
            <pc:docMk/>
            <pc:sldMk cId="0" sldId="346"/>
            <ac:spMk id="9" creationId="{00000000-0000-0000-0000-000000000000}"/>
          </ac:spMkLst>
        </pc:spChg>
        <pc:spChg chg="mod">
          <ac:chgData name="Neubauer, Nico" userId="35c88a3a-0f6c-4699-a99a-90474f651e66" providerId="ADAL" clId="{DA966A02-432D-5B2E-BB1C-E07C49E8B7BA}" dt="2026-07-08T17:09:08.035" v="232" actId="20577"/>
          <ac:spMkLst>
            <pc:docMk/>
            <pc:sldMk cId="0" sldId="346"/>
            <ac:spMk id="10" creationId="{00000000-0000-0000-0000-000000000000}"/>
          </ac:spMkLst>
        </pc:spChg>
        <pc:spChg chg="mod">
          <ac:chgData name="Neubauer, Nico" userId="35c88a3a-0f6c-4699-a99a-90474f651e66" providerId="ADAL" clId="{DA966A02-432D-5B2E-BB1C-E07C49E8B7BA}" dt="2026-07-07T15:33:16.038" v="104" actId="1037"/>
          <ac:spMkLst>
            <pc:docMk/>
            <pc:sldMk cId="0" sldId="346"/>
            <ac:spMk id="11" creationId="{00000000-0000-0000-0000-000000000000}"/>
          </ac:spMkLst>
        </pc:spChg>
        <pc:spChg chg="mod">
          <ac:chgData name="Neubauer, Nico" userId="35c88a3a-0f6c-4699-a99a-90474f651e66" providerId="ADAL" clId="{DA966A02-432D-5B2E-BB1C-E07C49E8B7BA}" dt="2026-07-07T15:33:16.038" v="104" actId="1037"/>
          <ac:spMkLst>
            <pc:docMk/>
            <pc:sldMk cId="0" sldId="346"/>
            <ac:spMk id="13" creationId="{00000000-0000-0000-0000-000000000000}"/>
          </ac:spMkLst>
        </pc:spChg>
        <pc:spChg chg="mod">
          <ac:chgData name="Neubauer, Nico" userId="35c88a3a-0f6c-4699-a99a-90474f651e66" providerId="ADAL" clId="{DA966A02-432D-5B2E-BB1C-E07C49E8B7BA}" dt="2026-07-07T15:33:16.038" v="104" actId="1037"/>
          <ac:spMkLst>
            <pc:docMk/>
            <pc:sldMk cId="0" sldId="346"/>
            <ac:spMk id="14" creationId="{00000000-0000-0000-0000-000000000000}"/>
          </ac:spMkLst>
        </pc:spChg>
        <pc:spChg chg="mod">
          <ac:chgData name="Neubauer, Nico" userId="35c88a3a-0f6c-4699-a99a-90474f651e66" providerId="ADAL" clId="{DA966A02-432D-5B2E-BB1C-E07C49E8B7BA}" dt="2026-07-07T15:33:16.038" v="104" actId="1037"/>
          <ac:spMkLst>
            <pc:docMk/>
            <pc:sldMk cId="0" sldId="346"/>
            <ac:spMk id="16" creationId="{00000000-0000-0000-0000-000000000000}"/>
          </ac:spMkLst>
        </pc:spChg>
        <pc:spChg chg="mod">
          <ac:chgData name="Neubauer, Nico" userId="35c88a3a-0f6c-4699-a99a-90474f651e66" providerId="ADAL" clId="{DA966A02-432D-5B2E-BB1C-E07C49E8B7BA}" dt="2026-07-07T15:33:16.038" v="104" actId="1037"/>
          <ac:spMkLst>
            <pc:docMk/>
            <pc:sldMk cId="0" sldId="346"/>
            <ac:spMk id="17" creationId="{00000000-0000-0000-0000-000000000000}"/>
          </ac:spMkLst>
        </pc:spChg>
        <pc:spChg chg="mod">
          <ac:chgData name="Neubauer, Nico" userId="35c88a3a-0f6c-4699-a99a-90474f651e66" providerId="ADAL" clId="{DA966A02-432D-5B2E-BB1C-E07C49E8B7BA}" dt="2026-07-07T15:33:16.038" v="104" actId="1037"/>
          <ac:spMkLst>
            <pc:docMk/>
            <pc:sldMk cId="0" sldId="346"/>
            <ac:spMk id="19" creationId="{00000000-0000-0000-0000-000000000000}"/>
          </ac:spMkLst>
        </pc:spChg>
        <pc:spChg chg="mod">
          <ac:chgData name="Neubauer, Nico" userId="35c88a3a-0f6c-4699-a99a-90474f651e66" providerId="ADAL" clId="{DA966A02-432D-5B2E-BB1C-E07C49E8B7BA}" dt="2026-07-07T15:34:23.648" v="135" actId="14100"/>
          <ac:spMkLst>
            <pc:docMk/>
            <pc:sldMk cId="0" sldId="346"/>
            <ac:spMk id="21" creationId="{00000000-0000-0000-0000-000000000000}"/>
          </ac:spMkLst>
        </pc:spChg>
        <pc:spChg chg="mod">
          <ac:chgData name="Neubauer, Nico" userId="35c88a3a-0f6c-4699-a99a-90474f651e66" providerId="ADAL" clId="{DA966A02-432D-5B2E-BB1C-E07C49E8B7BA}" dt="2026-07-07T15:34:40.848" v="152" actId="1038"/>
          <ac:spMkLst>
            <pc:docMk/>
            <pc:sldMk cId="0" sldId="346"/>
            <ac:spMk id="22" creationId="{00000000-0000-0000-0000-000000000000}"/>
          </ac:spMkLst>
        </pc:spChg>
        <pc:spChg chg="mod">
          <ac:chgData name="Neubauer, Nico" userId="35c88a3a-0f6c-4699-a99a-90474f651e66" providerId="ADAL" clId="{DA966A02-432D-5B2E-BB1C-E07C49E8B7BA}" dt="2026-07-07T15:34:40.848" v="152" actId="1038"/>
          <ac:spMkLst>
            <pc:docMk/>
            <pc:sldMk cId="0" sldId="346"/>
            <ac:spMk id="23" creationId="{00000000-0000-0000-0000-000000000000}"/>
          </ac:spMkLst>
        </pc:spChg>
        <pc:spChg chg="mod">
          <ac:chgData name="Neubauer, Nico" userId="35c88a3a-0f6c-4699-a99a-90474f651e66" providerId="ADAL" clId="{DA966A02-432D-5B2E-BB1C-E07C49E8B7BA}" dt="2026-07-07T15:34:40.848" v="152" actId="1038"/>
          <ac:spMkLst>
            <pc:docMk/>
            <pc:sldMk cId="0" sldId="346"/>
            <ac:spMk id="24" creationId="{00000000-0000-0000-0000-000000000000}"/>
          </ac:spMkLst>
        </pc:spChg>
        <pc:spChg chg="mod">
          <ac:chgData name="Neubauer, Nico" userId="35c88a3a-0f6c-4699-a99a-90474f651e66" providerId="ADAL" clId="{DA966A02-432D-5B2E-BB1C-E07C49E8B7BA}" dt="2026-07-07T15:34:40.848" v="152" actId="1038"/>
          <ac:spMkLst>
            <pc:docMk/>
            <pc:sldMk cId="0" sldId="346"/>
            <ac:spMk id="25" creationId="{00000000-0000-0000-0000-000000000000}"/>
          </ac:spMkLst>
        </pc:spChg>
        <pc:spChg chg="mod">
          <ac:chgData name="Neubauer, Nico" userId="35c88a3a-0f6c-4699-a99a-90474f651e66" providerId="ADAL" clId="{DA966A02-432D-5B2E-BB1C-E07C49E8B7BA}" dt="2026-07-07T15:34:40.848" v="152" actId="1038"/>
          <ac:spMkLst>
            <pc:docMk/>
            <pc:sldMk cId="0" sldId="346"/>
            <ac:spMk id="26" creationId="{00000000-0000-0000-0000-000000000000}"/>
          </ac:spMkLst>
        </pc:spChg>
        <pc:spChg chg="mod">
          <ac:chgData name="Neubauer, Nico" userId="35c88a3a-0f6c-4699-a99a-90474f651e66" providerId="ADAL" clId="{DA966A02-432D-5B2E-BB1C-E07C49E8B7BA}" dt="2026-07-07T15:34:40.848" v="152" actId="1038"/>
          <ac:spMkLst>
            <pc:docMk/>
            <pc:sldMk cId="0" sldId="346"/>
            <ac:spMk id="27" creationId="{00000000-0000-0000-0000-000000000000}"/>
          </ac:spMkLst>
        </pc:spChg>
        <pc:spChg chg="mod">
          <ac:chgData name="Neubauer, Nico" userId="35c88a3a-0f6c-4699-a99a-90474f651e66" providerId="ADAL" clId="{DA966A02-432D-5B2E-BB1C-E07C49E8B7BA}" dt="2026-07-07T15:34:40.848" v="152" actId="1038"/>
          <ac:spMkLst>
            <pc:docMk/>
            <pc:sldMk cId="0" sldId="346"/>
            <ac:spMk id="28" creationId="{00000000-0000-0000-0000-000000000000}"/>
          </ac:spMkLst>
        </pc:spChg>
        <pc:spChg chg="mod">
          <ac:chgData name="Neubauer, Nico" userId="35c88a3a-0f6c-4699-a99a-90474f651e66" providerId="ADAL" clId="{DA966A02-432D-5B2E-BB1C-E07C49E8B7BA}" dt="2026-07-07T15:34:40.848" v="152" actId="1038"/>
          <ac:spMkLst>
            <pc:docMk/>
            <pc:sldMk cId="0" sldId="346"/>
            <ac:spMk id="29" creationId="{00000000-0000-0000-0000-000000000000}"/>
          </ac:spMkLst>
        </pc:spChg>
        <pc:spChg chg="mod">
          <ac:chgData name="Neubauer, Nico" userId="35c88a3a-0f6c-4699-a99a-90474f651e66" providerId="ADAL" clId="{DA966A02-432D-5B2E-BB1C-E07C49E8B7BA}" dt="2026-07-07T15:34:40.848" v="152" actId="1038"/>
          <ac:spMkLst>
            <pc:docMk/>
            <pc:sldMk cId="0" sldId="346"/>
            <ac:spMk id="30" creationId="{00000000-0000-0000-0000-000000000000}"/>
          </ac:spMkLst>
        </pc:spChg>
        <pc:spChg chg="del">
          <ac:chgData name="Neubauer, Nico" userId="35c88a3a-0f6c-4699-a99a-90474f651e66" providerId="ADAL" clId="{DA966A02-432D-5B2E-BB1C-E07C49E8B7BA}" dt="2026-07-08T20:23:18.542" v="753" actId="478"/>
          <ac:spMkLst>
            <pc:docMk/>
            <pc:sldMk cId="0" sldId="346"/>
            <ac:spMk id="32" creationId="{00000000-0000-0000-0000-000000000000}"/>
          </ac:spMkLst>
        </pc:spChg>
      </pc:sldChg>
      <pc:sldChg chg="delSp modSp add del mod">
        <pc:chgData name="Neubauer, Nico" userId="35c88a3a-0f6c-4699-a99a-90474f651e66" providerId="ADAL" clId="{DA966A02-432D-5B2E-BB1C-E07C49E8B7BA}" dt="2026-07-08T20:23:21.774" v="754" actId="478"/>
        <pc:sldMkLst>
          <pc:docMk/>
          <pc:sldMk cId="0" sldId="347"/>
        </pc:sldMkLst>
        <pc:spChg chg="mod">
          <ac:chgData name="Neubauer, Nico" userId="35c88a3a-0f6c-4699-a99a-90474f651e66" providerId="ADAL" clId="{DA966A02-432D-5B2E-BB1C-E07C49E8B7BA}" dt="2026-07-08T17:05:53.545" v="206" actId="20577"/>
          <ac:spMkLst>
            <pc:docMk/>
            <pc:sldMk cId="0" sldId="347"/>
            <ac:spMk id="4" creationId="{00000000-0000-0000-0000-000000000000}"/>
          </ac:spMkLst>
        </pc:spChg>
        <pc:spChg chg="mod">
          <ac:chgData name="Neubauer, Nico" userId="35c88a3a-0f6c-4699-a99a-90474f651e66" providerId="ADAL" clId="{DA966A02-432D-5B2E-BB1C-E07C49E8B7BA}" dt="2026-07-08T19:47:54.037" v="661" actId="20577"/>
          <ac:spMkLst>
            <pc:docMk/>
            <pc:sldMk cId="0" sldId="347"/>
            <ac:spMk id="6" creationId="{00000000-0000-0000-0000-000000000000}"/>
          </ac:spMkLst>
        </pc:spChg>
        <pc:spChg chg="mod">
          <ac:chgData name="Neubauer, Nico" userId="35c88a3a-0f6c-4699-a99a-90474f651e66" providerId="ADAL" clId="{DA966A02-432D-5B2E-BB1C-E07C49E8B7BA}" dt="2026-07-04T10:04:12.754" v="55" actId="1076"/>
          <ac:spMkLst>
            <pc:docMk/>
            <pc:sldMk cId="0" sldId="347"/>
            <ac:spMk id="37" creationId="{00000000-0000-0000-0000-000000000000}"/>
          </ac:spMkLst>
        </pc:spChg>
        <pc:spChg chg="mod">
          <ac:chgData name="Neubauer, Nico" userId="35c88a3a-0f6c-4699-a99a-90474f651e66" providerId="ADAL" clId="{DA966A02-432D-5B2E-BB1C-E07C49E8B7BA}" dt="2026-07-08T17:07:39.397" v="225" actId="1036"/>
          <ac:spMkLst>
            <pc:docMk/>
            <pc:sldMk cId="0" sldId="347"/>
            <ac:spMk id="38" creationId="{00000000-0000-0000-0000-000000000000}"/>
          </ac:spMkLst>
        </pc:spChg>
        <pc:spChg chg="mod">
          <ac:chgData name="Neubauer, Nico" userId="35c88a3a-0f6c-4699-a99a-90474f651e66" providerId="ADAL" clId="{DA966A02-432D-5B2E-BB1C-E07C49E8B7BA}" dt="2026-07-08T19:48:08.596" v="663" actId="20577"/>
          <ac:spMkLst>
            <pc:docMk/>
            <pc:sldMk cId="0" sldId="347"/>
            <ac:spMk id="39" creationId="{00000000-0000-0000-0000-000000000000}"/>
          </ac:spMkLst>
        </pc:spChg>
        <pc:spChg chg="mod">
          <ac:chgData name="Neubauer, Nico" userId="35c88a3a-0f6c-4699-a99a-90474f651e66" providerId="ADAL" clId="{DA966A02-432D-5B2E-BB1C-E07C49E8B7BA}" dt="2026-07-08T19:48:25.040" v="687" actId="20577"/>
          <ac:spMkLst>
            <pc:docMk/>
            <pc:sldMk cId="0" sldId="347"/>
            <ac:spMk id="40" creationId="{00000000-0000-0000-0000-000000000000}"/>
          </ac:spMkLst>
        </pc:spChg>
        <pc:spChg chg="mod">
          <ac:chgData name="Neubauer, Nico" userId="35c88a3a-0f6c-4699-a99a-90474f651e66" providerId="ADAL" clId="{DA966A02-432D-5B2E-BB1C-E07C49E8B7BA}" dt="2026-07-08T17:06:23.433" v="211" actId="20577"/>
          <ac:spMkLst>
            <pc:docMk/>
            <pc:sldMk cId="0" sldId="347"/>
            <ac:spMk id="48" creationId="{00000000-0000-0000-0000-000000000000}"/>
          </ac:spMkLst>
        </pc:spChg>
        <pc:spChg chg="del">
          <ac:chgData name="Neubauer, Nico" userId="35c88a3a-0f6c-4699-a99a-90474f651e66" providerId="ADAL" clId="{DA966A02-432D-5B2E-BB1C-E07C49E8B7BA}" dt="2026-07-08T20:23:21.774" v="754" actId="478"/>
          <ac:spMkLst>
            <pc:docMk/>
            <pc:sldMk cId="0" sldId="347"/>
            <ac:spMk id="52" creationId="{00000000-0000-0000-0000-000000000000}"/>
          </ac:spMkLst>
        </pc:spChg>
      </pc:sldChg>
      <pc:sldChg chg="delSp modSp add del mod">
        <pc:chgData name="Neubauer, Nico" userId="35c88a3a-0f6c-4699-a99a-90474f651e66" providerId="ADAL" clId="{DA966A02-432D-5B2E-BB1C-E07C49E8B7BA}" dt="2026-07-08T20:23:27.726" v="755" actId="478"/>
        <pc:sldMkLst>
          <pc:docMk/>
          <pc:sldMk cId="0" sldId="348"/>
        </pc:sldMkLst>
        <pc:spChg chg="mod">
          <ac:chgData name="Neubauer, Nico" userId="35c88a3a-0f6c-4699-a99a-90474f651e66" providerId="ADAL" clId="{DA966A02-432D-5B2E-BB1C-E07C49E8B7BA}" dt="2026-07-08T19:49:29.353" v="688" actId="20577"/>
          <ac:spMkLst>
            <pc:docMk/>
            <pc:sldMk cId="0" sldId="348"/>
            <ac:spMk id="41" creationId="{00000000-0000-0000-0000-000000000000}"/>
          </ac:spMkLst>
        </pc:spChg>
        <pc:spChg chg="mod">
          <ac:chgData name="Neubauer, Nico" userId="35c88a3a-0f6c-4699-a99a-90474f651e66" providerId="ADAL" clId="{DA966A02-432D-5B2E-BB1C-E07C49E8B7BA}" dt="2026-07-08T19:49:42.419" v="690" actId="20577"/>
          <ac:spMkLst>
            <pc:docMk/>
            <pc:sldMk cId="0" sldId="348"/>
            <ac:spMk id="42" creationId="{00000000-0000-0000-0000-000000000000}"/>
          </ac:spMkLst>
        </pc:spChg>
        <pc:spChg chg="del">
          <ac:chgData name="Neubauer, Nico" userId="35c88a3a-0f6c-4699-a99a-90474f651e66" providerId="ADAL" clId="{DA966A02-432D-5B2E-BB1C-E07C49E8B7BA}" dt="2026-07-08T20:23:27.726" v="755" actId="478"/>
          <ac:spMkLst>
            <pc:docMk/>
            <pc:sldMk cId="0" sldId="348"/>
            <ac:spMk id="44" creationId="{00000000-0000-0000-0000-000000000000}"/>
          </ac:spMkLst>
        </pc:spChg>
      </pc:sldChg>
      <pc:sldChg chg="addSp delSp modSp add del mod">
        <pc:chgData name="Neubauer, Nico" userId="35c88a3a-0f6c-4699-a99a-90474f651e66" providerId="ADAL" clId="{DA966A02-432D-5B2E-BB1C-E07C49E8B7BA}" dt="2026-07-08T20:23:34.057" v="757" actId="478"/>
        <pc:sldMkLst>
          <pc:docMk/>
          <pc:sldMk cId="0" sldId="349"/>
        </pc:sldMkLst>
        <pc:spChg chg="mod">
          <ac:chgData name="Neubauer, Nico" userId="35c88a3a-0f6c-4699-a99a-90474f651e66" providerId="ADAL" clId="{DA966A02-432D-5B2E-BB1C-E07C49E8B7BA}" dt="2026-07-08T19:24:16.274" v="241" actId="1076"/>
          <ac:spMkLst>
            <pc:docMk/>
            <pc:sldMk cId="0" sldId="349"/>
            <ac:spMk id="2" creationId="{00000000-0000-0000-0000-000000000000}"/>
          </ac:spMkLst>
        </pc:spChg>
        <pc:spChg chg="mod">
          <ac:chgData name="Neubauer, Nico" userId="35c88a3a-0f6c-4699-a99a-90474f651e66" providerId="ADAL" clId="{DA966A02-432D-5B2E-BB1C-E07C49E8B7BA}" dt="2026-07-08T19:24:51.976" v="248" actId="20577"/>
          <ac:spMkLst>
            <pc:docMk/>
            <pc:sldMk cId="0" sldId="349"/>
            <ac:spMk id="5" creationId="{00000000-0000-0000-0000-000000000000}"/>
          </ac:spMkLst>
        </pc:spChg>
        <pc:spChg chg="mod">
          <ac:chgData name="Neubauer, Nico" userId="35c88a3a-0f6c-4699-a99a-90474f651e66" providerId="ADAL" clId="{DA966A02-432D-5B2E-BB1C-E07C49E8B7BA}" dt="2026-07-08T19:26:20.821" v="254" actId="164"/>
          <ac:spMkLst>
            <pc:docMk/>
            <pc:sldMk cId="0" sldId="349"/>
            <ac:spMk id="6" creationId="{00000000-0000-0000-0000-000000000000}"/>
          </ac:spMkLst>
        </pc:spChg>
        <pc:spChg chg="mod">
          <ac:chgData name="Neubauer, Nico" userId="35c88a3a-0f6c-4699-a99a-90474f651e66" providerId="ADAL" clId="{DA966A02-432D-5B2E-BB1C-E07C49E8B7BA}" dt="2026-07-08T19:26:20.821" v="254" actId="164"/>
          <ac:spMkLst>
            <pc:docMk/>
            <pc:sldMk cId="0" sldId="349"/>
            <ac:spMk id="7" creationId="{00000000-0000-0000-0000-000000000000}"/>
          </ac:spMkLst>
        </pc:spChg>
        <pc:spChg chg="mod">
          <ac:chgData name="Neubauer, Nico" userId="35c88a3a-0f6c-4699-a99a-90474f651e66" providerId="ADAL" clId="{DA966A02-432D-5B2E-BB1C-E07C49E8B7BA}" dt="2026-07-08T19:26:20.821" v="254" actId="164"/>
          <ac:spMkLst>
            <pc:docMk/>
            <pc:sldMk cId="0" sldId="349"/>
            <ac:spMk id="8" creationId="{00000000-0000-0000-0000-000000000000}"/>
          </ac:spMkLst>
        </pc:spChg>
        <pc:spChg chg="mod">
          <ac:chgData name="Neubauer, Nico" userId="35c88a3a-0f6c-4699-a99a-90474f651e66" providerId="ADAL" clId="{DA966A02-432D-5B2E-BB1C-E07C49E8B7BA}" dt="2026-07-08T19:26:20.821" v="254" actId="164"/>
          <ac:spMkLst>
            <pc:docMk/>
            <pc:sldMk cId="0" sldId="349"/>
            <ac:spMk id="9" creationId="{00000000-0000-0000-0000-000000000000}"/>
          </ac:spMkLst>
        </pc:spChg>
        <pc:spChg chg="mod">
          <ac:chgData name="Neubauer, Nico" userId="35c88a3a-0f6c-4699-a99a-90474f651e66" providerId="ADAL" clId="{DA966A02-432D-5B2E-BB1C-E07C49E8B7BA}" dt="2026-07-08T19:26:20.821" v="254" actId="164"/>
          <ac:spMkLst>
            <pc:docMk/>
            <pc:sldMk cId="0" sldId="349"/>
            <ac:spMk id="10" creationId="{00000000-0000-0000-0000-000000000000}"/>
          </ac:spMkLst>
        </pc:spChg>
        <pc:spChg chg="mod">
          <ac:chgData name="Neubauer, Nico" userId="35c88a3a-0f6c-4699-a99a-90474f651e66" providerId="ADAL" clId="{DA966A02-432D-5B2E-BB1C-E07C49E8B7BA}" dt="2026-07-08T19:26:10.303" v="253" actId="164"/>
          <ac:spMkLst>
            <pc:docMk/>
            <pc:sldMk cId="0" sldId="349"/>
            <ac:spMk id="11" creationId="{00000000-0000-0000-0000-000000000000}"/>
          </ac:spMkLst>
        </pc:spChg>
        <pc:spChg chg="mod">
          <ac:chgData name="Neubauer, Nico" userId="35c88a3a-0f6c-4699-a99a-90474f651e66" providerId="ADAL" clId="{DA966A02-432D-5B2E-BB1C-E07C49E8B7BA}" dt="2026-07-08T19:26:10.303" v="253" actId="164"/>
          <ac:spMkLst>
            <pc:docMk/>
            <pc:sldMk cId="0" sldId="349"/>
            <ac:spMk id="12" creationId="{00000000-0000-0000-0000-000000000000}"/>
          </ac:spMkLst>
        </pc:spChg>
        <pc:spChg chg="mod">
          <ac:chgData name="Neubauer, Nico" userId="35c88a3a-0f6c-4699-a99a-90474f651e66" providerId="ADAL" clId="{DA966A02-432D-5B2E-BB1C-E07C49E8B7BA}" dt="2026-07-08T19:26:10.303" v="253" actId="164"/>
          <ac:spMkLst>
            <pc:docMk/>
            <pc:sldMk cId="0" sldId="349"/>
            <ac:spMk id="13" creationId="{00000000-0000-0000-0000-000000000000}"/>
          </ac:spMkLst>
        </pc:spChg>
        <pc:spChg chg="mod">
          <ac:chgData name="Neubauer, Nico" userId="35c88a3a-0f6c-4699-a99a-90474f651e66" providerId="ADAL" clId="{DA966A02-432D-5B2E-BB1C-E07C49E8B7BA}" dt="2026-07-08T19:26:10.303" v="253" actId="164"/>
          <ac:spMkLst>
            <pc:docMk/>
            <pc:sldMk cId="0" sldId="349"/>
            <ac:spMk id="14" creationId="{00000000-0000-0000-0000-000000000000}"/>
          </ac:spMkLst>
        </pc:spChg>
        <pc:spChg chg="mod">
          <ac:chgData name="Neubauer, Nico" userId="35c88a3a-0f6c-4699-a99a-90474f651e66" providerId="ADAL" clId="{DA966A02-432D-5B2E-BB1C-E07C49E8B7BA}" dt="2026-07-08T19:28:45.177" v="295" actId="20577"/>
          <ac:spMkLst>
            <pc:docMk/>
            <pc:sldMk cId="0" sldId="349"/>
            <ac:spMk id="15" creationId="{00000000-0000-0000-0000-000000000000}"/>
          </ac:spMkLst>
        </pc:spChg>
        <pc:spChg chg="mod">
          <ac:chgData name="Neubauer, Nico" userId="35c88a3a-0f6c-4699-a99a-90474f651e66" providerId="ADAL" clId="{DA966A02-432D-5B2E-BB1C-E07C49E8B7BA}" dt="2026-07-08T19:25:41.270" v="251" actId="164"/>
          <ac:spMkLst>
            <pc:docMk/>
            <pc:sldMk cId="0" sldId="349"/>
            <ac:spMk id="16" creationId="{00000000-0000-0000-0000-000000000000}"/>
          </ac:spMkLst>
        </pc:spChg>
        <pc:spChg chg="mod">
          <ac:chgData name="Neubauer, Nico" userId="35c88a3a-0f6c-4699-a99a-90474f651e66" providerId="ADAL" clId="{DA966A02-432D-5B2E-BB1C-E07C49E8B7BA}" dt="2026-07-08T19:25:41.270" v="251" actId="164"/>
          <ac:spMkLst>
            <pc:docMk/>
            <pc:sldMk cId="0" sldId="349"/>
            <ac:spMk id="17" creationId="{00000000-0000-0000-0000-000000000000}"/>
          </ac:spMkLst>
        </pc:spChg>
        <pc:spChg chg="mod">
          <ac:chgData name="Neubauer, Nico" userId="35c88a3a-0f6c-4699-a99a-90474f651e66" providerId="ADAL" clId="{DA966A02-432D-5B2E-BB1C-E07C49E8B7BA}" dt="2026-07-08T19:25:41.270" v="251" actId="164"/>
          <ac:spMkLst>
            <pc:docMk/>
            <pc:sldMk cId="0" sldId="349"/>
            <ac:spMk id="18" creationId="{00000000-0000-0000-0000-000000000000}"/>
          </ac:spMkLst>
        </pc:spChg>
        <pc:spChg chg="mod">
          <ac:chgData name="Neubauer, Nico" userId="35c88a3a-0f6c-4699-a99a-90474f651e66" providerId="ADAL" clId="{DA966A02-432D-5B2E-BB1C-E07C49E8B7BA}" dt="2026-07-08T19:25:41.270" v="251" actId="164"/>
          <ac:spMkLst>
            <pc:docMk/>
            <pc:sldMk cId="0" sldId="349"/>
            <ac:spMk id="19" creationId="{00000000-0000-0000-0000-000000000000}"/>
          </ac:spMkLst>
        </pc:spChg>
        <pc:spChg chg="mod">
          <ac:chgData name="Neubauer, Nico" userId="35c88a3a-0f6c-4699-a99a-90474f651e66" providerId="ADAL" clId="{DA966A02-432D-5B2E-BB1C-E07C49E8B7BA}" dt="2026-07-08T19:28:35.098" v="293" actId="20577"/>
          <ac:spMkLst>
            <pc:docMk/>
            <pc:sldMk cId="0" sldId="349"/>
            <ac:spMk id="20" creationId="{00000000-0000-0000-0000-000000000000}"/>
          </ac:spMkLst>
        </pc:spChg>
        <pc:spChg chg="mod">
          <ac:chgData name="Neubauer, Nico" userId="35c88a3a-0f6c-4699-a99a-90474f651e66" providerId="ADAL" clId="{DA966A02-432D-5B2E-BB1C-E07C49E8B7BA}" dt="2026-07-08T19:25:50.439" v="252" actId="164"/>
          <ac:spMkLst>
            <pc:docMk/>
            <pc:sldMk cId="0" sldId="349"/>
            <ac:spMk id="21" creationId="{00000000-0000-0000-0000-000000000000}"/>
          </ac:spMkLst>
        </pc:spChg>
        <pc:spChg chg="mod">
          <ac:chgData name="Neubauer, Nico" userId="35c88a3a-0f6c-4699-a99a-90474f651e66" providerId="ADAL" clId="{DA966A02-432D-5B2E-BB1C-E07C49E8B7BA}" dt="2026-07-08T19:25:50.439" v="252" actId="164"/>
          <ac:spMkLst>
            <pc:docMk/>
            <pc:sldMk cId="0" sldId="349"/>
            <ac:spMk id="22" creationId="{00000000-0000-0000-0000-000000000000}"/>
          </ac:spMkLst>
        </pc:spChg>
        <pc:spChg chg="mod">
          <ac:chgData name="Neubauer, Nico" userId="35c88a3a-0f6c-4699-a99a-90474f651e66" providerId="ADAL" clId="{DA966A02-432D-5B2E-BB1C-E07C49E8B7BA}" dt="2026-07-08T19:25:50.439" v="252" actId="164"/>
          <ac:spMkLst>
            <pc:docMk/>
            <pc:sldMk cId="0" sldId="349"/>
            <ac:spMk id="23" creationId="{00000000-0000-0000-0000-000000000000}"/>
          </ac:spMkLst>
        </pc:spChg>
        <pc:spChg chg="mod">
          <ac:chgData name="Neubauer, Nico" userId="35c88a3a-0f6c-4699-a99a-90474f651e66" providerId="ADAL" clId="{DA966A02-432D-5B2E-BB1C-E07C49E8B7BA}" dt="2026-07-08T19:25:50.439" v="252" actId="164"/>
          <ac:spMkLst>
            <pc:docMk/>
            <pc:sldMk cId="0" sldId="349"/>
            <ac:spMk id="24" creationId="{00000000-0000-0000-0000-000000000000}"/>
          </ac:spMkLst>
        </pc:spChg>
        <pc:spChg chg="mod">
          <ac:chgData name="Neubauer, Nico" userId="35c88a3a-0f6c-4699-a99a-90474f651e66" providerId="ADAL" clId="{DA966A02-432D-5B2E-BB1C-E07C49E8B7BA}" dt="2026-07-08T19:28:11.300" v="291" actId="20577"/>
          <ac:spMkLst>
            <pc:docMk/>
            <pc:sldMk cId="0" sldId="349"/>
            <ac:spMk id="25" creationId="{00000000-0000-0000-0000-000000000000}"/>
          </ac:spMkLst>
        </pc:spChg>
        <pc:spChg chg="del mod">
          <ac:chgData name="Neubauer, Nico" userId="35c88a3a-0f6c-4699-a99a-90474f651e66" providerId="ADAL" clId="{DA966A02-432D-5B2E-BB1C-E07C49E8B7BA}" dt="2026-07-08T20:23:34.057" v="757" actId="478"/>
          <ac:spMkLst>
            <pc:docMk/>
            <pc:sldMk cId="0" sldId="349"/>
            <ac:spMk id="27" creationId="{00000000-0000-0000-0000-000000000000}"/>
          </ac:spMkLst>
        </pc:spChg>
        <pc:grpChg chg="add mod">
          <ac:chgData name="Neubauer, Nico" userId="35c88a3a-0f6c-4699-a99a-90474f651e66" providerId="ADAL" clId="{DA966A02-432D-5B2E-BB1C-E07C49E8B7BA}" dt="2026-07-08T19:25:35.923" v="250" actId="164"/>
          <ac:grpSpMkLst>
            <pc:docMk/>
            <pc:sldMk cId="0" sldId="349"/>
            <ac:grpSpMk id="28" creationId="{E55E1889-DBAB-BAB1-3A98-13525BABB59D}"/>
          </ac:grpSpMkLst>
        </pc:grpChg>
        <pc:grpChg chg="add mod">
          <ac:chgData name="Neubauer, Nico" userId="35c88a3a-0f6c-4699-a99a-90474f651e66" providerId="ADAL" clId="{DA966A02-432D-5B2E-BB1C-E07C49E8B7BA}" dt="2026-07-08T19:27:19.541" v="262" actId="1076"/>
          <ac:grpSpMkLst>
            <pc:docMk/>
            <pc:sldMk cId="0" sldId="349"/>
            <ac:grpSpMk id="29" creationId="{F1A2751B-0539-9A04-CC7F-413B10C82371}"/>
          </ac:grpSpMkLst>
        </pc:grpChg>
        <pc:grpChg chg="add mod">
          <ac:chgData name="Neubauer, Nico" userId="35c88a3a-0f6c-4699-a99a-90474f651e66" providerId="ADAL" clId="{DA966A02-432D-5B2E-BB1C-E07C49E8B7BA}" dt="2026-07-08T19:27:24.525" v="263" actId="1076"/>
          <ac:grpSpMkLst>
            <pc:docMk/>
            <pc:sldMk cId="0" sldId="349"/>
            <ac:grpSpMk id="30" creationId="{A5BDFF89-8134-567C-5217-6EE92C38878D}"/>
          </ac:grpSpMkLst>
        </pc:grpChg>
        <pc:grpChg chg="add mod">
          <ac:chgData name="Neubauer, Nico" userId="35c88a3a-0f6c-4699-a99a-90474f651e66" providerId="ADAL" clId="{DA966A02-432D-5B2E-BB1C-E07C49E8B7BA}" dt="2026-07-08T19:27:33.825" v="265" actId="1076"/>
          <ac:grpSpMkLst>
            <pc:docMk/>
            <pc:sldMk cId="0" sldId="349"/>
            <ac:grpSpMk id="31" creationId="{D710E1AF-5BE1-B9C9-4D7A-3ADFCD985A2D}"/>
          </ac:grpSpMkLst>
        </pc:grpChg>
        <pc:grpChg chg="add mod">
          <ac:chgData name="Neubauer, Nico" userId="35c88a3a-0f6c-4699-a99a-90474f651e66" providerId="ADAL" clId="{DA966A02-432D-5B2E-BB1C-E07C49E8B7BA}" dt="2026-07-08T19:27:06.524" v="261" actId="1076"/>
          <ac:grpSpMkLst>
            <pc:docMk/>
            <pc:sldMk cId="0" sldId="349"/>
            <ac:grpSpMk id="32" creationId="{A757C9E6-6C1F-6BB9-0BF6-22A57B2EA2C0}"/>
          </ac:grpSpMkLst>
        </pc:grpChg>
      </pc:sldChg>
      <pc:sldChg chg="delSp modSp add del mod ord">
        <pc:chgData name="Neubauer, Nico" userId="35c88a3a-0f6c-4699-a99a-90474f651e66" providerId="ADAL" clId="{DA966A02-432D-5B2E-BB1C-E07C49E8B7BA}" dt="2026-07-08T20:23:31.344" v="756" actId="478"/>
        <pc:sldMkLst>
          <pc:docMk/>
          <pc:sldMk cId="0" sldId="350"/>
        </pc:sldMkLst>
        <pc:spChg chg="mod">
          <ac:chgData name="Neubauer, Nico" userId="35c88a3a-0f6c-4699-a99a-90474f651e66" providerId="ADAL" clId="{DA966A02-432D-5B2E-BB1C-E07C49E8B7BA}" dt="2026-07-08T19:23:40.564" v="240" actId="20577"/>
          <ac:spMkLst>
            <pc:docMk/>
            <pc:sldMk cId="0" sldId="350"/>
            <ac:spMk id="5" creationId="{00000000-0000-0000-0000-000000000000}"/>
          </ac:spMkLst>
        </pc:spChg>
        <pc:spChg chg="mod">
          <ac:chgData name="Neubauer, Nico" userId="35c88a3a-0f6c-4699-a99a-90474f651e66" providerId="ADAL" clId="{DA966A02-432D-5B2E-BB1C-E07C49E8B7BA}" dt="2026-07-08T19:30:20.761" v="319" actId="403"/>
          <ac:spMkLst>
            <pc:docMk/>
            <pc:sldMk cId="0" sldId="350"/>
            <ac:spMk id="9" creationId="{00000000-0000-0000-0000-000000000000}"/>
          </ac:spMkLst>
        </pc:spChg>
        <pc:spChg chg="mod">
          <ac:chgData name="Neubauer, Nico" userId="35c88a3a-0f6c-4699-a99a-90474f651e66" providerId="ADAL" clId="{DA966A02-432D-5B2E-BB1C-E07C49E8B7BA}" dt="2026-07-08T19:30:15.825" v="318" actId="113"/>
          <ac:spMkLst>
            <pc:docMk/>
            <pc:sldMk cId="0" sldId="350"/>
            <ac:spMk id="16" creationId="{00000000-0000-0000-0000-000000000000}"/>
          </ac:spMkLst>
        </pc:spChg>
        <pc:spChg chg="mod">
          <ac:chgData name="Neubauer, Nico" userId="35c88a3a-0f6c-4699-a99a-90474f651e66" providerId="ADAL" clId="{DA966A02-432D-5B2E-BB1C-E07C49E8B7BA}" dt="2026-07-08T19:30:54.174" v="330" actId="207"/>
          <ac:spMkLst>
            <pc:docMk/>
            <pc:sldMk cId="0" sldId="350"/>
            <ac:spMk id="23" creationId="{00000000-0000-0000-0000-000000000000}"/>
          </ac:spMkLst>
        </pc:spChg>
        <pc:spChg chg="mod">
          <ac:chgData name="Neubauer, Nico" userId="35c88a3a-0f6c-4699-a99a-90474f651e66" providerId="ADAL" clId="{DA966A02-432D-5B2E-BB1C-E07C49E8B7BA}" dt="2026-07-08T19:31:04.641" v="339" actId="20577"/>
          <ac:spMkLst>
            <pc:docMk/>
            <pc:sldMk cId="0" sldId="350"/>
            <ac:spMk id="30" creationId="{00000000-0000-0000-0000-000000000000}"/>
          </ac:spMkLst>
        </pc:spChg>
        <pc:spChg chg="mod">
          <ac:chgData name="Neubauer, Nico" userId="35c88a3a-0f6c-4699-a99a-90474f651e66" providerId="ADAL" clId="{DA966A02-432D-5B2E-BB1C-E07C49E8B7BA}" dt="2026-07-08T19:31:28.332" v="348" actId="20577"/>
          <ac:spMkLst>
            <pc:docMk/>
            <pc:sldMk cId="0" sldId="350"/>
            <ac:spMk id="33" creationId="{00000000-0000-0000-0000-000000000000}"/>
          </ac:spMkLst>
        </pc:spChg>
        <pc:spChg chg="del mod">
          <ac:chgData name="Neubauer, Nico" userId="35c88a3a-0f6c-4699-a99a-90474f651e66" providerId="ADAL" clId="{DA966A02-432D-5B2E-BB1C-E07C49E8B7BA}" dt="2026-07-08T20:23:31.344" v="756" actId="478"/>
          <ac:spMkLst>
            <pc:docMk/>
            <pc:sldMk cId="0" sldId="350"/>
            <ac:spMk id="36" creationId="{00000000-0000-0000-0000-000000000000}"/>
          </ac:spMkLst>
        </pc:spChg>
      </pc:sldChg>
      <pc:sldChg chg="delSp add del mod">
        <pc:chgData name="Neubauer, Nico" userId="35c88a3a-0f6c-4699-a99a-90474f651e66" providerId="ADAL" clId="{DA966A02-432D-5B2E-BB1C-E07C49E8B7BA}" dt="2026-07-08T20:23:36.474" v="758" actId="478"/>
        <pc:sldMkLst>
          <pc:docMk/>
          <pc:sldMk cId="0" sldId="351"/>
        </pc:sldMkLst>
        <pc:spChg chg="del">
          <ac:chgData name="Neubauer, Nico" userId="35c88a3a-0f6c-4699-a99a-90474f651e66" providerId="ADAL" clId="{DA966A02-432D-5B2E-BB1C-E07C49E8B7BA}" dt="2026-07-08T20:23:36.474" v="758" actId="478"/>
          <ac:spMkLst>
            <pc:docMk/>
            <pc:sldMk cId="0" sldId="351"/>
            <ac:spMk id="38" creationId="{00000000-0000-0000-0000-000000000000}"/>
          </ac:spMkLst>
        </pc:spChg>
      </pc:sldChg>
      <pc:sldChg chg="delSp modSp add del mod">
        <pc:chgData name="Neubauer, Nico" userId="35c88a3a-0f6c-4699-a99a-90474f651e66" providerId="ADAL" clId="{DA966A02-432D-5B2E-BB1C-E07C49E8B7BA}" dt="2026-07-08T20:23:38.895" v="759" actId="478"/>
        <pc:sldMkLst>
          <pc:docMk/>
          <pc:sldMk cId="0" sldId="352"/>
        </pc:sldMkLst>
        <pc:spChg chg="mod">
          <ac:chgData name="Neubauer, Nico" userId="35c88a3a-0f6c-4699-a99a-90474f651e66" providerId="ADAL" clId="{DA966A02-432D-5B2E-BB1C-E07C49E8B7BA}" dt="2026-07-08T19:32:21.050" v="374" actId="20577"/>
          <ac:spMkLst>
            <pc:docMk/>
            <pc:sldMk cId="0" sldId="352"/>
            <ac:spMk id="4" creationId="{00000000-0000-0000-0000-000000000000}"/>
          </ac:spMkLst>
        </pc:spChg>
        <pc:spChg chg="mod">
          <ac:chgData name="Neubauer, Nico" userId="35c88a3a-0f6c-4699-a99a-90474f651e66" providerId="ADAL" clId="{DA966A02-432D-5B2E-BB1C-E07C49E8B7BA}" dt="2026-07-07T15:37:05.871" v="191" actId="14100"/>
          <ac:spMkLst>
            <pc:docMk/>
            <pc:sldMk cId="0" sldId="352"/>
            <ac:spMk id="31" creationId="{00000000-0000-0000-0000-000000000000}"/>
          </ac:spMkLst>
        </pc:spChg>
        <pc:spChg chg="del">
          <ac:chgData name="Neubauer, Nico" userId="35c88a3a-0f6c-4699-a99a-90474f651e66" providerId="ADAL" clId="{DA966A02-432D-5B2E-BB1C-E07C49E8B7BA}" dt="2026-07-08T20:23:38.895" v="759" actId="478"/>
          <ac:spMkLst>
            <pc:docMk/>
            <pc:sldMk cId="0" sldId="352"/>
            <ac:spMk id="33" creationId="{00000000-0000-0000-0000-000000000000}"/>
          </ac:spMkLst>
        </pc:spChg>
      </pc:sldChg>
      <pc:sldChg chg="delSp modSp add del mod">
        <pc:chgData name="Neubauer, Nico" userId="35c88a3a-0f6c-4699-a99a-90474f651e66" providerId="ADAL" clId="{DA966A02-432D-5B2E-BB1C-E07C49E8B7BA}" dt="2026-07-08T20:23:46.960" v="761" actId="478"/>
        <pc:sldMkLst>
          <pc:docMk/>
          <pc:sldMk cId="0" sldId="353"/>
        </pc:sldMkLst>
        <pc:spChg chg="mod">
          <ac:chgData name="Neubauer, Nico" userId="35c88a3a-0f6c-4699-a99a-90474f651e66" providerId="ADAL" clId="{DA966A02-432D-5B2E-BB1C-E07C49E8B7BA}" dt="2026-07-08T19:36:20.073" v="429" actId="20577"/>
          <ac:spMkLst>
            <pc:docMk/>
            <pc:sldMk cId="0" sldId="353"/>
            <ac:spMk id="4" creationId="{00000000-0000-0000-0000-000000000000}"/>
          </ac:spMkLst>
        </pc:spChg>
        <pc:spChg chg="mod">
          <ac:chgData name="Neubauer, Nico" userId="35c88a3a-0f6c-4699-a99a-90474f651e66" providerId="ADAL" clId="{DA966A02-432D-5B2E-BB1C-E07C49E8B7BA}" dt="2026-07-08T19:35:19.697" v="402" actId="20577"/>
          <ac:spMkLst>
            <pc:docMk/>
            <pc:sldMk cId="0" sldId="353"/>
            <ac:spMk id="46" creationId="{00000000-0000-0000-0000-000000000000}"/>
          </ac:spMkLst>
        </pc:spChg>
        <pc:spChg chg="mod">
          <ac:chgData name="Neubauer, Nico" userId="35c88a3a-0f6c-4699-a99a-90474f651e66" providerId="ADAL" clId="{DA966A02-432D-5B2E-BB1C-E07C49E8B7BA}" dt="2026-07-08T19:34:51.748" v="378" actId="20577"/>
          <ac:spMkLst>
            <pc:docMk/>
            <pc:sldMk cId="0" sldId="353"/>
            <ac:spMk id="47" creationId="{00000000-0000-0000-0000-000000000000}"/>
          </ac:spMkLst>
        </pc:spChg>
        <pc:spChg chg="del mod">
          <ac:chgData name="Neubauer, Nico" userId="35c88a3a-0f6c-4699-a99a-90474f651e66" providerId="ADAL" clId="{DA966A02-432D-5B2E-BB1C-E07C49E8B7BA}" dt="2026-07-08T20:23:46.960" v="761" actId="478"/>
          <ac:spMkLst>
            <pc:docMk/>
            <pc:sldMk cId="0" sldId="353"/>
            <ac:spMk id="49" creationId="{00000000-0000-0000-0000-000000000000}"/>
          </ac:spMkLst>
        </pc:spChg>
      </pc:sldChg>
      <pc:sldChg chg="delSp modSp add del mod ord">
        <pc:chgData name="Neubauer, Nico" userId="35c88a3a-0f6c-4699-a99a-90474f651e66" providerId="ADAL" clId="{DA966A02-432D-5B2E-BB1C-E07C49E8B7BA}" dt="2026-07-08T20:23:42.466" v="760" actId="478"/>
        <pc:sldMkLst>
          <pc:docMk/>
          <pc:sldMk cId="0" sldId="354"/>
        </pc:sldMkLst>
        <pc:spChg chg="mod">
          <ac:chgData name="Neubauer, Nico" userId="35c88a3a-0f6c-4699-a99a-90474f651e66" providerId="ADAL" clId="{DA966A02-432D-5B2E-BB1C-E07C49E8B7BA}" dt="2026-07-08T19:34:05.758" v="377" actId="1076"/>
          <ac:spMkLst>
            <pc:docMk/>
            <pc:sldMk cId="0" sldId="354"/>
            <ac:spMk id="2" creationId="{00000000-0000-0000-0000-000000000000}"/>
          </ac:spMkLst>
        </pc:spChg>
        <pc:spChg chg="mod">
          <ac:chgData name="Neubauer, Nico" userId="35c88a3a-0f6c-4699-a99a-90474f651e66" providerId="ADAL" clId="{DA966A02-432D-5B2E-BB1C-E07C49E8B7BA}" dt="2026-07-08T19:35:54.916" v="420" actId="20577"/>
          <ac:spMkLst>
            <pc:docMk/>
            <pc:sldMk cId="0" sldId="354"/>
            <ac:spMk id="5" creationId="{00000000-0000-0000-0000-000000000000}"/>
          </ac:spMkLst>
        </pc:spChg>
        <pc:spChg chg="mod">
          <ac:chgData name="Neubauer, Nico" userId="35c88a3a-0f6c-4699-a99a-90474f651e66" providerId="ADAL" clId="{DA966A02-432D-5B2E-BB1C-E07C49E8B7BA}" dt="2026-07-08T19:34:02.344" v="376" actId="14100"/>
          <ac:spMkLst>
            <pc:docMk/>
            <pc:sldMk cId="0" sldId="354"/>
            <ac:spMk id="65" creationId="{00000000-0000-0000-0000-000000000000}"/>
          </ac:spMkLst>
        </pc:spChg>
        <pc:spChg chg="mod">
          <ac:chgData name="Neubauer, Nico" userId="35c88a3a-0f6c-4699-a99a-90474f651e66" providerId="ADAL" clId="{DA966A02-432D-5B2E-BB1C-E07C49E8B7BA}" dt="2026-07-08T19:35:28.962" v="406" actId="20577"/>
          <ac:spMkLst>
            <pc:docMk/>
            <pc:sldMk cId="0" sldId="354"/>
            <ac:spMk id="66" creationId="{00000000-0000-0000-0000-000000000000}"/>
          </ac:spMkLst>
        </pc:spChg>
        <pc:spChg chg="del mod">
          <ac:chgData name="Neubauer, Nico" userId="35c88a3a-0f6c-4699-a99a-90474f651e66" providerId="ADAL" clId="{DA966A02-432D-5B2E-BB1C-E07C49E8B7BA}" dt="2026-07-08T20:23:42.466" v="760" actId="478"/>
          <ac:spMkLst>
            <pc:docMk/>
            <pc:sldMk cId="0" sldId="354"/>
            <ac:spMk id="68" creationId="{00000000-0000-0000-0000-000000000000}"/>
          </ac:spMkLst>
        </pc:spChg>
      </pc:sldChg>
      <pc:sldChg chg="addSp delSp modSp add del mod">
        <pc:chgData name="Neubauer, Nico" userId="35c88a3a-0f6c-4699-a99a-90474f651e66" providerId="ADAL" clId="{DA966A02-432D-5B2E-BB1C-E07C49E8B7BA}" dt="2026-07-08T20:23:51.832" v="762" actId="478"/>
        <pc:sldMkLst>
          <pc:docMk/>
          <pc:sldMk cId="0" sldId="355"/>
        </pc:sldMkLst>
        <pc:spChg chg="mod">
          <ac:chgData name="Neubauer, Nico" userId="35c88a3a-0f6c-4699-a99a-90474f651e66" providerId="ADAL" clId="{DA966A02-432D-5B2E-BB1C-E07C49E8B7BA}" dt="2026-07-08T20:13:19.005" v="699" actId="1076"/>
          <ac:spMkLst>
            <pc:docMk/>
            <pc:sldMk cId="0" sldId="355"/>
            <ac:spMk id="2" creationId="{00000000-0000-0000-0000-000000000000}"/>
          </ac:spMkLst>
        </pc:spChg>
        <pc:spChg chg="mod">
          <ac:chgData name="Neubauer, Nico" userId="35c88a3a-0f6c-4699-a99a-90474f651e66" providerId="ADAL" clId="{DA966A02-432D-5B2E-BB1C-E07C49E8B7BA}" dt="2026-07-08T19:39:55.147" v="556" actId="20577"/>
          <ac:spMkLst>
            <pc:docMk/>
            <pc:sldMk cId="0" sldId="355"/>
            <ac:spMk id="4" creationId="{00000000-0000-0000-0000-000000000000}"/>
          </ac:spMkLst>
        </pc:spChg>
        <pc:spChg chg="mod">
          <ac:chgData name="Neubauer, Nico" userId="35c88a3a-0f6c-4699-a99a-90474f651e66" providerId="ADAL" clId="{DA966A02-432D-5B2E-BB1C-E07C49E8B7BA}" dt="2026-07-08T19:39:41.558" v="553" actId="20577"/>
          <ac:spMkLst>
            <pc:docMk/>
            <pc:sldMk cId="0" sldId="355"/>
            <ac:spMk id="7" creationId="{00000000-0000-0000-0000-000000000000}"/>
          </ac:spMkLst>
        </pc:spChg>
        <pc:spChg chg="mod">
          <ac:chgData name="Neubauer, Nico" userId="35c88a3a-0f6c-4699-a99a-90474f651e66" providerId="ADAL" clId="{DA966A02-432D-5B2E-BB1C-E07C49E8B7BA}" dt="2026-07-08T19:42:46.397" v="653" actId="20577"/>
          <ac:spMkLst>
            <pc:docMk/>
            <pc:sldMk cId="0" sldId="355"/>
            <ac:spMk id="8" creationId="{00000000-0000-0000-0000-000000000000}"/>
          </ac:spMkLst>
        </pc:spChg>
        <pc:spChg chg="mod">
          <ac:chgData name="Neubauer, Nico" userId="35c88a3a-0f6c-4699-a99a-90474f651e66" providerId="ADAL" clId="{DA966A02-432D-5B2E-BB1C-E07C49E8B7BA}" dt="2026-07-08T20:13:41.459" v="700" actId="14100"/>
          <ac:spMkLst>
            <pc:docMk/>
            <pc:sldMk cId="0" sldId="355"/>
            <ac:spMk id="12" creationId="{00000000-0000-0000-0000-000000000000}"/>
          </ac:spMkLst>
        </pc:spChg>
        <pc:spChg chg="mod">
          <ac:chgData name="Neubauer, Nico" userId="35c88a3a-0f6c-4699-a99a-90474f651e66" providerId="ADAL" clId="{DA966A02-432D-5B2E-BB1C-E07C49E8B7BA}" dt="2026-07-08T19:41:07.109" v="559" actId="14100"/>
          <ac:spMkLst>
            <pc:docMk/>
            <pc:sldMk cId="0" sldId="355"/>
            <ac:spMk id="16" creationId="{00000000-0000-0000-0000-000000000000}"/>
          </ac:spMkLst>
        </pc:spChg>
        <pc:spChg chg="mod">
          <ac:chgData name="Neubauer, Nico" userId="35c88a3a-0f6c-4699-a99a-90474f651e66" providerId="ADAL" clId="{DA966A02-432D-5B2E-BB1C-E07C49E8B7BA}" dt="2026-07-08T19:41:41.940" v="565" actId="20577"/>
          <ac:spMkLst>
            <pc:docMk/>
            <pc:sldMk cId="0" sldId="355"/>
            <ac:spMk id="20" creationId="{00000000-0000-0000-0000-000000000000}"/>
          </ac:spMkLst>
        </pc:spChg>
        <pc:spChg chg="del">
          <ac:chgData name="Neubauer, Nico" userId="35c88a3a-0f6c-4699-a99a-90474f651e66" providerId="ADAL" clId="{DA966A02-432D-5B2E-BB1C-E07C49E8B7BA}" dt="2026-07-07T15:36:36.403" v="186" actId="478"/>
          <ac:spMkLst>
            <pc:docMk/>
            <pc:sldMk cId="0" sldId="355"/>
            <ac:spMk id="21" creationId="{00000000-0000-0000-0000-000000000000}"/>
          </ac:spMkLst>
        </pc:spChg>
        <pc:spChg chg="add mod">
          <ac:chgData name="Neubauer, Nico" userId="35c88a3a-0f6c-4699-a99a-90474f651e66" providerId="ADAL" clId="{DA966A02-432D-5B2E-BB1C-E07C49E8B7BA}" dt="2026-07-08T20:14:25.607" v="703" actId="1076"/>
          <ac:spMkLst>
            <pc:docMk/>
            <pc:sldMk cId="0" sldId="355"/>
            <ac:spMk id="21" creationId="{72B4EE78-D666-A851-FDD2-89E0414BEBB8}"/>
          </ac:spMkLst>
        </pc:spChg>
        <pc:spChg chg="del mod">
          <ac:chgData name="Neubauer, Nico" userId="35c88a3a-0f6c-4699-a99a-90474f651e66" providerId="ADAL" clId="{DA966A02-432D-5B2E-BB1C-E07C49E8B7BA}" dt="2026-07-07T15:36:38.050" v="188"/>
          <ac:spMkLst>
            <pc:docMk/>
            <pc:sldMk cId="0" sldId="355"/>
            <ac:spMk id="22" creationId="{00000000-0000-0000-0000-000000000000}"/>
          </ac:spMkLst>
        </pc:spChg>
        <pc:spChg chg="add mod">
          <ac:chgData name="Neubauer, Nico" userId="35c88a3a-0f6c-4699-a99a-90474f651e66" providerId="ADAL" clId="{DA966A02-432D-5B2E-BB1C-E07C49E8B7BA}" dt="2026-07-08T20:16:49.166" v="718" actId="1036"/>
          <ac:spMkLst>
            <pc:docMk/>
            <pc:sldMk cId="0" sldId="355"/>
            <ac:spMk id="22" creationId="{10EF112C-F66B-E2C8-710F-1C17EC6A1710}"/>
          </ac:spMkLst>
        </pc:spChg>
        <pc:spChg chg="del">
          <ac:chgData name="Neubauer, Nico" userId="35c88a3a-0f6c-4699-a99a-90474f651e66" providerId="ADAL" clId="{DA966A02-432D-5B2E-BB1C-E07C49E8B7BA}" dt="2026-07-08T20:23:51.832" v="762" actId="478"/>
          <ac:spMkLst>
            <pc:docMk/>
            <pc:sldMk cId="0" sldId="355"/>
            <ac:spMk id="24" creationId="{00000000-0000-0000-0000-000000000000}"/>
          </ac:spMkLst>
        </pc:spChg>
        <pc:spChg chg="add mod">
          <ac:chgData name="Neubauer, Nico" userId="35c88a3a-0f6c-4699-a99a-90474f651e66" providerId="ADAL" clId="{DA966A02-432D-5B2E-BB1C-E07C49E8B7BA}" dt="2026-07-08T20:15:16.609" v="705" actId="255"/>
          <ac:spMkLst>
            <pc:docMk/>
            <pc:sldMk cId="0" sldId="355"/>
            <ac:spMk id="25" creationId="{D5AC1052-94F8-A51C-CEB3-602F27552048}"/>
          </ac:spMkLst>
        </pc:spChg>
        <pc:spChg chg="add mod">
          <ac:chgData name="Neubauer, Nico" userId="35c88a3a-0f6c-4699-a99a-90474f651e66" providerId="ADAL" clId="{DA966A02-432D-5B2E-BB1C-E07C49E8B7BA}" dt="2026-07-08T20:15:24.992" v="706" actId="255"/>
          <ac:spMkLst>
            <pc:docMk/>
            <pc:sldMk cId="0" sldId="355"/>
            <ac:spMk id="26" creationId="{7B201171-CDE8-473E-C82C-E5E9C68AC7CC}"/>
          </ac:spMkLst>
        </pc:spChg>
        <pc:spChg chg="add mod">
          <ac:chgData name="Neubauer, Nico" userId="35c88a3a-0f6c-4699-a99a-90474f651e66" providerId="ADAL" clId="{DA966A02-432D-5B2E-BB1C-E07C49E8B7BA}" dt="2026-07-08T20:14:25.607" v="703" actId="1076"/>
          <ac:spMkLst>
            <pc:docMk/>
            <pc:sldMk cId="0" sldId="355"/>
            <ac:spMk id="27" creationId="{6A6BE0B6-D1F6-CD50-B849-3C008D2D80A5}"/>
          </ac:spMkLst>
        </pc:spChg>
        <pc:spChg chg="add mod">
          <ac:chgData name="Neubauer, Nico" userId="35c88a3a-0f6c-4699-a99a-90474f651e66" providerId="ADAL" clId="{DA966A02-432D-5B2E-BB1C-E07C49E8B7BA}" dt="2026-07-08T20:14:25.607" v="703" actId="1076"/>
          <ac:spMkLst>
            <pc:docMk/>
            <pc:sldMk cId="0" sldId="355"/>
            <ac:spMk id="28" creationId="{2EF4E844-5A55-9391-CC22-2E81137AD47C}"/>
          </ac:spMkLst>
        </pc:spChg>
        <pc:inkChg chg="add del">
          <ac:chgData name="Neubauer, Nico" userId="35c88a3a-0f6c-4699-a99a-90474f651e66" providerId="ADAL" clId="{DA966A02-432D-5B2E-BB1C-E07C49E8B7BA}" dt="2026-07-08T20:15:57.244" v="708" actId="9405"/>
          <ac:inkMkLst>
            <pc:docMk/>
            <pc:sldMk cId="0" sldId="355"/>
            <ac:inkMk id="29" creationId="{23826591-D3AF-A56A-158D-3168B7559F35}"/>
          </ac:inkMkLst>
        </pc:inkChg>
        <pc:cxnChg chg="add mod">
          <ac:chgData name="Neubauer, Nico" userId="35c88a3a-0f6c-4699-a99a-90474f651e66" providerId="ADAL" clId="{DA966A02-432D-5B2E-BB1C-E07C49E8B7BA}" dt="2026-07-08T20:17:19.677" v="719" actId="692"/>
          <ac:cxnSpMkLst>
            <pc:docMk/>
            <pc:sldMk cId="0" sldId="355"/>
            <ac:cxnSpMk id="31" creationId="{3F623974-92F3-0002-4420-AFFBF6C5BBE2}"/>
          </ac:cxnSpMkLst>
        </pc:cxnChg>
      </pc:sldChg>
      <pc:sldChg chg="delSp modSp mod">
        <pc:chgData name="Neubauer, Nico" userId="35c88a3a-0f6c-4699-a99a-90474f651e66" providerId="ADAL" clId="{DA966A02-432D-5B2E-BB1C-E07C49E8B7BA}" dt="2026-07-08T20:24:06.630" v="766" actId="478"/>
        <pc:sldMkLst>
          <pc:docMk/>
          <pc:sldMk cId="4024034768" sldId="357"/>
        </pc:sldMkLst>
        <pc:spChg chg="del mod">
          <ac:chgData name="Neubauer, Nico" userId="35c88a3a-0f6c-4699-a99a-90474f651e66" providerId="ADAL" clId="{DA966A02-432D-5B2E-BB1C-E07C49E8B7BA}" dt="2026-07-08T20:24:06.630" v="766" actId="478"/>
          <ac:spMkLst>
            <pc:docMk/>
            <pc:sldMk cId="4024034768" sldId="357"/>
            <ac:spMk id="23" creationId="{D0F37EE5-7C30-4476-BF20-13F2F3C3DCDE}"/>
          </ac:spMkLst>
        </pc:spChg>
      </pc:sldChg>
      <pc:sldChg chg="delSp mod">
        <pc:chgData name="Neubauer, Nico" userId="35c88a3a-0f6c-4699-a99a-90474f651e66" providerId="ADAL" clId="{DA966A02-432D-5B2E-BB1C-E07C49E8B7BA}" dt="2026-07-08T20:24:10.804" v="767" actId="478"/>
        <pc:sldMkLst>
          <pc:docMk/>
          <pc:sldMk cId="2715775729" sldId="358"/>
        </pc:sldMkLst>
        <pc:spChg chg="del">
          <ac:chgData name="Neubauer, Nico" userId="35c88a3a-0f6c-4699-a99a-90474f651e66" providerId="ADAL" clId="{DA966A02-432D-5B2E-BB1C-E07C49E8B7BA}" dt="2026-07-08T20:24:10.804" v="767" actId="478"/>
          <ac:spMkLst>
            <pc:docMk/>
            <pc:sldMk cId="2715775729" sldId="358"/>
            <ac:spMk id="31" creationId="{33E5422C-31A7-410A-BF25-20541C0F1376}"/>
          </ac:spMkLst>
        </pc:spChg>
      </pc:sldChg>
      <pc:sldChg chg="delSp mod">
        <pc:chgData name="Neubauer, Nico" userId="35c88a3a-0f6c-4699-a99a-90474f651e66" providerId="ADAL" clId="{DA966A02-432D-5B2E-BB1C-E07C49E8B7BA}" dt="2026-07-08T20:24:13.225" v="768" actId="478"/>
        <pc:sldMkLst>
          <pc:docMk/>
          <pc:sldMk cId="3569709768" sldId="359"/>
        </pc:sldMkLst>
        <pc:spChg chg="del">
          <ac:chgData name="Neubauer, Nico" userId="35c88a3a-0f6c-4699-a99a-90474f651e66" providerId="ADAL" clId="{DA966A02-432D-5B2E-BB1C-E07C49E8B7BA}" dt="2026-07-08T20:24:13.225" v="768" actId="478"/>
          <ac:spMkLst>
            <pc:docMk/>
            <pc:sldMk cId="3569709768" sldId="359"/>
            <ac:spMk id="21" creationId="{E81B4FE7-0B44-430E-AFE9-F39F0A37F8E0}"/>
          </ac:spMkLst>
        </pc:spChg>
      </pc:sldChg>
      <pc:sldChg chg="delSp mod">
        <pc:chgData name="Neubauer, Nico" userId="35c88a3a-0f6c-4699-a99a-90474f651e66" providerId="ADAL" clId="{DA966A02-432D-5B2E-BB1C-E07C49E8B7BA}" dt="2026-07-08T20:24:20.887" v="771" actId="478"/>
        <pc:sldMkLst>
          <pc:docMk/>
          <pc:sldMk cId="1147123217" sldId="361"/>
        </pc:sldMkLst>
        <pc:spChg chg="del">
          <ac:chgData name="Neubauer, Nico" userId="35c88a3a-0f6c-4699-a99a-90474f651e66" providerId="ADAL" clId="{DA966A02-432D-5B2E-BB1C-E07C49E8B7BA}" dt="2026-07-08T20:24:20.887" v="771" actId="478"/>
          <ac:spMkLst>
            <pc:docMk/>
            <pc:sldMk cId="1147123217" sldId="361"/>
            <ac:spMk id="30" creationId="{A33A9D8F-1684-4439-9245-E27AFEF056A4}"/>
          </ac:spMkLst>
        </pc:spChg>
      </pc:sldChg>
      <pc:sldChg chg="delSp mod">
        <pc:chgData name="Neubauer, Nico" userId="35c88a3a-0f6c-4699-a99a-90474f651e66" providerId="ADAL" clId="{DA966A02-432D-5B2E-BB1C-E07C49E8B7BA}" dt="2026-07-08T20:24:25.210" v="773" actId="478"/>
        <pc:sldMkLst>
          <pc:docMk/>
          <pc:sldMk cId="8078720" sldId="363"/>
        </pc:sldMkLst>
        <pc:spChg chg="del">
          <ac:chgData name="Neubauer, Nico" userId="35c88a3a-0f6c-4699-a99a-90474f651e66" providerId="ADAL" clId="{DA966A02-432D-5B2E-BB1C-E07C49E8B7BA}" dt="2026-07-08T20:24:25.210" v="773" actId="478"/>
          <ac:spMkLst>
            <pc:docMk/>
            <pc:sldMk cId="8078720" sldId="363"/>
            <ac:spMk id="19" creationId="{53AF9230-75D9-46DF-BD64-53F2F1874EFD}"/>
          </ac:spMkLst>
        </pc:spChg>
      </pc:sldChg>
      <pc:sldChg chg="delSp mod">
        <pc:chgData name="Neubauer, Nico" userId="35c88a3a-0f6c-4699-a99a-90474f651e66" providerId="ADAL" clId="{DA966A02-432D-5B2E-BB1C-E07C49E8B7BA}" dt="2026-07-08T20:24:29.762" v="774" actId="478"/>
        <pc:sldMkLst>
          <pc:docMk/>
          <pc:sldMk cId="3666289268" sldId="364"/>
        </pc:sldMkLst>
        <pc:spChg chg="del">
          <ac:chgData name="Neubauer, Nico" userId="35c88a3a-0f6c-4699-a99a-90474f651e66" providerId="ADAL" clId="{DA966A02-432D-5B2E-BB1C-E07C49E8B7BA}" dt="2026-07-08T20:24:29.762" v="774" actId="478"/>
          <ac:spMkLst>
            <pc:docMk/>
            <pc:sldMk cId="3666289268" sldId="364"/>
            <ac:spMk id="19" creationId="{53AF9230-75D9-46DF-BD64-53F2F1874EFD}"/>
          </ac:spMkLst>
        </pc:spChg>
      </pc:sldChg>
      <pc:sldChg chg="delSp mod">
        <pc:chgData name="Neubauer, Nico" userId="35c88a3a-0f6c-4699-a99a-90474f651e66" providerId="ADAL" clId="{DA966A02-432D-5B2E-BB1C-E07C49E8B7BA}" dt="2026-07-08T20:24:35.329" v="775" actId="478"/>
        <pc:sldMkLst>
          <pc:docMk/>
          <pc:sldMk cId="2337056869" sldId="365"/>
        </pc:sldMkLst>
        <pc:spChg chg="del">
          <ac:chgData name="Neubauer, Nico" userId="35c88a3a-0f6c-4699-a99a-90474f651e66" providerId="ADAL" clId="{DA966A02-432D-5B2E-BB1C-E07C49E8B7BA}" dt="2026-07-08T20:24:35.329" v="775" actId="478"/>
          <ac:spMkLst>
            <pc:docMk/>
            <pc:sldMk cId="2337056869" sldId="365"/>
            <ac:spMk id="19" creationId="{53AF9230-75D9-46DF-BD64-53F2F1874EFD}"/>
          </ac:spMkLst>
        </pc:spChg>
      </pc:sldChg>
      <pc:sldChg chg="delSp mod">
        <pc:chgData name="Neubauer, Nico" userId="35c88a3a-0f6c-4699-a99a-90474f651e66" providerId="ADAL" clId="{DA966A02-432D-5B2E-BB1C-E07C49E8B7BA}" dt="2026-07-08T20:24:37.084" v="776" actId="478"/>
        <pc:sldMkLst>
          <pc:docMk/>
          <pc:sldMk cId="2354189973" sldId="366"/>
        </pc:sldMkLst>
        <pc:spChg chg="del">
          <ac:chgData name="Neubauer, Nico" userId="35c88a3a-0f6c-4699-a99a-90474f651e66" providerId="ADAL" clId="{DA966A02-432D-5B2E-BB1C-E07C49E8B7BA}" dt="2026-07-08T20:24:37.084" v="776" actId="478"/>
          <ac:spMkLst>
            <pc:docMk/>
            <pc:sldMk cId="2354189973" sldId="366"/>
            <ac:spMk id="19" creationId="{53AF9230-75D9-46DF-BD64-53F2F1874EFD}"/>
          </ac:spMkLst>
        </pc:spChg>
      </pc:sldChg>
      <pc:sldChg chg="delSp mod">
        <pc:chgData name="Neubauer, Nico" userId="35c88a3a-0f6c-4699-a99a-90474f651e66" providerId="ADAL" clId="{DA966A02-432D-5B2E-BB1C-E07C49E8B7BA}" dt="2026-07-08T20:22:22.536" v="733" actId="478"/>
        <pc:sldMkLst>
          <pc:docMk/>
          <pc:sldMk cId="570519081" sldId="368"/>
        </pc:sldMkLst>
        <pc:spChg chg="del">
          <ac:chgData name="Neubauer, Nico" userId="35c88a3a-0f6c-4699-a99a-90474f651e66" providerId="ADAL" clId="{DA966A02-432D-5B2E-BB1C-E07C49E8B7BA}" dt="2026-07-08T20:22:22.536" v="733" actId="478"/>
          <ac:spMkLst>
            <pc:docMk/>
            <pc:sldMk cId="570519081" sldId="368"/>
            <ac:spMk id="60" creationId="{D6CCE0FA-E693-41CB-44A8-511C2C42758B}"/>
          </ac:spMkLst>
        </pc:spChg>
      </pc:sldChg>
      <pc:sldChg chg="delSp mod">
        <pc:chgData name="Neubauer, Nico" userId="35c88a3a-0f6c-4699-a99a-90474f651e66" providerId="ADAL" clId="{DA966A02-432D-5B2E-BB1C-E07C49E8B7BA}" dt="2026-07-08T20:24:44.793" v="777" actId="478"/>
        <pc:sldMkLst>
          <pc:docMk/>
          <pc:sldMk cId="3825895425" sldId="369"/>
        </pc:sldMkLst>
        <pc:spChg chg="del">
          <ac:chgData name="Neubauer, Nico" userId="35c88a3a-0f6c-4699-a99a-90474f651e66" providerId="ADAL" clId="{DA966A02-432D-5B2E-BB1C-E07C49E8B7BA}" dt="2026-07-08T20:24:44.793" v="777" actId="478"/>
          <ac:spMkLst>
            <pc:docMk/>
            <pc:sldMk cId="3825895425" sldId="369"/>
            <ac:spMk id="19" creationId="{53AF9230-75D9-46DF-BD64-53F2F1874EFD}"/>
          </ac:spMkLst>
        </pc:spChg>
      </pc:sldChg>
      <pc:sldChg chg="delSp mod">
        <pc:chgData name="Neubauer, Nico" userId="35c88a3a-0f6c-4699-a99a-90474f651e66" providerId="ADAL" clId="{DA966A02-432D-5B2E-BB1C-E07C49E8B7BA}" dt="2026-07-08T20:24:23.992" v="772" actId="478"/>
        <pc:sldMkLst>
          <pc:docMk/>
          <pc:sldMk cId="1951148751" sldId="370"/>
        </pc:sldMkLst>
        <pc:spChg chg="del">
          <ac:chgData name="Neubauer, Nico" userId="35c88a3a-0f6c-4699-a99a-90474f651e66" providerId="ADAL" clId="{DA966A02-432D-5B2E-BB1C-E07C49E8B7BA}" dt="2026-07-08T20:24:23.992" v="772" actId="478"/>
          <ac:spMkLst>
            <pc:docMk/>
            <pc:sldMk cId="1951148751" sldId="370"/>
            <ac:spMk id="19" creationId="{53AF9230-75D9-46DF-BD64-53F2F1874EFD}"/>
          </ac:spMkLst>
        </pc:spChg>
      </pc:sldChg>
      <pc:sldChg chg="delSp modSp mod">
        <pc:chgData name="Neubauer, Nico" userId="35c88a3a-0f6c-4699-a99a-90474f651e66" providerId="ADAL" clId="{DA966A02-432D-5B2E-BB1C-E07C49E8B7BA}" dt="2026-07-08T20:24:15.707" v="770" actId="478"/>
        <pc:sldMkLst>
          <pc:docMk/>
          <pc:sldMk cId="2560988626" sldId="371"/>
        </pc:sldMkLst>
        <pc:spChg chg="del mod">
          <ac:chgData name="Neubauer, Nico" userId="35c88a3a-0f6c-4699-a99a-90474f651e66" providerId="ADAL" clId="{DA966A02-432D-5B2E-BB1C-E07C49E8B7BA}" dt="2026-07-08T20:24:15.707" v="770" actId="478"/>
          <ac:spMkLst>
            <pc:docMk/>
            <pc:sldMk cId="2560988626" sldId="371"/>
            <ac:spMk id="19" creationId="{53AF9230-75D9-46DF-BD64-53F2F1874EFD}"/>
          </ac:spMkLst>
        </pc:spChg>
      </pc:sldChg>
    </pc:docChg>
  </pc:docChgLst>
  <pc:docChgLst>
    <pc:chgData name="Neubauer, Nico" userId="S::nico.neubauer@study.hs-duesseldorf.de::35c88a3a-0f6c-4699-a99a-90474f651e66" providerId="AD" clId="Web-{05739BB4-8FF7-5653-91A1-980AC2E86CA8}"/>
    <pc:docChg chg="delSld modSld">
      <pc:chgData name="Neubauer, Nico" userId="S::nico.neubauer@study.hs-duesseldorf.de::35c88a3a-0f6c-4699-a99a-90474f651e66" providerId="AD" clId="Web-{05739BB4-8FF7-5653-91A1-980AC2E86CA8}" dt="2026-06-30T15:32:34.078" v="8"/>
      <pc:docMkLst>
        <pc:docMk/>
      </pc:docMkLst>
    </pc:docChg>
  </pc:docChgLst>
  <pc:docChgLst>
    <pc:chgData name="Alsadakah, Dani" userId="S::dani.alsadakah@study.hs-duesseldorf.de::15295a0b-9586-497d-a928-44476d0b7c74" providerId="AD" clId="Web-{39BF7497-65AD-43D3-23A2-7807053BFE14}"/>
    <pc:docChg chg="addSld delSld modSld sldOrd">
      <pc:chgData name="Alsadakah, Dani" userId="S::dani.alsadakah@study.hs-duesseldorf.de::15295a0b-9586-497d-a928-44476d0b7c74" providerId="AD" clId="Web-{39BF7497-65AD-43D3-23A2-7807053BFE14}" dt="2026-06-30T16:22:10.339" v="64" actId="20577"/>
      <pc:docMkLst>
        <pc:docMk/>
      </pc:docMkLst>
      <pc:sldChg chg="addSp delSp modSp">
        <pc:chgData name="Alsadakah, Dani" userId="S::dani.alsadakah@study.hs-duesseldorf.de::15295a0b-9586-497d-a928-44476d0b7c74" providerId="AD" clId="Web-{39BF7497-65AD-43D3-23A2-7807053BFE14}" dt="2026-06-30T16:04:02.117" v="18"/>
        <pc:sldMkLst>
          <pc:docMk/>
          <pc:sldMk cId="23407895" sldId="270"/>
        </pc:sldMkLst>
        <pc:spChg chg="mod">
          <ac:chgData name="Alsadakah, Dani" userId="S::dani.alsadakah@study.hs-duesseldorf.de::15295a0b-9586-497d-a928-44476d0b7c74" providerId="AD" clId="Web-{39BF7497-65AD-43D3-23A2-7807053BFE14}" dt="2026-06-30T16:03:58.585" v="16" actId="20577"/>
          <ac:spMkLst>
            <pc:docMk/>
            <pc:sldMk cId="23407895" sldId="270"/>
            <ac:spMk id="4" creationId="{61CE99DC-E233-4746-99C9-7EDD8C08C84A}"/>
          </ac:spMkLst>
        </pc:spChg>
        <pc:spChg chg="add del">
          <ac:chgData name="Alsadakah, Dani" userId="S::dani.alsadakah@study.hs-duesseldorf.de::15295a0b-9586-497d-a928-44476d0b7c74" providerId="AD" clId="Web-{39BF7497-65AD-43D3-23A2-7807053BFE14}" dt="2026-06-30T16:04:02.117" v="18"/>
          <ac:spMkLst>
            <pc:docMk/>
            <pc:sldMk cId="23407895" sldId="270"/>
            <ac:spMk id="10" creationId="{6F8F7EA7-727F-4453-9246-758DA804F0BF}"/>
          </ac:spMkLst>
        </pc:spChg>
      </pc:sldChg>
      <pc:sldChg chg="add ord">
        <pc:chgData name="Alsadakah, Dani" userId="S::dani.alsadakah@study.hs-duesseldorf.de::15295a0b-9586-497d-a928-44476d0b7c74" providerId="AD" clId="Web-{39BF7497-65AD-43D3-23A2-7807053BFE14}" dt="2026-06-30T16:02:02.514" v="3"/>
        <pc:sldMkLst>
          <pc:docMk/>
          <pc:sldMk cId="3772502132" sldId="324"/>
        </pc:sldMkLst>
      </pc:sldChg>
      <pc:sldChg chg="modSp add">
        <pc:chgData name="Alsadakah, Dani" userId="S::dani.alsadakah@study.hs-duesseldorf.de::15295a0b-9586-497d-a928-44476d0b7c74" providerId="AD" clId="Web-{39BF7497-65AD-43D3-23A2-7807053BFE14}" dt="2026-06-30T16:05:52.656" v="22" actId="20577"/>
        <pc:sldMkLst>
          <pc:docMk/>
          <pc:sldMk cId="2342997932" sldId="325"/>
        </pc:sldMkLst>
        <pc:spChg chg="mod">
          <ac:chgData name="Alsadakah, Dani" userId="S::dani.alsadakah@study.hs-duesseldorf.de::15295a0b-9586-497d-a928-44476d0b7c74" providerId="AD" clId="Web-{39BF7497-65AD-43D3-23A2-7807053BFE14}" dt="2026-06-30T16:05:39.593" v="19" actId="20577"/>
          <ac:spMkLst>
            <pc:docMk/>
            <pc:sldMk cId="2342997932" sldId="325"/>
            <ac:spMk id="9" creationId="{00000000-0000-0000-0000-000000000000}"/>
          </ac:spMkLst>
        </pc:spChg>
        <pc:spChg chg="mod">
          <ac:chgData name="Alsadakah, Dani" userId="S::dani.alsadakah@study.hs-duesseldorf.de::15295a0b-9586-497d-a928-44476d0b7c74" providerId="AD" clId="Web-{39BF7497-65AD-43D3-23A2-7807053BFE14}" dt="2026-06-30T16:05:45.249" v="20" actId="20577"/>
          <ac:spMkLst>
            <pc:docMk/>
            <pc:sldMk cId="2342997932" sldId="325"/>
            <ac:spMk id="14" creationId="{00000000-0000-0000-0000-000000000000}"/>
          </ac:spMkLst>
        </pc:spChg>
        <pc:spChg chg="mod">
          <ac:chgData name="Alsadakah, Dani" userId="S::dani.alsadakah@study.hs-duesseldorf.de::15295a0b-9586-497d-a928-44476d0b7c74" providerId="AD" clId="Web-{39BF7497-65AD-43D3-23A2-7807053BFE14}" dt="2026-06-30T16:05:49.140" v="21" actId="20577"/>
          <ac:spMkLst>
            <pc:docMk/>
            <pc:sldMk cId="2342997932" sldId="325"/>
            <ac:spMk id="19" creationId="{00000000-0000-0000-0000-000000000000}"/>
          </ac:spMkLst>
        </pc:spChg>
        <pc:spChg chg="mod">
          <ac:chgData name="Alsadakah, Dani" userId="S::dani.alsadakah@study.hs-duesseldorf.de::15295a0b-9586-497d-a928-44476d0b7c74" providerId="AD" clId="Web-{39BF7497-65AD-43D3-23A2-7807053BFE14}" dt="2026-06-30T16:05:52.656" v="22" actId="20577"/>
          <ac:spMkLst>
            <pc:docMk/>
            <pc:sldMk cId="2342997932" sldId="325"/>
            <ac:spMk id="24" creationId="{00000000-0000-0000-0000-000000000000}"/>
          </ac:spMkLst>
        </pc:spChg>
      </pc:sldChg>
      <pc:sldChg chg="add">
        <pc:chgData name="Alsadakah, Dani" userId="S::dani.alsadakah@study.hs-duesseldorf.de::15295a0b-9586-497d-a928-44476d0b7c74" providerId="AD" clId="Web-{39BF7497-65AD-43D3-23A2-7807053BFE14}" dt="2026-06-30T16:02:39.095" v="5"/>
        <pc:sldMkLst>
          <pc:docMk/>
          <pc:sldMk cId="725477515" sldId="326"/>
        </pc:sldMkLst>
      </pc:sldChg>
      <pc:sldChg chg="add">
        <pc:chgData name="Alsadakah, Dani" userId="S::dani.alsadakah@study.hs-duesseldorf.de::15295a0b-9586-497d-a928-44476d0b7c74" providerId="AD" clId="Web-{39BF7497-65AD-43D3-23A2-7807053BFE14}" dt="2026-06-30T16:02:39.392" v="7"/>
        <pc:sldMkLst>
          <pc:docMk/>
          <pc:sldMk cId="1993432534" sldId="328"/>
        </pc:sldMkLst>
      </pc:sldChg>
      <pc:sldChg chg="add">
        <pc:chgData name="Alsadakah, Dani" userId="S::dani.alsadakah@study.hs-duesseldorf.de::15295a0b-9586-497d-a928-44476d0b7c74" providerId="AD" clId="Web-{39BF7497-65AD-43D3-23A2-7807053BFE14}" dt="2026-06-30T16:02:39.814" v="9"/>
        <pc:sldMkLst>
          <pc:docMk/>
          <pc:sldMk cId="2355897747" sldId="330"/>
        </pc:sldMkLst>
      </pc:sldChg>
      <pc:sldChg chg="modSp add replId modNotes">
        <pc:chgData name="Alsadakah, Dani" userId="S::dani.alsadakah@study.hs-duesseldorf.de::15295a0b-9586-497d-a928-44476d0b7c74" providerId="AD" clId="Web-{39BF7497-65AD-43D3-23A2-7807053BFE14}" dt="2026-06-30T16:22:10.339" v="64" actId="20577"/>
        <pc:sldMkLst>
          <pc:docMk/>
          <pc:sldMk cId="3375771379" sldId="334"/>
        </pc:sldMkLst>
        <pc:spChg chg="mod">
          <ac:chgData name="Alsadakah, Dani" userId="S::dani.alsadakah@study.hs-duesseldorf.de::15295a0b-9586-497d-a928-44476d0b7c74" providerId="AD" clId="Web-{39BF7497-65AD-43D3-23A2-7807053BFE14}" dt="2026-06-30T16:22:04.979" v="63" actId="20577"/>
          <ac:spMkLst>
            <pc:docMk/>
            <pc:sldMk cId="3375771379" sldId="334"/>
            <ac:spMk id="8" creationId="{2EC4ABF3-DA7E-473C-E215-0800F564CA7C}"/>
          </ac:spMkLst>
        </pc:spChg>
        <pc:spChg chg="mod">
          <ac:chgData name="Alsadakah, Dani" userId="S::dani.alsadakah@study.hs-duesseldorf.de::15295a0b-9586-497d-a928-44476d0b7c74" providerId="AD" clId="Web-{39BF7497-65AD-43D3-23A2-7807053BFE14}" dt="2026-06-30T16:22:10.339" v="64" actId="20577"/>
          <ac:spMkLst>
            <pc:docMk/>
            <pc:sldMk cId="3375771379" sldId="334"/>
            <ac:spMk id="10" creationId="{4D1707A7-5A27-BA27-E363-15A269540E6B}"/>
          </ac:spMkLst>
        </pc:spChg>
      </pc:sldChg>
    </pc:docChg>
  </pc:docChgLst>
  <pc:docChgLst>
    <pc:chgData name="Alsadakah, Dani" userId="S::dani.alsadakah@study.hs-duesseldorf.de::15295a0b-9586-497d-a928-44476d0b7c74" providerId="AD" clId="Web-{8D2CCAD0-DF1C-56F8-5D0C-7E4535C453DB}"/>
    <pc:docChg chg="addSld delSld modSld sldOrd">
      <pc:chgData name="Alsadakah, Dani" userId="S::dani.alsadakah@study.hs-duesseldorf.de::15295a0b-9586-497d-a928-44476d0b7c74" providerId="AD" clId="Web-{8D2CCAD0-DF1C-56F8-5D0C-7E4535C453DB}" dt="2026-07-04T09:32:34.896" v="26" actId="20577"/>
      <pc:docMkLst>
        <pc:docMk/>
      </pc:docMkLst>
      <pc:sldChg chg="mod modShow">
        <pc:chgData name="Alsadakah, Dani" userId="S::dani.alsadakah@study.hs-duesseldorf.de::15295a0b-9586-497d-a928-44476d0b7c74" providerId="AD" clId="Web-{8D2CCAD0-DF1C-56F8-5D0C-7E4535C453DB}" dt="2026-07-04T09:26:37.977" v="0"/>
        <pc:sldMkLst>
          <pc:docMk/>
          <pc:sldMk cId="2342997932" sldId="325"/>
        </pc:sldMkLst>
      </pc:sldChg>
      <pc:sldChg chg="ord">
        <pc:chgData name="Alsadakah, Dani" userId="S::dani.alsadakah@study.hs-duesseldorf.de::15295a0b-9586-497d-a928-44476d0b7c74" providerId="AD" clId="Web-{8D2CCAD0-DF1C-56F8-5D0C-7E4535C453DB}" dt="2026-07-04T09:32:17.989" v="23"/>
        <pc:sldMkLst>
          <pc:docMk/>
          <pc:sldMk cId="3375771379" sldId="334"/>
        </pc:sldMkLst>
      </pc:sldChg>
      <pc:sldChg chg="modSp add">
        <pc:chgData name="Alsadakah, Dani" userId="S::dani.alsadakah@study.hs-duesseldorf.de::15295a0b-9586-497d-a928-44476d0b7c74" providerId="AD" clId="Web-{8D2CCAD0-DF1C-56F8-5D0C-7E4535C453DB}" dt="2026-07-04T09:29:00.232" v="12" actId="20577"/>
        <pc:sldMkLst>
          <pc:docMk/>
          <pc:sldMk cId="1673877571" sldId="337"/>
        </pc:sldMkLst>
        <pc:spChg chg="mod">
          <ac:chgData name="Alsadakah, Dani" userId="S::dani.alsadakah@study.hs-duesseldorf.de::15295a0b-9586-497d-a928-44476d0b7c74" providerId="AD" clId="Web-{8D2CCAD0-DF1C-56F8-5D0C-7E4535C453DB}" dt="2026-07-04T09:28:56.888" v="10" actId="20577"/>
          <ac:spMkLst>
            <pc:docMk/>
            <pc:sldMk cId="1673877571" sldId="337"/>
            <ac:spMk id="3" creationId="{00000000-0000-0000-0000-000000000000}"/>
          </ac:spMkLst>
        </pc:spChg>
        <pc:spChg chg="mod">
          <ac:chgData name="Alsadakah, Dani" userId="S::dani.alsadakah@study.hs-duesseldorf.de::15295a0b-9586-497d-a928-44476d0b7c74" providerId="AD" clId="Web-{8D2CCAD0-DF1C-56F8-5D0C-7E4535C453DB}" dt="2026-07-04T09:29:00.232" v="12" actId="20577"/>
          <ac:spMkLst>
            <pc:docMk/>
            <pc:sldMk cId="1673877571" sldId="337"/>
            <ac:spMk id="38" creationId="{00000000-0000-0000-0000-000000000000}"/>
          </ac:spMkLst>
        </pc:spChg>
      </pc:sldChg>
      <pc:sldChg chg="add">
        <pc:chgData name="Alsadakah, Dani" userId="S::dani.alsadakah@study.hs-duesseldorf.de::15295a0b-9586-497d-a928-44476d0b7c74" providerId="AD" clId="Web-{8D2CCAD0-DF1C-56F8-5D0C-7E4535C453DB}" dt="2026-07-04T09:30:23.188" v="14"/>
        <pc:sldMkLst>
          <pc:docMk/>
          <pc:sldMk cId="163292538" sldId="338"/>
        </pc:sldMkLst>
      </pc:sldChg>
      <pc:sldChg chg="add">
        <pc:chgData name="Alsadakah, Dani" userId="S::dani.alsadakah@study.hs-duesseldorf.de::15295a0b-9586-497d-a928-44476d0b7c74" providerId="AD" clId="Web-{8D2CCAD0-DF1C-56F8-5D0C-7E4535C453DB}" dt="2026-07-04T09:32:10.442" v="20"/>
        <pc:sldMkLst>
          <pc:docMk/>
          <pc:sldMk cId="1775935088" sldId="340"/>
        </pc:sldMkLst>
      </pc:sldChg>
      <pc:sldChg chg="add">
        <pc:chgData name="Alsadakah, Dani" userId="S::dani.alsadakah@study.hs-duesseldorf.de::15295a0b-9586-497d-a928-44476d0b7c74" providerId="AD" clId="Web-{8D2CCAD0-DF1C-56F8-5D0C-7E4535C453DB}" dt="2026-07-04T09:32:10.551" v="21"/>
        <pc:sldMkLst>
          <pc:docMk/>
          <pc:sldMk cId="2876261703" sldId="341"/>
        </pc:sldMkLst>
      </pc:sldChg>
      <pc:sldChg chg="add">
        <pc:chgData name="Alsadakah, Dani" userId="S::dani.alsadakah@study.hs-duesseldorf.de::15295a0b-9586-497d-a928-44476d0b7c74" providerId="AD" clId="Web-{8D2CCAD0-DF1C-56F8-5D0C-7E4535C453DB}" dt="2026-07-04T09:32:10.661" v="22"/>
        <pc:sldMkLst>
          <pc:docMk/>
          <pc:sldMk cId="267037709" sldId="342"/>
        </pc:sldMkLst>
      </pc:sldChg>
    </pc:docChg>
  </pc:docChgLst>
  <pc:docChgLst>
    <pc:chgData name="Neubauer, Nico" userId="S::nico.neubauer@study.hs-duesseldorf.de::35c88a3a-0f6c-4699-a99a-90474f651e66" providerId="AD" clId="Web-{3C2126C9-0F39-5C8C-94B1-33DA822FE969}"/>
    <pc:docChg chg="mod modSld modMainMaster">
      <pc:chgData name="Neubauer, Nico" userId="S::nico.neubauer@study.hs-duesseldorf.de::35c88a3a-0f6c-4699-a99a-90474f651e66" providerId="AD" clId="Web-{3C2126C9-0F39-5C8C-94B1-33DA822FE969}" dt="2026-07-08T20:38:08.495" v="4"/>
      <pc:docMkLst>
        <pc:docMk/>
      </pc:docMkLst>
      <pc:sldMasterChg chg="mod modSldLayout">
        <pc:chgData name="Neubauer, Nico" userId="S::nico.neubauer@study.hs-duesseldorf.de::35c88a3a-0f6c-4699-a99a-90474f651e66" providerId="AD" clId="Web-{3C2126C9-0F39-5C8C-94B1-33DA822FE969}" dt="2026-07-08T20:38:08.495" v="4"/>
        <pc:sldMasterMkLst>
          <pc:docMk/>
          <pc:sldMasterMk cId="0" sldId="2147483648"/>
        </pc:sldMasterMkLst>
        <pc:sldLayoutChg chg="mod">
          <pc:chgData name="Neubauer, Nico" userId="S::nico.neubauer@study.hs-duesseldorf.de::35c88a3a-0f6c-4699-a99a-90474f651e66" providerId="AD" clId="Web-{3C2126C9-0F39-5C8C-94B1-33DA822FE969}" dt="2026-07-08T20:38:08.495" v="4"/>
          <pc:sldLayoutMkLst>
            <pc:docMk/>
            <pc:sldMasterMk cId="0" sldId="2147483648"/>
            <pc:sldLayoutMk cId="0" sldId="2147483649"/>
          </pc:sldLayoutMkLst>
        </pc:sldLayoutChg>
        <pc:sldLayoutChg chg="mod">
          <pc:chgData name="Neubauer, Nico" userId="S::nico.neubauer@study.hs-duesseldorf.de::35c88a3a-0f6c-4699-a99a-90474f651e66" providerId="AD" clId="Web-{3C2126C9-0F39-5C8C-94B1-33DA822FE969}" dt="2026-07-08T20:38:08.495" v="4"/>
          <pc:sldLayoutMkLst>
            <pc:docMk/>
            <pc:sldMasterMk cId="0" sldId="2147483648"/>
            <pc:sldLayoutMk cId="1287864654" sldId="2147483650"/>
          </pc:sldLayoutMkLst>
        </pc:sldLayoutChg>
      </pc:sldMasterChg>
    </pc:docChg>
  </pc:docChgLst>
  <pc:docChgLst>
    <pc:chgData name="Gashi, Bleron" userId="7c010833-4a17-45e8-9691-df0da442254f" providerId="ADAL" clId="{33452AE1-1FC9-4BBE-9DB0-5E4A9935B0AC}"/>
    <pc:docChg chg="undo redo custSel addSld delSld modSld sldOrd">
      <pc:chgData name="Gashi, Bleron" userId="7c010833-4a17-45e8-9691-df0da442254f" providerId="ADAL" clId="{33452AE1-1FC9-4BBE-9DB0-5E4A9935B0AC}" dt="2026-07-08T20:28:50.165" v="1157" actId="478"/>
      <pc:docMkLst>
        <pc:docMk/>
      </pc:docMkLst>
      <pc:sldChg chg="modSp mod">
        <pc:chgData name="Gashi, Bleron" userId="7c010833-4a17-45e8-9691-df0da442254f" providerId="ADAL" clId="{33452AE1-1FC9-4BBE-9DB0-5E4A9935B0AC}" dt="2026-07-08T19:29:12.561" v="1106" actId="20577"/>
        <pc:sldMkLst>
          <pc:docMk/>
          <pc:sldMk cId="1321980382" sldId="256"/>
        </pc:sldMkLst>
        <pc:spChg chg="mod">
          <ac:chgData name="Gashi, Bleron" userId="7c010833-4a17-45e8-9691-df0da442254f" providerId="ADAL" clId="{33452AE1-1FC9-4BBE-9DB0-5E4A9935B0AC}" dt="2026-07-08T19:29:12.561" v="1106" actId="20577"/>
          <ac:spMkLst>
            <pc:docMk/>
            <pc:sldMk cId="1321980382" sldId="256"/>
            <ac:spMk id="8" creationId="{BBA868CA-EF15-4446-895A-F89C293A1324}"/>
          </ac:spMkLst>
        </pc:spChg>
      </pc:sldChg>
      <pc:sldChg chg="addSp delSp modSp mod">
        <pc:chgData name="Gashi, Bleron" userId="7c010833-4a17-45e8-9691-df0da442254f" providerId="ADAL" clId="{33452AE1-1FC9-4BBE-9DB0-5E4A9935B0AC}" dt="2026-07-08T13:29:37.888" v="1051" actId="478"/>
        <pc:sldMkLst>
          <pc:docMk/>
          <pc:sldMk cId="929387900" sldId="257"/>
        </pc:sldMkLst>
        <pc:spChg chg="del">
          <ac:chgData name="Gashi, Bleron" userId="7c010833-4a17-45e8-9691-df0da442254f" providerId="ADAL" clId="{33452AE1-1FC9-4BBE-9DB0-5E4A9935B0AC}" dt="2026-07-08T13:29:31.121" v="1050" actId="478"/>
          <ac:spMkLst>
            <pc:docMk/>
            <pc:sldMk cId="929387900" sldId="257"/>
            <ac:spMk id="2" creationId="{E3EE07B8-913F-43AD-84B0-027BE0CEC51C}"/>
          </ac:spMkLst>
        </pc:spChg>
        <pc:spChg chg="mod">
          <ac:chgData name="Gashi, Bleron" userId="7c010833-4a17-45e8-9691-df0da442254f" providerId="ADAL" clId="{33452AE1-1FC9-4BBE-9DB0-5E4A9935B0AC}" dt="2026-07-08T13:29:00.241" v="1044" actId="108"/>
          <ac:spMkLst>
            <pc:docMk/>
            <pc:sldMk cId="929387900" sldId="257"/>
            <ac:spMk id="3" creationId="{BC04C8A1-6DD3-43CB-848D-6E0D2EC5F229}"/>
          </ac:spMkLst>
        </pc:spChg>
        <pc:spChg chg="mod">
          <ac:chgData name="Gashi, Bleron" userId="7c010833-4a17-45e8-9691-df0da442254f" providerId="ADAL" clId="{33452AE1-1FC9-4BBE-9DB0-5E4A9935B0AC}" dt="2026-06-18T09:27:10.288" v="176" actId="20577"/>
          <ac:spMkLst>
            <pc:docMk/>
            <pc:sldMk cId="929387900" sldId="257"/>
            <ac:spMk id="4" creationId="{883A4ACA-894E-4002-9476-1D863568FFE5}"/>
          </ac:spMkLst>
        </pc:spChg>
        <pc:spChg chg="mod">
          <ac:chgData name="Gashi, Bleron" userId="7c010833-4a17-45e8-9691-df0da442254f" providerId="ADAL" clId="{33452AE1-1FC9-4BBE-9DB0-5E4A9935B0AC}" dt="2026-06-18T09:28:07.543" v="325" actId="20577"/>
          <ac:spMkLst>
            <pc:docMk/>
            <pc:sldMk cId="929387900" sldId="257"/>
            <ac:spMk id="5" creationId="{99F3E66E-71A4-4F4F-906C-1B3FC363B8C7}"/>
          </ac:spMkLst>
        </pc:spChg>
        <pc:spChg chg="mod">
          <ac:chgData name="Gashi, Bleron" userId="7c010833-4a17-45e8-9691-df0da442254f" providerId="ADAL" clId="{33452AE1-1FC9-4BBE-9DB0-5E4A9935B0AC}" dt="2026-06-18T09:23:34.380" v="83" actId="14100"/>
          <ac:spMkLst>
            <pc:docMk/>
            <pc:sldMk cId="929387900" sldId="257"/>
            <ac:spMk id="6" creationId="{F1EC5A8C-63F0-4CC6-983B-ED97B97545F3}"/>
          </ac:spMkLst>
        </pc:spChg>
        <pc:spChg chg="mod">
          <ac:chgData name="Gashi, Bleron" userId="7c010833-4a17-45e8-9691-df0da442254f" providerId="ADAL" clId="{33452AE1-1FC9-4BBE-9DB0-5E4A9935B0AC}" dt="2026-06-18T09:46:14.129" v="331" actId="20577"/>
          <ac:spMkLst>
            <pc:docMk/>
            <pc:sldMk cId="929387900" sldId="257"/>
            <ac:spMk id="7" creationId="{E48D5BD2-8040-4B29-BFC7-231FCBE7731D}"/>
          </ac:spMkLst>
        </pc:spChg>
        <pc:spChg chg="mod">
          <ac:chgData name="Gashi, Bleron" userId="7c010833-4a17-45e8-9691-df0da442254f" providerId="ADAL" clId="{33452AE1-1FC9-4BBE-9DB0-5E4A9935B0AC}" dt="2026-07-02T11:52:06.074" v="821" actId="207"/>
          <ac:spMkLst>
            <pc:docMk/>
            <pc:sldMk cId="929387900" sldId="257"/>
            <ac:spMk id="10" creationId="{96C008EB-4DB8-4772-BBFF-12C42C57B724}"/>
          </ac:spMkLst>
        </pc:spChg>
        <pc:spChg chg="mod">
          <ac:chgData name="Gashi, Bleron" userId="7c010833-4a17-45e8-9691-df0da442254f" providerId="ADAL" clId="{33452AE1-1FC9-4BBE-9DB0-5E4A9935B0AC}" dt="2026-06-18T09:24:42.923" v="87" actId="20577"/>
          <ac:spMkLst>
            <pc:docMk/>
            <pc:sldMk cId="929387900" sldId="257"/>
            <ac:spMk id="11" creationId="{D55A0670-E37E-4C25-B1B6-DB839A84DCC5}"/>
          </ac:spMkLst>
        </pc:spChg>
        <pc:spChg chg="mod">
          <ac:chgData name="Gashi, Bleron" userId="7c010833-4a17-45e8-9691-df0da442254f" providerId="ADAL" clId="{33452AE1-1FC9-4BBE-9DB0-5E4A9935B0AC}" dt="2026-06-18T09:23:34.380" v="83" actId="14100"/>
          <ac:spMkLst>
            <pc:docMk/>
            <pc:sldMk cId="929387900" sldId="257"/>
            <ac:spMk id="12" creationId="{E171A7D8-8659-44F6-81A8-915EEE050ACA}"/>
          </ac:spMkLst>
        </pc:spChg>
        <pc:spChg chg="mod">
          <ac:chgData name="Gashi, Bleron" userId="7c010833-4a17-45e8-9691-df0da442254f" providerId="ADAL" clId="{33452AE1-1FC9-4BBE-9DB0-5E4A9935B0AC}" dt="2026-06-18T09:22:43.577" v="36" actId="20577"/>
          <ac:spMkLst>
            <pc:docMk/>
            <pc:sldMk cId="929387900" sldId="257"/>
            <ac:spMk id="13" creationId="{94268520-2CB8-4D26-A946-640F7F04653D}"/>
          </ac:spMkLst>
        </pc:spChg>
        <pc:spChg chg="mod">
          <ac:chgData name="Gashi, Bleron" userId="7c010833-4a17-45e8-9691-df0da442254f" providerId="ADAL" clId="{33452AE1-1FC9-4BBE-9DB0-5E4A9935B0AC}" dt="2026-07-02T11:52:13.781" v="824" actId="207"/>
          <ac:spMkLst>
            <pc:docMk/>
            <pc:sldMk cId="929387900" sldId="257"/>
            <ac:spMk id="16" creationId="{6E9A6BBE-6721-4681-8735-292EC6282D40}"/>
          </ac:spMkLst>
        </pc:spChg>
        <pc:spChg chg="mod">
          <ac:chgData name="Gashi, Bleron" userId="7c010833-4a17-45e8-9691-df0da442254f" providerId="ADAL" clId="{33452AE1-1FC9-4BBE-9DB0-5E4A9935B0AC}" dt="2026-06-18T09:24:48.493" v="89" actId="20577"/>
          <ac:spMkLst>
            <pc:docMk/>
            <pc:sldMk cId="929387900" sldId="257"/>
            <ac:spMk id="17" creationId="{AFD1568B-31C6-4854-BA57-CFA760E29FA4}"/>
          </ac:spMkLst>
        </pc:spChg>
        <pc:spChg chg="mod">
          <ac:chgData name="Gashi, Bleron" userId="7c010833-4a17-45e8-9691-df0da442254f" providerId="ADAL" clId="{33452AE1-1FC9-4BBE-9DB0-5E4A9935B0AC}" dt="2026-06-18T09:23:34.380" v="83" actId="14100"/>
          <ac:spMkLst>
            <pc:docMk/>
            <pc:sldMk cId="929387900" sldId="257"/>
            <ac:spMk id="18" creationId="{0E9CC214-97FB-44ED-AD19-9EAE8A7F72FD}"/>
          </ac:spMkLst>
        </pc:spChg>
        <pc:spChg chg="mod">
          <ac:chgData name="Gashi, Bleron" userId="7c010833-4a17-45e8-9691-df0da442254f" providerId="ADAL" clId="{33452AE1-1FC9-4BBE-9DB0-5E4A9935B0AC}" dt="2026-06-18T09:22:47.808" v="45" actId="20577"/>
          <ac:spMkLst>
            <pc:docMk/>
            <pc:sldMk cId="929387900" sldId="257"/>
            <ac:spMk id="19" creationId="{E5444D7D-D04E-4044-8834-AD63373DDB99}"/>
          </ac:spMkLst>
        </pc:spChg>
        <pc:spChg chg="mod">
          <ac:chgData name="Gashi, Bleron" userId="7c010833-4a17-45e8-9691-df0da442254f" providerId="ADAL" clId="{33452AE1-1FC9-4BBE-9DB0-5E4A9935B0AC}" dt="2026-07-02T11:53:00.051" v="830" actId="207"/>
          <ac:spMkLst>
            <pc:docMk/>
            <pc:sldMk cId="929387900" sldId="257"/>
            <ac:spMk id="22" creationId="{2CD57DE1-0C6F-4EFE-A434-EB8CA1AB959F}"/>
          </ac:spMkLst>
        </pc:spChg>
        <pc:spChg chg="mod">
          <ac:chgData name="Gashi, Bleron" userId="7c010833-4a17-45e8-9691-df0da442254f" providerId="ADAL" clId="{33452AE1-1FC9-4BBE-9DB0-5E4A9935B0AC}" dt="2026-07-02T11:52:53.088" v="829"/>
          <ac:spMkLst>
            <pc:docMk/>
            <pc:sldMk cId="929387900" sldId="257"/>
            <ac:spMk id="23" creationId="{BB653FC6-AD6A-48EA-9053-F27EF4F99706}"/>
          </ac:spMkLst>
        </pc:spChg>
        <pc:spChg chg="mod">
          <ac:chgData name="Gashi, Bleron" userId="7c010833-4a17-45e8-9691-df0da442254f" providerId="ADAL" clId="{33452AE1-1FC9-4BBE-9DB0-5E4A9935B0AC}" dt="2026-06-18T09:23:34.380" v="83" actId="14100"/>
          <ac:spMkLst>
            <pc:docMk/>
            <pc:sldMk cId="929387900" sldId="257"/>
            <ac:spMk id="24" creationId="{552C03DA-40D7-4754-B582-5E48DBE7DBF2}"/>
          </ac:spMkLst>
        </pc:spChg>
        <pc:spChg chg="mod">
          <ac:chgData name="Gashi, Bleron" userId="7c010833-4a17-45e8-9691-df0da442254f" providerId="ADAL" clId="{33452AE1-1FC9-4BBE-9DB0-5E4A9935B0AC}" dt="2026-06-18T09:22:53.891" v="57" actId="20577"/>
          <ac:spMkLst>
            <pc:docMk/>
            <pc:sldMk cId="929387900" sldId="257"/>
            <ac:spMk id="25" creationId="{46EF5580-C49C-400B-AA12-2D41A9CDADE9}"/>
          </ac:spMkLst>
        </pc:spChg>
        <pc:spChg chg="mod">
          <ac:chgData name="Gashi, Bleron" userId="7c010833-4a17-45e8-9691-df0da442254f" providerId="ADAL" clId="{33452AE1-1FC9-4BBE-9DB0-5E4A9935B0AC}" dt="2026-07-02T11:53:05.320" v="831" actId="207"/>
          <ac:spMkLst>
            <pc:docMk/>
            <pc:sldMk cId="929387900" sldId="257"/>
            <ac:spMk id="28" creationId="{35F4D899-AE44-4047-BD6C-86FEFEF02CEE}"/>
          </ac:spMkLst>
        </pc:spChg>
        <pc:spChg chg="mod">
          <ac:chgData name="Gashi, Bleron" userId="7c010833-4a17-45e8-9691-df0da442254f" providerId="ADAL" clId="{33452AE1-1FC9-4BBE-9DB0-5E4A9935B0AC}" dt="2026-07-02T11:53:29.937" v="834" actId="207"/>
          <ac:spMkLst>
            <pc:docMk/>
            <pc:sldMk cId="929387900" sldId="257"/>
            <ac:spMk id="29" creationId="{EA8C9C93-34AC-4E1F-BD64-80D5FBA69017}"/>
          </ac:spMkLst>
        </pc:spChg>
        <pc:spChg chg="mod">
          <ac:chgData name="Gashi, Bleron" userId="7c010833-4a17-45e8-9691-df0da442254f" providerId="ADAL" clId="{33452AE1-1FC9-4BBE-9DB0-5E4A9935B0AC}" dt="2026-06-18T09:23:34.380" v="83" actId="14100"/>
          <ac:spMkLst>
            <pc:docMk/>
            <pc:sldMk cId="929387900" sldId="257"/>
            <ac:spMk id="30" creationId="{334162F5-AA09-491A-9992-A055DBB5EE01}"/>
          </ac:spMkLst>
        </pc:spChg>
        <pc:spChg chg="mod">
          <ac:chgData name="Gashi, Bleron" userId="7c010833-4a17-45e8-9691-df0da442254f" providerId="ADAL" clId="{33452AE1-1FC9-4BBE-9DB0-5E4A9935B0AC}" dt="2026-06-18T09:22:58.696" v="68" actId="20577"/>
          <ac:spMkLst>
            <pc:docMk/>
            <pc:sldMk cId="929387900" sldId="257"/>
            <ac:spMk id="31" creationId="{4EF80369-B1A7-43D8-A809-4F65158D6165}"/>
          </ac:spMkLst>
        </pc:spChg>
        <pc:spChg chg="mod">
          <ac:chgData name="Gashi, Bleron" userId="7c010833-4a17-45e8-9691-df0da442254f" providerId="ADAL" clId="{33452AE1-1FC9-4BBE-9DB0-5E4A9935B0AC}" dt="2026-07-02T11:53:09.738" v="832" actId="207"/>
          <ac:spMkLst>
            <pc:docMk/>
            <pc:sldMk cId="929387900" sldId="257"/>
            <ac:spMk id="34" creationId="{94C4B041-4FEB-45D6-95F9-265647A53CDE}"/>
          </ac:spMkLst>
        </pc:spChg>
        <pc:spChg chg="mod">
          <ac:chgData name="Gashi, Bleron" userId="7c010833-4a17-45e8-9691-df0da442254f" providerId="ADAL" clId="{33452AE1-1FC9-4BBE-9DB0-5E4A9935B0AC}" dt="2026-07-02T11:53:39.505" v="835"/>
          <ac:spMkLst>
            <pc:docMk/>
            <pc:sldMk cId="929387900" sldId="257"/>
            <ac:spMk id="35" creationId="{364E023C-88A5-4B03-8E1E-6DBF945819F6}"/>
          </ac:spMkLst>
        </pc:spChg>
        <pc:spChg chg="add del mod">
          <ac:chgData name="Gashi, Bleron" userId="7c010833-4a17-45e8-9691-df0da442254f" providerId="ADAL" clId="{33452AE1-1FC9-4BBE-9DB0-5E4A9935B0AC}" dt="2026-07-08T13:29:37.888" v="1051" actId="478"/>
          <ac:spMkLst>
            <pc:docMk/>
            <pc:sldMk cId="929387900" sldId="257"/>
            <ac:spMk id="41" creationId="{3CA633CC-F27D-456F-9D7C-06E66C15C0ED}"/>
          </ac:spMkLst>
        </pc:spChg>
      </pc:sldChg>
      <pc:sldChg chg="modSp mod">
        <pc:chgData name="Gashi, Bleron" userId="7c010833-4a17-45e8-9691-df0da442254f" providerId="ADAL" clId="{33452AE1-1FC9-4BBE-9DB0-5E4A9935B0AC}" dt="2026-07-08T13:28:28.216" v="1038" actId="108"/>
        <pc:sldMkLst>
          <pc:docMk/>
          <pc:sldMk cId="0" sldId="258"/>
        </pc:sldMkLst>
        <pc:spChg chg="mod">
          <ac:chgData name="Gashi, Bleron" userId="7c010833-4a17-45e8-9691-df0da442254f" providerId="ADAL" clId="{33452AE1-1FC9-4BBE-9DB0-5E4A9935B0AC}" dt="2026-07-08T13:28:28.216" v="1038" actId="108"/>
          <ac:spMkLst>
            <pc:docMk/>
            <pc:sldMk cId="0" sldId="258"/>
            <ac:spMk id="3" creationId="{00000000-0000-0000-0000-000000000000}"/>
          </ac:spMkLst>
        </pc:spChg>
      </pc:sldChg>
      <pc:sldChg chg="delSp modSp mod">
        <pc:chgData name="Gashi, Bleron" userId="7c010833-4a17-45e8-9691-df0da442254f" providerId="ADAL" clId="{33452AE1-1FC9-4BBE-9DB0-5E4A9935B0AC}" dt="2026-07-08T13:29:20.182" v="1047" actId="478"/>
        <pc:sldMkLst>
          <pc:docMk/>
          <pc:sldMk cId="1295098333" sldId="259"/>
        </pc:sldMkLst>
        <pc:spChg chg="del">
          <ac:chgData name="Gashi, Bleron" userId="7c010833-4a17-45e8-9691-df0da442254f" providerId="ADAL" clId="{33452AE1-1FC9-4BBE-9DB0-5E4A9935B0AC}" dt="2026-07-08T13:29:20.182" v="1047" actId="478"/>
          <ac:spMkLst>
            <pc:docMk/>
            <pc:sldMk cId="1295098333" sldId="259"/>
            <ac:spMk id="2" creationId="{E3FF1FC0-B4B4-4D48-8BD5-ECB1C65BDFA2}"/>
          </ac:spMkLst>
        </pc:spChg>
        <pc:spChg chg="mod">
          <ac:chgData name="Gashi, Bleron" userId="7c010833-4a17-45e8-9691-df0da442254f" providerId="ADAL" clId="{33452AE1-1FC9-4BBE-9DB0-5E4A9935B0AC}" dt="2026-07-08T13:29:16.881" v="1046" actId="207"/>
          <ac:spMkLst>
            <pc:docMk/>
            <pc:sldMk cId="1295098333" sldId="259"/>
            <ac:spMk id="3" creationId="{39C531EF-39C8-41DB-9877-08BD47C021F0}"/>
          </ac:spMkLst>
        </pc:spChg>
      </pc:sldChg>
      <pc:sldChg chg="delSp modSp add mod ord">
        <pc:chgData name="Gashi, Bleron" userId="7c010833-4a17-45e8-9691-df0da442254f" providerId="ADAL" clId="{33452AE1-1FC9-4BBE-9DB0-5E4A9935B0AC}" dt="2026-07-08T13:22:44.842" v="972" actId="20577"/>
        <pc:sldMkLst>
          <pc:docMk/>
          <pc:sldMk cId="826646563" sldId="260"/>
        </pc:sldMkLst>
        <pc:spChg chg="mod">
          <ac:chgData name="Gashi, Bleron" userId="7c010833-4a17-45e8-9691-df0da442254f" providerId="ADAL" clId="{33452AE1-1FC9-4BBE-9DB0-5E4A9935B0AC}" dt="2026-07-08T13:22:44.842" v="972" actId="20577"/>
          <ac:spMkLst>
            <pc:docMk/>
            <pc:sldMk cId="826646563" sldId="260"/>
            <ac:spMk id="2" creationId="{C5502B1F-FE3D-46E1-82AF-B067AB0C148F}"/>
          </ac:spMkLst>
        </pc:spChg>
        <pc:spChg chg="mod">
          <ac:chgData name="Gashi, Bleron" userId="7c010833-4a17-45e8-9691-df0da442254f" providerId="ADAL" clId="{33452AE1-1FC9-4BBE-9DB0-5E4A9935B0AC}" dt="2026-07-06T10:40:40.149" v="952" actId="20577"/>
          <ac:spMkLst>
            <pc:docMk/>
            <pc:sldMk cId="826646563" sldId="260"/>
            <ac:spMk id="5" creationId="{8E14615A-CB5C-4408-A07D-AFBB936161F0}"/>
          </ac:spMkLst>
        </pc:spChg>
      </pc:sldChg>
      <pc:sldChg chg="delSp modSp add mod">
        <pc:chgData name="Gashi, Bleron" userId="7c010833-4a17-45e8-9691-df0da442254f" providerId="ADAL" clId="{33452AE1-1FC9-4BBE-9DB0-5E4A9935B0AC}" dt="2026-07-08T13:22:28.694" v="968" actId="20577"/>
        <pc:sldMkLst>
          <pc:docMk/>
          <pc:sldMk cId="1756087197" sldId="261"/>
        </pc:sldMkLst>
        <pc:spChg chg="mod">
          <ac:chgData name="Gashi, Bleron" userId="7c010833-4a17-45e8-9691-df0da442254f" providerId="ADAL" clId="{33452AE1-1FC9-4BBE-9DB0-5E4A9935B0AC}" dt="2026-07-08T13:22:28.694" v="968" actId="20577"/>
          <ac:spMkLst>
            <pc:docMk/>
            <pc:sldMk cId="1756087197" sldId="261"/>
            <ac:spMk id="2" creationId="{404B4086-FB37-4DEE-A161-B84879CAEA4C}"/>
          </ac:spMkLst>
        </pc:spChg>
        <pc:spChg chg="mod">
          <ac:chgData name="Gashi, Bleron" userId="7c010833-4a17-45e8-9691-df0da442254f" providerId="ADAL" clId="{33452AE1-1FC9-4BBE-9DB0-5E4A9935B0AC}" dt="2026-07-06T10:40:25.004" v="947" actId="20577"/>
          <ac:spMkLst>
            <pc:docMk/>
            <pc:sldMk cId="1756087197" sldId="261"/>
            <ac:spMk id="5" creationId="{82688CC3-1153-4997-A07D-C59B2E7A47FA}"/>
          </ac:spMkLst>
        </pc:spChg>
      </pc:sldChg>
      <pc:sldChg chg="delSp modSp add mod ord">
        <pc:chgData name="Gashi, Bleron" userId="7c010833-4a17-45e8-9691-df0da442254f" providerId="ADAL" clId="{33452AE1-1FC9-4BBE-9DB0-5E4A9935B0AC}" dt="2026-07-08T13:22:36.633" v="971" actId="20577"/>
        <pc:sldMkLst>
          <pc:docMk/>
          <pc:sldMk cId="1560447056" sldId="262"/>
        </pc:sldMkLst>
        <pc:spChg chg="mod">
          <ac:chgData name="Gashi, Bleron" userId="7c010833-4a17-45e8-9691-df0da442254f" providerId="ADAL" clId="{33452AE1-1FC9-4BBE-9DB0-5E4A9935B0AC}" dt="2026-07-08T13:22:36.633" v="971" actId="20577"/>
          <ac:spMkLst>
            <pc:docMk/>
            <pc:sldMk cId="1560447056" sldId="262"/>
            <ac:spMk id="2" creationId="{CFF1F98A-7776-4529-B3EE-1CEDFD6BD7B5}"/>
          </ac:spMkLst>
        </pc:spChg>
        <pc:spChg chg="mod">
          <ac:chgData name="Gashi, Bleron" userId="7c010833-4a17-45e8-9691-df0da442254f" providerId="ADAL" clId="{33452AE1-1FC9-4BBE-9DB0-5E4A9935B0AC}" dt="2026-07-06T10:40:32.220" v="949" actId="20577"/>
          <ac:spMkLst>
            <pc:docMk/>
            <pc:sldMk cId="1560447056" sldId="262"/>
            <ac:spMk id="5" creationId="{A3760094-BA07-4AB5-8692-5A5F1721A079}"/>
          </ac:spMkLst>
        </pc:spChg>
      </pc:sldChg>
      <pc:sldChg chg="addSp delSp modSp add mod">
        <pc:chgData name="Gashi, Bleron" userId="7c010833-4a17-45e8-9691-df0da442254f" providerId="ADAL" clId="{33452AE1-1FC9-4BBE-9DB0-5E4A9935B0AC}" dt="2026-07-08T13:22:51.145" v="973" actId="20577"/>
        <pc:sldMkLst>
          <pc:docMk/>
          <pc:sldMk cId="2845070572" sldId="263"/>
        </pc:sldMkLst>
        <pc:spChg chg="mod">
          <ac:chgData name="Gashi, Bleron" userId="7c010833-4a17-45e8-9691-df0da442254f" providerId="ADAL" clId="{33452AE1-1FC9-4BBE-9DB0-5E4A9935B0AC}" dt="2026-07-08T13:22:51.145" v="973" actId="20577"/>
          <ac:spMkLst>
            <pc:docMk/>
            <pc:sldMk cId="2845070572" sldId="263"/>
            <ac:spMk id="2" creationId="{4F0A0E18-8F6C-4CE6-B779-22499E59AC0E}"/>
          </ac:spMkLst>
        </pc:spChg>
        <pc:spChg chg="mod">
          <ac:chgData name="Gashi, Bleron" userId="7c010833-4a17-45e8-9691-df0da442254f" providerId="ADAL" clId="{33452AE1-1FC9-4BBE-9DB0-5E4A9935B0AC}" dt="2026-07-06T10:40:48.015" v="955" actId="20577"/>
          <ac:spMkLst>
            <pc:docMk/>
            <pc:sldMk cId="2845070572" sldId="263"/>
            <ac:spMk id="5" creationId="{D4196010-B33E-4567-AF2A-24744491095C}"/>
          </ac:spMkLst>
        </pc:spChg>
        <pc:spChg chg="mod">
          <ac:chgData name="Gashi, Bleron" userId="7c010833-4a17-45e8-9691-df0da442254f" providerId="ADAL" clId="{33452AE1-1FC9-4BBE-9DB0-5E4A9935B0AC}" dt="2026-06-18T12:27:49.866" v="683" actId="1076"/>
          <ac:spMkLst>
            <pc:docMk/>
            <pc:sldMk cId="2845070572" sldId="263"/>
            <ac:spMk id="27" creationId="{094D368F-EAF6-4CEB-9195-3A11E147104E}"/>
          </ac:spMkLst>
        </pc:spChg>
        <pc:spChg chg="add mod">
          <ac:chgData name="Gashi, Bleron" userId="7c010833-4a17-45e8-9691-df0da442254f" providerId="ADAL" clId="{33452AE1-1FC9-4BBE-9DB0-5E4A9935B0AC}" dt="2026-06-18T12:27:49.866" v="683" actId="1076"/>
          <ac:spMkLst>
            <pc:docMk/>
            <pc:sldMk cId="2845070572" sldId="263"/>
            <ac:spMk id="82" creationId="{2422462C-FE42-A87B-A127-FDE818E91650}"/>
          </ac:spMkLst>
        </pc:spChg>
        <pc:spChg chg="add mod">
          <ac:chgData name="Gashi, Bleron" userId="7c010833-4a17-45e8-9691-df0da442254f" providerId="ADAL" clId="{33452AE1-1FC9-4BBE-9DB0-5E4A9935B0AC}" dt="2026-06-18T12:27:49.866" v="683" actId="1076"/>
          <ac:spMkLst>
            <pc:docMk/>
            <pc:sldMk cId="2845070572" sldId="263"/>
            <ac:spMk id="91" creationId="{179D290F-B9D7-3095-2600-943ECB2B4481}"/>
          </ac:spMkLst>
        </pc:spChg>
        <pc:spChg chg="add mod">
          <ac:chgData name="Gashi, Bleron" userId="7c010833-4a17-45e8-9691-df0da442254f" providerId="ADAL" clId="{33452AE1-1FC9-4BBE-9DB0-5E4A9935B0AC}" dt="2026-06-18T12:27:49.866" v="683" actId="1076"/>
          <ac:spMkLst>
            <pc:docMk/>
            <pc:sldMk cId="2845070572" sldId="263"/>
            <ac:spMk id="97" creationId="{A6D07D79-91BF-4B0E-DB6A-FD3E62C689C6}"/>
          </ac:spMkLst>
        </pc:spChg>
        <pc:spChg chg="add mod">
          <ac:chgData name="Gashi, Bleron" userId="7c010833-4a17-45e8-9691-df0da442254f" providerId="ADAL" clId="{33452AE1-1FC9-4BBE-9DB0-5E4A9935B0AC}" dt="2026-06-18T12:27:49.866" v="683" actId="1076"/>
          <ac:spMkLst>
            <pc:docMk/>
            <pc:sldMk cId="2845070572" sldId="263"/>
            <ac:spMk id="102" creationId="{58010AD5-C9BA-9328-4D52-0FEBB84BA0DF}"/>
          </ac:spMkLst>
        </pc:spChg>
        <pc:spChg chg="add mod">
          <ac:chgData name="Gashi, Bleron" userId="7c010833-4a17-45e8-9691-df0da442254f" providerId="ADAL" clId="{33452AE1-1FC9-4BBE-9DB0-5E4A9935B0AC}" dt="2026-06-18T12:27:49.866" v="683" actId="1076"/>
          <ac:spMkLst>
            <pc:docMk/>
            <pc:sldMk cId="2845070572" sldId="263"/>
            <ac:spMk id="114" creationId="{E020706D-1093-745A-842D-A9424CBBB653}"/>
          </ac:spMkLst>
        </pc:spChg>
        <pc:spChg chg="add mod">
          <ac:chgData name="Gashi, Bleron" userId="7c010833-4a17-45e8-9691-df0da442254f" providerId="ADAL" clId="{33452AE1-1FC9-4BBE-9DB0-5E4A9935B0AC}" dt="2026-06-18T12:27:39.131" v="682"/>
          <ac:spMkLst>
            <pc:docMk/>
            <pc:sldMk cId="2845070572" sldId="263"/>
            <ac:spMk id="121" creationId="{3174C8F3-2FB0-2B45-9B37-8D06220C623C}"/>
          </ac:spMkLst>
        </pc:spChg>
        <pc:spChg chg="add mod">
          <ac:chgData name="Gashi, Bleron" userId="7c010833-4a17-45e8-9691-df0da442254f" providerId="ADAL" clId="{33452AE1-1FC9-4BBE-9DB0-5E4A9935B0AC}" dt="2026-06-18T12:27:49.866" v="683" actId="1076"/>
          <ac:spMkLst>
            <pc:docMk/>
            <pc:sldMk cId="2845070572" sldId="263"/>
            <ac:spMk id="133" creationId="{849FB3A9-51A9-AC07-F389-167AB80DCEC8}"/>
          </ac:spMkLst>
        </pc:spChg>
        <pc:spChg chg="add mod">
          <ac:chgData name="Gashi, Bleron" userId="7c010833-4a17-45e8-9691-df0da442254f" providerId="ADAL" clId="{33452AE1-1FC9-4BBE-9DB0-5E4A9935B0AC}" dt="2026-06-18T12:27:49.866" v="683" actId="1076"/>
          <ac:spMkLst>
            <pc:docMk/>
            <pc:sldMk cId="2845070572" sldId="263"/>
            <ac:spMk id="135" creationId="{07D0A576-BF35-7603-ED72-8F72C9B6F13C}"/>
          </ac:spMkLst>
        </pc:spChg>
        <pc:spChg chg="add mod">
          <ac:chgData name="Gashi, Bleron" userId="7c010833-4a17-45e8-9691-df0da442254f" providerId="ADAL" clId="{33452AE1-1FC9-4BBE-9DB0-5E4A9935B0AC}" dt="2026-06-18T12:27:49.866" v="683" actId="1076"/>
          <ac:spMkLst>
            <pc:docMk/>
            <pc:sldMk cId="2845070572" sldId="263"/>
            <ac:spMk id="137" creationId="{E043AF98-2174-A234-8736-7EE864DD727A}"/>
          </ac:spMkLst>
        </pc:spChg>
        <pc:spChg chg="add mod">
          <ac:chgData name="Gashi, Bleron" userId="7c010833-4a17-45e8-9691-df0da442254f" providerId="ADAL" clId="{33452AE1-1FC9-4BBE-9DB0-5E4A9935B0AC}" dt="2026-06-18T12:27:49.866" v="683" actId="1076"/>
          <ac:spMkLst>
            <pc:docMk/>
            <pc:sldMk cId="2845070572" sldId="263"/>
            <ac:spMk id="141" creationId="{FB00014C-5EA8-F391-47B9-165385BDE49E}"/>
          </ac:spMkLst>
        </pc:spChg>
        <pc:spChg chg="add mod">
          <ac:chgData name="Gashi, Bleron" userId="7c010833-4a17-45e8-9691-df0da442254f" providerId="ADAL" clId="{33452AE1-1FC9-4BBE-9DB0-5E4A9935B0AC}" dt="2026-06-18T12:29:16.123" v="705" actId="1076"/>
          <ac:spMkLst>
            <pc:docMk/>
            <pc:sldMk cId="2845070572" sldId="263"/>
            <ac:spMk id="142" creationId="{A0F4B9C1-90BE-00B1-8075-2C680CE90770}"/>
          </ac:spMkLst>
        </pc:spChg>
        <pc:spChg chg="add mod">
          <ac:chgData name="Gashi, Bleron" userId="7c010833-4a17-45e8-9691-df0da442254f" providerId="ADAL" clId="{33452AE1-1FC9-4BBE-9DB0-5E4A9935B0AC}" dt="2026-06-18T12:29:16.123" v="705" actId="1076"/>
          <ac:spMkLst>
            <pc:docMk/>
            <pc:sldMk cId="2845070572" sldId="263"/>
            <ac:spMk id="143" creationId="{AC87BDD9-815A-2DDD-B576-EF7DD4C74770}"/>
          </ac:spMkLst>
        </pc:spChg>
        <pc:spChg chg="add mod">
          <ac:chgData name="Gashi, Bleron" userId="7c010833-4a17-45e8-9691-df0da442254f" providerId="ADAL" clId="{33452AE1-1FC9-4BBE-9DB0-5E4A9935B0AC}" dt="2026-06-18T12:29:16.123" v="705" actId="1076"/>
          <ac:spMkLst>
            <pc:docMk/>
            <pc:sldMk cId="2845070572" sldId="263"/>
            <ac:spMk id="144" creationId="{E051D2DF-41D2-671C-74E4-4769F5A1B109}"/>
          </ac:spMkLst>
        </pc:spChg>
      </pc:sldChg>
      <pc:sldChg chg="delSp mod">
        <pc:chgData name="Gashi, Bleron" userId="7c010833-4a17-45e8-9691-df0da442254f" providerId="ADAL" clId="{33452AE1-1FC9-4BBE-9DB0-5E4A9935B0AC}" dt="2026-07-06T10:40:09.120" v="943" actId="478"/>
        <pc:sldMkLst>
          <pc:docMk/>
          <pc:sldMk cId="864619017" sldId="264"/>
        </pc:sldMkLst>
      </pc:sldChg>
      <pc:sldChg chg="modSp mod">
        <pc:chgData name="Gashi, Bleron" userId="7c010833-4a17-45e8-9691-df0da442254f" providerId="ADAL" clId="{33452AE1-1FC9-4BBE-9DB0-5E4A9935B0AC}" dt="2026-07-08T13:28:44.279" v="1043" actId="108"/>
        <pc:sldMkLst>
          <pc:docMk/>
          <pc:sldMk cId="0" sldId="265"/>
        </pc:sldMkLst>
        <pc:spChg chg="mod">
          <ac:chgData name="Gashi, Bleron" userId="7c010833-4a17-45e8-9691-df0da442254f" providerId="ADAL" clId="{33452AE1-1FC9-4BBE-9DB0-5E4A9935B0AC}" dt="2026-07-08T13:28:44.279" v="1043" actId="108"/>
          <ac:spMkLst>
            <pc:docMk/>
            <pc:sldMk cId="0" sldId="265"/>
            <ac:spMk id="3" creationId="{00000000-0000-0000-0000-000000000000}"/>
          </ac:spMkLst>
        </pc:spChg>
      </pc:sldChg>
      <pc:sldChg chg="delSp modSp add mod setBg">
        <pc:chgData name="Gashi, Bleron" userId="7c010833-4a17-45e8-9691-df0da442254f" providerId="ADAL" clId="{33452AE1-1FC9-4BBE-9DB0-5E4A9935B0AC}" dt="2026-07-06T10:40:01.866" v="942" actId="20577"/>
        <pc:sldMkLst>
          <pc:docMk/>
          <pc:sldMk cId="937229113" sldId="267"/>
        </pc:sldMkLst>
        <pc:spChg chg="mod">
          <ac:chgData name="Gashi, Bleron" userId="7c010833-4a17-45e8-9691-df0da442254f" providerId="ADAL" clId="{33452AE1-1FC9-4BBE-9DB0-5E4A9935B0AC}" dt="2026-07-06T10:34:09.848" v="870" actId="207"/>
          <ac:spMkLst>
            <pc:docMk/>
            <pc:sldMk cId="937229113" sldId="267"/>
            <ac:spMk id="2" creationId="{E5B86C0B-D762-4F89-AD21-E28A00C7B75F}"/>
          </ac:spMkLst>
        </pc:spChg>
        <pc:spChg chg="mod">
          <ac:chgData name="Gashi, Bleron" userId="7c010833-4a17-45e8-9691-df0da442254f" providerId="ADAL" clId="{33452AE1-1FC9-4BBE-9DB0-5E4A9935B0AC}" dt="2026-07-06T10:40:01.866" v="942" actId="20577"/>
          <ac:spMkLst>
            <pc:docMk/>
            <pc:sldMk cId="937229113" sldId="267"/>
            <ac:spMk id="5" creationId="{9EDB92B5-477F-43B7-A0EA-DBAD822D08B9}"/>
          </ac:spMkLst>
        </pc:spChg>
      </pc:sldChg>
      <pc:sldChg chg="delSp mod">
        <pc:chgData name="Gashi, Bleron" userId="7c010833-4a17-45e8-9691-df0da442254f" providerId="ADAL" clId="{33452AE1-1FC9-4BBE-9DB0-5E4A9935B0AC}" dt="2026-07-08T20:28:50.165" v="1157" actId="478"/>
        <pc:sldMkLst>
          <pc:docMk/>
          <pc:sldMk cId="23407895" sldId="270"/>
        </pc:sldMkLst>
        <pc:spChg chg="del">
          <ac:chgData name="Gashi, Bleron" userId="7c010833-4a17-45e8-9691-df0da442254f" providerId="ADAL" clId="{33452AE1-1FC9-4BBE-9DB0-5E4A9935B0AC}" dt="2026-07-08T20:28:50.165" v="1157" actId="478"/>
          <ac:spMkLst>
            <pc:docMk/>
            <pc:sldMk cId="23407895" sldId="270"/>
            <ac:spMk id="8" creationId="{7782BE0E-45BA-4882-904A-E97D2CD6D71D}"/>
          </ac:spMkLst>
        </pc:spChg>
      </pc:sldChg>
      <pc:sldChg chg="delSp modSp mod">
        <pc:chgData name="Gashi, Bleron" userId="7c010833-4a17-45e8-9691-df0da442254f" providerId="ADAL" clId="{33452AE1-1FC9-4BBE-9DB0-5E4A9935B0AC}" dt="2026-07-08T20:28:18.112" v="1156" actId="1037"/>
        <pc:sldMkLst>
          <pc:docMk/>
          <pc:sldMk cId="1445416330" sldId="294"/>
        </pc:sldMkLst>
        <pc:spChg chg="del">
          <ac:chgData name="Gashi, Bleron" userId="7c010833-4a17-45e8-9691-df0da442254f" providerId="ADAL" clId="{33452AE1-1FC9-4BBE-9DB0-5E4A9935B0AC}" dt="2026-07-08T20:27:58.202" v="1111" actId="478"/>
          <ac:spMkLst>
            <pc:docMk/>
            <pc:sldMk cId="1445416330" sldId="294"/>
            <ac:spMk id="9" creationId="{52622A87-C051-4B24-9C61-7C4DA4E462AA}"/>
          </ac:spMkLst>
        </pc:spChg>
        <pc:spChg chg="del mod">
          <ac:chgData name="Gashi, Bleron" userId="7c010833-4a17-45e8-9691-df0da442254f" providerId="ADAL" clId="{33452AE1-1FC9-4BBE-9DB0-5E4A9935B0AC}" dt="2026-07-08T20:28:00.889" v="1113" actId="478"/>
          <ac:spMkLst>
            <pc:docMk/>
            <pc:sldMk cId="1445416330" sldId="294"/>
            <ac:spMk id="10" creationId="{76E2EA88-DBF2-4DD7-BA1E-116C6262B87B}"/>
          </ac:spMkLst>
        </pc:spChg>
        <pc:spChg chg="mod">
          <ac:chgData name="Gashi, Bleron" userId="7c010833-4a17-45e8-9691-df0da442254f" providerId="ADAL" clId="{33452AE1-1FC9-4BBE-9DB0-5E4A9935B0AC}" dt="2026-07-08T20:28:18.112" v="1156" actId="1037"/>
          <ac:spMkLst>
            <pc:docMk/>
            <pc:sldMk cId="1445416330" sldId="294"/>
            <ac:spMk id="11" creationId="{7A8213BC-BDE0-40A8-BB6D-6EFBA4742EBD}"/>
          </ac:spMkLst>
        </pc:spChg>
        <pc:spChg chg="mod">
          <ac:chgData name="Gashi, Bleron" userId="7c010833-4a17-45e8-9691-df0da442254f" providerId="ADAL" clId="{33452AE1-1FC9-4BBE-9DB0-5E4A9935B0AC}" dt="2026-07-08T20:28:18.112" v="1156" actId="1037"/>
          <ac:spMkLst>
            <pc:docMk/>
            <pc:sldMk cId="1445416330" sldId="294"/>
            <ac:spMk id="12" creationId="{0528D293-9658-4531-B580-45F8AD489E7F}"/>
          </ac:spMkLst>
        </pc:spChg>
        <pc:spChg chg="mod">
          <ac:chgData name="Gashi, Bleron" userId="7c010833-4a17-45e8-9691-df0da442254f" providerId="ADAL" clId="{33452AE1-1FC9-4BBE-9DB0-5E4A9935B0AC}" dt="2026-07-08T20:28:18.112" v="1156" actId="1037"/>
          <ac:spMkLst>
            <pc:docMk/>
            <pc:sldMk cId="1445416330" sldId="294"/>
            <ac:spMk id="13" creationId="{A107980C-6C96-4C9B-A47B-4532B514FDEA}"/>
          </ac:spMkLst>
        </pc:spChg>
        <pc:spChg chg="mod">
          <ac:chgData name="Gashi, Bleron" userId="7c010833-4a17-45e8-9691-df0da442254f" providerId="ADAL" clId="{33452AE1-1FC9-4BBE-9DB0-5E4A9935B0AC}" dt="2026-07-08T20:28:18.112" v="1156" actId="1037"/>
          <ac:spMkLst>
            <pc:docMk/>
            <pc:sldMk cId="1445416330" sldId="294"/>
            <ac:spMk id="14" creationId="{2F44C8B0-F110-481D-81BC-FEF3B5C4C3F9}"/>
          </ac:spMkLst>
        </pc:spChg>
      </pc:sldChg>
      <pc:sldChg chg="addSp delSp modSp add mod ord setBg">
        <pc:chgData name="Gashi, Bleron" userId="7c010833-4a17-45e8-9691-df0da442254f" providerId="ADAL" clId="{33452AE1-1FC9-4BBE-9DB0-5E4A9935B0AC}" dt="2026-07-06T10:39:52.719" v="939" actId="20577"/>
        <pc:sldMkLst>
          <pc:docMk/>
          <pc:sldMk cId="679013116" sldId="307"/>
        </pc:sldMkLst>
        <pc:spChg chg="mod">
          <ac:chgData name="Gashi, Bleron" userId="7c010833-4a17-45e8-9691-df0da442254f" providerId="ADAL" clId="{33452AE1-1FC9-4BBE-9DB0-5E4A9935B0AC}" dt="2026-07-06T10:34:04.141" v="868" actId="207"/>
          <ac:spMkLst>
            <pc:docMk/>
            <pc:sldMk cId="679013116" sldId="307"/>
            <ac:spMk id="2" creationId="{A1F37D39-4C62-4318-BF5D-B04E6DB0E5C1}"/>
          </ac:spMkLst>
        </pc:spChg>
        <pc:spChg chg="mod">
          <ac:chgData name="Gashi, Bleron" userId="7c010833-4a17-45e8-9691-df0da442254f" providerId="ADAL" clId="{33452AE1-1FC9-4BBE-9DB0-5E4A9935B0AC}" dt="2026-06-18T11:30:38.109" v="542" actId="1076"/>
          <ac:spMkLst>
            <pc:docMk/>
            <pc:sldMk cId="679013116" sldId="307"/>
            <ac:spMk id="49" creationId="{466E8B74-8EF1-492D-8F9A-A8DBF26CAE2B}"/>
          </ac:spMkLst>
        </pc:spChg>
        <pc:spChg chg="mod">
          <ac:chgData name="Gashi, Bleron" userId="7c010833-4a17-45e8-9691-df0da442254f" providerId="ADAL" clId="{33452AE1-1FC9-4BBE-9DB0-5E4A9935B0AC}" dt="2026-06-18T11:30:38.109" v="542" actId="1076"/>
          <ac:spMkLst>
            <pc:docMk/>
            <pc:sldMk cId="679013116" sldId="307"/>
            <ac:spMk id="50" creationId="{3049A0FF-24FE-4E4F-87C5-F5D783E315F0}"/>
          </ac:spMkLst>
        </pc:spChg>
        <pc:spChg chg="mod">
          <ac:chgData name="Gashi, Bleron" userId="7c010833-4a17-45e8-9691-df0da442254f" providerId="ADAL" clId="{33452AE1-1FC9-4BBE-9DB0-5E4A9935B0AC}" dt="2026-06-18T11:26:18.375" v="422" actId="20577"/>
          <ac:spMkLst>
            <pc:docMk/>
            <pc:sldMk cId="679013116" sldId="307"/>
            <ac:spMk id="80" creationId="{CD4BAC51-FB9F-47DB-8759-79F6BB899208}"/>
          </ac:spMkLst>
        </pc:spChg>
        <pc:spChg chg="mod">
          <ac:chgData name="Gashi, Bleron" userId="7c010833-4a17-45e8-9691-df0da442254f" providerId="ADAL" clId="{33452AE1-1FC9-4BBE-9DB0-5E4A9935B0AC}" dt="2026-06-18T11:26:55.224" v="425" actId="14100"/>
          <ac:spMkLst>
            <pc:docMk/>
            <pc:sldMk cId="679013116" sldId="307"/>
            <ac:spMk id="81" creationId="{326A3D03-E66B-4C3B-A698-77D8B851B69B}"/>
          </ac:spMkLst>
        </pc:spChg>
        <pc:spChg chg="mod">
          <ac:chgData name="Gashi, Bleron" userId="7c010833-4a17-45e8-9691-df0da442254f" providerId="ADAL" clId="{33452AE1-1FC9-4BBE-9DB0-5E4A9935B0AC}" dt="2026-06-18T11:27:00.040" v="426" actId="14100"/>
          <ac:spMkLst>
            <pc:docMk/>
            <pc:sldMk cId="679013116" sldId="307"/>
            <ac:spMk id="82" creationId="{C55A629D-6624-4838-80C1-7E307C1D796F}"/>
          </ac:spMkLst>
        </pc:spChg>
        <pc:spChg chg="mod">
          <ac:chgData name="Gashi, Bleron" userId="7c010833-4a17-45e8-9691-df0da442254f" providerId="ADAL" clId="{33452AE1-1FC9-4BBE-9DB0-5E4A9935B0AC}" dt="2026-06-18T11:29:27.955" v="531" actId="20577"/>
          <ac:spMkLst>
            <pc:docMk/>
            <pc:sldMk cId="679013116" sldId="307"/>
            <ac:spMk id="86" creationId="{37D74F9F-4554-4E97-AEC4-B44E91035DFE}"/>
          </ac:spMkLst>
        </pc:spChg>
        <pc:spChg chg="add del mod">
          <ac:chgData name="Gashi, Bleron" userId="7c010833-4a17-45e8-9691-df0da442254f" providerId="ADAL" clId="{33452AE1-1FC9-4BBE-9DB0-5E4A9935B0AC}" dt="2026-07-06T10:39:52.719" v="939" actId="20577"/>
          <ac:spMkLst>
            <pc:docMk/>
            <pc:sldMk cId="679013116" sldId="307"/>
            <ac:spMk id="109" creationId="{DFAC4082-70B1-4A10-B813-F0D1A1243F3A}"/>
          </ac:spMkLst>
        </pc:spChg>
        <pc:spChg chg="add mod">
          <ac:chgData name="Gashi, Bleron" userId="7c010833-4a17-45e8-9691-df0da442254f" providerId="ADAL" clId="{33452AE1-1FC9-4BBE-9DB0-5E4A9935B0AC}" dt="2026-06-18T11:32:39.702" v="561" actId="14100"/>
          <ac:spMkLst>
            <pc:docMk/>
            <pc:sldMk cId="679013116" sldId="307"/>
            <ac:spMk id="111" creationId="{6327E1C3-4CA8-A39D-7FA2-4F17A16A501C}"/>
          </ac:spMkLst>
        </pc:spChg>
        <pc:spChg chg="add mod ord">
          <ac:chgData name="Gashi, Bleron" userId="7c010833-4a17-45e8-9691-df0da442254f" providerId="ADAL" clId="{33452AE1-1FC9-4BBE-9DB0-5E4A9935B0AC}" dt="2026-06-18T11:32:31.288" v="559" actId="14100"/>
          <ac:spMkLst>
            <pc:docMk/>
            <pc:sldMk cId="679013116" sldId="307"/>
            <ac:spMk id="113" creationId="{4D5E2796-9872-8189-9192-49A55760A487}"/>
          </ac:spMkLst>
        </pc:spChg>
      </pc:sldChg>
      <pc:sldChg chg="delSp modSp add mod ord setBg">
        <pc:chgData name="Gashi, Bleron" userId="7c010833-4a17-45e8-9691-df0da442254f" providerId="ADAL" clId="{33452AE1-1FC9-4BBE-9DB0-5E4A9935B0AC}" dt="2026-07-06T10:39:24.999" v="929" actId="20577"/>
        <pc:sldMkLst>
          <pc:docMk/>
          <pc:sldMk cId="1954152214" sldId="308"/>
        </pc:sldMkLst>
        <pc:spChg chg="mod">
          <ac:chgData name="Gashi, Bleron" userId="7c010833-4a17-45e8-9691-df0da442254f" providerId="ADAL" clId="{33452AE1-1FC9-4BBE-9DB0-5E4A9935B0AC}" dt="2026-07-06T10:33:56.790" v="866" actId="207"/>
          <ac:spMkLst>
            <pc:docMk/>
            <pc:sldMk cId="1954152214" sldId="308"/>
            <ac:spMk id="2" creationId="{3C9ECAD9-CD08-498B-9442-BD6F5D48E9D8}"/>
          </ac:spMkLst>
        </pc:spChg>
        <pc:spChg chg="mod">
          <ac:chgData name="Gashi, Bleron" userId="7c010833-4a17-45e8-9691-df0da442254f" providerId="ADAL" clId="{33452AE1-1FC9-4BBE-9DB0-5E4A9935B0AC}" dt="2026-06-18T11:56:38.979" v="643"/>
          <ac:spMkLst>
            <pc:docMk/>
            <pc:sldMk cId="1954152214" sldId="308"/>
            <ac:spMk id="3" creationId="{3FE225DF-42DD-4F2D-BFFD-2209FA655FFB}"/>
          </ac:spMkLst>
        </pc:spChg>
        <pc:spChg chg="mod">
          <ac:chgData name="Gashi, Bleron" userId="7c010833-4a17-45e8-9691-df0da442254f" providerId="ADAL" clId="{33452AE1-1FC9-4BBE-9DB0-5E4A9935B0AC}" dt="2026-06-18T11:33:34.231" v="564" actId="14100"/>
          <ac:spMkLst>
            <pc:docMk/>
            <pc:sldMk cId="1954152214" sldId="308"/>
            <ac:spMk id="5" creationId="{C658F32B-F2D5-453F-873F-39CF84F1649F}"/>
          </ac:spMkLst>
        </pc:spChg>
        <pc:spChg chg="mod">
          <ac:chgData name="Gashi, Bleron" userId="7c010833-4a17-45e8-9691-df0da442254f" providerId="ADAL" clId="{33452AE1-1FC9-4BBE-9DB0-5E4A9935B0AC}" dt="2026-06-18T11:34:30.728" v="565" actId="14100"/>
          <ac:spMkLst>
            <pc:docMk/>
            <pc:sldMk cId="1954152214" sldId="308"/>
            <ac:spMk id="21" creationId="{C5F102DF-A47B-431C-9094-478313984FDB}"/>
          </ac:spMkLst>
        </pc:spChg>
        <pc:spChg chg="mod">
          <ac:chgData name="Gashi, Bleron" userId="7c010833-4a17-45e8-9691-df0da442254f" providerId="ADAL" clId="{33452AE1-1FC9-4BBE-9DB0-5E4A9935B0AC}" dt="2026-06-18T11:34:54.281" v="576" actId="20577"/>
          <ac:spMkLst>
            <pc:docMk/>
            <pc:sldMk cId="1954152214" sldId="308"/>
            <ac:spMk id="22" creationId="{EBBDDFF5-9663-4842-9657-F78469FE6DC7}"/>
          </ac:spMkLst>
        </pc:spChg>
        <pc:spChg chg="mod">
          <ac:chgData name="Gashi, Bleron" userId="7c010833-4a17-45e8-9691-df0da442254f" providerId="ADAL" clId="{33452AE1-1FC9-4BBE-9DB0-5E4A9935B0AC}" dt="2026-06-18T11:35:23.413" v="613" actId="20577"/>
          <ac:spMkLst>
            <pc:docMk/>
            <pc:sldMk cId="1954152214" sldId="308"/>
            <ac:spMk id="27" creationId="{E1CB37A8-3E57-4807-8843-D612CB32ACF7}"/>
          </ac:spMkLst>
        </pc:spChg>
        <pc:spChg chg="mod">
          <ac:chgData name="Gashi, Bleron" userId="7c010833-4a17-45e8-9691-df0da442254f" providerId="ADAL" clId="{33452AE1-1FC9-4BBE-9DB0-5E4A9935B0AC}" dt="2026-07-06T10:39:24.999" v="929" actId="20577"/>
          <ac:spMkLst>
            <pc:docMk/>
            <pc:sldMk cId="1954152214" sldId="308"/>
            <ac:spMk id="74" creationId="{60A9A17A-D36A-428D-BC80-D0AB89A0AFC3}"/>
          </ac:spMkLst>
        </pc:spChg>
      </pc:sldChg>
      <pc:sldChg chg="addSp delSp modSp add mod setBg">
        <pc:chgData name="Gashi, Bleron" userId="7c010833-4a17-45e8-9691-df0da442254f" providerId="ADAL" clId="{33452AE1-1FC9-4BBE-9DB0-5E4A9935B0AC}" dt="2026-07-06T10:33:36.783" v="861" actId="207"/>
        <pc:sldMkLst>
          <pc:docMk/>
          <pc:sldMk cId="145936364" sldId="309"/>
        </pc:sldMkLst>
        <pc:spChg chg="mod">
          <ac:chgData name="Gashi, Bleron" userId="7c010833-4a17-45e8-9691-df0da442254f" providerId="ADAL" clId="{33452AE1-1FC9-4BBE-9DB0-5E4A9935B0AC}" dt="2026-07-06T10:33:36.783" v="861" actId="207"/>
          <ac:spMkLst>
            <pc:docMk/>
            <pc:sldMk cId="145936364" sldId="309"/>
            <ac:spMk id="2" creationId="{BF29511E-4BE5-4A31-93D9-16CF878256E6}"/>
          </ac:spMkLst>
        </pc:spChg>
        <pc:spChg chg="add mod">
          <ac:chgData name="Gashi, Bleron" userId="7c010833-4a17-45e8-9691-df0da442254f" providerId="ADAL" clId="{33452AE1-1FC9-4BBE-9DB0-5E4A9935B0AC}" dt="2026-06-18T12:06:25.538" v="659" actId="1076"/>
          <ac:spMkLst>
            <pc:docMk/>
            <pc:sldMk cId="145936364" sldId="309"/>
            <ac:spMk id="43" creationId="{DC7D2345-19D0-DA21-AADC-5FC95F990F36}"/>
          </ac:spMkLst>
        </pc:spChg>
      </pc:sldChg>
      <pc:sldChg chg="addSp delSp modSp add mod setBg">
        <pc:chgData name="Gashi, Bleron" userId="7c010833-4a17-45e8-9691-df0da442254f" providerId="ADAL" clId="{33452AE1-1FC9-4BBE-9DB0-5E4A9935B0AC}" dt="2026-07-06T10:39:18.981" v="927" actId="20577"/>
        <pc:sldMkLst>
          <pc:docMk/>
          <pc:sldMk cId="998770386" sldId="310"/>
        </pc:sldMkLst>
        <pc:spChg chg="mod">
          <ac:chgData name="Gashi, Bleron" userId="7c010833-4a17-45e8-9691-df0da442254f" providerId="ADAL" clId="{33452AE1-1FC9-4BBE-9DB0-5E4A9935B0AC}" dt="2026-07-06T10:33:51.327" v="864" actId="207"/>
          <ac:spMkLst>
            <pc:docMk/>
            <pc:sldMk cId="998770386" sldId="310"/>
            <ac:spMk id="2" creationId="{8EE2E82E-DA82-4710-88D1-FBC5340E4956}"/>
          </ac:spMkLst>
        </pc:spChg>
        <pc:spChg chg="mod">
          <ac:chgData name="Gashi, Bleron" userId="7c010833-4a17-45e8-9691-df0da442254f" providerId="ADAL" clId="{33452AE1-1FC9-4BBE-9DB0-5E4A9935B0AC}" dt="2026-07-06T10:39:18.981" v="927" actId="20577"/>
          <ac:spMkLst>
            <pc:docMk/>
            <pc:sldMk cId="998770386" sldId="310"/>
            <ac:spMk id="5" creationId="{9D4215F1-895B-4149-8924-005C9C47FE88}"/>
          </ac:spMkLst>
        </pc:spChg>
      </pc:sldChg>
      <pc:sldChg chg="delSp modSp add mod">
        <pc:chgData name="Gashi, Bleron" userId="7c010833-4a17-45e8-9691-df0da442254f" providerId="ADAL" clId="{33452AE1-1FC9-4BBE-9DB0-5E4A9935B0AC}" dt="2026-07-08T13:22:22.315" v="967" actId="20577"/>
        <pc:sldMkLst>
          <pc:docMk/>
          <pc:sldMk cId="2591975979" sldId="311"/>
        </pc:sldMkLst>
        <pc:spChg chg="mod">
          <ac:chgData name="Gashi, Bleron" userId="7c010833-4a17-45e8-9691-df0da442254f" providerId="ADAL" clId="{33452AE1-1FC9-4BBE-9DB0-5E4A9935B0AC}" dt="2026-07-08T13:22:22.315" v="967" actId="20577"/>
          <ac:spMkLst>
            <pc:docMk/>
            <pc:sldMk cId="2591975979" sldId="311"/>
            <ac:spMk id="2" creationId="{219C35BD-124A-412A-8FE9-CC6A7546A41B}"/>
          </ac:spMkLst>
        </pc:spChg>
        <pc:spChg chg="mod">
          <ac:chgData name="Gashi, Bleron" userId="7c010833-4a17-45e8-9691-df0da442254f" providerId="ADAL" clId="{33452AE1-1FC9-4BBE-9DB0-5E4A9935B0AC}" dt="2026-07-06T10:40:17.507" v="945" actId="20577"/>
          <ac:spMkLst>
            <pc:docMk/>
            <pc:sldMk cId="2591975979" sldId="311"/>
            <ac:spMk id="5" creationId="{E1AA40C6-EAA0-48A6-9E40-3EB12093C97B}"/>
          </ac:spMkLst>
        </pc:spChg>
        <pc:spChg chg="mod">
          <ac:chgData name="Gashi, Bleron" userId="7c010833-4a17-45e8-9691-df0da442254f" providerId="ADAL" clId="{33452AE1-1FC9-4BBE-9DB0-5E4A9935B0AC}" dt="2026-06-18T12:47:43.564" v="726" actId="14100"/>
          <ac:spMkLst>
            <pc:docMk/>
            <pc:sldMk cId="2591975979" sldId="311"/>
            <ac:spMk id="18" creationId="{1227F6F3-F46F-448D-8C66-5B7E6D026E84}"/>
          </ac:spMkLst>
        </pc:spChg>
      </pc:sldChg>
      <pc:sldChg chg="delSp modSp add mod">
        <pc:chgData name="Gashi, Bleron" userId="7c010833-4a17-45e8-9691-df0da442254f" providerId="ADAL" clId="{33452AE1-1FC9-4BBE-9DB0-5E4A9935B0AC}" dt="2026-07-08T13:22:58.618" v="974" actId="20577"/>
        <pc:sldMkLst>
          <pc:docMk/>
          <pc:sldMk cId="26071067" sldId="312"/>
        </pc:sldMkLst>
        <pc:spChg chg="mod">
          <ac:chgData name="Gashi, Bleron" userId="7c010833-4a17-45e8-9691-df0da442254f" providerId="ADAL" clId="{33452AE1-1FC9-4BBE-9DB0-5E4A9935B0AC}" dt="2026-07-08T13:22:58.618" v="974" actId="20577"/>
          <ac:spMkLst>
            <pc:docMk/>
            <pc:sldMk cId="26071067" sldId="312"/>
            <ac:spMk id="2" creationId="{70AC4E36-1D33-44F8-A729-03B3BBF32AA2}"/>
          </ac:spMkLst>
        </pc:spChg>
        <pc:spChg chg="mod">
          <ac:chgData name="Gashi, Bleron" userId="7c010833-4a17-45e8-9691-df0da442254f" providerId="ADAL" clId="{33452AE1-1FC9-4BBE-9DB0-5E4A9935B0AC}" dt="2026-07-06T10:41:00.439" v="958" actId="20577"/>
          <ac:spMkLst>
            <pc:docMk/>
            <pc:sldMk cId="26071067" sldId="312"/>
            <ac:spMk id="5" creationId="{A12F359D-6CF4-4DB8-AE6A-28767671CED6}"/>
          </ac:spMkLst>
        </pc:spChg>
      </pc:sldChg>
      <pc:sldChg chg="delSp modSp add mod">
        <pc:chgData name="Gashi, Bleron" userId="7c010833-4a17-45e8-9691-df0da442254f" providerId="ADAL" clId="{33452AE1-1FC9-4BBE-9DB0-5E4A9935B0AC}" dt="2026-07-08T13:23:04.901" v="975" actId="20577"/>
        <pc:sldMkLst>
          <pc:docMk/>
          <pc:sldMk cId="2969215369" sldId="313"/>
        </pc:sldMkLst>
        <pc:spChg chg="mod">
          <ac:chgData name="Gashi, Bleron" userId="7c010833-4a17-45e8-9691-df0da442254f" providerId="ADAL" clId="{33452AE1-1FC9-4BBE-9DB0-5E4A9935B0AC}" dt="2026-07-08T13:23:04.901" v="975" actId="20577"/>
          <ac:spMkLst>
            <pc:docMk/>
            <pc:sldMk cId="2969215369" sldId="313"/>
            <ac:spMk id="2" creationId="{4CF25D72-A576-4CA9-8879-25B1B743E7D6}"/>
          </ac:spMkLst>
        </pc:spChg>
        <pc:spChg chg="mod">
          <ac:chgData name="Gashi, Bleron" userId="7c010833-4a17-45e8-9691-df0da442254f" providerId="ADAL" clId="{33452AE1-1FC9-4BBE-9DB0-5E4A9935B0AC}" dt="2026-07-06T10:41:06.878" v="960" actId="20577"/>
          <ac:spMkLst>
            <pc:docMk/>
            <pc:sldMk cId="2969215369" sldId="313"/>
            <ac:spMk id="5" creationId="{D0575AFF-887E-4AAE-9ADE-9295105E379C}"/>
          </ac:spMkLst>
        </pc:spChg>
      </pc:sldChg>
      <pc:sldChg chg="delSp modSp add mod setBg">
        <pc:chgData name="Gashi, Bleron" userId="7c010833-4a17-45e8-9691-df0da442254f" providerId="ADAL" clId="{33452AE1-1FC9-4BBE-9DB0-5E4A9935B0AC}" dt="2026-07-06T10:39:11.131" v="925" actId="20577"/>
        <pc:sldMkLst>
          <pc:docMk/>
          <pc:sldMk cId="1686239618" sldId="315"/>
        </pc:sldMkLst>
        <pc:spChg chg="mod">
          <ac:chgData name="Gashi, Bleron" userId="7c010833-4a17-45e8-9691-df0da442254f" providerId="ADAL" clId="{33452AE1-1FC9-4BBE-9DB0-5E4A9935B0AC}" dt="2026-07-06T10:33:45.662" v="862" actId="207"/>
          <ac:spMkLst>
            <pc:docMk/>
            <pc:sldMk cId="1686239618" sldId="315"/>
            <ac:spMk id="2" creationId="{FAC07251-8534-4AB2-B3F4-C543F2E59758}"/>
          </ac:spMkLst>
        </pc:spChg>
        <pc:spChg chg="mod">
          <ac:chgData name="Gashi, Bleron" userId="7c010833-4a17-45e8-9691-df0da442254f" providerId="ADAL" clId="{33452AE1-1FC9-4BBE-9DB0-5E4A9935B0AC}" dt="2026-07-06T10:39:11.131" v="925" actId="20577"/>
          <ac:spMkLst>
            <pc:docMk/>
            <pc:sldMk cId="1686239618" sldId="315"/>
            <ac:spMk id="5" creationId="{493DF64D-6AE2-4F08-B7E3-B6805DA95A82}"/>
          </ac:spMkLst>
        </pc:spChg>
        <pc:spChg chg="mod">
          <ac:chgData name="Gashi, Bleron" userId="7c010833-4a17-45e8-9691-df0da442254f" providerId="ADAL" clId="{33452AE1-1FC9-4BBE-9DB0-5E4A9935B0AC}" dt="2026-06-18T12:39:39.512" v="710" actId="14100"/>
          <ac:spMkLst>
            <pc:docMk/>
            <pc:sldMk cId="1686239618" sldId="315"/>
            <ac:spMk id="54" creationId="{3BF8D274-16C6-447E-A07F-CA45C38F7323}"/>
          </ac:spMkLst>
        </pc:spChg>
        <pc:spChg chg="mod">
          <ac:chgData name="Gashi, Bleron" userId="7c010833-4a17-45e8-9691-df0da442254f" providerId="ADAL" clId="{33452AE1-1FC9-4BBE-9DB0-5E4A9935B0AC}" dt="2026-06-18T12:42:09.237" v="719" actId="1076"/>
          <ac:spMkLst>
            <pc:docMk/>
            <pc:sldMk cId="1686239618" sldId="315"/>
            <ac:spMk id="55" creationId="{F0B006E8-787A-42DB-8A9C-451070FFC86D}"/>
          </ac:spMkLst>
        </pc:spChg>
        <pc:spChg chg="mod">
          <ac:chgData name="Gashi, Bleron" userId="7c010833-4a17-45e8-9691-df0da442254f" providerId="ADAL" clId="{33452AE1-1FC9-4BBE-9DB0-5E4A9935B0AC}" dt="2026-06-18T12:41:27.681" v="716" actId="1076"/>
          <ac:spMkLst>
            <pc:docMk/>
            <pc:sldMk cId="1686239618" sldId="315"/>
            <ac:spMk id="56" creationId="{7C8C42C3-8E46-4DB7-B51D-73483DEDA007}"/>
          </ac:spMkLst>
        </pc:spChg>
        <pc:spChg chg="mod">
          <ac:chgData name="Gashi, Bleron" userId="7c010833-4a17-45e8-9691-df0da442254f" providerId="ADAL" clId="{33452AE1-1FC9-4BBE-9DB0-5E4A9935B0AC}" dt="2026-06-18T12:39:39.512" v="710" actId="14100"/>
          <ac:spMkLst>
            <pc:docMk/>
            <pc:sldMk cId="1686239618" sldId="315"/>
            <ac:spMk id="58" creationId="{06CA58C3-216B-481D-8A59-92AB07C54C66}"/>
          </ac:spMkLst>
        </pc:spChg>
        <pc:spChg chg="mod">
          <ac:chgData name="Gashi, Bleron" userId="7c010833-4a17-45e8-9691-df0da442254f" providerId="ADAL" clId="{33452AE1-1FC9-4BBE-9DB0-5E4A9935B0AC}" dt="2026-06-18T12:42:09.237" v="719" actId="1076"/>
          <ac:spMkLst>
            <pc:docMk/>
            <pc:sldMk cId="1686239618" sldId="315"/>
            <ac:spMk id="59" creationId="{CF375474-4D71-4693-B9E3-B2396FF180B0}"/>
          </ac:spMkLst>
        </pc:spChg>
        <pc:spChg chg="mod">
          <ac:chgData name="Gashi, Bleron" userId="7c010833-4a17-45e8-9691-df0da442254f" providerId="ADAL" clId="{33452AE1-1FC9-4BBE-9DB0-5E4A9935B0AC}" dt="2026-06-18T12:41:27.681" v="716" actId="1076"/>
          <ac:spMkLst>
            <pc:docMk/>
            <pc:sldMk cId="1686239618" sldId="315"/>
            <ac:spMk id="60" creationId="{581F457E-4725-41FF-AF31-20767FA52466}"/>
          </ac:spMkLst>
        </pc:spChg>
        <pc:spChg chg="mod">
          <ac:chgData name="Gashi, Bleron" userId="7c010833-4a17-45e8-9691-df0da442254f" providerId="ADAL" clId="{33452AE1-1FC9-4BBE-9DB0-5E4A9935B0AC}" dt="2026-06-18T12:39:39.512" v="710" actId="14100"/>
          <ac:spMkLst>
            <pc:docMk/>
            <pc:sldMk cId="1686239618" sldId="315"/>
            <ac:spMk id="62" creationId="{B63A26BA-6B35-49B0-A994-0A67F1B719B0}"/>
          </ac:spMkLst>
        </pc:spChg>
        <pc:spChg chg="mod">
          <ac:chgData name="Gashi, Bleron" userId="7c010833-4a17-45e8-9691-df0da442254f" providerId="ADAL" clId="{33452AE1-1FC9-4BBE-9DB0-5E4A9935B0AC}" dt="2026-06-18T12:42:09.237" v="719" actId="1076"/>
          <ac:spMkLst>
            <pc:docMk/>
            <pc:sldMk cId="1686239618" sldId="315"/>
            <ac:spMk id="63" creationId="{1BBF2470-38F2-4993-B566-9C94ECA7B2F6}"/>
          </ac:spMkLst>
        </pc:spChg>
        <pc:spChg chg="mod">
          <ac:chgData name="Gashi, Bleron" userId="7c010833-4a17-45e8-9691-df0da442254f" providerId="ADAL" clId="{33452AE1-1FC9-4BBE-9DB0-5E4A9935B0AC}" dt="2026-06-18T12:41:27.681" v="716" actId="1076"/>
          <ac:spMkLst>
            <pc:docMk/>
            <pc:sldMk cId="1686239618" sldId="315"/>
            <ac:spMk id="64" creationId="{69B0EE4A-C785-40A7-872B-410064A876CC}"/>
          </ac:spMkLst>
        </pc:spChg>
        <pc:spChg chg="mod">
          <ac:chgData name="Gashi, Bleron" userId="7c010833-4a17-45e8-9691-df0da442254f" providerId="ADAL" clId="{33452AE1-1FC9-4BBE-9DB0-5E4A9935B0AC}" dt="2026-06-18T12:39:39.512" v="710" actId="14100"/>
          <ac:spMkLst>
            <pc:docMk/>
            <pc:sldMk cId="1686239618" sldId="315"/>
            <ac:spMk id="66" creationId="{794E9213-ED0A-4B2A-8691-ED8557562690}"/>
          </ac:spMkLst>
        </pc:spChg>
        <pc:spChg chg="mod">
          <ac:chgData name="Gashi, Bleron" userId="7c010833-4a17-45e8-9691-df0da442254f" providerId="ADAL" clId="{33452AE1-1FC9-4BBE-9DB0-5E4A9935B0AC}" dt="2026-06-18T12:42:09.237" v="719" actId="1076"/>
          <ac:spMkLst>
            <pc:docMk/>
            <pc:sldMk cId="1686239618" sldId="315"/>
            <ac:spMk id="67" creationId="{323BA9B0-ECDC-451C-AE41-179AB0C1B1BC}"/>
          </ac:spMkLst>
        </pc:spChg>
        <pc:spChg chg="mod">
          <ac:chgData name="Gashi, Bleron" userId="7c010833-4a17-45e8-9691-df0da442254f" providerId="ADAL" clId="{33452AE1-1FC9-4BBE-9DB0-5E4A9935B0AC}" dt="2026-06-18T12:41:27.681" v="716" actId="1076"/>
          <ac:spMkLst>
            <pc:docMk/>
            <pc:sldMk cId="1686239618" sldId="315"/>
            <ac:spMk id="68" creationId="{3FCAFFAF-508B-4D7A-AF50-31AF2096A8E4}"/>
          </ac:spMkLst>
        </pc:spChg>
        <pc:spChg chg="mod">
          <ac:chgData name="Gashi, Bleron" userId="7c010833-4a17-45e8-9691-df0da442254f" providerId="ADAL" clId="{33452AE1-1FC9-4BBE-9DB0-5E4A9935B0AC}" dt="2026-06-18T12:41:37.878" v="718" actId="14100"/>
          <ac:spMkLst>
            <pc:docMk/>
            <pc:sldMk cId="1686239618" sldId="315"/>
            <ac:spMk id="69" creationId="{E55E426E-529C-4E83-8F92-9AF32172FC06}"/>
          </ac:spMkLst>
        </pc:spChg>
      </pc:sldChg>
      <pc:sldChg chg="addSp delSp modSp mod">
        <pc:chgData name="Gashi, Bleron" userId="7c010833-4a17-45e8-9691-df0da442254f" providerId="ADAL" clId="{33452AE1-1FC9-4BBE-9DB0-5E4A9935B0AC}" dt="2026-07-08T13:28:21.596" v="1036" actId="108"/>
        <pc:sldMkLst>
          <pc:docMk/>
          <pc:sldMk cId="0" sldId="317"/>
        </pc:sldMkLst>
        <pc:spChg chg="mod">
          <ac:chgData name="Gashi, Bleron" userId="7c010833-4a17-45e8-9691-df0da442254f" providerId="ADAL" clId="{33452AE1-1FC9-4BBE-9DB0-5E4A9935B0AC}" dt="2026-07-08T13:28:21.596" v="1036" actId="108"/>
          <ac:spMkLst>
            <pc:docMk/>
            <pc:sldMk cId="0" sldId="317"/>
            <ac:spMk id="3" creationId="{00000000-0000-0000-0000-000000000000}"/>
          </ac:spMkLst>
        </pc:spChg>
      </pc:sldChg>
      <pc:sldChg chg="modSp mod">
        <pc:chgData name="Gashi, Bleron" userId="7c010833-4a17-45e8-9691-df0da442254f" providerId="ADAL" clId="{33452AE1-1FC9-4BBE-9DB0-5E4A9935B0AC}" dt="2026-07-08T13:28:31.877" v="1039" actId="108"/>
        <pc:sldMkLst>
          <pc:docMk/>
          <pc:sldMk cId="0" sldId="318"/>
        </pc:sldMkLst>
        <pc:spChg chg="mod">
          <ac:chgData name="Gashi, Bleron" userId="7c010833-4a17-45e8-9691-df0da442254f" providerId="ADAL" clId="{33452AE1-1FC9-4BBE-9DB0-5E4A9935B0AC}" dt="2026-07-08T13:28:31.877" v="1039" actId="108"/>
          <ac:spMkLst>
            <pc:docMk/>
            <pc:sldMk cId="0" sldId="318"/>
            <ac:spMk id="3" creationId="{00000000-0000-0000-0000-000000000000}"/>
          </ac:spMkLst>
        </pc:spChg>
      </pc:sldChg>
      <pc:sldChg chg="modSp mod">
        <pc:chgData name="Gashi, Bleron" userId="7c010833-4a17-45e8-9691-df0da442254f" providerId="ADAL" clId="{33452AE1-1FC9-4BBE-9DB0-5E4A9935B0AC}" dt="2026-07-08T13:28:34.962" v="1040" actId="108"/>
        <pc:sldMkLst>
          <pc:docMk/>
          <pc:sldMk cId="0" sldId="319"/>
        </pc:sldMkLst>
        <pc:spChg chg="mod">
          <ac:chgData name="Gashi, Bleron" userId="7c010833-4a17-45e8-9691-df0da442254f" providerId="ADAL" clId="{33452AE1-1FC9-4BBE-9DB0-5E4A9935B0AC}" dt="2026-07-08T13:28:34.962" v="1040" actId="108"/>
          <ac:spMkLst>
            <pc:docMk/>
            <pc:sldMk cId="0" sldId="319"/>
            <ac:spMk id="3" creationId="{00000000-0000-0000-0000-000000000000}"/>
          </ac:spMkLst>
        </pc:spChg>
      </pc:sldChg>
      <pc:sldChg chg="modSp mod">
        <pc:chgData name="Gashi, Bleron" userId="7c010833-4a17-45e8-9691-df0da442254f" providerId="ADAL" clId="{33452AE1-1FC9-4BBE-9DB0-5E4A9935B0AC}" dt="2026-07-08T13:28:38.639" v="1041" actId="108"/>
        <pc:sldMkLst>
          <pc:docMk/>
          <pc:sldMk cId="0" sldId="321"/>
        </pc:sldMkLst>
        <pc:spChg chg="mod">
          <ac:chgData name="Gashi, Bleron" userId="7c010833-4a17-45e8-9691-df0da442254f" providerId="ADAL" clId="{33452AE1-1FC9-4BBE-9DB0-5E4A9935B0AC}" dt="2026-07-08T13:28:38.639" v="1041" actId="108"/>
          <ac:spMkLst>
            <pc:docMk/>
            <pc:sldMk cId="0" sldId="321"/>
            <ac:spMk id="3" creationId="{00000000-0000-0000-0000-000000000000}"/>
          </ac:spMkLst>
        </pc:spChg>
      </pc:sldChg>
      <pc:sldChg chg="modSp mod">
        <pc:chgData name="Gashi, Bleron" userId="7c010833-4a17-45e8-9691-df0da442254f" providerId="ADAL" clId="{33452AE1-1FC9-4BBE-9DB0-5E4A9935B0AC}" dt="2026-07-08T19:31:06.415" v="1110" actId="255"/>
        <pc:sldMkLst>
          <pc:docMk/>
          <pc:sldMk cId="0" sldId="322"/>
        </pc:sldMkLst>
        <pc:spChg chg="mod">
          <ac:chgData name="Gashi, Bleron" userId="7c010833-4a17-45e8-9691-df0da442254f" providerId="ADAL" clId="{33452AE1-1FC9-4BBE-9DB0-5E4A9935B0AC}" dt="2026-07-08T13:28:41.283" v="1042" actId="108"/>
          <ac:spMkLst>
            <pc:docMk/>
            <pc:sldMk cId="0" sldId="322"/>
            <ac:spMk id="3" creationId="{00000000-0000-0000-0000-000000000000}"/>
          </ac:spMkLst>
        </pc:spChg>
        <pc:spChg chg="mod">
          <ac:chgData name="Gashi, Bleron" userId="7c010833-4a17-45e8-9691-df0da442254f" providerId="ADAL" clId="{33452AE1-1FC9-4BBE-9DB0-5E4A9935B0AC}" dt="2026-07-08T19:31:06.415" v="1110" actId="255"/>
          <ac:spMkLst>
            <pc:docMk/>
            <pc:sldMk cId="0" sldId="322"/>
            <ac:spMk id="4" creationId="{00000000-0000-0000-0000-000000000000}"/>
          </ac:spMkLst>
        </pc:spChg>
      </pc:sldChg>
      <pc:sldChg chg="addSp delSp modSp mod">
        <pc:chgData name="Gashi, Bleron" userId="7c010833-4a17-45e8-9691-df0da442254f" providerId="ADAL" clId="{33452AE1-1FC9-4BBE-9DB0-5E4A9935B0AC}" dt="2026-07-08T13:23:26.214" v="987" actId="20577"/>
        <pc:sldMkLst>
          <pc:docMk/>
          <pc:sldMk cId="3772502132" sldId="324"/>
        </pc:sldMkLst>
        <pc:spChg chg="add del">
          <ac:chgData name="Gashi, Bleron" userId="7c010833-4a17-45e8-9691-df0da442254f" providerId="ADAL" clId="{33452AE1-1FC9-4BBE-9DB0-5E4A9935B0AC}" dt="2026-07-04T10:10:51.573" v="857" actId="478"/>
          <ac:spMkLst>
            <pc:docMk/>
            <pc:sldMk cId="3772502132" sldId="324"/>
            <ac:spMk id="2" creationId="{00000000-0000-0000-0000-000000000000}"/>
          </ac:spMkLst>
        </pc:spChg>
        <pc:spChg chg="mod">
          <ac:chgData name="Gashi, Bleron" userId="7c010833-4a17-45e8-9691-df0da442254f" providerId="ADAL" clId="{33452AE1-1FC9-4BBE-9DB0-5E4A9935B0AC}" dt="2026-07-04T10:09:34.948" v="843" actId="108"/>
          <ac:spMkLst>
            <pc:docMk/>
            <pc:sldMk cId="3772502132" sldId="324"/>
            <ac:spMk id="3" creationId="{00000000-0000-0000-0000-000000000000}"/>
          </ac:spMkLst>
        </pc:spChg>
        <pc:spChg chg="mod">
          <ac:chgData name="Gashi, Bleron" userId="7c010833-4a17-45e8-9691-df0da442254f" providerId="ADAL" clId="{33452AE1-1FC9-4BBE-9DB0-5E4A9935B0AC}" dt="2026-06-30T16:13:44.281" v="785" actId="20577"/>
          <ac:spMkLst>
            <pc:docMk/>
            <pc:sldMk cId="3772502132" sldId="324"/>
            <ac:spMk id="22" creationId="{00000000-0000-0000-0000-000000000000}"/>
          </ac:spMkLst>
        </pc:spChg>
        <pc:spChg chg="add del mod">
          <ac:chgData name="Gashi, Bleron" userId="7c010833-4a17-45e8-9691-df0da442254f" providerId="ADAL" clId="{33452AE1-1FC9-4BBE-9DB0-5E4A9935B0AC}" dt="2026-07-08T13:23:20.594" v="977" actId="478"/>
          <ac:spMkLst>
            <pc:docMk/>
            <pc:sldMk cId="3772502132" sldId="324"/>
            <ac:spMk id="32" creationId="{C0A3B113-ACB2-9D2B-6B4F-3280198F0BB2}"/>
          </ac:spMkLst>
        </pc:spChg>
        <pc:spChg chg="add mod">
          <ac:chgData name="Gashi, Bleron" userId="7c010833-4a17-45e8-9691-df0da442254f" providerId="ADAL" clId="{33452AE1-1FC9-4BBE-9DB0-5E4A9935B0AC}" dt="2026-07-08T13:23:26.214" v="987" actId="20577"/>
          <ac:spMkLst>
            <pc:docMk/>
            <pc:sldMk cId="3772502132" sldId="324"/>
            <ac:spMk id="33" creationId="{30CB95FF-FB42-3875-2316-1A76DEBC1BE3}"/>
          </ac:spMkLst>
        </pc:spChg>
      </pc:sldChg>
      <pc:sldChg chg="delSp mod">
        <pc:chgData name="Gashi, Bleron" userId="7c010833-4a17-45e8-9691-df0da442254f" providerId="ADAL" clId="{33452AE1-1FC9-4BBE-9DB0-5E4A9935B0AC}" dt="2026-07-08T13:24:13.410" v="990" actId="478"/>
        <pc:sldMkLst>
          <pc:docMk/>
          <pc:sldMk cId="3375771379" sldId="334"/>
        </pc:sldMkLst>
        <pc:spChg chg="del">
          <ac:chgData name="Gashi, Bleron" userId="7c010833-4a17-45e8-9691-df0da442254f" providerId="ADAL" clId="{33452AE1-1FC9-4BBE-9DB0-5E4A9935B0AC}" dt="2026-07-08T13:24:13.410" v="990" actId="478"/>
          <ac:spMkLst>
            <pc:docMk/>
            <pc:sldMk cId="3375771379" sldId="334"/>
            <ac:spMk id="36" creationId="{13098ED2-919D-677A-FE07-A6DF63C88EDD}"/>
          </ac:spMkLst>
        </pc:spChg>
      </pc:sldChg>
      <pc:sldChg chg="addSp delSp modSp add mod setBg">
        <pc:chgData name="Gashi, Bleron" userId="7c010833-4a17-45e8-9691-df0da442254f" providerId="ADAL" clId="{33452AE1-1FC9-4BBE-9DB0-5E4A9935B0AC}" dt="2026-07-08T13:28:24.946" v="1037" actId="108"/>
        <pc:sldMkLst>
          <pc:docMk/>
          <pc:sldMk cId="1213176608" sldId="336"/>
        </pc:sldMkLst>
        <pc:spChg chg="add mod">
          <ac:chgData name="Gashi, Bleron" userId="7c010833-4a17-45e8-9691-df0da442254f" providerId="ADAL" clId="{33452AE1-1FC9-4BBE-9DB0-5E4A9935B0AC}" dt="2026-07-08T13:28:24.946" v="1037" actId="108"/>
          <ac:spMkLst>
            <pc:docMk/>
            <pc:sldMk cId="1213176608" sldId="336"/>
            <ac:spMk id="53" creationId="{7975FA09-AC8A-DE3E-2E28-8F8FEF1E0362}"/>
          </ac:spMkLst>
        </pc:spChg>
      </pc:sldChg>
      <pc:sldChg chg="modSp mod">
        <pc:chgData name="Gashi, Bleron" userId="7c010833-4a17-45e8-9691-df0da442254f" providerId="ADAL" clId="{33452AE1-1FC9-4BBE-9DB0-5E4A9935B0AC}" dt="2026-07-08T13:24:22.226" v="991" actId="108"/>
        <pc:sldMkLst>
          <pc:docMk/>
          <pc:sldMk cId="0" sldId="346"/>
        </pc:sldMkLst>
        <pc:spChg chg="mod">
          <ac:chgData name="Gashi, Bleron" userId="7c010833-4a17-45e8-9691-df0da442254f" providerId="ADAL" clId="{33452AE1-1FC9-4BBE-9DB0-5E4A9935B0AC}" dt="2026-07-08T13:24:22.226" v="991" actId="108"/>
          <ac:spMkLst>
            <pc:docMk/>
            <pc:sldMk cId="0" sldId="346"/>
            <ac:spMk id="3" creationId="{00000000-0000-0000-0000-000000000000}"/>
          </ac:spMkLst>
        </pc:spChg>
      </pc:sldChg>
      <pc:sldChg chg="modSp mod">
        <pc:chgData name="Gashi, Bleron" userId="7c010833-4a17-45e8-9691-df0da442254f" providerId="ADAL" clId="{33452AE1-1FC9-4BBE-9DB0-5E4A9935B0AC}" dt="2026-07-08T13:24:29.578" v="992" actId="108"/>
        <pc:sldMkLst>
          <pc:docMk/>
          <pc:sldMk cId="0" sldId="347"/>
        </pc:sldMkLst>
        <pc:spChg chg="mod">
          <ac:chgData name="Gashi, Bleron" userId="7c010833-4a17-45e8-9691-df0da442254f" providerId="ADAL" clId="{33452AE1-1FC9-4BBE-9DB0-5E4A9935B0AC}" dt="2026-07-08T13:24:29.578" v="992" actId="108"/>
          <ac:spMkLst>
            <pc:docMk/>
            <pc:sldMk cId="0" sldId="347"/>
            <ac:spMk id="3" creationId="{00000000-0000-0000-0000-000000000000}"/>
          </ac:spMkLst>
        </pc:spChg>
      </pc:sldChg>
      <pc:sldChg chg="modSp mod">
        <pc:chgData name="Gashi, Bleron" userId="7c010833-4a17-45e8-9691-df0da442254f" providerId="ADAL" clId="{33452AE1-1FC9-4BBE-9DB0-5E4A9935B0AC}" dt="2026-07-08T13:24:32.643" v="993" actId="108"/>
        <pc:sldMkLst>
          <pc:docMk/>
          <pc:sldMk cId="0" sldId="348"/>
        </pc:sldMkLst>
        <pc:spChg chg="mod">
          <ac:chgData name="Gashi, Bleron" userId="7c010833-4a17-45e8-9691-df0da442254f" providerId="ADAL" clId="{33452AE1-1FC9-4BBE-9DB0-5E4A9935B0AC}" dt="2026-07-08T13:24:32.643" v="993" actId="108"/>
          <ac:spMkLst>
            <pc:docMk/>
            <pc:sldMk cId="0" sldId="348"/>
            <ac:spMk id="3" creationId="{00000000-0000-0000-0000-000000000000}"/>
          </ac:spMkLst>
        </pc:spChg>
      </pc:sldChg>
      <pc:sldChg chg="modSp mod">
        <pc:chgData name="Gashi, Bleron" userId="7c010833-4a17-45e8-9691-df0da442254f" providerId="ADAL" clId="{33452AE1-1FC9-4BBE-9DB0-5E4A9935B0AC}" dt="2026-07-08T13:24:34.877" v="994" actId="108"/>
        <pc:sldMkLst>
          <pc:docMk/>
          <pc:sldMk cId="0" sldId="349"/>
        </pc:sldMkLst>
        <pc:spChg chg="mod">
          <ac:chgData name="Gashi, Bleron" userId="7c010833-4a17-45e8-9691-df0da442254f" providerId="ADAL" clId="{33452AE1-1FC9-4BBE-9DB0-5E4A9935B0AC}" dt="2026-07-08T13:24:34.877" v="994" actId="108"/>
          <ac:spMkLst>
            <pc:docMk/>
            <pc:sldMk cId="0" sldId="349"/>
            <ac:spMk id="3" creationId="{00000000-0000-0000-0000-000000000000}"/>
          </ac:spMkLst>
        </pc:spChg>
      </pc:sldChg>
      <pc:sldChg chg="modSp mod">
        <pc:chgData name="Gashi, Bleron" userId="7c010833-4a17-45e8-9691-df0da442254f" providerId="ADAL" clId="{33452AE1-1FC9-4BBE-9DB0-5E4A9935B0AC}" dt="2026-07-08T13:24:39.082" v="995" actId="108"/>
        <pc:sldMkLst>
          <pc:docMk/>
          <pc:sldMk cId="0" sldId="350"/>
        </pc:sldMkLst>
        <pc:spChg chg="mod">
          <ac:chgData name="Gashi, Bleron" userId="7c010833-4a17-45e8-9691-df0da442254f" providerId="ADAL" clId="{33452AE1-1FC9-4BBE-9DB0-5E4A9935B0AC}" dt="2026-07-08T13:24:39.082" v="995" actId="108"/>
          <ac:spMkLst>
            <pc:docMk/>
            <pc:sldMk cId="0" sldId="350"/>
            <ac:spMk id="3" creationId="{00000000-0000-0000-0000-000000000000}"/>
          </ac:spMkLst>
        </pc:spChg>
      </pc:sldChg>
      <pc:sldChg chg="modSp mod">
        <pc:chgData name="Gashi, Bleron" userId="7c010833-4a17-45e8-9691-df0da442254f" providerId="ADAL" clId="{33452AE1-1FC9-4BBE-9DB0-5E4A9935B0AC}" dt="2026-07-08T13:24:42.159" v="996" actId="108"/>
        <pc:sldMkLst>
          <pc:docMk/>
          <pc:sldMk cId="0" sldId="351"/>
        </pc:sldMkLst>
        <pc:spChg chg="mod">
          <ac:chgData name="Gashi, Bleron" userId="7c010833-4a17-45e8-9691-df0da442254f" providerId="ADAL" clId="{33452AE1-1FC9-4BBE-9DB0-5E4A9935B0AC}" dt="2026-07-08T13:24:42.159" v="996" actId="108"/>
          <ac:spMkLst>
            <pc:docMk/>
            <pc:sldMk cId="0" sldId="351"/>
            <ac:spMk id="3" creationId="{00000000-0000-0000-0000-000000000000}"/>
          </ac:spMkLst>
        </pc:spChg>
      </pc:sldChg>
      <pc:sldChg chg="modSp mod">
        <pc:chgData name="Gashi, Bleron" userId="7c010833-4a17-45e8-9691-df0da442254f" providerId="ADAL" clId="{33452AE1-1FC9-4BBE-9DB0-5E4A9935B0AC}" dt="2026-07-08T13:24:46.865" v="997" actId="108"/>
        <pc:sldMkLst>
          <pc:docMk/>
          <pc:sldMk cId="0" sldId="352"/>
        </pc:sldMkLst>
        <pc:spChg chg="mod">
          <ac:chgData name="Gashi, Bleron" userId="7c010833-4a17-45e8-9691-df0da442254f" providerId="ADAL" clId="{33452AE1-1FC9-4BBE-9DB0-5E4A9935B0AC}" dt="2026-07-08T13:24:46.865" v="997" actId="108"/>
          <ac:spMkLst>
            <pc:docMk/>
            <pc:sldMk cId="0" sldId="352"/>
            <ac:spMk id="3" creationId="{00000000-0000-0000-0000-000000000000}"/>
          </ac:spMkLst>
        </pc:spChg>
      </pc:sldChg>
      <pc:sldChg chg="modSp mod">
        <pc:chgData name="Gashi, Bleron" userId="7c010833-4a17-45e8-9691-df0da442254f" providerId="ADAL" clId="{33452AE1-1FC9-4BBE-9DB0-5E4A9935B0AC}" dt="2026-07-08T13:24:50.759" v="998" actId="108"/>
        <pc:sldMkLst>
          <pc:docMk/>
          <pc:sldMk cId="0" sldId="353"/>
        </pc:sldMkLst>
        <pc:spChg chg="mod">
          <ac:chgData name="Gashi, Bleron" userId="7c010833-4a17-45e8-9691-df0da442254f" providerId="ADAL" clId="{33452AE1-1FC9-4BBE-9DB0-5E4A9935B0AC}" dt="2026-07-08T13:24:50.759" v="998" actId="108"/>
          <ac:spMkLst>
            <pc:docMk/>
            <pc:sldMk cId="0" sldId="353"/>
            <ac:spMk id="3" creationId="{00000000-0000-0000-0000-000000000000}"/>
          </ac:spMkLst>
        </pc:spChg>
      </pc:sldChg>
      <pc:sldChg chg="modSp mod">
        <pc:chgData name="Gashi, Bleron" userId="7c010833-4a17-45e8-9691-df0da442254f" providerId="ADAL" clId="{33452AE1-1FC9-4BBE-9DB0-5E4A9935B0AC}" dt="2026-07-08T13:24:53.950" v="999" actId="108"/>
        <pc:sldMkLst>
          <pc:docMk/>
          <pc:sldMk cId="0" sldId="354"/>
        </pc:sldMkLst>
        <pc:spChg chg="mod">
          <ac:chgData name="Gashi, Bleron" userId="7c010833-4a17-45e8-9691-df0da442254f" providerId="ADAL" clId="{33452AE1-1FC9-4BBE-9DB0-5E4A9935B0AC}" dt="2026-07-08T13:24:53.950" v="999" actId="108"/>
          <ac:spMkLst>
            <pc:docMk/>
            <pc:sldMk cId="0" sldId="354"/>
            <ac:spMk id="3" creationId="{00000000-0000-0000-0000-000000000000}"/>
          </ac:spMkLst>
        </pc:spChg>
      </pc:sldChg>
      <pc:sldChg chg="modSp mod">
        <pc:chgData name="Gashi, Bleron" userId="7c010833-4a17-45e8-9691-df0da442254f" providerId="ADAL" clId="{33452AE1-1FC9-4BBE-9DB0-5E4A9935B0AC}" dt="2026-07-08T13:24:56.781" v="1000" actId="108"/>
        <pc:sldMkLst>
          <pc:docMk/>
          <pc:sldMk cId="0" sldId="355"/>
        </pc:sldMkLst>
        <pc:spChg chg="mod">
          <ac:chgData name="Gashi, Bleron" userId="7c010833-4a17-45e8-9691-df0da442254f" providerId="ADAL" clId="{33452AE1-1FC9-4BBE-9DB0-5E4A9935B0AC}" dt="2026-07-08T13:24:56.781" v="1000" actId="108"/>
          <ac:spMkLst>
            <pc:docMk/>
            <pc:sldMk cId="0" sldId="355"/>
            <ac:spMk id="3" creationId="{00000000-0000-0000-0000-000000000000}"/>
          </ac:spMkLst>
        </pc:spChg>
      </pc:sldChg>
      <pc:sldChg chg="delSp modSp mod">
        <pc:chgData name="Gashi, Bleron" userId="7c010833-4a17-45e8-9691-df0da442254f" providerId="ADAL" clId="{33452AE1-1FC9-4BBE-9DB0-5E4A9935B0AC}" dt="2026-07-08T13:25:04.776" v="1002" actId="478"/>
        <pc:sldMkLst>
          <pc:docMk/>
          <pc:sldMk cId="4024034768" sldId="357"/>
        </pc:sldMkLst>
        <pc:spChg chg="del">
          <ac:chgData name="Gashi, Bleron" userId="7c010833-4a17-45e8-9691-df0da442254f" providerId="ADAL" clId="{33452AE1-1FC9-4BBE-9DB0-5E4A9935B0AC}" dt="2026-07-08T13:25:04.776" v="1002" actId="478"/>
          <ac:spMkLst>
            <pc:docMk/>
            <pc:sldMk cId="4024034768" sldId="357"/>
            <ac:spMk id="2" creationId="{4EA731A6-E05C-4A3B-BD71-A600003B6598}"/>
          </ac:spMkLst>
        </pc:spChg>
        <pc:spChg chg="mod">
          <ac:chgData name="Gashi, Bleron" userId="7c010833-4a17-45e8-9691-df0da442254f" providerId="ADAL" clId="{33452AE1-1FC9-4BBE-9DB0-5E4A9935B0AC}" dt="2026-07-08T13:25:01.265" v="1001" actId="108"/>
          <ac:spMkLst>
            <pc:docMk/>
            <pc:sldMk cId="4024034768" sldId="357"/>
            <ac:spMk id="3" creationId="{45909797-1DC6-4A4E-B941-C3B0FC278A08}"/>
          </ac:spMkLst>
        </pc:spChg>
      </pc:sldChg>
      <pc:sldChg chg="delSp modSp mod">
        <pc:chgData name="Gashi, Bleron" userId="7c010833-4a17-45e8-9691-df0da442254f" providerId="ADAL" clId="{33452AE1-1FC9-4BBE-9DB0-5E4A9935B0AC}" dt="2026-07-08T13:25:56.763" v="1011" actId="478"/>
        <pc:sldMkLst>
          <pc:docMk/>
          <pc:sldMk cId="2715775729" sldId="358"/>
        </pc:sldMkLst>
        <pc:spChg chg="del">
          <ac:chgData name="Gashi, Bleron" userId="7c010833-4a17-45e8-9691-df0da442254f" providerId="ADAL" clId="{33452AE1-1FC9-4BBE-9DB0-5E4A9935B0AC}" dt="2026-07-08T13:25:56.763" v="1011" actId="478"/>
          <ac:spMkLst>
            <pc:docMk/>
            <pc:sldMk cId="2715775729" sldId="358"/>
            <ac:spMk id="2" creationId="{A65417C8-11C2-41D6-8205-3F22B7B0C1B8}"/>
          </ac:spMkLst>
        </pc:spChg>
        <pc:spChg chg="mod">
          <ac:chgData name="Gashi, Bleron" userId="7c010833-4a17-45e8-9691-df0da442254f" providerId="ADAL" clId="{33452AE1-1FC9-4BBE-9DB0-5E4A9935B0AC}" dt="2026-07-08T13:25:52.797" v="1010" actId="108"/>
          <ac:spMkLst>
            <pc:docMk/>
            <pc:sldMk cId="2715775729" sldId="358"/>
            <ac:spMk id="3" creationId="{D9816564-43C7-4C41-A1C1-9F48EAB2837A}"/>
          </ac:spMkLst>
        </pc:spChg>
      </pc:sldChg>
      <pc:sldChg chg="delSp modSp mod">
        <pc:chgData name="Gashi, Bleron" userId="7c010833-4a17-45e8-9691-df0da442254f" providerId="ADAL" clId="{33452AE1-1FC9-4BBE-9DB0-5E4A9935B0AC}" dt="2026-07-08T13:27:46.830" v="1026" actId="108"/>
        <pc:sldMkLst>
          <pc:docMk/>
          <pc:sldMk cId="3569709768" sldId="359"/>
        </pc:sldMkLst>
        <pc:spChg chg="del">
          <ac:chgData name="Gashi, Bleron" userId="7c010833-4a17-45e8-9691-df0da442254f" providerId="ADAL" clId="{33452AE1-1FC9-4BBE-9DB0-5E4A9935B0AC}" dt="2026-07-08T13:26:16.792" v="1015" actId="478"/>
          <ac:spMkLst>
            <pc:docMk/>
            <pc:sldMk cId="3569709768" sldId="359"/>
            <ac:spMk id="2" creationId="{74054EE9-8349-4F29-A4EA-6CB393F15280}"/>
          </ac:spMkLst>
        </pc:spChg>
        <pc:spChg chg="mod">
          <ac:chgData name="Gashi, Bleron" userId="7c010833-4a17-45e8-9691-df0da442254f" providerId="ADAL" clId="{33452AE1-1FC9-4BBE-9DB0-5E4A9935B0AC}" dt="2026-07-08T13:27:46.830" v="1026" actId="108"/>
          <ac:spMkLst>
            <pc:docMk/>
            <pc:sldMk cId="3569709768" sldId="359"/>
            <ac:spMk id="3" creationId="{FF9E1EB0-C5DB-4551-A96F-5F1EB760904E}"/>
          </ac:spMkLst>
        </pc:spChg>
      </pc:sldChg>
      <pc:sldChg chg="delSp modSp mod">
        <pc:chgData name="Gashi, Bleron" userId="7c010833-4a17-45e8-9691-df0da442254f" providerId="ADAL" clId="{33452AE1-1FC9-4BBE-9DB0-5E4A9935B0AC}" dt="2026-07-08T13:27:51.762" v="1027" actId="108"/>
        <pc:sldMkLst>
          <pc:docMk/>
          <pc:sldMk cId="1438425356" sldId="360"/>
        </pc:sldMkLst>
        <pc:spChg chg="del">
          <ac:chgData name="Gashi, Bleron" userId="7c010833-4a17-45e8-9691-df0da442254f" providerId="ADAL" clId="{33452AE1-1FC9-4BBE-9DB0-5E4A9935B0AC}" dt="2026-07-08T13:26:28.244" v="1016" actId="478"/>
          <ac:spMkLst>
            <pc:docMk/>
            <pc:sldMk cId="1438425356" sldId="360"/>
            <ac:spMk id="2" creationId="{5CD669C0-8A57-46AA-9EF5-39893A3353C7}"/>
          </ac:spMkLst>
        </pc:spChg>
        <pc:spChg chg="mod">
          <ac:chgData name="Gashi, Bleron" userId="7c010833-4a17-45e8-9691-df0da442254f" providerId="ADAL" clId="{33452AE1-1FC9-4BBE-9DB0-5E4A9935B0AC}" dt="2026-07-08T13:27:51.762" v="1027" actId="108"/>
          <ac:spMkLst>
            <pc:docMk/>
            <pc:sldMk cId="1438425356" sldId="360"/>
            <ac:spMk id="3" creationId="{AE13FE1F-1131-4CB4-83F1-EA63DD1D8F6F}"/>
          </ac:spMkLst>
        </pc:spChg>
      </pc:sldChg>
      <pc:sldChg chg="delSp modSp mod">
        <pc:chgData name="Gashi, Bleron" userId="7c010833-4a17-45e8-9691-df0da442254f" providerId="ADAL" clId="{33452AE1-1FC9-4BBE-9DB0-5E4A9935B0AC}" dt="2026-07-08T13:27:53.982" v="1028" actId="108"/>
        <pc:sldMkLst>
          <pc:docMk/>
          <pc:sldMk cId="1147123217" sldId="361"/>
        </pc:sldMkLst>
        <pc:spChg chg="del">
          <ac:chgData name="Gashi, Bleron" userId="7c010833-4a17-45e8-9691-df0da442254f" providerId="ADAL" clId="{33452AE1-1FC9-4BBE-9DB0-5E4A9935B0AC}" dt="2026-07-08T13:26:30.961" v="1017" actId="478"/>
          <ac:spMkLst>
            <pc:docMk/>
            <pc:sldMk cId="1147123217" sldId="361"/>
            <ac:spMk id="2" creationId="{B1BA83CD-5DF2-4056-8605-60FAD014A613}"/>
          </ac:spMkLst>
        </pc:spChg>
        <pc:spChg chg="mod">
          <ac:chgData name="Gashi, Bleron" userId="7c010833-4a17-45e8-9691-df0da442254f" providerId="ADAL" clId="{33452AE1-1FC9-4BBE-9DB0-5E4A9935B0AC}" dt="2026-07-08T13:27:53.982" v="1028" actId="108"/>
          <ac:spMkLst>
            <pc:docMk/>
            <pc:sldMk cId="1147123217" sldId="361"/>
            <ac:spMk id="3" creationId="{F45293CD-6F90-4151-A98A-93999D0A724F}"/>
          </ac:spMkLst>
        </pc:spChg>
      </pc:sldChg>
      <pc:sldChg chg="delSp modSp mod">
        <pc:chgData name="Gashi, Bleron" userId="7c010833-4a17-45e8-9691-df0da442254f" providerId="ADAL" clId="{33452AE1-1FC9-4BBE-9DB0-5E4A9935B0AC}" dt="2026-07-08T13:27:55.980" v="1029" actId="108"/>
        <pc:sldMkLst>
          <pc:docMk/>
          <pc:sldMk cId="2374235558" sldId="362"/>
        </pc:sldMkLst>
        <pc:spChg chg="del">
          <ac:chgData name="Gashi, Bleron" userId="7c010833-4a17-45e8-9691-df0da442254f" providerId="ADAL" clId="{33452AE1-1FC9-4BBE-9DB0-5E4A9935B0AC}" dt="2026-07-08T13:26:34.276" v="1018" actId="478"/>
          <ac:spMkLst>
            <pc:docMk/>
            <pc:sldMk cId="2374235558" sldId="362"/>
            <ac:spMk id="2" creationId="{5CD669C0-8A57-46AA-9EF5-39893A3353C7}"/>
          </ac:spMkLst>
        </pc:spChg>
        <pc:spChg chg="mod">
          <ac:chgData name="Gashi, Bleron" userId="7c010833-4a17-45e8-9691-df0da442254f" providerId="ADAL" clId="{33452AE1-1FC9-4BBE-9DB0-5E4A9935B0AC}" dt="2026-07-08T13:27:55.980" v="1029" actId="108"/>
          <ac:spMkLst>
            <pc:docMk/>
            <pc:sldMk cId="2374235558" sldId="362"/>
            <ac:spMk id="3" creationId="{AE13FE1F-1131-4CB4-83F1-EA63DD1D8F6F}"/>
          </ac:spMkLst>
        </pc:spChg>
      </pc:sldChg>
      <pc:sldChg chg="delSp modSp mod">
        <pc:chgData name="Gashi, Bleron" userId="7c010833-4a17-45e8-9691-df0da442254f" providerId="ADAL" clId="{33452AE1-1FC9-4BBE-9DB0-5E4A9935B0AC}" dt="2026-07-08T13:28:03.559" v="1031" actId="108"/>
        <pc:sldMkLst>
          <pc:docMk/>
          <pc:sldMk cId="8078720" sldId="363"/>
        </pc:sldMkLst>
        <pc:spChg chg="del">
          <ac:chgData name="Gashi, Bleron" userId="7c010833-4a17-45e8-9691-df0da442254f" providerId="ADAL" clId="{33452AE1-1FC9-4BBE-9DB0-5E4A9935B0AC}" dt="2026-07-08T13:26:36.974" v="1019" actId="478"/>
          <ac:spMkLst>
            <pc:docMk/>
            <pc:sldMk cId="8078720" sldId="363"/>
            <ac:spMk id="2" creationId="{5CD669C0-8A57-46AA-9EF5-39893A3353C7}"/>
          </ac:spMkLst>
        </pc:spChg>
        <pc:spChg chg="mod">
          <ac:chgData name="Gashi, Bleron" userId="7c010833-4a17-45e8-9691-df0da442254f" providerId="ADAL" clId="{33452AE1-1FC9-4BBE-9DB0-5E4A9935B0AC}" dt="2026-07-08T13:28:03.559" v="1031" actId="108"/>
          <ac:spMkLst>
            <pc:docMk/>
            <pc:sldMk cId="8078720" sldId="363"/>
            <ac:spMk id="3" creationId="{AE13FE1F-1131-4CB4-83F1-EA63DD1D8F6F}"/>
          </ac:spMkLst>
        </pc:spChg>
      </pc:sldChg>
      <pc:sldChg chg="delSp modSp mod">
        <pc:chgData name="Gashi, Bleron" userId="7c010833-4a17-45e8-9691-df0da442254f" providerId="ADAL" clId="{33452AE1-1FC9-4BBE-9DB0-5E4A9935B0AC}" dt="2026-07-08T13:28:06.429" v="1032" actId="108"/>
        <pc:sldMkLst>
          <pc:docMk/>
          <pc:sldMk cId="3666289268" sldId="364"/>
        </pc:sldMkLst>
        <pc:spChg chg="del">
          <ac:chgData name="Gashi, Bleron" userId="7c010833-4a17-45e8-9691-df0da442254f" providerId="ADAL" clId="{33452AE1-1FC9-4BBE-9DB0-5E4A9935B0AC}" dt="2026-07-08T13:26:40.077" v="1020" actId="478"/>
          <ac:spMkLst>
            <pc:docMk/>
            <pc:sldMk cId="3666289268" sldId="364"/>
            <ac:spMk id="2" creationId="{5CD669C0-8A57-46AA-9EF5-39893A3353C7}"/>
          </ac:spMkLst>
        </pc:spChg>
        <pc:spChg chg="mod">
          <ac:chgData name="Gashi, Bleron" userId="7c010833-4a17-45e8-9691-df0da442254f" providerId="ADAL" clId="{33452AE1-1FC9-4BBE-9DB0-5E4A9935B0AC}" dt="2026-07-08T13:28:06.429" v="1032" actId="108"/>
          <ac:spMkLst>
            <pc:docMk/>
            <pc:sldMk cId="3666289268" sldId="364"/>
            <ac:spMk id="3" creationId="{AE13FE1F-1131-4CB4-83F1-EA63DD1D8F6F}"/>
          </ac:spMkLst>
        </pc:spChg>
      </pc:sldChg>
      <pc:sldChg chg="delSp modSp mod">
        <pc:chgData name="Gashi, Bleron" userId="7c010833-4a17-45e8-9691-df0da442254f" providerId="ADAL" clId="{33452AE1-1FC9-4BBE-9DB0-5E4A9935B0AC}" dt="2026-07-08T13:28:10.093" v="1033" actId="108"/>
        <pc:sldMkLst>
          <pc:docMk/>
          <pc:sldMk cId="2337056869" sldId="365"/>
        </pc:sldMkLst>
        <pc:spChg chg="del">
          <ac:chgData name="Gashi, Bleron" userId="7c010833-4a17-45e8-9691-df0da442254f" providerId="ADAL" clId="{33452AE1-1FC9-4BBE-9DB0-5E4A9935B0AC}" dt="2026-07-08T13:26:42.738" v="1021" actId="478"/>
          <ac:spMkLst>
            <pc:docMk/>
            <pc:sldMk cId="2337056869" sldId="365"/>
            <ac:spMk id="2" creationId="{5CD669C0-8A57-46AA-9EF5-39893A3353C7}"/>
          </ac:spMkLst>
        </pc:spChg>
        <pc:spChg chg="mod">
          <ac:chgData name="Gashi, Bleron" userId="7c010833-4a17-45e8-9691-df0da442254f" providerId="ADAL" clId="{33452AE1-1FC9-4BBE-9DB0-5E4A9935B0AC}" dt="2026-07-08T13:28:10.093" v="1033" actId="108"/>
          <ac:spMkLst>
            <pc:docMk/>
            <pc:sldMk cId="2337056869" sldId="365"/>
            <ac:spMk id="3" creationId="{AE13FE1F-1131-4CB4-83F1-EA63DD1D8F6F}"/>
          </ac:spMkLst>
        </pc:spChg>
      </pc:sldChg>
      <pc:sldChg chg="delSp modSp mod">
        <pc:chgData name="Gashi, Bleron" userId="7c010833-4a17-45e8-9691-df0da442254f" providerId="ADAL" clId="{33452AE1-1FC9-4BBE-9DB0-5E4A9935B0AC}" dt="2026-07-08T13:28:12.590" v="1034" actId="108"/>
        <pc:sldMkLst>
          <pc:docMk/>
          <pc:sldMk cId="2354189973" sldId="366"/>
        </pc:sldMkLst>
        <pc:spChg chg="del">
          <ac:chgData name="Gashi, Bleron" userId="7c010833-4a17-45e8-9691-df0da442254f" providerId="ADAL" clId="{33452AE1-1FC9-4BBE-9DB0-5E4A9935B0AC}" dt="2026-07-08T13:26:45.463" v="1022" actId="478"/>
          <ac:spMkLst>
            <pc:docMk/>
            <pc:sldMk cId="2354189973" sldId="366"/>
            <ac:spMk id="2" creationId="{5CD669C0-8A57-46AA-9EF5-39893A3353C7}"/>
          </ac:spMkLst>
        </pc:spChg>
        <pc:spChg chg="mod">
          <ac:chgData name="Gashi, Bleron" userId="7c010833-4a17-45e8-9691-df0da442254f" providerId="ADAL" clId="{33452AE1-1FC9-4BBE-9DB0-5E4A9935B0AC}" dt="2026-07-08T13:28:12.590" v="1034" actId="108"/>
          <ac:spMkLst>
            <pc:docMk/>
            <pc:sldMk cId="2354189973" sldId="366"/>
            <ac:spMk id="3" creationId="{AE13FE1F-1131-4CB4-83F1-EA63DD1D8F6F}"/>
          </ac:spMkLst>
        </pc:spChg>
      </pc:sldChg>
      <pc:sldChg chg="delSp modSp mod">
        <pc:chgData name="Gashi, Bleron" userId="7c010833-4a17-45e8-9691-df0da442254f" providerId="ADAL" clId="{33452AE1-1FC9-4BBE-9DB0-5E4A9935B0AC}" dt="2026-07-08T13:28:16.242" v="1035" actId="108"/>
        <pc:sldMkLst>
          <pc:docMk/>
          <pc:sldMk cId="3515811398" sldId="367"/>
        </pc:sldMkLst>
        <pc:spChg chg="del">
          <ac:chgData name="Gashi, Bleron" userId="7c010833-4a17-45e8-9691-df0da442254f" providerId="ADAL" clId="{33452AE1-1FC9-4BBE-9DB0-5E4A9935B0AC}" dt="2026-07-08T13:26:48.064" v="1023" actId="478"/>
          <ac:spMkLst>
            <pc:docMk/>
            <pc:sldMk cId="3515811398" sldId="367"/>
            <ac:spMk id="2" creationId="{5CD669C0-8A57-46AA-9EF5-39893A3353C7}"/>
          </ac:spMkLst>
        </pc:spChg>
        <pc:spChg chg="mod">
          <ac:chgData name="Gashi, Bleron" userId="7c010833-4a17-45e8-9691-df0da442254f" providerId="ADAL" clId="{33452AE1-1FC9-4BBE-9DB0-5E4A9935B0AC}" dt="2026-07-08T13:28:16.242" v="1035" actId="108"/>
          <ac:spMkLst>
            <pc:docMk/>
            <pc:sldMk cId="3515811398" sldId="367"/>
            <ac:spMk id="3" creationId="{AE13FE1F-1131-4CB4-83F1-EA63DD1D8F6F}"/>
          </ac:spMkLst>
        </pc:spChg>
      </pc:sldChg>
      <pc:sldChg chg="addSp delSp modSp add mod setBg">
        <pc:chgData name="Gashi, Bleron" userId="7c010833-4a17-45e8-9691-df0da442254f" providerId="ADAL" clId="{33452AE1-1FC9-4BBE-9DB0-5E4A9935B0AC}" dt="2026-07-08T13:23:14.872" v="976" actId="20577"/>
        <pc:sldMkLst>
          <pc:docMk/>
          <pc:sldMk cId="570519081" sldId="368"/>
        </pc:sldMkLst>
        <pc:spChg chg="mod">
          <ac:chgData name="Gashi, Bleron" userId="7c010833-4a17-45e8-9691-df0da442254f" providerId="ADAL" clId="{33452AE1-1FC9-4BBE-9DB0-5E4A9935B0AC}" dt="2026-07-06T10:37:49.551" v="916" actId="1036"/>
          <ac:spMkLst>
            <pc:docMk/>
            <pc:sldMk cId="570519081" sldId="368"/>
            <ac:spMk id="3" creationId="{311FB41B-92D6-4129-91D7-A5AF25CEB5FF}"/>
          </ac:spMkLst>
        </pc:spChg>
        <pc:spChg chg="add mod">
          <ac:chgData name="Gashi, Bleron" userId="7c010833-4a17-45e8-9691-df0da442254f" providerId="ADAL" clId="{33452AE1-1FC9-4BBE-9DB0-5E4A9935B0AC}" dt="2026-07-08T13:23:14.872" v="976" actId="20577"/>
          <ac:spMkLst>
            <pc:docMk/>
            <pc:sldMk cId="570519081" sldId="368"/>
            <ac:spMk id="59" creationId="{A00C52BE-81CB-01C1-D3F9-8D02AA2A777E}"/>
          </ac:spMkLst>
        </pc:spChg>
        <pc:spChg chg="add mod">
          <ac:chgData name="Gashi, Bleron" userId="7c010833-4a17-45e8-9691-df0da442254f" providerId="ADAL" clId="{33452AE1-1FC9-4BBE-9DB0-5E4A9935B0AC}" dt="2026-07-06T10:41:23.571" v="963" actId="20577"/>
          <ac:spMkLst>
            <pc:docMk/>
            <pc:sldMk cId="570519081" sldId="368"/>
            <ac:spMk id="60" creationId="{D6CCE0FA-E693-41CB-44A8-511C2C42758B}"/>
          </ac:spMkLst>
        </pc:spChg>
      </pc:sldChg>
    </pc:docChg>
  </pc:docChgLst>
  <pc:docChgLst>
    <pc:chgData name="Alsadakah, Dani" userId="S::dani.alsadakah@study.hs-duesseldorf.de::15295a0b-9586-497d-a928-44476d0b7c74" providerId="AD" clId="Web-{A7A80382-FBDC-4E07-2A43-31888EDD3300}"/>
    <pc:docChg chg="modSld">
      <pc:chgData name="Alsadakah, Dani" userId="S::dani.alsadakah@study.hs-duesseldorf.de::15295a0b-9586-497d-a928-44476d0b7c74" providerId="AD" clId="Web-{A7A80382-FBDC-4E07-2A43-31888EDD3300}" dt="2026-07-08T20:22:01.142" v="6" actId="20577"/>
      <pc:docMkLst>
        <pc:docMk/>
      </pc:docMkLst>
      <pc:sldChg chg="modSp">
        <pc:chgData name="Alsadakah, Dani" userId="S::dani.alsadakah@study.hs-duesseldorf.de::15295a0b-9586-497d-a928-44476d0b7c74" providerId="AD" clId="Web-{A7A80382-FBDC-4E07-2A43-31888EDD3300}" dt="2026-07-08T20:21:35.563" v="3" actId="20577"/>
        <pc:sldMkLst>
          <pc:docMk/>
          <pc:sldMk cId="1673877571" sldId="337"/>
        </pc:sldMkLst>
        <pc:spChg chg="mod">
          <ac:chgData name="Alsadakah, Dani" userId="S::dani.alsadakah@study.hs-duesseldorf.de::15295a0b-9586-497d-a928-44476d0b7c74" providerId="AD" clId="Web-{A7A80382-FBDC-4E07-2A43-31888EDD3300}" dt="2026-07-08T20:21:35.563" v="3" actId="20577"/>
          <ac:spMkLst>
            <pc:docMk/>
            <pc:sldMk cId="1673877571" sldId="337"/>
            <ac:spMk id="2" creationId="{00000000-0000-0000-0000-000000000000}"/>
          </ac:spMkLst>
        </pc:spChg>
        <pc:spChg chg="mod">
          <ac:chgData name="Alsadakah, Dani" userId="S::dani.alsadakah@study.hs-duesseldorf.de::15295a0b-9586-497d-a928-44476d0b7c74" providerId="AD" clId="Web-{A7A80382-FBDC-4E07-2A43-31888EDD3300}" dt="2026-07-08T20:21:29.922" v="1" actId="20577"/>
          <ac:spMkLst>
            <pc:docMk/>
            <pc:sldMk cId="1673877571" sldId="337"/>
            <ac:spMk id="8" creationId="{00000000-0000-0000-0000-000000000000}"/>
          </ac:spMkLst>
        </pc:spChg>
      </pc:sldChg>
      <pc:sldChg chg="modSp">
        <pc:chgData name="Alsadakah, Dani" userId="S::dani.alsadakah@study.hs-duesseldorf.de::15295a0b-9586-497d-a928-44476d0b7c74" providerId="AD" clId="Web-{A7A80382-FBDC-4E07-2A43-31888EDD3300}" dt="2026-07-08T20:22:01.142" v="6" actId="20577"/>
        <pc:sldMkLst>
          <pc:docMk/>
          <pc:sldMk cId="267037709" sldId="342"/>
        </pc:sldMkLst>
        <pc:spChg chg="mod">
          <ac:chgData name="Alsadakah, Dani" userId="S::dani.alsadakah@study.hs-duesseldorf.de::15295a0b-9586-497d-a928-44476d0b7c74" providerId="AD" clId="Web-{A7A80382-FBDC-4E07-2A43-31888EDD3300}" dt="2026-07-08T20:22:01.142" v="6" actId="20577"/>
          <ac:spMkLst>
            <pc:docMk/>
            <pc:sldMk cId="267037709" sldId="342"/>
            <ac:spMk id="16" creationId="{00000000-0000-0000-0000-000000000000}"/>
          </ac:spMkLst>
        </pc:spChg>
      </pc:sldChg>
    </pc:docChg>
  </pc:docChgLst>
  <pc:docChgLst>
    <pc:chgData name="Alsadakah, Dani" userId="S::dani.alsadakah@study.hs-duesseldorf.de::15295a0b-9586-497d-a928-44476d0b7c74" providerId="AD" clId="Web-{6A5A9F46-19F8-1505-D6DE-1E1F10D26DA4}"/>
    <pc:docChg chg="addSld modSld">
      <pc:chgData name="Alsadakah, Dani" userId="S::dani.alsadakah@study.hs-duesseldorf.de::15295a0b-9586-497d-a928-44476d0b7c74" providerId="AD" clId="Web-{6A5A9F46-19F8-1505-D6DE-1E1F10D26DA4}" dt="2026-07-04T09:53:43.207" v="9"/>
      <pc:docMkLst>
        <pc:docMk/>
      </pc:docMkLst>
      <pc:sldChg chg="modSp">
        <pc:chgData name="Alsadakah, Dani" userId="S::dani.alsadakah@study.hs-duesseldorf.de::15295a0b-9586-497d-a928-44476d0b7c74" providerId="AD" clId="Web-{6A5A9F46-19F8-1505-D6DE-1E1F10D26DA4}" dt="2026-07-04T09:47:15.739" v="0" actId="1076"/>
        <pc:sldMkLst>
          <pc:docMk/>
          <pc:sldMk cId="1775935088" sldId="340"/>
        </pc:sldMkLst>
        <pc:spChg chg="mod">
          <ac:chgData name="Alsadakah, Dani" userId="S::dani.alsadakah@study.hs-duesseldorf.de::15295a0b-9586-497d-a928-44476d0b7c74" providerId="AD" clId="Web-{6A5A9F46-19F8-1505-D6DE-1E1F10D26DA4}" dt="2026-07-04T09:47:15.739" v="0" actId="1076"/>
          <ac:spMkLst>
            <pc:docMk/>
            <pc:sldMk cId="1775935088" sldId="340"/>
            <ac:spMk id="10" creationId="{00000000-0000-0000-0000-000000000000}"/>
          </ac:spMkLst>
        </pc:spChg>
      </pc:sldChg>
      <pc:sldChg chg="delSp">
        <pc:chgData name="Alsadakah, Dani" userId="S::dani.alsadakah@study.hs-duesseldorf.de::15295a0b-9586-497d-a928-44476d0b7c74" providerId="AD" clId="Web-{6A5A9F46-19F8-1505-D6DE-1E1F10D26DA4}" dt="2026-07-04T09:52:39.330" v="3"/>
        <pc:sldMkLst>
          <pc:docMk/>
          <pc:sldMk cId="267037709" sldId="342"/>
        </pc:sldMkLst>
      </pc:sldChg>
      <pc:sldChg chg="add">
        <pc:chgData name="Alsadakah, Dani" userId="S::dani.alsadakah@study.hs-duesseldorf.de::15295a0b-9586-497d-a928-44476d0b7c74" providerId="AD" clId="Web-{6A5A9F46-19F8-1505-D6DE-1E1F10D26DA4}" dt="2026-07-04T09:51:02.638" v="1"/>
        <pc:sldMkLst>
          <pc:docMk/>
          <pc:sldMk cId="2643055258" sldId="343"/>
        </pc:sldMkLst>
      </pc:sldChg>
    </pc:docChg>
  </pc:docChgLst>
  <pc:docChgLst>
    <pc:chgData name="Ben Romdhane, Eya" userId="S::eya.benromdhane@study.hs-duesseldorf.de::60048e57-a9a3-4011-9387-1ae00cc1a133" providerId="AD" clId="Web-{1D2637DD-77C9-971D-A008-8DB16204658A}"/>
    <pc:docChg chg="modSld">
      <pc:chgData name="Ben Romdhane, Eya" userId="S::eya.benromdhane@study.hs-duesseldorf.de::60048e57-a9a3-4011-9387-1ae00cc1a133" providerId="AD" clId="Web-{1D2637DD-77C9-971D-A008-8DB16204658A}" dt="2026-07-07T19:03:15.710" v="90" actId="14100"/>
      <pc:docMkLst>
        <pc:docMk/>
      </pc:docMkLst>
      <pc:sldChg chg="addSp delSp modSp">
        <pc:chgData name="Ben Romdhane, Eya" userId="S::eya.benromdhane@study.hs-duesseldorf.de::60048e57-a9a3-4011-9387-1ae00cc1a133" providerId="AD" clId="Web-{1D2637DD-77C9-971D-A008-8DB16204658A}" dt="2026-07-07T18:47:23.546" v="11" actId="20577"/>
        <pc:sldMkLst>
          <pc:docMk/>
          <pc:sldMk cId="0" sldId="258"/>
        </pc:sldMkLst>
        <pc:spChg chg="mod">
          <ac:chgData name="Ben Romdhane, Eya" userId="S::eya.benromdhane@study.hs-duesseldorf.de::60048e57-a9a3-4011-9387-1ae00cc1a133" providerId="AD" clId="Web-{1D2637DD-77C9-971D-A008-8DB16204658A}" dt="2026-07-07T18:47:23.546" v="11" actId="20577"/>
          <ac:spMkLst>
            <pc:docMk/>
            <pc:sldMk cId="0" sldId="258"/>
            <ac:spMk id="18" creationId="{00000000-0000-0000-0000-000000000000}"/>
          </ac:spMkLst>
        </pc:spChg>
        <pc:spChg chg="mod">
          <ac:chgData name="Ben Romdhane, Eya" userId="S::eya.benromdhane@study.hs-duesseldorf.de::60048e57-a9a3-4011-9387-1ae00cc1a133" providerId="AD" clId="Web-{1D2637DD-77C9-971D-A008-8DB16204658A}" dt="2026-07-07T18:47:15.389" v="6" actId="20577"/>
          <ac:spMkLst>
            <pc:docMk/>
            <pc:sldMk cId="0" sldId="258"/>
            <ac:spMk id="22" creationId="{00000000-0000-0000-0000-000000000000}"/>
          </ac:spMkLst>
        </pc:spChg>
        <pc:picChg chg="add mod">
          <ac:chgData name="Ben Romdhane, Eya" userId="S::eya.benromdhane@study.hs-duesseldorf.de::60048e57-a9a3-4011-9387-1ae00cc1a133" providerId="AD" clId="Web-{1D2637DD-77C9-971D-A008-8DB16204658A}" dt="2026-07-07T18:46:37.591" v="4" actId="1076"/>
          <ac:picMkLst>
            <pc:docMk/>
            <pc:sldMk cId="0" sldId="258"/>
            <ac:picMk id="2" creationId="{5C77600D-5266-A27C-D7EF-6BF453F90E23}"/>
          </ac:picMkLst>
        </pc:picChg>
        <pc:picChg chg="del">
          <ac:chgData name="Ben Romdhane, Eya" userId="S::eya.benromdhane@study.hs-duesseldorf.de::60048e57-a9a3-4011-9387-1ae00cc1a133" providerId="AD" clId="Web-{1D2637DD-77C9-971D-A008-8DB16204658A}" dt="2026-07-07T18:46:32.106" v="2"/>
          <ac:picMkLst>
            <pc:docMk/>
            <pc:sldMk cId="0" sldId="258"/>
            <ac:picMk id="28" creationId="{00000000-0000-0000-0000-000000000000}"/>
          </ac:picMkLst>
        </pc:picChg>
      </pc:sldChg>
      <pc:sldChg chg="modSp">
        <pc:chgData name="Ben Romdhane, Eya" userId="S::eya.benromdhane@study.hs-duesseldorf.de::60048e57-a9a3-4011-9387-1ae00cc1a133" providerId="AD" clId="Web-{1D2637DD-77C9-971D-A008-8DB16204658A}" dt="2026-07-07T18:55:21.190" v="80" actId="20577"/>
        <pc:sldMkLst>
          <pc:docMk/>
          <pc:sldMk cId="0" sldId="265"/>
        </pc:sldMkLst>
        <pc:spChg chg="mod">
          <ac:chgData name="Ben Romdhane, Eya" userId="S::eya.benromdhane@study.hs-duesseldorf.de::60048e57-a9a3-4011-9387-1ae00cc1a133" providerId="AD" clId="Web-{1D2637DD-77C9-971D-A008-8DB16204658A}" dt="2026-07-07T18:55:21.190" v="80" actId="20577"/>
          <ac:spMkLst>
            <pc:docMk/>
            <pc:sldMk cId="0" sldId="265"/>
            <ac:spMk id="10" creationId="{00000000-0000-0000-0000-000000000000}"/>
          </ac:spMkLst>
        </pc:spChg>
        <pc:spChg chg="mod">
          <ac:chgData name="Ben Romdhane, Eya" userId="S::eya.benromdhane@study.hs-duesseldorf.de::60048e57-a9a3-4011-9387-1ae00cc1a133" providerId="AD" clId="Web-{1D2637DD-77C9-971D-A008-8DB16204658A}" dt="2026-07-07T18:54:56.345" v="76" actId="20577"/>
          <ac:spMkLst>
            <pc:docMk/>
            <pc:sldMk cId="0" sldId="265"/>
            <ac:spMk id="19" creationId="{00000000-0000-0000-0000-000000000000}"/>
          </ac:spMkLst>
        </pc:spChg>
      </pc:sldChg>
      <pc:sldChg chg="addSp delSp modSp">
        <pc:chgData name="Ben Romdhane, Eya" userId="S::eya.benromdhane@study.hs-duesseldorf.de::60048e57-a9a3-4011-9387-1ae00cc1a133" providerId="AD" clId="Web-{1D2637DD-77C9-971D-A008-8DB16204658A}" dt="2026-07-07T19:03:15.710" v="90" actId="14100"/>
        <pc:sldMkLst>
          <pc:docMk/>
          <pc:sldMk cId="0" sldId="321"/>
        </pc:sldMkLst>
        <pc:spChg chg="mod">
          <ac:chgData name="Ben Romdhane, Eya" userId="S::eya.benromdhane@study.hs-duesseldorf.de::60048e57-a9a3-4011-9387-1ae00cc1a133" providerId="AD" clId="Web-{1D2637DD-77C9-971D-A008-8DB16204658A}" dt="2026-07-07T18:50:05.302" v="25" actId="20577"/>
          <ac:spMkLst>
            <pc:docMk/>
            <pc:sldMk cId="0" sldId="321"/>
            <ac:spMk id="4" creationId="{00000000-0000-0000-0000-000000000000}"/>
          </ac:spMkLst>
        </pc:spChg>
        <pc:spChg chg="mod">
          <ac:chgData name="Ben Romdhane, Eya" userId="S::eya.benromdhane@study.hs-duesseldorf.de::60048e57-a9a3-4011-9387-1ae00cc1a133" providerId="AD" clId="Web-{1D2637DD-77C9-971D-A008-8DB16204658A}" dt="2026-07-07T18:50:07.396" v="29" actId="20577"/>
          <ac:spMkLst>
            <pc:docMk/>
            <pc:sldMk cId="0" sldId="321"/>
            <ac:spMk id="11" creationId="{00000000-0000-0000-0000-000000000000}"/>
          </ac:spMkLst>
        </pc:spChg>
        <pc:spChg chg="mod">
          <ac:chgData name="Ben Romdhane, Eya" userId="S::eya.benromdhane@study.hs-duesseldorf.de::60048e57-a9a3-4011-9387-1ae00cc1a133" providerId="AD" clId="Web-{1D2637DD-77C9-971D-A008-8DB16204658A}" dt="2026-07-07T18:50:16.303" v="31" actId="20577"/>
          <ac:spMkLst>
            <pc:docMk/>
            <pc:sldMk cId="0" sldId="321"/>
            <ac:spMk id="19" creationId="{00000000-0000-0000-0000-000000000000}"/>
          </ac:spMkLst>
        </pc:spChg>
        <pc:spChg chg="mod">
          <ac:chgData name="Ben Romdhane, Eya" userId="S::eya.benromdhane@study.hs-duesseldorf.de::60048e57-a9a3-4011-9387-1ae00cc1a133" providerId="AD" clId="Web-{1D2637DD-77C9-971D-A008-8DB16204658A}" dt="2026-07-07T18:52:01.494" v="46" actId="1076"/>
          <ac:spMkLst>
            <pc:docMk/>
            <pc:sldMk cId="0" sldId="321"/>
            <ac:spMk id="24" creationId="{00000000-0000-0000-0000-000000000000}"/>
          </ac:spMkLst>
        </pc:spChg>
        <pc:picChg chg="add mod">
          <ac:chgData name="Ben Romdhane, Eya" userId="S::eya.benromdhane@study.hs-duesseldorf.de::60048e57-a9a3-4011-9387-1ae00cc1a133" providerId="AD" clId="Web-{1D2637DD-77C9-971D-A008-8DB16204658A}" dt="2026-07-07T18:50:24.475" v="32" actId="14100"/>
          <ac:picMkLst>
            <pc:docMk/>
            <pc:sldMk cId="0" sldId="321"/>
            <ac:picMk id="2" creationId="{79FE21F4-8669-4148-673D-426C57BF73FD}"/>
          </ac:picMkLst>
        </pc:picChg>
        <pc:picChg chg="del">
          <ac:chgData name="Ben Romdhane, Eya" userId="S::eya.benromdhane@study.hs-duesseldorf.de::60048e57-a9a3-4011-9387-1ae00cc1a133" providerId="AD" clId="Web-{1D2637DD-77C9-971D-A008-8DB16204658A}" dt="2026-07-07T18:49:40.692" v="16"/>
          <ac:picMkLst>
            <pc:docMk/>
            <pc:sldMk cId="0" sldId="321"/>
            <ac:picMk id="8" creationId="{00000000-0000-0000-0000-000000000000}"/>
          </ac:picMkLst>
        </pc:picChg>
        <pc:picChg chg="add mod">
          <ac:chgData name="Ben Romdhane, Eya" userId="S::eya.benromdhane@study.hs-duesseldorf.de::60048e57-a9a3-4011-9387-1ae00cc1a133" providerId="AD" clId="Web-{1D2637DD-77C9-971D-A008-8DB16204658A}" dt="2026-07-07T19:03:15.710" v="90" actId="14100"/>
          <ac:picMkLst>
            <pc:docMk/>
            <pc:sldMk cId="0" sldId="321"/>
            <ac:picMk id="13" creationId="{E1729BE7-64B3-511D-5810-5CEB27CE3131}"/>
          </ac:picMkLst>
        </pc:picChg>
        <pc:picChg chg="del">
          <ac:chgData name="Ben Romdhane, Eya" userId="S::eya.benromdhane@study.hs-duesseldorf.de::60048e57-a9a3-4011-9387-1ae00cc1a133" providerId="AD" clId="Web-{1D2637DD-77C9-971D-A008-8DB16204658A}" dt="2026-07-07T18:51:45.337" v="44"/>
          <ac:picMkLst>
            <pc:docMk/>
            <pc:sldMk cId="0" sldId="321"/>
            <ac:picMk id="21" creationId="{00000000-0000-0000-0000-000000000000}"/>
          </ac:picMkLst>
        </pc:picChg>
      </pc:sldChg>
      <pc:sldChg chg="addSp delSp modSp">
        <pc:chgData name="Ben Romdhane, Eya" userId="S::eya.benromdhane@study.hs-duesseldorf.de::60048e57-a9a3-4011-9387-1ae00cc1a133" providerId="AD" clId="Web-{1D2637DD-77C9-971D-A008-8DB16204658A}" dt="2026-07-07T18:54:13.703" v="68" actId="1076"/>
        <pc:sldMkLst>
          <pc:docMk/>
          <pc:sldMk cId="0" sldId="322"/>
        </pc:sldMkLst>
        <pc:spChg chg="mod">
          <ac:chgData name="Ben Romdhane, Eya" userId="S::eya.benromdhane@study.hs-duesseldorf.de::60048e57-a9a3-4011-9387-1ae00cc1a133" providerId="AD" clId="Web-{1D2637DD-77C9-971D-A008-8DB16204658A}" dt="2026-07-07T18:53:15.013" v="57" actId="20577"/>
          <ac:spMkLst>
            <pc:docMk/>
            <pc:sldMk cId="0" sldId="322"/>
            <ac:spMk id="4" creationId="{00000000-0000-0000-0000-000000000000}"/>
          </ac:spMkLst>
        </pc:spChg>
        <pc:spChg chg="mod">
          <ac:chgData name="Ben Romdhane, Eya" userId="S::eya.benromdhane@study.hs-duesseldorf.de::60048e57-a9a3-4011-9387-1ae00cc1a133" providerId="AD" clId="Web-{1D2637DD-77C9-971D-A008-8DB16204658A}" dt="2026-07-07T18:52:27.995" v="48" actId="20577"/>
          <ac:spMkLst>
            <pc:docMk/>
            <pc:sldMk cId="0" sldId="322"/>
            <ac:spMk id="10" creationId="{00000000-0000-0000-0000-000000000000}"/>
          </ac:spMkLst>
        </pc:spChg>
        <pc:spChg chg="mod">
          <ac:chgData name="Ben Romdhane, Eya" userId="S::eya.benromdhane@study.hs-duesseldorf.de::60048e57-a9a3-4011-9387-1ae00cc1a133" providerId="AD" clId="Web-{1D2637DD-77C9-971D-A008-8DB16204658A}" dt="2026-07-07T18:52:34.089" v="50" actId="20577"/>
          <ac:spMkLst>
            <pc:docMk/>
            <pc:sldMk cId="0" sldId="322"/>
            <ac:spMk id="14" creationId="{00000000-0000-0000-0000-000000000000}"/>
          </ac:spMkLst>
        </pc:spChg>
        <pc:picChg chg="add mod">
          <ac:chgData name="Ben Romdhane, Eya" userId="S::eya.benromdhane@study.hs-duesseldorf.de::60048e57-a9a3-4011-9387-1ae00cc1a133" providerId="AD" clId="Web-{1D2637DD-77C9-971D-A008-8DB16204658A}" dt="2026-07-07T18:53:47.936" v="61" actId="14100"/>
          <ac:picMkLst>
            <pc:docMk/>
            <pc:sldMk cId="0" sldId="322"/>
            <ac:picMk id="2" creationId="{DD7C6ACF-B847-F88A-9C17-8F585E57C067}"/>
          </ac:picMkLst>
        </pc:picChg>
        <pc:picChg chg="del">
          <ac:chgData name="Ben Romdhane, Eya" userId="S::eya.benromdhane@study.hs-duesseldorf.de::60048e57-a9a3-4011-9387-1ae00cc1a133" providerId="AD" clId="Web-{1D2637DD-77C9-971D-A008-8DB16204658A}" dt="2026-07-07T18:53:43.014" v="60"/>
          <ac:picMkLst>
            <pc:docMk/>
            <pc:sldMk cId="0" sldId="322"/>
            <ac:picMk id="19" creationId="{00000000-0000-0000-0000-000000000000}"/>
          </ac:picMkLst>
        </pc:picChg>
        <pc:picChg chg="del">
          <ac:chgData name="Ben Romdhane, Eya" userId="S::eya.benromdhane@study.hs-duesseldorf.de::60048e57-a9a3-4011-9387-1ae00cc1a133" providerId="AD" clId="Web-{1D2637DD-77C9-971D-A008-8DB16204658A}" dt="2026-07-07T18:54:06.703" v="65"/>
          <ac:picMkLst>
            <pc:docMk/>
            <pc:sldMk cId="0" sldId="322"/>
            <ac:picMk id="20" creationId="{00000000-0000-0000-0000-000000000000}"/>
          </ac:picMkLst>
        </pc:picChg>
        <pc:picChg chg="add mod">
          <ac:chgData name="Ben Romdhane, Eya" userId="S::eya.benromdhane@study.hs-duesseldorf.de::60048e57-a9a3-4011-9387-1ae00cc1a133" providerId="AD" clId="Web-{1D2637DD-77C9-971D-A008-8DB16204658A}" dt="2026-07-07T18:54:13.703" v="68" actId="1076"/>
          <ac:picMkLst>
            <pc:docMk/>
            <pc:sldMk cId="0" sldId="322"/>
            <ac:picMk id="23" creationId="{17A865B9-4FE7-6A44-55B7-EE90CCAD8F37}"/>
          </ac:picMkLst>
        </pc:picChg>
      </pc:sldChg>
      <pc:sldChg chg="modSp">
        <pc:chgData name="Ben Romdhane, Eya" userId="S::eya.benromdhane@study.hs-duesseldorf.de::60048e57-a9a3-4011-9387-1ae00cc1a133" providerId="AD" clId="Web-{1D2637DD-77C9-971D-A008-8DB16204658A}" dt="2026-07-07T19:01:46.785" v="88" actId="20577"/>
        <pc:sldMkLst>
          <pc:docMk/>
          <pc:sldMk cId="1213176608" sldId="336"/>
        </pc:sldMkLst>
        <pc:spChg chg="mod">
          <ac:chgData name="Ben Romdhane, Eya" userId="S::eya.benromdhane@study.hs-duesseldorf.de::60048e57-a9a3-4011-9387-1ae00cc1a133" providerId="AD" clId="Web-{1D2637DD-77C9-971D-A008-8DB16204658A}" dt="2026-07-07T19:01:46.785" v="88" actId="20577"/>
          <ac:spMkLst>
            <pc:docMk/>
            <pc:sldMk cId="1213176608" sldId="336"/>
            <ac:spMk id="53" creationId="{7975FA09-AC8A-DE3E-2E28-8F8FEF1E0362}"/>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Baseline (vor Stress)</c:v>
                </c:pt>
              </c:strCache>
            </c:strRef>
          </c:tx>
          <c:spPr>
            <a:solidFill>
              <a:srgbClr val="16243F"/>
            </a:solidFill>
            <a:effectLst/>
          </c:spPr>
          <c:invertIfNegative val="0"/>
          <c:cat>
            <c:strRef>
              <c:f>Sheet1!$A$2:$A$11</c:f>
              <c:strCache>
                <c:ptCount val="10"/>
                <c:pt idx="0">
                  <c:v>Groupe BPCE</c:v>
                </c:pt>
                <c:pt idx="1">
                  <c:v>Groupe Crédit Agricole</c:v>
                </c:pt>
                <c:pt idx="2">
                  <c:v>Deutsche Bank AG</c:v>
                </c:pt>
                <c:pt idx="3">
                  <c:v>Banco Santander</c:v>
                </c:pt>
                <c:pt idx="4">
                  <c:v>BNP Paribas</c:v>
                </c:pt>
                <c:pt idx="5">
                  <c:v>ING Groep N.V.</c:v>
                </c:pt>
                <c:pt idx="6">
                  <c:v>Coöperatieve Rabobank</c:v>
                </c:pt>
                <c:pt idx="7">
                  <c:v>Société Générale</c:v>
                </c:pt>
                <c:pt idx="8">
                  <c:v>Crédit Mutuel</c:v>
                </c:pt>
                <c:pt idx="9">
                  <c:v>UniCredit</c:v>
                </c:pt>
              </c:strCache>
            </c:strRef>
          </c:cat>
          <c:val>
            <c:numRef>
              <c:f>Sheet1!$B$2:$B$11</c:f>
              <c:numCache>
                <c:formatCode>General</c:formatCode>
                <c:ptCount val="10"/>
                <c:pt idx="0">
                  <c:v>36.299999999999997</c:v>
                </c:pt>
                <c:pt idx="1">
                  <c:v>16.8</c:v>
                </c:pt>
                <c:pt idx="2">
                  <c:v>16.2</c:v>
                </c:pt>
                <c:pt idx="3">
                  <c:v>14.1</c:v>
                </c:pt>
                <c:pt idx="4">
                  <c:v>12.3</c:v>
                </c:pt>
                <c:pt idx="5">
                  <c:v>10.9</c:v>
                </c:pt>
                <c:pt idx="6">
                  <c:v>9.6999999999999993</c:v>
                </c:pt>
                <c:pt idx="7">
                  <c:v>6.4</c:v>
                </c:pt>
                <c:pt idx="8">
                  <c:v>4.0999999999999996</c:v>
                </c:pt>
                <c:pt idx="9">
                  <c:v>4.0999999999999996</c:v>
                </c:pt>
              </c:numCache>
            </c:numRef>
          </c:val>
          <c:extLst>
            <c:ext xmlns:c16="http://schemas.microsoft.com/office/drawing/2014/chart" uri="{C3380CC4-5D6E-409C-BE32-E72D297353CC}">
              <c16:uniqueId val="{00000000-DFA5-4116-AAAA-23F9C5231C74}"/>
            </c:ext>
          </c:extLst>
        </c:ser>
        <c:ser>
          <c:idx val="1"/>
          <c:order val="1"/>
          <c:tx>
            <c:strRef>
              <c:f>Sheet1!$C$1</c:f>
              <c:strCache>
                <c:ptCount val="1"/>
                <c:pt idx="0">
                  <c:v>Stress (nach Schock)</c:v>
                </c:pt>
              </c:strCache>
            </c:strRef>
          </c:tx>
          <c:spPr>
            <a:solidFill>
              <a:srgbClr val="9B1B30"/>
            </a:solidFill>
            <a:effectLst/>
          </c:spPr>
          <c:invertIfNegative val="0"/>
          <c:cat>
            <c:strRef>
              <c:f>Sheet1!$A$2:$A$11</c:f>
              <c:strCache>
                <c:ptCount val="10"/>
                <c:pt idx="0">
                  <c:v>Groupe BPCE</c:v>
                </c:pt>
                <c:pt idx="1">
                  <c:v>Groupe Crédit Agricole</c:v>
                </c:pt>
                <c:pt idx="2">
                  <c:v>Deutsche Bank AG</c:v>
                </c:pt>
                <c:pt idx="3">
                  <c:v>Banco Santander</c:v>
                </c:pt>
                <c:pt idx="4">
                  <c:v>BNP Paribas</c:v>
                </c:pt>
                <c:pt idx="5">
                  <c:v>ING Groep N.V.</c:v>
                </c:pt>
                <c:pt idx="6">
                  <c:v>Coöperatieve Rabobank</c:v>
                </c:pt>
                <c:pt idx="7">
                  <c:v>Société Générale</c:v>
                </c:pt>
                <c:pt idx="8">
                  <c:v>Crédit Mutuel</c:v>
                </c:pt>
                <c:pt idx="9">
                  <c:v>UniCredit</c:v>
                </c:pt>
              </c:strCache>
            </c:strRef>
          </c:cat>
          <c:val>
            <c:numRef>
              <c:f>Sheet1!$C$2:$C$11</c:f>
              <c:numCache>
                <c:formatCode>General</c:formatCode>
                <c:ptCount val="10"/>
                <c:pt idx="0">
                  <c:v>39.9</c:v>
                </c:pt>
                <c:pt idx="1">
                  <c:v>20.3</c:v>
                </c:pt>
                <c:pt idx="2">
                  <c:v>18.3</c:v>
                </c:pt>
                <c:pt idx="3">
                  <c:v>16.3</c:v>
                </c:pt>
                <c:pt idx="4">
                  <c:v>14.8</c:v>
                </c:pt>
                <c:pt idx="5">
                  <c:v>13</c:v>
                </c:pt>
                <c:pt idx="6">
                  <c:v>11.4</c:v>
                </c:pt>
                <c:pt idx="7">
                  <c:v>7.6</c:v>
                </c:pt>
                <c:pt idx="8">
                  <c:v>5.4</c:v>
                </c:pt>
                <c:pt idx="9">
                  <c:v>5</c:v>
                </c:pt>
              </c:numCache>
            </c:numRef>
          </c:val>
          <c:extLst>
            <c:ext xmlns:c16="http://schemas.microsoft.com/office/drawing/2014/chart" uri="{C3380CC4-5D6E-409C-BE32-E72D297353CC}">
              <c16:uniqueId val="{00000001-DFA5-4116-AAAA-23F9C5231C74}"/>
            </c:ext>
          </c:extLst>
        </c:ser>
        <c:dLbls>
          <c:showLegendKey val="0"/>
          <c:showVal val="0"/>
          <c:showCatName val="0"/>
          <c:showSerName val="0"/>
          <c:showPercent val="0"/>
          <c:showBubbleSize val="0"/>
        </c:dLbls>
        <c:gapWidth val="35"/>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5B6478"/>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E2E8F0"/>
              </a:solidFill>
              <a:prstDash val="solid"/>
              <a:round/>
            </a:ln>
          </c:spPr>
        </c:majorGridlines>
        <c:title>
          <c:tx>
            <c:rich>
              <a:bodyPr/>
              <a:lstStyle/>
              <a:p>
                <a:pPr>
                  <a:defRPr sz="1000" b="0" i="0" u="none" strike="noStrike">
                    <a:solidFill>
                      <a:srgbClr val="5B6478"/>
                    </a:solidFill>
                    <a:latin typeface="Arial"/>
                  </a:defRPr>
                </a:pPr>
                <a:r>
                  <a:rPr lang="de-DE" sz="1000" b="0" i="0" u="none" strike="noStrike">
                    <a:solidFill>
                      <a:srgbClr val="5B6478"/>
                    </a:solidFill>
                    <a:latin typeface="Arial"/>
                  </a:rPr>
                  <a:t>Expected Loss [Mrd. EUR]</a:t>
                </a:r>
              </a:p>
            </c:rich>
          </c:tx>
          <c:overlay val="0"/>
        </c:title>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5B6478"/>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100">
              <a:solidFill>
                <a:srgbClr val="1A1A1A"/>
              </a:solidFill>
              <a:latin typeface="Aptos" panose="020B0004020202020204" pitchFamily="34" charset="0"/>
            </a:defRPr>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K</c:v>
                </c:pt>
              </c:strCache>
            </c:strRef>
          </c:tx>
          <c:spPr>
            <a:solidFill>
              <a:srgbClr val="C0504D"/>
            </a:solidFill>
            <a:effectLst/>
          </c:spPr>
          <c:invertIfNegative val="0"/>
          <c:dLbls>
            <c:numFmt formatCode="#,##0" sourceLinked="0"/>
            <c:spPr>
              <a:noFill/>
              <a:ln>
                <a:noFill/>
              </a:ln>
              <a:effectLst/>
            </c:spPr>
            <c:txPr>
              <a:bodyPr/>
              <a:lstStyle/>
              <a:p>
                <a:pPr>
                  <a:defRPr sz="1100" b="0" i="0" u="none" strike="noStrike">
                    <a:solidFill>
                      <a:srgbClr val="1A1A1A"/>
                    </a:solidFill>
                    <a:latin typeface="Aptos" panose="020B0004020202020204" pitchFamily="34" charset="0"/>
                  </a:defRPr>
                </a:pPr>
                <a:endParaRPr lang="de-DE"/>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K base</c:v>
                </c:pt>
                <c:pt idx="1">
                  <c:v>+ Δ PD-shift</c:v>
                </c:pt>
                <c:pt idx="2">
                  <c:v>+ Δ LGD-shift</c:v>
                </c:pt>
                <c:pt idx="3">
                  <c:v>K stress</c:v>
                </c:pt>
              </c:strCache>
            </c:strRef>
          </c:cat>
          <c:val>
            <c:numRef>
              <c:f>Sheet1!$B$2:$B$5</c:f>
              <c:numCache>
                <c:formatCode>General</c:formatCode>
                <c:ptCount val="4"/>
                <c:pt idx="0">
                  <c:v>36.6</c:v>
                </c:pt>
                <c:pt idx="1">
                  <c:v>1.4</c:v>
                </c:pt>
                <c:pt idx="2">
                  <c:v>1.6</c:v>
                </c:pt>
                <c:pt idx="3">
                  <c:v>39.6</c:v>
                </c:pt>
              </c:numCache>
            </c:numRef>
          </c:val>
          <c:extLst>
            <c:ext xmlns:c16="http://schemas.microsoft.com/office/drawing/2014/chart" uri="{C3380CC4-5D6E-409C-BE32-E72D297353CC}">
              <c16:uniqueId val="{00000000-3851-4F63-9093-0EDDA3A51790}"/>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5B6478"/>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title>
          <c:tx>
            <c:rich>
              <a:bodyPr/>
              <a:lstStyle/>
              <a:p>
                <a:pPr>
                  <a:defRPr sz="1000" b="0" i="0" u="none" strike="noStrike">
                    <a:solidFill>
                      <a:srgbClr val="5B6478"/>
                    </a:solidFill>
                    <a:latin typeface="Arial"/>
                  </a:defRPr>
                </a:pPr>
                <a:r>
                  <a:rPr lang="fr-FR" sz="1000" b="0" i="0" u="none" strike="noStrike">
                    <a:solidFill>
                      <a:srgbClr val="5B6478"/>
                    </a:solidFill>
                    <a:latin typeface="Arial"/>
                  </a:rPr>
                  <a:t>Capital Requirement K [Mrd. EUR]</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478"/>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RWA</c:v>
                </c:pt>
              </c:strCache>
            </c:strRef>
          </c:tx>
          <c:spPr>
            <a:solidFill>
              <a:srgbClr val="C0504D"/>
            </a:solidFill>
            <a:effectLst/>
          </c:spPr>
          <c:invertIfNegative val="0"/>
          <c:dLbls>
            <c:numFmt formatCode="#,##0" sourceLinked="0"/>
            <c:spPr>
              <a:noFill/>
              <a:ln>
                <a:noFill/>
              </a:ln>
              <a:effectLst/>
            </c:spPr>
            <c:txPr>
              <a:bodyPr/>
              <a:lstStyle/>
              <a:p>
                <a:pPr>
                  <a:defRPr sz="950" b="0" i="0" u="none" strike="noStrike">
                    <a:solidFill>
                      <a:srgbClr val="1A1A1A"/>
                    </a:solidFill>
                    <a:latin typeface="Arial"/>
                  </a:defRPr>
                </a:pPr>
                <a:endParaRPr lang="de-DE"/>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RWA base</c:v>
                </c:pt>
                <c:pt idx="1">
                  <c:v>+Δ PD</c:v>
                </c:pt>
                <c:pt idx="2">
                  <c:v>+Δ LGD</c:v>
                </c:pt>
                <c:pt idx="3">
                  <c:v>RWA stress</c:v>
                </c:pt>
              </c:strCache>
            </c:strRef>
          </c:cat>
          <c:val>
            <c:numRef>
              <c:f>Sheet1!$B$2:$B$5</c:f>
              <c:numCache>
                <c:formatCode>General</c:formatCode>
                <c:ptCount val="4"/>
                <c:pt idx="0">
                  <c:v>457.5</c:v>
                </c:pt>
                <c:pt idx="1">
                  <c:v>17.5</c:v>
                </c:pt>
                <c:pt idx="2">
                  <c:v>19.5</c:v>
                </c:pt>
                <c:pt idx="3">
                  <c:v>494.5</c:v>
                </c:pt>
              </c:numCache>
            </c:numRef>
          </c:val>
          <c:extLst>
            <c:ext xmlns:c16="http://schemas.microsoft.com/office/drawing/2014/chart" uri="{C3380CC4-5D6E-409C-BE32-E72D297353CC}">
              <c16:uniqueId val="{00000000-BCD2-4728-8360-A858AB335CDB}"/>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50" b="0" i="0" u="none" strike="noStrike">
                <a:solidFill>
                  <a:srgbClr val="5B6478"/>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title>
          <c:tx>
            <c:rich>
              <a:bodyPr/>
              <a:lstStyle/>
              <a:p>
                <a:pPr>
                  <a:defRPr sz="950" b="0" i="0" u="none" strike="noStrike">
                    <a:solidFill>
                      <a:srgbClr val="5B6478"/>
                    </a:solidFill>
                    <a:latin typeface="Arial"/>
                  </a:defRPr>
                </a:pPr>
                <a:r>
                  <a:rPr lang="de-DE" sz="950" b="0" i="0" u="none" strike="noStrike">
                    <a:solidFill>
                      <a:srgbClr val="5B6478"/>
                    </a:solidFill>
                    <a:latin typeface="Arial"/>
                  </a:rPr>
                  <a:t>RWA [Mrd. EUR]</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950" b="0" i="0" u="none" strike="noStrike">
                <a:solidFill>
                  <a:srgbClr val="5B6478"/>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EL</c:v>
                </c:pt>
              </c:strCache>
            </c:strRef>
          </c:tx>
          <c:spPr>
            <a:solidFill>
              <a:srgbClr val="C0504D"/>
            </a:solidFill>
            <a:effectLst/>
          </c:spPr>
          <c:invertIfNegative val="0"/>
          <c:dLbls>
            <c:numFmt formatCode="#,##0" sourceLinked="0"/>
            <c:spPr>
              <a:noFill/>
              <a:ln>
                <a:noFill/>
              </a:ln>
              <a:effectLst/>
            </c:spPr>
            <c:txPr>
              <a:bodyPr/>
              <a:lstStyle/>
              <a:p>
                <a:pPr>
                  <a:defRPr sz="950" b="0" i="0" u="none" strike="noStrike">
                    <a:solidFill>
                      <a:srgbClr val="1A1A1A"/>
                    </a:solidFill>
                    <a:latin typeface="Arial"/>
                  </a:defRPr>
                </a:pPr>
                <a:endParaRPr lang="de-DE"/>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EL base</c:v>
                </c:pt>
                <c:pt idx="1">
                  <c:v>+Δ PD</c:v>
                </c:pt>
                <c:pt idx="2">
                  <c:v>+Δ LGD</c:v>
                </c:pt>
                <c:pt idx="3">
                  <c:v>EL stress</c:v>
                </c:pt>
              </c:strCache>
            </c:strRef>
          </c:cat>
          <c:val>
            <c:numRef>
              <c:f>Sheet1!$B$2:$B$5</c:f>
              <c:numCache>
                <c:formatCode>General</c:formatCode>
                <c:ptCount val="4"/>
                <c:pt idx="0">
                  <c:v>16.170000000000002</c:v>
                </c:pt>
                <c:pt idx="1">
                  <c:v>1.43</c:v>
                </c:pt>
                <c:pt idx="2">
                  <c:v>0.67</c:v>
                </c:pt>
                <c:pt idx="3">
                  <c:v>18.27</c:v>
                </c:pt>
              </c:numCache>
            </c:numRef>
          </c:val>
          <c:extLst>
            <c:ext xmlns:c16="http://schemas.microsoft.com/office/drawing/2014/chart" uri="{C3380CC4-5D6E-409C-BE32-E72D297353CC}">
              <c16:uniqueId val="{00000000-BBDA-4378-9611-C11E4538AC0F}"/>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50" b="0" i="0" u="none" strike="noStrike">
                <a:solidFill>
                  <a:srgbClr val="5B6478"/>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title>
          <c:tx>
            <c:rich>
              <a:bodyPr/>
              <a:lstStyle/>
              <a:p>
                <a:pPr>
                  <a:defRPr sz="950" b="0" i="0" u="none" strike="noStrike">
                    <a:solidFill>
                      <a:srgbClr val="5B6478"/>
                    </a:solidFill>
                    <a:latin typeface="Arial"/>
                  </a:defRPr>
                </a:pPr>
                <a:r>
                  <a:rPr lang="de-DE" sz="950" b="0" i="0" u="none" strike="noStrike">
                    <a:solidFill>
                      <a:srgbClr val="5B6478"/>
                    </a:solidFill>
                    <a:latin typeface="Arial"/>
                  </a:rPr>
                  <a:t>EL [Mrd. EUR]</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950" b="0" i="0" u="none" strike="noStrike">
                <a:solidFill>
                  <a:srgbClr val="5B6478"/>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doughnutChart>
        <c:varyColors val="1"/>
        <c:ser>
          <c:idx val="0"/>
          <c:order val="0"/>
          <c:tx>
            <c:strRef>
              <c:f>Sheet1!$B$1</c:f>
              <c:strCache>
                <c:ptCount val="1"/>
                <c:pt idx="0">
                  <c:v>EAD</c:v>
                </c:pt>
              </c:strCache>
            </c:strRef>
          </c:tx>
          <c:spPr>
            <a:solidFill>
              <a:schemeClr val="accent1"/>
            </a:solidFill>
            <a:ln w="9525" cap="flat">
              <a:solidFill>
                <a:srgbClr val="F9F9F9"/>
              </a:solidFill>
              <a:prstDash val="solid"/>
              <a:round/>
            </a:ln>
            <a:effectLst/>
          </c:spPr>
          <c:dPt>
            <c:idx val="0"/>
            <c:bubble3D val="0"/>
            <c:spPr>
              <a:solidFill>
                <a:srgbClr val="16243F"/>
              </a:solidFill>
              <a:effectLst/>
            </c:spPr>
            <c:extLst>
              <c:ext xmlns:c16="http://schemas.microsoft.com/office/drawing/2014/chart" uri="{C3380CC4-5D6E-409C-BE32-E72D297353CC}">
                <c16:uniqueId val="{00000001-CF74-4EA4-AC80-F151FAC1818E}"/>
              </c:ext>
            </c:extLst>
          </c:dPt>
          <c:dPt>
            <c:idx val="1"/>
            <c:bubble3D val="0"/>
            <c:spPr>
              <a:solidFill>
                <a:srgbClr val="0B6E78"/>
              </a:solidFill>
              <a:effectLst/>
            </c:spPr>
            <c:extLst>
              <c:ext xmlns:c16="http://schemas.microsoft.com/office/drawing/2014/chart" uri="{C3380CC4-5D6E-409C-BE32-E72D297353CC}">
                <c16:uniqueId val="{00000003-CF74-4EA4-AC80-F151FAC1818E}"/>
              </c:ext>
            </c:extLst>
          </c:dPt>
          <c:dPt>
            <c:idx val="2"/>
            <c:bubble3D val="0"/>
            <c:spPr>
              <a:solidFill>
                <a:srgbClr val="C9A24B"/>
              </a:solidFill>
              <a:effectLst/>
            </c:spPr>
            <c:extLst>
              <c:ext xmlns:c16="http://schemas.microsoft.com/office/drawing/2014/chart" uri="{C3380CC4-5D6E-409C-BE32-E72D297353CC}">
                <c16:uniqueId val="{00000005-CF74-4EA4-AC80-F151FAC1818E}"/>
              </c:ext>
            </c:extLst>
          </c:dPt>
          <c:dPt>
            <c:idx val="3"/>
            <c:bubble3D val="0"/>
            <c:spPr>
              <a:solidFill>
                <a:srgbClr val="9B1B30"/>
              </a:solidFill>
              <a:effectLst/>
            </c:spPr>
            <c:extLst>
              <c:ext xmlns:c16="http://schemas.microsoft.com/office/drawing/2014/chart" uri="{C3380CC4-5D6E-409C-BE32-E72D297353CC}">
                <c16:uniqueId val="{00000007-CF74-4EA4-AC80-F151FAC1818E}"/>
              </c:ext>
            </c:extLst>
          </c:dPt>
          <c:cat>
            <c:strRef>
              <c:f>Sheet1!$A$2:$A$5</c:f>
              <c:strCache>
                <c:ptCount val="4"/>
                <c:pt idx="0">
                  <c:v>Corporate (~34%)</c:v>
                </c:pt>
                <c:pt idx="1">
                  <c:v>Mortgage (~27%)</c:v>
                </c:pt>
                <c:pt idx="2">
                  <c:v>SME (~20%)</c:v>
                </c:pt>
                <c:pt idx="3">
                  <c:v>Bank/Sovereign (~19%)</c:v>
                </c:pt>
              </c:strCache>
            </c:strRef>
          </c:cat>
          <c:val>
            <c:numRef>
              <c:f>Sheet1!$B$2:$B$5</c:f>
              <c:numCache>
                <c:formatCode>General</c:formatCode>
                <c:ptCount val="4"/>
                <c:pt idx="0">
                  <c:v>250</c:v>
                </c:pt>
                <c:pt idx="1">
                  <c:v>200</c:v>
                </c:pt>
                <c:pt idx="2">
                  <c:v>150</c:v>
                </c:pt>
                <c:pt idx="3">
                  <c:v>138.6</c:v>
                </c:pt>
              </c:numCache>
            </c:numRef>
          </c:val>
          <c:extLst>
            <c:ext xmlns:c16="http://schemas.microsoft.com/office/drawing/2014/chart" uri="{C3380CC4-5D6E-409C-BE32-E72D297353CC}">
              <c16:uniqueId val="{00000008-CF74-4EA4-AC80-F151FAC1818E}"/>
            </c:ext>
          </c:extLst>
        </c:ser>
        <c:dLbls>
          <c:showLegendKey val="0"/>
          <c:showVal val="0"/>
          <c:showCatName val="0"/>
          <c:showSerName val="0"/>
          <c:showPercent val="0"/>
          <c:showBubbleSize val="0"/>
          <c:showLeaderLines val="0"/>
        </c:dLbls>
        <c:firstSliceAng val="0"/>
        <c:holeSize val="50"/>
      </c:doughnutChart>
      <c:spPr>
        <a:noFill/>
        <a:ln>
          <a:noFill/>
        </a:ln>
        <a:effectLst/>
      </c:spPr>
    </c:plotArea>
    <c:legend>
      <c:legendPos val="b"/>
      <c:overlay val="0"/>
      <c:txPr>
        <a:bodyPr/>
        <a:lstStyle/>
        <a:p>
          <a:pPr>
            <a:defRPr sz="1000">
              <a:solidFill>
                <a:srgbClr val="1A1A1A"/>
              </a:solidFill>
            </a:defRPr>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ΔEL</c:v>
                </c:pt>
              </c:strCache>
            </c:strRef>
          </c:tx>
          <c:spPr>
            <a:solidFill>
              <a:srgbClr val="C0504D"/>
            </a:solidFill>
            <a:effectLst/>
          </c:spPr>
          <c:invertIfNegative val="0"/>
          <c:dLbls>
            <c:numFmt formatCode="#,##0" sourceLinked="0"/>
            <c:spPr>
              <a:noFill/>
              <a:ln>
                <a:noFill/>
              </a:ln>
              <a:effectLst/>
            </c:spPr>
            <c:txPr>
              <a:bodyPr/>
              <a:lstStyle/>
              <a:p>
                <a:pPr>
                  <a:defRPr sz="1100" b="0" i="0" u="none" strike="noStrike">
                    <a:solidFill>
                      <a:srgbClr val="1A1A1A"/>
                    </a:solidFill>
                    <a:latin typeface="Arial"/>
                  </a:defRPr>
                </a:pPr>
                <a:endParaRPr lang="de-DE"/>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Mortgage</c:v>
                </c:pt>
                <c:pt idx="1">
                  <c:v>Corporate</c:v>
                </c:pt>
                <c:pt idx="2">
                  <c:v>SME Corporate</c:v>
                </c:pt>
                <c:pt idx="3">
                  <c:v>Bank/Sovereign</c:v>
                </c:pt>
              </c:strCache>
            </c:strRef>
          </c:cat>
          <c:val>
            <c:numRef>
              <c:f>Sheet1!$B$2:$B$5</c:f>
              <c:numCache>
                <c:formatCode>General</c:formatCode>
                <c:ptCount val="4"/>
                <c:pt idx="0">
                  <c:v>980</c:v>
                </c:pt>
                <c:pt idx="1">
                  <c:v>820</c:v>
                </c:pt>
                <c:pt idx="2">
                  <c:v>260</c:v>
                </c:pt>
                <c:pt idx="3">
                  <c:v>41</c:v>
                </c:pt>
              </c:numCache>
            </c:numRef>
          </c:val>
          <c:extLst>
            <c:ext xmlns:c16="http://schemas.microsoft.com/office/drawing/2014/chart" uri="{C3380CC4-5D6E-409C-BE32-E72D297353CC}">
              <c16:uniqueId val="{00000000-E6BD-4D3C-9991-5CA930D01CF5}"/>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6478"/>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title>
          <c:tx>
            <c:rich>
              <a:bodyPr/>
              <a:lstStyle/>
              <a:p>
                <a:pPr>
                  <a:defRPr sz="1000" b="0" i="0" u="none" strike="noStrike">
                    <a:solidFill>
                      <a:srgbClr val="5B6478"/>
                    </a:solidFill>
                    <a:latin typeface="Arial"/>
                  </a:defRPr>
                </a:pPr>
                <a:r>
                  <a:rPr lang="el-GR" sz="1000" b="0" i="0" u="none" strike="noStrike">
                    <a:solidFill>
                      <a:srgbClr val="5B6478"/>
                    </a:solidFill>
                    <a:latin typeface="Arial"/>
                  </a:rPr>
                  <a:t>Δ</a:t>
                </a:r>
                <a:r>
                  <a:rPr lang="de-DE" sz="1000" b="0" i="0" u="none" strike="noStrike">
                    <a:solidFill>
                      <a:srgbClr val="5B6478"/>
                    </a:solidFill>
                    <a:latin typeface="Arial"/>
                  </a:rPr>
                  <a:t>EL in Mio. EUR</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478"/>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84023565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15354435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29982351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05476639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18334768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85278984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88863245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Das </a:t>
            </a:r>
            <a:r>
              <a:rPr lang="en-US" err="1"/>
              <a:t>Kreditbuch</a:t>
            </a:r>
            <a:r>
              <a:rPr lang="en-US" dirty="0"/>
              <a:t> </a:t>
            </a:r>
            <a:r>
              <a:rPr lang="en-US" err="1"/>
              <a:t>ist</a:t>
            </a:r>
            <a:r>
              <a:rPr lang="en-US" dirty="0"/>
              <a:t> die </a:t>
            </a:r>
            <a:r>
              <a:rPr lang="en-US" err="1"/>
              <a:t>mit</a:t>
            </a:r>
            <a:r>
              <a:rPr lang="en-US" dirty="0"/>
              <a:t> </a:t>
            </a:r>
            <a:r>
              <a:rPr lang="en-US" err="1"/>
              <a:t>Abstand</a:t>
            </a:r>
            <a:r>
              <a:rPr lang="en-US" dirty="0"/>
              <a:t> </a:t>
            </a:r>
            <a:r>
              <a:rPr lang="en-US" err="1"/>
              <a:t>größte</a:t>
            </a:r>
            <a:r>
              <a:rPr lang="en-US" dirty="0"/>
              <a:t> </a:t>
            </a:r>
            <a:r>
              <a:rPr lang="en-US" err="1"/>
              <a:t>Bilanzposition</a:t>
            </a:r>
            <a:r>
              <a:rPr lang="en-US" dirty="0"/>
              <a:t> </a:t>
            </a:r>
            <a:r>
              <a:rPr lang="en-US" err="1"/>
              <a:t>jeder</a:t>
            </a:r>
            <a:r>
              <a:rPr lang="en-US" dirty="0"/>
              <a:t> Bank - alle </a:t>
            </a:r>
            <a:r>
              <a:rPr lang="en-US" err="1"/>
              <a:t>Kredite</a:t>
            </a:r>
            <a:r>
              <a:rPr lang="en-US" dirty="0"/>
              <a:t> an </a:t>
            </a:r>
            <a:r>
              <a:rPr lang="en-US" err="1"/>
              <a:t>Unternehmen</a:t>
            </a:r>
            <a:r>
              <a:rPr lang="en-US" dirty="0"/>
              <a:t>, </a:t>
            </a:r>
            <a:r>
              <a:rPr lang="en-US" err="1"/>
              <a:t>Hypotheken</a:t>
            </a:r>
            <a:r>
              <a:rPr lang="en-US" dirty="0"/>
              <a:t>-Kunden, </a:t>
            </a:r>
            <a:r>
              <a:rPr lang="en-US" err="1"/>
              <a:t>Konsumentenkredite</a:t>
            </a:r>
            <a:r>
              <a:rPr lang="en-US" dirty="0"/>
              <a:t> und </a:t>
            </a:r>
            <a:r>
              <a:rPr lang="en-US" err="1"/>
              <a:t>Forderungen</a:t>
            </a:r>
            <a:r>
              <a:rPr lang="en-US" dirty="0"/>
              <a:t> an </a:t>
            </a:r>
            <a:r>
              <a:rPr lang="en-US" err="1"/>
              <a:t>andere</a:t>
            </a:r>
            <a:r>
              <a:rPr lang="en-US" dirty="0"/>
              <a:t> Banken. </a:t>
            </a:r>
            <a:r>
              <a:rPr lang="en-US" err="1"/>
              <a:t>Steigt</a:t>
            </a:r>
            <a:r>
              <a:rPr lang="en-US" dirty="0"/>
              <a:t> der </a:t>
            </a:r>
            <a:r>
              <a:rPr lang="en-US" err="1"/>
              <a:t>Ölpreis</a:t>
            </a:r>
            <a:r>
              <a:rPr lang="en-US" dirty="0"/>
              <a:t> </a:t>
            </a:r>
            <a:r>
              <a:rPr lang="en-US" err="1"/>
              <a:t>oder</a:t>
            </a:r>
            <a:r>
              <a:rPr lang="en-US" dirty="0"/>
              <a:t> der Zins, </a:t>
            </a:r>
            <a:r>
              <a:rPr lang="en-US" err="1"/>
              <a:t>verschlechtert</a:t>
            </a:r>
            <a:r>
              <a:rPr lang="en-US" dirty="0"/>
              <a:t> </a:t>
            </a:r>
            <a:r>
              <a:rPr lang="en-US" err="1"/>
              <a:t>sich</a:t>
            </a:r>
            <a:r>
              <a:rPr lang="en-US" dirty="0"/>
              <a:t> die </a:t>
            </a:r>
            <a:r>
              <a:rPr lang="en-US" err="1"/>
              <a:t>Zahlungsfähigkeit</a:t>
            </a:r>
            <a:r>
              <a:rPr lang="en-US" dirty="0"/>
              <a:t> der </a:t>
            </a:r>
            <a:r>
              <a:rPr lang="en-US" err="1"/>
              <a:t>Schuldner</a:t>
            </a:r>
            <a:r>
              <a:rPr lang="en-US" dirty="0"/>
              <a:t>: </a:t>
            </a:r>
            <a:r>
              <a:rPr lang="en-US" err="1"/>
              <a:t>mehr</a:t>
            </a:r>
            <a:r>
              <a:rPr lang="en-US" dirty="0"/>
              <a:t> von </a:t>
            </a:r>
            <a:r>
              <a:rPr lang="en-US" err="1"/>
              <a:t>ihnen</a:t>
            </a:r>
            <a:r>
              <a:rPr lang="en-US" dirty="0"/>
              <a:t> fallen </a:t>
            </a:r>
            <a:r>
              <a:rPr lang="en-US" err="1"/>
              <a:t>aus.</a:t>
            </a:r>
            <a:r>
              <a:rPr lang="en-US" dirty="0"/>
              <a:t> </a:t>
            </a:r>
            <a:r>
              <a:rPr lang="en-US" err="1"/>
              <a:t>Wichtig</a:t>
            </a:r>
            <a:r>
              <a:rPr lang="en-US" dirty="0"/>
              <a:t> </a:t>
            </a:r>
            <a:r>
              <a:rPr lang="en-US" err="1"/>
              <a:t>ist</a:t>
            </a:r>
            <a:r>
              <a:rPr lang="en-US" dirty="0"/>
              <a:t>, </a:t>
            </a:r>
            <a:r>
              <a:rPr lang="en-US" err="1"/>
              <a:t>wie</a:t>
            </a:r>
            <a:r>
              <a:rPr lang="en-US" dirty="0"/>
              <a:t> </a:t>
            </a:r>
            <a:r>
              <a:rPr lang="en-US" err="1"/>
              <a:t>wir</a:t>
            </a:r>
            <a:r>
              <a:rPr lang="en-US" dirty="0"/>
              <a:t> das </a:t>
            </a:r>
            <a:r>
              <a:rPr lang="en-US" err="1"/>
              <a:t>modellieren</a:t>
            </a:r>
            <a:r>
              <a:rPr lang="en-US" dirty="0"/>
              <a:t> - nicht </a:t>
            </a:r>
            <a:r>
              <a:rPr lang="en-US" err="1"/>
              <a:t>mit</a:t>
            </a:r>
            <a:r>
              <a:rPr lang="en-US" dirty="0"/>
              <a:t> </a:t>
            </a:r>
            <a:r>
              <a:rPr lang="en-US" err="1"/>
              <a:t>groben</a:t>
            </a:r>
            <a:r>
              <a:rPr lang="en-US" dirty="0"/>
              <a:t> Länder-</a:t>
            </a:r>
            <a:r>
              <a:rPr lang="en-US" err="1"/>
              <a:t>Durchschnitten</a:t>
            </a:r>
            <a:r>
              <a:rPr lang="en-US" dirty="0"/>
              <a:t>, </a:t>
            </a:r>
            <a:r>
              <a:rPr lang="en-US" err="1"/>
              <a:t>sondern</a:t>
            </a:r>
            <a:r>
              <a:rPr lang="en-US" dirty="0"/>
              <a:t> bank-</a:t>
            </a:r>
            <a:r>
              <a:rPr lang="en-US" err="1"/>
              <a:t>spezifisch</a:t>
            </a:r>
            <a:r>
              <a:rPr lang="en-US" dirty="0"/>
              <a:t> </a:t>
            </a:r>
            <a:r>
              <a:rPr lang="en-US" err="1"/>
              <a:t>direkt</a:t>
            </a:r>
            <a:r>
              <a:rPr lang="en-US" dirty="0"/>
              <a:t> </a:t>
            </a:r>
            <a:r>
              <a:rPr lang="en-US" err="1"/>
              <a:t>aus</a:t>
            </a:r>
            <a:r>
              <a:rPr lang="en-US" dirty="0"/>
              <a:t> den Pillar-3-Reports </a:t>
            </a:r>
            <a:r>
              <a:rPr lang="en-US" err="1"/>
              <a:t>jeder</a:t>
            </a:r>
            <a:r>
              <a:rPr lang="en-US" dirty="0"/>
              <a:t> </a:t>
            </a:r>
            <a:r>
              <a:rPr lang="en-US" err="1"/>
              <a:t>einzelnen</a:t>
            </a:r>
            <a:r>
              <a:rPr lang="en-US" dirty="0"/>
              <a:t> Bank, also </a:t>
            </a:r>
            <a:r>
              <a:rPr lang="en-US" err="1"/>
              <a:t>aus</a:t>
            </a:r>
            <a:r>
              <a:rPr lang="en-US" dirty="0"/>
              <a:t> der </a:t>
            </a:r>
            <a:r>
              <a:rPr lang="en-US" err="1"/>
              <a:t>sogenannten</a:t>
            </a:r>
            <a:r>
              <a:rPr lang="en-US" dirty="0"/>
              <a:t> EU-CR6-Tabelle. Das </a:t>
            </a:r>
            <a:r>
              <a:rPr lang="en-US" err="1"/>
              <a:t>ist</a:t>
            </a:r>
            <a:r>
              <a:rPr lang="en-US" dirty="0"/>
              <a:t> </a:t>
            </a:r>
            <a:r>
              <a:rPr lang="en-US" err="1"/>
              <a:t>regulatorisch</a:t>
            </a:r>
            <a:r>
              <a:rPr lang="en-US" dirty="0"/>
              <a:t> </a:t>
            </a:r>
            <a:r>
              <a:rPr lang="en-US" err="1"/>
              <a:t>belastbares</a:t>
            </a:r>
            <a:r>
              <a:rPr lang="en-US" dirty="0"/>
              <a:t> </a:t>
            </a:r>
            <a:r>
              <a:rPr lang="en-US" err="1"/>
              <a:t>Datenmaterial</a:t>
            </a:r>
            <a:r>
              <a:rPr lang="en-US" dirty="0"/>
              <a:t>, </a:t>
            </a:r>
            <a:r>
              <a:rPr lang="en-US" err="1"/>
              <a:t>kein</a:t>
            </a:r>
            <a:r>
              <a:rPr lang="en-US" dirty="0"/>
              <a:t> </a:t>
            </a:r>
            <a:r>
              <a:rPr lang="en-US" err="1"/>
              <a:t>geschätzter</a:t>
            </a:r>
            <a:r>
              <a:rPr lang="en-US" dirty="0"/>
              <a:t> Wert. Die Kette, die ich in den </a:t>
            </a:r>
            <a:r>
              <a:rPr lang="en-US" err="1"/>
              <a:t>nächsten</a:t>
            </a:r>
            <a:r>
              <a:rPr lang="en-US" dirty="0"/>
              <a:t> </a:t>
            </a:r>
            <a:r>
              <a:rPr lang="en-US" err="1"/>
              <a:t>Folien</a:t>
            </a:r>
            <a:r>
              <a:rPr lang="en-US" dirty="0"/>
              <a:t> </a:t>
            </a:r>
            <a:r>
              <a:rPr lang="en-US" err="1"/>
              <a:t>durchgehe</a:t>
            </a:r>
            <a:r>
              <a:rPr lang="en-US" dirty="0"/>
              <a:t>, </a:t>
            </a:r>
            <a:r>
              <a:rPr lang="en-US" err="1"/>
              <a:t>ist</a:t>
            </a:r>
            <a:r>
              <a:rPr lang="en-US" dirty="0"/>
              <a:t> immer </a:t>
            </a:r>
            <a:r>
              <a:rPr lang="en-US" err="1"/>
              <a:t>dieselbe</a:t>
            </a:r>
            <a:r>
              <a:rPr lang="en-US" dirty="0"/>
              <a:t>: Ein Makro-Schock - also </a:t>
            </a:r>
            <a:r>
              <a:rPr lang="en-US" err="1"/>
              <a:t>Öl</a:t>
            </a:r>
            <a:r>
              <a:rPr lang="en-US" dirty="0"/>
              <a:t> </a:t>
            </a:r>
            <a:r>
              <a:rPr lang="en-US" err="1"/>
              <a:t>oder</a:t>
            </a:r>
            <a:r>
              <a:rPr lang="en-US" dirty="0"/>
              <a:t> Zins - </a:t>
            </a:r>
            <a:r>
              <a:rPr lang="en-US" err="1"/>
              <a:t>wird</a:t>
            </a:r>
            <a:r>
              <a:rPr lang="en-US" dirty="0"/>
              <a:t> </a:t>
            </a:r>
            <a:r>
              <a:rPr lang="en-US" err="1"/>
              <a:t>über</a:t>
            </a:r>
            <a:r>
              <a:rPr lang="en-US" dirty="0"/>
              <a:t> </a:t>
            </a:r>
            <a:r>
              <a:rPr lang="en-US" err="1"/>
              <a:t>eine</a:t>
            </a:r>
            <a:r>
              <a:rPr lang="en-US" dirty="0"/>
              <a:t> 2-Faktor-Formel in </a:t>
            </a:r>
            <a:r>
              <a:rPr lang="en-US" err="1"/>
              <a:t>einen</a:t>
            </a:r>
            <a:r>
              <a:rPr lang="en-US" dirty="0"/>
              <a:t> </a:t>
            </a:r>
            <a:r>
              <a:rPr lang="en-US" err="1"/>
              <a:t>Anstieg</a:t>
            </a:r>
            <a:r>
              <a:rPr lang="en-US" dirty="0"/>
              <a:t> von PD und LGD </a:t>
            </a:r>
            <a:r>
              <a:rPr lang="en-US" err="1"/>
              <a:t>übersetzt</a:t>
            </a:r>
            <a:r>
              <a:rPr lang="en-US" dirty="0"/>
              <a:t>. </a:t>
            </a:r>
            <a:r>
              <a:rPr lang="en-US" err="1"/>
              <a:t>Daraus</a:t>
            </a:r>
            <a:r>
              <a:rPr lang="en-US" dirty="0"/>
              <a:t> </a:t>
            </a:r>
            <a:r>
              <a:rPr lang="en-US" err="1"/>
              <a:t>berechnen</a:t>
            </a:r>
            <a:r>
              <a:rPr lang="en-US" dirty="0"/>
              <a:t> </a:t>
            </a:r>
            <a:r>
              <a:rPr lang="en-US" err="1"/>
              <a:t>wir</a:t>
            </a:r>
            <a:r>
              <a:rPr lang="en-US" dirty="0"/>
              <a:t> den </a:t>
            </a:r>
            <a:r>
              <a:rPr lang="en-US" err="1"/>
              <a:t>erwarteten</a:t>
            </a:r>
            <a:r>
              <a:rPr lang="en-US" dirty="0"/>
              <a:t> </a:t>
            </a:r>
            <a:r>
              <a:rPr lang="en-US" err="1"/>
              <a:t>Verlust</a:t>
            </a:r>
            <a:r>
              <a:rPr lang="en-US" dirty="0"/>
              <a:t> EL. Und EL plus die Basel-Formel </a:t>
            </a:r>
            <a:r>
              <a:rPr lang="en-US" err="1"/>
              <a:t>ergeben</a:t>
            </a:r>
            <a:r>
              <a:rPr lang="en-US" dirty="0"/>
              <a:t> </a:t>
            </a:r>
            <a:r>
              <a:rPr lang="en-US" err="1"/>
              <a:t>zusammen</a:t>
            </a:r>
            <a:r>
              <a:rPr lang="en-US" dirty="0"/>
              <a:t> die </a:t>
            </a:r>
            <a:r>
              <a:rPr lang="en-US" err="1"/>
              <a:t>Eigenkapitalanforderung</a:t>
            </a:r>
            <a:r>
              <a:rPr lang="en-US" dirty="0"/>
              <a:t> K und die </a:t>
            </a:r>
            <a:r>
              <a:rPr lang="en-US" err="1"/>
              <a:t>risikogewichteten</a:t>
            </a:r>
            <a:r>
              <a:rPr lang="en-US" dirty="0"/>
              <a:t> </a:t>
            </a:r>
            <a:r>
              <a:rPr lang="en-US" err="1"/>
              <a:t>Aktiva</a:t>
            </a:r>
            <a:r>
              <a:rPr lang="en-US" dirty="0"/>
              <a:t> RWA - und die </a:t>
            </a:r>
            <a:r>
              <a:rPr lang="en-US" err="1"/>
              <a:t>beiden</a:t>
            </a:r>
            <a:r>
              <a:rPr lang="en-US" dirty="0"/>
              <a:t> </a:t>
            </a:r>
            <a:r>
              <a:rPr lang="en-US" err="1"/>
              <a:t>zusammen</a:t>
            </a:r>
            <a:r>
              <a:rPr lang="en-US" dirty="0"/>
              <a:t> </a:t>
            </a:r>
            <a:r>
              <a:rPr lang="en-US" err="1"/>
              <a:t>bestimmen</a:t>
            </a:r>
            <a:r>
              <a:rPr lang="en-US" dirty="0"/>
              <a:t> am Ende, </a:t>
            </a:r>
            <a:r>
              <a:rPr lang="en-US" err="1"/>
              <a:t>wie</a:t>
            </a:r>
            <a:r>
              <a:rPr lang="en-US" dirty="0"/>
              <a:t> stark die CET1-Quote der Bank </a:t>
            </a:r>
            <a:r>
              <a:rPr lang="en-US" err="1"/>
              <a:t>sinkt</a:t>
            </a:r>
            <a:r>
              <a:rPr lang="en-US" dirty="0"/>
              <a:t>. Alle 16 Banken </a:t>
            </a:r>
            <a:r>
              <a:rPr lang="en-US" err="1"/>
              <a:t>sind</a:t>
            </a:r>
            <a:r>
              <a:rPr lang="en-US" dirty="0"/>
              <a:t> Pillar-3-verifiziert </a:t>
            </a:r>
            <a:r>
              <a:rPr lang="en-US" err="1"/>
              <a:t>zum</a:t>
            </a:r>
            <a:r>
              <a:rPr lang="en-US" dirty="0"/>
              <a:t> </a:t>
            </a:r>
            <a:r>
              <a:rPr lang="en-US" err="1"/>
              <a:t>einheitlichen</a:t>
            </a:r>
            <a:r>
              <a:rPr lang="en-US" dirty="0"/>
              <a:t> </a:t>
            </a:r>
            <a:r>
              <a:rPr lang="en-US" err="1"/>
              <a:t>Stichtag</a:t>
            </a:r>
            <a:r>
              <a:rPr lang="en-US" dirty="0"/>
              <a:t> 31. Dezember 2024.</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Um die Kreditrisiko-Rechnung zu verstehen, braucht es nur vier Größen. Erstens PD, die Ausfall-wahrscheinlichkeit - wie wahrscheinlich ist es, dass ein Schuldner innerhalb der nächsten zwölf Monate ausfällt. Zweitens LGD, die Verlustquote bei Ausfall - wie viel von der Forderung nach Verwertung von Sicherheiten am Ende wirklich verloren ist. Drittens EAD, also der ausstehende Forderungsbetrag in dem Moment, in dem jemand tatsächlich ausfällt. Und viertens, ihr Produkt: EL, der erwartete Verlust. Das ist keine akademische Übung - EL ist bilanziell die Risikovorsorge, die jede Bank quartalsweise bilden muss, und die direkt ihren Gewinn und damit ihr Eigenkapital schmälert. Wichtig: PD und LGD kommen bei uns nicht aus einem Modell-Schätzwert, sondern direkt, bank-spezifisch, aus den regulatorisch publizierten Pillar-3-Reports - das macht das Modell auditierbar und nachvollziehbar.</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Wie </a:t>
            </a:r>
            <a:r>
              <a:rPr lang="en-US" dirty="0" err="1"/>
              <a:t>wird</a:t>
            </a:r>
            <a:r>
              <a:rPr lang="en-US" dirty="0"/>
              <a:t> </a:t>
            </a:r>
            <a:r>
              <a:rPr lang="en-US" dirty="0" err="1"/>
              <a:t>aus</a:t>
            </a:r>
            <a:r>
              <a:rPr lang="en-US" dirty="0"/>
              <a:t> </a:t>
            </a:r>
            <a:r>
              <a:rPr lang="en-US" dirty="0" err="1"/>
              <a:t>einem</a:t>
            </a:r>
            <a:r>
              <a:rPr lang="en-US" dirty="0"/>
              <a:t> Makro-Schock </a:t>
            </a:r>
            <a:r>
              <a:rPr lang="en-US" dirty="0" err="1"/>
              <a:t>konkret</a:t>
            </a:r>
            <a:r>
              <a:rPr lang="en-US" dirty="0"/>
              <a:t> </a:t>
            </a:r>
            <a:r>
              <a:rPr lang="en-US" dirty="0" err="1"/>
              <a:t>ein</a:t>
            </a:r>
            <a:r>
              <a:rPr lang="en-US" dirty="0"/>
              <a:t> </a:t>
            </a:r>
            <a:r>
              <a:rPr lang="en-US" dirty="0" err="1"/>
              <a:t>höheres</a:t>
            </a:r>
            <a:r>
              <a:rPr lang="en-US" dirty="0"/>
              <a:t> Risiko? </a:t>
            </a:r>
            <a:r>
              <a:rPr lang="en-US" dirty="0" err="1"/>
              <a:t>Über</a:t>
            </a:r>
            <a:r>
              <a:rPr lang="en-US" dirty="0"/>
              <a:t> </a:t>
            </a:r>
            <a:r>
              <a:rPr lang="en-US" dirty="0" err="1"/>
              <a:t>exakt</a:t>
            </a:r>
            <a:r>
              <a:rPr lang="en-US" dirty="0"/>
              <a:t> </a:t>
            </a:r>
            <a:r>
              <a:rPr lang="en-US" dirty="0" err="1"/>
              <a:t>dieselbe</a:t>
            </a:r>
            <a:r>
              <a:rPr lang="en-US" dirty="0"/>
              <a:t> Formel-</a:t>
            </a:r>
            <a:r>
              <a:rPr lang="en-US" dirty="0" err="1"/>
              <a:t>Struktur</a:t>
            </a:r>
            <a:r>
              <a:rPr lang="en-US" dirty="0"/>
              <a:t> für PD und für LGD: </a:t>
            </a:r>
            <a:r>
              <a:rPr lang="en-US" dirty="0" err="1"/>
              <a:t>eine</a:t>
            </a:r>
            <a:r>
              <a:rPr lang="en-US" dirty="0"/>
              <a:t> </a:t>
            </a:r>
            <a:r>
              <a:rPr lang="en-US" dirty="0" err="1"/>
              <a:t>Sensitivität</a:t>
            </a:r>
            <a:r>
              <a:rPr lang="en-US" dirty="0"/>
              <a:t> </a:t>
            </a:r>
            <a:r>
              <a:rPr lang="en-US" dirty="0" err="1"/>
              <a:t>gegenüber</a:t>
            </a:r>
            <a:r>
              <a:rPr lang="en-US" dirty="0"/>
              <a:t> dem </a:t>
            </a:r>
            <a:r>
              <a:rPr lang="en-US" dirty="0" err="1"/>
              <a:t>Ölpreis</a:t>
            </a:r>
            <a:r>
              <a:rPr lang="en-US" dirty="0"/>
              <a:t>, Beta-oil, plus </a:t>
            </a:r>
            <a:r>
              <a:rPr lang="en-US" dirty="0" err="1"/>
              <a:t>eine</a:t>
            </a:r>
            <a:r>
              <a:rPr lang="en-US" dirty="0"/>
              <a:t> </a:t>
            </a:r>
            <a:r>
              <a:rPr lang="en-US" dirty="0" err="1"/>
              <a:t>Sensitivität</a:t>
            </a:r>
            <a:r>
              <a:rPr lang="en-US" dirty="0"/>
              <a:t> </a:t>
            </a:r>
            <a:r>
              <a:rPr lang="en-US" dirty="0" err="1"/>
              <a:t>gegenüber</a:t>
            </a:r>
            <a:r>
              <a:rPr lang="en-US" dirty="0"/>
              <a:t> dem </a:t>
            </a:r>
            <a:r>
              <a:rPr lang="en-US" dirty="0" err="1"/>
              <a:t>Zehnjahres</a:t>
            </a:r>
            <a:r>
              <a:rPr lang="en-US" dirty="0"/>
              <a:t>-Zins, Beta-rate, </a:t>
            </a:r>
            <a:r>
              <a:rPr lang="en-US" dirty="0" err="1"/>
              <a:t>jeweils</a:t>
            </a:r>
            <a:r>
              <a:rPr lang="en-US" dirty="0"/>
              <a:t> </a:t>
            </a:r>
            <a:r>
              <a:rPr lang="en-US" dirty="0" err="1"/>
              <a:t>multipliziert</a:t>
            </a:r>
            <a:r>
              <a:rPr lang="en-US" dirty="0"/>
              <a:t> </a:t>
            </a:r>
            <a:r>
              <a:rPr lang="en-US" dirty="0" err="1"/>
              <a:t>mit</a:t>
            </a:r>
            <a:r>
              <a:rPr lang="en-US" dirty="0"/>
              <a:t> der </a:t>
            </a:r>
            <a:r>
              <a:rPr lang="en-US" dirty="0" err="1"/>
              <a:t>tatsächlichen</a:t>
            </a:r>
            <a:r>
              <a:rPr lang="en-US" dirty="0"/>
              <a:t> Schock-</a:t>
            </a:r>
            <a:r>
              <a:rPr lang="en-US" dirty="0" err="1"/>
              <a:t>Größe</a:t>
            </a:r>
            <a:r>
              <a:rPr lang="en-US" dirty="0"/>
              <a:t>. Der Charme </a:t>
            </a:r>
            <a:r>
              <a:rPr lang="en-US" dirty="0" err="1"/>
              <a:t>dieser</a:t>
            </a:r>
            <a:r>
              <a:rPr lang="en-US" dirty="0"/>
              <a:t> Formel </a:t>
            </a:r>
            <a:r>
              <a:rPr lang="en-US" dirty="0" err="1"/>
              <a:t>ist</a:t>
            </a:r>
            <a:r>
              <a:rPr lang="en-US" dirty="0"/>
              <a:t> die Sektor-</a:t>
            </a:r>
            <a:r>
              <a:rPr lang="en-US" dirty="0" err="1"/>
              <a:t>Differenzierung</a:t>
            </a:r>
            <a:r>
              <a:rPr lang="en-US" dirty="0"/>
              <a:t>: </a:t>
            </a:r>
            <a:r>
              <a:rPr lang="en-US" dirty="0" err="1"/>
              <a:t>jede</a:t>
            </a:r>
            <a:r>
              <a:rPr lang="en-US" dirty="0"/>
              <a:t> der </a:t>
            </a:r>
            <a:r>
              <a:rPr lang="en-US" dirty="0" err="1"/>
              <a:t>sieben</a:t>
            </a:r>
            <a:r>
              <a:rPr lang="en-US" dirty="0"/>
              <a:t> Exposure-Klassen hat </a:t>
            </a:r>
            <a:r>
              <a:rPr lang="en-US" dirty="0" err="1"/>
              <a:t>ihre</a:t>
            </a:r>
            <a:r>
              <a:rPr lang="en-US" dirty="0"/>
              <a:t> </a:t>
            </a:r>
            <a:r>
              <a:rPr lang="en-US" dirty="0" err="1"/>
              <a:t>eigenen</a:t>
            </a:r>
            <a:r>
              <a:rPr lang="en-US" dirty="0"/>
              <a:t> Beta- und Gamma-</a:t>
            </a:r>
            <a:r>
              <a:rPr lang="en-US" dirty="0" err="1"/>
              <a:t>Werte</a:t>
            </a:r>
            <a:r>
              <a:rPr lang="en-US" dirty="0"/>
              <a:t>. Eine </a:t>
            </a:r>
            <a:r>
              <a:rPr lang="en-US" dirty="0" err="1"/>
              <a:t>Hypothek</a:t>
            </a:r>
            <a:r>
              <a:rPr lang="en-US" dirty="0"/>
              <a:t> </a:t>
            </a:r>
            <a:r>
              <a:rPr lang="en-US" dirty="0" err="1"/>
              <a:t>reagiert</a:t>
            </a:r>
            <a:r>
              <a:rPr lang="en-US" dirty="0"/>
              <a:t> </a:t>
            </a:r>
            <a:r>
              <a:rPr lang="en-US" dirty="0" err="1"/>
              <a:t>ganz</a:t>
            </a:r>
            <a:r>
              <a:rPr lang="en-US" dirty="0"/>
              <a:t> </a:t>
            </a:r>
            <a:r>
              <a:rPr lang="en-US" dirty="0" err="1"/>
              <a:t>anders</a:t>
            </a:r>
            <a:r>
              <a:rPr lang="en-US" dirty="0"/>
              <a:t> auf </a:t>
            </a:r>
            <a:r>
              <a:rPr lang="en-US" dirty="0" err="1"/>
              <a:t>einen</a:t>
            </a:r>
            <a:r>
              <a:rPr lang="en-US" dirty="0"/>
              <a:t> </a:t>
            </a:r>
            <a:r>
              <a:rPr lang="en-US" dirty="0" err="1"/>
              <a:t>Zinsschock</a:t>
            </a:r>
            <a:r>
              <a:rPr lang="en-US" dirty="0"/>
              <a:t> </a:t>
            </a:r>
            <a:r>
              <a:rPr lang="en-US" dirty="0" err="1"/>
              <a:t>als</a:t>
            </a:r>
            <a:r>
              <a:rPr lang="en-US" dirty="0"/>
              <a:t> </a:t>
            </a:r>
            <a:r>
              <a:rPr lang="en-US" dirty="0" err="1"/>
              <a:t>ein</a:t>
            </a:r>
            <a:r>
              <a:rPr lang="en-US" dirty="0"/>
              <a:t> </a:t>
            </a:r>
            <a:r>
              <a:rPr lang="en-US" dirty="0" err="1"/>
              <a:t>Unternehmenskredit</a:t>
            </a:r>
            <a:r>
              <a:rPr lang="en-US" dirty="0"/>
              <a:t>. Damit das Modell </a:t>
            </a:r>
            <a:r>
              <a:rPr lang="en-US" dirty="0" err="1"/>
              <a:t>numerisch</a:t>
            </a:r>
            <a:r>
              <a:rPr lang="en-US" dirty="0"/>
              <a:t> </a:t>
            </a:r>
            <a:r>
              <a:rPr lang="en-US" dirty="0" err="1"/>
              <a:t>stabil</a:t>
            </a:r>
            <a:r>
              <a:rPr lang="en-US" dirty="0"/>
              <a:t> </a:t>
            </a:r>
            <a:r>
              <a:rPr lang="en-US" dirty="0" err="1"/>
              <a:t>bleibt</a:t>
            </a:r>
            <a:r>
              <a:rPr lang="en-US" dirty="0"/>
              <a:t>, </a:t>
            </a:r>
            <a:r>
              <a:rPr lang="en-US" dirty="0" err="1"/>
              <a:t>sind</a:t>
            </a:r>
            <a:r>
              <a:rPr lang="en-US" dirty="0"/>
              <a:t> PD und LGD </a:t>
            </a:r>
            <a:r>
              <a:rPr lang="en-US" dirty="0" err="1"/>
              <a:t>jeweils</a:t>
            </a:r>
            <a:r>
              <a:rPr lang="en-US" dirty="0"/>
              <a:t> </a:t>
            </a:r>
            <a:r>
              <a:rPr lang="en-US" dirty="0" err="1"/>
              <a:t>nach</a:t>
            </a:r>
            <a:r>
              <a:rPr lang="en-US" dirty="0"/>
              <a:t> </a:t>
            </a:r>
            <a:r>
              <a:rPr lang="en-US" dirty="0" err="1"/>
              <a:t>unten</a:t>
            </a:r>
            <a:r>
              <a:rPr lang="en-US" dirty="0"/>
              <a:t> und </a:t>
            </a:r>
            <a:r>
              <a:rPr lang="en-US" dirty="0" err="1"/>
              <a:t>oben</a:t>
            </a:r>
            <a:r>
              <a:rPr lang="en-US" dirty="0"/>
              <a:t> </a:t>
            </a:r>
            <a:r>
              <a:rPr lang="en-US" dirty="0" err="1"/>
              <a:t>begrenzt</a:t>
            </a:r>
            <a:r>
              <a:rPr lang="en-US" dirty="0"/>
              <a:t> - PD </a:t>
            </a:r>
            <a:r>
              <a:rPr lang="en-US" dirty="0" err="1"/>
              <a:t>zum</a:t>
            </a:r>
            <a:r>
              <a:rPr lang="en-US" dirty="0"/>
              <a:t> </a:t>
            </a:r>
            <a:r>
              <a:rPr lang="en-US" dirty="0" err="1"/>
              <a:t>Beispiel</a:t>
            </a:r>
            <a:r>
              <a:rPr lang="en-US" dirty="0"/>
              <a:t> </a:t>
            </a:r>
            <a:r>
              <a:rPr lang="en-US" dirty="0" err="1"/>
              <a:t>nie</a:t>
            </a:r>
            <a:r>
              <a:rPr lang="en-US" dirty="0"/>
              <a:t> </a:t>
            </a:r>
            <a:r>
              <a:rPr lang="en-US" dirty="0" err="1"/>
              <a:t>unter</a:t>
            </a:r>
            <a:r>
              <a:rPr lang="en-US" dirty="0"/>
              <a:t> 3 </a:t>
            </a:r>
            <a:r>
              <a:rPr lang="en-US" dirty="0" err="1"/>
              <a:t>Basispunkten</a:t>
            </a:r>
            <a:r>
              <a:rPr lang="en-US" dirty="0"/>
              <a:t> </a:t>
            </a:r>
            <a:r>
              <a:rPr lang="en-US" dirty="0" err="1"/>
              <a:t>oder</a:t>
            </a:r>
            <a:r>
              <a:rPr lang="en-US" dirty="0"/>
              <a:t> </a:t>
            </a:r>
            <a:r>
              <a:rPr lang="en-US" dirty="0" err="1"/>
              <a:t>über</a:t>
            </a:r>
            <a:r>
              <a:rPr lang="en-US" dirty="0"/>
              <a:t> 50 </a:t>
            </a:r>
            <a:r>
              <a:rPr lang="en-US" dirty="0" err="1"/>
              <a:t>Prozent</a:t>
            </a:r>
            <a:r>
              <a:rPr lang="en-US" dirty="0"/>
              <a:t>. Und </a:t>
            </a:r>
            <a:r>
              <a:rPr lang="en-US" dirty="0" err="1"/>
              <a:t>ganz</a:t>
            </a:r>
            <a:r>
              <a:rPr lang="en-US" dirty="0"/>
              <a:t> </a:t>
            </a:r>
            <a:r>
              <a:rPr lang="en-US" dirty="0" err="1"/>
              <a:t>wichtig</a:t>
            </a:r>
            <a:r>
              <a:rPr lang="en-US" dirty="0"/>
              <a:t>: </a:t>
            </a:r>
            <a:r>
              <a:rPr lang="en-US" dirty="0" err="1"/>
              <a:t>diese</a:t>
            </a:r>
            <a:r>
              <a:rPr lang="en-US" dirty="0"/>
              <a:t> </a:t>
            </a:r>
            <a:r>
              <a:rPr lang="en-US" dirty="0" err="1"/>
              <a:t>Sensitivitäten</a:t>
            </a:r>
            <a:r>
              <a:rPr lang="en-US" dirty="0"/>
              <a:t> </a:t>
            </a:r>
            <a:r>
              <a:rPr lang="en-US" dirty="0" err="1"/>
              <a:t>sind</a:t>
            </a:r>
            <a:r>
              <a:rPr lang="en-US" dirty="0"/>
              <a:t> </a:t>
            </a:r>
            <a:r>
              <a:rPr lang="en-US" dirty="0" err="1"/>
              <a:t>keine</a:t>
            </a:r>
            <a:r>
              <a:rPr lang="en-US" dirty="0"/>
              <a:t> </a:t>
            </a:r>
            <a:r>
              <a:rPr lang="en-US" dirty="0" err="1"/>
              <a:t>selbst</a:t>
            </a:r>
            <a:r>
              <a:rPr lang="en-US" dirty="0"/>
              <a:t> </a:t>
            </a:r>
            <a:r>
              <a:rPr lang="en-US" dirty="0" err="1"/>
              <a:t>geschätzten</a:t>
            </a:r>
            <a:r>
              <a:rPr lang="en-US" dirty="0"/>
              <a:t> Parameter, </a:t>
            </a:r>
            <a:r>
              <a:rPr lang="en-US" dirty="0" err="1"/>
              <a:t>sondern</a:t>
            </a:r>
            <a:r>
              <a:rPr lang="en-US" dirty="0"/>
              <a:t> </a:t>
            </a:r>
            <a:r>
              <a:rPr lang="en-US" dirty="0" err="1"/>
              <a:t>aus</a:t>
            </a:r>
            <a:r>
              <a:rPr lang="en-US" dirty="0"/>
              <a:t> </a:t>
            </a:r>
            <a:r>
              <a:rPr lang="en-US" dirty="0" err="1"/>
              <a:t>anerkannter</a:t>
            </a:r>
            <a:r>
              <a:rPr lang="en-US" dirty="0"/>
              <a:t> </a:t>
            </a:r>
            <a:r>
              <a:rPr lang="en-US" dirty="0" err="1"/>
              <a:t>Aufsichts</a:t>
            </a:r>
            <a:r>
              <a:rPr lang="en-US" dirty="0"/>
              <a:t>- und </a:t>
            </a:r>
            <a:r>
              <a:rPr lang="en-US" dirty="0" err="1"/>
              <a:t>Forschungsliteratur</a:t>
            </a:r>
            <a:r>
              <a:rPr lang="en-US" dirty="0"/>
              <a:t> </a:t>
            </a:r>
            <a:r>
              <a:rPr lang="en-US" dirty="0" err="1"/>
              <a:t>abgeleitet</a:t>
            </a:r>
            <a:r>
              <a:rPr lang="en-US" dirty="0"/>
              <a:t> - </a:t>
            </a:r>
            <a:r>
              <a:rPr lang="en-US" dirty="0" err="1"/>
              <a:t>vom</a:t>
            </a:r>
            <a:r>
              <a:rPr lang="en-US" dirty="0"/>
              <a:t> EBA Stress Test 2025 bis </a:t>
            </a:r>
            <a:r>
              <a:rPr lang="en-US" dirty="0" err="1"/>
              <a:t>zu</a:t>
            </a:r>
            <a:r>
              <a:rPr lang="en-US" dirty="0"/>
              <a:t> </a:t>
            </a:r>
            <a:r>
              <a:rPr lang="en-US" dirty="0" err="1"/>
              <a:t>Arbeiten</a:t>
            </a:r>
            <a:r>
              <a:rPr lang="en-US" dirty="0"/>
              <a:t> der Bank für Internationalen </a:t>
            </a:r>
            <a:r>
              <a:rPr lang="en-US" dirty="0" err="1"/>
              <a:t>Zahlungsausgleich</a:t>
            </a:r>
            <a:r>
              <a:rPr lang="en-US" dirty="0"/>
              <a:t>. Das </a:t>
            </a:r>
            <a:r>
              <a:rPr lang="en-US" dirty="0" err="1"/>
              <a:t>macht</a:t>
            </a:r>
            <a:r>
              <a:rPr lang="en-US" dirty="0"/>
              <a:t> das Modell </a:t>
            </a:r>
            <a:r>
              <a:rPr lang="en-US" dirty="0" err="1"/>
              <a:t>nachvollziehbar</a:t>
            </a:r>
            <a:r>
              <a:rPr lang="en-US" dirty="0"/>
              <a:t> und </a:t>
            </a:r>
            <a:r>
              <a:rPr lang="en-US" dirty="0" err="1"/>
              <a:t>verteidigbar</a:t>
            </a:r>
            <a:r>
              <a:rPr lang="en-US" dirty="0"/>
              <a:t>, nicht </a:t>
            </a:r>
            <a:r>
              <a:rPr lang="en-US" dirty="0" err="1"/>
              <a:t>eine</a:t>
            </a:r>
            <a:r>
              <a:rPr lang="en-US" dirty="0"/>
              <a:t> Black Box.</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Damit das alles greifbar wird, rechnen wir ein konkretes Beispiel durch: ein Schock von plus 50 Prozent beim Ölpreis und plus 200 Basispunkten beim Zehnjahres-Zins, angewendet auf vier verschiedene Bank-Klasse-Kombinationen. Bei UniCredit Corporate reagieren beide Sensitivitäten positiv - die PD steigt von 2,42 auf 2,97 Prozent. Bei der Deutschen Bank im Hypotheken-Geschäft dominiert ganz klar der Zins, weil Beta-rate mit 0,30 deutlich größer ist als Beta-oil - typisch für variabel verzinste Hypotheken. Bei BNP Paribas im QRRE-Segment, also Kreditkarten und revolvierende Konsumkredite, dominiert dagegen der Ölpreis - Konsumenten spüren höhere Energiekosten direkt im verfügbaren Einkommen. Und der vielleicht interessanteste Fall: Banco Santander in der Bank-Klasse erlebt sogar eine leichte Verbesserung der PD, weil ein negativer Beta-rate-Wert den sogenannten Net-Interest-Margin-Uplift abbildet - höhere Zinsen bedeuten für die Bank selbst höhere Zinsmargen, was das gestiegene Kreditrisiko teilweise kompensiert. Das zeigt: steigende Zinsen sind nicht für jeden Akteur im System automatisch schlecht.</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Dieses Chart zeigt die zehn Banken mit dem höchsten gestressten erwarteten Verlust - die größten Risikoträger im System. Die dunkelblauen Balken sind die Baseline vor dem Schock, die kräftigen Crimson-Balken zeigen den Zustand nach dem Schock von plus 65 Prozent Ölpreis und plus 200 Basispunkten Zins. Groupe BPCE führt mit Abstand - von 36,3 auf 39,9 Milliarden Euro erwarteter Verlust. Das ist bemerkenswert, weil BPCE bei der reinen Exposure-Größe gar nicht die größte Bank ist - das deutet auf eine besonders risikoreiche Portfolio-Zusammensetzung hin, zum Beispiel einen hohen Anteil im Other-Retail-Segment, was wir gleich im Drilldown sehen werden. Auch auffällig: bei fast allen Banken steigt der Balken um einen ähnlichen relativen Betrag - das zeigt, dass der Schock systemisch wirkt und nicht nur einzelne Ausreißer betrifft.</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6FDD9F-DD55-E0C8-3657-8B0964C104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7F93C2-FA6A-1C89-91C4-04F39195044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2C2860C-323E-DF10-A12D-C9A0A25AEBA4}"/>
              </a:ext>
            </a:extLst>
          </p:cNvPr>
          <p:cNvSpPr>
            <a:spLocks noGrp="1"/>
          </p:cNvSpPr>
          <p:nvPr>
            <p:ph type="body" idx="1"/>
          </p:nvPr>
        </p:nvSpPr>
        <p:spPr/>
        <p:txBody>
          <a:bodyPr/>
          <a:lstStyle/>
          <a:p>
            <a:r>
              <a:rPr lang="en-US"/>
              <a:t>Die </a:t>
            </a:r>
            <a:r>
              <a:rPr lang="en-US" err="1"/>
              <a:t>zentrale</a:t>
            </a:r>
            <a:r>
              <a:rPr lang="en-US"/>
              <a:t> </a:t>
            </a:r>
            <a:r>
              <a:rPr lang="en-US" err="1"/>
              <a:t>formel</a:t>
            </a:r>
            <a:r>
              <a:rPr lang="en-US"/>
              <a:t>, das tab was </a:t>
            </a:r>
            <a:endParaRPr/>
          </a:p>
        </p:txBody>
      </p:sp>
      <p:sp>
        <p:nvSpPr>
          <p:cNvPr id="4" name="Slide Number Placeholder 3">
            <a:extLst>
              <a:ext uri="{FF2B5EF4-FFF2-40B4-BE49-F238E27FC236}">
                <a16:creationId xmlns:a16="http://schemas.microsoft.com/office/drawing/2014/main" id="{0E0EACDA-8167-88A4-D70E-C7352FA402F5}"/>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40341745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sz="1200" b="0">
                <a:solidFill>
                  <a:srgbClr val="051C2C"/>
                </a:solidFill>
                <a:latin typeface="Aptos"/>
              </a:rPr>
              <a:t>nicht ob ein Schuldner ausfällt, sondern …</a:t>
            </a:r>
            <a:endParaRPr lang="de-DE"/>
          </a:p>
        </p:txBody>
      </p:sp>
      <p:sp>
        <p:nvSpPr>
          <p:cNvPr id="4" name="Foliennummernplatzhalter 3"/>
          <p:cNvSpPr>
            <a:spLocks noGrp="1"/>
          </p:cNvSpPr>
          <p:nvPr>
            <p:ph type="sldNum" sz="quarter" idx="5"/>
          </p:nvPr>
        </p:nvSpPr>
        <p:spPr/>
        <p:txBody>
          <a:bodyPr/>
          <a:lstStyle/>
          <a:p>
            <a:endParaRPr lang="de-DE"/>
          </a:p>
        </p:txBody>
      </p:sp>
    </p:spTree>
    <p:extLst>
      <p:ext uri="{BB962C8B-B14F-4D97-AF65-F5344CB8AC3E}">
        <p14:creationId xmlns:p14="http://schemas.microsoft.com/office/powerpoint/2010/main" val="353034080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200" b="1">
                <a:solidFill>
                  <a:srgbClr val="051C2C"/>
                </a:solidFill>
                <a:latin typeface="Aptos"/>
              </a:rPr>
              <a:t>Übergabe an das Eigenkapital-Kapitel:  </a:t>
            </a:r>
            <a:r>
              <a:rPr lang="de-DE" sz="1200" b="0">
                <a:solidFill>
                  <a:srgbClr val="4F6875"/>
                </a:solidFill>
                <a:latin typeface="Aptos"/>
              </a:rPr>
              <a:t>−18,5 </a:t>
            </a:r>
            <a:r>
              <a:rPr lang="de-DE" sz="1200" b="0" err="1">
                <a:solidFill>
                  <a:srgbClr val="4F6875"/>
                </a:solidFill>
                <a:latin typeface="Aptos"/>
              </a:rPr>
              <a:t>Mrd</a:t>
            </a:r>
            <a:r>
              <a:rPr lang="de-DE" sz="1200" b="0">
                <a:solidFill>
                  <a:srgbClr val="4F6875"/>
                </a:solidFill>
                <a:latin typeface="Aptos"/>
              </a:rPr>
              <a:t> € (brutto/Obergrenze, vor Steuern) gehen als Sovereign-Marktwertverlust in den Zähler der CET1-Bridge.</a:t>
            </a:r>
          </a:p>
          <a:p>
            <a:endParaRPr lang="de-DE"/>
          </a:p>
        </p:txBody>
      </p:sp>
      <p:sp>
        <p:nvSpPr>
          <p:cNvPr id="4" name="Foliennummernplatzhalter 3"/>
          <p:cNvSpPr>
            <a:spLocks noGrp="1"/>
          </p:cNvSpPr>
          <p:nvPr>
            <p:ph type="sldNum" sz="quarter" idx="5"/>
          </p:nvPr>
        </p:nvSpPr>
        <p:spPr/>
        <p:txBody>
          <a:bodyPr/>
          <a:lstStyle/>
          <a:p>
            <a:endParaRPr lang="de-DE"/>
          </a:p>
        </p:txBody>
      </p:sp>
    </p:spTree>
    <p:extLst>
      <p:ext uri="{BB962C8B-B14F-4D97-AF65-F5344CB8AC3E}">
        <p14:creationId xmlns:p14="http://schemas.microsoft.com/office/powerpoint/2010/main" val="361857290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de-DE"/>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de-DE"/>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de-DE"/>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de-DE"/>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de-DE"/>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de-DE"/>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de-DE"/>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87864654"/>
      </p:ext>
    </p:extLst>
  </p:cSld>
  <p:clrMapOvr>
    <a:masterClrMapping/>
  </p:clrMapOvr>
  <p:hf hdr="0" ftr="0" dt="0"/>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hdr="0" ftr="0" dt="0"/>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chart" Target="../charts/chart4.xml"/></Relationships>
</file>

<file path=ppt/slides/_rels/slide28.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1.xml"/><Relationship Id="rId1" Type="http://schemas.openxmlformats.org/officeDocument/2006/relationships/themeOverride" Target="../theme/themeOverride1.xml"/><Relationship Id="rId4" Type="http://schemas.openxmlformats.org/officeDocument/2006/relationships/image" Target="../media/image3.png"/></Relationships>
</file>

<file path=ppt/slides/_rels/slide5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3.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6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4.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1D1F5E2-599D-4563-A7EF-AAA04248971C}"/>
              </a:ext>
            </a:extLst>
          </p:cNvPr>
          <p:cNvSpPr>
            <a:spLocks noGrp="1"/>
          </p:cNvSpPr>
          <p:nvPr/>
        </p:nvSpPr>
        <p:spPr>
          <a:xfrm>
            <a:off x="590550" y="590550"/>
            <a:ext cx="4762500" cy="148590"/>
          </a:xfrm>
          <a:prstGeom prst="rect">
            <a:avLst/>
          </a:prstGeom>
        </p:spPr>
        <p:txBody>
          <a:bodyPr lIns="0" tIns="0" rIns="0" bIns="0" anchor="t"/>
          <a:lstStyle/>
          <a:p>
            <a:pPr algn="l">
              <a:defRPr sz="975" b="1">
                <a:solidFill>
                  <a:srgbClr val="5B666D"/>
                </a:solidFill>
                <a:latin typeface="Aptos"/>
                <a:ea typeface="Aptos"/>
                <a:cs typeface="Aptos"/>
              </a:defRPr>
            </a:pPr>
            <a:r>
              <a:t>QUANTITATIVES CREDIT-RISK-MANAGEMENT</a:t>
            </a:r>
          </a:p>
        </p:txBody>
      </p:sp>
      <p:sp>
        <p:nvSpPr>
          <p:cNvPr id="3" name="Rectangle 2">
            <a:extLst>
              <a:ext uri="{FF2B5EF4-FFF2-40B4-BE49-F238E27FC236}">
                <a16:creationId xmlns:a16="http://schemas.microsoft.com/office/drawing/2014/main" id="{F38B4638-C4B6-4C94-9873-5ACEED13715C}"/>
              </a:ext>
            </a:extLst>
          </p:cNvPr>
          <p:cNvSpPr>
            <a:spLocks noGrp="1"/>
          </p:cNvSpPr>
          <p:nvPr/>
        </p:nvSpPr>
        <p:spPr>
          <a:xfrm>
            <a:off x="8172450" y="590550"/>
            <a:ext cx="3429000" cy="148590"/>
          </a:xfrm>
          <a:prstGeom prst="rect">
            <a:avLst/>
          </a:prstGeom>
        </p:spPr>
        <p:txBody>
          <a:bodyPr lIns="0" tIns="0" rIns="0" bIns="0" anchor="t"/>
          <a:lstStyle/>
          <a:p>
            <a:pPr algn="r">
              <a:defRPr sz="975" b="0">
                <a:solidFill>
                  <a:srgbClr val="5B666D"/>
                </a:solidFill>
                <a:latin typeface="Aptos"/>
                <a:ea typeface="Aptos"/>
                <a:cs typeface="Aptos"/>
              </a:defRPr>
            </a:pPr>
            <a:r>
              <a:t>HS Düsseldorf · Sommersemester 2026</a:t>
            </a:r>
          </a:p>
        </p:txBody>
      </p:sp>
      <p:sp>
        <p:nvSpPr>
          <p:cNvPr id="4" name="Rectangle 3">
            <a:extLst>
              <a:ext uri="{FF2B5EF4-FFF2-40B4-BE49-F238E27FC236}">
                <a16:creationId xmlns:a16="http://schemas.microsoft.com/office/drawing/2014/main" id="{D963A526-B1BE-4136-BB91-90C804A41389}"/>
              </a:ext>
            </a:extLst>
          </p:cNvPr>
          <p:cNvSpPr>
            <a:spLocks noGrp="1"/>
          </p:cNvSpPr>
          <p:nvPr/>
        </p:nvSpPr>
        <p:spPr>
          <a:xfrm>
            <a:off x="590550" y="1779270"/>
            <a:ext cx="819150" cy="76200"/>
          </a:xfrm>
          <a:prstGeom prst="rect">
            <a:avLst/>
          </a:prstGeom>
          <a:solidFill>
            <a:srgbClr val="A63B4D"/>
          </a:solidFill>
        </p:spPr>
        <p:txBody>
          <a:bodyPr/>
          <a:lstStyle/>
          <a:p>
            <a:endParaRPr lang="en-US"/>
          </a:p>
        </p:txBody>
      </p:sp>
      <p:sp>
        <p:nvSpPr>
          <p:cNvPr id="5" name="Rectangle 4">
            <a:extLst>
              <a:ext uri="{FF2B5EF4-FFF2-40B4-BE49-F238E27FC236}">
                <a16:creationId xmlns:a16="http://schemas.microsoft.com/office/drawing/2014/main" id="{EAE44E4E-DCCB-45D8-BC1D-75886E646EBE}"/>
              </a:ext>
            </a:extLst>
          </p:cNvPr>
          <p:cNvSpPr>
            <a:spLocks noGrp="1"/>
          </p:cNvSpPr>
          <p:nvPr/>
        </p:nvSpPr>
        <p:spPr>
          <a:xfrm>
            <a:off x="590550" y="2055495"/>
            <a:ext cx="9715500" cy="1524000"/>
          </a:xfrm>
          <a:prstGeom prst="rect">
            <a:avLst/>
          </a:prstGeom>
        </p:spPr>
        <p:txBody>
          <a:bodyPr lIns="0" tIns="0" rIns="0" bIns="0" anchor="t"/>
          <a:lstStyle/>
          <a:p>
            <a:pPr algn="l">
              <a:defRPr sz="4575" b="1">
                <a:solidFill>
                  <a:srgbClr val="071C2C"/>
                </a:solidFill>
                <a:latin typeface="Aptos Display"/>
                <a:ea typeface="Aptos Display"/>
                <a:cs typeface="Aptos Display"/>
              </a:defRPr>
            </a:pPr>
            <a:r>
              <a:rPr dirty="0"/>
              <a:t>EU Banking Credit</a:t>
            </a:r>
          </a:p>
          <a:p>
            <a:pPr algn="l">
              <a:defRPr sz="4575" b="1">
                <a:solidFill>
                  <a:srgbClr val="071C2C"/>
                </a:solidFill>
                <a:latin typeface="Aptos Display"/>
                <a:ea typeface="Aptos Display"/>
                <a:cs typeface="Aptos Display"/>
              </a:defRPr>
            </a:pPr>
            <a:r>
              <a:rPr dirty="0"/>
              <a:t>Stress Cockpit</a:t>
            </a:r>
          </a:p>
        </p:txBody>
      </p:sp>
      <p:sp>
        <p:nvSpPr>
          <p:cNvPr id="6" name="Rectangle 5">
            <a:extLst>
              <a:ext uri="{FF2B5EF4-FFF2-40B4-BE49-F238E27FC236}">
                <a16:creationId xmlns:a16="http://schemas.microsoft.com/office/drawing/2014/main" id="{7FE2688C-FA11-498A-B9BC-2BE9AD4D3DE7}"/>
              </a:ext>
            </a:extLst>
          </p:cNvPr>
          <p:cNvSpPr>
            <a:spLocks noGrp="1"/>
          </p:cNvSpPr>
          <p:nvPr/>
        </p:nvSpPr>
        <p:spPr>
          <a:xfrm>
            <a:off x="590550" y="3779520"/>
            <a:ext cx="7810500" cy="762000"/>
          </a:xfrm>
          <a:prstGeom prst="rect">
            <a:avLst/>
          </a:prstGeom>
        </p:spPr>
        <p:txBody>
          <a:bodyPr lIns="0" tIns="0" rIns="0" bIns="0" anchor="t"/>
          <a:lstStyle/>
          <a:p>
            <a:pPr algn="l">
              <a:defRPr sz="2025" b="0">
                <a:solidFill>
                  <a:srgbClr val="5B666D"/>
                </a:solidFill>
                <a:latin typeface="Aptos"/>
                <a:ea typeface="Aptos"/>
                <a:cs typeface="Aptos"/>
              </a:defRPr>
            </a:pPr>
            <a:r>
              <a:t>Zwei Makrofaktoren. Zwei Bilanzkanäle.</a:t>
            </a:r>
          </a:p>
          <a:p>
            <a:pPr algn="l">
              <a:defRPr sz="2025" b="0">
                <a:solidFill>
                  <a:srgbClr val="5B666D"/>
                </a:solidFill>
                <a:latin typeface="Aptos"/>
                <a:ea typeface="Aptos"/>
                <a:cs typeface="Aptos"/>
              </a:defRPr>
            </a:pPr>
            <a:r>
              <a:t>Eine nachvollziehbare CET1-Wirkung.</a:t>
            </a:r>
          </a:p>
        </p:txBody>
      </p:sp>
      <p:sp>
        <p:nvSpPr>
          <p:cNvPr id="7" name="Rectangle 6">
            <a:extLst>
              <a:ext uri="{FF2B5EF4-FFF2-40B4-BE49-F238E27FC236}">
                <a16:creationId xmlns:a16="http://schemas.microsoft.com/office/drawing/2014/main" id="{C89243DF-3E50-4425-86C5-771EE98AFC7D}"/>
              </a:ext>
            </a:extLst>
          </p:cNvPr>
          <p:cNvSpPr>
            <a:spLocks noGrp="1"/>
          </p:cNvSpPr>
          <p:nvPr/>
        </p:nvSpPr>
        <p:spPr>
          <a:xfrm>
            <a:off x="590550" y="5878830"/>
            <a:ext cx="6953250" cy="137160"/>
          </a:xfrm>
          <a:prstGeom prst="rect">
            <a:avLst/>
          </a:prstGeom>
        </p:spPr>
        <p:txBody>
          <a:bodyPr lIns="0" tIns="0" rIns="0" bIns="0" anchor="t"/>
          <a:lstStyle/>
          <a:p>
            <a:pPr algn="l">
              <a:defRPr sz="900" b="1">
                <a:solidFill>
                  <a:srgbClr val="8C8780"/>
                </a:solidFill>
                <a:latin typeface="Aptos"/>
                <a:ea typeface="Aptos"/>
                <a:cs typeface="Aptos"/>
              </a:defRPr>
            </a:pPr>
            <a:r>
              <a:t>Team</a:t>
            </a:r>
          </a:p>
        </p:txBody>
      </p:sp>
      <p:sp>
        <p:nvSpPr>
          <p:cNvPr id="8" name="Rectangle 7">
            <a:extLst>
              <a:ext uri="{FF2B5EF4-FFF2-40B4-BE49-F238E27FC236}">
                <a16:creationId xmlns:a16="http://schemas.microsoft.com/office/drawing/2014/main" id="{BBA868CA-EF15-4446-895A-F89C293A1324}"/>
              </a:ext>
            </a:extLst>
          </p:cNvPr>
          <p:cNvSpPr>
            <a:spLocks noGrp="1"/>
          </p:cNvSpPr>
          <p:nvPr/>
        </p:nvSpPr>
        <p:spPr>
          <a:xfrm>
            <a:off x="590550" y="6073140"/>
            <a:ext cx="6953250" cy="194310"/>
          </a:xfrm>
          <a:prstGeom prst="rect">
            <a:avLst/>
          </a:prstGeom>
        </p:spPr>
        <p:txBody>
          <a:bodyPr lIns="0" tIns="0" rIns="0" bIns="0" anchor="t"/>
          <a:lstStyle/>
          <a:p>
            <a:pPr>
              <a:defRPr sz="1275" b="0">
                <a:solidFill>
                  <a:srgbClr val="071C2C"/>
                </a:solidFill>
                <a:latin typeface="Aptos"/>
                <a:ea typeface="Aptos"/>
                <a:cs typeface="Aptos"/>
              </a:defRPr>
            </a:pPr>
            <a:r>
              <a:rPr lang="de-DE" sz="1200"/>
              <a:t>Bleron Gashi · Dani </a:t>
            </a:r>
            <a:r>
              <a:rPr lang="de-DE" sz="1200" err="1"/>
              <a:t>Alsadakah</a:t>
            </a:r>
            <a:r>
              <a:rPr lang="de-DE" sz="1200"/>
              <a:t> · Nico Neubauer· Hamzah </a:t>
            </a:r>
            <a:r>
              <a:rPr lang="de-DE" sz="1200" err="1"/>
              <a:t>Alrihawi</a:t>
            </a:r>
            <a:r>
              <a:rPr lang="de-DE" sz="1200"/>
              <a:t>· Eya Ben Romdhane</a:t>
            </a:r>
          </a:p>
        </p:txBody>
      </p:sp>
      <p:sp>
        <p:nvSpPr>
          <p:cNvPr id="9" name="CodexSlideNumber">
            <a:extLst>
              <a:ext uri="{FF2B5EF4-FFF2-40B4-BE49-F238E27FC236}">
                <a16:creationId xmlns:a16="http://schemas.microsoft.com/office/drawing/2014/main" id="{AFDDE2BC-A192-4322-B2F0-AAD65EC33DD1}"/>
              </a:ext>
            </a:extLst>
          </p:cNvPr>
          <p:cNvSpPr txBox="1"/>
          <p:nvPr/>
        </p:nvSpPr>
        <p:spPr>
          <a:xfrm>
            <a:off x="11226800" y="6553200"/>
            <a:ext cx="736600" cy="123111"/>
          </a:xfrm>
          <a:prstGeom prst="rect">
            <a:avLst/>
          </a:prstGeom>
          <a:noFill/>
        </p:spPr>
        <p:txBody>
          <a:bodyPr vert="horz" lIns="0" tIns="0" rIns="0" bIns="0" rtlCol="0">
            <a:spAutoFit/>
          </a:bodyPr>
          <a:lstStyle/>
          <a:p>
            <a:pPr algn="r"/>
            <a:r>
              <a:rPr lang="en-US" sz="800">
                <a:solidFill>
                  <a:srgbClr val="525252"/>
                </a:solidFill>
                <a:latin typeface="Arial" panose="020B0604020202020204" pitchFamily="34" charset="0"/>
              </a:rPr>
              <a:t>1 / 64</a:t>
            </a:r>
          </a:p>
        </p:txBody>
      </p:sp>
    </p:spTree>
    <p:extLst>
      <p:ext uri="{BB962C8B-B14F-4D97-AF65-F5344CB8AC3E}">
        <p14:creationId xmlns:p14="http://schemas.microsoft.com/office/powerpoint/2010/main" val="13219803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kicker-intro-label">
            <a:extLst>
              <a:ext uri="{FF2B5EF4-FFF2-40B4-BE49-F238E27FC236}">
                <a16:creationId xmlns:a16="http://schemas.microsoft.com/office/drawing/2014/main" id="{BC04C8A1-6DD3-43CB-848D-6E0D2EC5F229}"/>
              </a:ext>
            </a:extLst>
          </p:cNvPr>
          <p:cNvSpPr>
            <a:spLocks noGrp="1"/>
          </p:cNvSpPr>
          <p:nvPr/>
        </p:nvSpPr>
        <p:spPr>
          <a:xfrm>
            <a:off x="600075" y="438150"/>
            <a:ext cx="2476500" cy="190500"/>
          </a:xfrm>
          <a:prstGeom prst="rect">
            <a:avLst/>
          </a:prstGeom>
        </p:spPr>
        <p:txBody>
          <a:bodyPr lIns="0" tIns="0" rIns="0" bIns="0" anchor="ctr"/>
          <a:lstStyle/>
          <a:p>
            <a:pPr>
              <a:defRPr sz="975" b="1">
                <a:solidFill>
                  <a:srgbClr val="5B666D"/>
                </a:solidFill>
                <a:latin typeface="Aptos"/>
                <a:ea typeface="Aptos"/>
                <a:cs typeface="Aptos"/>
              </a:defRPr>
            </a:pPr>
            <a:r>
              <a:rPr lang="en-GB" sz="863" b="1">
                <a:solidFill>
                  <a:schemeClr val="tx2"/>
                </a:solidFill>
                <a:latin typeface="Aptos"/>
              </a:rPr>
              <a:t>EINFÜHRUNG</a:t>
            </a:r>
          </a:p>
        </p:txBody>
      </p:sp>
      <p:sp>
        <p:nvSpPr>
          <p:cNvPr id="4" name="Rectangle 3">
            <a:extLst>
              <a:ext uri="{FF2B5EF4-FFF2-40B4-BE49-F238E27FC236}">
                <a16:creationId xmlns:a16="http://schemas.microsoft.com/office/drawing/2014/main" id="{883A4ACA-894E-4002-9476-1D863568FFE5}"/>
              </a:ext>
            </a:extLst>
          </p:cNvPr>
          <p:cNvSpPr>
            <a:spLocks noGrp="1"/>
          </p:cNvSpPr>
          <p:nvPr/>
        </p:nvSpPr>
        <p:spPr>
          <a:xfrm>
            <a:off x="438150" y="695325"/>
            <a:ext cx="11315700" cy="419100"/>
          </a:xfrm>
          <a:prstGeom prst="rect">
            <a:avLst/>
          </a:prstGeom>
        </p:spPr>
        <p:txBody>
          <a:bodyPr lIns="0" tIns="0" rIns="0" bIns="0" anchor="t"/>
          <a:lstStyle/>
          <a:p>
            <a:pPr algn="l">
              <a:defRPr sz="2700" b="1">
                <a:solidFill>
                  <a:srgbClr val="071C2C"/>
                </a:solidFill>
                <a:latin typeface="Aptos Display"/>
                <a:ea typeface="Aptos Display"/>
                <a:cs typeface="Aptos Display"/>
              </a:defRPr>
            </a:pPr>
            <a:r>
              <a:rPr lang="de-DE"/>
              <a:t>Das Modell wird sequentiell pro </a:t>
            </a:r>
            <a:r>
              <a:rPr lang="de-DE" err="1"/>
              <a:t>Modelltab</a:t>
            </a:r>
            <a:r>
              <a:rPr lang="de-DE"/>
              <a:t> erläutert</a:t>
            </a:r>
            <a:endParaRPr/>
          </a:p>
        </p:txBody>
      </p:sp>
      <p:sp>
        <p:nvSpPr>
          <p:cNvPr id="5" name="Rectangle 4">
            <a:extLst>
              <a:ext uri="{FF2B5EF4-FFF2-40B4-BE49-F238E27FC236}">
                <a16:creationId xmlns:a16="http://schemas.microsoft.com/office/drawing/2014/main" id="{99F3E66E-71A4-4F4F-906C-1B3FC363B8C7}"/>
              </a:ext>
            </a:extLst>
          </p:cNvPr>
          <p:cNvSpPr>
            <a:spLocks noGrp="1"/>
          </p:cNvSpPr>
          <p:nvPr/>
        </p:nvSpPr>
        <p:spPr>
          <a:xfrm>
            <a:off x="438150" y="1181100"/>
            <a:ext cx="11315700" cy="209550"/>
          </a:xfrm>
          <a:prstGeom prst="rect">
            <a:avLst/>
          </a:prstGeom>
        </p:spPr>
        <p:txBody>
          <a:bodyPr lIns="0" tIns="0" rIns="0" bIns="0" anchor="t"/>
          <a:lstStyle/>
          <a:p>
            <a:pPr algn="l">
              <a:defRPr sz="1200" b="0">
                <a:solidFill>
                  <a:srgbClr val="5B666D"/>
                </a:solidFill>
                <a:latin typeface="Aptos"/>
                <a:ea typeface="Aptos"/>
                <a:cs typeface="Aptos"/>
              </a:defRPr>
            </a:pPr>
            <a:r>
              <a:rPr lang="de-DE"/>
              <a:t>Nache einer Einführung in die ökonomische Fundierung erfolgt eine sequentielle Vorstellung des Modells inklusive einem Use Case  </a:t>
            </a:r>
            <a:endParaRPr/>
          </a:p>
        </p:txBody>
      </p:sp>
      <p:sp>
        <p:nvSpPr>
          <p:cNvPr id="6" name="Rectangle 5">
            <a:extLst>
              <a:ext uri="{FF2B5EF4-FFF2-40B4-BE49-F238E27FC236}">
                <a16:creationId xmlns:a16="http://schemas.microsoft.com/office/drawing/2014/main" id="{F1EC5A8C-63F0-4CC6-983B-ED97B97545F3}"/>
              </a:ext>
            </a:extLst>
          </p:cNvPr>
          <p:cNvSpPr>
            <a:spLocks noGrp="1"/>
          </p:cNvSpPr>
          <p:nvPr/>
        </p:nvSpPr>
        <p:spPr>
          <a:xfrm>
            <a:off x="438150" y="1581150"/>
            <a:ext cx="2196000" cy="438150"/>
          </a:xfrm>
          <a:prstGeom prst="rect">
            <a:avLst/>
          </a:prstGeom>
          <a:solidFill>
            <a:schemeClr val="accent1">
              <a:lumMod val="50000"/>
            </a:schemeClr>
          </a:solidFill>
        </p:spPr>
        <p:txBody>
          <a:bodyPr/>
          <a:lstStyle/>
          <a:p>
            <a:endParaRPr lang="en-US"/>
          </a:p>
        </p:txBody>
      </p:sp>
      <p:sp>
        <p:nvSpPr>
          <p:cNvPr id="7" name="Rectangle 6">
            <a:extLst>
              <a:ext uri="{FF2B5EF4-FFF2-40B4-BE49-F238E27FC236}">
                <a16:creationId xmlns:a16="http://schemas.microsoft.com/office/drawing/2014/main" id="{E48D5BD2-8040-4B29-BFC7-231FCBE7731D}"/>
              </a:ext>
            </a:extLst>
          </p:cNvPr>
          <p:cNvSpPr>
            <a:spLocks noGrp="1"/>
          </p:cNvSpPr>
          <p:nvPr/>
        </p:nvSpPr>
        <p:spPr>
          <a:xfrm>
            <a:off x="495300" y="1714499"/>
            <a:ext cx="2195999" cy="228601"/>
          </a:xfrm>
          <a:prstGeom prst="rect">
            <a:avLst/>
          </a:prstGeom>
        </p:spPr>
        <p:txBody>
          <a:bodyPr lIns="0" tIns="0" rIns="0" bIns="0" anchor="t"/>
          <a:lstStyle/>
          <a:p>
            <a:pPr algn="ctr">
              <a:defRPr sz="1125" b="1">
                <a:solidFill>
                  <a:srgbClr val="FFFFFF"/>
                </a:solidFill>
                <a:latin typeface="Aptos"/>
                <a:ea typeface="Aptos"/>
                <a:cs typeface="Aptos"/>
              </a:defRPr>
            </a:pPr>
            <a:r>
              <a:rPr lang="en-US"/>
              <a:t>Einführung + Faktor-</a:t>
            </a:r>
            <a:r>
              <a:rPr lang="en-US" err="1"/>
              <a:t>Analyse</a:t>
            </a:r>
            <a:endParaRPr lang="en-US"/>
          </a:p>
        </p:txBody>
      </p:sp>
      <p:sp>
        <p:nvSpPr>
          <p:cNvPr id="9" name="Rectangle 8">
            <a:extLst>
              <a:ext uri="{FF2B5EF4-FFF2-40B4-BE49-F238E27FC236}">
                <a16:creationId xmlns:a16="http://schemas.microsoft.com/office/drawing/2014/main" id="{64AA7F31-186E-4154-A9A0-056AFCC39E79}"/>
              </a:ext>
            </a:extLst>
          </p:cNvPr>
          <p:cNvSpPr>
            <a:spLocks noGrp="1"/>
          </p:cNvSpPr>
          <p:nvPr/>
        </p:nvSpPr>
        <p:spPr>
          <a:xfrm>
            <a:off x="4800600" y="1633538"/>
            <a:ext cx="4762500" cy="333375"/>
          </a:xfrm>
          <a:prstGeom prst="rect">
            <a:avLst/>
          </a:prstGeom>
        </p:spPr>
        <p:txBody>
          <a:bodyPr lIns="0" tIns="0" rIns="0" bIns="0" anchor="ctr"/>
          <a:lstStyle/>
          <a:p>
            <a:pPr algn="l">
              <a:defRPr sz="1050" b="0">
                <a:solidFill>
                  <a:srgbClr val="5B666D"/>
                </a:solidFill>
                <a:latin typeface="Aptos"/>
                <a:ea typeface="Aptos"/>
                <a:cs typeface="Aptos"/>
              </a:defRPr>
            </a:pPr>
            <a:r>
              <a:t>Warum das Modell? Warum zwei Faktoren?</a:t>
            </a:r>
          </a:p>
        </p:txBody>
      </p:sp>
      <p:sp>
        <p:nvSpPr>
          <p:cNvPr id="10" name="Rectangle: Rounded Corners 9">
            <a:extLst>
              <a:ext uri="{FF2B5EF4-FFF2-40B4-BE49-F238E27FC236}">
                <a16:creationId xmlns:a16="http://schemas.microsoft.com/office/drawing/2014/main" id="{96C008EB-4DB8-4772-BBFF-12C42C57B724}"/>
              </a:ext>
            </a:extLst>
          </p:cNvPr>
          <p:cNvSpPr>
            <a:spLocks noGrp="1"/>
          </p:cNvSpPr>
          <p:nvPr/>
        </p:nvSpPr>
        <p:spPr>
          <a:xfrm>
            <a:off x="9696450" y="1657350"/>
            <a:ext cx="1314450" cy="285750"/>
          </a:xfrm>
          <a:prstGeom prst="roundRect">
            <a:avLst>
              <a:gd name="adj" fmla="val 40000"/>
            </a:avLst>
          </a:prstGeom>
          <a:solidFill>
            <a:schemeClr val="accent4">
              <a:lumMod val="20000"/>
              <a:lumOff val="80000"/>
            </a:schemeClr>
          </a:solidFill>
        </p:spPr>
        <p:txBody>
          <a:bodyPr/>
          <a:lstStyle/>
          <a:p>
            <a:endParaRPr lang="en-US"/>
          </a:p>
        </p:txBody>
      </p:sp>
      <p:sp>
        <p:nvSpPr>
          <p:cNvPr id="11" name="Rectangle 10">
            <a:extLst>
              <a:ext uri="{FF2B5EF4-FFF2-40B4-BE49-F238E27FC236}">
                <a16:creationId xmlns:a16="http://schemas.microsoft.com/office/drawing/2014/main" id="{D55A0670-E37E-4C25-B1B6-DB839A84DCC5}"/>
              </a:ext>
            </a:extLst>
          </p:cNvPr>
          <p:cNvSpPr>
            <a:spLocks noGrp="1"/>
          </p:cNvSpPr>
          <p:nvPr/>
        </p:nvSpPr>
        <p:spPr>
          <a:xfrm>
            <a:off x="9763125" y="1724025"/>
            <a:ext cx="1181100" cy="137160"/>
          </a:xfrm>
          <a:prstGeom prst="rect">
            <a:avLst/>
          </a:prstGeom>
        </p:spPr>
        <p:txBody>
          <a:bodyPr lIns="0" tIns="0" rIns="0" bIns="0" anchor="t"/>
          <a:lstStyle/>
          <a:p>
            <a:pPr algn="ctr">
              <a:defRPr sz="900" b="1">
                <a:solidFill>
                  <a:srgbClr val="0B5A7A"/>
                </a:solidFill>
                <a:latin typeface="Aptos"/>
                <a:ea typeface="Aptos"/>
                <a:cs typeface="Aptos"/>
              </a:defRPr>
            </a:pPr>
            <a:r>
              <a:t>1</a:t>
            </a:r>
            <a:r>
              <a:rPr lang="de-DE"/>
              <a:t>5</a:t>
            </a:r>
            <a:r>
              <a:t> Min.</a:t>
            </a:r>
          </a:p>
        </p:txBody>
      </p:sp>
      <p:sp>
        <p:nvSpPr>
          <p:cNvPr id="12" name="Rectangle 11">
            <a:extLst>
              <a:ext uri="{FF2B5EF4-FFF2-40B4-BE49-F238E27FC236}">
                <a16:creationId xmlns:a16="http://schemas.microsoft.com/office/drawing/2014/main" id="{E171A7D8-8659-44F6-81A8-915EEE050ACA}"/>
              </a:ext>
            </a:extLst>
          </p:cNvPr>
          <p:cNvSpPr>
            <a:spLocks noGrp="1"/>
          </p:cNvSpPr>
          <p:nvPr/>
        </p:nvSpPr>
        <p:spPr>
          <a:xfrm>
            <a:off x="438150" y="2295525"/>
            <a:ext cx="2196000" cy="438150"/>
          </a:xfrm>
          <a:prstGeom prst="rect">
            <a:avLst/>
          </a:prstGeom>
          <a:solidFill>
            <a:schemeClr val="accent1">
              <a:lumMod val="50000"/>
            </a:schemeClr>
          </a:solidFill>
        </p:spPr>
        <p:txBody>
          <a:bodyPr/>
          <a:lstStyle/>
          <a:p>
            <a:endParaRPr lang="en-US"/>
          </a:p>
        </p:txBody>
      </p:sp>
      <p:sp>
        <p:nvSpPr>
          <p:cNvPr id="13" name="Rectangle 12">
            <a:extLst>
              <a:ext uri="{FF2B5EF4-FFF2-40B4-BE49-F238E27FC236}">
                <a16:creationId xmlns:a16="http://schemas.microsoft.com/office/drawing/2014/main" id="{94268520-2CB8-4D26-A946-640F7F04653D}"/>
              </a:ext>
            </a:extLst>
          </p:cNvPr>
          <p:cNvSpPr>
            <a:spLocks noGrp="1"/>
          </p:cNvSpPr>
          <p:nvPr/>
        </p:nvSpPr>
        <p:spPr>
          <a:xfrm>
            <a:off x="561975" y="2419350"/>
            <a:ext cx="990600" cy="171450"/>
          </a:xfrm>
          <a:prstGeom prst="rect">
            <a:avLst/>
          </a:prstGeom>
        </p:spPr>
        <p:txBody>
          <a:bodyPr lIns="0" tIns="0" rIns="0" bIns="0" anchor="t"/>
          <a:lstStyle/>
          <a:p>
            <a:pPr algn="ctr">
              <a:defRPr sz="1125" b="1">
                <a:solidFill>
                  <a:srgbClr val="FFFFFF"/>
                </a:solidFill>
                <a:latin typeface="Aptos"/>
                <a:ea typeface="Aptos"/>
                <a:cs typeface="Aptos"/>
              </a:defRPr>
            </a:pPr>
            <a:r>
              <a:rPr lang="de-DE"/>
              <a:t>Kreditbuch</a:t>
            </a:r>
            <a:endParaRPr/>
          </a:p>
        </p:txBody>
      </p:sp>
      <p:sp>
        <p:nvSpPr>
          <p:cNvPr id="15" name="Rectangle 14">
            <a:extLst>
              <a:ext uri="{FF2B5EF4-FFF2-40B4-BE49-F238E27FC236}">
                <a16:creationId xmlns:a16="http://schemas.microsoft.com/office/drawing/2014/main" id="{9A79A2E2-B859-4C08-A5CF-C422CE088005}"/>
              </a:ext>
            </a:extLst>
          </p:cNvPr>
          <p:cNvSpPr>
            <a:spLocks noGrp="1"/>
          </p:cNvSpPr>
          <p:nvPr/>
        </p:nvSpPr>
        <p:spPr>
          <a:xfrm>
            <a:off x="4800600" y="2347913"/>
            <a:ext cx="4762500" cy="333375"/>
          </a:xfrm>
          <a:prstGeom prst="rect">
            <a:avLst/>
          </a:prstGeom>
        </p:spPr>
        <p:txBody>
          <a:bodyPr lIns="0" tIns="0" rIns="0" bIns="0" anchor="ctr"/>
          <a:lstStyle/>
          <a:p>
            <a:pPr algn="l">
              <a:defRPr sz="1050" b="0">
                <a:solidFill>
                  <a:srgbClr val="5B666D"/>
                </a:solidFill>
                <a:latin typeface="Aptos"/>
                <a:ea typeface="Aptos"/>
                <a:cs typeface="Aptos"/>
              </a:defRPr>
            </a:pPr>
            <a:r>
              <a:t>PD/LGD, Expected Loss und Basel-IRB-RWA</a:t>
            </a:r>
          </a:p>
        </p:txBody>
      </p:sp>
      <p:sp>
        <p:nvSpPr>
          <p:cNvPr id="16" name="Rectangle: Rounded Corners 15">
            <a:extLst>
              <a:ext uri="{FF2B5EF4-FFF2-40B4-BE49-F238E27FC236}">
                <a16:creationId xmlns:a16="http://schemas.microsoft.com/office/drawing/2014/main" id="{6E9A6BBE-6721-4681-8735-292EC6282D40}"/>
              </a:ext>
            </a:extLst>
          </p:cNvPr>
          <p:cNvSpPr>
            <a:spLocks noGrp="1"/>
          </p:cNvSpPr>
          <p:nvPr/>
        </p:nvSpPr>
        <p:spPr>
          <a:xfrm>
            <a:off x="9696450" y="2371725"/>
            <a:ext cx="1314450" cy="285750"/>
          </a:xfrm>
          <a:prstGeom prst="roundRect">
            <a:avLst>
              <a:gd name="adj" fmla="val 40000"/>
            </a:avLst>
          </a:prstGeom>
          <a:solidFill>
            <a:schemeClr val="accent4">
              <a:lumMod val="40000"/>
              <a:lumOff val="60000"/>
            </a:schemeClr>
          </a:solidFill>
        </p:spPr>
        <p:txBody>
          <a:bodyPr/>
          <a:lstStyle/>
          <a:p>
            <a:endParaRPr lang="en-US"/>
          </a:p>
        </p:txBody>
      </p:sp>
      <p:sp>
        <p:nvSpPr>
          <p:cNvPr id="17" name="Rectangle 16">
            <a:extLst>
              <a:ext uri="{FF2B5EF4-FFF2-40B4-BE49-F238E27FC236}">
                <a16:creationId xmlns:a16="http://schemas.microsoft.com/office/drawing/2014/main" id="{AFD1568B-31C6-4854-BA57-CFA760E29FA4}"/>
              </a:ext>
            </a:extLst>
          </p:cNvPr>
          <p:cNvSpPr>
            <a:spLocks noGrp="1"/>
          </p:cNvSpPr>
          <p:nvPr/>
        </p:nvSpPr>
        <p:spPr>
          <a:xfrm>
            <a:off x="9763125" y="2438400"/>
            <a:ext cx="1181100" cy="137160"/>
          </a:xfrm>
          <a:prstGeom prst="rect">
            <a:avLst/>
          </a:prstGeom>
        </p:spPr>
        <p:txBody>
          <a:bodyPr lIns="0" tIns="0" rIns="0" bIns="0" anchor="t"/>
          <a:lstStyle/>
          <a:p>
            <a:pPr algn="ctr">
              <a:defRPr sz="900" b="1">
                <a:solidFill>
                  <a:srgbClr val="0B5A7A"/>
                </a:solidFill>
                <a:latin typeface="Aptos"/>
                <a:ea typeface="Aptos"/>
                <a:cs typeface="Aptos"/>
              </a:defRPr>
            </a:pPr>
            <a:r>
              <a:t>1</a:t>
            </a:r>
            <a:r>
              <a:rPr lang="de-DE"/>
              <a:t>5</a:t>
            </a:r>
            <a:r>
              <a:t> Min.</a:t>
            </a:r>
          </a:p>
        </p:txBody>
      </p:sp>
      <p:sp>
        <p:nvSpPr>
          <p:cNvPr id="18" name="Rectangle 17">
            <a:extLst>
              <a:ext uri="{FF2B5EF4-FFF2-40B4-BE49-F238E27FC236}">
                <a16:creationId xmlns:a16="http://schemas.microsoft.com/office/drawing/2014/main" id="{0E9CC214-97FB-44ED-AD19-9EAE8A7F72FD}"/>
              </a:ext>
            </a:extLst>
          </p:cNvPr>
          <p:cNvSpPr>
            <a:spLocks noGrp="1"/>
          </p:cNvSpPr>
          <p:nvPr/>
        </p:nvSpPr>
        <p:spPr>
          <a:xfrm>
            <a:off x="438150" y="3009900"/>
            <a:ext cx="2196000" cy="438150"/>
          </a:xfrm>
          <a:prstGeom prst="rect">
            <a:avLst/>
          </a:prstGeom>
          <a:solidFill>
            <a:schemeClr val="accent1">
              <a:lumMod val="50000"/>
            </a:schemeClr>
          </a:solidFill>
        </p:spPr>
        <p:txBody>
          <a:bodyPr/>
          <a:lstStyle/>
          <a:p>
            <a:endParaRPr lang="en-US"/>
          </a:p>
        </p:txBody>
      </p:sp>
      <p:sp>
        <p:nvSpPr>
          <p:cNvPr id="19" name="Rectangle 18">
            <a:extLst>
              <a:ext uri="{FF2B5EF4-FFF2-40B4-BE49-F238E27FC236}">
                <a16:creationId xmlns:a16="http://schemas.microsoft.com/office/drawing/2014/main" id="{E5444D7D-D04E-4044-8834-AD63373DDB99}"/>
              </a:ext>
            </a:extLst>
          </p:cNvPr>
          <p:cNvSpPr>
            <a:spLocks noGrp="1"/>
          </p:cNvSpPr>
          <p:nvPr/>
        </p:nvSpPr>
        <p:spPr>
          <a:xfrm>
            <a:off x="561975" y="3133725"/>
            <a:ext cx="990600" cy="171450"/>
          </a:xfrm>
          <a:prstGeom prst="rect">
            <a:avLst/>
          </a:prstGeom>
        </p:spPr>
        <p:txBody>
          <a:bodyPr lIns="0" tIns="0" rIns="0" bIns="0" anchor="t"/>
          <a:lstStyle/>
          <a:p>
            <a:pPr algn="ctr">
              <a:defRPr sz="1125" b="1">
                <a:solidFill>
                  <a:srgbClr val="FFFFFF"/>
                </a:solidFill>
                <a:latin typeface="Aptos"/>
                <a:ea typeface="Aptos"/>
                <a:cs typeface="Aptos"/>
              </a:defRPr>
            </a:pPr>
            <a:r>
              <a:rPr lang="de-DE"/>
              <a:t>Marktbuch</a:t>
            </a:r>
            <a:endParaRPr/>
          </a:p>
        </p:txBody>
      </p:sp>
      <p:sp>
        <p:nvSpPr>
          <p:cNvPr id="21" name="Rectangle 20">
            <a:extLst>
              <a:ext uri="{FF2B5EF4-FFF2-40B4-BE49-F238E27FC236}">
                <a16:creationId xmlns:a16="http://schemas.microsoft.com/office/drawing/2014/main" id="{4E45DD23-8875-49B9-9F3D-5DF34C4C458F}"/>
              </a:ext>
            </a:extLst>
          </p:cNvPr>
          <p:cNvSpPr>
            <a:spLocks noGrp="1"/>
          </p:cNvSpPr>
          <p:nvPr/>
        </p:nvSpPr>
        <p:spPr>
          <a:xfrm>
            <a:off x="4800600" y="3062288"/>
            <a:ext cx="4762500" cy="333375"/>
          </a:xfrm>
          <a:prstGeom prst="rect">
            <a:avLst/>
          </a:prstGeom>
        </p:spPr>
        <p:txBody>
          <a:bodyPr lIns="0" tIns="0" rIns="0" bIns="0" anchor="ctr"/>
          <a:lstStyle/>
          <a:p>
            <a:pPr algn="l">
              <a:defRPr sz="1050" b="0">
                <a:solidFill>
                  <a:srgbClr val="5B666D"/>
                </a:solidFill>
                <a:latin typeface="Aptos"/>
                <a:ea typeface="Aptos"/>
                <a:cs typeface="Aptos"/>
              </a:defRPr>
            </a:pPr>
            <a:r>
              <a:t>Zinskurve, Sovereigns, Duration und IFRS 9</a:t>
            </a:r>
          </a:p>
        </p:txBody>
      </p:sp>
      <p:sp>
        <p:nvSpPr>
          <p:cNvPr id="22" name="Rectangle: Rounded Corners 21">
            <a:extLst>
              <a:ext uri="{FF2B5EF4-FFF2-40B4-BE49-F238E27FC236}">
                <a16:creationId xmlns:a16="http://schemas.microsoft.com/office/drawing/2014/main" id="{2CD57DE1-0C6F-4EFE-A434-EB8CA1AB959F}"/>
              </a:ext>
            </a:extLst>
          </p:cNvPr>
          <p:cNvSpPr>
            <a:spLocks noGrp="1"/>
          </p:cNvSpPr>
          <p:nvPr/>
        </p:nvSpPr>
        <p:spPr>
          <a:xfrm>
            <a:off x="9696450" y="3086100"/>
            <a:ext cx="1314450" cy="285750"/>
          </a:xfrm>
          <a:prstGeom prst="roundRect">
            <a:avLst>
              <a:gd name="adj" fmla="val 40000"/>
            </a:avLst>
          </a:prstGeom>
          <a:solidFill>
            <a:schemeClr val="accent4">
              <a:lumMod val="60000"/>
              <a:lumOff val="40000"/>
            </a:schemeClr>
          </a:solidFill>
        </p:spPr>
        <p:txBody>
          <a:bodyPr/>
          <a:lstStyle/>
          <a:p>
            <a:endParaRPr lang="en-US"/>
          </a:p>
        </p:txBody>
      </p:sp>
      <p:sp>
        <p:nvSpPr>
          <p:cNvPr id="23" name="Rectangle 22">
            <a:extLst>
              <a:ext uri="{FF2B5EF4-FFF2-40B4-BE49-F238E27FC236}">
                <a16:creationId xmlns:a16="http://schemas.microsoft.com/office/drawing/2014/main" id="{BB653FC6-AD6A-48EA-9053-F27EF4F99706}"/>
              </a:ext>
            </a:extLst>
          </p:cNvPr>
          <p:cNvSpPr>
            <a:spLocks noGrp="1"/>
          </p:cNvSpPr>
          <p:nvPr/>
        </p:nvSpPr>
        <p:spPr>
          <a:xfrm>
            <a:off x="9763125" y="3152775"/>
            <a:ext cx="1181100" cy="137160"/>
          </a:xfrm>
          <a:prstGeom prst="rect">
            <a:avLst/>
          </a:prstGeom>
        </p:spPr>
        <p:txBody>
          <a:bodyPr lIns="0" tIns="0" rIns="0" bIns="0" anchor="t"/>
          <a:lstStyle/>
          <a:p>
            <a:pPr algn="ctr">
              <a:defRPr sz="900" b="1">
                <a:solidFill>
                  <a:srgbClr val="0B5A7A"/>
                </a:solidFill>
                <a:latin typeface="Aptos"/>
                <a:ea typeface="Aptos"/>
                <a:cs typeface="Aptos"/>
              </a:defRPr>
            </a:pPr>
            <a:r>
              <a:rPr lang="en-US"/>
              <a:t>15 Min.</a:t>
            </a:r>
          </a:p>
        </p:txBody>
      </p:sp>
      <p:sp>
        <p:nvSpPr>
          <p:cNvPr id="24" name="Rectangle 23">
            <a:extLst>
              <a:ext uri="{FF2B5EF4-FFF2-40B4-BE49-F238E27FC236}">
                <a16:creationId xmlns:a16="http://schemas.microsoft.com/office/drawing/2014/main" id="{552C03DA-40D7-4754-B582-5E48DBE7DBF2}"/>
              </a:ext>
            </a:extLst>
          </p:cNvPr>
          <p:cNvSpPr>
            <a:spLocks noGrp="1"/>
          </p:cNvSpPr>
          <p:nvPr/>
        </p:nvSpPr>
        <p:spPr>
          <a:xfrm>
            <a:off x="438150" y="3724275"/>
            <a:ext cx="2196000" cy="438150"/>
          </a:xfrm>
          <a:prstGeom prst="rect">
            <a:avLst/>
          </a:prstGeom>
          <a:solidFill>
            <a:schemeClr val="accent1">
              <a:lumMod val="50000"/>
            </a:schemeClr>
          </a:solidFill>
        </p:spPr>
        <p:txBody>
          <a:bodyPr/>
          <a:lstStyle/>
          <a:p>
            <a:endParaRPr lang="en-US"/>
          </a:p>
        </p:txBody>
      </p:sp>
      <p:sp>
        <p:nvSpPr>
          <p:cNvPr id="25" name="Rectangle 24">
            <a:extLst>
              <a:ext uri="{FF2B5EF4-FFF2-40B4-BE49-F238E27FC236}">
                <a16:creationId xmlns:a16="http://schemas.microsoft.com/office/drawing/2014/main" id="{46EF5580-C49C-400B-AA12-2D41A9CDADE9}"/>
              </a:ext>
            </a:extLst>
          </p:cNvPr>
          <p:cNvSpPr>
            <a:spLocks noGrp="1"/>
          </p:cNvSpPr>
          <p:nvPr/>
        </p:nvSpPr>
        <p:spPr>
          <a:xfrm>
            <a:off x="561975" y="3848100"/>
            <a:ext cx="990600" cy="171450"/>
          </a:xfrm>
          <a:prstGeom prst="rect">
            <a:avLst/>
          </a:prstGeom>
        </p:spPr>
        <p:txBody>
          <a:bodyPr lIns="0" tIns="0" rIns="0" bIns="0" anchor="t"/>
          <a:lstStyle/>
          <a:p>
            <a:pPr algn="ctr">
              <a:defRPr sz="1125" b="1">
                <a:solidFill>
                  <a:srgbClr val="FFFFFF"/>
                </a:solidFill>
                <a:latin typeface="Aptos"/>
                <a:ea typeface="Aptos"/>
                <a:cs typeface="Aptos"/>
              </a:defRPr>
            </a:pPr>
            <a:r>
              <a:rPr lang="de-DE"/>
              <a:t>Eigenkapital</a:t>
            </a:r>
            <a:endParaRPr/>
          </a:p>
        </p:txBody>
      </p:sp>
      <p:sp>
        <p:nvSpPr>
          <p:cNvPr id="27" name="Rectangle 26">
            <a:extLst>
              <a:ext uri="{FF2B5EF4-FFF2-40B4-BE49-F238E27FC236}">
                <a16:creationId xmlns:a16="http://schemas.microsoft.com/office/drawing/2014/main" id="{F68AEA75-A576-43A5-BC57-88F8FDE21275}"/>
              </a:ext>
            </a:extLst>
          </p:cNvPr>
          <p:cNvSpPr>
            <a:spLocks noGrp="1"/>
          </p:cNvSpPr>
          <p:nvPr/>
        </p:nvSpPr>
        <p:spPr>
          <a:xfrm>
            <a:off x="4800600" y="3776663"/>
            <a:ext cx="4762500" cy="333375"/>
          </a:xfrm>
          <a:prstGeom prst="rect">
            <a:avLst/>
          </a:prstGeom>
        </p:spPr>
        <p:txBody>
          <a:bodyPr lIns="0" tIns="0" rIns="0" bIns="0" anchor="ctr"/>
          <a:lstStyle/>
          <a:p>
            <a:pPr algn="l">
              <a:defRPr sz="1050" b="0">
                <a:solidFill>
                  <a:srgbClr val="5B666D"/>
                </a:solidFill>
                <a:latin typeface="Aptos"/>
                <a:ea typeface="Aptos"/>
                <a:cs typeface="Aptos"/>
              </a:defRPr>
            </a:pPr>
            <a:r>
              <a:t>CET1-Waterfall, Schwellen und Sensitivität</a:t>
            </a:r>
          </a:p>
        </p:txBody>
      </p:sp>
      <p:sp>
        <p:nvSpPr>
          <p:cNvPr id="28" name="Rectangle: Rounded Corners 27">
            <a:extLst>
              <a:ext uri="{FF2B5EF4-FFF2-40B4-BE49-F238E27FC236}">
                <a16:creationId xmlns:a16="http://schemas.microsoft.com/office/drawing/2014/main" id="{35F4D899-AE44-4047-BD6C-86FEFEF02CEE}"/>
              </a:ext>
            </a:extLst>
          </p:cNvPr>
          <p:cNvSpPr>
            <a:spLocks noGrp="1"/>
          </p:cNvSpPr>
          <p:nvPr/>
        </p:nvSpPr>
        <p:spPr>
          <a:xfrm>
            <a:off x="9696450" y="3800475"/>
            <a:ext cx="1314450" cy="285750"/>
          </a:xfrm>
          <a:prstGeom prst="roundRect">
            <a:avLst>
              <a:gd name="adj" fmla="val 40000"/>
            </a:avLst>
          </a:prstGeom>
          <a:solidFill>
            <a:schemeClr val="accent4">
              <a:lumMod val="75000"/>
            </a:schemeClr>
          </a:solidFill>
        </p:spPr>
        <p:txBody>
          <a:bodyPr/>
          <a:lstStyle/>
          <a:p>
            <a:endParaRPr lang="en-US"/>
          </a:p>
        </p:txBody>
      </p:sp>
      <p:sp>
        <p:nvSpPr>
          <p:cNvPr id="29" name="Rectangle 28">
            <a:extLst>
              <a:ext uri="{FF2B5EF4-FFF2-40B4-BE49-F238E27FC236}">
                <a16:creationId xmlns:a16="http://schemas.microsoft.com/office/drawing/2014/main" id="{EA8C9C93-34AC-4E1F-BD64-80D5FBA69017}"/>
              </a:ext>
            </a:extLst>
          </p:cNvPr>
          <p:cNvSpPr>
            <a:spLocks noGrp="1"/>
          </p:cNvSpPr>
          <p:nvPr/>
        </p:nvSpPr>
        <p:spPr>
          <a:xfrm>
            <a:off x="9763125" y="3867150"/>
            <a:ext cx="1181100" cy="137160"/>
          </a:xfrm>
          <a:prstGeom prst="rect">
            <a:avLst/>
          </a:prstGeom>
        </p:spPr>
        <p:txBody>
          <a:bodyPr lIns="0" tIns="0" rIns="0" bIns="0" anchor="t"/>
          <a:lstStyle/>
          <a:p>
            <a:pPr algn="ctr">
              <a:defRPr sz="900" b="1">
                <a:solidFill>
                  <a:srgbClr val="0B5A7A"/>
                </a:solidFill>
                <a:latin typeface="Aptos"/>
                <a:ea typeface="Aptos"/>
                <a:cs typeface="Aptos"/>
              </a:defRPr>
            </a:pPr>
            <a:r>
              <a:rPr lang="en-US">
                <a:solidFill>
                  <a:schemeClr val="bg1"/>
                </a:solidFill>
              </a:rPr>
              <a:t>15 Min.</a:t>
            </a:r>
          </a:p>
        </p:txBody>
      </p:sp>
      <p:sp>
        <p:nvSpPr>
          <p:cNvPr id="30" name="Rectangle 29">
            <a:extLst>
              <a:ext uri="{FF2B5EF4-FFF2-40B4-BE49-F238E27FC236}">
                <a16:creationId xmlns:a16="http://schemas.microsoft.com/office/drawing/2014/main" id="{334162F5-AA09-491A-9992-A055DBB5EE01}"/>
              </a:ext>
            </a:extLst>
          </p:cNvPr>
          <p:cNvSpPr>
            <a:spLocks noGrp="1"/>
          </p:cNvSpPr>
          <p:nvPr/>
        </p:nvSpPr>
        <p:spPr>
          <a:xfrm>
            <a:off x="438150" y="4438650"/>
            <a:ext cx="2196000" cy="438150"/>
          </a:xfrm>
          <a:prstGeom prst="rect">
            <a:avLst/>
          </a:prstGeom>
          <a:solidFill>
            <a:schemeClr val="accent1">
              <a:lumMod val="50000"/>
            </a:schemeClr>
          </a:solidFill>
        </p:spPr>
        <p:txBody>
          <a:bodyPr/>
          <a:lstStyle/>
          <a:p>
            <a:endParaRPr lang="en-US"/>
          </a:p>
        </p:txBody>
      </p:sp>
      <p:sp>
        <p:nvSpPr>
          <p:cNvPr id="31" name="Rectangle 30">
            <a:extLst>
              <a:ext uri="{FF2B5EF4-FFF2-40B4-BE49-F238E27FC236}">
                <a16:creationId xmlns:a16="http://schemas.microsoft.com/office/drawing/2014/main" id="{4EF80369-B1A7-43D8-A809-4F65158D6165}"/>
              </a:ext>
            </a:extLst>
          </p:cNvPr>
          <p:cNvSpPr>
            <a:spLocks noGrp="1"/>
          </p:cNvSpPr>
          <p:nvPr/>
        </p:nvSpPr>
        <p:spPr>
          <a:xfrm>
            <a:off x="561975" y="4562475"/>
            <a:ext cx="990600" cy="171450"/>
          </a:xfrm>
          <a:prstGeom prst="rect">
            <a:avLst/>
          </a:prstGeom>
        </p:spPr>
        <p:txBody>
          <a:bodyPr lIns="0" tIns="0" rIns="0" bIns="0" anchor="t"/>
          <a:lstStyle/>
          <a:p>
            <a:pPr algn="ctr">
              <a:defRPr sz="1125" b="1">
                <a:solidFill>
                  <a:srgbClr val="FFFFFF"/>
                </a:solidFill>
                <a:latin typeface="Aptos"/>
                <a:ea typeface="Aptos"/>
                <a:cs typeface="Aptos"/>
              </a:defRPr>
            </a:pPr>
            <a:r>
              <a:rPr lang="de-DE"/>
              <a:t>Validierung</a:t>
            </a:r>
            <a:endParaRPr/>
          </a:p>
        </p:txBody>
      </p:sp>
      <p:sp>
        <p:nvSpPr>
          <p:cNvPr id="33" name="Rectangle 32">
            <a:extLst>
              <a:ext uri="{FF2B5EF4-FFF2-40B4-BE49-F238E27FC236}">
                <a16:creationId xmlns:a16="http://schemas.microsoft.com/office/drawing/2014/main" id="{52DA6072-21C5-4675-88AF-61633AA14A4C}"/>
              </a:ext>
            </a:extLst>
          </p:cNvPr>
          <p:cNvSpPr>
            <a:spLocks noGrp="1"/>
          </p:cNvSpPr>
          <p:nvPr/>
        </p:nvSpPr>
        <p:spPr>
          <a:xfrm>
            <a:off x="4800600" y="4491038"/>
            <a:ext cx="4762500" cy="333375"/>
          </a:xfrm>
          <a:prstGeom prst="rect">
            <a:avLst/>
          </a:prstGeom>
        </p:spPr>
        <p:txBody>
          <a:bodyPr lIns="0" tIns="0" rIns="0" bIns="0" anchor="ctr"/>
          <a:lstStyle/>
          <a:p>
            <a:pPr algn="l">
              <a:defRPr sz="1050" b="0">
                <a:solidFill>
                  <a:srgbClr val="5B666D"/>
                </a:solidFill>
                <a:latin typeface="Aptos"/>
                <a:ea typeface="Aptos"/>
                <a:cs typeface="Aptos"/>
              </a:defRPr>
            </a:pPr>
            <a:r>
              <a:t>Backtest, Metriken, Grenzen und Fazit</a:t>
            </a:r>
          </a:p>
        </p:txBody>
      </p:sp>
      <p:sp>
        <p:nvSpPr>
          <p:cNvPr id="34" name="Rectangle: Rounded Corners 33">
            <a:extLst>
              <a:ext uri="{FF2B5EF4-FFF2-40B4-BE49-F238E27FC236}">
                <a16:creationId xmlns:a16="http://schemas.microsoft.com/office/drawing/2014/main" id="{94C4B041-4FEB-45D6-95F9-265647A53CDE}"/>
              </a:ext>
            </a:extLst>
          </p:cNvPr>
          <p:cNvSpPr>
            <a:spLocks noGrp="1"/>
          </p:cNvSpPr>
          <p:nvPr/>
        </p:nvSpPr>
        <p:spPr>
          <a:xfrm>
            <a:off x="9696450" y="4514850"/>
            <a:ext cx="1314450" cy="285750"/>
          </a:xfrm>
          <a:prstGeom prst="roundRect">
            <a:avLst>
              <a:gd name="adj" fmla="val 40000"/>
            </a:avLst>
          </a:prstGeom>
          <a:solidFill>
            <a:schemeClr val="accent4">
              <a:lumMod val="50000"/>
            </a:schemeClr>
          </a:solidFill>
        </p:spPr>
        <p:txBody>
          <a:bodyPr/>
          <a:lstStyle/>
          <a:p>
            <a:endParaRPr lang="en-US"/>
          </a:p>
        </p:txBody>
      </p:sp>
      <p:sp>
        <p:nvSpPr>
          <p:cNvPr id="35" name="Rectangle 34">
            <a:extLst>
              <a:ext uri="{FF2B5EF4-FFF2-40B4-BE49-F238E27FC236}">
                <a16:creationId xmlns:a16="http://schemas.microsoft.com/office/drawing/2014/main" id="{364E023C-88A5-4B03-8E1E-6DBF945819F6}"/>
              </a:ext>
            </a:extLst>
          </p:cNvPr>
          <p:cNvSpPr>
            <a:spLocks noGrp="1"/>
          </p:cNvSpPr>
          <p:nvPr/>
        </p:nvSpPr>
        <p:spPr>
          <a:xfrm>
            <a:off x="9763125" y="4581525"/>
            <a:ext cx="1181100" cy="137160"/>
          </a:xfrm>
          <a:prstGeom prst="rect">
            <a:avLst/>
          </a:prstGeom>
        </p:spPr>
        <p:txBody>
          <a:bodyPr lIns="0" tIns="0" rIns="0" bIns="0" anchor="t"/>
          <a:lstStyle/>
          <a:p>
            <a:pPr algn="ctr">
              <a:defRPr sz="900" b="1">
                <a:solidFill>
                  <a:srgbClr val="0B5A7A"/>
                </a:solidFill>
                <a:latin typeface="Aptos"/>
                <a:ea typeface="Aptos"/>
                <a:cs typeface="Aptos"/>
              </a:defRPr>
            </a:pPr>
            <a:r>
              <a:rPr lang="en-US">
                <a:solidFill>
                  <a:schemeClr val="bg1"/>
                </a:solidFill>
              </a:rPr>
              <a:t>15 Min.</a:t>
            </a:r>
          </a:p>
        </p:txBody>
      </p:sp>
      <p:sp>
        <p:nvSpPr>
          <p:cNvPr id="39" name="Rectangle 38">
            <a:extLst>
              <a:ext uri="{FF2B5EF4-FFF2-40B4-BE49-F238E27FC236}">
                <a16:creationId xmlns:a16="http://schemas.microsoft.com/office/drawing/2014/main" id="{C1525E79-943A-480B-B3D7-DF678801CC0C}"/>
              </a:ext>
            </a:extLst>
          </p:cNvPr>
          <p:cNvSpPr>
            <a:spLocks noGrp="1"/>
          </p:cNvSpPr>
          <p:nvPr/>
        </p:nvSpPr>
        <p:spPr>
          <a:xfrm>
            <a:off x="438150" y="6143625"/>
            <a:ext cx="9810750" cy="152400"/>
          </a:xfrm>
          <a:prstGeom prst="rect">
            <a:avLst/>
          </a:prstGeom>
        </p:spPr>
        <p:txBody>
          <a:bodyPr lIns="0" tIns="0" rIns="0" bIns="0" anchor="ctr"/>
          <a:lstStyle/>
          <a:p>
            <a:pPr algn="l">
              <a:defRPr sz="750" b="0">
                <a:solidFill>
                  <a:srgbClr val="8C8780"/>
                </a:solidFill>
                <a:latin typeface="Aptos"/>
                <a:ea typeface="Aptos"/>
                <a:cs typeface="Aptos"/>
              </a:defRPr>
            </a:pPr>
            <a:r>
              <a:t>EU Banking Credit Stress Cockpit · Studienprojekt 2026</a:t>
            </a:r>
          </a:p>
        </p:txBody>
      </p:sp>
      <p:sp>
        <p:nvSpPr>
          <p:cNvPr id="2" name="CodexSlideNumber">
            <a:extLst>
              <a:ext uri="{FF2B5EF4-FFF2-40B4-BE49-F238E27FC236}">
                <a16:creationId xmlns:a16="http://schemas.microsoft.com/office/drawing/2014/main" id="{BD010303-F272-7408-B9C0-5351FEDA6070}"/>
              </a:ext>
            </a:extLst>
          </p:cNvPr>
          <p:cNvSpPr txBox="1"/>
          <p:nvPr/>
        </p:nvSpPr>
        <p:spPr>
          <a:xfrm>
            <a:off x="11226800" y="6553200"/>
            <a:ext cx="736600" cy="123111"/>
          </a:xfrm>
          <a:prstGeom prst="rect">
            <a:avLst/>
          </a:prstGeom>
          <a:noFill/>
        </p:spPr>
        <p:txBody>
          <a:bodyPr vert="horz" lIns="0" tIns="0" rIns="0" bIns="0" rtlCol="0">
            <a:spAutoFit/>
          </a:bodyPr>
          <a:lstStyle/>
          <a:p>
            <a:pPr algn="r"/>
            <a:r>
              <a:rPr lang="en-US" sz="800">
                <a:solidFill>
                  <a:srgbClr val="525252"/>
                </a:solidFill>
                <a:latin typeface="Arial" panose="020B0604020202020204" pitchFamily="34" charset="0"/>
              </a:rPr>
              <a:t>2 / 64</a:t>
            </a:r>
          </a:p>
        </p:txBody>
      </p:sp>
    </p:spTree>
    <p:extLst>
      <p:ext uri="{BB962C8B-B14F-4D97-AF65-F5344CB8AC3E}">
        <p14:creationId xmlns:p14="http://schemas.microsoft.com/office/powerpoint/2010/main" val="9293879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2ADCC08-40E2-4FCC-89F2-0F31EEE889B8}"/>
              </a:ext>
            </a:extLst>
          </p:cNvPr>
          <p:cNvSpPr>
            <a:spLocks noGrp="1"/>
          </p:cNvSpPr>
          <p:nvPr/>
        </p:nvSpPr>
        <p:spPr>
          <a:xfrm>
            <a:off x="0" y="0"/>
            <a:ext cx="12192000" cy="6858000"/>
          </a:xfrm>
          <a:prstGeom prst="rect">
            <a:avLst/>
          </a:prstGeom>
          <a:solidFill>
            <a:srgbClr val="071C2C"/>
          </a:solidFill>
        </p:spPr>
        <p:txBody>
          <a:bodyPr/>
          <a:lstStyle/>
          <a:p>
            <a:endParaRPr lang="en-US"/>
          </a:p>
        </p:txBody>
      </p:sp>
      <p:sp>
        <p:nvSpPr>
          <p:cNvPr id="3" name="kicker-intro-divider-label">
            <a:extLst>
              <a:ext uri="{FF2B5EF4-FFF2-40B4-BE49-F238E27FC236}">
                <a16:creationId xmlns:a16="http://schemas.microsoft.com/office/drawing/2014/main" id="{39C531EF-39C8-41DB-9877-08BD47C021F0}"/>
              </a:ext>
            </a:extLst>
          </p:cNvPr>
          <p:cNvSpPr>
            <a:spLocks noGrp="1"/>
          </p:cNvSpPr>
          <p:nvPr/>
        </p:nvSpPr>
        <p:spPr>
          <a:xfrm>
            <a:off x="800100" y="609600"/>
            <a:ext cx="4000500" cy="209550"/>
          </a:xfrm>
          <a:prstGeom prst="rect">
            <a:avLst/>
          </a:prstGeom>
        </p:spPr>
        <p:txBody>
          <a:bodyPr lIns="0" tIns="0" rIns="0" bIns="0" anchor="ctr"/>
          <a:lstStyle/>
          <a:p>
            <a:pPr>
              <a:defRPr sz="975" b="1">
                <a:solidFill>
                  <a:srgbClr val="5B666D"/>
                </a:solidFill>
                <a:latin typeface="Aptos"/>
                <a:ea typeface="Aptos"/>
                <a:cs typeface="Aptos"/>
              </a:defRPr>
            </a:pPr>
            <a:r>
              <a:rPr lang="en-GB" sz="863" b="1">
                <a:solidFill>
                  <a:schemeClr val="bg1"/>
                </a:solidFill>
                <a:latin typeface="Aptos"/>
              </a:rPr>
              <a:t>EINFÜHRUNG</a:t>
            </a:r>
          </a:p>
        </p:txBody>
      </p:sp>
      <p:sp>
        <p:nvSpPr>
          <p:cNvPr id="5" name="Rectangle 4">
            <a:extLst>
              <a:ext uri="{FF2B5EF4-FFF2-40B4-BE49-F238E27FC236}">
                <a16:creationId xmlns:a16="http://schemas.microsoft.com/office/drawing/2014/main" id="{62BCAD94-CD2E-4CD6-8ED8-0021FA1BF726}"/>
              </a:ext>
            </a:extLst>
          </p:cNvPr>
          <p:cNvSpPr>
            <a:spLocks noGrp="1"/>
          </p:cNvSpPr>
          <p:nvPr/>
        </p:nvSpPr>
        <p:spPr>
          <a:xfrm>
            <a:off x="609600" y="2152650"/>
            <a:ext cx="857250" cy="76200"/>
          </a:xfrm>
          <a:prstGeom prst="rect">
            <a:avLst/>
          </a:prstGeom>
          <a:solidFill>
            <a:srgbClr val="0B5A7A"/>
          </a:solidFill>
        </p:spPr>
        <p:txBody>
          <a:bodyPr/>
          <a:lstStyle/>
          <a:p>
            <a:endParaRPr lang="en-US"/>
          </a:p>
        </p:txBody>
      </p:sp>
      <p:sp>
        <p:nvSpPr>
          <p:cNvPr id="6" name="Rectangle 5">
            <a:extLst>
              <a:ext uri="{FF2B5EF4-FFF2-40B4-BE49-F238E27FC236}">
                <a16:creationId xmlns:a16="http://schemas.microsoft.com/office/drawing/2014/main" id="{D6A8D468-008A-435E-962B-09CD93975458}"/>
              </a:ext>
            </a:extLst>
          </p:cNvPr>
          <p:cNvSpPr>
            <a:spLocks noGrp="1"/>
          </p:cNvSpPr>
          <p:nvPr/>
        </p:nvSpPr>
        <p:spPr>
          <a:xfrm>
            <a:off x="609600" y="2438400"/>
            <a:ext cx="9715500" cy="1428750"/>
          </a:xfrm>
          <a:prstGeom prst="rect">
            <a:avLst/>
          </a:prstGeom>
        </p:spPr>
        <p:txBody>
          <a:bodyPr lIns="0" tIns="0" rIns="0" bIns="0" anchor="t"/>
          <a:lstStyle/>
          <a:p>
            <a:pPr algn="l">
              <a:defRPr sz="4800" b="1">
                <a:solidFill>
                  <a:srgbClr val="FFFFFF"/>
                </a:solidFill>
                <a:latin typeface="Aptos Display"/>
                <a:ea typeface="Aptos Display"/>
                <a:cs typeface="Aptos Display"/>
              </a:defRPr>
            </a:pPr>
            <a:r>
              <a:t>Einführung in das Modell</a:t>
            </a:r>
          </a:p>
        </p:txBody>
      </p:sp>
      <p:sp>
        <p:nvSpPr>
          <p:cNvPr id="7" name="Rectangle 6">
            <a:extLst>
              <a:ext uri="{FF2B5EF4-FFF2-40B4-BE49-F238E27FC236}">
                <a16:creationId xmlns:a16="http://schemas.microsoft.com/office/drawing/2014/main" id="{62911A24-4A87-42B1-B6CD-877ADAAA6267}"/>
              </a:ext>
            </a:extLst>
          </p:cNvPr>
          <p:cNvSpPr>
            <a:spLocks noGrp="1"/>
          </p:cNvSpPr>
          <p:nvPr/>
        </p:nvSpPr>
        <p:spPr>
          <a:xfrm>
            <a:off x="609600" y="4076700"/>
            <a:ext cx="8572500" cy="666750"/>
          </a:xfrm>
          <a:prstGeom prst="rect">
            <a:avLst/>
          </a:prstGeom>
        </p:spPr>
        <p:txBody>
          <a:bodyPr lIns="0" tIns="0" rIns="0" bIns="0" anchor="t"/>
          <a:lstStyle/>
          <a:p>
            <a:pPr algn="l">
              <a:defRPr sz="1800" b="0">
                <a:solidFill>
                  <a:srgbClr val="C7D2D9"/>
                </a:solidFill>
                <a:latin typeface="Aptos"/>
                <a:ea typeface="Aptos"/>
                <a:cs typeface="Aptos"/>
              </a:defRPr>
            </a:pPr>
            <a:r>
              <a:t>Was das Cockpit beantwortet, welche Daten es nutzt und warum der Scope bewusst fokussiert ist.</a:t>
            </a:r>
          </a:p>
        </p:txBody>
      </p:sp>
      <p:sp>
        <p:nvSpPr>
          <p:cNvPr id="2" name="CodexSlideNumber">
            <a:extLst>
              <a:ext uri="{FF2B5EF4-FFF2-40B4-BE49-F238E27FC236}">
                <a16:creationId xmlns:a16="http://schemas.microsoft.com/office/drawing/2014/main" id="{84BAC115-C3AC-2DC9-9F74-3F03465FAB24}"/>
              </a:ext>
            </a:extLst>
          </p:cNvPr>
          <p:cNvSpPr txBox="1"/>
          <p:nvPr/>
        </p:nvSpPr>
        <p:spPr>
          <a:xfrm>
            <a:off x="11226800" y="6553200"/>
            <a:ext cx="736600" cy="123111"/>
          </a:xfrm>
          <a:prstGeom prst="rect">
            <a:avLst/>
          </a:prstGeom>
          <a:noFill/>
        </p:spPr>
        <p:txBody>
          <a:bodyPr vert="horz" lIns="0" tIns="0" rIns="0" bIns="0" rtlCol="0">
            <a:spAutoFit/>
          </a:bodyPr>
          <a:lstStyle/>
          <a:p>
            <a:pPr algn="r"/>
            <a:r>
              <a:rPr lang="en-US" sz="800">
                <a:solidFill>
                  <a:srgbClr val="525252"/>
                </a:solidFill>
                <a:latin typeface="Arial" panose="020B0604020202020204" pitchFamily="34" charset="0"/>
              </a:rPr>
              <a:t>3 / 64</a:t>
            </a:r>
          </a:p>
        </p:txBody>
      </p:sp>
    </p:spTree>
    <p:extLst>
      <p:ext uri="{BB962C8B-B14F-4D97-AF65-F5344CB8AC3E}">
        <p14:creationId xmlns:p14="http://schemas.microsoft.com/office/powerpoint/2010/main" val="12950983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F29511E-4BE5-4A31-93D9-16CF878256E6}"/>
              </a:ext>
            </a:extLst>
          </p:cNvPr>
          <p:cNvSpPr>
            <a:spLocks noGrp="1"/>
          </p:cNvSpPr>
          <p:nvPr/>
        </p:nvSpPr>
        <p:spPr>
          <a:xfrm>
            <a:off x="457200" y="228600"/>
            <a:ext cx="4572000" cy="171450"/>
          </a:xfrm>
          <a:prstGeom prst="rect">
            <a:avLst/>
          </a:prstGeom>
          <a:noFill/>
          <a:ln w="0">
            <a:noFill/>
            <a:prstDash val="solid"/>
          </a:ln>
        </p:spPr>
        <p:txBody>
          <a:bodyPr/>
          <a:lstStyle/>
          <a:p>
            <a:pPr algn="l">
              <a:defRPr sz="863" b="1" i="0">
                <a:solidFill>
                  <a:srgbClr val="A52F4D"/>
                </a:solidFill>
                <a:latin typeface="Aptos"/>
                <a:ea typeface="Aptos"/>
                <a:cs typeface="Aptos"/>
              </a:defRPr>
            </a:pPr>
            <a:r>
              <a:rPr lang="de-DE" sz="863" b="1" i="0">
                <a:solidFill>
                  <a:schemeClr val="tx2"/>
                </a:solidFill>
                <a:latin typeface="Aptos"/>
                <a:ea typeface="Aptos"/>
                <a:cs typeface="Aptos"/>
              </a:rPr>
              <a:t>KAPITEL 1 · EINFÜHRUNG IN DAS MODELL</a:t>
            </a:r>
          </a:p>
        </p:txBody>
      </p:sp>
      <p:sp>
        <p:nvSpPr>
          <p:cNvPr id="3" name="Rectangle 2">
            <a:extLst>
              <a:ext uri="{FF2B5EF4-FFF2-40B4-BE49-F238E27FC236}">
                <a16:creationId xmlns:a16="http://schemas.microsoft.com/office/drawing/2014/main" id="{0E6FE341-C3FC-4251-9D62-2DFCD0D4CAE3}"/>
              </a:ext>
            </a:extLst>
          </p:cNvPr>
          <p:cNvSpPr>
            <a:spLocks noGrp="1"/>
          </p:cNvSpPr>
          <p:nvPr/>
        </p:nvSpPr>
        <p:spPr>
          <a:xfrm>
            <a:off x="457200" y="457200"/>
            <a:ext cx="11191875" cy="409575"/>
          </a:xfrm>
          <a:prstGeom prst="rect">
            <a:avLst/>
          </a:prstGeom>
          <a:noFill/>
          <a:ln w="0">
            <a:noFill/>
            <a:prstDash val="solid"/>
          </a:ln>
        </p:spPr>
        <p:txBody>
          <a:bodyPr/>
          <a:lstStyle/>
          <a:p>
            <a:pPr algn="l">
              <a:defRPr sz="2475" b="1" i="0">
                <a:solidFill>
                  <a:srgbClr val="051C2C"/>
                </a:solidFill>
                <a:latin typeface="Aptos Display"/>
                <a:ea typeface="Aptos Display"/>
                <a:cs typeface="Aptos Display"/>
              </a:defRPr>
            </a:pPr>
            <a:r>
              <a:rPr sz="2475" b="1" i="0">
                <a:solidFill>
                  <a:srgbClr val="051C2C"/>
                </a:solidFill>
                <a:latin typeface="Aptos Display"/>
                <a:ea typeface="Aptos Display"/>
                <a:cs typeface="Aptos Display"/>
              </a:rPr>
              <a:t>Das Modell </a:t>
            </a:r>
            <a:r>
              <a:rPr lang="en-US" sz="2475" b="1" i="0" err="1">
                <a:solidFill>
                  <a:srgbClr val="051C2C"/>
                </a:solidFill>
                <a:latin typeface="Aptos Display"/>
                <a:ea typeface="Aptos Display"/>
                <a:cs typeface="Aptos Display"/>
              </a:rPr>
              <a:t>übersetzt</a:t>
            </a:r>
            <a:r>
              <a:rPr sz="2475" b="1" i="0">
                <a:solidFill>
                  <a:srgbClr val="051C2C"/>
                </a:solidFill>
                <a:latin typeface="Aptos Display"/>
                <a:ea typeface="Aptos Display"/>
                <a:cs typeface="Aptos Display"/>
              </a:rPr>
              <a:t> </a:t>
            </a:r>
            <a:r>
              <a:rPr lang="en-US" sz="2475" b="1" i="0" err="1">
                <a:solidFill>
                  <a:srgbClr val="051C2C"/>
                </a:solidFill>
                <a:latin typeface="Aptos Display"/>
                <a:ea typeface="Aptos Display"/>
                <a:cs typeface="Aptos Display"/>
              </a:rPr>
              <a:t>zwei</a:t>
            </a:r>
            <a:r>
              <a:rPr sz="2475" b="1" i="0">
                <a:solidFill>
                  <a:srgbClr val="051C2C"/>
                </a:solidFill>
                <a:latin typeface="Aptos Display"/>
                <a:ea typeface="Aptos Display"/>
                <a:cs typeface="Aptos Display"/>
              </a:rPr>
              <a:t> Makroschocks in </a:t>
            </a:r>
            <a:r>
              <a:rPr lang="en-US" sz="2475" b="1" i="0" err="1">
                <a:solidFill>
                  <a:srgbClr val="051C2C"/>
                </a:solidFill>
                <a:latin typeface="Aptos Display"/>
                <a:ea typeface="Aptos Display"/>
                <a:cs typeface="Aptos Display"/>
              </a:rPr>
              <a:t>eine</a:t>
            </a:r>
            <a:r>
              <a:rPr sz="2475" b="1" i="0">
                <a:solidFill>
                  <a:srgbClr val="051C2C"/>
                </a:solidFill>
                <a:latin typeface="Aptos Display"/>
                <a:ea typeface="Aptos Display"/>
                <a:cs typeface="Aptos Display"/>
              </a:rPr>
              <a:t> </a:t>
            </a:r>
            <a:r>
              <a:rPr lang="en-US" sz="2475" b="1" i="0" err="1">
                <a:solidFill>
                  <a:srgbClr val="051C2C"/>
                </a:solidFill>
                <a:latin typeface="Aptos Display"/>
                <a:ea typeface="Aptos Display"/>
                <a:cs typeface="Aptos Display"/>
              </a:rPr>
              <a:t>belastbare</a:t>
            </a:r>
            <a:r>
              <a:rPr sz="2475" b="1" i="0">
                <a:solidFill>
                  <a:srgbClr val="051C2C"/>
                </a:solidFill>
                <a:latin typeface="Aptos Display"/>
                <a:ea typeface="Aptos Display"/>
                <a:cs typeface="Aptos Display"/>
              </a:rPr>
              <a:t> CET1-Aussage</a:t>
            </a:r>
          </a:p>
        </p:txBody>
      </p:sp>
      <p:sp>
        <p:nvSpPr>
          <p:cNvPr id="4" name="Rectangle 3">
            <a:extLst>
              <a:ext uri="{FF2B5EF4-FFF2-40B4-BE49-F238E27FC236}">
                <a16:creationId xmlns:a16="http://schemas.microsoft.com/office/drawing/2014/main" id="{CF7FDCF1-9936-4AF3-A565-D568F3F31014}"/>
              </a:ext>
            </a:extLst>
          </p:cNvPr>
          <p:cNvSpPr>
            <a:spLocks noGrp="1"/>
          </p:cNvSpPr>
          <p:nvPr/>
        </p:nvSpPr>
        <p:spPr>
          <a:xfrm>
            <a:off x="457200" y="914400"/>
            <a:ext cx="11096625" cy="228600"/>
          </a:xfrm>
          <a:prstGeom prst="rect">
            <a:avLst/>
          </a:prstGeom>
          <a:noFill/>
          <a:ln w="0">
            <a:noFill/>
            <a:prstDash val="solid"/>
          </a:ln>
        </p:spPr>
        <p:txBody>
          <a:bodyPr/>
          <a:lstStyle/>
          <a:p>
            <a:pPr algn="l">
              <a:defRPr sz="1125" b="0" i="0">
                <a:solidFill>
                  <a:srgbClr val="4F6875"/>
                </a:solidFill>
                <a:latin typeface="Aptos"/>
                <a:ea typeface="Aptos"/>
                <a:cs typeface="Aptos"/>
              </a:defRPr>
            </a:pPr>
            <a:r>
              <a:rPr sz="1125" b="0" i="0">
                <a:solidFill>
                  <a:srgbClr val="4F6875"/>
                </a:solidFill>
                <a:latin typeface="Aptos"/>
                <a:ea typeface="Aptos"/>
                <a:cs typeface="Aptos"/>
              </a:rPr>
              <a:t>Der Kern </a:t>
            </a:r>
            <a:r>
              <a:rPr lang="en-US" sz="1125" b="0" i="0" err="1">
                <a:solidFill>
                  <a:srgbClr val="4F6875"/>
                </a:solidFill>
                <a:latin typeface="Aptos"/>
                <a:ea typeface="Aptos"/>
                <a:cs typeface="Aptos"/>
              </a:rPr>
              <a:t>ist</a:t>
            </a:r>
            <a:r>
              <a:rPr sz="1125" b="0" i="0">
                <a:solidFill>
                  <a:srgbClr val="4F6875"/>
                </a:solidFill>
                <a:latin typeface="Aptos"/>
                <a:ea typeface="Aptos"/>
                <a:cs typeface="Aptos"/>
              </a:rPr>
              <a:t> </a:t>
            </a:r>
            <a:r>
              <a:rPr lang="en-US" sz="1125" b="0" i="0" err="1">
                <a:solidFill>
                  <a:srgbClr val="4F6875"/>
                </a:solidFill>
                <a:latin typeface="Aptos"/>
                <a:ea typeface="Aptos"/>
                <a:cs typeface="Aptos"/>
              </a:rPr>
              <a:t>eine</a:t>
            </a:r>
            <a:r>
              <a:rPr sz="1125" b="0" i="0">
                <a:solidFill>
                  <a:srgbClr val="4F6875"/>
                </a:solidFill>
                <a:latin typeface="Aptos"/>
                <a:ea typeface="Aptos"/>
                <a:cs typeface="Aptos"/>
              </a:rPr>
              <a:t> </a:t>
            </a:r>
            <a:r>
              <a:rPr lang="en-US" sz="1125" b="0" i="0" err="1">
                <a:solidFill>
                  <a:srgbClr val="4F6875"/>
                </a:solidFill>
                <a:latin typeface="Aptos"/>
                <a:ea typeface="Aptos"/>
                <a:cs typeface="Aptos"/>
              </a:rPr>
              <a:t>transparente</a:t>
            </a:r>
            <a:r>
              <a:rPr sz="1125" b="0" i="0">
                <a:solidFill>
                  <a:srgbClr val="4F6875"/>
                </a:solidFill>
                <a:latin typeface="Aptos"/>
                <a:ea typeface="Aptos"/>
                <a:cs typeface="Aptos"/>
              </a:rPr>
              <a:t> </a:t>
            </a:r>
            <a:r>
              <a:rPr lang="en-US" sz="1125" b="0" i="0" err="1">
                <a:solidFill>
                  <a:srgbClr val="4F6875"/>
                </a:solidFill>
                <a:latin typeface="Aptos"/>
                <a:ea typeface="Aptos"/>
                <a:cs typeface="Aptos"/>
              </a:rPr>
              <a:t>Wirkungskette</a:t>
            </a:r>
            <a:r>
              <a:rPr sz="1125" b="0" i="0">
                <a:solidFill>
                  <a:srgbClr val="4F6875"/>
                </a:solidFill>
                <a:latin typeface="Aptos"/>
                <a:ea typeface="Aptos"/>
                <a:cs typeface="Aptos"/>
              </a:rPr>
              <a:t> – von </a:t>
            </a:r>
            <a:r>
              <a:rPr lang="en-US" sz="1125" b="0" i="0" err="1">
                <a:solidFill>
                  <a:srgbClr val="4F6875"/>
                </a:solidFill>
                <a:latin typeface="Aptos"/>
                <a:ea typeface="Aptos"/>
                <a:cs typeface="Aptos"/>
              </a:rPr>
              <a:t>Marktvariablen</a:t>
            </a:r>
            <a:r>
              <a:rPr sz="1125" b="0" i="0">
                <a:solidFill>
                  <a:srgbClr val="4F6875"/>
                </a:solidFill>
                <a:latin typeface="Aptos"/>
                <a:ea typeface="Aptos"/>
                <a:cs typeface="Aptos"/>
              </a:rPr>
              <a:t> </a:t>
            </a:r>
            <a:r>
              <a:rPr lang="en-US" sz="1125" b="0" i="0" err="1">
                <a:solidFill>
                  <a:srgbClr val="4F6875"/>
                </a:solidFill>
                <a:latin typeface="Aptos"/>
                <a:ea typeface="Aptos"/>
                <a:cs typeface="Aptos"/>
              </a:rPr>
              <a:t>über</a:t>
            </a:r>
            <a:r>
              <a:rPr sz="1125" b="0" i="0">
                <a:solidFill>
                  <a:srgbClr val="4F6875"/>
                </a:solidFill>
                <a:latin typeface="Aptos"/>
                <a:ea typeface="Aptos"/>
                <a:cs typeface="Aptos"/>
              </a:rPr>
              <a:t> </a:t>
            </a:r>
            <a:r>
              <a:rPr lang="en-US" sz="1125" b="0" i="0" err="1">
                <a:solidFill>
                  <a:srgbClr val="4F6875"/>
                </a:solidFill>
                <a:latin typeface="Aptos"/>
                <a:ea typeface="Aptos"/>
                <a:cs typeface="Aptos"/>
              </a:rPr>
              <a:t>Risikoparameter</a:t>
            </a:r>
            <a:r>
              <a:rPr sz="1125" b="0" i="0">
                <a:solidFill>
                  <a:srgbClr val="4F6875"/>
                </a:solidFill>
                <a:latin typeface="Aptos"/>
                <a:ea typeface="Aptos"/>
                <a:cs typeface="Aptos"/>
              </a:rPr>
              <a:t> bis </a:t>
            </a:r>
            <a:r>
              <a:rPr lang="en-US" sz="1125" b="0" i="0" err="1">
                <a:solidFill>
                  <a:srgbClr val="4F6875"/>
                </a:solidFill>
                <a:latin typeface="Aptos"/>
                <a:ea typeface="Aptos"/>
                <a:cs typeface="Aptos"/>
              </a:rPr>
              <a:t>zur</a:t>
            </a:r>
            <a:r>
              <a:rPr sz="1125" b="0" i="0">
                <a:solidFill>
                  <a:srgbClr val="4F6875"/>
                </a:solidFill>
                <a:latin typeface="Aptos"/>
                <a:ea typeface="Aptos"/>
                <a:cs typeface="Aptos"/>
              </a:rPr>
              <a:t> </a:t>
            </a:r>
            <a:r>
              <a:rPr lang="en-US" sz="1125" b="0" i="0" err="1">
                <a:solidFill>
                  <a:srgbClr val="4F6875"/>
                </a:solidFill>
                <a:latin typeface="Aptos"/>
                <a:ea typeface="Aptos"/>
                <a:cs typeface="Aptos"/>
              </a:rPr>
              <a:t>Kapitalquote</a:t>
            </a:r>
            <a:r>
              <a:rPr sz="1125" b="0" i="0">
                <a:solidFill>
                  <a:srgbClr val="4F6875"/>
                </a:solidFill>
                <a:latin typeface="Aptos"/>
                <a:ea typeface="Aptos"/>
                <a:cs typeface="Aptos"/>
              </a:rPr>
              <a:t>.</a:t>
            </a:r>
          </a:p>
        </p:txBody>
      </p:sp>
      <p:sp>
        <p:nvSpPr>
          <p:cNvPr id="6" name="Rectangle: Rounded Corners 5">
            <a:extLst>
              <a:ext uri="{FF2B5EF4-FFF2-40B4-BE49-F238E27FC236}">
                <a16:creationId xmlns:a16="http://schemas.microsoft.com/office/drawing/2014/main" id="{AA7FBB86-ED40-4E01-BF25-839515585970}"/>
              </a:ext>
            </a:extLst>
          </p:cNvPr>
          <p:cNvSpPr>
            <a:spLocks noGrp="1"/>
          </p:cNvSpPr>
          <p:nvPr/>
        </p:nvSpPr>
        <p:spPr>
          <a:xfrm>
            <a:off x="457200" y="1352550"/>
            <a:ext cx="1543050" cy="266700"/>
          </a:xfrm>
          <a:prstGeom prst="roundRect">
            <a:avLst>
              <a:gd name="adj" fmla="val 50000"/>
            </a:avLst>
          </a:prstGeom>
          <a:solidFill>
            <a:srgbClr val="A52F4D"/>
          </a:solidFill>
          <a:ln w="0">
            <a:noFill/>
            <a:prstDash val="solid"/>
          </a:ln>
        </p:spPr>
        <p:txBody>
          <a:bodyPr/>
          <a:lstStyle/>
          <a:p>
            <a:endParaRPr lang="en-US"/>
          </a:p>
        </p:txBody>
      </p:sp>
      <p:sp>
        <p:nvSpPr>
          <p:cNvPr id="7" name="Rectangle 6">
            <a:extLst>
              <a:ext uri="{FF2B5EF4-FFF2-40B4-BE49-F238E27FC236}">
                <a16:creationId xmlns:a16="http://schemas.microsoft.com/office/drawing/2014/main" id="{7428B6F8-E895-4FCD-A700-77E9070C4266}"/>
              </a:ext>
            </a:extLst>
          </p:cNvPr>
          <p:cNvSpPr>
            <a:spLocks noGrp="1"/>
          </p:cNvSpPr>
          <p:nvPr/>
        </p:nvSpPr>
        <p:spPr>
          <a:xfrm>
            <a:off x="495300" y="1390650"/>
            <a:ext cx="1466850" cy="190500"/>
          </a:xfrm>
          <a:prstGeom prst="rect">
            <a:avLst/>
          </a:prstGeom>
          <a:noFill/>
          <a:ln w="0">
            <a:noFill/>
            <a:prstDash val="solid"/>
          </a:ln>
        </p:spPr>
        <p:txBody>
          <a:bodyPr/>
          <a:lstStyle/>
          <a:p>
            <a:pPr algn="ctr">
              <a:defRPr sz="788" b="1" i="0">
                <a:solidFill>
                  <a:srgbClr val="FFFFFF"/>
                </a:solidFill>
                <a:latin typeface="Aptos"/>
                <a:ea typeface="Aptos"/>
                <a:cs typeface="Aptos"/>
              </a:defRPr>
            </a:pPr>
            <a:r>
              <a:rPr sz="788" b="1" i="0">
                <a:solidFill>
                  <a:srgbClr val="FFFFFF"/>
                </a:solidFill>
                <a:latin typeface="Aptos"/>
                <a:ea typeface="Aptos"/>
                <a:cs typeface="Aptos"/>
              </a:rPr>
              <a:t>MANAGEMENT-FRAGE</a:t>
            </a:r>
          </a:p>
        </p:txBody>
      </p:sp>
      <p:sp>
        <p:nvSpPr>
          <p:cNvPr id="8" name="Rectangle 7">
            <a:extLst>
              <a:ext uri="{FF2B5EF4-FFF2-40B4-BE49-F238E27FC236}">
                <a16:creationId xmlns:a16="http://schemas.microsoft.com/office/drawing/2014/main" id="{47C35454-561D-4224-A20B-DD9466210188}"/>
              </a:ext>
            </a:extLst>
          </p:cNvPr>
          <p:cNvSpPr>
            <a:spLocks noGrp="1"/>
          </p:cNvSpPr>
          <p:nvPr/>
        </p:nvSpPr>
        <p:spPr>
          <a:xfrm>
            <a:off x="457200" y="1733550"/>
            <a:ext cx="10953750" cy="647700"/>
          </a:xfrm>
          <a:prstGeom prst="rect">
            <a:avLst/>
          </a:prstGeom>
          <a:noFill/>
          <a:ln w="0">
            <a:noFill/>
            <a:prstDash val="solid"/>
          </a:ln>
        </p:spPr>
        <p:txBody>
          <a:bodyPr/>
          <a:lstStyle/>
          <a:p>
            <a:pPr algn="l">
              <a:defRPr sz="1950" b="1" i="0">
                <a:solidFill>
                  <a:srgbClr val="051C2C"/>
                </a:solidFill>
                <a:latin typeface="Aptos Display"/>
                <a:ea typeface="Aptos Display"/>
                <a:cs typeface="Aptos Display"/>
              </a:defRPr>
            </a:pPr>
            <a:r>
              <a:rPr sz="1950" b="1" i="0">
                <a:solidFill>
                  <a:srgbClr val="051C2C"/>
                </a:solidFill>
                <a:latin typeface="Aptos Display"/>
                <a:ea typeface="Aptos Display"/>
                <a:cs typeface="Aptos Display"/>
              </a:rPr>
              <a:t>Wie stark sinkt die harte Kernkapitalquote der zehn größten EU-IRB-Banken unter Ölpreis- und Zinsschocks?</a:t>
            </a:r>
          </a:p>
        </p:txBody>
      </p:sp>
      <p:sp>
        <p:nvSpPr>
          <p:cNvPr id="9" name="Rectangle: Rounded Corners 8">
            <a:extLst>
              <a:ext uri="{FF2B5EF4-FFF2-40B4-BE49-F238E27FC236}">
                <a16:creationId xmlns:a16="http://schemas.microsoft.com/office/drawing/2014/main" id="{EFCF5C77-15F4-4418-8458-E89C0EA6AAF3}"/>
              </a:ext>
            </a:extLst>
          </p:cNvPr>
          <p:cNvSpPr>
            <a:spLocks noGrp="1"/>
          </p:cNvSpPr>
          <p:nvPr/>
        </p:nvSpPr>
        <p:spPr>
          <a:xfrm>
            <a:off x="457200" y="2714625"/>
            <a:ext cx="2362200" cy="2095500"/>
          </a:xfrm>
          <a:prstGeom prst="roundRect">
            <a:avLst>
              <a:gd name="adj" fmla="val 5455"/>
            </a:avLst>
          </a:prstGeom>
          <a:solidFill>
            <a:srgbClr val="FFFFFF"/>
          </a:solidFill>
          <a:ln w="9525">
            <a:solidFill>
              <a:srgbClr val="D5E0E5"/>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10" name="Rectangle 9">
            <a:extLst>
              <a:ext uri="{FF2B5EF4-FFF2-40B4-BE49-F238E27FC236}">
                <a16:creationId xmlns:a16="http://schemas.microsoft.com/office/drawing/2014/main" id="{850C51E4-501B-42C8-AACB-BC39B46A7614}"/>
              </a:ext>
            </a:extLst>
          </p:cNvPr>
          <p:cNvSpPr>
            <a:spLocks noGrp="1"/>
          </p:cNvSpPr>
          <p:nvPr/>
        </p:nvSpPr>
        <p:spPr>
          <a:xfrm>
            <a:off x="457200" y="2714625"/>
            <a:ext cx="57150" cy="2095500"/>
          </a:xfrm>
          <a:prstGeom prst="rect">
            <a:avLst/>
          </a:prstGeom>
          <a:solidFill>
            <a:srgbClr val="0B5D7A"/>
          </a:solidFill>
          <a:ln w="0">
            <a:noFill/>
            <a:prstDash val="solid"/>
          </a:ln>
        </p:spPr>
        <p:txBody>
          <a:bodyPr/>
          <a:lstStyle/>
          <a:p>
            <a:endParaRPr lang="en-US"/>
          </a:p>
        </p:txBody>
      </p:sp>
      <p:sp>
        <p:nvSpPr>
          <p:cNvPr id="11" name="Rectangle: Rounded Corners 10">
            <a:extLst>
              <a:ext uri="{FF2B5EF4-FFF2-40B4-BE49-F238E27FC236}">
                <a16:creationId xmlns:a16="http://schemas.microsoft.com/office/drawing/2014/main" id="{28A6AC2D-031A-49DD-B4CF-1A65EDE32D5B}"/>
              </a:ext>
            </a:extLst>
          </p:cNvPr>
          <p:cNvSpPr>
            <a:spLocks noGrp="1"/>
          </p:cNvSpPr>
          <p:nvPr/>
        </p:nvSpPr>
        <p:spPr>
          <a:xfrm>
            <a:off x="609600" y="2838450"/>
            <a:ext cx="590550" cy="219075"/>
          </a:xfrm>
          <a:prstGeom prst="roundRect">
            <a:avLst>
              <a:gd name="adj" fmla="val 50000"/>
            </a:avLst>
          </a:prstGeom>
          <a:solidFill>
            <a:srgbClr val="0B5D7A"/>
          </a:solidFill>
          <a:ln w="0">
            <a:noFill/>
            <a:prstDash val="solid"/>
          </a:ln>
        </p:spPr>
        <p:txBody>
          <a:bodyPr/>
          <a:lstStyle/>
          <a:p>
            <a:endParaRPr lang="en-US"/>
          </a:p>
        </p:txBody>
      </p:sp>
      <p:sp>
        <p:nvSpPr>
          <p:cNvPr id="12" name="Rectangle 11">
            <a:extLst>
              <a:ext uri="{FF2B5EF4-FFF2-40B4-BE49-F238E27FC236}">
                <a16:creationId xmlns:a16="http://schemas.microsoft.com/office/drawing/2014/main" id="{68A1A6A7-608D-4963-819A-02B9C262DEDE}"/>
              </a:ext>
            </a:extLst>
          </p:cNvPr>
          <p:cNvSpPr>
            <a:spLocks noGrp="1"/>
          </p:cNvSpPr>
          <p:nvPr/>
        </p:nvSpPr>
        <p:spPr>
          <a:xfrm>
            <a:off x="647700" y="2876550"/>
            <a:ext cx="514350" cy="142875"/>
          </a:xfrm>
          <a:prstGeom prst="rect">
            <a:avLst/>
          </a:prstGeom>
          <a:noFill/>
          <a:ln w="0">
            <a:noFill/>
            <a:prstDash val="solid"/>
          </a:ln>
        </p:spPr>
        <p:txBody>
          <a:bodyPr/>
          <a:lstStyle/>
          <a:p>
            <a:pPr algn="ctr">
              <a:defRPr sz="713" b="1" i="0">
                <a:solidFill>
                  <a:srgbClr val="FFFFFF"/>
                </a:solidFill>
                <a:latin typeface="Aptos"/>
                <a:ea typeface="Aptos"/>
                <a:cs typeface="Aptos"/>
              </a:defRPr>
            </a:pPr>
            <a:r>
              <a:rPr sz="713" b="1" i="0">
                <a:solidFill>
                  <a:srgbClr val="FFFFFF"/>
                </a:solidFill>
                <a:latin typeface="Aptos"/>
                <a:ea typeface="Aptos"/>
                <a:cs typeface="Aptos"/>
              </a:rPr>
              <a:t>INPUT</a:t>
            </a:r>
          </a:p>
        </p:txBody>
      </p:sp>
      <p:sp>
        <p:nvSpPr>
          <p:cNvPr id="13" name="Rectangle 12">
            <a:extLst>
              <a:ext uri="{FF2B5EF4-FFF2-40B4-BE49-F238E27FC236}">
                <a16:creationId xmlns:a16="http://schemas.microsoft.com/office/drawing/2014/main" id="{0B9727F3-AD56-44AD-8739-DC60E8C5CAB7}"/>
              </a:ext>
            </a:extLst>
          </p:cNvPr>
          <p:cNvSpPr>
            <a:spLocks noGrp="1"/>
          </p:cNvSpPr>
          <p:nvPr/>
        </p:nvSpPr>
        <p:spPr>
          <a:xfrm>
            <a:off x="619125" y="3162300"/>
            <a:ext cx="2038350" cy="266700"/>
          </a:xfrm>
          <a:prstGeom prst="rect">
            <a:avLst/>
          </a:prstGeom>
          <a:noFill/>
          <a:ln w="0">
            <a:noFill/>
            <a:prstDash val="solid"/>
          </a:ln>
        </p:spPr>
        <p:txBody>
          <a:bodyPr/>
          <a:lstStyle/>
          <a:p>
            <a:pPr algn="l">
              <a:defRPr sz="1425" b="1" i="0">
                <a:solidFill>
                  <a:srgbClr val="051C2C"/>
                </a:solidFill>
                <a:latin typeface="Aptos Display"/>
                <a:ea typeface="Aptos Display"/>
                <a:cs typeface="Aptos Display"/>
              </a:defRPr>
            </a:pPr>
            <a:r>
              <a:rPr sz="1425" b="1" i="0">
                <a:solidFill>
                  <a:srgbClr val="051C2C"/>
                </a:solidFill>
                <a:latin typeface="Aptos Display"/>
                <a:ea typeface="Aptos Display"/>
                <a:cs typeface="Aptos Display"/>
              </a:rPr>
              <a:t>1 · Makrofaktoren</a:t>
            </a:r>
          </a:p>
        </p:txBody>
      </p:sp>
      <p:sp>
        <p:nvSpPr>
          <p:cNvPr id="14" name="Rectangle 13">
            <a:extLst>
              <a:ext uri="{FF2B5EF4-FFF2-40B4-BE49-F238E27FC236}">
                <a16:creationId xmlns:a16="http://schemas.microsoft.com/office/drawing/2014/main" id="{EBE19FD1-6BFE-4680-A19C-0B5E20FB6A5C}"/>
              </a:ext>
            </a:extLst>
          </p:cNvPr>
          <p:cNvSpPr>
            <a:spLocks noGrp="1"/>
          </p:cNvSpPr>
          <p:nvPr/>
        </p:nvSpPr>
        <p:spPr>
          <a:xfrm>
            <a:off x="619125" y="3486150"/>
            <a:ext cx="2038350" cy="1238250"/>
          </a:xfrm>
          <a:prstGeom prst="rect">
            <a:avLst/>
          </a:prstGeom>
          <a:noFill/>
          <a:ln w="0">
            <a:noFill/>
            <a:prstDash val="solid"/>
          </a:ln>
        </p:spPr>
        <p:txBody>
          <a:bodyPr/>
          <a:lstStyle/>
          <a:p>
            <a:pPr algn="l">
              <a:defRPr sz="1013" b="0" i="0">
                <a:solidFill>
                  <a:srgbClr val="4F6875"/>
                </a:solidFill>
                <a:latin typeface="Aptos"/>
                <a:ea typeface="Aptos"/>
                <a:cs typeface="Aptos"/>
              </a:defRPr>
            </a:pPr>
            <a:r>
              <a:rPr sz="1013" b="0" i="0">
                <a:solidFill>
                  <a:srgbClr val="4F6875"/>
                </a:solidFill>
                <a:latin typeface="Aptos"/>
                <a:ea typeface="Aptos"/>
                <a:cs typeface="Aptos"/>
              </a:rPr>
              <a:t>ΔBrent</a:t>
            </a:r>
          </a:p>
          <a:p>
            <a:pPr algn="l">
              <a:defRPr sz="1013" b="0" i="0">
                <a:solidFill>
                  <a:srgbClr val="4F6875"/>
                </a:solidFill>
                <a:latin typeface="Aptos"/>
                <a:ea typeface="Aptos"/>
                <a:cs typeface="Aptos"/>
              </a:defRPr>
            </a:pPr>
            <a:r>
              <a:rPr sz="1013" b="0" i="0">
                <a:solidFill>
                  <a:srgbClr val="4F6875"/>
                </a:solidFill>
                <a:latin typeface="Aptos"/>
                <a:ea typeface="Aptos"/>
                <a:cs typeface="Aptos"/>
              </a:rPr>
              <a:t>Ölpreis als Energie- und Inflationsschock</a:t>
            </a:r>
          </a:p>
          <a:p>
            <a:endParaRPr sz="1013" b="0" i="0">
              <a:solidFill>
                <a:srgbClr val="4F6875"/>
              </a:solidFill>
              <a:latin typeface="Aptos"/>
              <a:ea typeface="Aptos"/>
              <a:cs typeface="Aptos"/>
            </a:endParaRPr>
          </a:p>
          <a:p>
            <a:pPr algn="l">
              <a:defRPr sz="1013" b="0" i="0">
                <a:solidFill>
                  <a:srgbClr val="4F6875"/>
                </a:solidFill>
                <a:latin typeface="Aptos"/>
                <a:ea typeface="Aptos"/>
                <a:cs typeface="Aptos"/>
              </a:defRPr>
            </a:pPr>
            <a:r>
              <a:rPr sz="1013" b="0" i="0">
                <a:solidFill>
                  <a:srgbClr val="4F6875"/>
                </a:solidFill>
                <a:latin typeface="Aptos"/>
                <a:ea typeface="Aptos"/>
                <a:cs typeface="Aptos"/>
              </a:rPr>
              <a:t>Δr 10Y</a:t>
            </a:r>
          </a:p>
          <a:p>
            <a:pPr algn="l">
              <a:defRPr sz="1013" b="0" i="0">
                <a:solidFill>
                  <a:srgbClr val="4F6875"/>
                </a:solidFill>
                <a:latin typeface="Aptos"/>
                <a:ea typeface="Aptos"/>
                <a:cs typeface="Aptos"/>
              </a:defRPr>
            </a:pPr>
            <a:r>
              <a:rPr sz="1013" b="0" i="0">
                <a:solidFill>
                  <a:srgbClr val="4F6875"/>
                </a:solidFill>
                <a:latin typeface="Aptos"/>
                <a:ea typeface="Aptos"/>
                <a:cs typeface="Aptos"/>
              </a:rPr>
              <a:t>Zins als Refinanzierungs- und Bewertungsimpuls</a:t>
            </a:r>
          </a:p>
        </p:txBody>
      </p:sp>
      <p:sp>
        <p:nvSpPr>
          <p:cNvPr id="15" name="Rectangle 14">
            <a:extLst>
              <a:ext uri="{FF2B5EF4-FFF2-40B4-BE49-F238E27FC236}">
                <a16:creationId xmlns:a16="http://schemas.microsoft.com/office/drawing/2014/main" id="{81F934B3-5B78-447B-85DE-AF73154B487C}"/>
              </a:ext>
            </a:extLst>
          </p:cNvPr>
          <p:cNvSpPr>
            <a:spLocks noGrp="1"/>
          </p:cNvSpPr>
          <p:nvPr/>
        </p:nvSpPr>
        <p:spPr>
          <a:xfrm>
            <a:off x="2867025" y="3543300"/>
            <a:ext cx="323850" cy="323850"/>
          </a:xfrm>
          <a:prstGeom prst="rect">
            <a:avLst/>
          </a:prstGeom>
          <a:noFill/>
          <a:ln w="0">
            <a:noFill/>
            <a:prstDash val="solid"/>
          </a:ln>
        </p:spPr>
        <p:txBody>
          <a:bodyPr/>
          <a:lstStyle/>
          <a:p>
            <a:pPr algn="ctr">
              <a:defRPr sz="2100" b="1" i="0">
                <a:solidFill>
                  <a:srgbClr val="71858F"/>
                </a:solidFill>
                <a:latin typeface="Aptos"/>
                <a:ea typeface="Aptos"/>
                <a:cs typeface="Aptos"/>
              </a:defRPr>
            </a:pPr>
            <a:r>
              <a:rPr sz="2100" b="1" i="0">
                <a:solidFill>
                  <a:srgbClr val="71858F"/>
                </a:solidFill>
                <a:latin typeface="Aptos"/>
                <a:ea typeface="Aptos"/>
                <a:cs typeface="Aptos"/>
              </a:rPr>
              <a:t>→</a:t>
            </a:r>
          </a:p>
        </p:txBody>
      </p:sp>
      <p:sp>
        <p:nvSpPr>
          <p:cNvPr id="16" name="Rectangle: Rounded Corners 15">
            <a:extLst>
              <a:ext uri="{FF2B5EF4-FFF2-40B4-BE49-F238E27FC236}">
                <a16:creationId xmlns:a16="http://schemas.microsoft.com/office/drawing/2014/main" id="{B9AA71C4-98AA-4987-81F4-9A9F7C7FAEB9}"/>
              </a:ext>
            </a:extLst>
          </p:cNvPr>
          <p:cNvSpPr>
            <a:spLocks noGrp="1"/>
          </p:cNvSpPr>
          <p:nvPr/>
        </p:nvSpPr>
        <p:spPr>
          <a:xfrm>
            <a:off x="3238500" y="2714625"/>
            <a:ext cx="2362200" cy="2095500"/>
          </a:xfrm>
          <a:prstGeom prst="roundRect">
            <a:avLst>
              <a:gd name="adj" fmla="val 5455"/>
            </a:avLst>
          </a:prstGeom>
          <a:solidFill>
            <a:srgbClr val="FFFFFF"/>
          </a:solidFill>
          <a:ln w="9525">
            <a:solidFill>
              <a:srgbClr val="D5E0E5"/>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17" name="Rectangle 16">
            <a:extLst>
              <a:ext uri="{FF2B5EF4-FFF2-40B4-BE49-F238E27FC236}">
                <a16:creationId xmlns:a16="http://schemas.microsoft.com/office/drawing/2014/main" id="{0595EE6C-2C48-450D-89D1-C9B8684AE606}"/>
              </a:ext>
            </a:extLst>
          </p:cNvPr>
          <p:cNvSpPr>
            <a:spLocks noGrp="1"/>
          </p:cNvSpPr>
          <p:nvPr/>
        </p:nvSpPr>
        <p:spPr>
          <a:xfrm>
            <a:off x="3238500" y="2714625"/>
            <a:ext cx="57150" cy="2095500"/>
          </a:xfrm>
          <a:prstGeom prst="rect">
            <a:avLst/>
          </a:prstGeom>
          <a:solidFill>
            <a:srgbClr val="1B777F"/>
          </a:solidFill>
          <a:ln w="0">
            <a:noFill/>
            <a:prstDash val="solid"/>
          </a:ln>
        </p:spPr>
        <p:txBody>
          <a:bodyPr/>
          <a:lstStyle/>
          <a:p>
            <a:endParaRPr lang="en-US"/>
          </a:p>
        </p:txBody>
      </p:sp>
      <p:sp>
        <p:nvSpPr>
          <p:cNvPr id="18" name="Rectangle: Rounded Corners 17">
            <a:extLst>
              <a:ext uri="{FF2B5EF4-FFF2-40B4-BE49-F238E27FC236}">
                <a16:creationId xmlns:a16="http://schemas.microsoft.com/office/drawing/2014/main" id="{1D4F8D6D-9649-4875-8D11-79F526F05657}"/>
              </a:ext>
            </a:extLst>
          </p:cNvPr>
          <p:cNvSpPr>
            <a:spLocks noGrp="1"/>
          </p:cNvSpPr>
          <p:nvPr/>
        </p:nvSpPr>
        <p:spPr>
          <a:xfrm>
            <a:off x="3390900" y="2838450"/>
            <a:ext cx="647700" cy="219075"/>
          </a:xfrm>
          <a:prstGeom prst="roundRect">
            <a:avLst>
              <a:gd name="adj" fmla="val 50000"/>
            </a:avLst>
          </a:prstGeom>
          <a:solidFill>
            <a:srgbClr val="1B777F"/>
          </a:solidFill>
          <a:ln w="0">
            <a:noFill/>
            <a:prstDash val="solid"/>
          </a:ln>
        </p:spPr>
        <p:txBody>
          <a:bodyPr/>
          <a:lstStyle/>
          <a:p>
            <a:endParaRPr lang="en-US"/>
          </a:p>
        </p:txBody>
      </p:sp>
      <p:sp>
        <p:nvSpPr>
          <p:cNvPr id="19" name="Rectangle 18">
            <a:extLst>
              <a:ext uri="{FF2B5EF4-FFF2-40B4-BE49-F238E27FC236}">
                <a16:creationId xmlns:a16="http://schemas.microsoft.com/office/drawing/2014/main" id="{F8D4C955-1E63-4380-8607-B0B41D912832}"/>
              </a:ext>
            </a:extLst>
          </p:cNvPr>
          <p:cNvSpPr>
            <a:spLocks noGrp="1"/>
          </p:cNvSpPr>
          <p:nvPr/>
        </p:nvSpPr>
        <p:spPr>
          <a:xfrm>
            <a:off x="3429000" y="2876550"/>
            <a:ext cx="571500" cy="142875"/>
          </a:xfrm>
          <a:prstGeom prst="rect">
            <a:avLst/>
          </a:prstGeom>
          <a:noFill/>
          <a:ln w="0">
            <a:noFill/>
            <a:prstDash val="solid"/>
          </a:ln>
        </p:spPr>
        <p:txBody>
          <a:bodyPr/>
          <a:lstStyle/>
          <a:p>
            <a:pPr algn="ctr">
              <a:defRPr sz="713" b="1" i="0">
                <a:solidFill>
                  <a:srgbClr val="FFFFFF"/>
                </a:solidFill>
                <a:latin typeface="Aptos"/>
                <a:ea typeface="Aptos"/>
                <a:cs typeface="Aptos"/>
              </a:defRPr>
            </a:pPr>
            <a:r>
              <a:rPr sz="713" b="1" i="0">
                <a:solidFill>
                  <a:srgbClr val="FFFFFF"/>
                </a:solidFill>
                <a:latin typeface="Aptos"/>
                <a:ea typeface="Aptos"/>
                <a:cs typeface="Aptos"/>
              </a:rPr>
              <a:t>MODELL</a:t>
            </a:r>
          </a:p>
        </p:txBody>
      </p:sp>
      <p:sp>
        <p:nvSpPr>
          <p:cNvPr id="20" name="Rectangle 19">
            <a:extLst>
              <a:ext uri="{FF2B5EF4-FFF2-40B4-BE49-F238E27FC236}">
                <a16:creationId xmlns:a16="http://schemas.microsoft.com/office/drawing/2014/main" id="{FD461EE5-A578-49E3-A203-290300434E12}"/>
              </a:ext>
            </a:extLst>
          </p:cNvPr>
          <p:cNvSpPr>
            <a:spLocks noGrp="1"/>
          </p:cNvSpPr>
          <p:nvPr/>
        </p:nvSpPr>
        <p:spPr>
          <a:xfrm>
            <a:off x="3400425" y="3162300"/>
            <a:ext cx="2038350" cy="266700"/>
          </a:xfrm>
          <a:prstGeom prst="rect">
            <a:avLst/>
          </a:prstGeom>
          <a:noFill/>
          <a:ln w="0">
            <a:noFill/>
            <a:prstDash val="solid"/>
          </a:ln>
        </p:spPr>
        <p:txBody>
          <a:bodyPr/>
          <a:lstStyle/>
          <a:p>
            <a:pPr algn="l">
              <a:defRPr sz="1425" b="1" i="0">
                <a:solidFill>
                  <a:srgbClr val="051C2C"/>
                </a:solidFill>
                <a:latin typeface="Aptos Display"/>
                <a:ea typeface="Aptos Display"/>
                <a:cs typeface="Aptos Display"/>
              </a:defRPr>
            </a:pPr>
            <a:r>
              <a:rPr sz="1425" b="1" i="0">
                <a:solidFill>
                  <a:srgbClr val="051C2C"/>
                </a:solidFill>
                <a:latin typeface="Aptos Display"/>
                <a:ea typeface="Aptos Display"/>
                <a:cs typeface="Aptos Display"/>
              </a:rPr>
              <a:t>2 · Transmission</a:t>
            </a:r>
          </a:p>
        </p:txBody>
      </p:sp>
      <p:sp>
        <p:nvSpPr>
          <p:cNvPr id="21" name="Rectangle 20">
            <a:extLst>
              <a:ext uri="{FF2B5EF4-FFF2-40B4-BE49-F238E27FC236}">
                <a16:creationId xmlns:a16="http://schemas.microsoft.com/office/drawing/2014/main" id="{A893C7F8-FE41-4230-A2F6-B0504B2FD8B0}"/>
              </a:ext>
            </a:extLst>
          </p:cNvPr>
          <p:cNvSpPr>
            <a:spLocks noGrp="1"/>
          </p:cNvSpPr>
          <p:nvPr/>
        </p:nvSpPr>
        <p:spPr>
          <a:xfrm>
            <a:off x="3400425" y="3486150"/>
            <a:ext cx="2038350" cy="1238250"/>
          </a:xfrm>
          <a:prstGeom prst="rect">
            <a:avLst/>
          </a:prstGeom>
          <a:noFill/>
          <a:ln w="0">
            <a:noFill/>
            <a:prstDash val="solid"/>
          </a:ln>
        </p:spPr>
        <p:txBody>
          <a:bodyPr/>
          <a:lstStyle/>
          <a:p>
            <a:pPr algn="l">
              <a:defRPr sz="1013" b="0" i="0">
                <a:solidFill>
                  <a:srgbClr val="4F6875"/>
                </a:solidFill>
                <a:latin typeface="Aptos"/>
                <a:ea typeface="Aptos"/>
                <a:cs typeface="Aptos"/>
              </a:defRPr>
            </a:pPr>
            <a:r>
              <a:rPr sz="1013" b="0" i="0">
                <a:solidFill>
                  <a:srgbClr val="4F6875"/>
                </a:solidFill>
                <a:latin typeface="Aptos"/>
                <a:ea typeface="Aptos"/>
                <a:cs typeface="Aptos"/>
              </a:rPr>
              <a:t>Sektorale β/γ-Matrix</a:t>
            </a:r>
          </a:p>
          <a:p>
            <a:endParaRPr sz="1013" b="0" i="0">
              <a:solidFill>
                <a:srgbClr val="4F6875"/>
              </a:solidFill>
              <a:latin typeface="Aptos"/>
              <a:ea typeface="Aptos"/>
              <a:cs typeface="Aptos"/>
            </a:endParaRPr>
          </a:p>
          <a:p>
            <a:pPr algn="l">
              <a:defRPr sz="1013" b="0" i="0">
                <a:solidFill>
                  <a:srgbClr val="4F6875"/>
                </a:solidFill>
                <a:latin typeface="Aptos"/>
                <a:ea typeface="Aptos"/>
                <a:cs typeface="Aptos"/>
              </a:defRPr>
            </a:pPr>
            <a:r>
              <a:rPr sz="1013" b="0" i="0">
                <a:solidFill>
                  <a:srgbClr val="4F6875"/>
                </a:solidFill>
                <a:latin typeface="Aptos"/>
                <a:ea typeface="Aptos"/>
                <a:cs typeface="Aptos"/>
              </a:rPr>
              <a:t>ΔPD und ΔLGD je Exposure-Klasse</a:t>
            </a:r>
          </a:p>
          <a:p>
            <a:endParaRPr sz="1013" b="0" i="0">
              <a:solidFill>
                <a:srgbClr val="4F6875"/>
              </a:solidFill>
              <a:latin typeface="Aptos"/>
              <a:ea typeface="Aptos"/>
              <a:cs typeface="Aptos"/>
            </a:endParaRPr>
          </a:p>
          <a:p>
            <a:pPr algn="l">
              <a:defRPr sz="1013" b="0" i="0">
                <a:solidFill>
                  <a:srgbClr val="4F6875"/>
                </a:solidFill>
                <a:latin typeface="Aptos"/>
                <a:ea typeface="Aptos"/>
                <a:cs typeface="Aptos"/>
              </a:defRPr>
            </a:pPr>
            <a:r>
              <a:rPr sz="1013" b="0" i="0">
                <a:solidFill>
                  <a:srgbClr val="4F6875"/>
                </a:solidFill>
                <a:latin typeface="Aptos"/>
                <a:ea typeface="Aptos"/>
                <a:cs typeface="Aptos"/>
              </a:rPr>
              <a:t>Keine pauschale Ein-Faktor-Logik</a:t>
            </a:r>
          </a:p>
        </p:txBody>
      </p:sp>
      <p:sp>
        <p:nvSpPr>
          <p:cNvPr id="22" name="Rectangle 21">
            <a:extLst>
              <a:ext uri="{FF2B5EF4-FFF2-40B4-BE49-F238E27FC236}">
                <a16:creationId xmlns:a16="http://schemas.microsoft.com/office/drawing/2014/main" id="{42B9FA47-46FB-4499-B2FC-A8A3CE2851CF}"/>
              </a:ext>
            </a:extLst>
          </p:cNvPr>
          <p:cNvSpPr>
            <a:spLocks noGrp="1"/>
          </p:cNvSpPr>
          <p:nvPr/>
        </p:nvSpPr>
        <p:spPr>
          <a:xfrm>
            <a:off x="5648325" y="3543300"/>
            <a:ext cx="323850" cy="323850"/>
          </a:xfrm>
          <a:prstGeom prst="rect">
            <a:avLst/>
          </a:prstGeom>
          <a:noFill/>
          <a:ln w="0">
            <a:noFill/>
            <a:prstDash val="solid"/>
          </a:ln>
        </p:spPr>
        <p:txBody>
          <a:bodyPr/>
          <a:lstStyle/>
          <a:p>
            <a:pPr algn="ctr">
              <a:defRPr sz="2100" b="1" i="0">
                <a:solidFill>
                  <a:srgbClr val="71858F"/>
                </a:solidFill>
                <a:latin typeface="Aptos"/>
                <a:ea typeface="Aptos"/>
                <a:cs typeface="Aptos"/>
              </a:defRPr>
            </a:pPr>
            <a:r>
              <a:rPr sz="2100" b="1" i="0">
                <a:solidFill>
                  <a:srgbClr val="71858F"/>
                </a:solidFill>
                <a:latin typeface="Aptos"/>
                <a:ea typeface="Aptos"/>
                <a:cs typeface="Aptos"/>
              </a:rPr>
              <a:t>→</a:t>
            </a:r>
          </a:p>
        </p:txBody>
      </p:sp>
      <p:sp>
        <p:nvSpPr>
          <p:cNvPr id="23" name="Rectangle: Rounded Corners 22">
            <a:extLst>
              <a:ext uri="{FF2B5EF4-FFF2-40B4-BE49-F238E27FC236}">
                <a16:creationId xmlns:a16="http://schemas.microsoft.com/office/drawing/2014/main" id="{C16AAB4A-8C9E-4FB5-B0F2-49FF3A5FFD8E}"/>
              </a:ext>
            </a:extLst>
          </p:cNvPr>
          <p:cNvSpPr>
            <a:spLocks noGrp="1"/>
          </p:cNvSpPr>
          <p:nvPr/>
        </p:nvSpPr>
        <p:spPr>
          <a:xfrm>
            <a:off x="6019800" y="2714625"/>
            <a:ext cx="2362200" cy="2095500"/>
          </a:xfrm>
          <a:prstGeom prst="roundRect">
            <a:avLst>
              <a:gd name="adj" fmla="val 5455"/>
            </a:avLst>
          </a:prstGeom>
          <a:solidFill>
            <a:srgbClr val="FFFFFF"/>
          </a:solidFill>
          <a:ln w="9525">
            <a:solidFill>
              <a:srgbClr val="D5E0E5"/>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24" name="Rectangle 23">
            <a:extLst>
              <a:ext uri="{FF2B5EF4-FFF2-40B4-BE49-F238E27FC236}">
                <a16:creationId xmlns:a16="http://schemas.microsoft.com/office/drawing/2014/main" id="{1E65B9FB-582A-4E38-9AD5-36941A580C20}"/>
              </a:ext>
            </a:extLst>
          </p:cNvPr>
          <p:cNvSpPr>
            <a:spLocks noGrp="1"/>
          </p:cNvSpPr>
          <p:nvPr/>
        </p:nvSpPr>
        <p:spPr>
          <a:xfrm>
            <a:off x="6019800" y="2714625"/>
            <a:ext cx="57150" cy="2095500"/>
          </a:xfrm>
          <a:prstGeom prst="rect">
            <a:avLst/>
          </a:prstGeom>
          <a:solidFill>
            <a:srgbClr val="A52F4D"/>
          </a:solidFill>
          <a:ln w="0">
            <a:noFill/>
            <a:prstDash val="solid"/>
          </a:ln>
        </p:spPr>
        <p:txBody>
          <a:bodyPr/>
          <a:lstStyle/>
          <a:p>
            <a:endParaRPr lang="en-US"/>
          </a:p>
        </p:txBody>
      </p:sp>
      <p:sp>
        <p:nvSpPr>
          <p:cNvPr id="25" name="Rectangle: Rounded Corners 24">
            <a:extLst>
              <a:ext uri="{FF2B5EF4-FFF2-40B4-BE49-F238E27FC236}">
                <a16:creationId xmlns:a16="http://schemas.microsoft.com/office/drawing/2014/main" id="{F2240453-C8FD-4E95-92D1-22C11F8407DB}"/>
              </a:ext>
            </a:extLst>
          </p:cNvPr>
          <p:cNvSpPr>
            <a:spLocks noGrp="1"/>
          </p:cNvSpPr>
          <p:nvPr/>
        </p:nvSpPr>
        <p:spPr>
          <a:xfrm>
            <a:off x="6172200" y="2838450"/>
            <a:ext cx="685800" cy="219075"/>
          </a:xfrm>
          <a:prstGeom prst="roundRect">
            <a:avLst>
              <a:gd name="adj" fmla="val 50000"/>
            </a:avLst>
          </a:prstGeom>
          <a:solidFill>
            <a:srgbClr val="A52F4D"/>
          </a:solidFill>
          <a:ln w="0">
            <a:noFill/>
            <a:prstDash val="solid"/>
          </a:ln>
        </p:spPr>
        <p:txBody>
          <a:bodyPr/>
          <a:lstStyle/>
          <a:p>
            <a:endParaRPr lang="en-US"/>
          </a:p>
        </p:txBody>
      </p:sp>
      <p:sp>
        <p:nvSpPr>
          <p:cNvPr id="26" name="Rectangle 25">
            <a:extLst>
              <a:ext uri="{FF2B5EF4-FFF2-40B4-BE49-F238E27FC236}">
                <a16:creationId xmlns:a16="http://schemas.microsoft.com/office/drawing/2014/main" id="{6F3CF53F-1000-4495-9316-D30274352145}"/>
              </a:ext>
            </a:extLst>
          </p:cNvPr>
          <p:cNvSpPr>
            <a:spLocks noGrp="1"/>
          </p:cNvSpPr>
          <p:nvPr/>
        </p:nvSpPr>
        <p:spPr>
          <a:xfrm>
            <a:off x="6210300" y="2876550"/>
            <a:ext cx="609600" cy="142875"/>
          </a:xfrm>
          <a:prstGeom prst="rect">
            <a:avLst/>
          </a:prstGeom>
          <a:noFill/>
          <a:ln w="0">
            <a:noFill/>
            <a:prstDash val="solid"/>
          </a:ln>
        </p:spPr>
        <p:txBody>
          <a:bodyPr/>
          <a:lstStyle/>
          <a:p>
            <a:pPr algn="ctr">
              <a:defRPr sz="713" b="1" i="0">
                <a:solidFill>
                  <a:srgbClr val="FFFFFF"/>
                </a:solidFill>
                <a:latin typeface="Aptos"/>
                <a:ea typeface="Aptos"/>
                <a:cs typeface="Aptos"/>
              </a:defRPr>
            </a:pPr>
            <a:r>
              <a:rPr sz="713" b="1" i="0">
                <a:solidFill>
                  <a:srgbClr val="FFFFFF"/>
                </a:solidFill>
                <a:latin typeface="Aptos"/>
                <a:ea typeface="Aptos"/>
                <a:cs typeface="Aptos"/>
              </a:rPr>
              <a:t>KANÄLE</a:t>
            </a:r>
          </a:p>
        </p:txBody>
      </p:sp>
      <p:sp>
        <p:nvSpPr>
          <p:cNvPr id="27" name="Rectangle 26">
            <a:extLst>
              <a:ext uri="{FF2B5EF4-FFF2-40B4-BE49-F238E27FC236}">
                <a16:creationId xmlns:a16="http://schemas.microsoft.com/office/drawing/2014/main" id="{831BB4DE-D294-4993-A97A-77998B15A1FB}"/>
              </a:ext>
            </a:extLst>
          </p:cNvPr>
          <p:cNvSpPr>
            <a:spLocks noGrp="1"/>
          </p:cNvSpPr>
          <p:nvPr/>
        </p:nvSpPr>
        <p:spPr>
          <a:xfrm>
            <a:off x="6181725" y="3162300"/>
            <a:ext cx="2038350" cy="266700"/>
          </a:xfrm>
          <a:prstGeom prst="rect">
            <a:avLst/>
          </a:prstGeom>
          <a:noFill/>
          <a:ln w="0">
            <a:noFill/>
            <a:prstDash val="solid"/>
          </a:ln>
        </p:spPr>
        <p:txBody>
          <a:bodyPr/>
          <a:lstStyle/>
          <a:p>
            <a:pPr algn="l">
              <a:defRPr sz="1425" b="1" i="0">
                <a:solidFill>
                  <a:srgbClr val="051C2C"/>
                </a:solidFill>
                <a:latin typeface="Aptos Display"/>
                <a:ea typeface="Aptos Display"/>
                <a:cs typeface="Aptos Display"/>
              </a:defRPr>
            </a:pPr>
            <a:r>
              <a:rPr sz="1425" b="1" i="0">
                <a:solidFill>
                  <a:srgbClr val="051C2C"/>
                </a:solidFill>
                <a:latin typeface="Aptos Display"/>
                <a:ea typeface="Aptos Display"/>
                <a:cs typeface="Aptos Display"/>
              </a:rPr>
              <a:t>3 · Risikokanäle</a:t>
            </a:r>
          </a:p>
        </p:txBody>
      </p:sp>
      <p:sp>
        <p:nvSpPr>
          <p:cNvPr id="28" name="Rectangle 27">
            <a:extLst>
              <a:ext uri="{FF2B5EF4-FFF2-40B4-BE49-F238E27FC236}">
                <a16:creationId xmlns:a16="http://schemas.microsoft.com/office/drawing/2014/main" id="{4B4CC39D-16D0-4EFE-AABB-22D6365E0AC7}"/>
              </a:ext>
            </a:extLst>
          </p:cNvPr>
          <p:cNvSpPr>
            <a:spLocks noGrp="1"/>
          </p:cNvSpPr>
          <p:nvPr/>
        </p:nvSpPr>
        <p:spPr>
          <a:xfrm>
            <a:off x="6181725" y="3486150"/>
            <a:ext cx="2038350" cy="1238250"/>
          </a:xfrm>
          <a:prstGeom prst="rect">
            <a:avLst/>
          </a:prstGeom>
          <a:noFill/>
          <a:ln w="0">
            <a:noFill/>
            <a:prstDash val="solid"/>
          </a:ln>
        </p:spPr>
        <p:txBody>
          <a:bodyPr/>
          <a:lstStyle/>
          <a:p>
            <a:pPr algn="l">
              <a:defRPr sz="1013" b="0" i="0">
                <a:solidFill>
                  <a:srgbClr val="4F6875"/>
                </a:solidFill>
                <a:latin typeface="Aptos"/>
                <a:ea typeface="Aptos"/>
                <a:cs typeface="Aptos"/>
              </a:defRPr>
            </a:pPr>
            <a:r>
              <a:rPr sz="1013" b="0" i="0">
                <a:solidFill>
                  <a:srgbClr val="4F6875"/>
                </a:solidFill>
                <a:latin typeface="Aptos"/>
                <a:ea typeface="Aptos"/>
                <a:cs typeface="Aptos"/>
              </a:rPr>
              <a:t>Kreditbuch</a:t>
            </a:r>
          </a:p>
          <a:p>
            <a:pPr algn="l">
              <a:defRPr sz="1013" b="0" i="0">
                <a:solidFill>
                  <a:srgbClr val="4F6875"/>
                </a:solidFill>
                <a:latin typeface="Aptos"/>
                <a:ea typeface="Aptos"/>
                <a:cs typeface="Aptos"/>
              </a:defRPr>
            </a:pPr>
            <a:r>
              <a:rPr sz="1013" b="0" i="0">
                <a:solidFill>
                  <a:srgbClr val="4F6875"/>
                </a:solidFill>
                <a:latin typeface="Aptos"/>
                <a:ea typeface="Aptos"/>
                <a:cs typeface="Aptos"/>
              </a:rPr>
              <a:t>Expected Loss + IRB-RWA</a:t>
            </a:r>
          </a:p>
          <a:p>
            <a:endParaRPr sz="1013" b="0" i="0">
              <a:solidFill>
                <a:srgbClr val="4F6875"/>
              </a:solidFill>
              <a:latin typeface="Aptos"/>
              <a:ea typeface="Aptos"/>
              <a:cs typeface="Aptos"/>
            </a:endParaRPr>
          </a:p>
          <a:p>
            <a:pPr algn="l">
              <a:defRPr sz="1013" b="0" i="0">
                <a:solidFill>
                  <a:srgbClr val="4F6875"/>
                </a:solidFill>
                <a:latin typeface="Aptos"/>
                <a:ea typeface="Aptos"/>
                <a:cs typeface="Aptos"/>
              </a:defRPr>
            </a:pPr>
            <a:r>
              <a:rPr sz="1013" b="0" i="0">
                <a:solidFill>
                  <a:srgbClr val="4F6875"/>
                </a:solidFill>
                <a:latin typeface="Aptos"/>
                <a:ea typeface="Aptos"/>
                <a:cs typeface="Aptos"/>
              </a:rPr>
              <a:t>Sovereign-Buch</a:t>
            </a:r>
          </a:p>
          <a:p>
            <a:pPr algn="l">
              <a:defRPr sz="1013" b="0" i="0">
                <a:solidFill>
                  <a:srgbClr val="4F6875"/>
                </a:solidFill>
                <a:latin typeface="Aptos"/>
                <a:ea typeface="Aptos"/>
                <a:cs typeface="Aptos"/>
              </a:defRPr>
            </a:pPr>
            <a:r>
              <a:rPr sz="1013" b="0" i="0">
                <a:solidFill>
                  <a:srgbClr val="4F6875"/>
                </a:solidFill>
                <a:latin typeface="Aptos"/>
                <a:ea typeface="Aptos"/>
                <a:cs typeface="Aptos"/>
              </a:rPr>
              <a:t>Duration-MtM + IFRS-9-Filter</a:t>
            </a:r>
          </a:p>
        </p:txBody>
      </p:sp>
      <p:sp>
        <p:nvSpPr>
          <p:cNvPr id="29" name="Rectangle 28">
            <a:extLst>
              <a:ext uri="{FF2B5EF4-FFF2-40B4-BE49-F238E27FC236}">
                <a16:creationId xmlns:a16="http://schemas.microsoft.com/office/drawing/2014/main" id="{23941C11-970C-4778-8421-CCD6C65C2B3A}"/>
              </a:ext>
            </a:extLst>
          </p:cNvPr>
          <p:cNvSpPr>
            <a:spLocks noGrp="1"/>
          </p:cNvSpPr>
          <p:nvPr/>
        </p:nvSpPr>
        <p:spPr>
          <a:xfrm>
            <a:off x="8429625" y="3543300"/>
            <a:ext cx="323850" cy="323850"/>
          </a:xfrm>
          <a:prstGeom prst="rect">
            <a:avLst/>
          </a:prstGeom>
          <a:noFill/>
          <a:ln w="0">
            <a:noFill/>
            <a:prstDash val="solid"/>
          </a:ln>
        </p:spPr>
        <p:txBody>
          <a:bodyPr/>
          <a:lstStyle/>
          <a:p>
            <a:pPr algn="ctr">
              <a:defRPr sz="2100" b="1" i="0">
                <a:solidFill>
                  <a:srgbClr val="71858F"/>
                </a:solidFill>
                <a:latin typeface="Aptos"/>
                <a:ea typeface="Aptos"/>
                <a:cs typeface="Aptos"/>
              </a:defRPr>
            </a:pPr>
            <a:r>
              <a:rPr sz="2100" b="1" i="0">
                <a:solidFill>
                  <a:srgbClr val="71858F"/>
                </a:solidFill>
                <a:latin typeface="Aptos"/>
                <a:ea typeface="Aptos"/>
                <a:cs typeface="Aptos"/>
              </a:rPr>
              <a:t>→</a:t>
            </a:r>
          </a:p>
        </p:txBody>
      </p:sp>
      <p:sp>
        <p:nvSpPr>
          <p:cNvPr id="30" name="Rectangle: Rounded Corners 29">
            <a:extLst>
              <a:ext uri="{FF2B5EF4-FFF2-40B4-BE49-F238E27FC236}">
                <a16:creationId xmlns:a16="http://schemas.microsoft.com/office/drawing/2014/main" id="{E81BF64B-EF83-47F4-93DF-E35608F60146}"/>
              </a:ext>
            </a:extLst>
          </p:cNvPr>
          <p:cNvSpPr>
            <a:spLocks noGrp="1"/>
          </p:cNvSpPr>
          <p:nvPr/>
        </p:nvSpPr>
        <p:spPr>
          <a:xfrm>
            <a:off x="8801100" y="2714625"/>
            <a:ext cx="2933700" cy="2095500"/>
          </a:xfrm>
          <a:prstGeom prst="roundRect">
            <a:avLst>
              <a:gd name="adj" fmla="val 5455"/>
            </a:avLst>
          </a:prstGeom>
          <a:solidFill>
            <a:srgbClr val="123B50"/>
          </a:solidFill>
          <a:ln w="9525">
            <a:solidFill>
              <a:srgbClr val="123B50"/>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31" name="Rectangle 30">
            <a:extLst>
              <a:ext uri="{FF2B5EF4-FFF2-40B4-BE49-F238E27FC236}">
                <a16:creationId xmlns:a16="http://schemas.microsoft.com/office/drawing/2014/main" id="{7A9A0002-AF2C-4C2F-8079-6F51AE58169E}"/>
              </a:ext>
            </a:extLst>
          </p:cNvPr>
          <p:cNvSpPr>
            <a:spLocks noGrp="1"/>
          </p:cNvSpPr>
          <p:nvPr/>
        </p:nvSpPr>
        <p:spPr>
          <a:xfrm>
            <a:off x="8801100" y="2714625"/>
            <a:ext cx="57150" cy="2095500"/>
          </a:xfrm>
          <a:prstGeom prst="rect">
            <a:avLst/>
          </a:prstGeom>
          <a:solidFill>
            <a:srgbClr val="051C2C"/>
          </a:solidFill>
          <a:ln w="0">
            <a:noFill/>
            <a:prstDash val="solid"/>
          </a:ln>
        </p:spPr>
        <p:txBody>
          <a:bodyPr/>
          <a:lstStyle/>
          <a:p>
            <a:endParaRPr lang="en-US"/>
          </a:p>
        </p:txBody>
      </p:sp>
      <p:sp>
        <p:nvSpPr>
          <p:cNvPr id="32" name="Rectangle: Rounded Corners 31">
            <a:extLst>
              <a:ext uri="{FF2B5EF4-FFF2-40B4-BE49-F238E27FC236}">
                <a16:creationId xmlns:a16="http://schemas.microsoft.com/office/drawing/2014/main" id="{56253C32-49D9-496C-B723-820E864E15E7}"/>
              </a:ext>
            </a:extLst>
          </p:cNvPr>
          <p:cNvSpPr>
            <a:spLocks noGrp="1"/>
          </p:cNvSpPr>
          <p:nvPr/>
        </p:nvSpPr>
        <p:spPr>
          <a:xfrm>
            <a:off x="8953500" y="2838450"/>
            <a:ext cx="628650" cy="219075"/>
          </a:xfrm>
          <a:prstGeom prst="roundRect">
            <a:avLst>
              <a:gd name="adj" fmla="val 50000"/>
            </a:avLst>
          </a:prstGeom>
          <a:solidFill>
            <a:srgbClr val="051C2C"/>
          </a:solidFill>
          <a:ln w="0">
            <a:noFill/>
            <a:prstDash val="solid"/>
          </a:ln>
        </p:spPr>
        <p:txBody>
          <a:bodyPr/>
          <a:lstStyle/>
          <a:p>
            <a:endParaRPr lang="en-US"/>
          </a:p>
        </p:txBody>
      </p:sp>
      <p:sp>
        <p:nvSpPr>
          <p:cNvPr id="33" name="Rectangle 32">
            <a:extLst>
              <a:ext uri="{FF2B5EF4-FFF2-40B4-BE49-F238E27FC236}">
                <a16:creationId xmlns:a16="http://schemas.microsoft.com/office/drawing/2014/main" id="{D9075208-AD8A-4699-B2E6-C1F5E166767E}"/>
              </a:ext>
            </a:extLst>
          </p:cNvPr>
          <p:cNvSpPr>
            <a:spLocks noGrp="1"/>
          </p:cNvSpPr>
          <p:nvPr/>
        </p:nvSpPr>
        <p:spPr>
          <a:xfrm>
            <a:off x="8991600" y="2876550"/>
            <a:ext cx="552450" cy="142875"/>
          </a:xfrm>
          <a:prstGeom prst="rect">
            <a:avLst/>
          </a:prstGeom>
          <a:noFill/>
          <a:ln w="0">
            <a:noFill/>
            <a:prstDash val="solid"/>
          </a:ln>
        </p:spPr>
        <p:txBody>
          <a:bodyPr/>
          <a:lstStyle/>
          <a:p>
            <a:pPr algn="ctr">
              <a:defRPr sz="713" b="1" i="0">
                <a:solidFill>
                  <a:srgbClr val="FFFFFF"/>
                </a:solidFill>
                <a:latin typeface="Aptos"/>
                <a:ea typeface="Aptos"/>
                <a:cs typeface="Aptos"/>
              </a:defRPr>
            </a:pPr>
            <a:r>
              <a:rPr sz="713" b="1" i="0">
                <a:solidFill>
                  <a:srgbClr val="FFFFFF"/>
                </a:solidFill>
                <a:latin typeface="Aptos"/>
                <a:ea typeface="Aptos"/>
                <a:cs typeface="Aptos"/>
              </a:rPr>
              <a:t>OUTPUT</a:t>
            </a:r>
          </a:p>
        </p:txBody>
      </p:sp>
      <p:sp>
        <p:nvSpPr>
          <p:cNvPr id="34" name="Rectangle 33">
            <a:extLst>
              <a:ext uri="{FF2B5EF4-FFF2-40B4-BE49-F238E27FC236}">
                <a16:creationId xmlns:a16="http://schemas.microsoft.com/office/drawing/2014/main" id="{8B11F264-2AB4-4147-8A71-A9A6DBD62DA3}"/>
              </a:ext>
            </a:extLst>
          </p:cNvPr>
          <p:cNvSpPr>
            <a:spLocks noGrp="1"/>
          </p:cNvSpPr>
          <p:nvPr/>
        </p:nvSpPr>
        <p:spPr>
          <a:xfrm>
            <a:off x="8963025" y="3162300"/>
            <a:ext cx="2609850" cy="266700"/>
          </a:xfrm>
          <a:prstGeom prst="rect">
            <a:avLst/>
          </a:prstGeom>
          <a:noFill/>
          <a:ln w="0">
            <a:noFill/>
            <a:prstDash val="solid"/>
          </a:ln>
        </p:spPr>
        <p:txBody>
          <a:bodyPr/>
          <a:lstStyle/>
          <a:p>
            <a:pPr algn="l">
              <a:defRPr sz="1425" b="1" i="0">
                <a:solidFill>
                  <a:srgbClr val="FFFFFF"/>
                </a:solidFill>
                <a:latin typeface="Aptos Display"/>
                <a:ea typeface="Aptos Display"/>
                <a:cs typeface="Aptos Display"/>
              </a:defRPr>
            </a:pPr>
            <a:r>
              <a:rPr sz="1425" b="1" i="0">
                <a:solidFill>
                  <a:srgbClr val="FFFFFF"/>
                </a:solidFill>
                <a:latin typeface="Aptos Display"/>
                <a:ea typeface="Aptos Display"/>
                <a:cs typeface="Aptos Display"/>
              </a:rPr>
              <a:t>4 · CET1-Ergebnis</a:t>
            </a:r>
          </a:p>
        </p:txBody>
      </p:sp>
      <p:sp>
        <p:nvSpPr>
          <p:cNvPr id="35" name="Rectangle 34">
            <a:extLst>
              <a:ext uri="{FF2B5EF4-FFF2-40B4-BE49-F238E27FC236}">
                <a16:creationId xmlns:a16="http://schemas.microsoft.com/office/drawing/2014/main" id="{B6F84D7B-B664-4F1E-8BAE-F60D2DF01486}"/>
              </a:ext>
            </a:extLst>
          </p:cNvPr>
          <p:cNvSpPr>
            <a:spLocks noGrp="1"/>
          </p:cNvSpPr>
          <p:nvPr/>
        </p:nvSpPr>
        <p:spPr>
          <a:xfrm>
            <a:off x="8963025" y="3486150"/>
            <a:ext cx="2609850" cy="1238250"/>
          </a:xfrm>
          <a:prstGeom prst="rect">
            <a:avLst/>
          </a:prstGeom>
          <a:noFill/>
          <a:ln w="0">
            <a:noFill/>
            <a:prstDash val="solid"/>
          </a:ln>
        </p:spPr>
        <p:txBody>
          <a:bodyPr/>
          <a:lstStyle/>
          <a:p>
            <a:pPr algn="l">
              <a:defRPr sz="990" b="0" i="0">
                <a:solidFill>
                  <a:srgbClr val="E4EEF2"/>
                </a:solidFill>
                <a:latin typeface="Aptos"/>
                <a:ea typeface="Aptos"/>
                <a:cs typeface="Aptos"/>
              </a:defRPr>
            </a:pPr>
            <a:r>
              <a:rPr sz="990" b="0" i="0">
                <a:solidFill>
                  <a:srgbClr val="E4EEF2"/>
                </a:solidFill>
                <a:latin typeface="Aptos"/>
                <a:ea typeface="Aptos"/>
                <a:cs typeface="Aptos"/>
              </a:rPr>
              <a:t>Zähler: CET1 minus Vorsorge und Marktwertverluste</a:t>
            </a:r>
          </a:p>
          <a:p>
            <a:endParaRPr sz="990" b="0" i="0">
              <a:solidFill>
                <a:srgbClr val="E4EEF2"/>
              </a:solidFill>
              <a:latin typeface="Aptos"/>
              <a:ea typeface="Aptos"/>
              <a:cs typeface="Aptos"/>
            </a:endParaRPr>
          </a:p>
          <a:p>
            <a:pPr algn="l">
              <a:defRPr sz="990" b="0" i="0">
                <a:solidFill>
                  <a:srgbClr val="E4EEF2"/>
                </a:solidFill>
                <a:latin typeface="Aptos"/>
                <a:ea typeface="Aptos"/>
                <a:cs typeface="Aptos"/>
              </a:defRPr>
            </a:pPr>
            <a:r>
              <a:rPr sz="990" b="0" i="0">
                <a:solidFill>
                  <a:srgbClr val="E4EEF2"/>
                </a:solidFill>
                <a:latin typeface="Aptos"/>
                <a:ea typeface="Aptos"/>
                <a:cs typeface="Aptos"/>
              </a:rPr>
              <a:t>Nenner: RWA plus zusätzlicher Kredit-RWA</a:t>
            </a:r>
          </a:p>
          <a:p>
            <a:endParaRPr sz="990" b="0" i="0">
              <a:solidFill>
                <a:srgbClr val="E4EEF2"/>
              </a:solidFill>
              <a:latin typeface="Aptos"/>
              <a:ea typeface="Aptos"/>
              <a:cs typeface="Aptos"/>
            </a:endParaRPr>
          </a:p>
          <a:p>
            <a:pPr algn="l">
              <a:defRPr sz="990" b="0" i="0">
                <a:solidFill>
                  <a:srgbClr val="E4EEF2"/>
                </a:solidFill>
                <a:latin typeface="Aptos"/>
                <a:ea typeface="Aptos"/>
                <a:cs typeface="Aptos"/>
              </a:defRPr>
            </a:pPr>
            <a:r>
              <a:rPr sz="990" b="0" i="0">
                <a:solidFill>
                  <a:srgbClr val="E4EEF2"/>
                </a:solidFill>
                <a:latin typeface="Aptos"/>
                <a:ea typeface="Aptos"/>
                <a:cs typeface="Aptos"/>
              </a:rPr>
              <a:t>Output: Quote je Bank und im Aggregat</a:t>
            </a:r>
          </a:p>
        </p:txBody>
      </p:sp>
      <p:sp>
        <p:nvSpPr>
          <p:cNvPr id="36" name="Rectangle: Rounded Corners 35">
            <a:extLst>
              <a:ext uri="{FF2B5EF4-FFF2-40B4-BE49-F238E27FC236}">
                <a16:creationId xmlns:a16="http://schemas.microsoft.com/office/drawing/2014/main" id="{F77021EE-F0B3-49E9-9E62-9A24CBC8ACB0}"/>
              </a:ext>
            </a:extLst>
          </p:cNvPr>
          <p:cNvSpPr>
            <a:spLocks noGrp="1"/>
          </p:cNvSpPr>
          <p:nvPr/>
        </p:nvSpPr>
        <p:spPr>
          <a:xfrm>
            <a:off x="457200" y="5095875"/>
            <a:ext cx="11277600" cy="1028700"/>
          </a:xfrm>
          <a:prstGeom prst="roundRect">
            <a:avLst>
              <a:gd name="adj" fmla="val 11111"/>
            </a:avLst>
          </a:prstGeom>
          <a:solidFill>
            <a:srgbClr val="FFFFFF"/>
          </a:solidFill>
          <a:ln w="9525">
            <a:solidFill>
              <a:srgbClr val="D5E0E5"/>
            </a:solidFill>
            <a:prstDash val="solid"/>
          </a:ln>
        </p:spPr>
        <p:txBody>
          <a:bodyPr/>
          <a:lstStyle/>
          <a:p>
            <a:endParaRPr lang="en-US"/>
          </a:p>
        </p:txBody>
      </p:sp>
      <p:sp>
        <p:nvSpPr>
          <p:cNvPr id="37" name="Rectangle 36">
            <a:extLst>
              <a:ext uri="{FF2B5EF4-FFF2-40B4-BE49-F238E27FC236}">
                <a16:creationId xmlns:a16="http://schemas.microsoft.com/office/drawing/2014/main" id="{F051EB05-F6D7-46CF-B849-8F0C6E419CFD}"/>
              </a:ext>
            </a:extLst>
          </p:cNvPr>
          <p:cNvSpPr>
            <a:spLocks noGrp="1"/>
          </p:cNvSpPr>
          <p:nvPr/>
        </p:nvSpPr>
        <p:spPr>
          <a:xfrm>
            <a:off x="628650" y="5257800"/>
            <a:ext cx="1333500" cy="161925"/>
          </a:xfrm>
          <a:prstGeom prst="rect">
            <a:avLst/>
          </a:prstGeom>
          <a:noFill/>
          <a:ln w="0">
            <a:noFill/>
            <a:prstDash val="solid"/>
          </a:ln>
        </p:spPr>
        <p:txBody>
          <a:bodyPr/>
          <a:lstStyle/>
          <a:p>
            <a:pPr algn="l">
              <a:defRPr sz="788" b="1" i="0">
                <a:solidFill>
                  <a:srgbClr val="A52F4D"/>
                </a:solidFill>
                <a:latin typeface="Aptos"/>
                <a:ea typeface="Aptos"/>
                <a:cs typeface="Aptos"/>
              </a:defRPr>
            </a:pPr>
            <a:r>
              <a:rPr sz="788" b="1" i="0">
                <a:solidFill>
                  <a:srgbClr val="A52F4D"/>
                </a:solidFill>
                <a:latin typeface="Aptos"/>
                <a:ea typeface="Aptos"/>
                <a:cs typeface="Aptos"/>
              </a:rPr>
              <a:t>DESIGNPRINZIP</a:t>
            </a:r>
          </a:p>
        </p:txBody>
      </p:sp>
      <p:sp>
        <p:nvSpPr>
          <p:cNvPr id="38" name="Rectangle 37">
            <a:extLst>
              <a:ext uri="{FF2B5EF4-FFF2-40B4-BE49-F238E27FC236}">
                <a16:creationId xmlns:a16="http://schemas.microsoft.com/office/drawing/2014/main" id="{F13B1582-A1F0-4599-B8D9-BDE42A0FC071}"/>
              </a:ext>
            </a:extLst>
          </p:cNvPr>
          <p:cNvSpPr>
            <a:spLocks noGrp="1"/>
          </p:cNvSpPr>
          <p:nvPr/>
        </p:nvSpPr>
        <p:spPr>
          <a:xfrm>
            <a:off x="628650" y="5505450"/>
            <a:ext cx="2381250" cy="276225"/>
          </a:xfrm>
          <a:prstGeom prst="rect">
            <a:avLst/>
          </a:prstGeom>
          <a:noFill/>
          <a:ln w="0">
            <a:noFill/>
            <a:prstDash val="solid"/>
          </a:ln>
        </p:spPr>
        <p:txBody>
          <a:bodyPr/>
          <a:lstStyle/>
          <a:p>
            <a:pPr algn="l">
              <a:defRPr sz="1575" b="1" i="0">
                <a:solidFill>
                  <a:srgbClr val="051C2C"/>
                </a:solidFill>
                <a:latin typeface="Aptos Display"/>
                <a:ea typeface="Aptos Display"/>
                <a:cs typeface="Aptos Display"/>
              </a:defRPr>
            </a:pPr>
            <a:r>
              <a:rPr sz="1575" b="1" i="0">
                <a:solidFill>
                  <a:srgbClr val="051C2C"/>
                </a:solidFill>
                <a:latin typeface="Aptos Display"/>
                <a:ea typeface="Aptos Display"/>
                <a:cs typeface="Aptos Display"/>
              </a:rPr>
              <a:t>Keine Black Box</a:t>
            </a:r>
          </a:p>
        </p:txBody>
      </p:sp>
      <p:sp>
        <p:nvSpPr>
          <p:cNvPr id="39" name="Rectangle 38">
            <a:extLst>
              <a:ext uri="{FF2B5EF4-FFF2-40B4-BE49-F238E27FC236}">
                <a16:creationId xmlns:a16="http://schemas.microsoft.com/office/drawing/2014/main" id="{A3B45FEE-600D-44E6-8DC5-2D95B813591C}"/>
              </a:ext>
            </a:extLst>
          </p:cNvPr>
          <p:cNvSpPr>
            <a:spLocks noGrp="1"/>
          </p:cNvSpPr>
          <p:nvPr/>
        </p:nvSpPr>
        <p:spPr>
          <a:xfrm>
            <a:off x="3009900" y="5486400"/>
            <a:ext cx="8382000" cy="323850"/>
          </a:xfrm>
          <a:prstGeom prst="rect">
            <a:avLst/>
          </a:prstGeom>
          <a:noFill/>
          <a:ln w="0">
            <a:noFill/>
            <a:prstDash val="solid"/>
          </a:ln>
        </p:spPr>
        <p:txBody>
          <a:bodyPr/>
          <a:lstStyle/>
          <a:p>
            <a:pPr algn="l">
              <a:defRPr sz="1125" b="0" i="0">
                <a:solidFill>
                  <a:srgbClr val="4F6875"/>
                </a:solidFill>
                <a:latin typeface="Aptos"/>
                <a:ea typeface="Aptos"/>
                <a:cs typeface="Aptos"/>
              </a:defRPr>
            </a:pPr>
            <a:r>
              <a:rPr sz="1125" b="0" i="0">
                <a:solidFill>
                  <a:srgbClr val="4F6875"/>
                </a:solidFill>
                <a:latin typeface="Aptos"/>
                <a:ea typeface="Aptos"/>
                <a:cs typeface="Aptos"/>
              </a:rPr>
              <a:t>Jeder Schritt besitzt eine Formel, eine Datenquelle und einen messbaren Beitrag zur finalen CET1-Bridge.</a:t>
            </a:r>
          </a:p>
        </p:txBody>
      </p:sp>
      <p:sp>
        <p:nvSpPr>
          <p:cNvPr id="40" name="Rectangle 39">
            <a:extLst>
              <a:ext uri="{FF2B5EF4-FFF2-40B4-BE49-F238E27FC236}">
                <a16:creationId xmlns:a16="http://schemas.microsoft.com/office/drawing/2014/main" id="{56F3043E-BF27-44B6-8AC5-5AD180749ADD}"/>
              </a:ext>
            </a:extLst>
          </p:cNvPr>
          <p:cNvSpPr>
            <a:spLocks noGrp="1"/>
          </p:cNvSpPr>
          <p:nvPr/>
        </p:nvSpPr>
        <p:spPr>
          <a:xfrm>
            <a:off x="457200" y="6486525"/>
            <a:ext cx="10382250" cy="152400"/>
          </a:xfrm>
          <a:prstGeom prst="rect">
            <a:avLst/>
          </a:prstGeom>
          <a:noFill/>
          <a:ln w="0">
            <a:noFill/>
            <a:prstDash val="solid"/>
          </a:ln>
        </p:spPr>
        <p:txBody>
          <a:bodyPr/>
          <a:lstStyle/>
          <a:p>
            <a:pPr algn="l">
              <a:defRPr sz="653" b="0" i="0">
                <a:solidFill>
                  <a:srgbClr val="71858F"/>
                </a:solidFill>
                <a:latin typeface="Aptos"/>
                <a:ea typeface="Aptos"/>
                <a:cs typeface="Aptos"/>
              </a:defRPr>
            </a:pPr>
            <a:r>
              <a:rPr sz="653" b="0" i="0">
                <a:solidFill>
                  <a:srgbClr val="71858F"/>
                </a:solidFill>
                <a:latin typeface="Aptos"/>
                <a:ea typeface="Aptos"/>
                <a:cs typeface="Aptos"/>
              </a:rPr>
              <a:t>Quelle: Modell-Cockpit · Pillar 3 EU-CR6 · EBA Transparency · ICE Brent · Deutsche Bundesbank</a:t>
            </a:r>
          </a:p>
        </p:txBody>
      </p:sp>
      <p:sp>
        <p:nvSpPr>
          <p:cNvPr id="43" name="TextBox 42">
            <a:extLst>
              <a:ext uri="{FF2B5EF4-FFF2-40B4-BE49-F238E27FC236}">
                <a16:creationId xmlns:a16="http://schemas.microsoft.com/office/drawing/2014/main" id="{DC7D2345-19D0-DA21-AADC-5FC95F990F36}"/>
              </a:ext>
            </a:extLst>
          </p:cNvPr>
          <p:cNvSpPr txBox="1"/>
          <p:nvPr/>
        </p:nvSpPr>
        <p:spPr>
          <a:xfrm>
            <a:off x="514350" y="4751451"/>
            <a:ext cx="10972800" cy="420624"/>
          </a:xfrm>
          <a:prstGeom prst="rect">
            <a:avLst/>
          </a:prstGeom>
          <a:noFill/>
        </p:spPr>
        <p:txBody>
          <a:bodyPr wrap="square" lIns="0" tIns="0" rIns="0" bIns="0" anchor="ctr">
            <a:spAutoFit/>
          </a:bodyPr>
          <a:lstStyle/>
          <a:p>
            <a:pPr algn="l">
              <a:lnSpc>
                <a:spcPct val="100000"/>
              </a:lnSpc>
            </a:pPr>
            <a:r>
              <a:rPr sz="900" b="1">
                <a:solidFill>
                  <a:srgbClr val="0B5A7A"/>
                </a:solidFill>
                <a:latin typeface="Calibri"/>
              </a:rPr>
              <a:t>DATENBASIS  </a:t>
            </a:r>
            <a:r>
              <a:rPr sz="1000" b="0">
                <a:solidFill>
                  <a:srgbClr val="3A4A57"/>
                </a:solidFill>
                <a:latin typeface="Calibri"/>
              </a:rPr>
              <a:t>Pillar-3 EU-CR6 (PD/LGD, 31.12.2024) · EBA Transparency 2025 (EAD/RWA/CET1/Sovereigns) · ICE Brent · Bundesbank-Svensson-</a:t>
            </a:r>
            <a:r>
              <a:rPr sz="1000" b="0" err="1">
                <a:solidFill>
                  <a:srgbClr val="3A4A57"/>
                </a:solidFill>
                <a:latin typeface="Calibri"/>
              </a:rPr>
              <a:t>Zinskurve</a:t>
            </a:r>
            <a:r>
              <a:rPr sz="1000" b="0">
                <a:solidFill>
                  <a:srgbClr val="3A4A57"/>
                </a:solidFill>
                <a:latin typeface="Calibri"/>
              </a:rPr>
              <a:t>  —  10/10 Banken Pillar-3-verifiziert</a:t>
            </a:r>
          </a:p>
        </p:txBody>
      </p:sp>
      <p:sp>
        <p:nvSpPr>
          <p:cNvPr id="5" name="CodexSlideNumber">
            <a:extLst>
              <a:ext uri="{FF2B5EF4-FFF2-40B4-BE49-F238E27FC236}">
                <a16:creationId xmlns:a16="http://schemas.microsoft.com/office/drawing/2014/main" id="{BEA4873A-0D57-7AC9-BA75-D94133EA8FFB}"/>
              </a:ext>
            </a:extLst>
          </p:cNvPr>
          <p:cNvSpPr txBox="1"/>
          <p:nvPr/>
        </p:nvSpPr>
        <p:spPr>
          <a:xfrm>
            <a:off x="11226800" y="6553200"/>
            <a:ext cx="736600" cy="123111"/>
          </a:xfrm>
          <a:prstGeom prst="rect">
            <a:avLst/>
          </a:prstGeom>
          <a:noFill/>
        </p:spPr>
        <p:txBody>
          <a:bodyPr vert="horz" lIns="0" tIns="0" rIns="0" bIns="0" rtlCol="0">
            <a:spAutoFit/>
          </a:bodyPr>
          <a:lstStyle/>
          <a:p>
            <a:pPr algn="r"/>
            <a:r>
              <a:rPr lang="en-US" sz="800">
                <a:solidFill>
                  <a:srgbClr val="525252"/>
                </a:solidFill>
                <a:latin typeface="Arial" panose="020B0604020202020204" pitchFamily="34" charset="0"/>
              </a:rPr>
              <a:t>4 / 64</a:t>
            </a:r>
          </a:p>
        </p:txBody>
      </p:sp>
    </p:spTree>
    <p:extLst>
      <p:ext uri="{BB962C8B-B14F-4D97-AF65-F5344CB8AC3E}">
        <p14:creationId xmlns:p14="http://schemas.microsoft.com/office/powerpoint/2010/main" val="1459363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AC07251-8534-4AB2-B3F4-C543F2E59758}"/>
              </a:ext>
            </a:extLst>
          </p:cNvPr>
          <p:cNvSpPr>
            <a:spLocks noGrp="1"/>
          </p:cNvSpPr>
          <p:nvPr/>
        </p:nvSpPr>
        <p:spPr>
          <a:xfrm>
            <a:off x="457200" y="228600"/>
            <a:ext cx="4572000" cy="171450"/>
          </a:xfrm>
          <a:prstGeom prst="rect">
            <a:avLst/>
          </a:prstGeom>
          <a:noFill/>
          <a:ln w="0">
            <a:noFill/>
            <a:prstDash val="solid"/>
          </a:ln>
        </p:spPr>
        <p:txBody>
          <a:bodyPr/>
          <a:lstStyle/>
          <a:p>
            <a:pPr algn="l">
              <a:defRPr sz="863" b="1" i="0">
                <a:solidFill>
                  <a:srgbClr val="A52F4D"/>
                </a:solidFill>
                <a:latin typeface="Aptos"/>
                <a:ea typeface="Aptos"/>
                <a:cs typeface="Aptos"/>
              </a:defRPr>
            </a:pPr>
            <a:r>
              <a:rPr lang="de-DE" sz="863" b="1" i="0">
                <a:solidFill>
                  <a:schemeClr val="tx2"/>
                </a:solidFill>
                <a:latin typeface="Aptos"/>
                <a:ea typeface="Aptos"/>
                <a:cs typeface="Aptos"/>
              </a:rPr>
              <a:t>GRUNDLAGEN · VOM KREDITRISIKO ZUR CET1-QUOTE</a:t>
            </a:r>
          </a:p>
        </p:txBody>
      </p:sp>
      <p:sp>
        <p:nvSpPr>
          <p:cNvPr id="3" name="Rectangle 2">
            <a:extLst>
              <a:ext uri="{FF2B5EF4-FFF2-40B4-BE49-F238E27FC236}">
                <a16:creationId xmlns:a16="http://schemas.microsoft.com/office/drawing/2014/main" id="{FE615650-7CAC-40A9-8240-CC06E02D1CF2}"/>
              </a:ext>
            </a:extLst>
          </p:cNvPr>
          <p:cNvSpPr>
            <a:spLocks noGrp="1"/>
          </p:cNvSpPr>
          <p:nvPr/>
        </p:nvSpPr>
        <p:spPr>
          <a:xfrm>
            <a:off x="457200" y="457200"/>
            <a:ext cx="11191875" cy="409575"/>
          </a:xfrm>
          <a:prstGeom prst="rect">
            <a:avLst/>
          </a:prstGeom>
          <a:noFill/>
          <a:ln w="0">
            <a:noFill/>
            <a:prstDash val="solid"/>
          </a:ln>
        </p:spPr>
        <p:txBody>
          <a:bodyPr/>
          <a:lstStyle/>
          <a:p>
            <a:pPr algn="l">
              <a:defRPr sz="2475" b="1" i="0">
                <a:solidFill>
                  <a:srgbClr val="051C2C"/>
                </a:solidFill>
                <a:latin typeface="Aptos Display"/>
                <a:ea typeface="Aptos Display"/>
                <a:cs typeface="Aptos Display"/>
              </a:defRPr>
            </a:pPr>
            <a:r>
              <a:rPr sz="2475" b="1" i="0">
                <a:solidFill>
                  <a:srgbClr val="051C2C"/>
                </a:solidFill>
                <a:latin typeface="Aptos Display"/>
                <a:ea typeface="Aptos Display"/>
                <a:cs typeface="Aptos Display"/>
              </a:rPr>
              <a:t>Drei einfache Formeln verbinden Kreditrisiko und unsere Zielgröße</a:t>
            </a:r>
          </a:p>
        </p:txBody>
      </p:sp>
      <p:sp>
        <p:nvSpPr>
          <p:cNvPr id="4" name="Rectangle 3">
            <a:extLst>
              <a:ext uri="{FF2B5EF4-FFF2-40B4-BE49-F238E27FC236}">
                <a16:creationId xmlns:a16="http://schemas.microsoft.com/office/drawing/2014/main" id="{59299A06-3087-43FB-B375-6F0F4FEA35EC}"/>
              </a:ext>
            </a:extLst>
          </p:cNvPr>
          <p:cNvSpPr>
            <a:spLocks noGrp="1"/>
          </p:cNvSpPr>
          <p:nvPr/>
        </p:nvSpPr>
        <p:spPr>
          <a:xfrm>
            <a:off x="457200" y="914400"/>
            <a:ext cx="11096625" cy="228600"/>
          </a:xfrm>
          <a:prstGeom prst="rect">
            <a:avLst/>
          </a:prstGeom>
          <a:noFill/>
          <a:ln w="0">
            <a:noFill/>
            <a:prstDash val="solid"/>
          </a:ln>
        </p:spPr>
        <p:txBody>
          <a:bodyPr/>
          <a:lstStyle/>
          <a:p>
            <a:pPr algn="l">
              <a:defRPr sz="1125" b="0" i="0">
                <a:solidFill>
                  <a:srgbClr val="4F6875"/>
                </a:solidFill>
                <a:latin typeface="Aptos"/>
                <a:ea typeface="Aptos"/>
                <a:cs typeface="Aptos"/>
              </a:defRPr>
            </a:pPr>
            <a:r>
              <a:rPr sz="1125" b="0" i="0">
                <a:solidFill>
                  <a:srgbClr val="4F6875"/>
                </a:solidFill>
                <a:latin typeface="Aptos"/>
                <a:ea typeface="Aptos"/>
                <a:cs typeface="Aptos"/>
              </a:rPr>
              <a:t>Expected Loss, Kredit-RWA und Sovereign-Marktwert werden getrennt berechnet und anschließend in der CET1-Quote zusammengeführt.</a:t>
            </a:r>
          </a:p>
        </p:txBody>
      </p:sp>
      <p:sp>
        <p:nvSpPr>
          <p:cNvPr id="6" name="Rectangle: Rounded Corners 5">
            <a:extLst>
              <a:ext uri="{FF2B5EF4-FFF2-40B4-BE49-F238E27FC236}">
                <a16:creationId xmlns:a16="http://schemas.microsoft.com/office/drawing/2014/main" id="{06F6A82A-9CA7-4B57-92A3-5D60F7A3DE42}"/>
              </a:ext>
            </a:extLst>
          </p:cNvPr>
          <p:cNvSpPr>
            <a:spLocks noGrp="1"/>
          </p:cNvSpPr>
          <p:nvPr/>
        </p:nvSpPr>
        <p:spPr>
          <a:xfrm>
            <a:off x="457200" y="1438275"/>
            <a:ext cx="3333750" cy="3143250"/>
          </a:xfrm>
          <a:prstGeom prst="roundRect">
            <a:avLst>
              <a:gd name="adj" fmla="val 3636"/>
            </a:avLst>
          </a:prstGeom>
          <a:solidFill>
            <a:srgbClr val="FFFFFF"/>
          </a:solidFill>
          <a:ln w="9525">
            <a:solidFill>
              <a:srgbClr val="D5E0E5"/>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7" name="Rectangle: Rounded Corners 6">
            <a:extLst>
              <a:ext uri="{FF2B5EF4-FFF2-40B4-BE49-F238E27FC236}">
                <a16:creationId xmlns:a16="http://schemas.microsoft.com/office/drawing/2014/main" id="{EF8CE0E7-0F8F-4693-99D4-C9C1AE82EC5A}"/>
              </a:ext>
            </a:extLst>
          </p:cNvPr>
          <p:cNvSpPr>
            <a:spLocks noGrp="1"/>
          </p:cNvSpPr>
          <p:nvPr/>
        </p:nvSpPr>
        <p:spPr>
          <a:xfrm>
            <a:off x="628650" y="1600200"/>
            <a:ext cx="1000125" cy="219075"/>
          </a:xfrm>
          <a:prstGeom prst="roundRect">
            <a:avLst>
              <a:gd name="adj" fmla="val 50000"/>
            </a:avLst>
          </a:prstGeom>
          <a:solidFill>
            <a:srgbClr val="051C2C"/>
          </a:solidFill>
          <a:ln w="0">
            <a:noFill/>
            <a:prstDash val="solid"/>
          </a:ln>
        </p:spPr>
        <p:txBody>
          <a:bodyPr/>
          <a:lstStyle/>
          <a:p>
            <a:endParaRPr lang="en-US"/>
          </a:p>
        </p:txBody>
      </p:sp>
      <p:sp>
        <p:nvSpPr>
          <p:cNvPr id="8" name="Rectangle 7">
            <a:extLst>
              <a:ext uri="{FF2B5EF4-FFF2-40B4-BE49-F238E27FC236}">
                <a16:creationId xmlns:a16="http://schemas.microsoft.com/office/drawing/2014/main" id="{C97FFCA7-2367-4C9A-84F5-5462FF6F3707}"/>
              </a:ext>
            </a:extLst>
          </p:cNvPr>
          <p:cNvSpPr>
            <a:spLocks noGrp="1"/>
          </p:cNvSpPr>
          <p:nvPr/>
        </p:nvSpPr>
        <p:spPr>
          <a:xfrm>
            <a:off x="666750" y="1638300"/>
            <a:ext cx="923925" cy="142875"/>
          </a:xfrm>
          <a:prstGeom prst="rect">
            <a:avLst/>
          </a:prstGeom>
          <a:noFill/>
          <a:ln w="0">
            <a:noFill/>
            <a:prstDash val="solid"/>
          </a:ln>
        </p:spPr>
        <p:txBody>
          <a:bodyPr/>
          <a:lstStyle/>
          <a:p>
            <a:pPr algn="ctr">
              <a:defRPr sz="713" b="1" i="0">
                <a:solidFill>
                  <a:srgbClr val="FFFFFF"/>
                </a:solidFill>
                <a:latin typeface="Aptos"/>
                <a:ea typeface="Aptos"/>
                <a:cs typeface="Aptos"/>
              </a:defRPr>
            </a:pPr>
            <a:r>
              <a:rPr sz="713" b="1" i="0">
                <a:solidFill>
                  <a:srgbClr val="FFFFFF"/>
                </a:solidFill>
                <a:latin typeface="Aptos"/>
                <a:ea typeface="Aptos"/>
                <a:cs typeface="Aptos"/>
              </a:rPr>
              <a:t>1 · EINGABEN</a:t>
            </a:r>
          </a:p>
        </p:txBody>
      </p:sp>
      <p:sp>
        <p:nvSpPr>
          <p:cNvPr id="9" name="Rectangle 8">
            <a:extLst>
              <a:ext uri="{FF2B5EF4-FFF2-40B4-BE49-F238E27FC236}">
                <a16:creationId xmlns:a16="http://schemas.microsoft.com/office/drawing/2014/main" id="{A5B62B7E-FB41-4FB1-9016-5162FB3ED371}"/>
              </a:ext>
            </a:extLst>
          </p:cNvPr>
          <p:cNvSpPr>
            <a:spLocks noGrp="1"/>
          </p:cNvSpPr>
          <p:nvPr/>
        </p:nvSpPr>
        <p:spPr>
          <a:xfrm>
            <a:off x="628650" y="1971675"/>
            <a:ext cx="2857500" cy="257175"/>
          </a:xfrm>
          <a:prstGeom prst="rect">
            <a:avLst/>
          </a:prstGeom>
          <a:noFill/>
          <a:ln w="0">
            <a:noFill/>
            <a:prstDash val="solid"/>
          </a:ln>
        </p:spPr>
        <p:txBody>
          <a:bodyPr/>
          <a:lstStyle/>
          <a:p>
            <a:pPr algn="l">
              <a:defRPr sz="1425" b="1" i="0">
                <a:solidFill>
                  <a:srgbClr val="051C2C"/>
                </a:solidFill>
                <a:latin typeface="Aptos Display"/>
                <a:ea typeface="Aptos Display"/>
                <a:cs typeface="Aptos Display"/>
              </a:defRPr>
            </a:pPr>
            <a:r>
              <a:rPr sz="1425" b="1" i="0">
                <a:solidFill>
                  <a:srgbClr val="051C2C"/>
                </a:solidFill>
                <a:latin typeface="Aptos Display"/>
                <a:ea typeface="Aptos Display"/>
                <a:cs typeface="Aptos Display"/>
              </a:rPr>
              <a:t>Was geht in die Formeln ein?</a:t>
            </a:r>
          </a:p>
        </p:txBody>
      </p:sp>
      <p:sp>
        <p:nvSpPr>
          <p:cNvPr id="10" name="Rectangle: Rounded Corners 9">
            <a:extLst>
              <a:ext uri="{FF2B5EF4-FFF2-40B4-BE49-F238E27FC236}">
                <a16:creationId xmlns:a16="http://schemas.microsoft.com/office/drawing/2014/main" id="{5BDF8087-ED90-47BD-A457-98C7776B5D6C}"/>
              </a:ext>
            </a:extLst>
          </p:cNvPr>
          <p:cNvSpPr>
            <a:spLocks noGrp="1"/>
          </p:cNvSpPr>
          <p:nvPr/>
        </p:nvSpPr>
        <p:spPr>
          <a:xfrm>
            <a:off x="628650" y="2400300"/>
            <a:ext cx="514350" cy="400050"/>
          </a:xfrm>
          <a:prstGeom prst="roundRect">
            <a:avLst>
              <a:gd name="adj" fmla="val 19048"/>
            </a:avLst>
          </a:prstGeom>
          <a:solidFill>
            <a:srgbClr val="F5E5E9"/>
          </a:solidFill>
          <a:ln w="0">
            <a:noFill/>
            <a:prstDash val="solid"/>
          </a:ln>
        </p:spPr>
        <p:txBody>
          <a:bodyPr/>
          <a:lstStyle/>
          <a:p>
            <a:endParaRPr lang="en-US"/>
          </a:p>
        </p:txBody>
      </p:sp>
      <p:sp>
        <p:nvSpPr>
          <p:cNvPr id="11" name="Rectangle 10">
            <a:extLst>
              <a:ext uri="{FF2B5EF4-FFF2-40B4-BE49-F238E27FC236}">
                <a16:creationId xmlns:a16="http://schemas.microsoft.com/office/drawing/2014/main" id="{4070F3E4-37D5-4F4C-9AAD-0AE4C4DAE6C6}"/>
              </a:ext>
            </a:extLst>
          </p:cNvPr>
          <p:cNvSpPr>
            <a:spLocks noGrp="1"/>
          </p:cNvSpPr>
          <p:nvPr/>
        </p:nvSpPr>
        <p:spPr>
          <a:xfrm>
            <a:off x="628650" y="2505075"/>
            <a:ext cx="514350" cy="180975"/>
          </a:xfrm>
          <a:prstGeom prst="rect">
            <a:avLst/>
          </a:prstGeom>
          <a:noFill/>
          <a:ln w="0">
            <a:noFill/>
            <a:prstDash val="solid"/>
          </a:ln>
        </p:spPr>
        <p:txBody>
          <a:bodyPr/>
          <a:lstStyle/>
          <a:p>
            <a:pPr algn="ctr">
              <a:defRPr sz="1050" b="1" i="0">
                <a:solidFill>
                  <a:srgbClr val="A52F4D"/>
                </a:solidFill>
                <a:latin typeface="Aptos"/>
                <a:ea typeface="Aptos"/>
                <a:cs typeface="Aptos"/>
              </a:defRPr>
            </a:pPr>
            <a:r>
              <a:rPr sz="1050" b="1" i="0">
                <a:solidFill>
                  <a:srgbClr val="A52F4D"/>
                </a:solidFill>
                <a:latin typeface="Aptos"/>
                <a:ea typeface="Aptos"/>
                <a:cs typeface="Aptos"/>
              </a:rPr>
              <a:t>PD</a:t>
            </a:r>
          </a:p>
        </p:txBody>
      </p:sp>
      <p:sp>
        <p:nvSpPr>
          <p:cNvPr id="12" name="Rectangle 11">
            <a:extLst>
              <a:ext uri="{FF2B5EF4-FFF2-40B4-BE49-F238E27FC236}">
                <a16:creationId xmlns:a16="http://schemas.microsoft.com/office/drawing/2014/main" id="{223A8AF8-DCBC-44CA-B9D3-FFD6FAE05738}"/>
              </a:ext>
            </a:extLst>
          </p:cNvPr>
          <p:cNvSpPr>
            <a:spLocks noGrp="1"/>
          </p:cNvSpPr>
          <p:nvPr/>
        </p:nvSpPr>
        <p:spPr>
          <a:xfrm>
            <a:off x="1257300" y="2419350"/>
            <a:ext cx="2266950" cy="180975"/>
          </a:xfrm>
          <a:prstGeom prst="rect">
            <a:avLst/>
          </a:prstGeom>
          <a:noFill/>
          <a:ln w="0">
            <a:noFill/>
            <a:prstDash val="solid"/>
          </a:ln>
        </p:spPr>
        <p:txBody>
          <a:bodyPr/>
          <a:lstStyle/>
          <a:p>
            <a:pPr algn="l">
              <a:defRPr sz="938" b="1" i="0">
                <a:solidFill>
                  <a:srgbClr val="162E3B"/>
                </a:solidFill>
                <a:latin typeface="Aptos"/>
                <a:ea typeface="Aptos"/>
                <a:cs typeface="Aptos"/>
              </a:defRPr>
            </a:pPr>
            <a:r>
              <a:rPr sz="938" b="1" i="0">
                <a:solidFill>
                  <a:srgbClr val="162E3B"/>
                </a:solidFill>
                <a:latin typeface="Aptos"/>
                <a:ea typeface="Aptos"/>
                <a:cs typeface="Aptos"/>
              </a:rPr>
              <a:t>Wie wahrscheinlich ist ein Ausfall?</a:t>
            </a:r>
          </a:p>
        </p:txBody>
      </p:sp>
      <p:sp>
        <p:nvSpPr>
          <p:cNvPr id="13" name="Rectangle 12">
            <a:extLst>
              <a:ext uri="{FF2B5EF4-FFF2-40B4-BE49-F238E27FC236}">
                <a16:creationId xmlns:a16="http://schemas.microsoft.com/office/drawing/2014/main" id="{58FDF902-6ABE-423A-8116-80BBE5AD4C45}"/>
              </a:ext>
            </a:extLst>
          </p:cNvPr>
          <p:cNvSpPr>
            <a:spLocks noGrp="1"/>
          </p:cNvSpPr>
          <p:nvPr/>
        </p:nvSpPr>
        <p:spPr>
          <a:xfrm>
            <a:off x="1257300" y="2619375"/>
            <a:ext cx="2266950" cy="152400"/>
          </a:xfrm>
          <a:prstGeom prst="rect">
            <a:avLst/>
          </a:prstGeom>
          <a:noFill/>
          <a:ln w="0">
            <a:noFill/>
            <a:prstDash val="solid"/>
          </a:ln>
        </p:spPr>
        <p:txBody>
          <a:bodyPr/>
          <a:lstStyle/>
          <a:p>
            <a:pPr algn="l">
              <a:defRPr sz="750" b="0" i="0">
                <a:solidFill>
                  <a:srgbClr val="71858F"/>
                </a:solidFill>
                <a:latin typeface="Aptos"/>
                <a:ea typeface="Aptos"/>
                <a:cs typeface="Aptos"/>
              </a:defRPr>
            </a:pPr>
            <a:r>
              <a:rPr sz="750" b="0" i="0">
                <a:solidFill>
                  <a:srgbClr val="71858F"/>
                </a:solidFill>
                <a:latin typeface="Aptos"/>
                <a:ea typeface="Aptos"/>
                <a:cs typeface="Aptos"/>
              </a:rPr>
              <a:t>Pillar 3 EU-CR6</a:t>
            </a:r>
          </a:p>
        </p:txBody>
      </p:sp>
      <p:sp>
        <p:nvSpPr>
          <p:cNvPr id="14" name="Rectangle: Rounded Corners 13">
            <a:extLst>
              <a:ext uri="{FF2B5EF4-FFF2-40B4-BE49-F238E27FC236}">
                <a16:creationId xmlns:a16="http://schemas.microsoft.com/office/drawing/2014/main" id="{640F8ACA-2AC1-4343-81EC-6B705CB1CB8C}"/>
              </a:ext>
            </a:extLst>
          </p:cNvPr>
          <p:cNvSpPr>
            <a:spLocks noGrp="1"/>
          </p:cNvSpPr>
          <p:nvPr/>
        </p:nvSpPr>
        <p:spPr>
          <a:xfrm>
            <a:off x="628650" y="3028950"/>
            <a:ext cx="514350" cy="400050"/>
          </a:xfrm>
          <a:prstGeom prst="roundRect">
            <a:avLst>
              <a:gd name="adj" fmla="val 19048"/>
            </a:avLst>
          </a:prstGeom>
          <a:solidFill>
            <a:srgbClr val="F8EED3"/>
          </a:solidFill>
          <a:ln w="0">
            <a:noFill/>
            <a:prstDash val="solid"/>
          </a:ln>
        </p:spPr>
        <p:txBody>
          <a:bodyPr/>
          <a:lstStyle/>
          <a:p>
            <a:endParaRPr lang="en-US"/>
          </a:p>
        </p:txBody>
      </p:sp>
      <p:sp>
        <p:nvSpPr>
          <p:cNvPr id="15" name="Rectangle 14">
            <a:extLst>
              <a:ext uri="{FF2B5EF4-FFF2-40B4-BE49-F238E27FC236}">
                <a16:creationId xmlns:a16="http://schemas.microsoft.com/office/drawing/2014/main" id="{48A1DDD5-1433-4C9F-A241-C97E8D4E2B17}"/>
              </a:ext>
            </a:extLst>
          </p:cNvPr>
          <p:cNvSpPr>
            <a:spLocks noGrp="1"/>
          </p:cNvSpPr>
          <p:nvPr/>
        </p:nvSpPr>
        <p:spPr>
          <a:xfrm>
            <a:off x="628650" y="3133725"/>
            <a:ext cx="514350" cy="180975"/>
          </a:xfrm>
          <a:prstGeom prst="rect">
            <a:avLst/>
          </a:prstGeom>
          <a:noFill/>
          <a:ln w="0">
            <a:noFill/>
            <a:prstDash val="solid"/>
          </a:ln>
        </p:spPr>
        <p:txBody>
          <a:bodyPr/>
          <a:lstStyle/>
          <a:p>
            <a:pPr algn="ctr">
              <a:defRPr sz="1050" b="1" i="0">
                <a:solidFill>
                  <a:srgbClr val="D9A124"/>
                </a:solidFill>
                <a:latin typeface="Aptos"/>
                <a:ea typeface="Aptos"/>
                <a:cs typeface="Aptos"/>
              </a:defRPr>
            </a:pPr>
            <a:r>
              <a:rPr sz="1050" b="1" i="0">
                <a:solidFill>
                  <a:srgbClr val="D9A124"/>
                </a:solidFill>
                <a:latin typeface="Aptos"/>
                <a:ea typeface="Aptos"/>
                <a:cs typeface="Aptos"/>
              </a:rPr>
              <a:t>LGD</a:t>
            </a:r>
          </a:p>
        </p:txBody>
      </p:sp>
      <p:sp>
        <p:nvSpPr>
          <p:cNvPr id="16" name="Rectangle 15">
            <a:extLst>
              <a:ext uri="{FF2B5EF4-FFF2-40B4-BE49-F238E27FC236}">
                <a16:creationId xmlns:a16="http://schemas.microsoft.com/office/drawing/2014/main" id="{852DA694-0BCD-4D2C-B723-5881635ED1AF}"/>
              </a:ext>
            </a:extLst>
          </p:cNvPr>
          <p:cNvSpPr>
            <a:spLocks noGrp="1"/>
          </p:cNvSpPr>
          <p:nvPr/>
        </p:nvSpPr>
        <p:spPr>
          <a:xfrm>
            <a:off x="1257300" y="3048000"/>
            <a:ext cx="2266950" cy="180975"/>
          </a:xfrm>
          <a:prstGeom prst="rect">
            <a:avLst/>
          </a:prstGeom>
          <a:noFill/>
          <a:ln w="0">
            <a:noFill/>
            <a:prstDash val="solid"/>
          </a:ln>
        </p:spPr>
        <p:txBody>
          <a:bodyPr/>
          <a:lstStyle/>
          <a:p>
            <a:pPr algn="l">
              <a:defRPr sz="938" b="1" i="0">
                <a:solidFill>
                  <a:srgbClr val="162E3B"/>
                </a:solidFill>
                <a:latin typeface="Aptos"/>
                <a:ea typeface="Aptos"/>
                <a:cs typeface="Aptos"/>
              </a:defRPr>
            </a:pPr>
            <a:r>
              <a:rPr sz="938" b="1" i="0">
                <a:solidFill>
                  <a:srgbClr val="162E3B"/>
                </a:solidFill>
                <a:latin typeface="Aptos"/>
                <a:ea typeface="Aptos"/>
                <a:cs typeface="Aptos"/>
              </a:rPr>
              <a:t>Wie viel verlieren wir bei einem Ausfall?</a:t>
            </a:r>
          </a:p>
        </p:txBody>
      </p:sp>
      <p:sp>
        <p:nvSpPr>
          <p:cNvPr id="17" name="Rectangle 16">
            <a:extLst>
              <a:ext uri="{FF2B5EF4-FFF2-40B4-BE49-F238E27FC236}">
                <a16:creationId xmlns:a16="http://schemas.microsoft.com/office/drawing/2014/main" id="{4CE9CA91-9FCE-49A7-9A34-5FE1F7C297C3}"/>
              </a:ext>
            </a:extLst>
          </p:cNvPr>
          <p:cNvSpPr>
            <a:spLocks noGrp="1"/>
          </p:cNvSpPr>
          <p:nvPr/>
        </p:nvSpPr>
        <p:spPr>
          <a:xfrm>
            <a:off x="1257300" y="3395663"/>
            <a:ext cx="2266950" cy="152400"/>
          </a:xfrm>
          <a:prstGeom prst="rect">
            <a:avLst/>
          </a:prstGeom>
          <a:noFill/>
          <a:ln w="0">
            <a:noFill/>
            <a:prstDash val="solid"/>
          </a:ln>
        </p:spPr>
        <p:txBody>
          <a:bodyPr/>
          <a:lstStyle/>
          <a:p>
            <a:pPr algn="l">
              <a:defRPr sz="750" b="0" i="0">
                <a:solidFill>
                  <a:srgbClr val="71858F"/>
                </a:solidFill>
                <a:latin typeface="Aptos"/>
                <a:ea typeface="Aptos"/>
                <a:cs typeface="Aptos"/>
              </a:defRPr>
            </a:pPr>
            <a:r>
              <a:rPr sz="750" b="0" i="0">
                <a:solidFill>
                  <a:srgbClr val="71858F"/>
                </a:solidFill>
                <a:latin typeface="Aptos"/>
                <a:ea typeface="Aptos"/>
                <a:cs typeface="Aptos"/>
              </a:rPr>
              <a:t>Pillar 3 EU-CR6</a:t>
            </a:r>
          </a:p>
        </p:txBody>
      </p:sp>
      <p:sp>
        <p:nvSpPr>
          <p:cNvPr id="18" name="Rectangle: Rounded Corners 17">
            <a:extLst>
              <a:ext uri="{FF2B5EF4-FFF2-40B4-BE49-F238E27FC236}">
                <a16:creationId xmlns:a16="http://schemas.microsoft.com/office/drawing/2014/main" id="{B5032E11-B462-435F-A58F-F8E8217DB555}"/>
              </a:ext>
            </a:extLst>
          </p:cNvPr>
          <p:cNvSpPr>
            <a:spLocks noGrp="1"/>
          </p:cNvSpPr>
          <p:nvPr/>
        </p:nvSpPr>
        <p:spPr>
          <a:xfrm>
            <a:off x="628650" y="3657600"/>
            <a:ext cx="514350" cy="400050"/>
          </a:xfrm>
          <a:prstGeom prst="roundRect">
            <a:avLst>
              <a:gd name="adj" fmla="val 19048"/>
            </a:avLst>
          </a:prstGeom>
          <a:solidFill>
            <a:srgbClr val="E3EFF4"/>
          </a:solidFill>
          <a:ln w="0">
            <a:noFill/>
            <a:prstDash val="solid"/>
          </a:ln>
        </p:spPr>
        <p:txBody>
          <a:bodyPr/>
          <a:lstStyle/>
          <a:p>
            <a:endParaRPr lang="en-US"/>
          </a:p>
        </p:txBody>
      </p:sp>
      <p:sp>
        <p:nvSpPr>
          <p:cNvPr id="19" name="Rectangle 18">
            <a:extLst>
              <a:ext uri="{FF2B5EF4-FFF2-40B4-BE49-F238E27FC236}">
                <a16:creationId xmlns:a16="http://schemas.microsoft.com/office/drawing/2014/main" id="{F2363D12-B8FA-473E-8B46-994F7E5E06E9}"/>
              </a:ext>
            </a:extLst>
          </p:cNvPr>
          <p:cNvSpPr>
            <a:spLocks noGrp="1"/>
          </p:cNvSpPr>
          <p:nvPr/>
        </p:nvSpPr>
        <p:spPr>
          <a:xfrm>
            <a:off x="628650" y="3762375"/>
            <a:ext cx="514350" cy="180975"/>
          </a:xfrm>
          <a:prstGeom prst="rect">
            <a:avLst/>
          </a:prstGeom>
          <a:noFill/>
          <a:ln w="0">
            <a:noFill/>
            <a:prstDash val="solid"/>
          </a:ln>
        </p:spPr>
        <p:txBody>
          <a:bodyPr/>
          <a:lstStyle/>
          <a:p>
            <a:pPr algn="ctr">
              <a:defRPr sz="1050" b="1" i="0">
                <a:solidFill>
                  <a:srgbClr val="0B5D7A"/>
                </a:solidFill>
                <a:latin typeface="Aptos"/>
                <a:ea typeface="Aptos"/>
                <a:cs typeface="Aptos"/>
              </a:defRPr>
            </a:pPr>
            <a:r>
              <a:rPr sz="1050" b="1" i="0">
                <a:solidFill>
                  <a:srgbClr val="0B5D7A"/>
                </a:solidFill>
                <a:latin typeface="Aptos"/>
                <a:ea typeface="Aptos"/>
                <a:cs typeface="Aptos"/>
              </a:rPr>
              <a:t>EAD</a:t>
            </a:r>
          </a:p>
        </p:txBody>
      </p:sp>
      <p:sp>
        <p:nvSpPr>
          <p:cNvPr id="20" name="Rectangle 19">
            <a:extLst>
              <a:ext uri="{FF2B5EF4-FFF2-40B4-BE49-F238E27FC236}">
                <a16:creationId xmlns:a16="http://schemas.microsoft.com/office/drawing/2014/main" id="{66E68ACC-C0B2-49EA-8A64-6A755FED136D}"/>
              </a:ext>
            </a:extLst>
          </p:cNvPr>
          <p:cNvSpPr>
            <a:spLocks noGrp="1"/>
          </p:cNvSpPr>
          <p:nvPr/>
        </p:nvSpPr>
        <p:spPr>
          <a:xfrm>
            <a:off x="1257300" y="3676650"/>
            <a:ext cx="2266950" cy="180975"/>
          </a:xfrm>
          <a:prstGeom prst="rect">
            <a:avLst/>
          </a:prstGeom>
          <a:noFill/>
          <a:ln w="0">
            <a:noFill/>
            <a:prstDash val="solid"/>
          </a:ln>
        </p:spPr>
        <p:txBody>
          <a:bodyPr/>
          <a:lstStyle/>
          <a:p>
            <a:pPr algn="l">
              <a:defRPr sz="938" b="1" i="0">
                <a:solidFill>
                  <a:srgbClr val="162E3B"/>
                </a:solidFill>
                <a:latin typeface="Aptos"/>
                <a:ea typeface="Aptos"/>
                <a:cs typeface="Aptos"/>
              </a:defRPr>
            </a:pPr>
            <a:r>
              <a:rPr sz="938" b="1" i="0">
                <a:solidFill>
                  <a:srgbClr val="162E3B"/>
                </a:solidFill>
                <a:latin typeface="Aptos"/>
                <a:ea typeface="Aptos"/>
                <a:cs typeface="Aptos"/>
              </a:rPr>
              <a:t>Wie hoch ist die offene Forderung?</a:t>
            </a:r>
          </a:p>
        </p:txBody>
      </p:sp>
      <p:sp>
        <p:nvSpPr>
          <p:cNvPr id="21" name="Rectangle 20">
            <a:extLst>
              <a:ext uri="{FF2B5EF4-FFF2-40B4-BE49-F238E27FC236}">
                <a16:creationId xmlns:a16="http://schemas.microsoft.com/office/drawing/2014/main" id="{48573294-4D49-40BF-B7B5-F06927CA5CFA}"/>
              </a:ext>
            </a:extLst>
          </p:cNvPr>
          <p:cNvSpPr>
            <a:spLocks noGrp="1"/>
          </p:cNvSpPr>
          <p:nvPr/>
        </p:nvSpPr>
        <p:spPr>
          <a:xfrm>
            <a:off x="1257300" y="3876675"/>
            <a:ext cx="2266950" cy="152400"/>
          </a:xfrm>
          <a:prstGeom prst="rect">
            <a:avLst/>
          </a:prstGeom>
          <a:noFill/>
          <a:ln w="0">
            <a:noFill/>
            <a:prstDash val="solid"/>
          </a:ln>
        </p:spPr>
        <p:txBody>
          <a:bodyPr/>
          <a:lstStyle/>
          <a:p>
            <a:pPr algn="l">
              <a:defRPr sz="750" b="0" i="0">
                <a:solidFill>
                  <a:srgbClr val="71858F"/>
                </a:solidFill>
                <a:latin typeface="Aptos"/>
                <a:ea typeface="Aptos"/>
                <a:cs typeface="Aptos"/>
              </a:defRPr>
            </a:pPr>
            <a:r>
              <a:rPr sz="750" b="0" i="0">
                <a:solidFill>
                  <a:srgbClr val="71858F"/>
                </a:solidFill>
                <a:latin typeface="Aptos"/>
                <a:ea typeface="Aptos"/>
                <a:cs typeface="Aptos"/>
              </a:rPr>
              <a:t>EBA Transparency</a:t>
            </a:r>
          </a:p>
        </p:txBody>
      </p:sp>
      <p:sp>
        <p:nvSpPr>
          <p:cNvPr id="22" name="Rectangle 21">
            <a:extLst>
              <a:ext uri="{FF2B5EF4-FFF2-40B4-BE49-F238E27FC236}">
                <a16:creationId xmlns:a16="http://schemas.microsoft.com/office/drawing/2014/main" id="{DCD235FE-A8ED-4B67-9896-BEF7DD68EC46}"/>
              </a:ext>
            </a:extLst>
          </p:cNvPr>
          <p:cNvSpPr>
            <a:spLocks noGrp="1"/>
          </p:cNvSpPr>
          <p:nvPr/>
        </p:nvSpPr>
        <p:spPr>
          <a:xfrm>
            <a:off x="628650" y="4257675"/>
            <a:ext cx="2857500" cy="190500"/>
          </a:xfrm>
          <a:prstGeom prst="rect">
            <a:avLst/>
          </a:prstGeom>
          <a:noFill/>
          <a:ln w="0">
            <a:noFill/>
            <a:prstDash val="solid"/>
          </a:ln>
        </p:spPr>
        <p:txBody>
          <a:bodyPr/>
          <a:lstStyle/>
          <a:p>
            <a:pPr algn="l">
              <a:defRPr sz="863" b="0" i="0">
                <a:solidFill>
                  <a:srgbClr val="4F6875"/>
                </a:solidFill>
                <a:latin typeface="Aptos"/>
                <a:ea typeface="Aptos"/>
                <a:cs typeface="Aptos"/>
              </a:defRPr>
            </a:pPr>
            <a:r>
              <a:rPr sz="863" b="0" i="0">
                <a:solidFill>
                  <a:srgbClr val="4F6875"/>
                </a:solidFill>
                <a:latin typeface="Aptos"/>
                <a:ea typeface="Aptos"/>
                <a:cs typeface="Aptos"/>
              </a:rPr>
              <a:t>Der Makroschock verändert PD und LGD; EAD bleibt die Bezugsgröße.</a:t>
            </a:r>
          </a:p>
        </p:txBody>
      </p:sp>
      <p:sp>
        <p:nvSpPr>
          <p:cNvPr id="23" name="Rectangle 22">
            <a:extLst>
              <a:ext uri="{FF2B5EF4-FFF2-40B4-BE49-F238E27FC236}">
                <a16:creationId xmlns:a16="http://schemas.microsoft.com/office/drawing/2014/main" id="{9D4A377C-3D78-454F-B71E-A744C653752D}"/>
              </a:ext>
            </a:extLst>
          </p:cNvPr>
          <p:cNvSpPr>
            <a:spLocks noGrp="1"/>
          </p:cNvSpPr>
          <p:nvPr/>
        </p:nvSpPr>
        <p:spPr>
          <a:xfrm>
            <a:off x="3829050" y="2714625"/>
            <a:ext cx="381000" cy="323850"/>
          </a:xfrm>
          <a:prstGeom prst="rect">
            <a:avLst/>
          </a:prstGeom>
          <a:noFill/>
          <a:ln w="0">
            <a:noFill/>
            <a:prstDash val="solid"/>
          </a:ln>
        </p:spPr>
        <p:txBody>
          <a:bodyPr/>
          <a:lstStyle/>
          <a:p>
            <a:pPr algn="ctr">
              <a:defRPr sz="2100" b="1" i="0">
                <a:solidFill>
                  <a:srgbClr val="71858F"/>
                </a:solidFill>
                <a:latin typeface="Aptos"/>
                <a:ea typeface="Aptos"/>
                <a:cs typeface="Aptos"/>
              </a:defRPr>
            </a:pPr>
            <a:r>
              <a:rPr sz="2100" b="1" i="0">
                <a:solidFill>
                  <a:srgbClr val="71858F"/>
                </a:solidFill>
                <a:latin typeface="Aptos"/>
                <a:ea typeface="Aptos"/>
                <a:cs typeface="Aptos"/>
              </a:rPr>
              <a:t>→</a:t>
            </a:r>
          </a:p>
        </p:txBody>
      </p:sp>
      <p:sp>
        <p:nvSpPr>
          <p:cNvPr id="24" name="Rectangle: Rounded Corners 23">
            <a:extLst>
              <a:ext uri="{FF2B5EF4-FFF2-40B4-BE49-F238E27FC236}">
                <a16:creationId xmlns:a16="http://schemas.microsoft.com/office/drawing/2014/main" id="{A7EE548F-D34C-41F5-9772-45B15F5955C2}"/>
              </a:ext>
            </a:extLst>
          </p:cNvPr>
          <p:cNvSpPr>
            <a:spLocks noGrp="1"/>
          </p:cNvSpPr>
          <p:nvPr/>
        </p:nvSpPr>
        <p:spPr>
          <a:xfrm>
            <a:off x="4248150" y="1438275"/>
            <a:ext cx="3486150" cy="3143250"/>
          </a:xfrm>
          <a:prstGeom prst="roundRect">
            <a:avLst>
              <a:gd name="adj" fmla="val 3636"/>
            </a:avLst>
          </a:prstGeom>
          <a:solidFill>
            <a:srgbClr val="FFFFFF"/>
          </a:solidFill>
          <a:ln w="9525">
            <a:solidFill>
              <a:srgbClr val="D5E0E5"/>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25" name="Rectangle: Rounded Corners 24">
            <a:extLst>
              <a:ext uri="{FF2B5EF4-FFF2-40B4-BE49-F238E27FC236}">
                <a16:creationId xmlns:a16="http://schemas.microsoft.com/office/drawing/2014/main" id="{18090C70-4CF8-49B2-A94A-57928A6ACC13}"/>
              </a:ext>
            </a:extLst>
          </p:cNvPr>
          <p:cNvSpPr>
            <a:spLocks noGrp="1"/>
          </p:cNvSpPr>
          <p:nvPr/>
        </p:nvSpPr>
        <p:spPr>
          <a:xfrm>
            <a:off x="4419600" y="1600200"/>
            <a:ext cx="1285875" cy="219075"/>
          </a:xfrm>
          <a:prstGeom prst="roundRect">
            <a:avLst>
              <a:gd name="adj" fmla="val 50000"/>
            </a:avLst>
          </a:prstGeom>
          <a:solidFill>
            <a:srgbClr val="A52F4D"/>
          </a:solidFill>
          <a:ln w="0">
            <a:noFill/>
            <a:prstDash val="solid"/>
          </a:ln>
        </p:spPr>
        <p:txBody>
          <a:bodyPr/>
          <a:lstStyle/>
          <a:p>
            <a:endParaRPr lang="en-US"/>
          </a:p>
        </p:txBody>
      </p:sp>
      <p:sp>
        <p:nvSpPr>
          <p:cNvPr id="26" name="Rectangle 25">
            <a:extLst>
              <a:ext uri="{FF2B5EF4-FFF2-40B4-BE49-F238E27FC236}">
                <a16:creationId xmlns:a16="http://schemas.microsoft.com/office/drawing/2014/main" id="{D2FF7AFB-A680-4814-93A7-93792D07270E}"/>
              </a:ext>
            </a:extLst>
          </p:cNvPr>
          <p:cNvSpPr>
            <a:spLocks noGrp="1"/>
          </p:cNvSpPr>
          <p:nvPr/>
        </p:nvSpPr>
        <p:spPr>
          <a:xfrm>
            <a:off x="4457700" y="1638300"/>
            <a:ext cx="1209675" cy="142875"/>
          </a:xfrm>
          <a:prstGeom prst="rect">
            <a:avLst/>
          </a:prstGeom>
          <a:noFill/>
          <a:ln w="0">
            <a:noFill/>
            <a:prstDash val="solid"/>
          </a:ln>
        </p:spPr>
        <p:txBody>
          <a:bodyPr/>
          <a:lstStyle/>
          <a:p>
            <a:pPr algn="ctr">
              <a:defRPr sz="713" b="1" i="0">
                <a:solidFill>
                  <a:srgbClr val="FFFFFF"/>
                </a:solidFill>
                <a:latin typeface="Aptos"/>
                <a:ea typeface="Aptos"/>
                <a:cs typeface="Aptos"/>
              </a:defRPr>
            </a:pPr>
            <a:r>
              <a:rPr sz="713" b="1" i="0">
                <a:solidFill>
                  <a:srgbClr val="FFFFFF"/>
                </a:solidFill>
                <a:latin typeface="Aptos"/>
                <a:ea typeface="Aptos"/>
                <a:cs typeface="Aptos"/>
              </a:rPr>
              <a:t>2 · VERLUST &amp; RWA</a:t>
            </a:r>
          </a:p>
        </p:txBody>
      </p:sp>
      <p:sp>
        <p:nvSpPr>
          <p:cNvPr id="27" name="Rectangle 26">
            <a:extLst>
              <a:ext uri="{FF2B5EF4-FFF2-40B4-BE49-F238E27FC236}">
                <a16:creationId xmlns:a16="http://schemas.microsoft.com/office/drawing/2014/main" id="{69611A4F-C5D7-4C28-B0B2-B0B2536EA9DC}"/>
              </a:ext>
            </a:extLst>
          </p:cNvPr>
          <p:cNvSpPr>
            <a:spLocks noGrp="1"/>
          </p:cNvSpPr>
          <p:nvPr/>
        </p:nvSpPr>
        <p:spPr>
          <a:xfrm>
            <a:off x="4419600" y="1971675"/>
            <a:ext cx="2952750" cy="257175"/>
          </a:xfrm>
          <a:prstGeom prst="rect">
            <a:avLst/>
          </a:prstGeom>
          <a:noFill/>
          <a:ln w="0">
            <a:noFill/>
            <a:prstDash val="solid"/>
          </a:ln>
        </p:spPr>
        <p:txBody>
          <a:bodyPr/>
          <a:lstStyle/>
          <a:p>
            <a:pPr algn="l">
              <a:defRPr sz="1425" b="1" i="0">
                <a:solidFill>
                  <a:srgbClr val="051C2C"/>
                </a:solidFill>
                <a:latin typeface="Aptos Display"/>
                <a:ea typeface="Aptos Display"/>
                <a:cs typeface="Aptos Display"/>
              </a:defRPr>
            </a:pPr>
            <a:r>
              <a:rPr sz="1425" b="1" i="0">
                <a:solidFill>
                  <a:srgbClr val="051C2C"/>
                </a:solidFill>
                <a:latin typeface="Aptos Display"/>
                <a:ea typeface="Aptos Display"/>
                <a:cs typeface="Aptos Display"/>
              </a:rPr>
              <a:t>Was wird berechnet?</a:t>
            </a:r>
          </a:p>
        </p:txBody>
      </p:sp>
      <p:sp>
        <p:nvSpPr>
          <p:cNvPr id="28" name="Rectangle: Rounded Corners 27">
            <a:extLst>
              <a:ext uri="{FF2B5EF4-FFF2-40B4-BE49-F238E27FC236}">
                <a16:creationId xmlns:a16="http://schemas.microsoft.com/office/drawing/2014/main" id="{64A91497-6910-4992-BBDB-7113A0FFC788}"/>
              </a:ext>
            </a:extLst>
          </p:cNvPr>
          <p:cNvSpPr>
            <a:spLocks noGrp="1"/>
          </p:cNvSpPr>
          <p:nvPr/>
        </p:nvSpPr>
        <p:spPr>
          <a:xfrm>
            <a:off x="4419600" y="2343150"/>
            <a:ext cx="3143250" cy="619125"/>
          </a:xfrm>
          <a:prstGeom prst="roundRect">
            <a:avLst>
              <a:gd name="adj" fmla="val 18462"/>
            </a:avLst>
          </a:prstGeom>
          <a:solidFill>
            <a:srgbClr val="F5E5E9"/>
          </a:solidFill>
          <a:ln w="9525">
            <a:solidFill>
              <a:srgbClr val="EBC8D1"/>
            </a:solidFill>
            <a:prstDash val="solid"/>
          </a:ln>
        </p:spPr>
        <p:txBody>
          <a:bodyPr/>
          <a:lstStyle/>
          <a:p>
            <a:endParaRPr lang="en-US"/>
          </a:p>
        </p:txBody>
      </p:sp>
      <p:sp>
        <p:nvSpPr>
          <p:cNvPr id="29" name="Rectangle 28">
            <a:extLst>
              <a:ext uri="{FF2B5EF4-FFF2-40B4-BE49-F238E27FC236}">
                <a16:creationId xmlns:a16="http://schemas.microsoft.com/office/drawing/2014/main" id="{28887091-1D7E-4C75-A490-F3E9EF3718D5}"/>
              </a:ext>
            </a:extLst>
          </p:cNvPr>
          <p:cNvSpPr>
            <a:spLocks noGrp="1"/>
          </p:cNvSpPr>
          <p:nvPr/>
        </p:nvSpPr>
        <p:spPr>
          <a:xfrm>
            <a:off x="4552950" y="2447925"/>
            <a:ext cx="1714500" cy="152400"/>
          </a:xfrm>
          <a:prstGeom prst="rect">
            <a:avLst/>
          </a:prstGeom>
          <a:noFill/>
          <a:ln w="0">
            <a:noFill/>
            <a:prstDash val="solid"/>
          </a:ln>
        </p:spPr>
        <p:txBody>
          <a:bodyPr/>
          <a:lstStyle/>
          <a:p>
            <a:pPr algn="l">
              <a:defRPr sz="788" b="1" i="0">
                <a:solidFill>
                  <a:srgbClr val="A52F4D"/>
                </a:solidFill>
                <a:latin typeface="Aptos"/>
                <a:ea typeface="Aptos"/>
                <a:cs typeface="Aptos"/>
              </a:defRPr>
            </a:pPr>
            <a:r>
              <a:rPr sz="788" b="1" i="0">
                <a:solidFill>
                  <a:srgbClr val="A52F4D"/>
                </a:solidFill>
                <a:latin typeface="Aptos"/>
                <a:ea typeface="Aptos"/>
                <a:cs typeface="Aptos"/>
              </a:rPr>
              <a:t>1 · Erwarteter Verlust</a:t>
            </a:r>
          </a:p>
        </p:txBody>
      </p:sp>
      <p:sp>
        <p:nvSpPr>
          <p:cNvPr id="30" name="Rectangle 29">
            <a:extLst>
              <a:ext uri="{FF2B5EF4-FFF2-40B4-BE49-F238E27FC236}">
                <a16:creationId xmlns:a16="http://schemas.microsoft.com/office/drawing/2014/main" id="{EADA7983-49BB-4B8E-B170-660694D7D41F}"/>
              </a:ext>
            </a:extLst>
          </p:cNvPr>
          <p:cNvSpPr>
            <a:spLocks noGrp="1"/>
          </p:cNvSpPr>
          <p:nvPr/>
        </p:nvSpPr>
        <p:spPr>
          <a:xfrm>
            <a:off x="4552950" y="2647950"/>
            <a:ext cx="2809875" cy="228600"/>
          </a:xfrm>
          <a:prstGeom prst="rect">
            <a:avLst/>
          </a:prstGeom>
          <a:noFill/>
          <a:ln w="0">
            <a:noFill/>
            <a:prstDash val="solid"/>
          </a:ln>
        </p:spPr>
        <p:txBody>
          <a:bodyPr/>
          <a:lstStyle/>
          <a:p>
            <a:pPr algn="l">
              <a:defRPr sz="1313" b="1" i="0">
                <a:solidFill>
                  <a:srgbClr val="051C2C"/>
                </a:solidFill>
                <a:latin typeface="Aptos Display"/>
                <a:ea typeface="Aptos Display"/>
                <a:cs typeface="Aptos Display"/>
              </a:defRPr>
            </a:pPr>
            <a:r>
              <a:rPr sz="1313" b="1" i="0">
                <a:solidFill>
                  <a:srgbClr val="051C2C"/>
                </a:solidFill>
                <a:latin typeface="Aptos Display"/>
                <a:ea typeface="Aptos Display"/>
                <a:cs typeface="Aptos Display"/>
              </a:rPr>
              <a:t>EL = PD × LGD × EAD</a:t>
            </a:r>
          </a:p>
        </p:txBody>
      </p:sp>
      <p:sp>
        <p:nvSpPr>
          <p:cNvPr id="31" name="Rectangle: Rounded Corners 30">
            <a:extLst>
              <a:ext uri="{FF2B5EF4-FFF2-40B4-BE49-F238E27FC236}">
                <a16:creationId xmlns:a16="http://schemas.microsoft.com/office/drawing/2014/main" id="{C65EB68D-E30B-45C9-BB6C-8465DE870C31}"/>
              </a:ext>
            </a:extLst>
          </p:cNvPr>
          <p:cNvSpPr>
            <a:spLocks noGrp="1"/>
          </p:cNvSpPr>
          <p:nvPr/>
        </p:nvSpPr>
        <p:spPr>
          <a:xfrm>
            <a:off x="4419600" y="3048000"/>
            <a:ext cx="3143250" cy="628650"/>
          </a:xfrm>
          <a:prstGeom prst="roundRect">
            <a:avLst>
              <a:gd name="adj" fmla="val 18182"/>
            </a:avLst>
          </a:prstGeom>
          <a:solidFill>
            <a:srgbClr val="E3EFF4"/>
          </a:solidFill>
          <a:ln w="9525">
            <a:solidFill>
              <a:srgbClr val="BED6E0"/>
            </a:solidFill>
            <a:prstDash val="solid"/>
          </a:ln>
        </p:spPr>
        <p:txBody>
          <a:bodyPr/>
          <a:lstStyle/>
          <a:p>
            <a:endParaRPr lang="en-US"/>
          </a:p>
        </p:txBody>
      </p:sp>
      <p:sp>
        <p:nvSpPr>
          <p:cNvPr id="32" name="Rectangle 31">
            <a:extLst>
              <a:ext uri="{FF2B5EF4-FFF2-40B4-BE49-F238E27FC236}">
                <a16:creationId xmlns:a16="http://schemas.microsoft.com/office/drawing/2014/main" id="{60A435C0-791E-484E-B05C-773E980A4979}"/>
              </a:ext>
            </a:extLst>
          </p:cNvPr>
          <p:cNvSpPr>
            <a:spLocks noGrp="1"/>
          </p:cNvSpPr>
          <p:nvPr/>
        </p:nvSpPr>
        <p:spPr>
          <a:xfrm>
            <a:off x="4552950" y="3143250"/>
            <a:ext cx="2000250" cy="152400"/>
          </a:xfrm>
          <a:prstGeom prst="rect">
            <a:avLst/>
          </a:prstGeom>
          <a:noFill/>
          <a:ln w="0">
            <a:noFill/>
            <a:prstDash val="solid"/>
          </a:ln>
        </p:spPr>
        <p:txBody>
          <a:bodyPr/>
          <a:lstStyle/>
          <a:p>
            <a:pPr algn="l">
              <a:defRPr sz="788" b="1" i="0">
                <a:solidFill>
                  <a:srgbClr val="0B5D7A"/>
                </a:solidFill>
                <a:latin typeface="Aptos"/>
                <a:ea typeface="Aptos"/>
                <a:cs typeface="Aptos"/>
              </a:defRPr>
            </a:pPr>
            <a:r>
              <a:rPr sz="788" b="1" i="0">
                <a:solidFill>
                  <a:srgbClr val="0B5D7A"/>
                </a:solidFill>
                <a:latin typeface="Aptos"/>
                <a:ea typeface="Aptos"/>
                <a:cs typeface="Aptos"/>
              </a:rPr>
              <a:t>2 · Regulatorische Kredit-RWA</a:t>
            </a:r>
          </a:p>
        </p:txBody>
      </p:sp>
      <p:sp>
        <p:nvSpPr>
          <p:cNvPr id="33" name="Rectangle 32">
            <a:extLst>
              <a:ext uri="{FF2B5EF4-FFF2-40B4-BE49-F238E27FC236}">
                <a16:creationId xmlns:a16="http://schemas.microsoft.com/office/drawing/2014/main" id="{D7DFFC40-E9A7-46BA-AE0D-6168237F4839}"/>
              </a:ext>
            </a:extLst>
          </p:cNvPr>
          <p:cNvSpPr>
            <a:spLocks noGrp="1"/>
          </p:cNvSpPr>
          <p:nvPr/>
        </p:nvSpPr>
        <p:spPr>
          <a:xfrm>
            <a:off x="4552950" y="3343275"/>
            <a:ext cx="2809875" cy="228600"/>
          </a:xfrm>
          <a:prstGeom prst="rect">
            <a:avLst/>
          </a:prstGeom>
          <a:noFill/>
          <a:ln w="0">
            <a:noFill/>
            <a:prstDash val="solid"/>
          </a:ln>
        </p:spPr>
        <p:txBody>
          <a:bodyPr/>
          <a:lstStyle/>
          <a:p>
            <a:pPr algn="l">
              <a:defRPr sz="1313" b="1" i="0">
                <a:solidFill>
                  <a:srgbClr val="051C2C"/>
                </a:solidFill>
                <a:latin typeface="Aptos Display"/>
                <a:ea typeface="Aptos Display"/>
                <a:cs typeface="Aptos Display"/>
              </a:defRPr>
            </a:pPr>
            <a:r>
              <a:rPr sz="1313" b="1" i="0">
                <a:solidFill>
                  <a:srgbClr val="051C2C"/>
                </a:solidFill>
                <a:latin typeface="Aptos Display"/>
                <a:ea typeface="Aptos Display"/>
                <a:cs typeface="Aptos Display"/>
              </a:rPr>
              <a:t>RWA = K × 12,5 × EAD</a:t>
            </a:r>
          </a:p>
        </p:txBody>
      </p:sp>
      <p:sp>
        <p:nvSpPr>
          <p:cNvPr id="34" name="Rectangle: Rounded Corners 33">
            <a:extLst>
              <a:ext uri="{FF2B5EF4-FFF2-40B4-BE49-F238E27FC236}">
                <a16:creationId xmlns:a16="http://schemas.microsoft.com/office/drawing/2014/main" id="{B7E28E9A-68CC-410D-B814-99C1C0DE23B0}"/>
              </a:ext>
            </a:extLst>
          </p:cNvPr>
          <p:cNvSpPr>
            <a:spLocks noGrp="1"/>
          </p:cNvSpPr>
          <p:nvPr/>
        </p:nvSpPr>
        <p:spPr>
          <a:xfrm>
            <a:off x="4419600" y="3762375"/>
            <a:ext cx="3143250" cy="685800"/>
          </a:xfrm>
          <a:prstGeom prst="roundRect">
            <a:avLst>
              <a:gd name="adj" fmla="val 16667"/>
            </a:avLst>
          </a:prstGeom>
          <a:solidFill>
            <a:srgbClr val="F8EED3"/>
          </a:solidFill>
          <a:ln w="9525">
            <a:solidFill>
              <a:srgbClr val="E4C969"/>
            </a:solidFill>
            <a:prstDash val="solid"/>
          </a:ln>
        </p:spPr>
        <p:txBody>
          <a:bodyPr/>
          <a:lstStyle/>
          <a:p>
            <a:endParaRPr lang="en-US"/>
          </a:p>
        </p:txBody>
      </p:sp>
      <p:sp>
        <p:nvSpPr>
          <p:cNvPr id="35" name="Rectangle 34">
            <a:extLst>
              <a:ext uri="{FF2B5EF4-FFF2-40B4-BE49-F238E27FC236}">
                <a16:creationId xmlns:a16="http://schemas.microsoft.com/office/drawing/2014/main" id="{5586E495-96E0-436A-881F-3B8EF6EDF258}"/>
              </a:ext>
            </a:extLst>
          </p:cNvPr>
          <p:cNvSpPr>
            <a:spLocks noGrp="1"/>
          </p:cNvSpPr>
          <p:nvPr/>
        </p:nvSpPr>
        <p:spPr>
          <a:xfrm>
            <a:off x="4552950" y="3857625"/>
            <a:ext cx="1762125" cy="152400"/>
          </a:xfrm>
          <a:prstGeom prst="rect">
            <a:avLst/>
          </a:prstGeom>
          <a:noFill/>
          <a:ln w="0">
            <a:noFill/>
            <a:prstDash val="solid"/>
          </a:ln>
        </p:spPr>
        <p:txBody>
          <a:bodyPr/>
          <a:lstStyle/>
          <a:p>
            <a:pPr algn="l">
              <a:defRPr sz="788" b="1" i="0">
                <a:solidFill>
                  <a:srgbClr val="D9A124"/>
                </a:solidFill>
                <a:latin typeface="Aptos"/>
                <a:ea typeface="Aptos"/>
                <a:cs typeface="Aptos"/>
              </a:defRPr>
            </a:pPr>
            <a:r>
              <a:rPr sz="788" b="1" i="0">
                <a:solidFill>
                  <a:srgbClr val="D9A124"/>
                </a:solidFill>
                <a:latin typeface="Aptos"/>
                <a:ea typeface="Aptos"/>
                <a:cs typeface="Aptos"/>
              </a:rPr>
              <a:t>3 · Sovereign-Marktwert</a:t>
            </a:r>
          </a:p>
        </p:txBody>
      </p:sp>
      <p:sp>
        <p:nvSpPr>
          <p:cNvPr id="36" name="Rectangle 35">
            <a:extLst>
              <a:ext uri="{FF2B5EF4-FFF2-40B4-BE49-F238E27FC236}">
                <a16:creationId xmlns:a16="http://schemas.microsoft.com/office/drawing/2014/main" id="{EE2F0989-3003-4666-87B0-1C5D9C0A7EBD}"/>
              </a:ext>
            </a:extLst>
          </p:cNvPr>
          <p:cNvSpPr>
            <a:spLocks noGrp="1"/>
          </p:cNvSpPr>
          <p:nvPr/>
        </p:nvSpPr>
        <p:spPr>
          <a:xfrm>
            <a:off x="4552950" y="4057650"/>
            <a:ext cx="2876550" cy="219075"/>
          </a:xfrm>
          <a:prstGeom prst="rect">
            <a:avLst/>
          </a:prstGeom>
          <a:noFill/>
          <a:ln w="0">
            <a:noFill/>
            <a:prstDash val="solid"/>
          </a:ln>
        </p:spPr>
        <p:txBody>
          <a:bodyPr/>
          <a:lstStyle/>
          <a:p>
            <a:pPr algn="l">
              <a:defRPr sz="1238" b="1" i="0">
                <a:solidFill>
                  <a:srgbClr val="051C2C"/>
                </a:solidFill>
                <a:latin typeface="Aptos Display"/>
                <a:ea typeface="Aptos Display"/>
                <a:cs typeface="Aptos Display"/>
              </a:defRPr>
            </a:pPr>
            <a:r>
              <a:rPr sz="1238" b="1" i="0">
                <a:solidFill>
                  <a:srgbClr val="051C2C"/>
                </a:solidFill>
                <a:latin typeface="Aptos Display"/>
                <a:ea typeface="Aptos Display"/>
                <a:cs typeface="Aptos Display"/>
              </a:rPr>
              <a:t>ΔFV = −D × (Δr ÷ 100) × Bestand</a:t>
            </a:r>
          </a:p>
        </p:txBody>
      </p:sp>
      <p:sp>
        <p:nvSpPr>
          <p:cNvPr id="37" name="Rectangle 36">
            <a:extLst>
              <a:ext uri="{FF2B5EF4-FFF2-40B4-BE49-F238E27FC236}">
                <a16:creationId xmlns:a16="http://schemas.microsoft.com/office/drawing/2014/main" id="{60F87530-5653-48CE-82B9-C00A8FE80009}"/>
              </a:ext>
            </a:extLst>
          </p:cNvPr>
          <p:cNvSpPr>
            <a:spLocks noGrp="1"/>
          </p:cNvSpPr>
          <p:nvPr/>
        </p:nvSpPr>
        <p:spPr>
          <a:xfrm>
            <a:off x="4552950" y="4286250"/>
            <a:ext cx="2876550" cy="133350"/>
          </a:xfrm>
          <a:prstGeom prst="rect">
            <a:avLst/>
          </a:prstGeom>
          <a:noFill/>
          <a:ln w="0">
            <a:noFill/>
            <a:prstDash val="solid"/>
          </a:ln>
        </p:spPr>
        <p:txBody>
          <a:bodyPr/>
          <a:lstStyle/>
          <a:p>
            <a:pPr algn="l">
              <a:defRPr sz="735" b="1" i="0">
                <a:solidFill>
                  <a:srgbClr val="D9A124"/>
                </a:solidFill>
                <a:latin typeface="Aptos"/>
                <a:ea typeface="Aptos"/>
                <a:cs typeface="Aptos"/>
              </a:defRPr>
            </a:pPr>
            <a:r>
              <a:rPr sz="735" b="1" i="0">
                <a:solidFill>
                  <a:srgbClr val="D9A124"/>
                </a:solidFill>
                <a:latin typeface="Aptos"/>
                <a:ea typeface="Aptos"/>
                <a:cs typeface="Aptos"/>
              </a:rPr>
              <a:t>CET1: HfT / FVTPL / FVOCI ja · AC nein</a:t>
            </a:r>
          </a:p>
        </p:txBody>
      </p:sp>
      <p:sp>
        <p:nvSpPr>
          <p:cNvPr id="38" name="Rectangle 37">
            <a:extLst>
              <a:ext uri="{FF2B5EF4-FFF2-40B4-BE49-F238E27FC236}">
                <a16:creationId xmlns:a16="http://schemas.microsoft.com/office/drawing/2014/main" id="{593839BF-4E2C-42C9-99A2-B737F2832ABC}"/>
              </a:ext>
            </a:extLst>
          </p:cNvPr>
          <p:cNvSpPr>
            <a:spLocks noGrp="1"/>
          </p:cNvSpPr>
          <p:nvPr/>
        </p:nvSpPr>
        <p:spPr>
          <a:xfrm>
            <a:off x="7772400" y="2714625"/>
            <a:ext cx="381000" cy="323850"/>
          </a:xfrm>
          <a:prstGeom prst="rect">
            <a:avLst/>
          </a:prstGeom>
          <a:noFill/>
          <a:ln w="0">
            <a:noFill/>
            <a:prstDash val="solid"/>
          </a:ln>
        </p:spPr>
        <p:txBody>
          <a:bodyPr/>
          <a:lstStyle/>
          <a:p>
            <a:pPr algn="ctr">
              <a:defRPr sz="2100" b="1" i="0">
                <a:solidFill>
                  <a:srgbClr val="71858F"/>
                </a:solidFill>
                <a:latin typeface="Aptos"/>
                <a:ea typeface="Aptos"/>
                <a:cs typeface="Aptos"/>
              </a:defRPr>
            </a:pPr>
            <a:r>
              <a:rPr sz="2100" b="1" i="0">
                <a:solidFill>
                  <a:srgbClr val="71858F"/>
                </a:solidFill>
                <a:latin typeface="Aptos"/>
                <a:ea typeface="Aptos"/>
                <a:cs typeface="Aptos"/>
              </a:rPr>
              <a:t>→</a:t>
            </a:r>
          </a:p>
        </p:txBody>
      </p:sp>
      <p:sp>
        <p:nvSpPr>
          <p:cNvPr id="39" name="Rectangle: Rounded Corners 38">
            <a:extLst>
              <a:ext uri="{FF2B5EF4-FFF2-40B4-BE49-F238E27FC236}">
                <a16:creationId xmlns:a16="http://schemas.microsoft.com/office/drawing/2014/main" id="{40674B87-3097-40FE-8BF7-3FDACD1A588C}"/>
              </a:ext>
            </a:extLst>
          </p:cNvPr>
          <p:cNvSpPr>
            <a:spLocks noGrp="1"/>
          </p:cNvSpPr>
          <p:nvPr/>
        </p:nvSpPr>
        <p:spPr>
          <a:xfrm>
            <a:off x="8191500" y="1438275"/>
            <a:ext cx="3543300" cy="3143250"/>
          </a:xfrm>
          <a:prstGeom prst="roundRect">
            <a:avLst>
              <a:gd name="adj" fmla="val 3636"/>
            </a:avLst>
          </a:prstGeom>
          <a:solidFill>
            <a:srgbClr val="051C2C"/>
          </a:solidFill>
          <a:ln w="9525">
            <a:solidFill>
              <a:srgbClr val="051C2C"/>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40" name="Rectangle: Rounded Corners 39">
            <a:extLst>
              <a:ext uri="{FF2B5EF4-FFF2-40B4-BE49-F238E27FC236}">
                <a16:creationId xmlns:a16="http://schemas.microsoft.com/office/drawing/2014/main" id="{6739BC48-8D3C-4D28-8EA3-638B59A0B20C}"/>
              </a:ext>
            </a:extLst>
          </p:cNvPr>
          <p:cNvSpPr>
            <a:spLocks noGrp="1"/>
          </p:cNvSpPr>
          <p:nvPr/>
        </p:nvSpPr>
        <p:spPr>
          <a:xfrm>
            <a:off x="8362950" y="1600200"/>
            <a:ext cx="1143000" cy="219075"/>
          </a:xfrm>
          <a:prstGeom prst="roundRect">
            <a:avLst>
              <a:gd name="adj" fmla="val 50000"/>
            </a:avLst>
          </a:prstGeom>
          <a:solidFill>
            <a:srgbClr val="A52F4D"/>
          </a:solidFill>
          <a:ln w="0">
            <a:noFill/>
            <a:prstDash val="solid"/>
          </a:ln>
        </p:spPr>
        <p:txBody>
          <a:bodyPr/>
          <a:lstStyle/>
          <a:p>
            <a:endParaRPr lang="en-US"/>
          </a:p>
        </p:txBody>
      </p:sp>
      <p:sp>
        <p:nvSpPr>
          <p:cNvPr id="41" name="Rectangle 40">
            <a:extLst>
              <a:ext uri="{FF2B5EF4-FFF2-40B4-BE49-F238E27FC236}">
                <a16:creationId xmlns:a16="http://schemas.microsoft.com/office/drawing/2014/main" id="{C4DE12CB-0A77-4E1E-B8DB-3FA449E11F2E}"/>
              </a:ext>
            </a:extLst>
          </p:cNvPr>
          <p:cNvSpPr>
            <a:spLocks noGrp="1"/>
          </p:cNvSpPr>
          <p:nvPr/>
        </p:nvSpPr>
        <p:spPr>
          <a:xfrm>
            <a:off x="8401050" y="1638300"/>
            <a:ext cx="1066800" cy="142875"/>
          </a:xfrm>
          <a:prstGeom prst="rect">
            <a:avLst/>
          </a:prstGeom>
          <a:noFill/>
          <a:ln w="0">
            <a:noFill/>
            <a:prstDash val="solid"/>
          </a:ln>
        </p:spPr>
        <p:txBody>
          <a:bodyPr/>
          <a:lstStyle/>
          <a:p>
            <a:pPr algn="ctr">
              <a:defRPr sz="713" b="1" i="0">
                <a:solidFill>
                  <a:srgbClr val="FFFFFF"/>
                </a:solidFill>
                <a:latin typeface="Aptos"/>
                <a:ea typeface="Aptos"/>
                <a:cs typeface="Aptos"/>
              </a:defRPr>
            </a:pPr>
            <a:r>
              <a:rPr sz="713" b="1" i="0">
                <a:solidFill>
                  <a:srgbClr val="FFFFFF"/>
                </a:solidFill>
                <a:latin typeface="Aptos"/>
                <a:ea typeface="Aptos"/>
                <a:cs typeface="Aptos"/>
              </a:rPr>
              <a:t>3 · ZIELGRÖSSE</a:t>
            </a:r>
          </a:p>
        </p:txBody>
      </p:sp>
      <p:sp>
        <p:nvSpPr>
          <p:cNvPr id="42" name="Rectangle 41">
            <a:extLst>
              <a:ext uri="{FF2B5EF4-FFF2-40B4-BE49-F238E27FC236}">
                <a16:creationId xmlns:a16="http://schemas.microsoft.com/office/drawing/2014/main" id="{E4822A88-6738-409F-80D9-342F2BD6CC73}"/>
              </a:ext>
            </a:extLst>
          </p:cNvPr>
          <p:cNvSpPr>
            <a:spLocks noGrp="1"/>
          </p:cNvSpPr>
          <p:nvPr/>
        </p:nvSpPr>
        <p:spPr>
          <a:xfrm>
            <a:off x="8362950" y="1971675"/>
            <a:ext cx="3000375" cy="257175"/>
          </a:xfrm>
          <a:prstGeom prst="rect">
            <a:avLst/>
          </a:prstGeom>
          <a:noFill/>
          <a:ln w="0">
            <a:noFill/>
            <a:prstDash val="solid"/>
          </a:ln>
        </p:spPr>
        <p:txBody>
          <a:bodyPr/>
          <a:lstStyle/>
          <a:p>
            <a:pPr algn="l">
              <a:defRPr sz="1425" b="1" i="0">
                <a:solidFill>
                  <a:srgbClr val="FFFFFF"/>
                </a:solidFill>
                <a:latin typeface="Aptos Display"/>
                <a:ea typeface="Aptos Display"/>
                <a:cs typeface="Aptos Display"/>
              </a:defRPr>
            </a:pPr>
            <a:r>
              <a:rPr sz="1425" b="1" i="0">
                <a:solidFill>
                  <a:srgbClr val="FFFFFF"/>
                </a:solidFill>
                <a:latin typeface="Aptos Display"/>
                <a:ea typeface="Aptos Display"/>
                <a:cs typeface="Aptos Display"/>
              </a:rPr>
              <a:t>Wie entsteht die CET1-Quote?</a:t>
            </a:r>
          </a:p>
        </p:txBody>
      </p:sp>
      <p:sp>
        <p:nvSpPr>
          <p:cNvPr id="43" name="Rectangle 42">
            <a:extLst>
              <a:ext uri="{FF2B5EF4-FFF2-40B4-BE49-F238E27FC236}">
                <a16:creationId xmlns:a16="http://schemas.microsoft.com/office/drawing/2014/main" id="{082C8C0E-54BE-4BC2-BAA8-078BAD14C1D0}"/>
              </a:ext>
            </a:extLst>
          </p:cNvPr>
          <p:cNvSpPr>
            <a:spLocks noGrp="1"/>
          </p:cNvSpPr>
          <p:nvPr/>
        </p:nvSpPr>
        <p:spPr>
          <a:xfrm>
            <a:off x="8572500" y="2428875"/>
            <a:ext cx="2571750" cy="190500"/>
          </a:xfrm>
          <a:prstGeom prst="rect">
            <a:avLst/>
          </a:prstGeom>
          <a:noFill/>
          <a:ln w="0">
            <a:noFill/>
            <a:prstDash val="solid"/>
          </a:ln>
        </p:spPr>
        <p:txBody>
          <a:bodyPr/>
          <a:lstStyle/>
          <a:p>
            <a:pPr algn="ctr">
              <a:defRPr sz="900" b="1" i="0">
                <a:solidFill>
                  <a:srgbClr val="BCD0D9"/>
                </a:solidFill>
                <a:latin typeface="Aptos"/>
                <a:ea typeface="Aptos"/>
                <a:cs typeface="Aptos"/>
              </a:defRPr>
            </a:pPr>
            <a:r>
              <a:rPr sz="900" b="1" i="0">
                <a:solidFill>
                  <a:srgbClr val="BCD0D9"/>
                </a:solidFill>
                <a:latin typeface="Aptos"/>
                <a:ea typeface="Aptos"/>
                <a:cs typeface="Aptos"/>
              </a:rPr>
              <a:t>CET1 nach Stress</a:t>
            </a:r>
          </a:p>
        </p:txBody>
      </p:sp>
      <p:sp>
        <p:nvSpPr>
          <p:cNvPr id="44" name="Rectangle 43">
            <a:extLst>
              <a:ext uri="{FF2B5EF4-FFF2-40B4-BE49-F238E27FC236}">
                <a16:creationId xmlns:a16="http://schemas.microsoft.com/office/drawing/2014/main" id="{616D736D-ABC5-4169-A28A-B3CA6AA6B946}"/>
              </a:ext>
            </a:extLst>
          </p:cNvPr>
          <p:cNvSpPr>
            <a:spLocks noGrp="1"/>
          </p:cNvSpPr>
          <p:nvPr/>
        </p:nvSpPr>
        <p:spPr>
          <a:xfrm>
            <a:off x="8439150" y="2752725"/>
            <a:ext cx="3048000" cy="257175"/>
          </a:xfrm>
          <a:prstGeom prst="rect">
            <a:avLst/>
          </a:prstGeom>
          <a:noFill/>
          <a:ln w="0">
            <a:noFill/>
            <a:prstDash val="solid"/>
          </a:ln>
        </p:spPr>
        <p:txBody>
          <a:bodyPr/>
          <a:lstStyle/>
          <a:p>
            <a:pPr algn="ctr">
              <a:defRPr sz="1275" b="1" i="0">
                <a:solidFill>
                  <a:srgbClr val="FFFFFF"/>
                </a:solidFill>
                <a:latin typeface="Aptos Display"/>
                <a:ea typeface="Aptos Display"/>
                <a:cs typeface="Aptos Display"/>
              </a:defRPr>
            </a:pPr>
            <a:r>
              <a:rPr sz="1275" b="1" i="0">
                <a:solidFill>
                  <a:srgbClr val="FFFFFF"/>
                </a:solidFill>
                <a:latin typeface="Aptos Display"/>
                <a:ea typeface="Aptos Display"/>
                <a:cs typeface="Aptos Display"/>
              </a:rPr>
              <a:t>CET1₀ − ΔEL + ΔFV Sovereigns</a:t>
            </a:r>
          </a:p>
        </p:txBody>
      </p:sp>
      <p:sp>
        <p:nvSpPr>
          <p:cNvPr id="45" name="Rectangle 44">
            <a:extLst>
              <a:ext uri="{FF2B5EF4-FFF2-40B4-BE49-F238E27FC236}">
                <a16:creationId xmlns:a16="http://schemas.microsoft.com/office/drawing/2014/main" id="{DF461555-825A-49A5-9033-0C3B8B801A7E}"/>
              </a:ext>
            </a:extLst>
          </p:cNvPr>
          <p:cNvSpPr>
            <a:spLocks noGrp="1"/>
          </p:cNvSpPr>
          <p:nvPr/>
        </p:nvSpPr>
        <p:spPr>
          <a:xfrm>
            <a:off x="8591550" y="3124200"/>
            <a:ext cx="2743200" cy="19050"/>
          </a:xfrm>
          <a:prstGeom prst="rect">
            <a:avLst/>
          </a:prstGeom>
          <a:solidFill>
            <a:srgbClr val="8299A5"/>
          </a:solidFill>
          <a:ln w="0">
            <a:noFill/>
            <a:prstDash val="solid"/>
          </a:ln>
        </p:spPr>
        <p:txBody>
          <a:bodyPr/>
          <a:lstStyle/>
          <a:p>
            <a:endParaRPr lang="en-US"/>
          </a:p>
        </p:txBody>
      </p:sp>
      <p:sp>
        <p:nvSpPr>
          <p:cNvPr id="46" name="Rectangle 45">
            <a:extLst>
              <a:ext uri="{FF2B5EF4-FFF2-40B4-BE49-F238E27FC236}">
                <a16:creationId xmlns:a16="http://schemas.microsoft.com/office/drawing/2014/main" id="{9BEF1EDF-AFAA-47F4-A98F-A5AE625D6565}"/>
              </a:ext>
            </a:extLst>
          </p:cNvPr>
          <p:cNvSpPr>
            <a:spLocks noGrp="1"/>
          </p:cNvSpPr>
          <p:nvPr/>
        </p:nvSpPr>
        <p:spPr>
          <a:xfrm>
            <a:off x="8572500" y="3276600"/>
            <a:ext cx="2762250" cy="257175"/>
          </a:xfrm>
          <a:prstGeom prst="rect">
            <a:avLst/>
          </a:prstGeom>
          <a:noFill/>
          <a:ln w="0">
            <a:noFill/>
            <a:prstDash val="solid"/>
          </a:ln>
        </p:spPr>
        <p:txBody>
          <a:bodyPr/>
          <a:lstStyle/>
          <a:p>
            <a:pPr algn="ctr">
              <a:defRPr sz="1275" b="1" i="0">
                <a:solidFill>
                  <a:srgbClr val="FFFFFF"/>
                </a:solidFill>
                <a:latin typeface="Aptos Display"/>
                <a:ea typeface="Aptos Display"/>
                <a:cs typeface="Aptos Display"/>
              </a:defRPr>
            </a:pPr>
            <a:r>
              <a:rPr sz="1275" b="1" i="0">
                <a:solidFill>
                  <a:srgbClr val="FFFFFF"/>
                </a:solidFill>
                <a:latin typeface="Aptos Display"/>
                <a:ea typeface="Aptos Display"/>
                <a:cs typeface="Aptos Display"/>
              </a:rPr>
              <a:t>RWA₀ + ΔRWA Kreditbuch</a:t>
            </a:r>
          </a:p>
        </p:txBody>
      </p:sp>
      <p:sp>
        <p:nvSpPr>
          <p:cNvPr id="47" name="Rectangle: Rounded Corners 46">
            <a:extLst>
              <a:ext uri="{FF2B5EF4-FFF2-40B4-BE49-F238E27FC236}">
                <a16:creationId xmlns:a16="http://schemas.microsoft.com/office/drawing/2014/main" id="{0B8BC9EA-18CC-40B4-AFE4-C5C0020F616E}"/>
              </a:ext>
            </a:extLst>
          </p:cNvPr>
          <p:cNvSpPr>
            <a:spLocks noGrp="1"/>
          </p:cNvSpPr>
          <p:nvPr/>
        </p:nvSpPr>
        <p:spPr>
          <a:xfrm>
            <a:off x="8401050" y="3781425"/>
            <a:ext cx="3124200" cy="561975"/>
          </a:xfrm>
          <a:prstGeom prst="roundRect">
            <a:avLst>
              <a:gd name="adj" fmla="val 20339"/>
            </a:avLst>
          </a:prstGeom>
          <a:solidFill>
            <a:srgbClr val="123B50"/>
          </a:solidFill>
          <a:ln w="9525">
            <a:solidFill>
              <a:srgbClr val="355567"/>
            </a:solidFill>
            <a:prstDash val="solid"/>
          </a:ln>
        </p:spPr>
        <p:txBody>
          <a:bodyPr/>
          <a:lstStyle/>
          <a:p>
            <a:endParaRPr lang="en-US"/>
          </a:p>
        </p:txBody>
      </p:sp>
      <p:sp>
        <p:nvSpPr>
          <p:cNvPr id="48" name="Rectangle 47">
            <a:extLst>
              <a:ext uri="{FF2B5EF4-FFF2-40B4-BE49-F238E27FC236}">
                <a16:creationId xmlns:a16="http://schemas.microsoft.com/office/drawing/2014/main" id="{5A9D965E-9C79-495B-9CD9-6C703ED83591}"/>
              </a:ext>
            </a:extLst>
          </p:cNvPr>
          <p:cNvSpPr>
            <a:spLocks noGrp="1"/>
          </p:cNvSpPr>
          <p:nvPr/>
        </p:nvSpPr>
        <p:spPr>
          <a:xfrm>
            <a:off x="8572500" y="3876675"/>
            <a:ext cx="1095375" cy="171450"/>
          </a:xfrm>
          <a:prstGeom prst="rect">
            <a:avLst/>
          </a:prstGeom>
          <a:noFill/>
          <a:ln w="0">
            <a:noFill/>
            <a:prstDash val="solid"/>
          </a:ln>
        </p:spPr>
        <p:txBody>
          <a:bodyPr/>
          <a:lstStyle/>
          <a:p>
            <a:pPr algn="l">
              <a:defRPr sz="825" b="1" i="0">
                <a:solidFill>
                  <a:srgbClr val="F1BCC8"/>
                </a:solidFill>
                <a:latin typeface="Aptos"/>
                <a:ea typeface="Aptos"/>
                <a:cs typeface="Aptos"/>
              </a:defRPr>
            </a:pPr>
            <a:r>
              <a:rPr sz="825" b="1" i="0">
                <a:solidFill>
                  <a:srgbClr val="F1BCC8"/>
                </a:solidFill>
                <a:latin typeface="Aptos"/>
                <a:ea typeface="Aptos"/>
                <a:cs typeface="Aptos"/>
              </a:rPr>
              <a:t>Zähler sinkt</a:t>
            </a:r>
          </a:p>
        </p:txBody>
      </p:sp>
      <p:sp>
        <p:nvSpPr>
          <p:cNvPr id="49" name="Rectangle 48">
            <a:extLst>
              <a:ext uri="{FF2B5EF4-FFF2-40B4-BE49-F238E27FC236}">
                <a16:creationId xmlns:a16="http://schemas.microsoft.com/office/drawing/2014/main" id="{A5E4BCDA-2615-4BAA-9024-BF6DCB478C09}"/>
              </a:ext>
            </a:extLst>
          </p:cNvPr>
          <p:cNvSpPr>
            <a:spLocks noGrp="1"/>
          </p:cNvSpPr>
          <p:nvPr/>
        </p:nvSpPr>
        <p:spPr>
          <a:xfrm>
            <a:off x="9620250" y="3876675"/>
            <a:ext cx="1714500" cy="171450"/>
          </a:xfrm>
          <a:prstGeom prst="rect">
            <a:avLst/>
          </a:prstGeom>
          <a:noFill/>
          <a:ln w="0">
            <a:noFill/>
            <a:prstDash val="solid"/>
          </a:ln>
        </p:spPr>
        <p:txBody>
          <a:bodyPr/>
          <a:lstStyle/>
          <a:p>
            <a:pPr algn="l">
              <a:defRPr sz="788" b="0" i="0">
                <a:solidFill>
                  <a:srgbClr val="E4EEF2"/>
                </a:solidFill>
                <a:latin typeface="Aptos"/>
                <a:ea typeface="Aptos"/>
                <a:cs typeface="Aptos"/>
              </a:defRPr>
            </a:pPr>
            <a:r>
              <a:rPr sz="788" b="0" i="0">
                <a:solidFill>
                  <a:srgbClr val="E4EEF2"/>
                </a:solidFill>
                <a:latin typeface="Aptos"/>
                <a:ea typeface="Aptos"/>
                <a:cs typeface="Aptos"/>
              </a:rPr>
              <a:t>durch Vorsorge und Sovereign-Verluste</a:t>
            </a:r>
          </a:p>
        </p:txBody>
      </p:sp>
      <p:sp>
        <p:nvSpPr>
          <p:cNvPr id="50" name="Rectangle 49">
            <a:extLst>
              <a:ext uri="{FF2B5EF4-FFF2-40B4-BE49-F238E27FC236}">
                <a16:creationId xmlns:a16="http://schemas.microsoft.com/office/drawing/2014/main" id="{30143D26-0518-4E76-B701-D78ABF9889A6}"/>
              </a:ext>
            </a:extLst>
          </p:cNvPr>
          <p:cNvSpPr>
            <a:spLocks noGrp="1"/>
          </p:cNvSpPr>
          <p:nvPr/>
        </p:nvSpPr>
        <p:spPr>
          <a:xfrm>
            <a:off x="8572500" y="4105275"/>
            <a:ext cx="1095375" cy="171450"/>
          </a:xfrm>
          <a:prstGeom prst="rect">
            <a:avLst/>
          </a:prstGeom>
          <a:noFill/>
          <a:ln w="0">
            <a:noFill/>
            <a:prstDash val="solid"/>
          </a:ln>
        </p:spPr>
        <p:txBody>
          <a:bodyPr/>
          <a:lstStyle/>
          <a:p>
            <a:pPr algn="l">
              <a:defRPr sz="825" b="1" i="0">
                <a:solidFill>
                  <a:srgbClr val="A9D6DF"/>
                </a:solidFill>
                <a:latin typeface="Aptos"/>
                <a:ea typeface="Aptos"/>
                <a:cs typeface="Aptos"/>
              </a:defRPr>
            </a:pPr>
            <a:r>
              <a:rPr sz="825" b="1" i="0">
                <a:solidFill>
                  <a:srgbClr val="A9D6DF"/>
                </a:solidFill>
                <a:latin typeface="Aptos"/>
                <a:ea typeface="Aptos"/>
                <a:cs typeface="Aptos"/>
              </a:rPr>
              <a:t>Nenner steigt</a:t>
            </a:r>
          </a:p>
        </p:txBody>
      </p:sp>
      <p:sp>
        <p:nvSpPr>
          <p:cNvPr id="51" name="Rectangle 50">
            <a:extLst>
              <a:ext uri="{FF2B5EF4-FFF2-40B4-BE49-F238E27FC236}">
                <a16:creationId xmlns:a16="http://schemas.microsoft.com/office/drawing/2014/main" id="{6E1A6DDE-8E36-48F1-8751-0227ED884648}"/>
              </a:ext>
            </a:extLst>
          </p:cNvPr>
          <p:cNvSpPr>
            <a:spLocks noGrp="1"/>
          </p:cNvSpPr>
          <p:nvPr/>
        </p:nvSpPr>
        <p:spPr>
          <a:xfrm>
            <a:off x="9620250" y="4105275"/>
            <a:ext cx="1714500" cy="171450"/>
          </a:xfrm>
          <a:prstGeom prst="rect">
            <a:avLst/>
          </a:prstGeom>
          <a:noFill/>
          <a:ln w="0">
            <a:noFill/>
            <a:prstDash val="solid"/>
          </a:ln>
        </p:spPr>
        <p:txBody>
          <a:bodyPr/>
          <a:lstStyle/>
          <a:p>
            <a:pPr algn="l">
              <a:defRPr sz="788" b="0" i="0">
                <a:solidFill>
                  <a:srgbClr val="E4EEF2"/>
                </a:solidFill>
                <a:latin typeface="Aptos"/>
                <a:ea typeface="Aptos"/>
                <a:cs typeface="Aptos"/>
              </a:defRPr>
            </a:pPr>
            <a:r>
              <a:rPr sz="788" b="0" i="0">
                <a:solidFill>
                  <a:srgbClr val="E4EEF2"/>
                </a:solidFill>
                <a:latin typeface="Aptos"/>
                <a:ea typeface="Aptos"/>
                <a:cs typeface="Aptos"/>
              </a:rPr>
              <a:t>durch zusätzliche Kredit-RWA</a:t>
            </a:r>
          </a:p>
        </p:txBody>
      </p:sp>
      <p:sp>
        <p:nvSpPr>
          <p:cNvPr id="52" name="Rectangle: Rounded Corners 51">
            <a:extLst>
              <a:ext uri="{FF2B5EF4-FFF2-40B4-BE49-F238E27FC236}">
                <a16:creationId xmlns:a16="http://schemas.microsoft.com/office/drawing/2014/main" id="{6A59185B-B355-422B-96E0-9565A84D30E6}"/>
              </a:ext>
            </a:extLst>
          </p:cNvPr>
          <p:cNvSpPr>
            <a:spLocks noGrp="1"/>
          </p:cNvSpPr>
          <p:nvPr/>
        </p:nvSpPr>
        <p:spPr>
          <a:xfrm>
            <a:off x="457200" y="4867275"/>
            <a:ext cx="11277600" cy="1304925"/>
          </a:xfrm>
          <a:prstGeom prst="roundRect">
            <a:avLst>
              <a:gd name="adj" fmla="val 8759"/>
            </a:avLst>
          </a:prstGeom>
          <a:solidFill>
            <a:srgbClr val="FFFFFF"/>
          </a:solidFill>
          <a:ln w="9525">
            <a:solidFill>
              <a:srgbClr val="D5E0E5"/>
            </a:solidFill>
            <a:prstDash val="solid"/>
          </a:ln>
        </p:spPr>
        <p:txBody>
          <a:bodyPr/>
          <a:lstStyle/>
          <a:p>
            <a:endParaRPr lang="en-US"/>
          </a:p>
        </p:txBody>
      </p:sp>
      <p:sp>
        <p:nvSpPr>
          <p:cNvPr id="53" name="Rectangle 52">
            <a:extLst>
              <a:ext uri="{FF2B5EF4-FFF2-40B4-BE49-F238E27FC236}">
                <a16:creationId xmlns:a16="http://schemas.microsoft.com/office/drawing/2014/main" id="{D043A7EC-CC1A-4B85-A7D9-261C9F5AD7C7}"/>
              </a:ext>
            </a:extLst>
          </p:cNvPr>
          <p:cNvSpPr>
            <a:spLocks noGrp="1"/>
          </p:cNvSpPr>
          <p:nvPr/>
        </p:nvSpPr>
        <p:spPr>
          <a:xfrm>
            <a:off x="638175" y="5038725"/>
            <a:ext cx="2667000" cy="161925"/>
          </a:xfrm>
          <a:prstGeom prst="rect">
            <a:avLst/>
          </a:prstGeom>
          <a:noFill/>
          <a:ln w="0">
            <a:noFill/>
            <a:prstDash val="solid"/>
          </a:ln>
        </p:spPr>
        <p:txBody>
          <a:bodyPr/>
          <a:lstStyle/>
          <a:p>
            <a:pPr algn="l">
              <a:defRPr sz="788" b="1" i="0">
                <a:solidFill>
                  <a:srgbClr val="A52F4D"/>
                </a:solidFill>
                <a:latin typeface="Aptos"/>
                <a:ea typeface="Aptos"/>
                <a:cs typeface="Aptos"/>
              </a:defRPr>
            </a:pPr>
            <a:r>
              <a:rPr sz="788" b="1" i="0">
                <a:solidFill>
                  <a:srgbClr val="A52F4D"/>
                </a:solidFill>
                <a:latin typeface="Aptos"/>
                <a:ea typeface="Aptos"/>
                <a:cs typeface="Aptos"/>
              </a:rPr>
              <a:t>WOHER KOMMEN FORMELN UND WERTE?</a:t>
            </a:r>
          </a:p>
        </p:txBody>
      </p:sp>
      <p:sp>
        <p:nvSpPr>
          <p:cNvPr id="54" name="Rectangle: Rounded Corners 53">
            <a:extLst>
              <a:ext uri="{FF2B5EF4-FFF2-40B4-BE49-F238E27FC236}">
                <a16:creationId xmlns:a16="http://schemas.microsoft.com/office/drawing/2014/main" id="{3BF8D274-16C6-447E-A07F-CA45C38F7323}"/>
              </a:ext>
            </a:extLst>
          </p:cNvPr>
          <p:cNvSpPr>
            <a:spLocks noGrp="1"/>
          </p:cNvSpPr>
          <p:nvPr/>
        </p:nvSpPr>
        <p:spPr>
          <a:xfrm>
            <a:off x="638175" y="5314950"/>
            <a:ext cx="2571750" cy="790575"/>
          </a:xfrm>
          <a:prstGeom prst="roundRect">
            <a:avLst>
              <a:gd name="adj" fmla="val 17910"/>
            </a:avLst>
          </a:prstGeom>
          <a:solidFill>
            <a:srgbClr val="F8FAFB"/>
          </a:solidFill>
          <a:ln w="9525">
            <a:solidFill>
              <a:srgbClr val="D5E0E5"/>
            </a:solidFill>
            <a:prstDash val="solid"/>
          </a:ln>
        </p:spPr>
        <p:txBody>
          <a:bodyPr/>
          <a:lstStyle/>
          <a:p>
            <a:endParaRPr lang="en-US"/>
          </a:p>
        </p:txBody>
      </p:sp>
      <p:sp>
        <p:nvSpPr>
          <p:cNvPr id="55" name="Rectangle 54">
            <a:extLst>
              <a:ext uri="{FF2B5EF4-FFF2-40B4-BE49-F238E27FC236}">
                <a16:creationId xmlns:a16="http://schemas.microsoft.com/office/drawing/2014/main" id="{F0B006E8-787A-42DB-8A9C-451070FFC86D}"/>
              </a:ext>
            </a:extLst>
          </p:cNvPr>
          <p:cNvSpPr>
            <a:spLocks noGrp="1"/>
          </p:cNvSpPr>
          <p:nvPr/>
        </p:nvSpPr>
        <p:spPr>
          <a:xfrm>
            <a:off x="618363" y="5415534"/>
            <a:ext cx="47625" cy="638175"/>
          </a:xfrm>
          <a:prstGeom prst="rect">
            <a:avLst/>
          </a:prstGeom>
          <a:solidFill>
            <a:srgbClr val="A52F4D"/>
          </a:solidFill>
          <a:ln w="0">
            <a:noFill/>
            <a:prstDash val="solid"/>
          </a:ln>
        </p:spPr>
        <p:txBody>
          <a:bodyPr/>
          <a:lstStyle/>
          <a:p>
            <a:endParaRPr lang="en-US"/>
          </a:p>
        </p:txBody>
      </p:sp>
      <p:sp>
        <p:nvSpPr>
          <p:cNvPr id="56" name="Rectangle 55">
            <a:extLst>
              <a:ext uri="{FF2B5EF4-FFF2-40B4-BE49-F238E27FC236}">
                <a16:creationId xmlns:a16="http://schemas.microsoft.com/office/drawing/2014/main" id="{7C8C42C3-8E46-4DB7-B51D-73483DEDA007}"/>
              </a:ext>
            </a:extLst>
          </p:cNvPr>
          <p:cNvSpPr>
            <a:spLocks noGrp="1"/>
          </p:cNvSpPr>
          <p:nvPr/>
        </p:nvSpPr>
        <p:spPr>
          <a:xfrm>
            <a:off x="781050" y="5272087"/>
            <a:ext cx="2286000" cy="161925"/>
          </a:xfrm>
          <a:prstGeom prst="rect">
            <a:avLst/>
          </a:prstGeom>
          <a:noFill/>
          <a:ln w="0">
            <a:noFill/>
            <a:prstDash val="solid"/>
          </a:ln>
        </p:spPr>
        <p:txBody>
          <a:bodyPr/>
          <a:lstStyle/>
          <a:p>
            <a:pPr algn="l">
              <a:defRPr sz="825" b="1" i="0">
                <a:solidFill>
                  <a:srgbClr val="A52F4D"/>
                </a:solidFill>
                <a:latin typeface="Aptos"/>
                <a:ea typeface="Aptos"/>
                <a:cs typeface="Aptos"/>
              </a:defRPr>
            </a:pPr>
            <a:r>
              <a:rPr sz="825" b="1" i="0">
                <a:solidFill>
                  <a:srgbClr val="A52F4D"/>
                </a:solidFill>
                <a:latin typeface="Aptos"/>
                <a:ea typeface="Aptos"/>
                <a:cs typeface="Aptos"/>
              </a:rPr>
              <a:t>PD / LGD</a:t>
            </a:r>
          </a:p>
        </p:txBody>
      </p:sp>
      <p:sp>
        <p:nvSpPr>
          <p:cNvPr id="57" name="Rectangle 56">
            <a:extLst>
              <a:ext uri="{FF2B5EF4-FFF2-40B4-BE49-F238E27FC236}">
                <a16:creationId xmlns:a16="http://schemas.microsoft.com/office/drawing/2014/main" id="{0D5CC3B8-62C5-46AC-9EA8-D6C9359FBF74}"/>
              </a:ext>
            </a:extLst>
          </p:cNvPr>
          <p:cNvSpPr>
            <a:spLocks noGrp="1"/>
          </p:cNvSpPr>
          <p:nvPr/>
        </p:nvSpPr>
        <p:spPr>
          <a:xfrm>
            <a:off x="781050" y="5638800"/>
            <a:ext cx="2286000" cy="257175"/>
          </a:xfrm>
          <a:prstGeom prst="rect">
            <a:avLst/>
          </a:prstGeom>
          <a:noFill/>
          <a:ln w="0">
            <a:noFill/>
            <a:prstDash val="solid"/>
          </a:ln>
        </p:spPr>
        <p:txBody>
          <a:bodyPr/>
          <a:lstStyle/>
          <a:p>
            <a:pPr algn="l">
              <a:defRPr sz="788" b="0" i="0">
                <a:solidFill>
                  <a:srgbClr val="4F6875"/>
                </a:solidFill>
                <a:latin typeface="Aptos"/>
                <a:ea typeface="Aptos"/>
                <a:cs typeface="Aptos"/>
              </a:defRPr>
            </a:pPr>
            <a:r>
              <a:rPr sz="788" b="0" i="0">
                <a:solidFill>
                  <a:srgbClr val="4F6875"/>
                </a:solidFill>
                <a:latin typeface="Aptos"/>
                <a:ea typeface="Aptos"/>
                <a:cs typeface="Aptos"/>
              </a:rPr>
              <a:t>Banken melden diese Werte in Pillar 3 EU-CR6.</a:t>
            </a:r>
          </a:p>
        </p:txBody>
      </p:sp>
      <p:sp>
        <p:nvSpPr>
          <p:cNvPr id="58" name="Rectangle: Rounded Corners 57">
            <a:extLst>
              <a:ext uri="{FF2B5EF4-FFF2-40B4-BE49-F238E27FC236}">
                <a16:creationId xmlns:a16="http://schemas.microsoft.com/office/drawing/2014/main" id="{06CA58C3-216B-481D-8A59-92AB07C54C66}"/>
              </a:ext>
            </a:extLst>
          </p:cNvPr>
          <p:cNvSpPr>
            <a:spLocks noGrp="1"/>
          </p:cNvSpPr>
          <p:nvPr/>
        </p:nvSpPr>
        <p:spPr>
          <a:xfrm>
            <a:off x="3381375" y="5314950"/>
            <a:ext cx="2571750" cy="790575"/>
          </a:xfrm>
          <a:prstGeom prst="roundRect">
            <a:avLst>
              <a:gd name="adj" fmla="val 17910"/>
            </a:avLst>
          </a:prstGeom>
          <a:solidFill>
            <a:srgbClr val="F3F6F7"/>
          </a:solidFill>
          <a:ln w="9525">
            <a:solidFill>
              <a:srgbClr val="D5E0E5"/>
            </a:solidFill>
            <a:prstDash val="solid"/>
          </a:ln>
        </p:spPr>
        <p:txBody>
          <a:bodyPr/>
          <a:lstStyle/>
          <a:p>
            <a:endParaRPr lang="en-US"/>
          </a:p>
        </p:txBody>
      </p:sp>
      <p:sp>
        <p:nvSpPr>
          <p:cNvPr id="59" name="Rectangle 58">
            <a:extLst>
              <a:ext uri="{FF2B5EF4-FFF2-40B4-BE49-F238E27FC236}">
                <a16:creationId xmlns:a16="http://schemas.microsoft.com/office/drawing/2014/main" id="{CF375474-4D71-4693-B9E3-B2396FF180B0}"/>
              </a:ext>
            </a:extLst>
          </p:cNvPr>
          <p:cNvSpPr>
            <a:spLocks noGrp="1"/>
          </p:cNvSpPr>
          <p:nvPr/>
        </p:nvSpPr>
        <p:spPr>
          <a:xfrm>
            <a:off x="3361563" y="5415534"/>
            <a:ext cx="47625" cy="638175"/>
          </a:xfrm>
          <a:prstGeom prst="rect">
            <a:avLst/>
          </a:prstGeom>
          <a:solidFill>
            <a:srgbClr val="0B5D7A"/>
          </a:solidFill>
          <a:ln w="0">
            <a:noFill/>
            <a:prstDash val="solid"/>
          </a:ln>
        </p:spPr>
        <p:txBody>
          <a:bodyPr/>
          <a:lstStyle/>
          <a:p>
            <a:endParaRPr lang="en-US"/>
          </a:p>
        </p:txBody>
      </p:sp>
      <p:sp>
        <p:nvSpPr>
          <p:cNvPr id="60" name="Rectangle 59">
            <a:extLst>
              <a:ext uri="{FF2B5EF4-FFF2-40B4-BE49-F238E27FC236}">
                <a16:creationId xmlns:a16="http://schemas.microsoft.com/office/drawing/2014/main" id="{581F457E-4725-41FF-AF31-20767FA52466}"/>
              </a:ext>
            </a:extLst>
          </p:cNvPr>
          <p:cNvSpPr>
            <a:spLocks noGrp="1"/>
          </p:cNvSpPr>
          <p:nvPr/>
        </p:nvSpPr>
        <p:spPr>
          <a:xfrm>
            <a:off x="3524250" y="5272087"/>
            <a:ext cx="2286000" cy="161925"/>
          </a:xfrm>
          <a:prstGeom prst="rect">
            <a:avLst/>
          </a:prstGeom>
          <a:noFill/>
          <a:ln w="0">
            <a:noFill/>
            <a:prstDash val="solid"/>
          </a:ln>
        </p:spPr>
        <p:txBody>
          <a:bodyPr/>
          <a:lstStyle/>
          <a:p>
            <a:pPr algn="l">
              <a:defRPr sz="825" b="1" i="0">
                <a:solidFill>
                  <a:srgbClr val="0B5D7A"/>
                </a:solidFill>
                <a:latin typeface="Aptos"/>
                <a:ea typeface="Aptos"/>
                <a:cs typeface="Aptos"/>
              </a:defRPr>
            </a:pPr>
            <a:r>
              <a:rPr sz="825" b="1" i="0">
                <a:solidFill>
                  <a:srgbClr val="0B5D7A"/>
                </a:solidFill>
                <a:latin typeface="Aptos"/>
                <a:ea typeface="Aptos"/>
                <a:cs typeface="Aptos"/>
              </a:rPr>
              <a:t>EAD / CET1 / RWA</a:t>
            </a:r>
          </a:p>
        </p:txBody>
      </p:sp>
      <p:sp>
        <p:nvSpPr>
          <p:cNvPr id="61" name="Rectangle 60">
            <a:extLst>
              <a:ext uri="{FF2B5EF4-FFF2-40B4-BE49-F238E27FC236}">
                <a16:creationId xmlns:a16="http://schemas.microsoft.com/office/drawing/2014/main" id="{B94F2125-42E3-431B-9B56-97BE3F14CA74}"/>
              </a:ext>
            </a:extLst>
          </p:cNvPr>
          <p:cNvSpPr>
            <a:spLocks noGrp="1"/>
          </p:cNvSpPr>
          <p:nvPr/>
        </p:nvSpPr>
        <p:spPr>
          <a:xfrm>
            <a:off x="3524250" y="5638800"/>
            <a:ext cx="2286000" cy="257175"/>
          </a:xfrm>
          <a:prstGeom prst="rect">
            <a:avLst/>
          </a:prstGeom>
          <a:noFill/>
          <a:ln w="0">
            <a:noFill/>
            <a:prstDash val="solid"/>
          </a:ln>
        </p:spPr>
        <p:txBody>
          <a:bodyPr/>
          <a:lstStyle/>
          <a:p>
            <a:pPr algn="l">
              <a:defRPr sz="788" b="0" i="0">
                <a:solidFill>
                  <a:srgbClr val="4F6875"/>
                </a:solidFill>
                <a:latin typeface="Aptos"/>
                <a:ea typeface="Aptos"/>
                <a:cs typeface="Aptos"/>
              </a:defRPr>
            </a:pPr>
            <a:r>
              <a:rPr sz="788" b="0" i="0">
                <a:solidFill>
                  <a:srgbClr val="4F6875"/>
                </a:solidFill>
                <a:latin typeface="Aptos"/>
                <a:ea typeface="Aptos"/>
                <a:cs typeface="Aptos"/>
              </a:rPr>
              <a:t>Stammen aus der EBA Transparency Exercise.</a:t>
            </a:r>
          </a:p>
        </p:txBody>
      </p:sp>
      <p:sp>
        <p:nvSpPr>
          <p:cNvPr id="62" name="Rectangle: Rounded Corners 61">
            <a:extLst>
              <a:ext uri="{FF2B5EF4-FFF2-40B4-BE49-F238E27FC236}">
                <a16:creationId xmlns:a16="http://schemas.microsoft.com/office/drawing/2014/main" id="{B63A26BA-6B35-49B0-A994-0A67F1B719B0}"/>
              </a:ext>
            </a:extLst>
          </p:cNvPr>
          <p:cNvSpPr>
            <a:spLocks noGrp="1"/>
          </p:cNvSpPr>
          <p:nvPr/>
        </p:nvSpPr>
        <p:spPr>
          <a:xfrm>
            <a:off x="6124575" y="5314950"/>
            <a:ext cx="2571750" cy="790575"/>
          </a:xfrm>
          <a:prstGeom prst="roundRect">
            <a:avLst>
              <a:gd name="adj" fmla="val 17910"/>
            </a:avLst>
          </a:prstGeom>
          <a:solidFill>
            <a:srgbClr val="F8FAFB"/>
          </a:solidFill>
          <a:ln w="9525">
            <a:solidFill>
              <a:srgbClr val="D5E0E5"/>
            </a:solidFill>
            <a:prstDash val="solid"/>
          </a:ln>
        </p:spPr>
        <p:txBody>
          <a:bodyPr/>
          <a:lstStyle/>
          <a:p>
            <a:endParaRPr lang="en-US"/>
          </a:p>
        </p:txBody>
      </p:sp>
      <p:sp>
        <p:nvSpPr>
          <p:cNvPr id="63" name="Rectangle 62">
            <a:extLst>
              <a:ext uri="{FF2B5EF4-FFF2-40B4-BE49-F238E27FC236}">
                <a16:creationId xmlns:a16="http://schemas.microsoft.com/office/drawing/2014/main" id="{1BBF2470-38F2-4993-B566-9C94ECA7B2F6}"/>
              </a:ext>
            </a:extLst>
          </p:cNvPr>
          <p:cNvSpPr>
            <a:spLocks noGrp="1"/>
          </p:cNvSpPr>
          <p:nvPr/>
        </p:nvSpPr>
        <p:spPr>
          <a:xfrm>
            <a:off x="6104763" y="5415534"/>
            <a:ext cx="47625" cy="638175"/>
          </a:xfrm>
          <a:prstGeom prst="rect">
            <a:avLst/>
          </a:prstGeom>
          <a:solidFill>
            <a:srgbClr val="051C2C"/>
          </a:solidFill>
          <a:ln w="0">
            <a:noFill/>
            <a:prstDash val="solid"/>
          </a:ln>
        </p:spPr>
        <p:txBody>
          <a:bodyPr/>
          <a:lstStyle/>
          <a:p>
            <a:endParaRPr lang="en-US"/>
          </a:p>
        </p:txBody>
      </p:sp>
      <p:sp>
        <p:nvSpPr>
          <p:cNvPr id="64" name="Rectangle 63">
            <a:extLst>
              <a:ext uri="{FF2B5EF4-FFF2-40B4-BE49-F238E27FC236}">
                <a16:creationId xmlns:a16="http://schemas.microsoft.com/office/drawing/2014/main" id="{69B0EE4A-C785-40A7-872B-410064A876CC}"/>
              </a:ext>
            </a:extLst>
          </p:cNvPr>
          <p:cNvSpPr>
            <a:spLocks noGrp="1"/>
          </p:cNvSpPr>
          <p:nvPr/>
        </p:nvSpPr>
        <p:spPr>
          <a:xfrm>
            <a:off x="6267450" y="5272087"/>
            <a:ext cx="2286000" cy="161925"/>
          </a:xfrm>
          <a:prstGeom prst="rect">
            <a:avLst/>
          </a:prstGeom>
          <a:noFill/>
          <a:ln w="0">
            <a:noFill/>
            <a:prstDash val="solid"/>
          </a:ln>
        </p:spPr>
        <p:txBody>
          <a:bodyPr/>
          <a:lstStyle/>
          <a:p>
            <a:pPr algn="l">
              <a:defRPr sz="825" b="1" i="0">
                <a:solidFill>
                  <a:srgbClr val="051C2C"/>
                </a:solidFill>
                <a:latin typeface="Aptos"/>
                <a:ea typeface="Aptos"/>
                <a:cs typeface="Aptos"/>
              </a:defRPr>
            </a:pPr>
            <a:r>
              <a:rPr sz="825" b="1" i="0">
                <a:solidFill>
                  <a:srgbClr val="051C2C"/>
                </a:solidFill>
                <a:latin typeface="Aptos"/>
                <a:ea typeface="Aptos"/>
                <a:cs typeface="Aptos"/>
              </a:rPr>
              <a:t>K und 12,5</a:t>
            </a:r>
          </a:p>
        </p:txBody>
      </p:sp>
      <p:sp>
        <p:nvSpPr>
          <p:cNvPr id="65" name="Rectangle 64">
            <a:extLst>
              <a:ext uri="{FF2B5EF4-FFF2-40B4-BE49-F238E27FC236}">
                <a16:creationId xmlns:a16="http://schemas.microsoft.com/office/drawing/2014/main" id="{6A7FB8DF-D41A-4A52-ADBB-3ECAF49DC873}"/>
              </a:ext>
            </a:extLst>
          </p:cNvPr>
          <p:cNvSpPr>
            <a:spLocks noGrp="1"/>
          </p:cNvSpPr>
          <p:nvPr/>
        </p:nvSpPr>
        <p:spPr>
          <a:xfrm>
            <a:off x="6267450" y="5638800"/>
            <a:ext cx="2286000" cy="257175"/>
          </a:xfrm>
          <a:prstGeom prst="rect">
            <a:avLst/>
          </a:prstGeom>
          <a:noFill/>
          <a:ln w="0">
            <a:noFill/>
            <a:prstDash val="solid"/>
          </a:ln>
        </p:spPr>
        <p:txBody>
          <a:bodyPr/>
          <a:lstStyle/>
          <a:p>
            <a:pPr algn="l">
              <a:defRPr sz="788" b="0" i="0">
                <a:solidFill>
                  <a:srgbClr val="4F6875"/>
                </a:solidFill>
                <a:latin typeface="Aptos"/>
                <a:ea typeface="Aptos"/>
                <a:cs typeface="Aptos"/>
              </a:defRPr>
            </a:pPr>
            <a:r>
              <a:rPr sz="788" b="0" i="0">
                <a:solidFill>
                  <a:srgbClr val="4F6875"/>
                </a:solidFill>
                <a:latin typeface="Aptos"/>
                <a:ea typeface="Aptos"/>
                <a:cs typeface="Aptos"/>
              </a:rPr>
              <a:t>Basel III / CRR geben Formel und 8%-Umrechnung fest vor.</a:t>
            </a:r>
          </a:p>
        </p:txBody>
      </p:sp>
      <p:sp>
        <p:nvSpPr>
          <p:cNvPr id="66" name="Rectangle: Rounded Corners 65">
            <a:extLst>
              <a:ext uri="{FF2B5EF4-FFF2-40B4-BE49-F238E27FC236}">
                <a16:creationId xmlns:a16="http://schemas.microsoft.com/office/drawing/2014/main" id="{794E9213-ED0A-4B2A-8691-ED8557562690}"/>
              </a:ext>
            </a:extLst>
          </p:cNvPr>
          <p:cNvSpPr>
            <a:spLocks noGrp="1"/>
          </p:cNvSpPr>
          <p:nvPr/>
        </p:nvSpPr>
        <p:spPr>
          <a:xfrm>
            <a:off x="8867775" y="5314950"/>
            <a:ext cx="2571750" cy="790575"/>
          </a:xfrm>
          <a:prstGeom prst="roundRect">
            <a:avLst>
              <a:gd name="adj" fmla="val 17910"/>
            </a:avLst>
          </a:prstGeom>
          <a:solidFill>
            <a:srgbClr val="F3F6F7"/>
          </a:solidFill>
          <a:ln w="9525">
            <a:solidFill>
              <a:srgbClr val="D5E0E5"/>
            </a:solidFill>
            <a:prstDash val="solid"/>
          </a:ln>
        </p:spPr>
        <p:txBody>
          <a:bodyPr/>
          <a:lstStyle/>
          <a:p>
            <a:endParaRPr lang="en-US"/>
          </a:p>
        </p:txBody>
      </p:sp>
      <p:sp>
        <p:nvSpPr>
          <p:cNvPr id="67" name="Rectangle 66">
            <a:extLst>
              <a:ext uri="{FF2B5EF4-FFF2-40B4-BE49-F238E27FC236}">
                <a16:creationId xmlns:a16="http://schemas.microsoft.com/office/drawing/2014/main" id="{323BA9B0-ECDC-451C-AE41-179AB0C1B1BC}"/>
              </a:ext>
            </a:extLst>
          </p:cNvPr>
          <p:cNvSpPr>
            <a:spLocks noGrp="1"/>
          </p:cNvSpPr>
          <p:nvPr/>
        </p:nvSpPr>
        <p:spPr>
          <a:xfrm>
            <a:off x="8847963" y="5415534"/>
            <a:ext cx="47625" cy="638175"/>
          </a:xfrm>
          <a:prstGeom prst="rect">
            <a:avLst/>
          </a:prstGeom>
          <a:solidFill>
            <a:srgbClr val="D9A124"/>
          </a:solidFill>
          <a:ln w="0">
            <a:noFill/>
            <a:prstDash val="solid"/>
          </a:ln>
        </p:spPr>
        <p:txBody>
          <a:bodyPr/>
          <a:lstStyle/>
          <a:p>
            <a:endParaRPr lang="en-US"/>
          </a:p>
        </p:txBody>
      </p:sp>
      <p:sp>
        <p:nvSpPr>
          <p:cNvPr id="68" name="Rectangle 67">
            <a:extLst>
              <a:ext uri="{FF2B5EF4-FFF2-40B4-BE49-F238E27FC236}">
                <a16:creationId xmlns:a16="http://schemas.microsoft.com/office/drawing/2014/main" id="{3FCAFFAF-508B-4D7A-AF50-31AF2096A8E4}"/>
              </a:ext>
            </a:extLst>
          </p:cNvPr>
          <p:cNvSpPr>
            <a:spLocks noGrp="1"/>
          </p:cNvSpPr>
          <p:nvPr/>
        </p:nvSpPr>
        <p:spPr>
          <a:xfrm>
            <a:off x="9010650" y="5272087"/>
            <a:ext cx="2286000" cy="161925"/>
          </a:xfrm>
          <a:prstGeom prst="rect">
            <a:avLst/>
          </a:prstGeom>
          <a:noFill/>
          <a:ln w="0">
            <a:noFill/>
            <a:prstDash val="solid"/>
          </a:ln>
        </p:spPr>
        <p:txBody>
          <a:bodyPr/>
          <a:lstStyle/>
          <a:p>
            <a:pPr algn="l">
              <a:defRPr sz="825" b="1" i="0">
                <a:solidFill>
                  <a:srgbClr val="D9A124"/>
                </a:solidFill>
                <a:latin typeface="Aptos"/>
                <a:ea typeface="Aptos"/>
                <a:cs typeface="Aptos"/>
              </a:defRPr>
            </a:pPr>
            <a:r>
              <a:rPr sz="825" b="1" i="0">
                <a:solidFill>
                  <a:srgbClr val="D9A124"/>
                </a:solidFill>
                <a:latin typeface="Aptos"/>
                <a:ea typeface="Aptos"/>
                <a:cs typeface="Aptos"/>
              </a:rPr>
              <a:t>Sovereign ΔFV</a:t>
            </a:r>
          </a:p>
        </p:txBody>
      </p:sp>
      <p:sp>
        <p:nvSpPr>
          <p:cNvPr id="69" name="Rectangle 68">
            <a:extLst>
              <a:ext uri="{FF2B5EF4-FFF2-40B4-BE49-F238E27FC236}">
                <a16:creationId xmlns:a16="http://schemas.microsoft.com/office/drawing/2014/main" id="{E55E426E-529C-4E83-8F92-9AF32172FC06}"/>
              </a:ext>
            </a:extLst>
          </p:cNvPr>
          <p:cNvSpPr>
            <a:spLocks noGrp="1"/>
          </p:cNvSpPr>
          <p:nvPr/>
        </p:nvSpPr>
        <p:spPr>
          <a:xfrm>
            <a:off x="8891587" y="5393436"/>
            <a:ext cx="2633663" cy="762000"/>
          </a:xfrm>
          <a:prstGeom prst="rect">
            <a:avLst/>
          </a:prstGeom>
          <a:noFill/>
          <a:ln w="0">
            <a:noFill/>
            <a:prstDash val="solid"/>
          </a:ln>
        </p:spPr>
        <p:txBody>
          <a:bodyPr/>
          <a:lstStyle/>
          <a:p>
            <a:pPr algn="l">
              <a:defRPr sz="788" b="0" i="0">
                <a:solidFill>
                  <a:srgbClr val="4F6875"/>
                </a:solidFill>
                <a:latin typeface="Aptos"/>
                <a:ea typeface="Aptos"/>
                <a:cs typeface="Aptos"/>
              </a:defRPr>
            </a:pPr>
            <a:r>
              <a:rPr lang="el-GR" sz="788" b="0" i="0">
                <a:solidFill>
                  <a:srgbClr val="4F6875"/>
                </a:solidFill>
                <a:latin typeface="Aptos"/>
                <a:ea typeface="Aptos"/>
                <a:cs typeface="Aptos"/>
              </a:rPr>
              <a:t>Δ</a:t>
            </a:r>
            <a:r>
              <a:rPr lang="en-US" sz="788" b="0" i="0">
                <a:solidFill>
                  <a:srgbClr val="4F6875"/>
                </a:solidFill>
                <a:latin typeface="Aptos"/>
                <a:ea typeface="Aptos"/>
                <a:cs typeface="Aptos"/>
              </a:rPr>
              <a:t>FV = −D × (</a:t>
            </a:r>
            <a:r>
              <a:rPr lang="el-GR" sz="788" b="0" i="0">
                <a:solidFill>
                  <a:srgbClr val="4F6875"/>
                </a:solidFill>
                <a:latin typeface="Aptos"/>
                <a:ea typeface="Aptos"/>
                <a:cs typeface="Aptos"/>
              </a:rPr>
              <a:t>Δ</a:t>
            </a:r>
            <a:r>
              <a:rPr lang="en-US" sz="788" b="0" i="0">
                <a:solidFill>
                  <a:srgbClr val="4F6875"/>
                </a:solidFill>
                <a:latin typeface="Aptos"/>
                <a:ea typeface="Aptos"/>
                <a:cs typeface="Aptos"/>
              </a:rPr>
              <a:t>r/100) × Bestand: </a:t>
            </a:r>
            <a:r>
              <a:rPr lang="el-GR" sz="788" b="0" i="0">
                <a:solidFill>
                  <a:srgbClr val="4F6875"/>
                </a:solidFill>
                <a:latin typeface="Aptos"/>
                <a:ea typeface="Aptos"/>
                <a:cs typeface="Aptos"/>
              </a:rPr>
              <a:t>Δ</a:t>
            </a:r>
            <a:r>
              <a:rPr lang="en-US" sz="788" b="0" i="0">
                <a:solidFill>
                  <a:srgbClr val="4F6875"/>
                </a:solidFill>
                <a:latin typeface="Aptos"/>
                <a:ea typeface="Aptos"/>
                <a:cs typeface="Aptos"/>
              </a:rPr>
              <a:t>FV = Marktwertänderung, D = </a:t>
            </a:r>
            <a:r>
              <a:rPr lang="en-US" sz="788" b="0" i="0" err="1">
                <a:solidFill>
                  <a:srgbClr val="4F6875"/>
                </a:solidFill>
                <a:latin typeface="Aptos"/>
                <a:ea typeface="Aptos"/>
                <a:cs typeface="Aptos"/>
              </a:rPr>
              <a:t>Zinssensitivität</a:t>
            </a:r>
            <a:r>
              <a:rPr lang="en-US" sz="788" b="0" i="0">
                <a:solidFill>
                  <a:srgbClr val="4F6875"/>
                </a:solidFill>
                <a:latin typeface="Aptos"/>
                <a:ea typeface="Aptos"/>
                <a:cs typeface="Aptos"/>
              </a:rPr>
              <a:t>, </a:t>
            </a:r>
            <a:r>
              <a:rPr lang="el-GR" sz="788" b="0" i="0">
                <a:solidFill>
                  <a:srgbClr val="4F6875"/>
                </a:solidFill>
                <a:latin typeface="Aptos"/>
                <a:ea typeface="Aptos"/>
                <a:cs typeface="Aptos"/>
              </a:rPr>
              <a:t>Δ</a:t>
            </a:r>
            <a:r>
              <a:rPr lang="en-US" sz="788" b="0" i="0">
                <a:solidFill>
                  <a:srgbClr val="4F6875"/>
                </a:solidFill>
                <a:latin typeface="Aptos"/>
                <a:ea typeface="Aptos"/>
                <a:cs typeface="Aptos"/>
              </a:rPr>
              <a:t>r = Zinsänderung; steigende Zinsen </a:t>
            </a:r>
            <a:r>
              <a:rPr lang="en-US" sz="788" b="0" i="0" err="1">
                <a:solidFill>
                  <a:srgbClr val="4F6875"/>
                </a:solidFill>
                <a:latin typeface="Aptos"/>
                <a:ea typeface="Aptos"/>
                <a:cs typeface="Aptos"/>
              </a:rPr>
              <a:t>erzeugen</a:t>
            </a:r>
            <a:r>
              <a:rPr lang="en-US" sz="788" b="0" i="0">
                <a:solidFill>
                  <a:srgbClr val="4F6875"/>
                </a:solidFill>
                <a:latin typeface="Aptos"/>
                <a:ea typeface="Aptos"/>
                <a:cs typeface="Aptos"/>
              </a:rPr>
              <a:t> </a:t>
            </a:r>
            <a:r>
              <a:rPr lang="en-US" sz="788" b="0" i="0" err="1">
                <a:solidFill>
                  <a:srgbClr val="4F6875"/>
                </a:solidFill>
                <a:latin typeface="Aptos"/>
                <a:ea typeface="Aptos"/>
                <a:cs typeface="Aptos"/>
              </a:rPr>
              <a:t>ein</a:t>
            </a:r>
            <a:r>
              <a:rPr lang="en-US" sz="788" b="0" i="0">
                <a:solidFill>
                  <a:srgbClr val="4F6875"/>
                </a:solidFill>
                <a:latin typeface="Aptos"/>
                <a:ea typeface="Aptos"/>
                <a:cs typeface="Aptos"/>
              </a:rPr>
              <a:t> negatives </a:t>
            </a:r>
            <a:r>
              <a:rPr lang="el-GR" sz="788" b="0" i="0">
                <a:solidFill>
                  <a:srgbClr val="4F6875"/>
                </a:solidFill>
                <a:latin typeface="Aptos"/>
                <a:ea typeface="Aptos"/>
                <a:cs typeface="Aptos"/>
              </a:rPr>
              <a:t>Δ</a:t>
            </a:r>
            <a:r>
              <a:rPr lang="en-US" sz="788" b="0" i="0">
                <a:solidFill>
                  <a:srgbClr val="4F6875"/>
                </a:solidFill>
                <a:latin typeface="Aptos"/>
                <a:ea typeface="Aptos"/>
                <a:cs typeface="Aptos"/>
              </a:rPr>
              <a:t>FV, </a:t>
            </a:r>
            <a:r>
              <a:rPr lang="en-US" sz="788" b="0" i="0" err="1">
                <a:solidFill>
                  <a:srgbClr val="4F6875"/>
                </a:solidFill>
                <a:latin typeface="Aptos"/>
                <a:ea typeface="Aptos"/>
                <a:cs typeface="Aptos"/>
              </a:rPr>
              <a:t>daher</a:t>
            </a:r>
            <a:r>
              <a:rPr lang="en-US" sz="788" b="0" i="0">
                <a:solidFill>
                  <a:srgbClr val="4F6875"/>
                </a:solidFill>
                <a:latin typeface="Aptos"/>
                <a:ea typeface="Aptos"/>
                <a:cs typeface="Aptos"/>
              </a:rPr>
              <a:t> </a:t>
            </a:r>
            <a:r>
              <a:rPr lang="en-US" sz="788" b="0" i="0" err="1">
                <a:solidFill>
                  <a:srgbClr val="4F6875"/>
                </a:solidFill>
                <a:latin typeface="Aptos"/>
                <a:ea typeface="Aptos"/>
                <a:cs typeface="Aptos"/>
              </a:rPr>
              <a:t>reduziert</a:t>
            </a:r>
            <a:r>
              <a:rPr lang="en-US" sz="788" b="0" i="0">
                <a:solidFill>
                  <a:srgbClr val="4F6875"/>
                </a:solidFill>
                <a:latin typeface="Aptos"/>
                <a:ea typeface="Aptos"/>
                <a:cs typeface="Aptos"/>
              </a:rPr>
              <a:t> + </a:t>
            </a:r>
            <a:r>
              <a:rPr lang="el-GR" sz="788" b="0" i="0">
                <a:solidFill>
                  <a:srgbClr val="4F6875"/>
                </a:solidFill>
                <a:latin typeface="Aptos"/>
                <a:ea typeface="Aptos"/>
                <a:cs typeface="Aptos"/>
              </a:rPr>
              <a:t>Δ</a:t>
            </a:r>
            <a:r>
              <a:rPr lang="en-US" sz="788" b="0" i="0">
                <a:solidFill>
                  <a:srgbClr val="4F6875"/>
                </a:solidFill>
                <a:latin typeface="Aptos"/>
                <a:ea typeface="Aptos"/>
                <a:cs typeface="Aptos"/>
              </a:rPr>
              <a:t>FV den CET1-Zähler; CET1-wirksam </a:t>
            </a:r>
            <a:r>
              <a:rPr lang="en-US" sz="788" b="0" i="0" err="1">
                <a:solidFill>
                  <a:srgbClr val="4F6875"/>
                </a:solidFill>
                <a:latin typeface="Aptos"/>
                <a:ea typeface="Aptos"/>
                <a:cs typeface="Aptos"/>
              </a:rPr>
              <a:t>sind</a:t>
            </a:r>
            <a:r>
              <a:rPr lang="en-US" sz="788" b="0" i="0">
                <a:solidFill>
                  <a:srgbClr val="4F6875"/>
                </a:solidFill>
                <a:latin typeface="Aptos"/>
                <a:ea typeface="Aptos"/>
                <a:cs typeface="Aptos"/>
              </a:rPr>
              <a:t> </a:t>
            </a:r>
            <a:r>
              <a:rPr lang="en-US" sz="788" b="0" i="0" err="1">
                <a:solidFill>
                  <a:srgbClr val="4F6875"/>
                </a:solidFill>
                <a:latin typeface="Aptos"/>
                <a:ea typeface="Aptos"/>
                <a:cs typeface="Aptos"/>
              </a:rPr>
              <a:t>HfT</a:t>
            </a:r>
            <a:r>
              <a:rPr lang="en-US" sz="788" b="0" i="0">
                <a:solidFill>
                  <a:srgbClr val="4F6875"/>
                </a:solidFill>
                <a:latin typeface="Aptos"/>
                <a:ea typeface="Aptos"/>
                <a:cs typeface="Aptos"/>
              </a:rPr>
              <a:t>, FVTPL und FVOCI, nicht AC.</a:t>
            </a:r>
            <a:endParaRPr sz="788" b="0" i="0">
              <a:solidFill>
                <a:srgbClr val="4F6875"/>
              </a:solidFill>
              <a:latin typeface="Aptos"/>
              <a:ea typeface="Aptos"/>
              <a:cs typeface="Aptos"/>
            </a:endParaRPr>
          </a:p>
        </p:txBody>
      </p:sp>
      <p:sp>
        <p:nvSpPr>
          <p:cNvPr id="70" name="Rectangle 69">
            <a:extLst>
              <a:ext uri="{FF2B5EF4-FFF2-40B4-BE49-F238E27FC236}">
                <a16:creationId xmlns:a16="http://schemas.microsoft.com/office/drawing/2014/main" id="{B951DE87-88EB-4B9A-B528-C910F6970659}"/>
              </a:ext>
            </a:extLst>
          </p:cNvPr>
          <p:cNvSpPr>
            <a:spLocks noGrp="1"/>
          </p:cNvSpPr>
          <p:nvPr/>
        </p:nvSpPr>
        <p:spPr>
          <a:xfrm>
            <a:off x="457200" y="6486525"/>
            <a:ext cx="10382250" cy="152400"/>
          </a:xfrm>
          <a:prstGeom prst="rect">
            <a:avLst/>
          </a:prstGeom>
          <a:noFill/>
          <a:ln w="0">
            <a:noFill/>
            <a:prstDash val="solid"/>
          </a:ln>
        </p:spPr>
        <p:txBody>
          <a:bodyPr/>
          <a:lstStyle/>
          <a:p>
            <a:pPr algn="l">
              <a:defRPr sz="653" b="0" i="0">
                <a:solidFill>
                  <a:srgbClr val="71858F"/>
                </a:solidFill>
                <a:latin typeface="Aptos"/>
                <a:ea typeface="Aptos"/>
                <a:cs typeface="Aptos"/>
              </a:defRPr>
            </a:pPr>
            <a:r>
              <a:rPr sz="653" b="0" i="0">
                <a:solidFill>
                  <a:srgbClr val="71858F"/>
                </a:solidFill>
                <a:latin typeface="Aptos"/>
                <a:ea typeface="Aptos"/>
                <a:cs typeface="Aptos"/>
              </a:rPr>
              <a:t>Prämissen ΔFV: paralleler Zinsschock · Duration ≈ Laufzeitband-Mittelpunkt; &gt;10 Jahre = 15 Jahre · keine Spread-, Hedge- oder Konvexitätseffekte.</a:t>
            </a:r>
          </a:p>
        </p:txBody>
      </p:sp>
      <p:sp>
        <p:nvSpPr>
          <p:cNvPr id="5" name="CodexSlideNumber">
            <a:extLst>
              <a:ext uri="{FF2B5EF4-FFF2-40B4-BE49-F238E27FC236}">
                <a16:creationId xmlns:a16="http://schemas.microsoft.com/office/drawing/2014/main" id="{7FEC094F-F0B6-C65C-2E7A-0D62BD284F81}"/>
              </a:ext>
            </a:extLst>
          </p:cNvPr>
          <p:cNvSpPr txBox="1"/>
          <p:nvPr/>
        </p:nvSpPr>
        <p:spPr>
          <a:xfrm>
            <a:off x="11226800" y="6553200"/>
            <a:ext cx="736600" cy="123111"/>
          </a:xfrm>
          <a:prstGeom prst="rect">
            <a:avLst/>
          </a:prstGeom>
          <a:noFill/>
        </p:spPr>
        <p:txBody>
          <a:bodyPr vert="horz" lIns="0" tIns="0" rIns="0" bIns="0" rtlCol="0">
            <a:spAutoFit/>
          </a:bodyPr>
          <a:lstStyle/>
          <a:p>
            <a:pPr algn="r"/>
            <a:r>
              <a:rPr lang="en-US" sz="800">
                <a:solidFill>
                  <a:srgbClr val="525252"/>
                </a:solidFill>
                <a:latin typeface="Arial" panose="020B0604020202020204" pitchFamily="34" charset="0"/>
              </a:rPr>
              <a:t>5 / 64</a:t>
            </a:r>
          </a:p>
        </p:txBody>
      </p:sp>
    </p:spTree>
    <p:extLst>
      <p:ext uri="{BB962C8B-B14F-4D97-AF65-F5344CB8AC3E}">
        <p14:creationId xmlns:p14="http://schemas.microsoft.com/office/powerpoint/2010/main" val="16862396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EE2E82E-DA82-4710-88D1-FBC5340E4956}"/>
              </a:ext>
            </a:extLst>
          </p:cNvPr>
          <p:cNvSpPr>
            <a:spLocks noGrp="1"/>
          </p:cNvSpPr>
          <p:nvPr/>
        </p:nvSpPr>
        <p:spPr>
          <a:xfrm>
            <a:off x="457200" y="228600"/>
            <a:ext cx="4572000" cy="171450"/>
          </a:xfrm>
          <a:prstGeom prst="rect">
            <a:avLst/>
          </a:prstGeom>
          <a:noFill/>
          <a:ln w="0">
            <a:noFill/>
            <a:prstDash val="solid"/>
          </a:ln>
        </p:spPr>
        <p:txBody>
          <a:bodyPr/>
          <a:lstStyle/>
          <a:p>
            <a:pPr algn="l">
              <a:defRPr sz="863" b="1" i="0">
                <a:solidFill>
                  <a:srgbClr val="A52F4D"/>
                </a:solidFill>
                <a:latin typeface="Aptos"/>
                <a:ea typeface="Aptos"/>
                <a:cs typeface="Aptos"/>
              </a:defRPr>
            </a:pPr>
            <a:r>
              <a:rPr lang="en-GB" sz="863" b="1" i="0">
                <a:solidFill>
                  <a:schemeClr val="tx2"/>
                </a:solidFill>
                <a:latin typeface="Aptos"/>
                <a:ea typeface="Aptos"/>
                <a:cs typeface="Aptos"/>
              </a:rPr>
              <a:t>KAPITEL 1 · ZIELGRÖSSE</a:t>
            </a:r>
          </a:p>
        </p:txBody>
      </p:sp>
      <p:sp>
        <p:nvSpPr>
          <p:cNvPr id="3" name="Rectangle 2">
            <a:extLst>
              <a:ext uri="{FF2B5EF4-FFF2-40B4-BE49-F238E27FC236}">
                <a16:creationId xmlns:a16="http://schemas.microsoft.com/office/drawing/2014/main" id="{E9227DE3-94D0-4569-A315-43B237BE1FD4}"/>
              </a:ext>
            </a:extLst>
          </p:cNvPr>
          <p:cNvSpPr>
            <a:spLocks noGrp="1"/>
          </p:cNvSpPr>
          <p:nvPr/>
        </p:nvSpPr>
        <p:spPr>
          <a:xfrm>
            <a:off x="457200" y="457200"/>
            <a:ext cx="11191875" cy="409575"/>
          </a:xfrm>
          <a:prstGeom prst="rect">
            <a:avLst/>
          </a:prstGeom>
          <a:noFill/>
          <a:ln w="0">
            <a:noFill/>
            <a:prstDash val="solid"/>
          </a:ln>
        </p:spPr>
        <p:txBody>
          <a:bodyPr/>
          <a:lstStyle/>
          <a:p>
            <a:pPr algn="l">
              <a:defRPr sz="2475" b="1" i="0">
                <a:solidFill>
                  <a:srgbClr val="051C2C"/>
                </a:solidFill>
                <a:latin typeface="Aptos Display"/>
                <a:ea typeface="Aptos Display"/>
                <a:cs typeface="Aptos Display"/>
              </a:defRPr>
            </a:pPr>
            <a:r>
              <a:rPr sz="2475" b="1" i="0">
                <a:solidFill>
                  <a:srgbClr val="051C2C"/>
                </a:solidFill>
                <a:latin typeface="Aptos Display"/>
                <a:ea typeface="Aptos Display"/>
                <a:cs typeface="Aptos Display"/>
              </a:rPr>
              <a:t>CET1 fällt gleichzeitig über den Zähler und den RWA-Nenner</a:t>
            </a:r>
          </a:p>
        </p:txBody>
      </p:sp>
      <p:sp>
        <p:nvSpPr>
          <p:cNvPr id="4" name="Rectangle 3">
            <a:extLst>
              <a:ext uri="{FF2B5EF4-FFF2-40B4-BE49-F238E27FC236}">
                <a16:creationId xmlns:a16="http://schemas.microsoft.com/office/drawing/2014/main" id="{694A8793-3D88-4E55-B52D-BBA76A37ED53}"/>
              </a:ext>
            </a:extLst>
          </p:cNvPr>
          <p:cNvSpPr>
            <a:spLocks noGrp="1"/>
          </p:cNvSpPr>
          <p:nvPr/>
        </p:nvSpPr>
        <p:spPr>
          <a:xfrm>
            <a:off x="457200" y="914400"/>
            <a:ext cx="11096625" cy="228600"/>
          </a:xfrm>
          <a:prstGeom prst="rect">
            <a:avLst/>
          </a:prstGeom>
          <a:noFill/>
          <a:ln w="0">
            <a:noFill/>
            <a:prstDash val="solid"/>
          </a:ln>
        </p:spPr>
        <p:txBody>
          <a:bodyPr/>
          <a:lstStyle/>
          <a:p>
            <a:pPr algn="l">
              <a:defRPr sz="1125" b="0" i="0">
                <a:solidFill>
                  <a:srgbClr val="4F6875"/>
                </a:solidFill>
                <a:latin typeface="Aptos"/>
                <a:ea typeface="Aptos"/>
                <a:cs typeface="Aptos"/>
              </a:defRPr>
            </a:pPr>
            <a:r>
              <a:rPr sz="1125" b="0" i="0">
                <a:solidFill>
                  <a:srgbClr val="4F6875"/>
                </a:solidFill>
                <a:latin typeface="Aptos"/>
                <a:ea typeface="Aptos"/>
                <a:cs typeface="Aptos"/>
              </a:rPr>
              <a:t>Das Modell verbindet Kreditvorsorge, Marktwertverluste und zusätzliche RWA in einer konsistenten Kapitalgleichung.</a:t>
            </a:r>
          </a:p>
        </p:txBody>
      </p:sp>
      <p:sp>
        <p:nvSpPr>
          <p:cNvPr id="6" name="Rectangle: Rounded Corners 5">
            <a:extLst>
              <a:ext uri="{FF2B5EF4-FFF2-40B4-BE49-F238E27FC236}">
                <a16:creationId xmlns:a16="http://schemas.microsoft.com/office/drawing/2014/main" id="{3A4E20AA-93C9-45BA-8BAA-E98409E1A008}"/>
              </a:ext>
            </a:extLst>
          </p:cNvPr>
          <p:cNvSpPr>
            <a:spLocks noGrp="1"/>
          </p:cNvSpPr>
          <p:nvPr/>
        </p:nvSpPr>
        <p:spPr>
          <a:xfrm>
            <a:off x="457200" y="1438275"/>
            <a:ext cx="6953250" cy="2428875"/>
          </a:xfrm>
          <a:prstGeom prst="roundRect">
            <a:avLst>
              <a:gd name="adj" fmla="val 4706"/>
            </a:avLst>
          </a:prstGeom>
          <a:solidFill>
            <a:srgbClr val="051C2C"/>
          </a:solidFill>
          <a:ln w="9525">
            <a:solidFill>
              <a:srgbClr val="051C2C"/>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7" name="Rectangle 6">
            <a:extLst>
              <a:ext uri="{FF2B5EF4-FFF2-40B4-BE49-F238E27FC236}">
                <a16:creationId xmlns:a16="http://schemas.microsoft.com/office/drawing/2014/main" id="{97F2A24F-FF29-4740-9F65-D9AAB60545E3}"/>
              </a:ext>
            </a:extLst>
          </p:cNvPr>
          <p:cNvSpPr>
            <a:spLocks noGrp="1"/>
          </p:cNvSpPr>
          <p:nvPr/>
        </p:nvSpPr>
        <p:spPr>
          <a:xfrm>
            <a:off x="704850" y="1657350"/>
            <a:ext cx="2381250" cy="171450"/>
          </a:xfrm>
          <a:prstGeom prst="rect">
            <a:avLst/>
          </a:prstGeom>
          <a:noFill/>
          <a:ln w="0">
            <a:noFill/>
            <a:prstDash val="solid"/>
          </a:ln>
        </p:spPr>
        <p:txBody>
          <a:bodyPr/>
          <a:lstStyle/>
          <a:p>
            <a:pPr algn="l">
              <a:defRPr sz="825" b="1" i="0">
                <a:solidFill>
                  <a:srgbClr val="BCD0D9"/>
                </a:solidFill>
                <a:latin typeface="Aptos"/>
                <a:ea typeface="Aptos"/>
                <a:cs typeface="Aptos"/>
              </a:defRPr>
            </a:pPr>
            <a:r>
              <a:rPr sz="825" b="1" i="0">
                <a:solidFill>
                  <a:srgbClr val="BCD0D9"/>
                </a:solidFill>
                <a:latin typeface="Aptos"/>
                <a:ea typeface="Aptos"/>
                <a:cs typeface="Aptos"/>
              </a:rPr>
              <a:t>GESTRESSTE CET1-QUOTE</a:t>
            </a:r>
          </a:p>
        </p:txBody>
      </p:sp>
      <p:sp>
        <p:nvSpPr>
          <p:cNvPr id="8" name="Rectangle 7">
            <a:extLst>
              <a:ext uri="{FF2B5EF4-FFF2-40B4-BE49-F238E27FC236}">
                <a16:creationId xmlns:a16="http://schemas.microsoft.com/office/drawing/2014/main" id="{780631E7-A97C-48E0-8D8D-98C33FFF952F}"/>
              </a:ext>
            </a:extLst>
          </p:cNvPr>
          <p:cNvSpPr>
            <a:spLocks noGrp="1"/>
          </p:cNvSpPr>
          <p:nvPr/>
        </p:nvSpPr>
        <p:spPr>
          <a:xfrm>
            <a:off x="904875" y="2124075"/>
            <a:ext cx="6048375" cy="342900"/>
          </a:xfrm>
          <a:prstGeom prst="rect">
            <a:avLst/>
          </a:prstGeom>
          <a:noFill/>
          <a:ln w="0">
            <a:noFill/>
            <a:prstDash val="solid"/>
          </a:ln>
        </p:spPr>
        <p:txBody>
          <a:bodyPr/>
          <a:lstStyle/>
          <a:p>
            <a:pPr algn="ctr">
              <a:defRPr sz="1875" b="1" i="0">
                <a:solidFill>
                  <a:srgbClr val="FFFFFF"/>
                </a:solidFill>
                <a:latin typeface="Aptos Display"/>
                <a:ea typeface="Aptos Display"/>
                <a:cs typeface="Aptos Display"/>
              </a:defRPr>
            </a:pPr>
            <a:r>
              <a:rPr sz="1875" b="1" i="0">
                <a:solidFill>
                  <a:srgbClr val="FFFFFF"/>
                </a:solidFill>
                <a:latin typeface="Aptos Display"/>
                <a:ea typeface="Aptos Display"/>
                <a:cs typeface="Aptos Display"/>
              </a:rPr>
              <a:t>CET1₀  −  ΔEL Kreditbuch  +  ΔFV Sovereigns</a:t>
            </a:r>
          </a:p>
        </p:txBody>
      </p:sp>
      <p:sp>
        <p:nvSpPr>
          <p:cNvPr id="9" name="Rectangle 8">
            <a:extLst>
              <a:ext uri="{FF2B5EF4-FFF2-40B4-BE49-F238E27FC236}">
                <a16:creationId xmlns:a16="http://schemas.microsoft.com/office/drawing/2014/main" id="{B642C775-5FD4-4D87-B93F-5F07062999F3}"/>
              </a:ext>
            </a:extLst>
          </p:cNvPr>
          <p:cNvSpPr>
            <a:spLocks noGrp="1"/>
          </p:cNvSpPr>
          <p:nvPr/>
        </p:nvSpPr>
        <p:spPr>
          <a:xfrm>
            <a:off x="1123950" y="2609850"/>
            <a:ext cx="5619750" cy="19050"/>
          </a:xfrm>
          <a:prstGeom prst="rect">
            <a:avLst/>
          </a:prstGeom>
          <a:solidFill>
            <a:srgbClr val="8299A5"/>
          </a:solidFill>
          <a:ln w="0">
            <a:noFill/>
            <a:prstDash val="solid"/>
          </a:ln>
        </p:spPr>
        <p:txBody>
          <a:bodyPr/>
          <a:lstStyle/>
          <a:p>
            <a:endParaRPr lang="en-US"/>
          </a:p>
        </p:txBody>
      </p:sp>
      <p:sp>
        <p:nvSpPr>
          <p:cNvPr id="10" name="Rectangle 9">
            <a:extLst>
              <a:ext uri="{FF2B5EF4-FFF2-40B4-BE49-F238E27FC236}">
                <a16:creationId xmlns:a16="http://schemas.microsoft.com/office/drawing/2014/main" id="{4D9926A7-62A3-4AA5-B5E0-C2F014FA4B28}"/>
              </a:ext>
            </a:extLst>
          </p:cNvPr>
          <p:cNvSpPr>
            <a:spLocks noGrp="1"/>
          </p:cNvSpPr>
          <p:nvPr/>
        </p:nvSpPr>
        <p:spPr>
          <a:xfrm>
            <a:off x="1619250" y="2800350"/>
            <a:ext cx="4619625" cy="342900"/>
          </a:xfrm>
          <a:prstGeom prst="rect">
            <a:avLst/>
          </a:prstGeom>
          <a:noFill/>
          <a:ln w="0">
            <a:noFill/>
            <a:prstDash val="solid"/>
          </a:ln>
        </p:spPr>
        <p:txBody>
          <a:bodyPr/>
          <a:lstStyle/>
          <a:p>
            <a:pPr algn="ctr">
              <a:defRPr sz="1875" b="1" i="0">
                <a:solidFill>
                  <a:srgbClr val="FFFFFF"/>
                </a:solidFill>
                <a:latin typeface="Aptos Display"/>
                <a:ea typeface="Aptos Display"/>
                <a:cs typeface="Aptos Display"/>
              </a:defRPr>
            </a:pPr>
            <a:r>
              <a:rPr sz="1875" b="1" i="0">
                <a:solidFill>
                  <a:srgbClr val="FFFFFF"/>
                </a:solidFill>
                <a:latin typeface="Aptos Display"/>
                <a:ea typeface="Aptos Display"/>
                <a:cs typeface="Aptos Display"/>
              </a:rPr>
              <a:t>RWA₀  +  ΔRWA Kreditbuch</a:t>
            </a:r>
          </a:p>
        </p:txBody>
      </p:sp>
      <p:sp>
        <p:nvSpPr>
          <p:cNvPr id="11" name="Rectangle 10">
            <a:extLst>
              <a:ext uri="{FF2B5EF4-FFF2-40B4-BE49-F238E27FC236}">
                <a16:creationId xmlns:a16="http://schemas.microsoft.com/office/drawing/2014/main" id="{F66AF06B-1127-46B7-8A99-941B4BDF7378}"/>
              </a:ext>
            </a:extLst>
          </p:cNvPr>
          <p:cNvSpPr>
            <a:spLocks noGrp="1"/>
          </p:cNvSpPr>
          <p:nvPr/>
        </p:nvSpPr>
        <p:spPr>
          <a:xfrm>
            <a:off x="800100" y="3400425"/>
            <a:ext cx="1333500" cy="171450"/>
          </a:xfrm>
          <a:prstGeom prst="rect">
            <a:avLst/>
          </a:prstGeom>
          <a:noFill/>
          <a:ln w="0">
            <a:noFill/>
            <a:prstDash val="solid"/>
          </a:ln>
        </p:spPr>
        <p:txBody>
          <a:bodyPr/>
          <a:lstStyle/>
          <a:p>
            <a:pPr algn="l">
              <a:defRPr sz="825" b="1" i="0">
                <a:solidFill>
                  <a:srgbClr val="E8B6C2"/>
                </a:solidFill>
                <a:latin typeface="Aptos"/>
                <a:ea typeface="Aptos"/>
                <a:cs typeface="Aptos"/>
              </a:defRPr>
            </a:pPr>
            <a:r>
              <a:rPr sz="825" b="1" i="0">
                <a:solidFill>
                  <a:srgbClr val="E8B6C2"/>
                </a:solidFill>
                <a:latin typeface="Aptos"/>
                <a:ea typeface="Aptos"/>
                <a:cs typeface="Aptos"/>
              </a:rPr>
              <a:t>Zählerwirkung</a:t>
            </a:r>
          </a:p>
        </p:txBody>
      </p:sp>
      <p:sp>
        <p:nvSpPr>
          <p:cNvPr id="12" name="Rectangle 11">
            <a:extLst>
              <a:ext uri="{FF2B5EF4-FFF2-40B4-BE49-F238E27FC236}">
                <a16:creationId xmlns:a16="http://schemas.microsoft.com/office/drawing/2014/main" id="{32FE9ABF-2C64-45FA-8394-052908D2BE52}"/>
              </a:ext>
            </a:extLst>
          </p:cNvPr>
          <p:cNvSpPr>
            <a:spLocks noGrp="1"/>
          </p:cNvSpPr>
          <p:nvPr/>
        </p:nvSpPr>
        <p:spPr>
          <a:xfrm>
            <a:off x="2000250" y="3390900"/>
            <a:ext cx="4667250" cy="180975"/>
          </a:xfrm>
          <a:prstGeom prst="rect">
            <a:avLst/>
          </a:prstGeom>
          <a:noFill/>
          <a:ln w="0">
            <a:noFill/>
            <a:prstDash val="solid"/>
          </a:ln>
        </p:spPr>
        <p:txBody>
          <a:bodyPr/>
          <a:lstStyle/>
          <a:p>
            <a:pPr algn="l">
              <a:defRPr sz="938" b="0" i="0">
                <a:solidFill>
                  <a:srgbClr val="E4EEF2"/>
                </a:solidFill>
                <a:latin typeface="Aptos"/>
                <a:ea typeface="Aptos"/>
                <a:cs typeface="Aptos"/>
              </a:defRPr>
            </a:pPr>
            <a:r>
              <a:rPr sz="938" b="0" i="0">
                <a:solidFill>
                  <a:srgbClr val="E4EEF2"/>
                </a:solidFill>
                <a:latin typeface="Aptos"/>
                <a:ea typeface="Aptos"/>
                <a:cs typeface="Aptos"/>
              </a:rPr>
              <a:t>Vorsorge und Sovereign-MtM reduzieren hartes Kernkapital</a:t>
            </a:r>
          </a:p>
        </p:txBody>
      </p:sp>
      <p:sp>
        <p:nvSpPr>
          <p:cNvPr id="13" name="Rectangle: Rounded Corners 12">
            <a:extLst>
              <a:ext uri="{FF2B5EF4-FFF2-40B4-BE49-F238E27FC236}">
                <a16:creationId xmlns:a16="http://schemas.microsoft.com/office/drawing/2014/main" id="{7EEA8EDF-8060-4A29-8010-A53AF17EA22A}"/>
              </a:ext>
            </a:extLst>
          </p:cNvPr>
          <p:cNvSpPr>
            <a:spLocks noGrp="1"/>
          </p:cNvSpPr>
          <p:nvPr/>
        </p:nvSpPr>
        <p:spPr>
          <a:xfrm>
            <a:off x="7715250" y="1438275"/>
            <a:ext cx="4019550" cy="2428875"/>
          </a:xfrm>
          <a:prstGeom prst="roundRect">
            <a:avLst>
              <a:gd name="adj" fmla="val 4706"/>
            </a:avLst>
          </a:prstGeom>
          <a:solidFill>
            <a:srgbClr val="FFFFFF"/>
          </a:solidFill>
          <a:ln w="9525">
            <a:solidFill>
              <a:srgbClr val="D5E0E5"/>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14" name="Rectangle 13">
            <a:extLst>
              <a:ext uri="{FF2B5EF4-FFF2-40B4-BE49-F238E27FC236}">
                <a16:creationId xmlns:a16="http://schemas.microsoft.com/office/drawing/2014/main" id="{344DC384-7C62-4A2C-9D2D-0D195DB9AC28}"/>
              </a:ext>
            </a:extLst>
          </p:cNvPr>
          <p:cNvSpPr>
            <a:spLocks noGrp="1"/>
          </p:cNvSpPr>
          <p:nvPr/>
        </p:nvSpPr>
        <p:spPr>
          <a:xfrm>
            <a:off x="7715250" y="1438275"/>
            <a:ext cx="57150" cy="2428875"/>
          </a:xfrm>
          <a:prstGeom prst="rect">
            <a:avLst/>
          </a:prstGeom>
          <a:solidFill>
            <a:srgbClr val="A52F4D"/>
          </a:solidFill>
          <a:ln w="0">
            <a:noFill/>
            <a:prstDash val="solid"/>
          </a:ln>
        </p:spPr>
        <p:txBody>
          <a:bodyPr/>
          <a:lstStyle/>
          <a:p>
            <a:endParaRPr lang="en-US"/>
          </a:p>
        </p:txBody>
      </p:sp>
      <p:sp>
        <p:nvSpPr>
          <p:cNvPr id="15" name="Rectangle: Rounded Corners 14">
            <a:extLst>
              <a:ext uri="{FF2B5EF4-FFF2-40B4-BE49-F238E27FC236}">
                <a16:creationId xmlns:a16="http://schemas.microsoft.com/office/drawing/2014/main" id="{C4A2F8A0-9A09-40CA-881D-F6D917785F0B}"/>
              </a:ext>
            </a:extLst>
          </p:cNvPr>
          <p:cNvSpPr>
            <a:spLocks noGrp="1"/>
          </p:cNvSpPr>
          <p:nvPr/>
        </p:nvSpPr>
        <p:spPr>
          <a:xfrm>
            <a:off x="7867650" y="1562100"/>
            <a:ext cx="790575" cy="219075"/>
          </a:xfrm>
          <a:prstGeom prst="roundRect">
            <a:avLst>
              <a:gd name="adj" fmla="val 50000"/>
            </a:avLst>
          </a:prstGeom>
          <a:solidFill>
            <a:srgbClr val="A52F4D"/>
          </a:solidFill>
          <a:ln w="0">
            <a:noFill/>
            <a:prstDash val="solid"/>
          </a:ln>
        </p:spPr>
        <p:txBody>
          <a:bodyPr/>
          <a:lstStyle/>
          <a:p>
            <a:endParaRPr lang="en-US"/>
          </a:p>
        </p:txBody>
      </p:sp>
      <p:sp>
        <p:nvSpPr>
          <p:cNvPr id="16" name="Rectangle 15">
            <a:extLst>
              <a:ext uri="{FF2B5EF4-FFF2-40B4-BE49-F238E27FC236}">
                <a16:creationId xmlns:a16="http://schemas.microsoft.com/office/drawing/2014/main" id="{A0ED9690-A10D-42D4-AA06-1677D83A2286}"/>
              </a:ext>
            </a:extLst>
          </p:cNvPr>
          <p:cNvSpPr>
            <a:spLocks noGrp="1"/>
          </p:cNvSpPr>
          <p:nvPr/>
        </p:nvSpPr>
        <p:spPr>
          <a:xfrm>
            <a:off x="7905750" y="1600200"/>
            <a:ext cx="714375" cy="142875"/>
          </a:xfrm>
          <a:prstGeom prst="rect">
            <a:avLst/>
          </a:prstGeom>
          <a:noFill/>
          <a:ln w="0">
            <a:noFill/>
            <a:prstDash val="solid"/>
          </a:ln>
        </p:spPr>
        <p:txBody>
          <a:bodyPr/>
          <a:lstStyle/>
          <a:p>
            <a:pPr algn="ctr">
              <a:defRPr sz="713" b="1" i="0">
                <a:solidFill>
                  <a:srgbClr val="FFFFFF"/>
                </a:solidFill>
                <a:latin typeface="Aptos"/>
                <a:ea typeface="Aptos"/>
                <a:cs typeface="Aptos"/>
              </a:defRPr>
            </a:pPr>
            <a:r>
              <a:rPr sz="713" b="1" i="0">
                <a:solidFill>
                  <a:srgbClr val="FFFFFF"/>
                </a:solidFill>
                <a:latin typeface="Aptos"/>
                <a:ea typeface="Aptos"/>
                <a:cs typeface="Aptos"/>
              </a:rPr>
              <a:t>MECHANIK</a:t>
            </a:r>
          </a:p>
        </p:txBody>
      </p:sp>
      <p:sp>
        <p:nvSpPr>
          <p:cNvPr id="17" name="Rectangle 16">
            <a:extLst>
              <a:ext uri="{FF2B5EF4-FFF2-40B4-BE49-F238E27FC236}">
                <a16:creationId xmlns:a16="http://schemas.microsoft.com/office/drawing/2014/main" id="{BE79AF95-88B5-43E4-A20E-BDFE761F0FAA}"/>
              </a:ext>
            </a:extLst>
          </p:cNvPr>
          <p:cNvSpPr>
            <a:spLocks noGrp="1"/>
          </p:cNvSpPr>
          <p:nvPr/>
        </p:nvSpPr>
        <p:spPr>
          <a:xfrm>
            <a:off x="7877175" y="1885950"/>
            <a:ext cx="3695700" cy="266700"/>
          </a:xfrm>
          <a:prstGeom prst="rect">
            <a:avLst/>
          </a:prstGeom>
          <a:noFill/>
          <a:ln w="0">
            <a:noFill/>
            <a:prstDash val="solid"/>
          </a:ln>
        </p:spPr>
        <p:txBody>
          <a:bodyPr/>
          <a:lstStyle/>
          <a:p>
            <a:pPr algn="l">
              <a:defRPr sz="1425" b="1" i="0">
                <a:solidFill>
                  <a:srgbClr val="051C2C"/>
                </a:solidFill>
                <a:latin typeface="Aptos Display"/>
                <a:ea typeface="Aptos Display"/>
                <a:cs typeface="Aptos Display"/>
              </a:defRPr>
            </a:pPr>
            <a:r>
              <a:rPr sz="1425" b="1" i="0">
                <a:solidFill>
                  <a:srgbClr val="051C2C"/>
                </a:solidFill>
                <a:latin typeface="Aptos Display"/>
                <a:ea typeface="Aptos Display"/>
                <a:cs typeface="Aptos Display"/>
              </a:rPr>
              <a:t>Warum beide Seiten zählen</a:t>
            </a:r>
          </a:p>
        </p:txBody>
      </p:sp>
      <p:sp>
        <p:nvSpPr>
          <p:cNvPr id="18" name="Rectangle 17">
            <a:extLst>
              <a:ext uri="{FF2B5EF4-FFF2-40B4-BE49-F238E27FC236}">
                <a16:creationId xmlns:a16="http://schemas.microsoft.com/office/drawing/2014/main" id="{2995AECE-0711-4712-9A08-499E6136FBD5}"/>
              </a:ext>
            </a:extLst>
          </p:cNvPr>
          <p:cNvSpPr>
            <a:spLocks noGrp="1"/>
          </p:cNvSpPr>
          <p:nvPr/>
        </p:nvSpPr>
        <p:spPr>
          <a:xfrm>
            <a:off x="7877175" y="2209800"/>
            <a:ext cx="3695700" cy="1571625"/>
          </a:xfrm>
          <a:prstGeom prst="rect">
            <a:avLst/>
          </a:prstGeom>
          <a:noFill/>
          <a:ln w="0">
            <a:noFill/>
            <a:prstDash val="solid"/>
          </a:ln>
        </p:spPr>
        <p:txBody>
          <a:bodyPr/>
          <a:lstStyle/>
          <a:p>
            <a:pPr algn="l">
              <a:defRPr sz="998" b="0" i="0">
                <a:solidFill>
                  <a:srgbClr val="4F6875"/>
                </a:solidFill>
                <a:latin typeface="Aptos"/>
                <a:ea typeface="Aptos"/>
                <a:cs typeface="Aptos"/>
              </a:defRPr>
            </a:pPr>
            <a:r>
              <a:rPr sz="998" b="0" i="0">
                <a:solidFill>
                  <a:srgbClr val="4F6875"/>
                </a:solidFill>
                <a:latin typeface="Aptos"/>
                <a:ea typeface="Aptos"/>
                <a:cs typeface="Aptos"/>
              </a:rPr>
              <a:t>• </a:t>
            </a:r>
            <a:r>
              <a:rPr sz="998" b="0" i="0" err="1">
                <a:solidFill>
                  <a:srgbClr val="4F6875"/>
                </a:solidFill>
                <a:latin typeface="Aptos"/>
                <a:ea typeface="Aptos"/>
                <a:cs typeface="Aptos"/>
              </a:rPr>
              <a:t>Höhere</a:t>
            </a:r>
            <a:r>
              <a:rPr sz="998" b="0" i="0">
                <a:solidFill>
                  <a:srgbClr val="4F6875"/>
                </a:solidFill>
                <a:latin typeface="Aptos"/>
                <a:ea typeface="Aptos"/>
                <a:cs typeface="Aptos"/>
              </a:rPr>
              <a:t> PD/LGD </a:t>
            </a:r>
            <a:r>
              <a:rPr sz="998" b="0" i="0" err="1">
                <a:solidFill>
                  <a:srgbClr val="4F6875"/>
                </a:solidFill>
                <a:latin typeface="Aptos"/>
                <a:ea typeface="Aptos"/>
                <a:cs typeface="Aptos"/>
              </a:rPr>
              <a:t>erhöhen</a:t>
            </a:r>
            <a:r>
              <a:rPr sz="998" b="0" i="0">
                <a:solidFill>
                  <a:srgbClr val="4F6875"/>
                </a:solidFill>
                <a:latin typeface="Aptos"/>
                <a:ea typeface="Aptos"/>
                <a:cs typeface="Aptos"/>
              </a:rPr>
              <a:t> den Expected Loss</a:t>
            </a:r>
          </a:p>
          <a:p>
            <a:endParaRPr sz="998" b="0" i="0">
              <a:solidFill>
                <a:srgbClr val="4F6875"/>
              </a:solidFill>
              <a:latin typeface="Aptos"/>
              <a:ea typeface="Aptos"/>
              <a:cs typeface="Aptos"/>
            </a:endParaRPr>
          </a:p>
          <a:p>
            <a:pPr algn="l">
              <a:defRPr sz="998" b="0" i="0">
                <a:solidFill>
                  <a:srgbClr val="4F6875"/>
                </a:solidFill>
                <a:latin typeface="Aptos"/>
                <a:ea typeface="Aptos"/>
                <a:cs typeface="Aptos"/>
              </a:defRPr>
            </a:pPr>
            <a:r>
              <a:rPr sz="998" b="0" i="0">
                <a:solidFill>
                  <a:srgbClr val="4F6875"/>
                </a:solidFill>
                <a:latin typeface="Aptos"/>
                <a:ea typeface="Aptos"/>
                <a:cs typeface="Aptos"/>
              </a:rPr>
              <a:t>• Die Basel-IRB-Formel </a:t>
            </a:r>
            <a:r>
              <a:rPr sz="998" b="0" i="0" err="1">
                <a:solidFill>
                  <a:srgbClr val="4F6875"/>
                </a:solidFill>
                <a:latin typeface="Aptos"/>
                <a:ea typeface="Aptos"/>
                <a:cs typeface="Aptos"/>
              </a:rPr>
              <a:t>erhöht</a:t>
            </a:r>
            <a:r>
              <a:rPr sz="998" b="0" i="0">
                <a:solidFill>
                  <a:srgbClr val="4F6875"/>
                </a:solidFill>
                <a:latin typeface="Aptos"/>
                <a:ea typeface="Aptos"/>
                <a:cs typeface="Aptos"/>
              </a:rPr>
              <a:t> den </a:t>
            </a:r>
            <a:r>
              <a:rPr sz="998" b="0" i="0" err="1">
                <a:solidFill>
                  <a:srgbClr val="4F6875"/>
                </a:solidFill>
                <a:latin typeface="Aptos"/>
                <a:ea typeface="Aptos"/>
                <a:cs typeface="Aptos"/>
              </a:rPr>
              <a:t>Kapitalbedarf</a:t>
            </a:r>
            <a:r>
              <a:rPr sz="998" b="0" i="0">
                <a:solidFill>
                  <a:srgbClr val="4F6875"/>
                </a:solidFill>
                <a:latin typeface="Aptos"/>
                <a:ea typeface="Aptos"/>
                <a:cs typeface="Aptos"/>
              </a:rPr>
              <a:t> und die RWA</a:t>
            </a:r>
          </a:p>
          <a:p>
            <a:endParaRPr sz="998" b="0" i="0">
              <a:solidFill>
                <a:srgbClr val="4F6875"/>
              </a:solidFill>
              <a:latin typeface="Aptos"/>
              <a:ea typeface="Aptos"/>
              <a:cs typeface="Aptos"/>
            </a:endParaRPr>
          </a:p>
          <a:p>
            <a:pPr algn="l">
              <a:defRPr sz="998" b="0" i="0">
                <a:solidFill>
                  <a:srgbClr val="4F6875"/>
                </a:solidFill>
                <a:latin typeface="Aptos"/>
                <a:ea typeface="Aptos"/>
                <a:cs typeface="Aptos"/>
              </a:defRPr>
            </a:pPr>
            <a:r>
              <a:rPr sz="998" b="0" i="0">
                <a:solidFill>
                  <a:srgbClr val="4F6875"/>
                </a:solidFill>
                <a:latin typeface="Aptos"/>
                <a:ea typeface="Aptos"/>
                <a:cs typeface="Aptos"/>
              </a:rPr>
              <a:t>• Steigende Zinsen </a:t>
            </a:r>
            <a:r>
              <a:rPr sz="998" b="0" i="0" err="1">
                <a:solidFill>
                  <a:srgbClr val="4F6875"/>
                </a:solidFill>
                <a:latin typeface="Aptos"/>
                <a:ea typeface="Aptos"/>
                <a:cs typeface="Aptos"/>
              </a:rPr>
              <a:t>senken</a:t>
            </a:r>
            <a:r>
              <a:rPr sz="998" b="0" i="0">
                <a:solidFill>
                  <a:srgbClr val="4F6875"/>
                </a:solidFill>
                <a:latin typeface="Aptos"/>
                <a:ea typeface="Aptos"/>
                <a:cs typeface="Aptos"/>
              </a:rPr>
              <a:t> den Fair Value </a:t>
            </a:r>
            <a:r>
              <a:rPr sz="998" b="0" i="0" err="1">
                <a:solidFill>
                  <a:srgbClr val="4F6875"/>
                </a:solidFill>
                <a:latin typeface="Aptos"/>
                <a:ea typeface="Aptos"/>
                <a:cs typeface="Aptos"/>
              </a:rPr>
              <a:t>marktwertbewerteter</a:t>
            </a:r>
            <a:r>
              <a:rPr sz="998" b="0" i="0">
                <a:solidFill>
                  <a:srgbClr val="4F6875"/>
                </a:solidFill>
                <a:latin typeface="Aptos"/>
                <a:ea typeface="Aptos"/>
                <a:cs typeface="Aptos"/>
              </a:rPr>
              <a:t> </a:t>
            </a:r>
            <a:r>
              <a:rPr sz="998" b="0" i="0" err="1">
                <a:solidFill>
                  <a:srgbClr val="4F6875"/>
                </a:solidFill>
                <a:latin typeface="Aptos"/>
                <a:ea typeface="Aptos"/>
                <a:cs typeface="Aptos"/>
              </a:rPr>
              <a:t>Staatsanleihen</a:t>
            </a:r>
            <a:endParaRPr sz="998" b="0" i="0">
              <a:solidFill>
                <a:srgbClr val="4F6875"/>
              </a:solidFill>
              <a:latin typeface="Aptos"/>
              <a:ea typeface="Aptos"/>
              <a:cs typeface="Aptos"/>
            </a:endParaRPr>
          </a:p>
          <a:p>
            <a:endParaRPr sz="998" b="0" i="0">
              <a:solidFill>
                <a:srgbClr val="4F6875"/>
              </a:solidFill>
              <a:latin typeface="Aptos"/>
              <a:ea typeface="Aptos"/>
              <a:cs typeface="Aptos"/>
            </a:endParaRPr>
          </a:p>
          <a:p>
            <a:pPr algn="l">
              <a:defRPr sz="998" b="0" i="0">
                <a:solidFill>
                  <a:srgbClr val="4F6875"/>
                </a:solidFill>
                <a:latin typeface="Aptos"/>
                <a:ea typeface="Aptos"/>
                <a:cs typeface="Aptos"/>
              </a:defRPr>
            </a:pPr>
            <a:r>
              <a:rPr sz="998" b="0" i="0">
                <a:solidFill>
                  <a:srgbClr val="4F6875"/>
                </a:solidFill>
                <a:latin typeface="Aptos"/>
                <a:ea typeface="Aptos"/>
                <a:cs typeface="Aptos"/>
              </a:rPr>
              <a:t>• Alle </a:t>
            </a:r>
            <a:r>
              <a:rPr sz="998" b="0" i="0" err="1">
                <a:solidFill>
                  <a:srgbClr val="4F6875"/>
                </a:solidFill>
                <a:latin typeface="Aptos"/>
                <a:ea typeface="Aptos"/>
                <a:cs typeface="Aptos"/>
              </a:rPr>
              <a:t>Effekte</a:t>
            </a:r>
            <a:r>
              <a:rPr sz="998" b="0" i="0">
                <a:solidFill>
                  <a:srgbClr val="4F6875"/>
                </a:solidFill>
                <a:latin typeface="Aptos"/>
                <a:ea typeface="Aptos"/>
                <a:cs typeface="Aptos"/>
              </a:rPr>
              <a:t> </a:t>
            </a:r>
            <a:r>
              <a:rPr sz="998" b="0" i="0" err="1">
                <a:solidFill>
                  <a:srgbClr val="4F6875"/>
                </a:solidFill>
                <a:latin typeface="Aptos"/>
                <a:ea typeface="Aptos"/>
                <a:cs typeface="Aptos"/>
              </a:rPr>
              <a:t>wirken</a:t>
            </a:r>
            <a:r>
              <a:rPr sz="998" b="0" i="0">
                <a:solidFill>
                  <a:srgbClr val="4F6875"/>
                </a:solidFill>
                <a:latin typeface="Aptos"/>
                <a:ea typeface="Aptos"/>
                <a:cs typeface="Aptos"/>
              </a:rPr>
              <a:t> </a:t>
            </a:r>
            <a:r>
              <a:rPr sz="998" b="0" i="0" err="1">
                <a:solidFill>
                  <a:srgbClr val="4F6875"/>
                </a:solidFill>
                <a:latin typeface="Aptos"/>
                <a:ea typeface="Aptos"/>
                <a:cs typeface="Aptos"/>
              </a:rPr>
              <a:t>gemeinsam</a:t>
            </a:r>
            <a:r>
              <a:rPr sz="998" b="0" i="0">
                <a:solidFill>
                  <a:srgbClr val="4F6875"/>
                </a:solidFill>
                <a:latin typeface="Aptos"/>
                <a:ea typeface="Aptos"/>
                <a:cs typeface="Aptos"/>
              </a:rPr>
              <a:t> auf die Quote</a:t>
            </a:r>
          </a:p>
        </p:txBody>
      </p:sp>
      <p:sp>
        <p:nvSpPr>
          <p:cNvPr id="19" name="Rectangle 18">
            <a:extLst>
              <a:ext uri="{FF2B5EF4-FFF2-40B4-BE49-F238E27FC236}">
                <a16:creationId xmlns:a16="http://schemas.microsoft.com/office/drawing/2014/main" id="{8B0F9033-3C2B-42BD-B122-B07790E9B657}"/>
              </a:ext>
            </a:extLst>
          </p:cNvPr>
          <p:cNvSpPr>
            <a:spLocks noGrp="1"/>
          </p:cNvSpPr>
          <p:nvPr/>
        </p:nvSpPr>
        <p:spPr>
          <a:xfrm>
            <a:off x="457200" y="4238625"/>
            <a:ext cx="3238500" cy="171450"/>
          </a:xfrm>
          <a:prstGeom prst="rect">
            <a:avLst/>
          </a:prstGeom>
          <a:noFill/>
          <a:ln w="0">
            <a:noFill/>
            <a:prstDash val="solid"/>
          </a:ln>
        </p:spPr>
        <p:txBody>
          <a:bodyPr/>
          <a:lstStyle/>
          <a:p>
            <a:pPr algn="l">
              <a:defRPr sz="825" b="1" i="0">
                <a:solidFill>
                  <a:srgbClr val="A52F4D"/>
                </a:solidFill>
                <a:latin typeface="Aptos"/>
                <a:ea typeface="Aptos"/>
                <a:cs typeface="Aptos"/>
              </a:defRPr>
            </a:pPr>
            <a:r>
              <a:rPr sz="825" b="1" i="0">
                <a:solidFill>
                  <a:srgbClr val="A52F4D"/>
                </a:solidFill>
                <a:latin typeface="Aptos"/>
                <a:ea typeface="Aptos"/>
                <a:cs typeface="Aptos"/>
              </a:rPr>
              <a:t>AUFSICHTLICHE ORIENTIERUNGSPUNKTE</a:t>
            </a:r>
          </a:p>
        </p:txBody>
      </p:sp>
      <p:sp>
        <p:nvSpPr>
          <p:cNvPr id="20" name="Rectangle: Rounded Corners 19">
            <a:extLst>
              <a:ext uri="{FF2B5EF4-FFF2-40B4-BE49-F238E27FC236}">
                <a16:creationId xmlns:a16="http://schemas.microsoft.com/office/drawing/2014/main" id="{CB8B5DC6-B360-4D9D-AEFE-0A9D8A33C3DE}"/>
              </a:ext>
            </a:extLst>
          </p:cNvPr>
          <p:cNvSpPr>
            <a:spLocks noGrp="1"/>
          </p:cNvSpPr>
          <p:nvPr/>
        </p:nvSpPr>
        <p:spPr>
          <a:xfrm>
            <a:off x="457200" y="4552950"/>
            <a:ext cx="3495675" cy="1362075"/>
          </a:xfrm>
          <a:prstGeom prst="roundRect">
            <a:avLst>
              <a:gd name="adj" fmla="val 8392"/>
            </a:avLst>
          </a:prstGeom>
          <a:solidFill>
            <a:srgbClr val="FFFFFF"/>
          </a:solidFill>
          <a:ln w="9525">
            <a:solidFill>
              <a:srgbClr val="D5E0E5"/>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21" name="Rectangle 20">
            <a:extLst>
              <a:ext uri="{FF2B5EF4-FFF2-40B4-BE49-F238E27FC236}">
                <a16:creationId xmlns:a16="http://schemas.microsoft.com/office/drawing/2014/main" id="{460D9DD0-6ECD-40E8-991B-26B64320D1D5}"/>
              </a:ext>
            </a:extLst>
          </p:cNvPr>
          <p:cNvSpPr>
            <a:spLocks noGrp="1"/>
          </p:cNvSpPr>
          <p:nvPr/>
        </p:nvSpPr>
        <p:spPr>
          <a:xfrm>
            <a:off x="457200" y="4552950"/>
            <a:ext cx="76200" cy="1362075"/>
          </a:xfrm>
          <a:prstGeom prst="rect">
            <a:avLst/>
          </a:prstGeom>
          <a:solidFill>
            <a:srgbClr val="A52F4D"/>
          </a:solidFill>
          <a:ln w="0">
            <a:noFill/>
            <a:prstDash val="solid"/>
          </a:ln>
        </p:spPr>
        <p:txBody>
          <a:bodyPr/>
          <a:lstStyle/>
          <a:p>
            <a:endParaRPr lang="en-US"/>
          </a:p>
        </p:txBody>
      </p:sp>
      <p:sp>
        <p:nvSpPr>
          <p:cNvPr id="22" name="Rectangle 21">
            <a:extLst>
              <a:ext uri="{FF2B5EF4-FFF2-40B4-BE49-F238E27FC236}">
                <a16:creationId xmlns:a16="http://schemas.microsoft.com/office/drawing/2014/main" id="{C8E8F8FD-27CD-47A7-89CE-44254E6E8647}"/>
              </a:ext>
            </a:extLst>
          </p:cNvPr>
          <p:cNvSpPr>
            <a:spLocks noGrp="1"/>
          </p:cNvSpPr>
          <p:nvPr/>
        </p:nvSpPr>
        <p:spPr>
          <a:xfrm>
            <a:off x="695325" y="4714875"/>
            <a:ext cx="1285875" cy="457200"/>
          </a:xfrm>
          <a:prstGeom prst="rect">
            <a:avLst/>
          </a:prstGeom>
          <a:noFill/>
          <a:ln w="0">
            <a:noFill/>
            <a:prstDash val="solid"/>
          </a:ln>
        </p:spPr>
        <p:txBody>
          <a:bodyPr/>
          <a:lstStyle/>
          <a:p>
            <a:pPr algn="l">
              <a:defRPr sz="2550" b="1" i="0">
                <a:solidFill>
                  <a:srgbClr val="A52F4D"/>
                </a:solidFill>
                <a:latin typeface="Aptos Display"/>
                <a:ea typeface="Aptos Display"/>
                <a:cs typeface="Aptos Display"/>
              </a:defRPr>
            </a:pPr>
            <a:r>
              <a:rPr sz="2550" b="1" i="0">
                <a:solidFill>
                  <a:srgbClr val="A52F4D"/>
                </a:solidFill>
                <a:latin typeface="Aptos Display"/>
                <a:ea typeface="Aptos Display"/>
                <a:cs typeface="Aptos Display"/>
              </a:rPr>
              <a:t>4,5 %</a:t>
            </a:r>
          </a:p>
        </p:txBody>
      </p:sp>
      <p:sp>
        <p:nvSpPr>
          <p:cNvPr id="23" name="Rectangle 22">
            <a:extLst>
              <a:ext uri="{FF2B5EF4-FFF2-40B4-BE49-F238E27FC236}">
                <a16:creationId xmlns:a16="http://schemas.microsoft.com/office/drawing/2014/main" id="{076FE7D6-5DB8-4F3D-BD44-611B5A13C3FC}"/>
              </a:ext>
            </a:extLst>
          </p:cNvPr>
          <p:cNvSpPr>
            <a:spLocks noGrp="1"/>
          </p:cNvSpPr>
          <p:nvPr/>
        </p:nvSpPr>
        <p:spPr>
          <a:xfrm>
            <a:off x="695325" y="5229225"/>
            <a:ext cx="2952750" cy="228600"/>
          </a:xfrm>
          <a:prstGeom prst="rect">
            <a:avLst/>
          </a:prstGeom>
          <a:noFill/>
          <a:ln w="0">
            <a:noFill/>
            <a:prstDash val="solid"/>
          </a:ln>
        </p:spPr>
        <p:txBody>
          <a:bodyPr/>
          <a:lstStyle/>
          <a:p>
            <a:pPr algn="l">
              <a:defRPr sz="1125" b="1" i="0">
                <a:solidFill>
                  <a:srgbClr val="051C2C"/>
                </a:solidFill>
                <a:latin typeface="Aptos"/>
                <a:ea typeface="Aptos"/>
                <a:cs typeface="Aptos"/>
              </a:defRPr>
            </a:pPr>
            <a:r>
              <a:rPr sz="1125" b="1" i="0">
                <a:solidFill>
                  <a:srgbClr val="051C2C"/>
                </a:solidFill>
                <a:latin typeface="Aptos"/>
                <a:ea typeface="Aptos"/>
                <a:cs typeface="Aptos"/>
              </a:rPr>
              <a:t>Pillar-1-Minimum</a:t>
            </a:r>
          </a:p>
        </p:txBody>
      </p:sp>
      <p:sp>
        <p:nvSpPr>
          <p:cNvPr id="24" name="Rectangle 23">
            <a:extLst>
              <a:ext uri="{FF2B5EF4-FFF2-40B4-BE49-F238E27FC236}">
                <a16:creationId xmlns:a16="http://schemas.microsoft.com/office/drawing/2014/main" id="{48B81539-97AB-4C16-A731-A025B5A6C0EA}"/>
              </a:ext>
            </a:extLst>
          </p:cNvPr>
          <p:cNvSpPr>
            <a:spLocks noGrp="1"/>
          </p:cNvSpPr>
          <p:nvPr/>
        </p:nvSpPr>
        <p:spPr>
          <a:xfrm>
            <a:off x="695325" y="5534025"/>
            <a:ext cx="2952750" cy="180975"/>
          </a:xfrm>
          <a:prstGeom prst="rect">
            <a:avLst/>
          </a:prstGeom>
          <a:noFill/>
          <a:ln w="0">
            <a:noFill/>
            <a:prstDash val="solid"/>
          </a:ln>
        </p:spPr>
        <p:txBody>
          <a:bodyPr/>
          <a:lstStyle/>
          <a:p>
            <a:pPr algn="l">
              <a:defRPr sz="863" b="0" i="0">
                <a:solidFill>
                  <a:srgbClr val="4F6875"/>
                </a:solidFill>
                <a:latin typeface="Aptos"/>
                <a:ea typeface="Aptos"/>
                <a:cs typeface="Aptos"/>
              </a:defRPr>
            </a:pPr>
            <a:r>
              <a:rPr sz="863" b="0" i="0">
                <a:solidFill>
                  <a:srgbClr val="4F6875"/>
                </a:solidFill>
                <a:latin typeface="Aptos"/>
                <a:ea typeface="Aptos"/>
                <a:cs typeface="Aptos"/>
              </a:rPr>
              <a:t>harte Untergrenze</a:t>
            </a:r>
          </a:p>
        </p:txBody>
      </p:sp>
      <p:sp>
        <p:nvSpPr>
          <p:cNvPr id="25" name="Rectangle: Rounded Corners 24">
            <a:extLst>
              <a:ext uri="{FF2B5EF4-FFF2-40B4-BE49-F238E27FC236}">
                <a16:creationId xmlns:a16="http://schemas.microsoft.com/office/drawing/2014/main" id="{C28ABAF3-9B4B-4198-A5E3-C498B2DD2E35}"/>
              </a:ext>
            </a:extLst>
          </p:cNvPr>
          <p:cNvSpPr>
            <a:spLocks noGrp="1"/>
          </p:cNvSpPr>
          <p:nvPr/>
        </p:nvSpPr>
        <p:spPr>
          <a:xfrm>
            <a:off x="4219575" y="4552950"/>
            <a:ext cx="3495675" cy="1362075"/>
          </a:xfrm>
          <a:prstGeom prst="roundRect">
            <a:avLst>
              <a:gd name="adj" fmla="val 8392"/>
            </a:avLst>
          </a:prstGeom>
          <a:solidFill>
            <a:srgbClr val="FFFFFF"/>
          </a:solidFill>
          <a:ln w="9525">
            <a:solidFill>
              <a:srgbClr val="D5E0E5"/>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26" name="Rectangle 25">
            <a:extLst>
              <a:ext uri="{FF2B5EF4-FFF2-40B4-BE49-F238E27FC236}">
                <a16:creationId xmlns:a16="http://schemas.microsoft.com/office/drawing/2014/main" id="{B13FD44B-948F-4FAB-8AF9-2B53A7D50B7B}"/>
              </a:ext>
            </a:extLst>
          </p:cNvPr>
          <p:cNvSpPr>
            <a:spLocks noGrp="1"/>
          </p:cNvSpPr>
          <p:nvPr/>
        </p:nvSpPr>
        <p:spPr>
          <a:xfrm>
            <a:off x="4219575" y="4552950"/>
            <a:ext cx="76200" cy="1362075"/>
          </a:xfrm>
          <a:prstGeom prst="rect">
            <a:avLst/>
          </a:prstGeom>
          <a:solidFill>
            <a:srgbClr val="D9A124"/>
          </a:solidFill>
          <a:ln w="0">
            <a:noFill/>
            <a:prstDash val="solid"/>
          </a:ln>
        </p:spPr>
        <p:txBody>
          <a:bodyPr/>
          <a:lstStyle/>
          <a:p>
            <a:endParaRPr lang="en-US"/>
          </a:p>
        </p:txBody>
      </p:sp>
      <p:sp>
        <p:nvSpPr>
          <p:cNvPr id="27" name="Rectangle 26">
            <a:extLst>
              <a:ext uri="{FF2B5EF4-FFF2-40B4-BE49-F238E27FC236}">
                <a16:creationId xmlns:a16="http://schemas.microsoft.com/office/drawing/2014/main" id="{42FA51C2-3D7E-4394-A0F6-5908E9F83E93}"/>
              </a:ext>
            </a:extLst>
          </p:cNvPr>
          <p:cNvSpPr>
            <a:spLocks noGrp="1"/>
          </p:cNvSpPr>
          <p:nvPr/>
        </p:nvSpPr>
        <p:spPr>
          <a:xfrm>
            <a:off x="4457700" y="4714875"/>
            <a:ext cx="1285875" cy="457200"/>
          </a:xfrm>
          <a:prstGeom prst="rect">
            <a:avLst/>
          </a:prstGeom>
          <a:noFill/>
          <a:ln w="0">
            <a:noFill/>
            <a:prstDash val="solid"/>
          </a:ln>
        </p:spPr>
        <p:txBody>
          <a:bodyPr/>
          <a:lstStyle/>
          <a:p>
            <a:pPr algn="l">
              <a:defRPr sz="2550" b="1" i="0">
                <a:solidFill>
                  <a:srgbClr val="D9A124"/>
                </a:solidFill>
                <a:latin typeface="Aptos Display"/>
                <a:ea typeface="Aptos Display"/>
                <a:cs typeface="Aptos Display"/>
              </a:defRPr>
            </a:pPr>
            <a:r>
              <a:rPr sz="2550" b="1" i="0">
                <a:solidFill>
                  <a:srgbClr val="D9A124"/>
                </a:solidFill>
                <a:latin typeface="Aptos Display"/>
                <a:ea typeface="Aptos Display"/>
                <a:cs typeface="Aptos Display"/>
              </a:rPr>
              <a:t>7,0 %</a:t>
            </a:r>
          </a:p>
        </p:txBody>
      </p:sp>
      <p:sp>
        <p:nvSpPr>
          <p:cNvPr id="28" name="Rectangle 27">
            <a:extLst>
              <a:ext uri="{FF2B5EF4-FFF2-40B4-BE49-F238E27FC236}">
                <a16:creationId xmlns:a16="http://schemas.microsoft.com/office/drawing/2014/main" id="{94D9DBA2-8979-4517-A84F-E554190CDC4E}"/>
              </a:ext>
            </a:extLst>
          </p:cNvPr>
          <p:cNvSpPr>
            <a:spLocks noGrp="1"/>
          </p:cNvSpPr>
          <p:nvPr/>
        </p:nvSpPr>
        <p:spPr>
          <a:xfrm>
            <a:off x="4457700" y="5229225"/>
            <a:ext cx="2952750" cy="228600"/>
          </a:xfrm>
          <a:prstGeom prst="rect">
            <a:avLst/>
          </a:prstGeom>
          <a:noFill/>
          <a:ln w="0">
            <a:noFill/>
            <a:prstDash val="solid"/>
          </a:ln>
        </p:spPr>
        <p:txBody>
          <a:bodyPr/>
          <a:lstStyle/>
          <a:p>
            <a:pPr algn="l">
              <a:defRPr sz="1125" b="1" i="0">
                <a:solidFill>
                  <a:srgbClr val="051C2C"/>
                </a:solidFill>
                <a:latin typeface="Aptos"/>
                <a:ea typeface="Aptos"/>
                <a:cs typeface="Aptos"/>
              </a:defRPr>
            </a:pPr>
            <a:r>
              <a:rPr sz="1125" b="1" i="0">
                <a:solidFill>
                  <a:srgbClr val="051C2C"/>
                </a:solidFill>
                <a:latin typeface="Aptos"/>
                <a:ea typeface="Aptos"/>
                <a:cs typeface="Aptos"/>
              </a:rPr>
              <a:t>inkl. Kapitalerhaltungspuffer</a:t>
            </a:r>
          </a:p>
        </p:txBody>
      </p:sp>
      <p:sp>
        <p:nvSpPr>
          <p:cNvPr id="29" name="Rectangle 28">
            <a:extLst>
              <a:ext uri="{FF2B5EF4-FFF2-40B4-BE49-F238E27FC236}">
                <a16:creationId xmlns:a16="http://schemas.microsoft.com/office/drawing/2014/main" id="{80D2AB8F-A737-4005-BDC3-90E0DF8B19BE}"/>
              </a:ext>
            </a:extLst>
          </p:cNvPr>
          <p:cNvSpPr>
            <a:spLocks noGrp="1"/>
          </p:cNvSpPr>
          <p:nvPr/>
        </p:nvSpPr>
        <p:spPr>
          <a:xfrm>
            <a:off x="4457700" y="5534025"/>
            <a:ext cx="2952750" cy="180975"/>
          </a:xfrm>
          <a:prstGeom prst="rect">
            <a:avLst/>
          </a:prstGeom>
          <a:noFill/>
          <a:ln w="0">
            <a:noFill/>
            <a:prstDash val="solid"/>
          </a:ln>
        </p:spPr>
        <p:txBody>
          <a:bodyPr/>
          <a:lstStyle/>
          <a:p>
            <a:pPr algn="l">
              <a:defRPr sz="863" b="0" i="0">
                <a:solidFill>
                  <a:srgbClr val="4F6875"/>
                </a:solidFill>
                <a:latin typeface="Aptos"/>
                <a:ea typeface="Aptos"/>
                <a:cs typeface="Aptos"/>
              </a:defRPr>
            </a:pPr>
            <a:r>
              <a:rPr sz="863" b="0" i="0">
                <a:solidFill>
                  <a:srgbClr val="4F6875"/>
                </a:solidFill>
                <a:latin typeface="Aptos"/>
                <a:ea typeface="Aptos"/>
                <a:cs typeface="Aptos"/>
              </a:rPr>
              <a:t>Ausschüttungen unter Druck</a:t>
            </a:r>
          </a:p>
        </p:txBody>
      </p:sp>
      <p:sp>
        <p:nvSpPr>
          <p:cNvPr id="30" name="Rectangle: Rounded Corners 29">
            <a:extLst>
              <a:ext uri="{FF2B5EF4-FFF2-40B4-BE49-F238E27FC236}">
                <a16:creationId xmlns:a16="http://schemas.microsoft.com/office/drawing/2014/main" id="{7D99711E-2543-444D-B5A2-371778C10F63}"/>
              </a:ext>
            </a:extLst>
          </p:cNvPr>
          <p:cNvSpPr>
            <a:spLocks noGrp="1"/>
          </p:cNvSpPr>
          <p:nvPr/>
        </p:nvSpPr>
        <p:spPr>
          <a:xfrm>
            <a:off x="7981950" y="4552950"/>
            <a:ext cx="3495675" cy="1362075"/>
          </a:xfrm>
          <a:prstGeom prst="roundRect">
            <a:avLst>
              <a:gd name="adj" fmla="val 8392"/>
            </a:avLst>
          </a:prstGeom>
          <a:solidFill>
            <a:srgbClr val="FFFFFF"/>
          </a:solidFill>
          <a:ln w="9525">
            <a:solidFill>
              <a:srgbClr val="D5E0E5"/>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31" name="Rectangle 30">
            <a:extLst>
              <a:ext uri="{FF2B5EF4-FFF2-40B4-BE49-F238E27FC236}">
                <a16:creationId xmlns:a16="http://schemas.microsoft.com/office/drawing/2014/main" id="{CAE7DF9C-DB96-4031-9803-BF84CCA21C96}"/>
              </a:ext>
            </a:extLst>
          </p:cNvPr>
          <p:cNvSpPr>
            <a:spLocks noGrp="1"/>
          </p:cNvSpPr>
          <p:nvPr/>
        </p:nvSpPr>
        <p:spPr>
          <a:xfrm>
            <a:off x="7981950" y="4552950"/>
            <a:ext cx="76200" cy="1362075"/>
          </a:xfrm>
          <a:prstGeom prst="rect">
            <a:avLst/>
          </a:prstGeom>
          <a:solidFill>
            <a:srgbClr val="0B5D7A"/>
          </a:solidFill>
          <a:ln w="0">
            <a:noFill/>
            <a:prstDash val="solid"/>
          </a:ln>
        </p:spPr>
        <p:txBody>
          <a:bodyPr/>
          <a:lstStyle/>
          <a:p>
            <a:endParaRPr lang="en-US"/>
          </a:p>
        </p:txBody>
      </p:sp>
      <p:sp>
        <p:nvSpPr>
          <p:cNvPr id="32" name="Rectangle 31">
            <a:extLst>
              <a:ext uri="{FF2B5EF4-FFF2-40B4-BE49-F238E27FC236}">
                <a16:creationId xmlns:a16="http://schemas.microsoft.com/office/drawing/2014/main" id="{7976E8F2-EFD2-4EF7-94F6-B21FDC54FE8F}"/>
              </a:ext>
            </a:extLst>
          </p:cNvPr>
          <p:cNvSpPr>
            <a:spLocks noGrp="1"/>
          </p:cNvSpPr>
          <p:nvPr/>
        </p:nvSpPr>
        <p:spPr>
          <a:xfrm>
            <a:off x="8220075" y="4714875"/>
            <a:ext cx="1285875" cy="457200"/>
          </a:xfrm>
          <a:prstGeom prst="rect">
            <a:avLst/>
          </a:prstGeom>
          <a:noFill/>
          <a:ln w="0">
            <a:noFill/>
            <a:prstDash val="solid"/>
          </a:ln>
        </p:spPr>
        <p:txBody>
          <a:bodyPr/>
          <a:lstStyle/>
          <a:p>
            <a:pPr algn="l">
              <a:defRPr sz="2550" b="1" i="0">
                <a:solidFill>
                  <a:srgbClr val="0B5D7A"/>
                </a:solidFill>
                <a:latin typeface="Aptos Display"/>
                <a:ea typeface="Aptos Display"/>
                <a:cs typeface="Aptos Display"/>
              </a:defRPr>
            </a:pPr>
            <a:r>
              <a:rPr sz="2550" b="1" i="0">
                <a:solidFill>
                  <a:srgbClr val="0B5D7A"/>
                </a:solidFill>
                <a:latin typeface="Aptos Display"/>
                <a:ea typeface="Aptos Display"/>
                <a:cs typeface="Aptos Display"/>
              </a:rPr>
              <a:t>8,0 %</a:t>
            </a:r>
          </a:p>
        </p:txBody>
      </p:sp>
      <p:sp>
        <p:nvSpPr>
          <p:cNvPr id="33" name="Rectangle 32">
            <a:extLst>
              <a:ext uri="{FF2B5EF4-FFF2-40B4-BE49-F238E27FC236}">
                <a16:creationId xmlns:a16="http://schemas.microsoft.com/office/drawing/2014/main" id="{68471496-326D-422E-8944-EE948D3517FD}"/>
              </a:ext>
            </a:extLst>
          </p:cNvPr>
          <p:cNvSpPr>
            <a:spLocks noGrp="1"/>
          </p:cNvSpPr>
          <p:nvPr/>
        </p:nvSpPr>
        <p:spPr>
          <a:xfrm>
            <a:off x="8220075" y="5229225"/>
            <a:ext cx="2952750" cy="228600"/>
          </a:xfrm>
          <a:prstGeom prst="rect">
            <a:avLst/>
          </a:prstGeom>
          <a:noFill/>
          <a:ln w="0">
            <a:noFill/>
            <a:prstDash val="solid"/>
          </a:ln>
        </p:spPr>
        <p:txBody>
          <a:bodyPr/>
          <a:lstStyle/>
          <a:p>
            <a:pPr algn="l">
              <a:defRPr sz="1125" b="1" i="0">
                <a:solidFill>
                  <a:srgbClr val="051C2C"/>
                </a:solidFill>
                <a:latin typeface="Aptos"/>
                <a:ea typeface="Aptos"/>
                <a:cs typeface="Aptos"/>
              </a:defRPr>
            </a:pPr>
            <a:r>
              <a:rPr sz="1125" b="1" i="0">
                <a:solidFill>
                  <a:srgbClr val="051C2C"/>
                </a:solidFill>
                <a:latin typeface="Aptos"/>
                <a:ea typeface="Aptos"/>
                <a:cs typeface="Aptos"/>
              </a:rPr>
              <a:t>typischer SREP-Orientierungswert</a:t>
            </a:r>
          </a:p>
        </p:txBody>
      </p:sp>
      <p:sp>
        <p:nvSpPr>
          <p:cNvPr id="34" name="Rectangle 33">
            <a:extLst>
              <a:ext uri="{FF2B5EF4-FFF2-40B4-BE49-F238E27FC236}">
                <a16:creationId xmlns:a16="http://schemas.microsoft.com/office/drawing/2014/main" id="{4099FB83-C207-4F77-A026-3B9D40751D99}"/>
              </a:ext>
            </a:extLst>
          </p:cNvPr>
          <p:cNvSpPr>
            <a:spLocks noGrp="1"/>
          </p:cNvSpPr>
          <p:nvPr/>
        </p:nvSpPr>
        <p:spPr>
          <a:xfrm>
            <a:off x="8220075" y="5534025"/>
            <a:ext cx="2952750" cy="180975"/>
          </a:xfrm>
          <a:prstGeom prst="rect">
            <a:avLst/>
          </a:prstGeom>
          <a:noFill/>
          <a:ln w="0">
            <a:noFill/>
            <a:prstDash val="solid"/>
          </a:ln>
        </p:spPr>
        <p:txBody>
          <a:bodyPr/>
          <a:lstStyle/>
          <a:p>
            <a:pPr algn="l">
              <a:defRPr sz="863" b="0" i="0">
                <a:solidFill>
                  <a:srgbClr val="4F6875"/>
                </a:solidFill>
                <a:latin typeface="Aptos"/>
                <a:ea typeface="Aptos"/>
                <a:cs typeface="Aptos"/>
              </a:defRPr>
            </a:pPr>
            <a:r>
              <a:rPr sz="863" b="0" i="0">
                <a:solidFill>
                  <a:srgbClr val="4F6875"/>
                </a:solidFill>
                <a:latin typeface="Aptos"/>
                <a:ea typeface="Aptos"/>
                <a:cs typeface="Aptos"/>
              </a:rPr>
              <a:t>institutsspezifischer Puffer</a:t>
            </a:r>
          </a:p>
        </p:txBody>
      </p:sp>
      <p:sp>
        <p:nvSpPr>
          <p:cNvPr id="35" name="Rectangle 34">
            <a:extLst>
              <a:ext uri="{FF2B5EF4-FFF2-40B4-BE49-F238E27FC236}">
                <a16:creationId xmlns:a16="http://schemas.microsoft.com/office/drawing/2014/main" id="{4594CA4C-4B08-4E0F-9167-6A446FB05521}"/>
              </a:ext>
            </a:extLst>
          </p:cNvPr>
          <p:cNvSpPr>
            <a:spLocks noGrp="1"/>
          </p:cNvSpPr>
          <p:nvPr/>
        </p:nvSpPr>
        <p:spPr>
          <a:xfrm>
            <a:off x="457200" y="6486525"/>
            <a:ext cx="10382250" cy="152400"/>
          </a:xfrm>
          <a:prstGeom prst="rect">
            <a:avLst/>
          </a:prstGeom>
          <a:noFill/>
          <a:ln w="0">
            <a:noFill/>
            <a:prstDash val="solid"/>
          </a:ln>
        </p:spPr>
        <p:txBody>
          <a:bodyPr/>
          <a:lstStyle/>
          <a:p>
            <a:pPr algn="l">
              <a:defRPr sz="653" b="0" i="0">
                <a:solidFill>
                  <a:srgbClr val="71858F"/>
                </a:solidFill>
                <a:latin typeface="Aptos"/>
                <a:ea typeface="Aptos"/>
                <a:cs typeface="Aptos"/>
              </a:defRPr>
            </a:pPr>
            <a:r>
              <a:rPr sz="653" b="0" i="0">
                <a:solidFill>
                  <a:srgbClr val="71858F"/>
                </a:solidFill>
                <a:latin typeface="Aptos"/>
                <a:ea typeface="Aptos"/>
                <a:cs typeface="Aptos"/>
              </a:rPr>
              <a:t>Quelle: Basel III / CRR · Modell-Cockpit · Schwellen dienen der Einordnung, nicht als bankspezifische SREP-Prognose</a:t>
            </a:r>
          </a:p>
        </p:txBody>
      </p:sp>
      <p:sp>
        <p:nvSpPr>
          <p:cNvPr id="5" name="CodexSlideNumber">
            <a:extLst>
              <a:ext uri="{FF2B5EF4-FFF2-40B4-BE49-F238E27FC236}">
                <a16:creationId xmlns:a16="http://schemas.microsoft.com/office/drawing/2014/main" id="{67117E36-1585-ECB6-C601-5334E827CEEE}"/>
              </a:ext>
            </a:extLst>
          </p:cNvPr>
          <p:cNvSpPr txBox="1"/>
          <p:nvPr/>
        </p:nvSpPr>
        <p:spPr>
          <a:xfrm>
            <a:off x="11226800" y="6553200"/>
            <a:ext cx="736600" cy="123111"/>
          </a:xfrm>
          <a:prstGeom prst="rect">
            <a:avLst/>
          </a:prstGeom>
          <a:noFill/>
        </p:spPr>
        <p:txBody>
          <a:bodyPr vert="horz" lIns="0" tIns="0" rIns="0" bIns="0" rtlCol="0">
            <a:spAutoFit/>
          </a:bodyPr>
          <a:lstStyle/>
          <a:p>
            <a:pPr algn="r"/>
            <a:r>
              <a:rPr lang="en-US" sz="800">
                <a:solidFill>
                  <a:srgbClr val="525252"/>
                </a:solidFill>
                <a:latin typeface="Arial" panose="020B0604020202020204" pitchFamily="34" charset="0"/>
              </a:rPr>
              <a:t>6 / 64</a:t>
            </a:r>
          </a:p>
        </p:txBody>
      </p:sp>
    </p:spTree>
    <p:extLst>
      <p:ext uri="{BB962C8B-B14F-4D97-AF65-F5344CB8AC3E}">
        <p14:creationId xmlns:p14="http://schemas.microsoft.com/office/powerpoint/2010/main" val="9987703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C9ECAD9-CD08-498B-9442-BD6F5D48E9D8}"/>
              </a:ext>
            </a:extLst>
          </p:cNvPr>
          <p:cNvSpPr>
            <a:spLocks noGrp="1"/>
          </p:cNvSpPr>
          <p:nvPr/>
        </p:nvSpPr>
        <p:spPr>
          <a:xfrm>
            <a:off x="457200" y="238125"/>
            <a:ext cx="4000500" cy="171450"/>
          </a:xfrm>
          <a:prstGeom prst="rect">
            <a:avLst/>
          </a:prstGeom>
          <a:noFill/>
          <a:ln w="0">
            <a:noFill/>
            <a:prstDash val="solid"/>
          </a:ln>
        </p:spPr>
        <p:txBody>
          <a:bodyPr/>
          <a:lstStyle/>
          <a:p>
            <a:pPr algn="l">
              <a:defRPr sz="863" b="1" i="0">
                <a:solidFill>
                  <a:srgbClr val="A52F4D"/>
                </a:solidFill>
                <a:latin typeface="Aptos"/>
                <a:ea typeface="Aptos"/>
                <a:cs typeface="Aptos"/>
              </a:defRPr>
            </a:pPr>
            <a:r>
              <a:rPr lang="en-GB" sz="863" b="1" i="0">
                <a:solidFill>
                  <a:schemeClr val="tx2"/>
                </a:solidFill>
                <a:latin typeface="Aptos"/>
                <a:ea typeface="Aptos"/>
                <a:cs typeface="Aptos"/>
              </a:rPr>
              <a:t>DATENBASIS &amp; BANKENUNIVERSUM</a:t>
            </a:r>
          </a:p>
        </p:txBody>
      </p:sp>
      <p:sp>
        <p:nvSpPr>
          <p:cNvPr id="3" name="Rectangle 2">
            <a:extLst>
              <a:ext uri="{FF2B5EF4-FFF2-40B4-BE49-F238E27FC236}">
                <a16:creationId xmlns:a16="http://schemas.microsoft.com/office/drawing/2014/main" id="{3FE225DF-42DD-4F2D-BFFD-2209FA655FFB}"/>
              </a:ext>
            </a:extLst>
          </p:cNvPr>
          <p:cNvSpPr>
            <a:spLocks noGrp="1"/>
          </p:cNvSpPr>
          <p:nvPr/>
        </p:nvSpPr>
        <p:spPr>
          <a:xfrm>
            <a:off x="457200" y="466725"/>
            <a:ext cx="11144250" cy="400050"/>
          </a:xfrm>
          <a:prstGeom prst="rect">
            <a:avLst/>
          </a:prstGeom>
          <a:noFill/>
          <a:ln w="0">
            <a:noFill/>
            <a:prstDash val="solid"/>
          </a:ln>
        </p:spPr>
        <p:txBody>
          <a:bodyPr/>
          <a:lstStyle/>
          <a:p>
            <a:pPr>
              <a:defRPr sz="2475" b="1" i="0">
                <a:solidFill>
                  <a:srgbClr val="051C2C"/>
                </a:solidFill>
                <a:latin typeface="Aptos Display"/>
                <a:ea typeface="Aptos Display"/>
                <a:cs typeface="Aptos Display"/>
              </a:defRPr>
            </a:pPr>
            <a:r>
              <a:rPr lang="de-DE" sz="2475" b="1">
                <a:solidFill>
                  <a:srgbClr val="051C2C"/>
                </a:solidFill>
                <a:latin typeface="Aptos Display"/>
                <a:ea typeface="Aptos Display"/>
                <a:cs typeface="Aptos Display"/>
              </a:rPr>
              <a:t>Ein konsistenter Top-10-Datensatz verbindet 56 % der EU-IRB-EAD</a:t>
            </a:r>
          </a:p>
        </p:txBody>
      </p:sp>
      <p:sp>
        <p:nvSpPr>
          <p:cNvPr id="4" name="Rectangle 3">
            <a:extLst>
              <a:ext uri="{FF2B5EF4-FFF2-40B4-BE49-F238E27FC236}">
                <a16:creationId xmlns:a16="http://schemas.microsoft.com/office/drawing/2014/main" id="{7A16A401-B6F9-4665-826F-AA71DC50D00E}"/>
              </a:ext>
            </a:extLst>
          </p:cNvPr>
          <p:cNvSpPr>
            <a:spLocks noGrp="1"/>
          </p:cNvSpPr>
          <p:nvPr/>
        </p:nvSpPr>
        <p:spPr>
          <a:xfrm>
            <a:off x="457200" y="914400"/>
            <a:ext cx="11049000" cy="238125"/>
          </a:xfrm>
          <a:prstGeom prst="rect">
            <a:avLst/>
          </a:prstGeom>
          <a:noFill/>
          <a:ln w="0">
            <a:noFill/>
            <a:prstDash val="solid"/>
          </a:ln>
        </p:spPr>
        <p:txBody>
          <a:bodyPr/>
          <a:lstStyle/>
          <a:p>
            <a:pPr algn="l">
              <a:defRPr sz="1125" b="0" i="0">
                <a:solidFill>
                  <a:srgbClr val="4F6875"/>
                </a:solidFill>
                <a:latin typeface="Aptos"/>
                <a:ea typeface="Aptos"/>
                <a:cs typeface="Aptos"/>
              </a:defRPr>
            </a:pPr>
            <a:r>
              <a:rPr sz="1125" b="0" i="0">
                <a:solidFill>
                  <a:srgbClr val="4F6875"/>
                </a:solidFill>
                <a:latin typeface="Aptos"/>
                <a:ea typeface="Aptos"/>
                <a:cs typeface="Aptos"/>
              </a:rPr>
              <a:t>Der Filter reduziert das EBA-Universum; Aktualität und Modellfunktion jeder Quelle sind transparent.</a:t>
            </a:r>
          </a:p>
        </p:txBody>
      </p:sp>
      <p:sp>
        <p:nvSpPr>
          <p:cNvPr id="5" name="Rectangle 4">
            <a:extLst>
              <a:ext uri="{FF2B5EF4-FFF2-40B4-BE49-F238E27FC236}">
                <a16:creationId xmlns:a16="http://schemas.microsoft.com/office/drawing/2014/main" id="{C658F32B-F2D5-453F-873F-39CF84F1649F}"/>
              </a:ext>
            </a:extLst>
          </p:cNvPr>
          <p:cNvSpPr>
            <a:spLocks noGrp="1"/>
          </p:cNvSpPr>
          <p:nvPr/>
        </p:nvSpPr>
        <p:spPr>
          <a:xfrm>
            <a:off x="6686550" y="1238249"/>
            <a:ext cx="695325" cy="200025"/>
          </a:xfrm>
          <a:prstGeom prst="rect">
            <a:avLst/>
          </a:prstGeom>
          <a:noFill/>
          <a:ln w="0">
            <a:noFill/>
            <a:prstDash val="solid"/>
          </a:ln>
        </p:spPr>
        <p:txBody>
          <a:bodyPr/>
          <a:lstStyle/>
          <a:p>
            <a:pPr algn="l">
              <a:defRPr sz="713" b="1" i="0">
                <a:solidFill>
                  <a:srgbClr val="71858F"/>
                </a:solidFill>
                <a:latin typeface="Aptos"/>
                <a:ea typeface="Aptos"/>
                <a:cs typeface="Aptos"/>
              </a:defRPr>
            </a:pPr>
            <a:r>
              <a:rPr sz="713" b="1" i="0">
                <a:solidFill>
                  <a:srgbClr val="71858F"/>
                </a:solidFill>
                <a:latin typeface="Aptos"/>
                <a:ea typeface="Aptos"/>
                <a:cs typeface="Aptos"/>
              </a:rPr>
              <a:t>FARBCODE</a:t>
            </a:r>
          </a:p>
        </p:txBody>
      </p:sp>
      <p:sp>
        <p:nvSpPr>
          <p:cNvPr id="6" name="Rectangle: Rounded Corners 5">
            <a:extLst>
              <a:ext uri="{FF2B5EF4-FFF2-40B4-BE49-F238E27FC236}">
                <a16:creationId xmlns:a16="http://schemas.microsoft.com/office/drawing/2014/main" id="{D0426DE4-8F9F-4D39-8E3E-8A1F5DF90B45}"/>
              </a:ext>
            </a:extLst>
          </p:cNvPr>
          <p:cNvSpPr>
            <a:spLocks noGrp="1"/>
          </p:cNvSpPr>
          <p:nvPr/>
        </p:nvSpPr>
        <p:spPr>
          <a:xfrm>
            <a:off x="7429500" y="1190625"/>
            <a:ext cx="1524000" cy="219075"/>
          </a:xfrm>
          <a:prstGeom prst="roundRect">
            <a:avLst>
              <a:gd name="adj" fmla="val 50000"/>
            </a:avLst>
          </a:prstGeom>
          <a:solidFill>
            <a:srgbClr val="1B777F"/>
          </a:solidFill>
          <a:ln w="0">
            <a:noFill/>
            <a:prstDash val="solid"/>
          </a:ln>
        </p:spPr>
        <p:txBody>
          <a:bodyPr/>
          <a:lstStyle/>
          <a:p>
            <a:endParaRPr lang="en-US"/>
          </a:p>
        </p:txBody>
      </p:sp>
      <p:sp>
        <p:nvSpPr>
          <p:cNvPr id="7" name="Rectangle 6">
            <a:extLst>
              <a:ext uri="{FF2B5EF4-FFF2-40B4-BE49-F238E27FC236}">
                <a16:creationId xmlns:a16="http://schemas.microsoft.com/office/drawing/2014/main" id="{7B8A47D6-4514-4CAA-9844-CFBF7E900237}"/>
              </a:ext>
            </a:extLst>
          </p:cNvPr>
          <p:cNvSpPr>
            <a:spLocks noGrp="1"/>
          </p:cNvSpPr>
          <p:nvPr/>
        </p:nvSpPr>
        <p:spPr>
          <a:xfrm>
            <a:off x="7467600" y="1228725"/>
            <a:ext cx="1447800" cy="142875"/>
          </a:xfrm>
          <a:prstGeom prst="rect">
            <a:avLst/>
          </a:prstGeom>
          <a:noFill/>
          <a:ln w="0">
            <a:noFill/>
            <a:prstDash val="solid"/>
          </a:ln>
        </p:spPr>
        <p:txBody>
          <a:bodyPr/>
          <a:lstStyle/>
          <a:p>
            <a:pPr algn="ctr">
              <a:defRPr sz="713" b="1" i="0">
                <a:solidFill>
                  <a:srgbClr val="FFFFFF"/>
                </a:solidFill>
                <a:latin typeface="Aptos"/>
                <a:ea typeface="Aptos"/>
                <a:cs typeface="Aptos"/>
              </a:defRPr>
            </a:pPr>
            <a:r>
              <a:rPr sz="713" b="1" i="0">
                <a:solidFill>
                  <a:srgbClr val="FFFFFF"/>
                </a:solidFill>
                <a:latin typeface="Aptos"/>
                <a:ea typeface="Aptos"/>
                <a:cs typeface="Aptos"/>
              </a:rPr>
              <a:t>AKTUELL: regelmäßig erneuert</a:t>
            </a:r>
          </a:p>
        </p:txBody>
      </p:sp>
      <p:sp>
        <p:nvSpPr>
          <p:cNvPr id="8" name="Rectangle: Rounded Corners 7">
            <a:extLst>
              <a:ext uri="{FF2B5EF4-FFF2-40B4-BE49-F238E27FC236}">
                <a16:creationId xmlns:a16="http://schemas.microsoft.com/office/drawing/2014/main" id="{041ED0C4-880E-481C-A37F-E9A0899ECBC4}"/>
              </a:ext>
            </a:extLst>
          </p:cNvPr>
          <p:cNvSpPr>
            <a:spLocks noGrp="1"/>
          </p:cNvSpPr>
          <p:nvPr/>
        </p:nvSpPr>
        <p:spPr>
          <a:xfrm>
            <a:off x="9048750" y="1190625"/>
            <a:ext cx="1143000" cy="219075"/>
          </a:xfrm>
          <a:prstGeom prst="roundRect">
            <a:avLst>
              <a:gd name="adj" fmla="val 50000"/>
            </a:avLst>
          </a:prstGeom>
          <a:solidFill>
            <a:srgbClr val="0B5D7A"/>
          </a:solidFill>
          <a:ln w="0">
            <a:noFill/>
            <a:prstDash val="solid"/>
          </a:ln>
        </p:spPr>
        <p:txBody>
          <a:bodyPr/>
          <a:lstStyle/>
          <a:p>
            <a:endParaRPr lang="en-US"/>
          </a:p>
        </p:txBody>
      </p:sp>
      <p:sp>
        <p:nvSpPr>
          <p:cNvPr id="9" name="Rectangle 8">
            <a:extLst>
              <a:ext uri="{FF2B5EF4-FFF2-40B4-BE49-F238E27FC236}">
                <a16:creationId xmlns:a16="http://schemas.microsoft.com/office/drawing/2014/main" id="{D219F0FB-62CC-4315-8137-82CE83A6DA90}"/>
              </a:ext>
            </a:extLst>
          </p:cNvPr>
          <p:cNvSpPr>
            <a:spLocks noGrp="1"/>
          </p:cNvSpPr>
          <p:nvPr/>
        </p:nvSpPr>
        <p:spPr>
          <a:xfrm>
            <a:off x="9086850" y="1228725"/>
            <a:ext cx="1066800" cy="142875"/>
          </a:xfrm>
          <a:prstGeom prst="rect">
            <a:avLst/>
          </a:prstGeom>
          <a:noFill/>
          <a:ln w="0">
            <a:noFill/>
            <a:prstDash val="solid"/>
          </a:ln>
        </p:spPr>
        <p:txBody>
          <a:bodyPr/>
          <a:lstStyle/>
          <a:p>
            <a:pPr algn="ctr">
              <a:defRPr sz="713" b="1" i="0">
                <a:solidFill>
                  <a:srgbClr val="FFFFFF"/>
                </a:solidFill>
                <a:latin typeface="Aptos"/>
                <a:ea typeface="Aptos"/>
                <a:cs typeface="Aptos"/>
              </a:defRPr>
            </a:pPr>
            <a:r>
              <a:rPr sz="713" b="1" i="0">
                <a:solidFill>
                  <a:srgbClr val="FFFFFF"/>
                </a:solidFill>
                <a:latin typeface="Aptos"/>
                <a:ea typeface="Aptos"/>
                <a:cs typeface="Aptos"/>
              </a:rPr>
              <a:t>HISTORIE: Backtest</a:t>
            </a:r>
          </a:p>
        </p:txBody>
      </p:sp>
      <p:sp>
        <p:nvSpPr>
          <p:cNvPr id="10" name="Rectangle: Rounded Corners 9">
            <a:extLst>
              <a:ext uri="{FF2B5EF4-FFF2-40B4-BE49-F238E27FC236}">
                <a16:creationId xmlns:a16="http://schemas.microsoft.com/office/drawing/2014/main" id="{DAFC8B7C-48AD-444C-872F-7B753F97E2FB}"/>
              </a:ext>
            </a:extLst>
          </p:cNvPr>
          <p:cNvSpPr>
            <a:spLocks noGrp="1"/>
          </p:cNvSpPr>
          <p:nvPr/>
        </p:nvSpPr>
        <p:spPr>
          <a:xfrm>
            <a:off x="10287000" y="1190625"/>
            <a:ext cx="1447800" cy="219075"/>
          </a:xfrm>
          <a:prstGeom prst="roundRect">
            <a:avLst>
              <a:gd name="adj" fmla="val 50000"/>
            </a:avLst>
          </a:prstGeom>
          <a:solidFill>
            <a:srgbClr val="051C2C"/>
          </a:solidFill>
          <a:ln w="0">
            <a:noFill/>
            <a:prstDash val="solid"/>
          </a:ln>
        </p:spPr>
        <p:txBody>
          <a:bodyPr/>
          <a:lstStyle/>
          <a:p>
            <a:endParaRPr lang="en-US"/>
          </a:p>
        </p:txBody>
      </p:sp>
      <p:sp>
        <p:nvSpPr>
          <p:cNvPr id="11" name="Rectangle 10">
            <a:extLst>
              <a:ext uri="{FF2B5EF4-FFF2-40B4-BE49-F238E27FC236}">
                <a16:creationId xmlns:a16="http://schemas.microsoft.com/office/drawing/2014/main" id="{BBC4B724-D922-49C0-9992-12C20B77A002}"/>
              </a:ext>
            </a:extLst>
          </p:cNvPr>
          <p:cNvSpPr>
            <a:spLocks noGrp="1"/>
          </p:cNvSpPr>
          <p:nvPr/>
        </p:nvSpPr>
        <p:spPr>
          <a:xfrm>
            <a:off x="10325100" y="1228725"/>
            <a:ext cx="1371600" cy="142875"/>
          </a:xfrm>
          <a:prstGeom prst="rect">
            <a:avLst/>
          </a:prstGeom>
          <a:noFill/>
          <a:ln w="0">
            <a:noFill/>
            <a:prstDash val="solid"/>
          </a:ln>
        </p:spPr>
        <p:txBody>
          <a:bodyPr/>
          <a:lstStyle/>
          <a:p>
            <a:pPr algn="ctr">
              <a:defRPr sz="713" b="1" i="0">
                <a:solidFill>
                  <a:srgbClr val="FFFFFF"/>
                </a:solidFill>
                <a:latin typeface="Aptos"/>
                <a:ea typeface="Aptos"/>
                <a:cs typeface="Aptos"/>
              </a:defRPr>
            </a:pPr>
            <a:r>
              <a:rPr sz="713" b="1" i="0">
                <a:solidFill>
                  <a:srgbClr val="FFFFFF"/>
                </a:solidFill>
                <a:latin typeface="Aptos"/>
                <a:ea typeface="Aptos"/>
                <a:cs typeface="Aptos"/>
              </a:rPr>
              <a:t>SNAPSHOT: fixer Stichtag</a:t>
            </a:r>
          </a:p>
        </p:txBody>
      </p:sp>
      <p:sp>
        <p:nvSpPr>
          <p:cNvPr id="12" name="Rectangle: Rounded Corners 11">
            <a:extLst>
              <a:ext uri="{FF2B5EF4-FFF2-40B4-BE49-F238E27FC236}">
                <a16:creationId xmlns:a16="http://schemas.microsoft.com/office/drawing/2014/main" id="{4C83DD97-1A59-4A26-B40B-F3467980A776}"/>
              </a:ext>
            </a:extLst>
          </p:cNvPr>
          <p:cNvSpPr>
            <a:spLocks noGrp="1"/>
          </p:cNvSpPr>
          <p:nvPr/>
        </p:nvSpPr>
        <p:spPr>
          <a:xfrm>
            <a:off x="457200" y="1581150"/>
            <a:ext cx="3752850" cy="4476750"/>
          </a:xfrm>
          <a:prstGeom prst="roundRect">
            <a:avLst>
              <a:gd name="adj" fmla="val 3046"/>
            </a:avLst>
          </a:prstGeom>
          <a:solidFill>
            <a:srgbClr val="FFFFFF"/>
          </a:solidFill>
          <a:ln w="9525">
            <a:solidFill>
              <a:srgbClr val="D5E0E5"/>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13" name="Rectangle 12">
            <a:extLst>
              <a:ext uri="{FF2B5EF4-FFF2-40B4-BE49-F238E27FC236}">
                <a16:creationId xmlns:a16="http://schemas.microsoft.com/office/drawing/2014/main" id="{03CC55AA-C5C3-415B-8704-DA73ABBE237C}"/>
              </a:ext>
            </a:extLst>
          </p:cNvPr>
          <p:cNvSpPr>
            <a:spLocks noGrp="1"/>
          </p:cNvSpPr>
          <p:nvPr/>
        </p:nvSpPr>
        <p:spPr>
          <a:xfrm>
            <a:off x="647700" y="1790700"/>
            <a:ext cx="1714500" cy="247650"/>
          </a:xfrm>
          <a:prstGeom prst="rect">
            <a:avLst/>
          </a:prstGeom>
          <a:noFill/>
          <a:ln w="0">
            <a:noFill/>
            <a:prstDash val="solid"/>
          </a:ln>
        </p:spPr>
        <p:txBody>
          <a:bodyPr/>
          <a:lstStyle/>
          <a:p>
            <a:pPr algn="l">
              <a:defRPr sz="1500" b="1" i="0">
                <a:solidFill>
                  <a:srgbClr val="051C2C"/>
                </a:solidFill>
                <a:latin typeface="Aptos Display"/>
                <a:ea typeface="Aptos Display"/>
                <a:cs typeface="Aptos Display"/>
              </a:defRPr>
            </a:pPr>
            <a:r>
              <a:rPr sz="1500" b="1" i="0">
                <a:solidFill>
                  <a:srgbClr val="051C2C"/>
                </a:solidFill>
                <a:latin typeface="Aptos Display"/>
                <a:ea typeface="Aptos Display"/>
                <a:cs typeface="Aptos Display"/>
              </a:rPr>
              <a:t>Bankenfilter</a:t>
            </a:r>
          </a:p>
        </p:txBody>
      </p:sp>
      <p:sp>
        <p:nvSpPr>
          <p:cNvPr id="14" name="Rectangle 13">
            <a:extLst>
              <a:ext uri="{FF2B5EF4-FFF2-40B4-BE49-F238E27FC236}">
                <a16:creationId xmlns:a16="http://schemas.microsoft.com/office/drawing/2014/main" id="{B5A5BAC3-B3A7-48B2-ADCE-0FFCA79B57E7}"/>
              </a:ext>
            </a:extLst>
          </p:cNvPr>
          <p:cNvSpPr>
            <a:spLocks noGrp="1"/>
          </p:cNvSpPr>
          <p:nvPr/>
        </p:nvSpPr>
        <p:spPr>
          <a:xfrm>
            <a:off x="647700" y="2066925"/>
            <a:ext cx="3048000" cy="171450"/>
          </a:xfrm>
          <a:prstGeom prst="rect">
            <a:avLst/>
          </a:prstGeom>
          <a:noFill/>
          <a:ln w="0">
            <a:noFill/>
            <a:prstDash val="solid"/>
          </a:ln>
        </p:spPr>
        <p:txBody>
          <a:bodyPr/>
          <a:lstStyle/>
          <a:p>
            <a:pPr algn="l">
              <a:defRPr sz="863" b="0" i="0">
                <a:solidFill>
                  <a:srgbClr val="71858F"/>
                </a:solidFill>
                <a:latin typeface="Aptos"/>
                <a:ea typeface="Aptos"/>
                <a:cs typeface="Aptos"/>
              </a:defRPr>
            </a:pPr>
            <a:r>
              <a:rPr sz="863" b="0" i="0">
                <a:solidFill>
                  <a:srgbClr val="71858F"/>
                </a:solidFill>
                <a:latin typeface="Aptos"/>
                <a:ea typeface="Aptos"/>
                <a:cs typeface="Aptos"/>
              </a:rPr>
              <a:t>Von 120 EBA-Banken zum belastbaren IRB-Sample</a:t>
            </a:r>
          </a:p>
        </p:txBody>
      </p:sp>
      <p:sp>
        <p:nvSpPr>
          <p:cNvPr id="15" name="Rectangle: Rounded Corners 14">
            <a:extLst>
              <a:ext uri="{FF2B5EF4-FFF2-40B4-BE49-F238E27FC236}">
                <a16:creationId xmlns:a16="http://schemas.microsoft.com/office/drawing/2014/main" id="{77CB2CBF-2E61-44FE-BD15-437AA04F1D86}"/>
              </a:ext>
            </a:extLst>
          </p:cNvPr>
          <p:cNvSpPr>
            <a:spLocks noGrp="1"/>
          </p:cNvSpPr>
          <p:nvPr/>
        </p:nvSpPr>
        <p:spPr>
          <a:xfrm>
            <a:off x="647700" y="2428875"/>
            <a:ext cx="3276600" cy="419100"/>
          </a:xfrm>
          <a:prstGeom prst="roundRect">
            <a:avLst>
              <a:gd name="adj" fmla="val 18182"/>
            </a:avLst>
          </a:prstGeom>
          <a:solidFill>
            <a:srgbClr val="E5ECEF"/>
          </a:solidFill>
          <a:ln w="0">
            <a:noFill/>
            <a:prstDash val="solid"/>
          </a:ln>
        </p:spPr>
        <p:txBody>
          <a:bodyPr/>
          <a:lstStyle/>
          <a:p>
            <a:endParaRPr lang="en-US"/>
          </a:p>
        </p:txBody>
      </p:sp>
      <p:sp>
        <p:nvSpPr>
          <p:cNvPr id="16" name="Rectangle 15">
            <a:extLst>
              <a:ext uri="{FF2B5EF4-FFF2-40B4-BE49-F238E27FC236}">
                <a16:creationId xmlns:a16="http://schemas.microsoft.com/office/drawing/2014/main" id="{FC118C73-75B3-4B84-A400-2651BE0B8117}"/>
              </a:ext>
            </a:extLst>
          </p:cNvPr>
          <p:cNvSpPr>
            <a:spLocks noGrp="1"/>
          </p:cNvSpPr>
          <p:nvPr/>
        </p:nvSpPr>
        <p:spPr>
          <a:xfrm>
            <a:off x="723900" y="2543175"/>
            <a:ext cx="3124200" cy="190500"/>
          </a:xfrm>
          <a:prstGeom prst="rect">
            <a:avLst/>
          </a:prstGeom>
          <a:noFill/>
          <a:ln w="0">
            <a:noFill/>
            <a:prstDash val="solid"/>
          </a:ln>
        </p:spPr>
        <p:txBody>
          <a:bodyPr/>
          <a:lstStyle/>
          <a:p>
            <a:pPr algn="ctr">
              <a:defRPr sz="1050" b="1" i="0">
                <a:solidFill>
                  <a:srgbClr val="051C2C"/>
                </a:solidFill>
                <a:latin typeface="Aptos"/>
                <a:ea typeface="Aptos"/>
                <a:cs typeface="Aptos"/>
              </a:defRPr>
            </a:pPr>
            <a:r>
              <a:rPr sz="1050" b="1" i="0">
                <a:solidFill>
                  <a:srgbClr val="051C2C"/>
                </a:solidFill>
                <a:latin typeface="Aptos"/>
                <a:ea typeface="Aptos"/>
                <a:cs typeface="Aptos"/>
              </a:rPr>
              <a:t>120 · EBA-Banken</a:t>
            </a:r>
          </a:p>
        </p:txBody>
      </p:sp>
      <p:sp>
        <p:nvSpPr>
          <p:cNvPr id="17" name="Rectangle: Rounded Corners 16">
            <a:extLst>
              <a:ext uri="{FF2B5EF4-FFF2-40B4-BE49-F238E27FC236}">
                <a16:creationId xmlns:a16="http://schemas.microsoft.com/office/drawing/2014/main" id="{7D799709-98A0-4F83-9344-8BAF6E8BE682}"/>
              </a:ext>
            </a:extLst>
          </p:cNvPr>
          <p:cNvSpPr>
            <a:spLocks noGrp="1"/>
          </p:cNvSpPr>
          <p:nvPr/>
        </p:nvSpPr>
        <p:spPr>
          <a:xfrm>
            <a:off x="800100" y="2952750"/>
            <a:ext cx="2971800" cy="419100"/>
          </a:xfrm>
          <a:prstGeom prst="roundRect">
            <a:avLst>
              <a:gd name="adj" fmla="val 18182"/>
            </a:avLst>
          </a:prstGeom>
          <a:solidFill>
            <a:srgbClr val="D0DFE4"/>
          </a:solidFill>
          <a:ln w="0">
            <a:noFill/>
            <a:prstDash val="solid"/>
          </a:ln>
        </p:spPr>
        <p:txBody>
          <a:bodyPr/>
          <a:lstStyle/>
          <a:p>
            <a:endParaRPr lang="en-US"/>
          </a:p>
        </p:txBody>
      </p:sp>
      <p:sp>
        <p:nvSpPr>
          <p:cNvPr id="18" name="Rectangle 17">
            <a:extLst>
              <a:ext uri="{FF2B5EF4-FFF2-40B4-BE49-F238E27FC236}">
                <a16:creationId xmlns:a16="http://schemas.microsoft.com/office/drawing/2014/main" id="{7E14DED6-B8D1-46B5-AB21-D87278968FA2}"/>
              </a:ext>
            </a:extLst>
          </p:cNvPr>
          <p:cNvSpPr>
            <a:spLocks noGrp="1"/>
          </p:cNvSpPr>
          <p:nvPr/>
        </p:nvSpPr>
        <p:spPr>
          <a:xfrm>
            <a:off x="876300" y="3067050"/>
            <a:ext cx="2819400" cy="190500"/>
          </a:xfrm>
          <a:prstGeom prst="rect">
            <a:avLst/>
          </a:prstGeom>
          <a:noFill/>
          <a:ln w="0">
            <a:noFill/>
            <a:prstDash val="solid"/>
          </a:ln>
        </p:spPr>
        <p:txBody>
          <a:bodyPr/>
          <a:lstStyle/>
          <a:p>
            <a:pPr algn="ctr">
              <a:defRPr sz="1050" b="1" i="0">
                <a:solidFill>
                  <a:srgbClr val="051C2C"/>
                </a:solidFill>
                <a:latin typeface="Aptos"/>
                <a:ea typeface="Aptos"/>
                <a:cs typeface="Aptos"/>
              </a:defRPr>
            </a:pPr>
            <a:r>
              <a:rPr sz="1050" b="1" i="0">
                <a:solidFill>
                  <a:srgbClr val="051C2C"/>
                </a:solidFill>
                <a:latin typeface="Aptos"/>
                <a:ea typeface="Aptos"/>
                <a:cs typeface="Aptos"/>
              </a:rPr>
              <a:t>67 · Banken mit IRB-Ansatz</a:t>
            </a:r>
          </a:p>
        </p:txBody>
      </p:sp>
      <p:sp>
        <p:nvSpPr>
          <p:cNvPr id="19" name="Rectangle: Rounded Corners 18">
            <a:extLst>
              <a:ext uri="{FF2B5EF4-FFF2-40B4-BE49-F238E27FC236}">
                <a16:creationId xmlns:a16="http://schemas.microsoft.com/office/drawing/2014/main" id="{8D9B2BB3-FD5D-4C63-97B7-C92B029BFF29}"/>
              </a:ext>
            </a:extLst>
          </p:cNvPr>
          <p:cNvSpPr>
            <a:spLocks noGrp="1"/>
          </p:cNvSpPr>
          <p:nvPr/>
        </p:nvSpPr>
        <p:spPr>
          <a:xfrm>
            <a:off x="952500" y="3476625"/>
            <a:ext cx="2667000" cy="419100"/>
          </a:xfrm>
          <a:prstGeom prst="roundRect">
            <a:avLst>
              <a:gd name="adj" fmla="val 18182"/>
            </a:avLst>
          </a:prstGeom>
          <a:solidFill>
            <a:srgbClr val="AFC8D1"/>
          </a:solidFill>
          <a:ln w="0">
            <a:noFill/>
            <a:prstDash val="solid"/>
          </a:ln>
        </p:spPr>
        <p:txBody>
          <a:bodyPr/>
          <a:lstStyle/>
          <a:p>
            <a:endParaRPr lang="en-US"/>
          </a:p>
        </p:txBody>
      </p:sp>
      <p:sp>
        <p:nvSpPr>
          <p:cNvPr id="20" name="Rectangle 19">
            <a:extLst>
              <a:ext uri="{FF2B5EF4-FFF2-40B4-BE49-F238E27FC236}">
                <a16:creationId xmlns:a16="http://schemas.microsoft.com/office/drawing/2014/main" id="{569A90CB-AE08-48CB-AAAE-647C16798D2A}"/>
              </a:ext>
            </a:extLst>
          </p:cNvPr>
          <p:cNvSpPr>
            <a:spLocks noGrp="1"/>
          </p:cNvSpPr>
          <p:nvPr/>
        </p:nvSpPr>
        <p:spPr>
          <a:xfrm>
            <a:off x="1028700" y="3590925"/>
            <a:ext cx="2514600" cy="190500"/>
          </a:xfrm>
          <a:prstGeom prst="rect">
            <a:avLst/>
          </a:prstGeom>
          <a:noFill/>
          <a:ln w="0">
            <a:noFill/>
            <a:prstDash val="solid"/>
          </a:ln>
        </p:spPr>
        <p:txBody>
          <a:bodyPr/>
          <a:lstStyle/>
          <a:p>
            <a:pPr algn="ctr">
              <a:defRPr sz="1050" b="1" i="0">
                <a:solidFill>
                  <a:srgbClr val="051C2C"/>
                </a:solidFill>
                <a:latin typeface="Aptos"/>
                <a:ea typeface="Aptos"/>
                <a:cs typeface="Aptos"/>
              </a:defRPr>
            </a:pPr>
            <a:r>
              <a:rPr sz="1050" b="1" i="0">
                <a:solidFill>
                  <a:srgbClr val="051C2C"/>
                </a:solidFill>
                <a:latin typeface="Aptos"/>
                <a:ea typeface="Aptos"/>
                <a:cs typeface="Aptos"/>
              </a:rPr>
              <a:t>10 · Top-Banken nach IRB-EAD</a:t>
            </a:r>
          </a:p>
        </p:txBody>
      </p:sp>
      <p:sp>
        <p:nvSpPr>
          <p:cNvPr id="21" name="Rectangle: Rounded Corners 20">
            <a:extLst>
              <a:ext uri="{FF2B5EF4-FFF2-40B4-BE49-F238E27FC236}">
                <a16:creationId xmlns:a16="http://schemas.microsoft.com/office/drawing/2014/main" id="{C5F102DF-A47B-431C-9094-478313984FDB}"/>
              </a:ext>
            </a:extLst>
          </p:cNvPr>
          <p:cNvSpPr>
            <a:spLocks noGrp="1"/>
          </p:cNvSpPr>
          <p:nvPr/>
        </p:nvSpPr>
        <p:spPr>
          <a:xfrm>
            <a:off x="1104900" y="4000499"/>
            <a:ext cx="2362200" cy="428625"/>
          </a:xfrm>
          <a:prstGeom prst="roundRect">
            <a:avLst>
              <a:gd name="adj" fmla="val 18182"/>
            </a:avLst>
          </a:prstGeom>
          <a:solidFill>
            <a:srgbClr val="78A4B2"/>
          </a:solidFill>
          <a:ln w="0">
            <a:noFill/>
            <a:prstDash val="solid"/>
          </a:ln>
        </p:spPr>
        <p:txBody>
          <a:bodyPr/>
          <a:lstStyle/>
          <a:p>
            <a:endParaRPr lang="en-US"/>
          </a:p>
        </p:txBody>
      </p:sp>
      <p:sp>
        <p:nvSpPr>
          <p:cNvPr id="22" name="Rectangle 21">
            <a:extLst>
              <a:ext uri="{FF2B5EF4-FFF2-40B4-BE49-F238E27FC236}">
                <a16:creationId xmlns:a16="http://schemas.microsoft.com/office/drawing/2014/main" id="{EBBDDFF5-9663-4842-9657-F78469FE6DC7}"/>
              </a:ext>
            </a:extLst>
          </p:cNvPr>
          <p:cNvSpPr>
            <a:spLocks noGrp="1"/>
          </p:cNvSpPr>
          <p:nvPr/>
        </p:nvSpPr>
        <p:spPr>
          <a:xfrm>
            <a:off x="1181100" y="4114800"/>
            <a:ext cx="2209800" cy="190500"/>
          </a:xfrm>
          <a:prstGeom prst="rect">
            <a:avLst/>
          </a:prstGeom>
          <a:noFill/>
          <a:ln w="0">
            <a:noFill/>
            <a:prstDash val="solid"/>
          </a:ln>
        </p:spPr>
        <p:txBody>
          <a:bodyPr anchor="ctr"/>
          <a:lstStyle/>
          <a:p>
            <a:pPr algn="ctr">
              <a:defRPr sz="1050" b="1" i="0">
                <a:solidFill>
                  <a:srgbClr val="051C2C"/>
                </a:solidFill>
                <a:latin typeface="Aptos"/>
                <a:ea typeface="Aptos"/>
                <a:cs typeface="Aptos"/>
              </a:defRPr>
            </a:pPr>
            <a:r>
              <a:rPr sz="1050" b="1" i="0">
                <a:solidFill>
                  <a:srgbClr val="051C2C"/>
                </a:solidFill>
                <a:latin typeface="Aptos"/>
                <a:ea typeface="Aptos"/>
                <a:cs typeface="Aptos"/>
              </a:rPr>
              <a:t>Einheitlicher Audit-Trail</a:t>
            </a:r>
          </a:p>
        </p:txBody>
      </p:sp>
      <p:sp>
        <p:nvSpPr>
          <p:cNvPr id="23" name="Rectangle: Rounded Corners 22">
            <a:extLst>
              <a:ext uri="{FF2B5EF4-FFF2-40B4-BE49-F238E27FC236}">
                <a16:creationId xmlns:a16="http://schemas.microsoft.com/office/drawing/2014/main" id="{7D397DCC-2C43-4A6F-82BB-C7CA14827ED1}"/>
              </a:ext>
            </a:extLst>
          </p:cNvPr>
          <p:cNvSpPr>
            <a:spLocks noGrp="1"/>
          </p:cNvSpPr>
          <p:nvPr/>
        </p:nvSpPr>
        <p:spPr>
          <a:xfrm>
            <a:off x="1104900" y="4591050"/>
            <a:ext cx="2362200" cy="590550"/>
          </a:xfrm>
          <a:prstGeom prst="roundRect">
            <a:avLst>
              <a:gd name="adj" fmla="val 19355"/>
            </a:avLst>
          </a:prstGeom>
          <a:solidFill>
            <a:srgbClr val="051C2C"/>
          </a:solidFill>
          <a:ln w="0">
            <a:noFill/>
            <a:prstDash val="solid"/>
          </a:ln>
        </p:spPr>
        <p:txBody>
          <a:bodyPr/>
          <a:lstStyle/>
          <a:p>
            <a:endParaRPr lang="en-US"/>
          </a:p>
        </p:txBody>
      </p:sp>
      <p:sp>
        <p:nvSpPr>
          <p:cNvPr id="24" name="Rectangle 23">
            <a:extLst>
              <a:ext uri="{FF2B5EF4-FFF2-40B4-BE49-F238E27FC236}">
                <a16:creationId xmlns:a16="http://schemas.microsoft.com/office/drawing/2014/main" id="{5CE102AA-1637-4E70-B46D-0C4A59BEA7B7}"/>
              </a:ext>
            </a:extLst>
          </p:cNvPr>
          <p:cNvSpPr>
            <a:spLocks noGrp="1"/>
          </p:cNvSpPr>
          <p:nvPr/>
        </p:nvSpPr>
        <p:spPr>
          <a:xfrm>
            <a:off x="1200150" y="4705350"/>
            <a:ext cx="2171700" cy="219075"/>
          </a:xfrm>
          <a:prstGeom prst="rect">
            <a:avLst/>
          </a:prstGeom>
          <a:noFill/>
          <a:ln w="0">
            <a:noFill/>
            <a:prstDash val="solid"/>
          </a:ln>
        </p:spPr>
        <p:txBody>
          <a:bodyPr/>
          <a:lstStyle/>
          <a:p>
            <a:pPr algn="ctr">
              <a:defRPr sz="1425" b="1" i="0">
                <a:solidFill>
                  <a:srgbClr val="FFFFFF"/>
                </a:solidFill>
                <a:latin typeface="Aptos Display"/>
                <a:ea typeface="Aptos Display"/>
                <a:cs typeface="Aptos Display"/>
              </a:defRPr>
            </a:pPr>
            <a:r>
              <a:rPr sz="1425" b="1" i="0">
                <a:solidFill>
                  <a:srgbClr val="FFFFFF"/>
                </a:solidFill>
                <a:latin typeface="Aptos Display"/>
                <a:ea typeface="Aptos Display"/>
                <a:cs typeface="Aptos Display"/>
              </a:rPr>
              <a:t>10 BANKEN · €8,28 tn</a:t>
            </a:r>
          </a:p>
        </p:txBody>
      </p:sp>
      <p:sp>
        <p:nvSpPr>
          <p:cNvPr id="25" name="Rectangle 24">
            <a:extLst>
              <a:ext uri="{FF2B5EF4-FFF2-40B4-BE49-F238E27FC236}">
                <a16:creationId xmlns:a16="http://schemas.microsoft.com/office/drawing/2014/main" id="{83DB40A9-6424-4511-99D0-2A32F19A9F4D}"/>
              </a:ext>
            </a:extLst>
          </p:cNvPr>
          <p:cNvSpPr>
            <a:spLocks noGrp="1"/>
          </p:cNvSpPr>
          <p:nvPr/>
        </p:nvSpPr>
        <p:spPr>
          <a:xfrm>
            <a:off x="1200150" y="4972050"/>
            <a:ext cx="2171700" cy="152400"/>
          </a:xfrm>
          <a:prstGeom prst="rect">
            <a:avLst/>
          </a:prstGeom>
          <a:noFill/>
          <a:ln w="0">
            <a:noFill/>
            <a:prstDash val="solid"/>
          </a:ln>
        </p:spPr>
        <p:txBody>
          <a:bodyPr/>
          <a:lstStyle/>
          <a:p>
            <a:pPr algn="ctr">
              <a:defRPr sz="863" b="1" i="0">
                <a:solidFill>
                  <a:srgbClr val="DCE8ED"/>
                </a:solidFill>
                <a:latin typeface="Aptos"/>
                <a:ea typeface="Aptos"/>
                <a:cs typeface="Aptos"/>
              </a:defRPr>
            </a:pPr>
            <a:r>
              <a:rPr sz="863" b="1" i="0">
                <a:solidFill>
                  <a:srgbClr val="DCE8ED"/>
                </a:solidFill>
                <a:latin typeface="Aptos"/>
                <a:ea typeface="Aptos"/>
                <a:cs typeface="Aptos"/>
              </a:rPr>
              <a:t>56 % der EU-IRB-EAD</a:t>
            </a:r>
          </a:p>
        </p:txBody>
      </p:sp>
      <p:sp>
        <p:nvSpPr>
          <p:cNvPr id="26" name="Rectangle: Rounded Corners 25">
            <a:extLst>
              <a:ext uri="{FF2B5EF4-FFF2-40B4-BE49-F238E27FC236}">
                <a16:creationId xmlns:a16="http://schemas.microsoft.com/office/drawing/2014/main" id="{5D4A28EE-650F-4EA1-82AC-6E907BB00B4E}"/>
              </a:ext>
            </a:extLst>
          </p:cNvPr>
          <p:cNvSpPr>
            <a:spLocks noGrp="1"/>
          </p:cNvSpPr>
          <p:nvPr/>
        </p:nvSpPr>
        <p:spPr>
          <a:xfrm>
            <a:off x="647700" y="5343525"/>
            <a:ext cx="3276600" cy="495300"/>
          </a:xfrm>
          <a:prstGeom prst="roundRect">
            <a:avLst>
              <a:gd name="adj" fmla="val 23077"/>
            </a:avLst>
          </a:prstGeom>
          <a:solidFill>
            <a:srgbClr val="F5E5E9"/>
          </a:solidFill>
          <a:ln w="9525">
            <a:solidFill>
              <a:srgbClr val="EBC8D1"/>
            </a:solidFill>
            <a:prstDash val="solid"/>
          </a:ln>
        </p:spPr>
        <p:txBody>
          <a:bodyPr/>
          <a:lstStyle/>
          <a:p>
            <a:endParaRPr lang="en-US"/>
          </a:p>
        </p:txBody>
      </p:sp>
      <p:sp>
        <p:nvSpPr>
          <p:cNvPr id="27" name="Rectangle 26">
            <a:extLst>
              <a:ext uri="{FF2B5EF4-FFF2-40B4-BE49-F238E27FC236}">
                <a16:creationId xmlns:a16="http://schemas.microsoft.com/office/drawing/2014/main" id="{E1CB37A8-3E57-4807-8843-D612CB32ACF7}"/>
              </a:ext>
            </a:extLst>
          </p:cNvPr>
          <p:cNvSpPr>
            <a:spLocks noGrp="1"/>
          </p:cNvSpPr>
          <p:nvPr/>
        </p:nvSpPr>
        <p:spPr>
          <a:xfrm>
            <a:off x="742950" y="5448300"/>
            <a:ext cx="3086100" cy="304800"/>
          </a:xfrm>
          <a:prstGeom prst="rect">
            <a:avLst/>
          </a:prstGeom>
          <a:noFill/>
          <a:ln w="0">
            <a:noFill/>
            <a:prstDash val="solid"/>
          </a:ln>
        </p:spPr>
        <p:txBody>
          <a:bodyPr/>
          <a:lstStyle/>
          <a:p>
            <a:pPr algn="ctr">
              <a:defRPr sz="840" b="1" i="0">
                <a:solidFill>
                  <a:srgbClr val="A52F4D"/>
                </a:solidFill>
                <a:latin typeface="Aptos"/>
                <a:ea typeface="Aptos"/>
                <a:cs typeface="Aptos"/>
              </a:defRPr>
            </a:pPr>
            <a:r>
              <a:rPr sz="840" b="1" i="0" err="1">
                <a:solidFill>
                  <a:srgbClr val="A52F4D"/>
                </a:solidFill>
                <a:latin typeface="Aptos"/>
                <a:ea typeface="Aptos"/>
                <a:cs typeface="Aptos"/>
              </a:rPr>
              <a:t>Herausgefiltert</a:t>
            </a:r>
            <a:r>
              <a:rPr sz="840" b="1" i="0">
                <a:solidFill>
                  <a:srgbClr val="A52F4D"/>
                </a:solidFill>
                <a:latin typeface="Aptos"/>
                <a:ea typeface="Aptos"/>
                <a:cs typeface="Aptos"/>
              </a:rPr>
              <a:t>: Nicht-IRB-Banken</a:t>
            </a:r>
          </a:p>
        </p:txBody>
      </p:sp>
      <p:sp>
        <p:nvSpPr>
          <p:cNvPr id="28" name="Rectangle: Rounded Corners 27">
            <a:extLst>
              <a:ext uri="{FF2B5EF4-FFF2-40B4-BE49-F238E27FC236}">
                <a16:creationId xmlns:a16="http://schemas.microsoft.com/office/drawing/2014/main" id="{9BF0B174-816C-40C2-88D3-16A0A0CFD308}"/>
              </a:ext>
            </a:extLst>
          </p:cNvPr>
          <p:cNvSpPr>
            <a:spLocks noGrp="1"/>
          </p:cNvSpPr>
          <p:nvPr/>
        </p:nvSpPr>
        <p:spPr>
          <a:xfrm>
            <a:off x="4400550" y="1581150"/>
            <a:ext cx="7334250" cy="4476750"/>
          </a:xfrm>
          <a:prstGeom prst="roundRect">
            <a:avLst>
              <a:gd name="adj" fmla="val 2553"/>
            </a:avLst>
          </a:prstGeom>
          <a:solidFill>
            <a:srgbClr val="FFFFFF"/>
          </a:solidFill>
          <a:ln w="9525">
            <a:solidFill>
              <a:srgbClr val="D5E0E5"/>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29" name="Rectangle 28">
            <a:extLst>
              <a:ext uri="{FF2B5EF4-FFF2-40B4-BE49-F238E27FC236}">
                <a16:creationId xmlns:a16="http://schemas.microsoft.com/office/drawing/2014/main" id="{9229BA04-EDA6-450D-960A-DCB4CB8FC566}"/>
              </a:ext>
            </a:extLst>
          </p:cNvPr>
          <p:cNvSpPr>
            <a:spLocks noGrp="1"/>
          </p:cNvSpPr>
          <p:nvPr/>
        </p:nvSpPr>
        <p:spPr>
          <a:xfrm>
            <a:off x="4591050" y="1790700"/>
            <a:ext cx="2095500" cy="247650"/>
          </a:xfrm>
          <a:prstGeom prst="rect">
            <a:avLst/>
          </a:prstGeom>
          <a:noFill/>
          <a:ln w="0">
            <a:noFill/>
            <a:prstDash val="solid"/>
          </a:ln>
        </p:spPr>
        <p:txBody>
          <a:bodyPr/>
          <a:lstStyle/>
          <a:p>
            <a:pPr algn="l">
              <a:defRPr sz="1500" b="1" i="0">
                <a:solidFill>
                  <a:srgbClr val="051C2C"/>
                </a:solidFill>
                <a:latin typeface="Aptos Display"/>
                <a:ea typeface="Aptos Display"/>
                <a:cs typeface="Aptos Display"/>
              </a:defRPr>
            </a:pPr>
            <a:r>
              <a:rPr sz="1500" b="1" i="0">
                <a:solidFill>
                  <a:srgbClr val="051C2C"/>
                </a:solidFill>
                <a:latin typeface="Aptos Display"/>
                <a:ea typeface="Aptos Display"/>
                <a:cs typeface="Aptos Display"/>
              </a:rPr>
              <a:t>Datenquellen</a:t>
            </a:r>
          </a:p>
        </p:txBody>
      </p:sp>
      <p:sp>
        <p:nvSpPr>
          <p:cNvPr id="30" name="Rectangle 29">
            <a:extLst>
              <a:ext uri="{FF2B5EF4-FFF2-40B4-BE49-F238E27FC236}">
                <a16:creationId xmlns:a16="http://schemas.microsoft.com/office/drawing/2014/main" id="{36BE3572-02A9-4BC5-8755-DA4EB85A7E36}"/>
              </a:ext>
            </a:extLst>
          </p:cNvPr>
          <p:cNvSpPr>
            <a:spLocks noGrp="1"/>
          </p:cNvSpPr>
          <p:nvPr/>
        </p:nvSpPr>
        <p:spPr>
          <a:xfrm>
            <a:off x="4591050" y="2066925"/>
            <a:ext cx="3810000" cy="171450"/>
          </a:xfrm>
          <a:prstGeom prst="rect">
            <a:avLst/>
          </a:prstGeom>
          <a:noFill/>
          <a:ln w="0">
            <a:noFill/>
            <a:prstDash val="solid"/>
          </a:ln>
        </p:spPr>
        <p:txBody>
          <a:bodyPr/>
          <a:lstStyle/>
          <a:p>
            <a:pPr algn="l">
              <a:defRPr sz="863" b="0" i="0">
                <a:solidFill>
                  <a:srgbClr val="71858F"/>
                </a:solidFill>
                <a:latin typeface="Aptos"/>
                <a:ea typeface="Aptos"/>
                <a:cs typeface="Aptos"/>
              </a:defRPr>
            </a:pPr>
            <a:r>
              <a:rPr sz="863" b="0" i="0">
                <a:solidFill>
                  <a:srgbClr val="71858F"/>
                </a:solidFill>
                <a:latin typeface="Aptos"/>
                <a:ea typeface="Aptos"/>
                <a:cs typeface="Aptos"/>
              </a:rPr>
              <a:t>Was wird aktualisiert – und wofür wird es verwendet?</a:t>
            </a:r>
          </a:p>
        </p:txBody>
      </p:sp>
      <p:sp>
        <p:nvSpPr>
          <p:cNvPr id="31" name="Rectangle: Rounded Corners 30">
            <a:extLst>
              <a:ext uri="{FF2B5EF4-FFF2-40B4-BE49-F238E27FC236}">
                <a16:creationId xmlns:a16="http://schemas.microsoft.com/office/drawing/2014/main" id="{7C75ED93-9B35-489C-B09C-B9798D367F71}"/>
              </a:ext>
            </a:extLst>
          </p:cNvPr>
          <p:cNvSpPr>
            <a:spLocks noGrp="1"/>
          </p:cNvSpPr>
          <p:nvPr/>
        </p:nvSpPr>
        <p:spPr>
          <a:xfrm>
            <a:off x="4591050" y="2333625"/>
            <a:ext cx="3371850" cy="876300"/>
          </a:xfrm>
          <a:prstGeom prst="roundRect">
            <a:avLst>
              <a:gd name="adj" fmla="val 13043"/>
            </a:avLst>
          </a:prstGeom>
          <a:solidFill>
            <a:srgbClr val="FFFFFF"/>
          </a:solidFill>
          <a:ln w="9525">
            <a:solidFill>
              <a:srgbClr val="D5E0E5"/>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32" name="Rectangle 31">
            <a:extLst>
              <a:ext uri="{FF2B5EF4-FFF2-40B4-BE49-F238E27FC236}">
                <a16:creationId xmlns:a16="http://schemas.microsoft.com/office/drawing/2014/main" id="{CFAFFF98-D443-4C43-A8FC-0BCACEAFD615}"/>
              </a:ext>
            </a:extLst>
          </p:cNvPr>
          <p:cNvSpPr>
            <a:spLocks noGrp="1"/>
          </p:cNvSpPr>
          <p:nvPr/>
        </p:nvSpPr>
        <p:spPr>
          <a:xfrm>
            <a:off x="4591050" y="2333625"/>
            <a:ext cx="57150" cy="876300"/>
          </a:xfrm>
          <a:prstGeom prst="rect">
            <a:avLst/>
          </a:prstGeom>
          <a:solidFill>
            <a:srgbClr val="1B777F"/>
          </a:solidFill>
          <a:ln w="0">
            <a:noFill/>
            <a:prstDash val="solid"/>
          </a:ln>
        </p:spPr>
        <p:txBody>
          <a:bodyPr/>
          <a:lstStyle/>
          <a:p>
            <a:endParaRPr lang="en-US"/>
          </a:p>
        </p:txBody>
      </p:sp>
      <p:sp>
        <p:nvSpPr>
          <p:cNvPr id="33" name="Rectangle: Rounded Corners 32">
            <a:extLst>
              <a:ext uri="{FF2B5EF4-FFF2-40B4-BE49-F238E27FC236}">
                <a16:creationId xmlns:a16="http://schemas.microsoft.com/office/drawing/2014/main" id="{21A19A9A-D573-4582-B9A6-9FA15D84661D}"/>
              </a:ext>
            </a:extLst>
          </p:cNvPr>
          <p:cNvSpPr>
            <a:spLocks noGrp="1"/>
          </p:cNvSpPr>
          <p:nvPr/>
        </p:nvSpPr>
        <p:spPr>
          <a:xfrm>
            <a:off x="4733925" y="2447925"/>
            <a:ext cx="1181100" cy="219075"/>
          </a:xfrm>
          <a:prstGeom prst="roundRect">
            <a:avLst>
              <a:gd name="adj" fmla="val 50000"/>
            </a:avLst>
          </a:prstGeom>
          <a:solidFill>
            <a:srgbClr val="1B777F"/>
          </a:solidFill>
          <a:ln w="0">
            <a:noFill/>
            <a:prstDash val="solid"/>
          </a:ln>
        </p:spPr>
        <p:txBody>
          <a:bodyPr/>
          <a:lstStyle/>
          <a:p>
            <a:endParaRPr lang="en-US"/>
          </a:p>
        </p:txBody>
      </p:sp>
      <p:sp>
        <p:nvSpPr>
          <p:cNvPr id="34" name="Rectangle 33">
            <a:extLst>
              <a:ext uri="{FF2B5EF4-FFF2-40B4-BE49-F238E27FC236}">
                <a16:creationId xmlns:a16="http://schemas.microsoft.com/office/drawing/2014/main" id="{95549009-A154-474B-B68A-1BD4E2100FFB}"/>
              </a:ext>
            </a:extLst>
          </p:cNvPr>
          <p:cNvSpPr>
            <a:spLocks noGrp="1"/>
          </p:cNvSpPr>
          <p:nvPr/>
        </p:nvSpPr>
        <p:spPr>
          <a:xfrm>
            <a:off x="4772025" y="2486025"/>
            <a:ext cx="1104900" cy="142875"/>
          </a:xfrm>
          <a:prstGeom prst="rect">
            <a:avLst/>
          </a:prstGeom>
          <a:noFill/>
          <a:ln w="0">
            <a:noFill/>
            <a:prstDash val="solid"/>
          </a:ln>
        </p:spPr>
        <p:txBody>
          <a:bodyPr/>
          <a:lstStyle/>
          <a:p>
            <a:pPr algn="ctr">
              <a:defRPr sz="713" b="1" i="0">
                <a:solidFill>
                  <a:srgbClr val="FFFFFF"/>
                </a:solidFill>
                <a:latin typeface="Aptos"/>
                <a:ea typeface="Aptos"/>
                <a:cs typeface="Aptos"/>
              </a:defRPr>
            </a:pPr>
            <a:r>
              <a:rPr sz="713" b="1" i="0">
                <a:solidFill>
                  <a:srgbClr val="FFFFFF"/>
                </a:solidFill>
                <a:latin typeface="Aptos"/>
                <a:ea typeface="Aptos"/>
                <a:cs typeface="Aptos"/>
              </a:rPr>
              <a:t>AKTUELL + HISTORIE</a:t>
            </a:r>
          </a:p>
        </p:txBody>
      </p:sp>
      <p:sp>
        <p:nvSpPr>
          <p:cNvPr id="35" name="Rectangle 34">
            <a:extLst>
              <a:ext uri="{FF2B5EF4-FFF2-40B4-BE49-F238E27FC236}">
                <a16:creationId xmlns:a16="http://schemas.microsoft.com/office/drawing/2014/main" id="{CA969357-E231-4829-9167-A217B46F8A50}"/>
              </a:ext>
            </a:extLst>
          </p:cNvPr>
          <p:cNvSpPr>
            <a:spLocks noGrp="1"/>
          </p:cNvSpPr>
          <p:nvPr/>
        </p:nvSpPr>
        <p:spPr>
          <a:xfrm>
            <a:off x="4733925" y="2762250"/>
            <a:ext cx="3105150" cy="238125"/>
          </a:xfrm>
          <a:prstGeom prst="rect">
            <a:avLst/>
          </a:prstGeom>
          <a:noFill/>
          <a:ln w="0">
            <a:noFill/>
            <a:prstDash val="solid"/>
          </a:ln>
        </p:spPr>
        <p:txBody>
          <a:bodyPr/>
          <a:lstStyle/>
          <a:p>
            <a:pPr algn="l">
              <a:defRPr sz="1275" b="1" i="0">
                <a:solidFill>
                  <a:srgbClr val="051C2C"/>
                </a:solidFill>
                <a:latin typeface="Aptos Display"/>
                <a:ea typeface="Aptos Display"/>
                <a:cs typeface="Aptos Display"/>
              </a:defRPr>
            </a:pPr>
            <a:r>
              <a:rPr sz="1275" b="1" i="0">
                <a:solidFill>
                  <a:srgbClr val="051C2C"/>
                </a:solidFill>
                <a:latin typeface="Aptos Display"/>
                <a:ea typeface="Aptos Display"/>
                <a:cs typeface="Aptos Display"/>
              </a:rPr>
              <a:t>ICE Brent</a:t>
            </a:r>
          </a:p>
        </p:txBody>
      </p:sp>
      <p:sp>
        <p:nvSpPr>
          <p:cNvPr id="36" name="Rectangle 35">
            <a:extLst>
              <a:ext uri="{FF2B5EF4-FFF2-40B4-BE49-F238E27FC236}">
                <a16:creationId xmlns:a16="http://schemas.microsoft.com/office/drawing/2014/main" id="{ECC50D64-3879-4F8D-B371-F4FEBB8D4F63}"/>
              </a:ext>
            </a:extLst>
          </p:cNvPr>
          <p:cNvSpPr>
            <a:spLocks noGrp="1"/>
          </p:cNvSpPr>
          <p:nvPr/>
        </p:nvSpPr>
        <p:spPr>
          <a:xfrm>
            <a:off x="4733925" y="3019425"/>
            <a:ext cx="3105150" cy="133350"/>
          </a:xfrm>
          <a:prstGeom prst="rect">
            <a:avLst/>
          </a:prstGeom>
          <a:noFill/>
          <a:ln w="0">
            <a:noFill/>
            <a:prstDash val="solid"/>
          </a:ln>
        </p:spPr>
        <p:txBody>
          <a:bodyPr/>
          <a:lstStyle/>
          <a:p>
            <a:pPr algn="l">
              <a:defRPr sz="810" b="0" i="0">
                <a:solidFill>
                  <a:srgbClr val="4F6875"/>
                </a:solidFill>
                <a:latin typeface="Aptos"/>
                <a:ea typeface="Aptos"/>
                <a:cs typeface="Aptos"/>
              </a:defRPr>
            </a:pPr>
            <a:r>
              <a:rPr sz="810" b="0" i="0">
                <a:solidFill>
                  <a:srgbClr val="4F6875"/>
                </a:solidFill>
                <a:latin typeface="Aptos"/>
                <a:ea typeface="Aptos"/>
                <a:cs typeface="Aptos"/>
              </a:rPr>
              <a:t>Marktschluss &amp; Historie · Ölpreis-Schock</a:t>
            </a:r>
          </a:p>
        </p:txBody>
      </p:sp>
      <p:sp>
        <p:nvSpPr>
          <p:cNvPr id="37" name="Rectangle: Rounded Corners 36">
            <a:extLst>
              <a:ext uri="{FF2B5EF4-FFF2-40B4-BE49-F238E27FC236}">
                <a16:creationId xmlns:a16="http://schemas.microsoft.com/office/drawing/2014/main" id="{92BF4FB4-480B-49E6-8EC9-0D52A746A003}"/>
              </a:ext>
            </a:extLst>
          </p:cNvPr>
          <p:cNvSpPr>
            <a:spLocks noGrp="1"/>
          </p:cNvSpPr>
          <p:nvPr/>
        </p:nvSpPr>
        <p:spPr>
          <a:xfrm>
            <a:off x="8134350" y="2333625"/>
            <a:ext cx="3371850" cy="876300"/>
          </a:xfrm>
          <a:prstGeom prst="roundRect">
            <a:avLst>
              <a:gd name="adj" fmla="val 13043"/>
            </a:avLst>
          </a:prstGeom>
          <a:solidFill>
            <a:srgbClr val="FFFFFF"/>
          </a:solidFill>
          <a:ln w="9525">
            <a:solidFill>
              <a:srgbClr val="D5E0E5"/>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38" name="Rectangle 37">
            <a:extLst>
              <a:ext uri="{FF2B5EF4-FFF2-40B4-BE49-F238E27FC236}">
                <a16:creationId xmlns:a16="http://schemas.microsoft.com/office/drawing/2014/main" id="{983427E1-E27C-4A4B-BEDD-283970EFCB3F}"/>
              </a:ext>
            </a:extLst>
          </p:cNvPr>
          <p:cNvSpPr>
            <a:spLocks noGrp="1"/>
          </p:cNvSpPr>
          <p:nvPr/>
        </p:nvSpPr>
        <p:spPr>
          <a:xfrm>
            <a:off x="8134350" y="2333625"/>
            <a:ext cx="57150" cy="876300"/>
          </a:xfrm>
          <a:prstGeom prst="rect">
            <a:avLst/>
          </a:prstGeom>
          <a:solidFill>
            <a:srgbClr val="1B777F"/>
          </a:solidFill>
          <a:ln w="0">
            <a:noFill/>
            <a:prstDash val="solid"/>
          </a:ln>
        </p:spPr>
        <p:txBody>
          <a:bodyPr/>
          <a:lstStyle/>
          <a:p>
            <a:endParaRPr lang="en-US"/>
          </a:p>
        </p:txBody>
      </p:sp>
      <p:sp>
        <p:nvSpPr>
          <p:cNvPr id="39" name="Rectangle: Rounded Corners 38">
            <a:extLst>
              <a:ext uri="{FF2B5EF4-FFF2-40B4-BE49-F238E27FC236}">
                <a16:creationId xmlns:a16="http://schemas.microsoft.com/office/drawing/2014/main" id="{2A2B633B-06E8-417E-BC28-BAF3BCDDF86A}"/>
              </a:ext>
            </a:extLst>
          </p:cNvPr>
          <p:cNvSpPr>
            <a:spLocks noGrp="1"/>
          </p:cNvSpPr>
          <p:nvPr/>
        </p:nvSpPr>
        <p:spPr>
          <a:xfrm>
            <a:off x="8277225" y="2447925"/>
            <a:ext cx="1181100" cy="219075"/>
          </a:xfrm>
          <a:prstGeom prst="roundRect">
            <a:avLst>
              <a:gd name="adj" fmla="val 50000"/>
            </a:avLst>
          </a:prstGeom>
          <a:solidFill>
            <a:srgbClr val="1B777F"/>
          </a:solidFill>
          <a:ln w="0">
            <a:noFill/>
            <a:prstDash val="solid"/>
          </a:ln>
        </p:spPr>
        <p:txBody>
          <a:bodyPr/>
          <a:lstStyle/>
          <a:p>
            <a:endParaRPr lang="en-US"/>
          </a:p>
        </p:txBody>
      </p:sp>
      <p:sp>
        <p:nvSpPr>
          <p:cNvPr id="40" name="Rectangle 39">
            <a:extLst>
              <a:ext uri="{FF2B5EF4-FFF2-40B4-BE49-F238E27FC236}">
                <a16:creationId xmlns:a16="http://schemas.microsoft.com/office/drawing/2014/main" id="{0F1C7FEC-29DD-4400-8307-C22E530E5D37}"/>
              </a:ext>
            </a:extLst>
          </p:cNvPr>
          <p:cNvSpPr>
            <a:spLocks noGrp="1"/>
          </p:cNvSpPr>
          <p:nvPr/>
        </p:nvSpPr>
        <p:spPr>
          <a:xfrm>
            <a:off x="8315325" y="2486025"/>
            <a:ext cx="1104900" cy="142875"/>
          </a:xfrm>
          <a:prstGeom prst="rect">
            <a:avLst/>
          </a:prstGeom>
          <a:noFill/>
          <a:ln w="0">
            <a:noFill/>
            <a:prstDash val="solid"/>
          </a:ln>
        </p:spPr>
        <p:txBody>
          <a:bodyPr/>
          <a:lstStyle/>
          <a:p>
            <a:pPr algn="ctr">
              <a:defRPr sz="713" b="1" i="0">
                <a:solidFill>
                  <a:srgbClr val="FFFFFF"/>
                </a:solidFill>
                <a:latin typeface="Aptos"/>
                <a:ea typeface="Aptos"/>
                <a:cs typeface="Aptos"/>
              </a:defRPr>
            </a:pPr>
            <a:r>
              <a:rPr sz="713" b="1" i="0">
                <a:solidFill>
                  <a:srgbClr val="FFFFFF"/>
                </a:solidFill>
                <a:latin typeface="Aptos"/>
                <a:ea typeface="Aptos"/>
                <a:cs typeface="Aptos"/>
              </a:rPr>
              <a:t>AKTUELL + HISTORIE</a:t>
            </a:r>
          </a:p>
        </p:txBody>
      </p:sp>
      <p:sp>
        <p:nvSpPr>
          <p:cNvPr id="41" name="Rectangle 40">
            <a:extLst>
              <a:ext uri="{FF2B5EF4-FFF2-40B4-BE49-F238E27FC236}">
                <a16:creationId xmlns:a16="http://schemas.microsoft.com/office/drawing/2014/main" id="{26353A29-74E5-493E-8BA3-303F720757FA}"/>
              </a:ext>
            </a:extLst>
          </p:cNvPr>
          <p:cNvSpPr>
            <a:spLocks noGrp="1"/>
          </p:cNvSpPr>
          <p:nvPr/>
        </p:nvSpPr>
        <p:spPr>
          <a:xfrm>
            <a:off x="8277225" y="2762250"/>
            <a:ext cx="3105150" cy="238125"/>
          </a:xfrm>
          <a:prstGeom prst="rect">
            <a:avLst/>
          </a:prstGeom>
          <a:noFill/>
          <a:ln w="0">
            <a:noFill/>
            <a:prstDash val="solid"/>
          </a:ln>
        </p:spPr>
        <p:txBody>
          <a:bodyPr/>
          <a:lstStyle/>
          <a:p>
            <a:pPr algn="l">
              <a:defRPr sz="1275" b="1" i="0">
                <a:solidFill>
                  <a:srgbClr val="051C2C"/>
                </a:solidFill>
                <a:latin typeface="Aptos Display"/>
                <a:ea typeface="Aptos Display"/>
                <a:cs typeface="Aptos Display"/>
              </a:defRPr>
            </a:pPr>
            <a:r>
              <a:rPr sz="1275" b="1" i="0">
                <a:solidFill>
                  <a:srgbClr val="051C2C"/>
                </a:solidFill>
                <a:latin typeface="Aptos Display"/>
                <a:ea typeface="Aptos Display"/>
                <a:cs typeface="Aptos Display"/>
              </a:rPr>
              <a:t>Bundesbank Svensson</a:t>
            </a:r>
          </a:p>
        </p:txBody>
      </p:sp>
      <p:sp>
        <p:nvSpPr>
          <p:cNvPr id="42" name="Rectangle 41">
            <a:extLst>
              <a:ext uri="{FF2B5EF4-FFF2-40B4-BE49-F238E27FC236}">
                <a16:creationId xmlns:a16="http://schemas.microsoft.com/office/drawing/2014/main" id="{28879E37-E084-47CC-9F0E-AC6EFB639932}"/>
              </a:ext>
            </a:extLst>
          </p:cNvPr>
          <p:cNvSpPr>
            <a:spLocks noGrp="1"/>
          </p:cNvSpPr>
          <p:nvPr/>
        </p:nvSpPr>
        <p:spPr>
          <a:xfrm>
            <a:off x="8277225" y="3019425"/>
            <a:ext cx="3105150" cy="133350"/>
          </a:xfrm>
          <a:prstGeom prst="rect">
            <a:avLst/>
          </a:prstGeom>
          <a:noFill/>
          <a:ln w="0">
            <a:noFill/>
            <a:prstDash val="solid"/>
          </a:ln>
        </p:spPr>
        <p:txBody>
          <a:bodyPr/>
          <a:lstStyle/>
          <a:p>
            <a:pPr algn="l">
              <a:defRPr sz="810" b="0" i="0">
                <a:solidFill>
                  <a:srgbClr val="4F6875"/>
                </a:solidFill>
                <a:latin typeface="Aptos"/>
                <a:ea typeface="Aptos"/>
                <a:cs typeface="Aptos"/>
              </a:defRPr>
            </a:pPr>
            <a:r>
              <a:rPr sz="810" b="0" i="0">
                <a:solidFill>
                  <a:srgbClr val="4F6875"/>
                </a:solidFill>
                <a:latin typeface="Aptos"/>
                <a:ea typeface="Aptos"/>
                <a:cs typeface="Aptos"/>
              </a:rPr>
              <a:t>Zero-Curve &amp; Historie · 10Y-Zinsschock</a:t>
            </a:r>
          </a:p>
        </p:txBody>
      </p:sp>
      <p:sp>
        <p:nvSpPr>
          <p:cNvPr id="43" name="Rectangle: Rounded Corners 42">
            <a:extLst>
              <a:ext uri="{FF2B5EF4-FFF2-40B4-BE49-F238E27FC236}">
                <a16:creationId xmlns:a16="http://schemas.microsoft.com/office/drawing/2014/main" id="{22B6E07B-6756-482E-90FE-BD7E44DFA493}"/>
              </a:ext>
            </a:extLst>
          </p:cNvPr>
          <p:cNvSpPr>
            <a:spLocks noGrp="1"/>
          </p:cNvSpPr>
          <p:nvPr/>
        </p:nvSpPr>
        <p:spPr>
          <a:xfrm>
            <a:off x="4591050" y="3305175"/>
            <a:ext cx="3371850" cy="876300"/>
          </a:xfrm>
          <a:prstGeom prst="roundRect">
            <a:avLst>
              <a:gd name="adj" fmla="val 13043"/>
            </a:avLst>
          </a:prstGeom>
          <a:solidFill>
            <a:srgbClr val="FFFFFF"/>
          </a:solidFill>
          <a:ln w="9525">
            <a:solidFill>
              <a:srgbClr val="D5E0E5"/>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44" name="Rectangle 43">
            <a:extLst>
              <a:ext uri="{FF2B5EF4-FFF2-40B4-BE49-F238E27FC236}">
                <a16:creationId xmlns:a16="http://schemas.microsoft.com/office/drawing/2014/main" id="{7568887C-7432-4662-99BB-72C844158868}"/>
              </a:ext>
            </a:extLst>
          </p:cNvPr>
          <p:cNvSpPr>
            <a:spLocks noGrp="1"/>
          </p:cNvSpPr>
          <p:nvPr/>
        </p:nvSpPr>
        <p:spPr>
          <a:xfrm>
            <a:off x="4591050" y="3305175"/>
            <a:ext cx="57150" cy="876300"/>
          </a:xfrm>
          <a:prstGeom prst="rect">
            <a:avLst/>
          </a:prstGeom>
          <a:solidFill>
            <a:srgbClr val="051C2C"/>
          </a:solidFill>
          <a:ln w="0">
            <a:noFill/>
            <a:prstDash val="solid"/>
          </a:ln>
        </p:spPr>
        <p:txBody>
          <a:bodyPr/>
          <a:lstStyle/>
          <a:p>
            <a:endParaRPr lang="en-US"/>
          </a:p>
        </p:txBody>
      </p:sp>
      <p:sp>
        <p:nvSpPr>
          <p:cNvPr id="45" name="Rectangle: Rounded Corners 44">
            <a:extLst>
              <a:ext uri="{FF2B5EF4-FFF2-40B4-BE49-F238E27FC236}">
                <a16:creationId xmlns:a16="http://schemas.microsoft.com/office/drawing/2014/main" id="{D109DD2F-D0F1-4909-AC04-4715B1CE2799}"/>
              </a:ext>
            </a:extLst>
          </p:cNvPr>
          <p:cNvSpPr>
            <a:spLocks noGrp="1"/>
          </p:cNvSpPr>
          <p:nvPr/>
        </p:nvSpPr>
        <p:spPr>
          <a:xfrm>
            <a:off x="4733925" y="3419475"/>
            <a:ext cx="1162050" cy="219075"/>
          </a:xfrm>
          <a:prstGeom prst="roundRect">
            <a:avLst>
              <a:gd name="adj" fmla="val 50000"/>
            </a:avLst>
          </a:prstGeom>
          <a:solidFill>
            <a:srgbClr val="051C2C"/>
          </a:solidFill>
          <a:ln w="0">
            <a:noFill/>
            <a:prstDash val="solid"/>
          </a:ln>
        </p:spPr>
        <p:txBody>
          <a:bodyPr/>
          <a:lstStyle/>
          <a:p>
            <a:endParaRPr lang="en-US"/>
          </a:p>
        </p:txBody>
      </p:sp>
      <p:sp>
        <p:nvSpPr>
          <p:cNvPr id="46" name="Rectangle 45">
            <a:extLst>
              <a:ext uri="{FF2B5EF4-FFF2-40B4-BE49-F238E27FC236}">
                <a16:creationId xmlns:a16="http://schemas.microsoft.com/office/drawing/2014/main" id="{562F7EC7-7967-479C-AE27-881465B949D0}"/>
              </a:ext>
            </a:extLst>
          </p:cNvPr>
          <p:cNvSpPr>
            <a:spLocks noGrp="1"/>
          </p:cNvSpPr>
          <p:nvPr/>
        </p:nvSpPr>
        <p:spPr>
          <a:xfrm>
            <a:off x="4772025" y="3457575"/>
            <a:ext cx="1085850" cy="142875"/>
          </a:xfrm>
          <a:prstGeom prst="rect">
            <a:avLst/>
          </a:prstGeom>
          <a:noFill/>
          <a:ln w="0">
            <a:noFill/>
            <a:prstDash val="solid"/>
          </a:ln>
        </p:spPr>
        <p:txBody>
          <a:bodyPr/>
          <a:lstStyle/>
          <a:p>
            <a:pPr algn="ctr">
              <a:defRPr sz="713" b="1" i="0">
                <a:solidFill>
                  <a:srgbClr val="FFFFFF"/>
                </a:solidFill>
                <a:latin typeface="Aptos"/>
                <a:ea typeface="Aptos"/>
                <a:cs typeface="Aptos"/>
              </a:defRPr>
            </a:pPr>
            <a:r>
              <a:rPr sz="713" b="1" i="0">
                <a:solidFill>
                  <a:srgbClr val="FFFFFF"/>
                </a:solidFill>
                <a:latin typeface="Aptos"/>
                <a:ea typeface="Aptos"/>
                <a:cs typeface="Aptos"/>
              </a:rPr>
              <a:t>SNAPSHOT 31.12.2024</a:t>
            </a:r>
          </a:p>
        </p:txBody>
      </p:sp>
      <p:sp>
        <p:nvSpPr>
          <p:cNvPr id="47" name="Rectangle 46">
            <a:extLst>
              <a:ext uri="{FF2B5EF4-FFF2-40B4-BE49-F238E27FC236}">
                <a16:creationId xmlns:a16="http://schemas.microsoft.com/office/drawing/2014/main" id="{77EA8D6D-241C-4DDF-A2C0-7F95EDB5C431}"/>
              </a:ext>
            </a:extLst>
          </p:cNvPr>
          <p:cNvSpPr>
            <a:spLocks noGrp="1"/>
          </p:cNvSpPr>
          <p:nvPr/>
        </p:nvSpPr>
        <p:spPr>
          <a:xfrm>
            <a:off x="4733925" y="3733800"/>
            <a:ext cx="3105150" cy="238125"/>
          </a:xfrm>
          <a:prstGeom prst="rect">
            <a:avLst/>
          </a:prstGeom>
          <a:noFill/>
          <a:ln w="0">
            <a:noFill/>
            <a:prstDash val="solid"/>
          </a:ln>
        </p:spPr>
        <p:txBody>
          <a:bodyPr/>
          <a:lstStyle/>
          <a:p>
            <a:pPr algn="l">
              <a:defRPr sz="1275" b="1" i="0">
                <a:solidFill>
                  <a:srgbClr val="051C2C"/>
                </a:solidFill>
                <a:latin typeface="Aptos Display"/>
                <a:ea typeface="Aptos Display"/>
                <a:cs typeface="Aptos Display"/>
              </a:defRPr>
            </a:pPr>
            <a:r>
              <a:rPr sz="1275" b="1" i="0">
                <a:solidFill>
                  <a:srgbClr val="051C2C"/>
                </a:solidFill>
                <a:latin typeface="Aptos Display"/>
                <a:ea typeface="Aptos Display"/>
                <a:cs typeface="Aptos Display"/>
              </a:rPr>
              <a:t>Bank-Pillar-3 · EU-CR6</a:t>
            </a:r>
          </a:p>
        </p:txBody>
      </p:sp>
      <p:sp>
        <p:nvSpPr>
          <p:cNvPr id="48" name="Rectangle 47">
            <a:extLst>
              <a:ext uri="{FF2B5EF4-FFF2-40B4-BE49-F238E27FC236}">
                <a16:creationId xmlns:a16="http://schemas.microsoft.com/office/drawing/2014/main" id="{08FD139C-48A9-48BA-B3CF-AB894A984437}"/>
              </a:ext>
            </a:extLst>
          </p:cNvPr>
          <p:cNvSpPr>
            <a:spLocks noGrp="1"/>
          </p:cNvSpPr>
          <p:nvPr/>
        </p:nvSpPr>
        <p:spPr>
          <a:xfrm>
            <a:off x="4733925" y="3990975"/>
            <a:ext cx="3105150" cy="133350"/>
          </a:xfrm>
          <a:prstGeom prst="rect">
            <a:avLst/>
          </a:prstGeom>
          <a:noFill/>
          <a:ln w="0">
            <a:noFill/>
            <a:prstDash val="solid"/>
          </a:ln>
        </p:spPr>
        <p:txBody>
          <a:bodyPr/>
          <a:lstStyle/>
          <a:p>
            <a:pPr algn="l">
              <a:defRPr sz="810" b="0" i="0">
                <a:solidFill>
                  <a:srgbClr val="4F6875"/>
                </a:solidFill>
                <a:latin typeface="Aptos"/>
                <a:ea typeface="Aptos"/>
                <a:cs typeface="Aptos"/>
              </a:defRPr>
            </a:pPr>
            <a:r>
              <a:rPr sz="810" b="0" i="0">
                <a:solidFill>
                  <a:srgbClr val="4F6875"/>
                </a:solidFill>
                <a:latin typeface="Aptos"/>
                <a:ea typeface="Aptos"/>
                <a:cs typeface="Aptos"/>
              </a:rPr>
              <a:t>PD &amp; LGD · 69/69 IRB-Klassen direkt</a:t>
            </a:r>
          </a:p>
        </p:txBody>
      </p:sp>
      <p:sp>
        <p:nvSpPr>
          <p:cNvPr id="49" name="Rectangle: Rounded Corners 48">
            <a:extLst>
              <a:ext uri="{FF2B5EF4-FFF2-40B4-BE49-F238E27FC236}">
                <a16:creationId xmlns:a16="http://schemas.microsoft.com/office/drawing/2014/main" id="{B0A0D5CD-6411-4DAB-8478-D7EB437688E9}"/>
              </a:ext>
            </a:extLst>
          </p:cNvPr>
          <p:cNvSpPr>
            <a:spLocks noGrp="1"/>
          </p:cNvSpPr>
          <p:nvPr/>
        </p:nvSpPr>
        <p:spPr>
          <a:xfrm>
            <a:off x="8134350" y="3305175"/>
            <a:ext cx="3371850" cy="876300"/>
          </a:xfrm>
          <a:prstGeom prst="roundRect">
            <a:avLst>
              <a:gd name="adj" fmla="val 13043"/>
            </a:avLst>
          </a:prstGeom>
          <a:solidFill>
            <a:srgbClr val="FFFFFF"/>
          </a:solidFill>
          <a:ln w="9525">
            <a:solidFill>
              <a:srgbClr val="D5E0E5"/>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50" name="Rectangle 49">
            <a:extLst>
              <a:ext uri="{FF2B5EF4-FFF2-40B4-BE49-F238E27FC236}">
                <a16:creationId xmlns:a16="http://schemas.microsoft.com/office/drawing/2014/main" id="{32EC41DC-1E12-4A5B-9BDA-B8B0AC0AEF13}"/>
              </a:ext>
            </a:extLst>
          </p:cNvPr>
          <p:cNvSpPr>
            <a:spLocks noGrp="1"/>
          </p:cNvSpPr>
          <p:nvPr/>
        </p:nvSpPr>
        <p:spPr>
          <a:xfrm>
            <a:off x="8134350" y="3305175"/>
            <a:ext cx="57150" cy="876300"/>
          </a:xfrm>
          <a:prstGeom prst="rect">
            <a:avLst/>
          </a:prstGeom>
          <a:solidFill>
            <a:srgbClr val="051C2C"/>
          </a:solidFill>
          <a:ln w="0">
            <a:noFill/>
            <a:prstDash val="solid"/>
          </a:ln>
        </p:spPr>
        <p:txBody>
          <a:bodyPr/>
          <a:lstStyle/>
          <a:p>
            <a:endParaRPr lang="en-US"/>
          </a:p>
        </p:txBody>
      </p:sp>
      <p:sp>
        <p:nvSpPr>
          <p:cNvPr id="51" name="Rectangle: Rounded Corners 50">
            <a:extLst>
              <a:ext uri="{FF2B5EF4-FFF2-40B4-BE49-F238E27FC236}">
                <a16:creationId xmlns:a16="http://schemas.microsoft.com/office/drawing/2014/main" id="{891F348E-09EE-4194-B272-E39368EC6B5E}"/>
              </a:ext>
            </a:extLst>
          </p:cNvPr>
          <p:cNvSpPr>
            <a:spLocks noGrp="1"/>
          </p:cNvSpPr>
          <p:nvPr/>
        </p:nvSpPr>
        <p:spPr>
          <a:xfrm>
            <a:off x="8277225" y="3419475"/>
            <a:ext cx="1143000" cy="219075"/>
          </a:xfrm>
          <a:prstGeom prst="roundRect">
            <a:avLst>
              <a:gd name="adj" fmla="val 50000"/>
            </a:avLst>
          </a:prstGeom>
          <a:solidFill>
            <a:srgbClr val="051C2C"/>
          </a:solidFill>
          <a:ln w="0">
            <a:noFill/>
            <a:prstDash val="solid"/>
          </a:ln>
        </p:spPr>
        <p:txBody>
          <a:bodyPr/>
          <a:lstStyle/>
          <a:p>
            <a:endParaRPr lang="en-US"/>
          </a:p>
        </p:txBody>
      </p:sp>
      <p:sp>
        <p:nvSpPr>
          <p:cNvPr id="52" name="Rectangle 51">
            <a:extLst>
              <a:ext uri="{FF2B5EF4-FFF2-40B4-BE49-F238E27FC236}">
                <a16:creationId xmlns:a16="http://schemas.microsoft.com/office/drawing/2014/main" id="{660A7224-E1B6-430D-97E7-1122531F80F9}"/>
              </a:ext>
            </a:extLst>
          </p:cNvPr>
          <p:cNvSpPr>
            <a:spLocks noGrp="1"/>
          </p:cNvSpPr>
          <p:nvPr/>
        </p:nvSpPr>
        <p:spPr>
          <a:xfrm>
            <a:off x="8315325" y="3457575"/>
            <a:ext cx="1066800" cy="142875"/>
          </a:xfrm>
          <a:prstGeom prst="rect">
            <a:avLst/>
          </a:prstGeom>
          <a:noFill/>
          <a:ln w="0">
            <a:noFill/>
            <a:prstDash val="solid"/>
          </a:ln>
        </p:spPr>
        <p:txBody>
          <a:bodyPr/>
          <a:lstStyle/>
          <a:p>
            <a:pPr algn="ctr">
              <a:defRPr sz="713" b="1" i="0">
                <a:solidFill>
                  <a:srgbClr val="FFFFFF"/>
                </a:solidFill>
                <a:latin typeface="Aptos"/>
                <a:ea typeface="Aptos"/>
                <a:cs typeface="Aptos"/>
              </a:defRPr>
            </a:pPr>
            <a:r>
              <a:rPr sz="713" b="1" i="0">
                <a:solidFill>
                  <a:srgbClr val="FFFFFF"/>
                </a:solidFill>
                <a:latin typeface="Aptos"/>
                <a:ea typeface="Aptos"/>
                <a:cs typeface="Aptos"/>
              </a:rPr>
              <a:t>SNAPSHOT JUNI 2025</a:t>
            </a:r>
          </a:p>
        </p:txBody>
      </p:sp>
      <p:sp>
        <p:nvSpPr>
          <p:cNvPr id="53" name="Rectangle 52">
            <a:extLst>
              <a:ext uri="{FF2B5EF4-FFF2-40B4-BE49-F238E27FC236}">
                <a16:creationId xmlns:a16="http://schemas.microsoft.com/office/drawing/2014/main" id="{27E7611F-81E4-42A2-9265-F983310EA017}"/>
              </a:ext>
            </a:extLst>
          </p:cNvPr>
          <p:cNvSpPr>
            <a:spLocks noGrp="1"/>
          </p:cNvSpPr>
          <p:nvPr/>
        </p:nvSpPr>
        <p:spPr>
          <a:xfrm>
            <a:off x="8277225" y="3733800"/>
            <a:ext cx="3105150" cy="238125"/>
          </a:xfrm>
          <a:prstGeom prst="rect">
            <a:avLst/>
          </a:prstGeom>
          <a:noFill/>
          <a:ln w="0">
            <a:noFill/>
            <a:prstDash val="solid"/>
          </a:ln>
        </p:spPr>
        <p:txBody>
          <a:bodyPr/>
          <a:lstStyle/>
          <a:p>
            <a:pPr algn="l">
              <a:defRPr sz="1275" b="1" i="0">
                <a:solidFill>
                  <a:srgbClr val="051C2C"/>
                </a:solidFill>
                <a:latin typeface="Aptos Display"/>
                <a:ea typeface="Aptos Display"/>
                <a:cs typeface="Aptos Display"/>
              </a:defRPr>
            </a:pPr>
            <a:r>
              <a:rPr sz="1275" b="1" i="0">
                <a:solidFill>
                  <a:srgbClr val="051C2C"/>
                </a:solidFill>
                <a:latin typeface="Aptos Display"/>
                <a:ea typeface="Aptos Display"/>
                <a:cs typeface="Aptos Display"/>
              </a:rPr>
              <a:t>EBA Transparency</a:t>
            </a:r>
          </a:p>
        </p:txBody>
      </p:sp>
      <p:sp>
        <p:nvSpPr>
          <p:cNvPr id="54" name="Rectangle 53">
            <a:extLst>
              <a:ext uri="{FF2B5EF4-FFF2-40B4-BE49-F238E27FC236}">
                <a16:creationId xmlns:a16="http://schemas.microsoft.com/office/drawing/2014/main" id="{C60AB696-3ECF-4291-B2A6-AD0049D1867A}"/>
              </a:ext>
            </a:extLst>
          </p:cNvPr>
          <p:cNvSpPr>
            <a:spLocks noGrp="1"/>
          </p:cNvSpPr>
          <p:nvPr/>
        </p:nvSpPr>
        <p:spPr>
          <a:xfrm>
            <a:off x="8277225" y="3990975"/>
            <a:ext cx="3105150" cy="133350"/>
          </a:xfrm>
          <a:prstGeom prst="rect">
            <a:avLst/>
          </a:prstGeom>
          <a:noFill/>
          <a:ln w="0">
            <a:noFill/>
            <a:prstDash val="solid"/>
          </a:ln>
        </p:spPr>
        <p:txBody>
          <a:bodyPr/>
          <a:lstStyle/>
          <a:p>
            <a:pPr algn="l">
              <a:defRPr sz="810" b="0" i="0">
                <a:solidFill>
                  <a:srgbClr val="4F6875"/>
                </a:solidFill>
                <a:latin typeface="Aptos"/>
                <a:ea typeface="Aptos"/>
                <a:cs typeface="Aptos"/>
              </a:defRPr>
            </a:pPr>
            <a:r>
              <a:rPr sz="810" b="0" i="0">
                <a:solidFill>
                  <a:srgbClr val="4F6875"/>
                </a:solidFill>
                <a:latin typeface="Aptos"/>
                <a:ea typeface="Aptos"/>
                <a:cs typeface="Aptos"/>
              </a:rPr>
              <a:t>EAD · CET1 · RWA · Sovereign-Bestände</a:t>
            </a:r>
          </a:p>
        </p:txBody>
      </p:sp>
      <p:sp>
        <p:nvSpPr>
          <p:cNvPr id="55" name="Rectangle: Rounded Corners 54">
            <a:extLst>
              <a:ext uri="{FF2B5EF4-FFF2-40B4-BE49-F238E27FC236}">
                <a16:creationId xmlns:a16="http://schemas.microsoft.com/office/drawing/2014/main" id="{127C3FF9-4697-4D18-9B2F-43746ABAC44D}"/>
              </a:ext>
            </a:extLst>
          </p:cNvPr>
          <p:cNvSpPr>
            <a:spLocks noGrp="1"/>
          </p:cNvSpPr>
          <p:nvPr/>
        </p:nvSpPr>
        <p:spPr>
          <a:xfrm>
            <a:off x="4591050" y="4276725"/>
            <a:ext cx="3371850" cy="876300"/>
          </a:xfrm>
          <a:prstGeom prst="roundRect">
            <a:avLst>
              <a:gd name="adj" fmla="val 13043"/>
            </a:avLst>
          </a:prstGeom>
          <a:solidFill>
            <a:srgbClr val="FFFFFF"/>
          </a:solidFill>
          <a:ln w="9525">
            <a:solidFill>
              <a:srgbClr val="D5E0E5"/>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56" name="Rectangle 55">
            <a:extLst>
              <a:ext uri="{FF2B5EF4-FFF2-40B4-BE49-F238E27FC236}">
                <a16:creationId xmlns:a16="http://schemas.microsoft.com/office/drawing/2014/main" id="{319DD8CA-26EB-404D-A1D6-6D28DD788A7A}"/>
              </a:ext>
            </a:extLst>
          </p:cNvPr>
          <p:cNvSpPr>
            <a:spLocks noGrp="1"/>
          </p:cNvSpPr>
          <p:nvPr/>
        </p:nvSpPr>
        <p:spPr>
          <a:xfrm>
            <a:off x="4591050" y="4276725"/>
            <a:ext cx="57150" cy="876300"/>
          </a:xfrm>
          <a:prstGeom prst="rect">
            <a:avLst/>
          </a:prstGeom>
          <a:solidFill>
            <a:srgbClr val="0B5D7A"/>
          </a:solidFill>
          <a:ln w="0">
            <a:noFill/>
            <a:prstDash val="solid"/>
          </a:ln>
        </p:spPr>
        <p:txBody>
          <a:bodyPr/>
          <a:lstStyle/>
          <a:p>
            <a:endParaRPr lang="en-US"/>
          </a:p>
        </p:txBody>
      </p:sp>
      <p:sp>
        <p:nvSpPr>
          <p:cNvPr id="57" name="Rectangle: Rounded Corners 56">
            <a:extLst>
              <a:ext uri="{FF2B5EF4-FFF2-40B4-BE49-F238E27FC236}">
                <a16:creationId xmlns:a16="http://schemas.microsoft.com/office/drawing/2014/main" id="{A6B91C6E-AFC6-4BEA-9020-B1B993DFCB18}"/>
              </a:ext>
            </a:extLst>
          </p:cNvPr>
          <p:cNvSpPr>
            <a:spLocks noGrp="1"/>
          </p:cNvSpPr>
          <p:nvPr/>
        </p:nvSpPr>
        <p:spPr>
          <a:xfrm>
            <a:off x="4733925" y="4391025"/>
            <a:ext cx="1104900" cy="219075"/>
          </a:xfrm>
          <a:prstGeom prst="roundRect">
            <a:avLst>
              <a:gd name="adj" fmla="val 50000"/>
            </a:avLst>
          </a:prstGeom>
          <a:solidFill>
            <a:srgbClr val="0B5D7A"/>
          </a:solidFill>
          <a:ln w="0">
            <a:noFill/>
            <a:prstDash val="solid"/>
          </a:ln>
        </p:spPr>
        <p:txBody>
          <a:bodyPr/>
          <a:lstStyle/>
          <a:p>
            <a:endParaRPr lang="en-US"/>
          </a:p>
        </p:txBody>
      </p:sp>
      <p:sp>
        <p:nvSpPr>
          <p:cNvPr id="58" name="Rectangle 57">
            <a:extLst>
              <a:ext uri="{FF2B5EF4-FFF2-40B4-BE49-F238E27FC236}">
                <a16:creationId xmlns:a16="http://schemas.microsoft.com/office/drawing/2014/main" id="{B5678D05-E4A9-43D1-9DCC-376B01DB0FE9}"/>
              </a:ext>
            </a:extLst>
          </p:cNvPr>
          <p:cNvSpPr>
            <a:spLocks noGrp="1"/>
          </p:cNvSpPr>
          <p:nvPr/>
        </p:nvSpPr>
        <p:spPr>
          <a:xfrm>
            <a:off x="4772025" y="4429125"/>
            <a:ext cx="1028700" cy="142875"/>
          </a:xfrm>
          <a:prstGeom prst="rect">
            <a:avLst/>
          </a:prstGeom>
          <a:noFill/>
          <a:ln w="0">
            <a:noFill/>
            <a:prstDash val="solid"/>
          </a:ln>
        </p:spPr>
        <p:txBody>
          <a:bodyPr/>
          <a:lstStyle/>
          <a:p>
            <a:pPr algn="ctr">
              <a:defRPr sz="713" b="1" i="0">
                <a:solidFill>
                  <a:srgbClr val="FFFFFF"/>
                </a:solidFill>
                <a:latin typeface="Aptos"/>
                <a:ea typeface="Aptos"/>
                <a:cs typeface="Aptos"/>
              </a:defRPr>
            </a:pPr>
            <a:r>
              <a:rPr sz="713" b="1" i="0">
                <a:solidFill>
                  <a:srgbClr val="FFFFFF"/>
                </a:solidFill>
                <a:latin typeface="Aptos"/>
                <a:ea typeface="Aptos"/>
                <a:cs typeface="Aptos"/>
              </a:rPr>
              <a:t>HISTORIE 2020–2025</a:t>
            </a:r>
          </a:p>
        </p:txBody>
      </p:sp>
      <p:sp>
        <p:nvSpPr>
          <p:cNvPr id="59" name="Rectangle 58">
            <a:extLst>
              <a:ext uri="{FF2B5EF4-FFF2-40B4-BE49-F238E27FC236}">
                <a16:creationId xmlns:a16="http://schemas.microsoft.com/office/drawing/2014/main" id="{06C30EA7-C952-4D0F-A8C8-8B8A8D299BD3}"/>
              </a:ext>
            </a:extLst>
          </p:cNvPr>
          <p:cNvSpPr>
            <a:spLocks noGrp="1"/>
          </p:cNvSpPr>
          <p:nvPr/>
        </p:nvSpPr>
        <p:spPr>
          <a:xfrm>
            <a:off x="4733925" y="4705350"/>
            <a:ext cx="3105150" cy="238125"/>
          </a:xfrm>
          <a:prstGeom prst="rect">
            <a:avLst/>
          </a:prstGeom>
          <a:noFill/>
          <a:ln w="0">
            <a:noFill/>
            <a:prstDash val="solid"/>
          </a:ln>
        </p:spPr>
        <p:txBody>
          <a:bodyPr/>
          <a:lstStyle/>
          <a:p>
            <a:pPr algn="l">
              <a:defRPr sz="1275" b="1" i="0">
                <a:solidFill>
                  <a:srgbClr val="051C2C"/>
                </a:solidFill>
                <a:latin typeface="Aptos Display"/>
                <a:ea typeface="Aptos Display"/>
                <a:cs typeface="Aptos Display"/>
              </a:defRPr>
            </a:pPr>
            <a:r>
              <a:rPr sz="1275" b="1" i="0">
                <a:solidFill>
                  <a:srgbClr val="051C2C"/>
                </a:solidFill>
                <a:latin typeface="Aptos Display"/>
                <a:ea typeface="Aptos Display"/>
                <a:cs typeface="Aptos Display"/>
              </a:rPr>
              <a:t>EBA-Vintages</a:t>
            </a:r>
          </a:p>
        </p:txBody>
      </p:sp>
      <p:sp>
        <p:nvSpPr>
          <p:cNvPr id="60" name="Rectangle 59">
            <a:extLst>
              <a:ext uri="{FF2B5EF4-FFF2-40B4-BE49-F238E27FC236}">
                <a16:creationId xmlns:a16="http://schemas.microsoft.com/office/drawing/2014/main" id="{593D82A4-D609-4098-99AF-1906C1096EEB}"/>
              </a:ext>
            </a:extLst>
          </p:cNvPr>
          <p:cNvSpPr>
            <a:spLocks noGrp="1"/>
          </p:cNvSpPr>
          <p:nvPr/>
        </p:nvSpPr>
        <p:spPr>
          <a:xfrm>
            <a:off x="4733925" y="4962525"/>
            <a:ext cx="3105150" cy="133350"/>
          </a:xfrm>
          <a:prstGeom prst="rect">
            <a:avLst/>
          </a:prstGeom>
          <a:noFill/>
          <a:ln w="0">
            <a:noFill/>
            <a:prstDash val="solid"/>
          </a:ln>
        </p:spPr>
        <p:txBody>
          <a:bodyPr/>
          <a:lstStyle/>
          <a:p>
            <a:pPr algn="l">
              <a:defRPr sz="810" b="0" i="0">
                <a:solidFill>
                  <a:srgbClr val="4F6875"/>
                </a:solidFill>
                <a:latin typeface="Aptos"/>
                <a:ea typeface="Aptos"/>
                <a:cs typeface="Aptos"/>
              </a:defRPr>
            </a:pPr>
            <a:r>
              <a:rPr sz="810" b="0" i="0">
                <a:solidFill>
                  <a:srgbClr val="4F6875"/>
                </a:solidFill>
                <a:latin typeface="Aptos"/>
                <a:ea typeface="Aptos"/>
                <a:cs typeface="Aptos"/>
              </a:rPr>
              <a:t>22 Quartalsstichtage · Walk-Forward-Test</a:t>
            </a:r>
          </a:p>
        </p:txBody>
      </p:sp>
      <p:sp>
        <p:nvSpPr>
          <p:cNvPr id="61" name="Rectangle: Rounded Corners 60">
            <a:extLst>
              <a:ext uri="{FF2B5EF4-FFF2-40B4-BE49-F238E27FC236}">
                <a16:creationId xmlns:a16="http://schemas.microsoft.com/office/drawing/2014/main" id="{54FA83E0-8F56-447A-988F-2732165C0F46}"/>
              </a:ext>
            </a:extLst>
          </p:cNvPr>
          <p:cNvSpPr>
            <a:spLocks noGrp="1"/>
          </p:cNvSpPr>
          <p:nvPr/>
        </p:nvSpPr>
        <p:spPr>
          <a:xfrm>
            <a:off x="8134350" y="4276725"/>
            <a:ext cx="3371850" cy="876300"/>
          </a:xfrm>
          <a:prstGeom prst="roundRect">
            <a:avLst>
              <a:gd name="adj" fmla="val 13043"/>
            </a:avLst>
          </a:prstGeom>
          <a:solidFill>
            <a:srgbClr val="FFFFFF"/>
          </a:solidFill>
          <a:ln w="9525">
            <a:solidFill>
              <a:srgbClr val="D5E0E5"/>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62" name="Rectangle 61">
            <a:extLst>
              <a:ext uri="{FF2B5EF4-FFF2-40B4-BE49-F238E27FC236}">
                <a16:creationId xmlns:a16="http://schemas.microsoft.com/office/drawing/2014/main" id="{24C9FF58-2349-4235-BBE7-77C9D13F296F}"/>
              </a:ext>
            </a:extLst>
          </p:cNvPr>
          <p:cNvSpPr>
            <a:spLocks noGrp="1"/>
          </p:cNvSpPr>
          <p:nvPr/>
        </p:nvSpPr>
        <p:spPr>
          <a:xfrm>
            <a:off x="8134350" y="4276725"/>
            <a:ext cx="57150" cy="876300"/>
          </a:xfrm>
          <a:prstGeom prst="rect">
            <a:avLst/>
          </a:prstGeom>
          <a:solidFill>
            <a:srgbClr val="D9A124"/>
          </a:solidFill>
          <a:ln w="0">
            <a:noFill/>
            <a:prstDash val="solid"/>
          </a:ln>
        </p:spPr>
        <p:txBody>
          <a:bodyPr/>
          <a:lstStyle/>
          <a:p>
            <a:endParaRPr lang="en-US"/>
          </a:p>
        </p:txBody>
      </p:sp>
      <p:sp>
        <p:nvSpPr>
          <p:cNvPr id="63" name="Rectangle: Rounded Corners 62">
            <a:extLst>
              <a:ext uri="{FF2B5EF4-FFF2-40B4-BE49-F238E27FC236}">
                <a16:creationId xmlns:a16="http://schemas.microsoft.com/office/drawing/2014/main" id="{CD474488-36CA-49BC-A497-7A41AD15B2E1}"/>
              </a:ext>
            </a:extLst>
          </p:cNvPr>
          <p:cNvSpPr>
            <a:spLocks noGrp="1"/>
          </p:cNvSpPr>
          <p:nvPr/>
        </p:nvSpPr>
        <p:spPr>
          <a:xfrm>
            <a:off x="8277225" y="4391025"/>
            <a:ext cx="714375" cy="219075"/>
          </a:xfrm>
          <a:prstGeom prst="roundRect">
            <a:avLst>
              <a:gd name="adj" fmla="val 50000"/>
            </a:avLst>
          </a:prstGeom>
          <a:solidFill>
            <a:srgbClr val="D9A124"/>
          </a:solidFill>
          <a:ln w="0">
            <a:noFill/>
            <a:prstDash val="solid"/>
          </a:ln>
        </p:spPr>
        <p:txBody>
          <a:bodyPr/>
          <a:lstStyle/>
          <a:p>
            <a:endParaRPr lang="en-US"/>
          </a:p>
        </p:txBody>
      </p:sp>
      <p:sp>
        <p:nvSpPr>
          <p:cNvPr id="64" name="Rectangle 63">
            <a:extLst>
              <a:ext uri="{FF2B5EF4-FFF2-40B4-BE49-F238E27FC236}">
                <a16:creationId xmlns:a16="http://schemas.microsoft.com/office/drawing/2014/main" id="{68E65338-3538-4CBB-9D63-7142B1D0F111}"/>
              </a:ext>
            </a:extLst>
          </p:cNvPr>
          <p:cNvSpPr>
            <a:spLocks noGrp="1"/>
          </p:cNvSpPr>
          <p:nvPr/>
        </p:nvSpPr>
        <p:spPr>
          <a:xfrm>
            <a:off x="8315325" y="4429125"/>
            <a:ext cx="638175" cy="142875"/>
          </a:xfrm>
          <a:prstGeom prst="rect">
            <a:avLst/>
          </a:prstGeom>
          <a:noFill/>
          <a:ln w="0">
            <a:noFill/>
            <a:prstDash val="solid"/>
          </a:ln>
        </p:spPr>
        <p:txBody>
          <a:bodyPr/>
          <a:lstStyle/>
          <a:p>
            <a:pPr algn="ctr">
              <a:defRPr sz="713" b="1" i="0">
                <a:solidFill>
                  <a:srgbClr val="051C2C"/>
                </a:solidFill>
                <a:latin typeface="Aptos"/>
                <a:ea typeface="Aptos"/>
                <a:cs typeface="Aptos"/>
              </a:defRPr>
            </a:pPr>
            <a:r>
              <a:rPr sz="713" b="1" i="0">
                <a:solidFill>
                  <a:srgbClr val="051C2C"/>
                </a:solidFill>
                <a:latin typeface="Aptos"/>
                <a:ea typeface="Aptos"/>
                <a:cs typeface="Aptos"/>
              </a:rPr>
              <a:t>METHODIK</a:t>
            </a:r>
          </a:p>
        </p:txBody>
      </p:sp>
      <p:sp>
        <p:nvSpPr>
          <p:cNvPr id="65" name="Rectangle 64">
            <a:extLst>
              <a:ext uri="{FF2B5EF4-FFF2-40B4-BE49-F238E27FC236}">
                <a16:creationId xmlns:a16="http://schemas.microsoft.com/office/drawing/2014/main" id="{944ED228-BBD9-40B6-8217-E929C21DCCAC}"/>
              </a:ext>
            </a:extLst>
          </p:cNvPr>
          <p:cNvSpPr>
            <a:spLocks noGrp="1"/>
          </p:cNvSpPr>
          <p:nvPr/>
        </p:nvSpPr>
        <p:spPr>
          <a:xfrm>
            <a:off x="8277225" y="4705350"/>
            <a:ext cx="3105150" cy="238125"/>
          </a:xfrm>
          <a:prstGeom prst="rect">
            <a:avLst/>
          </a:prstGeom>
          <a:noFill/>
          <a:ln w="0">
            <a:noFill/>
            <a:prstDash val="solid"/>
          </a:ln>
        </p:spPr>
        <p:txBody>
          <a:bodyPr/>
          <a:lstStyle/>
          <a:p>
            <a:pPr algn="l">
              <a:defRPr sz="1275" b="1" i="0">
                <a:solidFill>
                  <a:srgbClr val="051C2C"/>
                </a:solidFill>
                <a:latin typeface="Aptos Display"/>
                <a:ea typeface="Aptos Display"/>
                <a:cs typeface="Aptos Display"/>
              </a:defRPr>
            </a:pPr>
            <a:r>
              <a:rPr sz="1275" b="1" i="0">
                <a:solidFill>
                  <a:srgbClr val="051C2C"/>
                </a:solidFill>
                <a:latin typeface="Aptos Display"/>
                <a:ea typeface="Aptos Display"/>
                <a:cs typeface="Aptos Display"/>
              </a:rPr>
              <a:t>EBA · ECB · Basel / CRR</a:t>
            </a:r>
          </a:p>
        </p:txBody>
      </p:sp>
      <p:sp>
        <p:nvSpPr>
          <p:cNvPr id="66" name="Rectangle 65">
            <a:extLst>
              <a:ext uri="{FF2B5EF4-FFF2-40B4-BE49-F238E27FC236}">
                <a16:creationId xmlns:a16="http://schemas.microsoft.com/office/drawing/2014/main" id="{9DECA9EF-0F8C-4CC6-9DA5-A1965908C835}"/>
              </a:ext>
            </a:extLst>
          </p:cNvPr>
          <p:cNvSpPr>
            <a:spLocks noGrp="1"/>
          </p:cNvSpPr>
          <p:nvPr/>
        </p:nvSpPr>
        <p:spPr>
          <a:xfrm>
            <a:off x="8277225" y="4962525"/>
            <a:ext cx="3105150" cy="133350"/>
          </a:xfrm>
          <a:prstGeom prst="rect">
            <a:avLst/>
          </a:prstGeom>
          <a:noFill/>
          <a:ln w="0">
            <a:noFill/>
            <a:prstDash val="solid"/>
          </a:ln>
        </p:spPr>
        <p:txBody>
          <a:bodyPr/>
          <a:lstStyle/>
          <a:p>
            <a:pPr algn="l">
              <a:defRPr sz="810" b="0" i="0">
                <a:solidFill>
                  <a:srgbClr val="4F6875"/>
                </a:solidFill>
                <a:latin typeface="Aptos"/>
                <a:ea typeface="Aptos"/>
                <a:cs typeface="Aptos"/>
              </a:defRPr>
            </a:pPr>
            <a:r>
              <a:rPr sz="810" b="0" i="0">
                <a:solidFill>
                  <a:srgbClr val="4F6875"/>
                </a:solidFill>
                <a:latin typeface="Aptos"/>
                <a:ea typeface="Aptos"/>
                <a:cs typeface="Aptos"/>
              </a:rPr>
              <a:t>Stresskalibrierung · IRB · IFRS 9</a:t>
            </a:r>
          </a:p>
        </p:txBody>
      </p:sp>
      <p:sp>
        <p:nvSpPr>
          <p:cNvPr id="67" name="Rectangle: Rounded Corners 66">
            <a:extLst>
              <a:ext uri="{FF2B5EF4-FFF2-40B4-BE49-F238E27FC236}">
                <a16:creationId xmlns:a16="http://schemas.microsoft.com/office/drawing/2014/main" id="{9DC2DC1C-9A23-4DF5-9BDE-FF572E516434}"/>
              </a:ext>
            </a:extLst>
          </p:cNvPr>
          <p:cNvSpPr>
            <a:spLocks noGrp="1"/>
          </p:cNvSpPr>
          <p:nvPr/>
        </p:nvSpPr>
        <p:spPr>
          <a:xfrm>
            <a:off x="4591050" y="5267325"/>
            <a:ext cx="6915150" cy="590550"/>
          </a:xfrm>
          <a:prstGeom prst="roundRect">
            <a:avLst>
              <a:gd name="adj" fmla="val 19355"/>
            </a:avLst>
          </a:prstGeom>
          <a:solidFill>
            <a:srgbClr val="E3F1EF"/>
          </a:solidFill>
          <a:ln w="9525">
            <a:solidFill>
              <a:srgbClr val="B7D4D2"/>
            </a:solidFill>
            <a:prstDash val="solid"/>
          </a:ln>
        </p:spPr>
        <p:txBody>
          <a:bodyPr/>
          <a:lstStyle/>
          <a:p>
            <a:endParaRPr lang="en-US"/>
          </a:p>
        </p:txBody>
      </p:sp>
      <p:sp>
        <p:nvSpPr>
          <p:cNvPr id="68" name="Rectangle 67">
            <a:extLst>
              <a:ext uri="{FF2B5EF4-FFF2-40B4-BE49-F238E27FC236}">
                <a16:creationId xmlns:a16="http://schemas.microsoft.com/office/drawing/2014/main" id="{814D73AD-6CC1-4BAF-B6F0-53806B9DDA1C}"/>
              </a:ext>
            </a:extLst>
          </p:cNvPr>
          <p:cNvSpPr>
            <a:spLocks noGrp="1"/>
          </p:cNvSpPr>
          <p:nvPr/>
        </p:nvSpPr>
        <p:spPr>
          <a:xfrm>
            <a:off x="4724400" y="5381625"/>
            <a:ext cx="1238250" cy="142875"/>
          </a:xfrm>
          <a:prstGeom prst="rect">
            <a:avLst/>
          </a:prstGeom>
          <a:noFill/>
          <a:ln w="0">
            <a:noFill/>
            <a:prstDash val="solid"/>
          </a:ln>
        </p:spPr>
        <p:txBody>
          <a:bodyPr/>
          <a:lstStyle/>
          <a:p>
            <a:pPr algn="l">
              <a:defRPr sz="713" b="1" i="0">
                <a:solidFill>
                  <a:srgbClr val="1B777F"/>
                </a:solidFill>
                <a:latin typeface="Aptos"/>
                <a:ea typeface="Aptos"/>
                <a:cs typeface="Aptos"/>
              </a:defRPr>
            </a:pPr>
            <a:r>
              <a:rPr sz="713" b="1" i="0">
                <a:solidFill>
                  <a:srgbClr val="1B777F"/>
                </a:solidFill>
                <a:latin typeface="Aptos"/>
                <a:ea typeface="Aptos"/>
                <a:cs typeface="Aptos"/>
              </a:rPr>
              <a:t>DATENABDECKUNG</a:t>
            </a:r>
          </a:p>
        </p:txBody>
      </p:sp>
      <p:sp>
        <p:nvSpPr>
          <p:cNvPr id="69" name="Rectangle 68">
            <a:extLst>
              <a:ext uri="{FF2B5EF4-FFF2-40B4-BE49-F238E27FC236}">
                <a16:creationId xmlns:a16="http://schemas.microsoft.com/office/drawing/2014/main" id="{8028111A-7A8C-4C69-86BD-60BAB1784A02}"/>
              </a:ext>
            </a:extLst>
          </p:cNvPr>
          <p:cNvSpPr>
            <a:spLocks noGrp="1"/>
          </p:cNvSpPr>
          <p:nvPr/>
        </p:nvSpPr>
        <p:spPr>
          <a:xfrm>
            <a:off x="4724400" y="5553075"/>
            <a:ext cx="4572000" cy="190500"/>
          </a:xfrm>
          <a:prstGeom prst="rect">
            <a:avLst/>
          </a:prstGeom>
          <a:noFill/>
          <a:ln w="0">
            <a:noFill/>
            <a:prstDash val="solid"/>
          </a:ln>
        </p:spPr>
        <p:txBody>
          <a:bodyPr/>
          <a:lstStyle/>
          <a:p>
            <a:pPr algn="l">
              <a:defRPr sz="1013" b="1" i="0">
                <a:solidFill>
                  <a:srgbClr val="051C2C"/>
                </a:solidFill>
                <a:latin typeface="Aptos"/>
                <a:ea typeface="Aptos"/>
                <a:cs typeface="Aptos"/>
              </a:defRPr>
            </a:pPr>
            <a:r>
              <a:rPr sz="1013" b="1" i="0">
                <a:solidFill>
                  <a:srgbClr val="051C2C"/>
                </a:solidFill>
                <a:latin typeface="Aptos"/>
                <a:ea typeface="Aptos"/>
                <a:cs typeface="Aptos"/>
              </a:rPr>
              <a:t>69 / 69 IRB-fähige Bank-Klassen: PD &amp; LGD direkt aus Pillar 3</a:t>
            </a:r>
          </a:p>
        </p:txBody>
      </p:sp>
      <p:sp>
        <p:nvSpPr>
          <p:cNvPr id="73" name="Rectangle 72">
            <a:extLst>
              <a:ext uri="{FF2B5EF4-FFF2-40B4-BE49-F238E27FC236}">
                <a16:creationId xmlns:a16="http://schemas.microsoft.com/office/drawing/2014/main" id="{3F37C053-4C31-460A-B9F0-11020FE6D593}"/>
              </a:ext>
            </a:extLst>
          </p:cNvPr>
          <p:cNvSpPr>
            <a:spLocks noGrp="1"/>
          </p:cNvSpPr>
          <p:nvPr/>
        </p:nvSpPr>
        <p:spPr>
          <a:xfrm>
            <a:off x="457200" y="6486525"/>
            <a:ext cx="10668000" cy="142875"/>
          </a:xfrm>
          <a:prstGeom prst="rect">
            <a:avLst/>
          </a:prstGeom>
          <a:noFill/>
          <a:ln w="0">
            <a:noFill/>
            <a:prstDash val="solid"/>
          </a:ln>
        </p:spPr>
        <p:txBody>
          <a:bodyPr/>
          <a:lstStyle/>
          <a:p>
            <a:pPr algn="l">
              <a:defRPr sz="675" b="0" i="0">
                <a:solidFill>
                  <a:srgbClr val="71858F"/>
                </a:solidFill>
                <a:latin typeface="Aptos"/>
                <a:ea typeface="Aptos"/>
                <a:cs typeface="Aptos"/>
              </a:defRPr>
            </a:pPr>
            <a:r>
              <a:rPr sz="675" b="0" i="0">
                <a:solidFill>
                  <a:srgbClr val="71858F"/>
                </a:solidFill>
                <a:latin typeface="Aptos"/>
                <a:ea typeface="Aptos"/>
                <a:cs typeface="Aptos"/>
              </a:rPr>
              <a:t>Quellen: Bank-Pillar-3 EU-CR6 · EBA Transparency 2025 &amp; Vintages 2020–2025 · ICE Brent · Deutsche Bundesbank · EBA/ECB/Basel</a:t>
            </a:r>
          </a:p>
        </p:txBody>
      </p:sp>
      <p:sp>
        <p:nvSpPr>
          <p:cNvPr id="70" name="CodexSlideNumber">
            <a:extLst>
              <a:ext uri="{FF2B5EF4-FFF2-40B4-BE49-F238E27FC236}">
                <a16:creationId xmlns:a16="http://schemas.microsoft.com/office/drawing/2014/main" id="{C0542DBF-25A6-C901-3FC5-D4BDC27814B5}"/>
              </a:ext>
            </a:extLst>
          </p:cNvPr>
          <p:cNvSpPr txBox="1"/>
          <p:nvPr/>
        </p:nvSpPr>
        <p:spPr>
          <a:xfrm>
            <a:off x="11226800" y="6553200"/>
            <a:ext cx="736600" cy="123111"/>
          </a:xfrm>
          <a:prstGeom prst="rect">
            <a:avLst/>
          </a:prstGeom>
          <a:noFill/>
        </p:spPr>
        <p:txBody>
          <a:bodyPr vert="horz" lIns="0" tIns="0" rIns="0" bIns="0" rtlCol="0">
            <a:spAutoFit/>
          </a:bodyPr>
          <a:lstStyle/>
          <a:p>
            <a:pPr algn="r"/>
            <a:r>
              <a:rPr lang="en-US" sz="800">
                <a:solidFill>
                  <a:srgbClr val="525252"/>
                </a:solidFill>
                <a:latin typeface="Arial" panose="020B0604020202020204" pitchFamily="34" charset="0"/>
              </a:rPr>
              <a:t>7 / 64</a:t>
            </a:r>
          </a:p>
        </p:txBody>
      </p:sp>
    </p:spTree>
    <p:extLst>
      <p:ext uri="{BB962C8B-B14F-4D97-AF65-F5344CB8AC3E}">
        <p14:creationId xmlns:p14="http://schemas.microsoft.com/office/powerpoint/2010/main" val="19541522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 name="Rectangle 112">
            <a:extLst>
              <a:ext uri="{FF2B5EF4-FFF2-40B4-BE49-F238E27FC236}">
                <a16:creationId xmlns:a16="http://schemas.microsoft.com/office/drawing/2014/main" id="{4D5E2796-9872-8189-9192-49A55760A487}"/>
              </a:ext>
            </a:extLst>
          </p:cNvPr>
          <p:cNvSpPr/>
          <p:nvPr/>
        </p:nvSpPr>
        <p:spPr>
          <a:xfrm>
            <a:off x="2324100" y="1695450"/>
            <a:ext cx="1762125" cy="2971800"/>
          </a:xfrm>
          <a:prstGeom prst="rect">
            <a:avLst/>
          </a:prstGeom>
          <a:solidFill>
            <a:schemeClr val="bg1"/>
          </a:solidFill>
          <a:ln w="3175">
            <a:solidFill>
              <a:schemeClr val="tx2">
                <a:lumMod val="90000"/>
                <a:lumOff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A1F37D39-4C62-4318-BF5D-B04E6DB0E5C1}"/>
              </a:ext>
            </a:extLst>
          </p:cNvPr>
          <p:cNvSpPr>
            <a:spLocks noGrp="1"/>
          </p:cNvSpPr>
          <p:nvPr/>
        </p:nvSpPr>
        <p:spPr>
          <a:xfrm>
            <a:off x="457200" y="238125"/>
            <a:ext cx="4000500" cy="171450"/>
          </a:xfrm>
          <a:prstGeom prst="rect">
            <a:avLst/>
          </a:prstGeom>
          <a:noFill/>
          <a:ln w="0">
            <a:noFill/>
            <a:prstDash val="solid"/>
          </a:ln>
        </p:spPr>
        <p:txBody>
          <a:bodyPr/>
          <a:lstStyle/>
          <a:p>
            <a:pPr algn="l">
              <a:defRPr sz="863" b="1" i="0">
                <a:solidFill>
                  <a:srgbClr val="A52F4D"/>
                </a:solidFill>
                <a:latin typeface="Aptos"/>
                <a:ea typeface="Aptos"/>
                <a:cs typeface="Aptos"/>
              </a:defRPr>
            </a:pPr>
            <a:r>
              <a:rPr lang="en-GB" sz="863" b="1" i="0">
                <a:solidFill>
                  <a:schemeClr val="tx2"/>
                </a:solidFill>
                <a:latin typeface="Aptos"/>
                <a:ea typeface="Aptos"/>
                <a:cs typeface="Aptos"/>
              </a:rPr>
              <a:t>EU BANKING CREDIT STRESS COCKPIT</a:t>
            </a:r>
          </a:p>
        </p:txBody>
      </p:sp>
      <p:sp>
        <p:nvSpPr>
          <p:cNvPr id="3" name="Rectangle 2">
            <a:extLst>
              <a:ext uri="{FF2B5EF4-FFF2-40B4-BE49-F238E27FC236}">
                <a16:creationId xmlns:a16="http://schemas.microsoft.com/office/drawing/2014/main" id="{7488FAA4-50C9-4421-9BAF-213A31123CCF}"/>
              </a:ext>
            </a:extLst>
          </p:cNvPr>
          <p:cNvSpPr>
            <a:spLocks noGrp="1"/>
          </p:cNvSpPr>
          <p:nvPr/>
        </p:nvSpPr>
        <p:spPr>
          <a:xfrm>
            <a:off x="457200" y="466725"/>
            <a:ext cx="11144250" cy="400050"/>
          </a:xfrm>
          <a:prstGeom prst="rect">
            <a:avLst/>
          </a:prstGeom>
          <a:noFill/>
          <a:ln w="0">
            <a:noFill/>
            <a:prstDash val="solid"/>
          </a:ln>
        </p:spPr>
        <p:txBody>
          <a:bodyPr/>
          <a:lstStyle/>
          <a:p>
            <a:pPr algn="l">
              <a:defRPr sz="2475" b="1" i="0">
                <a:solidFill>
                  <a:srgbClr val="051C2C"/>
                </a:solidFill>
                <a:latin typeface="Aptos Display"/>
                <a:ea typeface="Aptos Display"/>
                <a:cs typeface="Aptos Display"/>
              </a:defRPr>
            </a:pPr>
            <a:r>
              <a:rPr sz="2475" b="1" i="0">
                <a:solidFill>
                  <a:srgbClr val="051C2C"/>
                </a:solidFill>
                <a:latin typeface="Aptos Display"/>
                <a:ea typeface="Aptos Display"/>
                <a:cs typeface="Aptos Display"/>
              </a:rPr>
              <a:t>Vom Makroschock zur gestressten CET1-Quote</a:t>
            </a:r>
          </a:p>
        </p:txBody>
      </p:sp>
      <p:sp>
        <p:nvSpPr>
          <p:cNvPr id="4" name="Rectangle 3">
            <a:extLst>
              <a:ext uri="{FF2B5EF4-FFF2-40B4-BE49-F238E27FC236}">
                <a16:creationId xmlns:a16="http://schemas.microsoft.com/office/drawing/2014/main" id="{C61CBB88-A7D3-4902-B332-E1194006036F}"/>
              </a:ext>
            </a:extLst>
          </p:cNvPr>
          <p:cNvSpPr>
            <a:spLocks noGrp="1"/>
          </p:cNvSpPr>
          <p:nvPr/>
        </p:nvSpPr>
        <p:spPr>
          <a:xfrm>
            <a:off x="457200" y="914400"/>
            <a:ext cx="11049000" cy="238125"/>
          </a:xfrm>
          <a:prstGeom prst="rect">
            <a:avLst/>
          </a:prstGeom>
          <a:noFill/>
          <a:ln w="0">
            <a:noFill/>
            <a:prstDash val="solid"/>
          </a:ln>
        </p:spPr>
        <p:txBody>
          <a:bodyPr/>
          <a:lstStyle/>
          <a:p>
            <a:pPr algn="l">
              <a:defRPr sz="1125" b="0" i="0">
                <a:solidFill>
                  <a:srgbClr val="4F6875"/>
                </a:solidFill>
                <a:latin typeface="Aptos"/>
                <a:ea typeface="Aptos"/>
                <a:cs typeface="Aptos"/>
              </a:defRPr>
            </a:pPr>
            <a:r>
              <a:rPr sz="1125" b="0" i="0">
                <a:solidFill>
                  <a:srgbClr val="4F6875"/>
                </a:solidFill>
                <a:latin typeface="Aptos"/>
                <a:ea typeface="Aptos"/>
                <a:cs typeface="Aptos"/>
              </a:rPr>
              <a:t>Zwei Faktoren wirken über zwei getrennte Risikokanäle auf Kapital und RWA.</a:t>
            </a:r>
          </a:p>
        </p:txBody>
      </p:sp>
      <p:sp>
        <p:nvSpPr>
          <p:cNvPr id="5" name="Rectangle: Rounded Corners 4">
            <a:extLst>
              <a:ext uri="{FF2B5EF4-FFF2-40B4-BE49-F238E27FC236}">
                <a16:creationId xmlns:a16="http://schemas.microsoft.com/office/drawing/2014/main" id="{2DA0F26B-5E6A-42A9-B8EF-A8802E3B1B7D}"/>
              </a:ext>
            </a:extLst>
          </p:cNvPr>
          <p:cNvSpPr>
            <a:spLocks noGrp="1"/>
          </p:cNvSpPr>
          <p:nvPr/>
        </p:nvSpPr>
        <p:spPr>
          <a:xfrm>
            <a:off x="9086850" y="257175"/>
            <a:ext cx="2571750" cy="219075"/>
          </a:xfrm>
          <a:prstGeom prst="roundRect">
            <a:avLst>
              <a:gd name="adj" fmla="val 50000"/>
            </a:avLst>
          </a:prstGeom>
          <a:solidFill>
            <a:srgbClr val="051C2C"/>
          </a:solidFill>
          <a:ln w="0">
            <a:noFill/>
            <a:prstDash val="solid"/>
          </a:ln>
        </p:spPr>
        <p:txBody>
          <a:bodyPr/>
          <a:lstStyle/>
          <a:p>
            <a:endParaRPr lang="en-US"/>
          </a:p>
        </p:txBody>
      </p:sp>
      <p:sp>
        <p:nvSpPr>
          <p:cNvPr id="6" name="Rectangle 5">
            <a:extLst>
              <a:ext uri="{FF2B5EF4-FFF2-40B4-BE49-F238E27FC236}">
                <a16:creationId xmlns:a16="http://schemas.microsoft.com/office/drawing/2014/main" id="{69317A58-78B0-4FDF-9A9A-B6E839831BAA}"/>
              </a:ext>
            </a:extLst>
          </p:cNvPr>
          <p:cNvSpPr>
            <a:spLocks noGrp="1"/>
          </p:cNvSpPr>
          <p:nvPr/>
        </p:nvSpPr>
        <p:spPr>
          <a:xfrm>
            <a:off x="9124950" y="295275"/>
            <a:ext cx="2495550" cy="142875"/>
          </a:xfrm>
          <a:prstGeom prst="rect">
            <a:avLst/>
          </a:prstGeom>
          <a:noFill/>
          <a:ln w="0">
            <a:noFill/>
            <a:prstDash val="solid"/>
          </a:ln>
        </p:spPr>
        <p:txBody>
          <a:bodyPr/>
          <a:lstStyle/>
          <a:p>
            <a:pPr algn="ctr">
              <a:defRPr sz="713" b="1" i="0">
                <a:solidFill>
                  <a:srgbClr val="FFFFFF"/>
                </a:solidFill>
                <a:latin typeface="Aptos"/>
                <a:ea typeface="Aptos"/>
                <a:cs typeface="Aptos"/>
              </a:defRPr>
            </a:pPr>
            <a:r>
              <a:rPr sz="713" b="1" i="0">
                <a:solidFill>
                  <a:srgbClr val="FFFFFF"/>
                </a:solidFill>
                <a:latin typeface="Aptos"/>
                <a:ea typeface="Aptos"/>
                <a:cs typeface="Aptos"/>
              </a:rPr>
              <a:t>2 FAKTOREN · 2 KANÄLE · 10 BANKEN</a:t>
            </a:r>
          </a:p>
        </p:txBody>
      </p:sp>
      <p:sp>
        <p:nvSpPr>
          <p:cNvPr id="7" name="Rectangle: Rounded Corners 6">
            <a:extLst>
              <a:ext uri="{FF2B5EF4-FFF2-40B4-BE49-F238E27FC236}">
                <a16:creationId xmlns:a16="http://schemas.microsoft.com/office/drawing/2014/main" id="{4C073017-C404-4BE2-B527-8045A5D49E96}"/>
              </a:ext>
            </a:extLst>
          </p:cNvPr>
          <p:cNvSpPr>
            <a:spLocks noGrp="1"/>
          </p:cNvSpPr>
          <p:nvPr/>
        </p:nvSpPr>
        <p:spPr>
          <a:xfrm>
            <a:off x="457200" y="1304925"/>
            <a:ext cx="1685925" cy="352425"/>
          </a:xfrm>
          <a:prstGeom prst="roundRect">
            <a:avLst>
              <a:gd name="adj" fmla="val 21622"/>
            </a:avLst>
          </a:prstGeom>
          <a:solidFill>
            <a:srgbClr val="526D7A"/>
          </a:solidFill>
          <a:ln w="0">
            <a:noFill/>
            <a:prstDash val="solid"/>
          </a:ln>
        </p:spPr>
        <p:txBody>
          <a:bodyPr/>
          <a:lstStyle/>
          <a:p>
            <a:endParaRPr lang="en-US"/>
          </a:p>
        </p:txBody>
      </p:sp>
      <p:sp>
        <p:nvSpPr>
          <p:cNvPr id="8" name="Rectangle: Rounded Corners 7">
            <a:extLst>
              <a:ext uri="{FF2B5EF4-FFF2-40B4-BE49-F238E27FC236}">
                <a16:creationId xmlns:a16="http://schemas.microsoft.com/office/drawing/2014/main" id="{57854407-FECA-47B1-AA27-1321FD6A497B}"/>
              </a:ext>
            </a:extLst>
          </p:cNvPr>
          <p:cNvSpPr>
            <a:spLocks noGrp="1"/>
          </p:cNvSpPr>
          <p:nvPr/>
        </p:nvSpPr>
        <p:spPr>
          <a:xfrm>
            <a:off x="523875" y="1362075"/>
            <a:ext cx="238125" cy="238125"/>
          </a:xfrm>
          <a:prstGeom prst="roundRect">
            <a:avLst>
              <a:gd name="adj" fmla="val 50000"/>
            </a:avLst>
          </a:prstGeom>
          <a:solidFill>
            <a:srgbClr val="FFFFFF"/>
          </a:solidFill>
          <a:ln w="0">
            <a:noFill/>
            <a:prstDash val="solid"/>
          </a:ln>
        </p:spPr>
        <p:txBody>
          <a:bodyPr/>
          <a:lstStyle/>
          <a:p>
            <a:endParaRPr lang="en-US"/>
          </a:p>
        </p:txBody>
      </p:sp>
      <p:sp>
        <p:nvSpPr>
          <p:cNvPr id="9" name="Rectangle 8">
            <a:extLst>
              <a:ext uri="{FF2B5EF4-FFF2-40B4-BE49-F238E27FC236}">
                <a16:creationId xmlns:a16="http://schemas.microsoft.com/office/drawing/2014/main" id="{5B0F232F-4A3D-44A7-A9FD-317BA71FE331}"/>
              </a:ext>
            </a:extLst>
          </p:cNvPr>
          <p:cNvSpPr>
            <a:spLocks noGrp="1"/>
          </p:cNvSpPr>
          <p:nvPr/>
        </p:nvSpPr>
        <p:spPr>
          <a:xfrm>
            <a:off x="523875" y="1400175"/>
            <a:ext cx="238125" cy="142875"/>
          </a:xfrm>
          <a:prstGeom prst="rect">
            <a:avLst/>
          </a:prstGeom>
          <a:noFill/>
          <a:ln w="0">
            <a:noFill/>
            <a:prstDash val="solid"/>
          </a:ln>
        </p:spPr>
        <p:txBody>
          <a:bodyPr/>
          <a:lstStyle/>
          <a:p>
            <a:pPr algn="ctr">
              <a:defRPr sz="825" b="1" i="0">
                <a:solidFill>
                  <a:srgbClr val="526D7A"/>
                </a:solidFill>
                <a:latin typeface="Aptos"/>
                <a:ea typeface="Aptos"/>
                <a:cs typeface="Aptos"/>
              </a:defRPr>
            </a:pPr>
            <a:r>
              <a:rPr sz="825" b="1" i="0">
                <a:solidFill>
                  <a:srgbClr val="526D7A"/>
                </a:solidFill>
                <a:latin typeface="Aptos"/>
                <a:ea typeface="Aptos"/>
                <a:cs typeface="Aptos"/>
              </a:rPr>
              <a:t>1</a:t>
            </a:r>
          </a:p>
        </p:txBody>
      </p:sp>
      <p:sp>
        <p:nvSpPr>
          <p:cNvPr id="10" name="Rectangle 9">
            <a:extLst>
              <a:ext uri="{FF2B5EF4-FFF2-40B4-BE49-F238E27FC236}">
                <a16:creationId xmlns:a16="http://schemas.microsoft.com/office/drawing/2014/main" id="{4D7925F6-0FD5-46D7-9F71-1481CFB7D80A}"/>
              </a:ext>
            </a:extLst>
          </p:cNvPr>
          <p:cNvSpPr>
            <a:spLocks noGrp="1"/>
          </p:cNvSpPr>
          <p:nvPr/>
        </p:nvSpPr>
        <p:spPr>
          <a:xfrm>
            <a:off x="838200" y="1400175"/>
            <a:ext cx="1228725" cy="171450"/>
          </a:xfrm>
          <a:prstGeom prst="rect">
            <a:avLst/>
          </a:prstGeom>
          <a:noFill/>
          <a:ln w="0">
            <a:noFill/>
            <a:prstDash val="solid"/>
          </a:ln>
        </p:spPr>
        <p:txBody>
          <a:bodyPr/>
          <a:lstStyle/>
          <a:p>
            <a:pPr algn="l">
              <a:defRPr sz="975" b="1" i="0">
                <a:solidFill>
                  <a:srgbClr val="FFFFFF"/>
                </a:solidFill>
                <a:latin typeface="Aptos"/>
                <a:ea typeface="Aptos"/>
                <a:cs typeface="Aptos"/>
              </a:defRPr>
            </a:pPr>
            <a:r>
              <a:rPr sz="975" b="1" i="0">
                <a:solidFill>
                  <a:srgbClr val="FFFFFF"/>
                </a:solidFill>
                <a:latin typeface="Aptos"/>
                <a:ea typeface="Aptos"/>
                <a:cs typeface="Aptos"/>
              </a:rPr>
              <a:t>Datenbasis</a:t>
            </a:r>
          </a:p>
        </p:txBody>
      </p:sp>
      <p:sp>
        <p:nvSpPr>
          <p:cNvPr id="11" name="Rectangle: Rounded Corners 10">
            <a:extLst>
              <a:ext uri="{FF2B5EF4-FFF2-40B4-BE49-F238E27FC236}">
                <a16:creationId xmlns:a16="http://schemas.microsoft.com/office/drawing/2014/main" id="{45FBC483-D63D-47B8-A8C2-EA9E146A8FD1}"/>
              </a:ext>
            </a:extLst>
          </p:cNvPr>
          <p:cNvSpPr>
            <a:spLocks noGrp="1"/>
          </p:cNvSpPr>
          <p:nvPr/>
        </p:nvSpPr>
        <p:spPr>
          <a:xfrm>
            <a:off x="2362200" y="1304925"/>
            <a:ext cx="1685925" cy="352425"/>
          </a:xfrm>
          <a:prstGeom prst="roundRect">
            <a:avLst>
              <a:gd name="adj" fmla="val 21622"/>
            </a:avLst>
          </a:prstGeom>
          <a:solidFill>
            <a:srgbClr val="0B5D7A"/>
          </a:solidFill>
          <a:ln w="0">
            <a:noFill/>
            <a:prstDash val="solid"/>
          </a:ln>
        </p:spPr>
        <p:txBody>
          <a:bodyPr/>
          <a:lstStyle/>
          <a:p>
            <a:endParaRPr lang="en-US"/>
          </a:p>
        </p:txBody>
      </p:sp>
      <p:sp>
        <p:nvSpPr>
          <p:cNvPr id="12" name="Rectangle: Rounded Corners 11">
            <a:extLst>
              <a:ext uri="{FF2B5EF4-FFF2-40B4-BE49-F238E27FC236}">
                <a16:creationId xmlns:a16="http://schemas.microsoft.com/office/drawing/2014/main" id="{80B6A175-C4E8-41CB-9976-AB542EEA9533}"/>
              </a:ext>
            </a:extLst>
          </p:cNvPr>
          <p:cNvSpPr>
            <a:spLocks noGrp="1"/>
          </p:cNvSpPr>
          <p:nvPr/>
        </p:nvSpPr>
        <p:spPr>
          <a:xfrm>
            <a:off x="2428875" y="1362075"/>
            <a:ext cx="238125" cy="238125"/>
          </a:xfrm>
          <a:prstGeom prst="roundRect">
            <a:avLst>
              <a:gd name="adj" fmla="val 50000"/>
            </a:avLst>
          </a:prstGeom>
          <a:solidFill>
            <a:srgbClr val="FFFFFF"/>
          </a:solidFill>
          <a:ln w="0">
            <a:noFill/>
            <a:prstDash val="solid"/>
          </a:ln>
        </p:spPr>
        <p:txBody>
          <a:bodyPr/>
          <a:lstStyle/>
          <a:p>
            <a:endParaRPr lang="en-US"/>
          </a:p>
        </p:txBody>
      </p:sp>
      <p:sp>
        <p:nvSpPr>
          <p:cNvPr id="13" name="Rectangle 12">
            <a:extLst>
              <a:ext uri="{FF2B5EF4-FFF2-40B4-BE49-F238E27FC236}">
                <a16:creationId xmlns:a16="http://schemas.microsoft.com/office/drawing/2014/main" id="{FEEB250E-20D4-4060-8C9D-FCEE4F385C53}"/>
              </a:ext>
            </a:extLst>
          </p:cNvPr>
          <p:cNvSpPr>
            <a:spLocks noGrp="1"/>
          </p:cNvSpPr>
          <p:nvPr/>
        </p:nvSpPr>
        <p:spPr>
          <a:xfrm>
            <a:off x="2428875" y="1400175"/>
            <a:ext cx="238125" cy="142875"/>
          </a:xfrm>
          <a:prstGeom prst="rect">
            <a:avLst/>
          </a:prstGeom>
          <a:noFill/>
          <a:ln w="0">
            <a:noFill/>
            <a:prstDash val="solid"/>
          </a:ln>
        </p:spPr>
        <p:txBody>
          <a:bodyPr/>
          <a:lstStyle/>
          <a:p>
            <a:pPr algn="ctr">
              <a:defRPr sz="825" b="1" i="0">
                <a:solidFill>
                  <a:srgbClr val="0B5D7A"/>
                </a:solidFill>
                <a:latin typeface="Aptos"/>
                <a:ea typeface="Aptos"/>
                <a:cs typeface="Aptos"/>
              </a:defRPr>
            </a:pPr>
            <a:r>
              <a:rPr sz="825" b="1" i="0">
                <a:solidFill>
                  <a:srgbClr val="0B5D7A"/>
                </a:solidFill>
                <a:latin typeface="Aptos"/>
                <a:ea typeface="Aptos"/>
                <a:cs typeface="Aptos"/>
              </a:rPr>
              <a:t>2</a:t>
            </a:r>
          </a:p>
        </p:txBody>
      </p:sp>
      <p:sp>
        <p:nvSpPr>
          <p:cNvPr id="14" name="Rectangle 13">
            <a:extLst>
              <a:ext uri="{FF2B5EF4-FFF2-40B4-BE49-F238E27FC236}">
                <a16:creationId xmlns:a16="http://schemas.microsoft.com/office/drawing/2014/main" id="{54675EBC-288A-48D4-A342-A5D17DA8CDBC}"/>
              </a:ext>
            </a:extLst>
          </p:cNvPr>
          <p:cNvSpPr>
            <a:spLocks noGrp="1"/>
          </p:cNvSpPr>
          <p:nvPr/>
        </p:nvSpPr>
        <p:spPr>
          <a:xfrm>
            <a:off x="2743200" y="1400175"/>
            <a:ext cx="1228725" cy="171450"/>
          </a:xfrm>
          <a:prstGeom prst="rect">
            <a:avLst/>
          </a:prstGeom>
          <a:noFill/>
          <a:ln w="0">
            <a:noFill/>
            <a:prstDash val="solid"/>
          </a:ln>
        </p:spPr>
        <p:txBody>
          <a:bodyPr/>
          <a:lstStyle/>
          <a:p>
            <a:pPr algn="l">
              <a:defRPr sz="975" b="1" i="0">
                <a:solidFill>
                  <a:srgbClr val="FFFFFF"/>
                </a:solidFill>
                <a:latin typeface="Aptos"/>
                <a:ea typeface="Aptos"/>
                <a:cs typeface="Aptos"/>
              </a:defRPr>
            </a:pPr>
            <a:r>
              <a:rPr sz="975" b="1" i="0">
                <a:solidFill>
                  <a:srgbClr val="FFFFFF"/>
                </a:solidFill>
                <a:latin typeface="Aptos"/>
                <a:ea typeface="Aptos"/>
                <a:cs typeface="Aptos"/>
              </a:rPr>
              <a:t>Stressfaktoren</a:t>
            </a:r>
          </a:p>
        </p:txBody>
      </p:sp>
      <p:sp>
        <p:nvSpPr>
          <p:cNvPr id="15" name="Rectangle: Rounded Corners 14">
            <a:extLst>
              <a:ext uri="{FF2B5EF4-FFF2-40B4-BE49-F238E27FC236}">
                <a16:creationId xmlns:a16="http://schemas.microsoft.com/office/drawing/2014/main" id="{673833DF-5707-427D-8D67-B5CDC6552A9F}"/>
              </a:ext>
            </a:extLst>
          </p:cNvPr>
          <p:cNvSpPr>
            <a:spLocks noGrp="1"/>
          </p:cNvSpPr>
          <p:nvPr/>
        </p:nvSpPr>
        <p:spPr>
          <a:xfrm>
            <a:off x="4267200" y="1304925"/>
            <a:ext cx="1876425" cy="352425"/>
          </a:xfrm>
          <a:prstGeom prst="roundRect">
            <a:avLst>
              <a:gd name="adj" fmla="val 21622"/>
            </a:avLst>
          </a:prstGeom>
          <a:solidFill>
            <a:srgbClr val="1B777F"/>
          </a:solidFill>
          <a:ln w="0">
            <a:noFill/>
            <a:prstDash val="solid"/>
          </a:ln>
        </p:spPr>
        <p:txBody>
          <a:bodyPr/>
          <a:lstStyle/>
          <a:p>
            <a:endParaRPr lang="en-US"/>
          </a:p>
        </p:txBody>
      </p:sp>
      <p:sp>
        <p:nvSpPr>
          <p:cNvPr id="16" name="Rectangle: Rounded Corners 15">
            <a:extLst>
              <a:ext uri="{FF2B5EF4-FFF2-40B4-BE49-F238E27FC236}">
                <a16:creationId xmlns:a16="http://schemas.microsoft.com/office/drawing/2014/main" id="{4C953D07-8BC3-470F-9689-D22B4694D494}"/>
              </a:ext>
            </a:extLst>
          </p:cNvPr>
          <p:cNvSpPr>
            <a:spLocks noGrp="1"/>
          </p:cNvSpPr>
          <p:nvPr/>
        </p:nvSpPr>
        <p:spPr>
          <a:xfrm>
            <a:off x="4333875" y="1362075"/>
            <a:ext cx="238125" cy="238125"/>
          </a:xfrm>
          <a:prstGeom prst="roundRect">
            <a:avLst>
              <a:gd name="adj" fmla="val 50000"/>
            </a:avLst>
          </a:prstGeom>
          <a:solidFill>
            <a:srgbClr val="FFFFFF"/>
          </a:solidFill>
          <a:ln w="0">
            <a:noFill/>
            <a:prstDash val="solid"/>
          </a:ln>
        </p:spPr>
        <p:txBody>
          <a:bodyPr/>
          <a:lstStyle/>
          <a:p>
            <a:endParaRPr lang="en-US"/>
          </a:p>
        </p:txBody>
      </p:sp>
      <p:sp>
        <p:nvSpPr>
          <p:cNvPr id="17" name="Rectangle 16">
            <a:extLst>
              <a:ext uri="{FF2B5EF4-FFF2-40B4-BE49-F238E27FC236}">
                <a16:creationId xmlns:a16="http://schemas.microsoft.com/office/drawing/2014/main" id="{6AE6DA22-DBF8-4A16-AE39-88228ECC9CF5}"/>
              </a:ext>
            </a:extLst>
          </p:cNvPr>
          <p:cNvSpPr>
            <a:spLocks noGrp="1"/>
          </p:cNvSpPr>
          <p:nvPr/>
        </p:nvSpPr>
        <p:spPr>
          <a:xfrm>
            <a:off x="4333875" y="1400175"/>
            <a:ext cx="238125" cy="142875"/>
          </a:xfrm>
          <a:prstGeom prst="rect">
            <a:avLst/>
          </a:prstGeom>
          <a:noFill/>
          <a:ln w="0">
            <a:noFill/>
            <a:prstDash val="solid"/>
          </a:ln>
        </p:spPr>
        <p:txBody>
          <a:bodyPr/>
          <a:lstStyle/>
          <a:p>
            <a:pPr algn="ctr">
              <a:defRPr sz="825" b="1" i="0">
                <a:solidFill>
                  <a:srgbClr val="1B777F"/>
                </a:solidFill>
                <a:latin typeface="Aptos"/>
                <a:ea typeface="Aptos"/>
                <a:cs typeface="Aptos"/>
              </a:defRPr>
            </a:pPr>
            <a:r>
              <a:rPr sz="825" b="1" i="0">
                <a:solidFill>
                  <a:srgbClr val="1B777F"/>
                </a:solidFill>
                <a:latin typeface="Aptos"/>
                <a:ea typeface="Aptos"/>
                <a:cs typeface="Aptos"/>
              </a:rPr>
              <a:t>3</a:t>
            </a:r>
          </a:p>
        </p:txBody>
      </p:sp>
      <p:sp>
        <p:nvSpPr>
          <p:cNvPr id="18" name="Rectangle 17">
            <a:extLst>
              <a:ext uri="{FF2B5EF4-FFF2-40B4-BE49-F238E27FC236}">
                <a16:creationId xmlns:a16="http://schemas.microsoft.com/office/drawing/2014/main" id="{93D6284A-74F4-48B9-B636-E70B5BB8F5BB}"/>
              </a:ext>
            </a:extLst>
          </p:cNvPr>
          <p:cNvSpPr>
            <a:spLocks noGrp="1"/>
          </p:cNvSpPr>
          <p:nvPr/>
        </p:nvSpPr>
        <p:spPr>
          <a:xfrm>
            <a:off x="4648200" y="1400175"/>
            <a:ext cx="1419225" cy="171450"/>
          </a:xfrm>
          <a:prstGeom prst="rect">
            <a:avLst/>
          </a:prstGeom>
          <a:noFill/>
          <a:ln w="0">
            <a:noFill/>
            <a:prstDash val="solid"/>
          </a:ln>
        </p:spPr>
        <p:txBody>
          <a:bodyPr/>
          <a:lstStyle/>
          <a:p>
            <a:pPr algn="l">
              <a:defRPr sz="975" b="1" i="0">
                <a:solidFill>
                  <a:srgbClr val="FFFFFF"/>
                </a:solidFill>
                <a:latin typeface="Aptos"/>
                <a:ea typeface="Aptos"/>
                <a:cs typeface="Aptos"/>
              </a:defRPr>
            </a:pPr>
            <a:r>
              <a:rPr sz="975" b="1" i="0">
                <a:solidFill>
                  <a:srgbClr val="FFFFFF"/>
                </a:solidFill>
                <a:latin typeface="Aptos"/>
                <a:ea typeface="Aptos"/>
                <a:cs typeface="Aptos"/>
              </a:rPr>
              <a:t>Transmission</a:t>
            </a:r>
          </a:p>
        </p:txBody>
      </p:sp>
      <p:sp>
        <p:nvSpPr>
          <p:cNvPr id="19" name="Rectangle: Rounded Corners 18">
            <a:extLst>
              <a:ext uri="{FF2B5EF4-FFF2-40B4-BE49-F238E27FC236}">
                <a16:creationId xmlns:a16="http://schemas.microsoft.com/office/drawing/2014/main" id="{BBCD7600-69D9-49C9-9939-D1BADFC1AF38}"/>
              </a:ext>
            </a:extLst>
          </p:cNvPr>
          <p:cNvSpPr>
            <a:spLocks noGrp="1"/>
          </p:cNvSpPr>
          <p:nvPr/>
        </p:nvSpPr>
        <p:spPr>
          <a:xfrm>
            <a:off x="6362700" y="1304925"/>
            <a:ext cx="2952750" cy="352425"/>
          </a:xfrm>
          <a:prstGeom prst="roundRect">
            <a:avLst>
              <a:gd name="adj" fmla="val 21622"/>
            </a:avLst>
          </a:prstGeom>
          <a:solidFill>
            <a:srgbClr val="A52F4D"/>
          </a:solidFill>
          <a:ln w="0">
            <a:noFill/>
            <a:prstDash val="solid"/>
          </a:ln>
        </p:spPr>
        <p:txBody>
          <a:bodyPr/>
          <a:lstStyle/>
          <a:p>
            <a:endParaRPr lang="en-US"/>
          </a:p>
        </p:txBody>
      </p:sp>
      <p:sp>
        <p:nvSpPr>
          <p:cNvPr id="20" name="Rectangle: Rounded Corners 19">
            <a:extLst>
              <a:ext uri="{FF2B5EF4-FFF2-40B4-BE49-F238E27FC236}">
                <a16:creationId xmlns:a16="http://schemas.microsoft.com/office/drawing/2014/main" id="{59F03C08-3956-4AEC-B206-AB5D9C3AA893}"/>
              </a:ext>
            </a:extLst>
          </p:cNvPr>
          <p:cNvSpPr>
            <a:spLocks noGrp="1"/>
          </p:cNvSpPr>
          <p:nvPr/>
        </p:nvSpPr>
        <p:spPr>
          <a:xfrm>
            <a:off x="6429375" y="1362075"/>
            <a:ext cx="238125" cy="238125"/>
          </a:xfrm>
          <a:prstGeom prst="roundRect">
            <a:avLst>
              <a:gd name="adj" fmla="val 50000"/>
            </a:avLst>
          </a:prstGeom>
          <a:solidFill>
            <a:srgbClr val="FFFFFF"/>
          </a:solidFill>
          <a:ln w="0">
            <a:noFill/>
            <a:prstDash val="solid"/>
          </a:ln>
        </p:spPr>
        <p:txBody>
          <a:bodyPr/>
          <a:lstStyle/>
          <a:p>
            <a:endParaRPr lang="en-US"/>
          </a:p>
        </p:txBody>
      </p:sp>
      <p:sp>
        <p:nvSpPr>
          <p:cNvPr id="21" name="Rectangle 20">
            <a:extLst>
              <a:ext uri="{FF2B5EF4-FFF2-40B4-BE49-F238E27FC236}">
                <a16:creationId xmlns:a16="http://schemas.microsoft.com/office/drawing/2014/main" id="{06EE4924-F0EC-4459-90BF-31DF73DBD1D7}"/>
              </a:ext>
            </a:extLst>
          </p:cNvPr>
          <p:cNvSpPr>
            <a:spLocks noGrp="1"/>
          </p:cNvSpPr>
          <p:nvPr/>
        </p:nvSpPr>
        <p:spPr>
          <a:xfrm>
            <a:off x="6429375" y="1400175"/>
            <a:ext cx="238125" cy="142875"/>
          </a:xfrm>
          <a:prstGeom prst="rect">
            <a:avLst/>
          </a:prstGeom>
          <a:noFill/>
          <a:ln w="0">
            <a:noFill/>
            <a:prstDash val="solid"/>
          </a:ln>
        </p:spPr>
        <p:txBody>
          <a:bodyPr/>
          <a:lstStyle/>
          <a:p>
            <a:pPr algn="ctr">
              <a:defRPr sz="825" b="1" i="0">
                <a:solidFill>
                  <a:srgbClr val="A52F4D"/>
                </a:solidFill>
                <a:latin typeface="Aptos"/>
                <a:ea typeface="Aptos"/>
                <a:cs typeface="Aptos"/>
              </a:defRPr>
            </a:pPr>
            <a:r>
              <a:rPr sz="825" b="1" i="0">
                <a:solidFill>
                  <a:srgbClr val="A52F4D"/>
                </a:solidFill>
                <a:latin typeface="Aptos"/>
                <a:ea typeface="Aptos"/>
                <a:cs typeface="Aptos"/>
              </a:rPr>
              <a:t>4</a:t>
            </a:r>
          </a:p>
        </p:txBody>
      </p:sp>
      <p:sp>
        <p:nvSpPr>
          <p:cNvPr id="22" name="Rectangle 21">
            <a:extLst>
              <a:ext uri="{FF2B5EF4-FFF2-40B4-BE49-F238E27FC236}">
                <a16:creationId xmlns:a16="http://schemas.microsoft.com/office/drawing/2014/main" id="{A19306B1-3F90-4A89-92A5-B5392607CE18}"/>
              </a:ext>
            </a:extLst>
          </p:cNvPr>
          <p:cNvSpPr>
            <a:spLocks noGrp="1"/>
          </p:cNvSpPr>
          <p:nvPr/>
        </p:nvSpPr>
        <p:spPr>
          <a:xfrm>
            <a:off x="6743700" y="1400175"/>
            <a:ext cx="2495550" cy="171450"/>
          </a:xfrm>
          <a:prstGeom prst="rect">
            <a:avLst/>
          </a:prstGeom>
          <a:noFill/>
          <a:ln w="0">
            <a:noFill/>
            <a:prstDash val="solid"/>
          </a:ln>
        </p:spPr>
        <p:txBody>
          <a:bodyPr/>
          <a:lstStyle/>
          <a:p>
            <a:pPr algn="l">
              <a:defRPr sz="975" b="1" i="0">
                <a:solidFill>
                  <a:srgbClr val="FFFFFF"/>
                </a:solidFill>
                <a:latin typeface="Aptos"/>
                <a:ea typeface="Aptos"/>
                <a:cs typeface="Aptos"/>
              </a:defRPr>
            </a:pPr>
            <a:r>
              <a:rPr sz="975" b="1" i="0">
                <a:solidFill>
                  <a:srgbClr val="FFFFFF"/>
                </a:solidFill>
                <a:latin typeface="Aptos"/>
                <a:ea typeface="Aptos"/>
                <a:cs typeface="Aptos"/>
              </a:rPr>
              <a:t>Risikokanäle</a:t>
            </a:r>
          </a:p>
        </p:txBody>
      </p:sp>
      <p:sp>
        <p:nvSpPr>
          <p:cNvPr id="23" name="Rectangle: Rounded Corners 22">
            <a:extLst>
              <a:ext uri="{FF2B5EF4-FFF2-40B4-BE49-F238E27FC236}">
                <a16:creationId xmlns:a16="http://schemas.microsoft.com/office/drawing/2014/main" id="{888A2021-F21D-496A-A630-21D78FA8B9A2}"/>
              </a:ext>
            </a:extLst>
          </p:cNvPr>
          <p:cNvSpPr>
            <a:spLocks noGrp="1"/>
          </p:cNvSpPr>
          <p:nvPr/>
        </p:nvSpPr>
        <p:spPr>
          <a:xfrm>
            <a:off x="9534525" y="1304925"/>
            <a:ext cx="2200275" cy="352425"/>
          </a:xfrm>
          <a:prstGeom prst="roundRect">
            <a:avLst>
              <a:gd name="adj" fmla="val 21622"/>
            </a:avLst>
          </a:prstGeom>
          <a:solidFill>
            <a:srgbClr val="051C2C"/>
          </a:solidFill>
          <a:ln w="0">
            <a:noFill/>
            <a:prstDash val="solid"/>
          </a:ln>
        </p:spPr>
        <p:txBody>
          <a:bodyPr/>
          <a:lstStyle/>
          <a:p>
            <a:endParaRPr lang="en-US"/>
          </a:p>
        </p:txBody>
      </p:sp>
      <p:sp>
        <p:nvSpPr>
          <p:cNvPr id="24" name="Rectangle: Rounded Corners 23">
            <a:extLst>
              <a:ext uri="{FF2B5EF4-FFF2-40B4-BE49-F238E27FC236}">
                <a16:creationId xmlns:a16="http://schemas.microsoft.com/office/drawing/2014/main" id="{42A3E89E-2514-49C3-BFCA-361416BA901B}"/>
              </a:ext>
            </a:extLst>
          </p:cNvPr>
          <p:cNvSpPr>
            <a:spLocks noGrp="1"/>
          </p:cNvSpPr>
          <p:nvPr/>
        </p:nvSpPr>
        <p:spPr>
          <a:xfrm>
            <a:off x="9601200" y="1362075"/>
            <a:ext cx="238125" cy="238125"/>
          </a:xfrm>
          <a:prstGeom prst="roundRect">
            <a:avLst>
              <a:gd name="adj" fmla="val 50000"/>
            </a:avLst>
          </a:prstGeom>
          <a:solidFill>
            <a:srgbClr val="FFFFFF"/>
          </a:solidFill>
          <a:ln w="0">
            <a:noFill/>
            <a:prstDash val="solid"/>
          </a:ln>
        </p:spPr>
        <p:txBody>
          <a:bodyPr/>
          <a:lstStyle/>
          <a:p>
            <a:endParaRPr lang="en-US"/>
          </a:p>
        </p:txBody>
      </p:sp>
      <p:sp>
        <p:nvSpPr>
          <p:cNvPr id="25" name="Rectangle 24">
            <a:extLst>
              <a:ext uri="{FF2B5EF4-FFF2-40B4-BE49-F238E27FC236}">
                <a16:creationId xmlns:a16="http://schemas.microsoft.com/office/drawing/2014/main" id="{6DE75607-165B-4E36-90B3-2DB45C5BFD2A}"/>
              </a:ext>
            </a:extLst>
          </p:cNvPr>
          <p:cNvSpPr>
            <a:spLocks noGrp="1"/>
          </p:cNvSpPr>
          <p:nvPr/>
        </p:nvSpPr>
        <p:spPr>
          <a:xfrm>
            <a:off x="9601200" y="1400175"/>
            <a:ext cx="238125" cy="142875"/>
          </a:xfrm>
          <a:prstGeom prst="rect">
            <a:avLst/>
          </a:prstGeom>
          <a:noFill/>
          <a:ln w="0">
            <a:noFill/>
            <a:prstDash val="solid"/>
          </a:ln>
        </p:spPr>
        <p:txBody>
          <a:bodyPr/>
          <a:lstStyle/>
          <a:p>
            <a:pPr algn="ctr">
              <a:defRPr sz="825" b="1" i="0">
                <a:solidFill>
                  <a:srgbClr val="051C2C"/>
                </a:solidFill>
                <a:latin typeface="Aptos"/>
                <a:ea typeface="Aptos"/>
                <a:cs typeface="Aptos"/>
              </a:defRPr>
            </a:pPr>
            <a:r>
              <a:rPr sz="825" b="1" i="0">
                <a:solidFill>
                  <a:srgbClr val="051C2C"/>
                </a:solidFill>
                <a:latin typeface="Aptos"/>
                <a:ea typeface="Aptos"/>
                <a:cs typeface="Aptos"/>
              </a:rPr>
              <a:t>5</a:t>
            </a:r>
          </a:p>
        </p:txBody>
      </p:sp>
      <p:sp>
        <p:nvSpPr>
          <p:cNvPr id="26" name="Rectangle 25">
            <a:extLst>
              <a:ext uri="{FF2B5EF4-FFF2-40B4-BE49-F238E27FC236}">
                <a16:creationId xmlns:a16="http://schemas.microsoft.com/office/drawing/2014/main" id="{9F088828-9279-482C-A8E2-C9E4B69654C6}"/>
              </a:ext>
            </a:extLst>
          </p:cNvPr>
          <p:cNvSpPr>
            <a:spLocks noGrp="1"/>
          </p:cNvSpPr>
          <p:nvPr/>
        </p:nvSpPr>
        <p:spPr>
          <a:xfrm>
            <a:off x="9915525" y="1400175"/>
            <a:ext cx="1743075" cy="171450"/>
          </a:xfrm>
          <a:prstGeom prst="rect">
            <a:avLst/>
          </a:prstGeom>
          <a:noFill/>
          <a:ln w="0">
            <a:noFill/>
            <a:prstDash val="solid"/>
          </a:ln>
        </p:spPr>
        <p:txBody>
          <a:bodyPr/>
          <a:lstStyle/>
          <a:p>
            <a:pPr algn="l">
              <a:defRPr sz="975" b="1" i="0">
                <a:solidFill>
                  <a:srgbClr val="FFFFFF"/>
                </a:solidFill>
                <a:latin typeface="Aptos"/>
                <a:ea typeface="Aptos"/>
                <a:cs typeface="Aptos"/>
              </a:defRPr>
            </a:pPr>
            <a:r>
              <a:rPr sz="975" b="1" i="0">
                <a:solidFill>
                  <a:srgbClr val="FFFFFF"/>
                </a:solidFill>
                <a:latin typeface="Aptos"/>
                <a:ea typeface="Aptos"/>
                <a:cs typeface="Aptos"/>
              </a:rPr>
              <a:t>CET1-Ergebnis</a:t>
            </a:r>
          </a:p>
        </p:txBody>
      </p:sp>
      <p:sp>
        <p:nvSpPr>
          <p:cNvPr id="27" name="Rectangle: Rounded Corners 26">
            <a:extLst>
              <a:ext uri="{FF2B5EF4-FFF2-40B4-BE49-F238E27FC236}">
                <a16:creationId xmlns:a16="http://schemas.microsoft.com/office/drawing/2014/main" id="{6EDC856A-AC34-47DA-BEF9-2AAE7B9599C8}"/>
              </a:ext>
            </a:extLst>
          </p:cNvPr>
          <p:cNvSpPr>
            <a:spLocks noGrp="1"/>
          </p:cNvSpPr>
          <p:nvPr/>
        </p:nvSpPr>
        <p:spPr>
          <a:xfrm>
            <a:off x="457200" y="1781175"/>
            <a:ext cx="1685925" cy="2971800"/>
          </a:xfrm>
          <a:prstGeom prst="roundRect">
            <a:avLst>
              <a:gd name="adj" fmla="val 6780"/>
            </a:avLst>
          </a:prstGeom>
          <a:solidFill>
            <a:srgbClr val="FFFFFF"/>
          </a:solidFill>
          <a:ln w="9525">
            <a:solidFill>
              <a:srgbClr val="D5E0E5"/>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28" name="Rectangle 27">
            <a:extLst>
              <a:ext uri="{FF2B5EF4-FFF2-40B4-BE49-F238E27FC236}">
                <a16:creationId xmlns:a16="http://schemas.microsoft.com/office/drawing/2014/main" id="{3405E9A3-1252-4408-9262-58ED56B5228D}"/>
              </a:ext>
            </a:extLst>
          </p:cNvPr>
          <p:cNvSpPr>
            <a:spLocks noGrp="1"/>
          </p:cNvSpPr>
          <p:nvPr/>
        </p:nvSpPr>
        <p:spPr>
          <a:xfrm>
            <a:off x="457200" y="1781175"/>
            <a:ext cx="57150" cy="2971800"/>
          </a:xfrm>
          <a:prstGeom prst="rect">
            <a:avLst/>
          </a:prstGeom>
          <a:solidFill>
            <a:srgbClr val="526D7A"/>
          </a:solidFill>
          <a:ln w="0">
            <a:noFill/>
            <a:prstDash val="solid"/>
          </a:ln>
        </p:spPr>
        <p:txBody>
          <a:bodyPr/>
          <a:lstStyle/>
          <a:p>
            <a:endParaRPr lang="en-US"/>
          </a:p>
        </p:txBody>
      </p:sp>
      <p:sp>
        <p:nvSpPr>
          <p:cNvPr id="29" name="Rectangle: Rounded Corners 28">
            <a:extLst>
              <a:ext uri="{FF2B5EF4-FFF2-40B4-BE49-F238E27FC236}">
                <a16:creationId xmlns:a16="http://schemas.microsoft.com/office/drawing/2014/main" id="{DC463519-61C9-4BDB-8E09-FC692C8BF3C1}"/>
              </a:ext>
            </a:extLst>
          </p:cNvPr>
          <p:cNvSpPr>
            <a:spLocks noGrp="1"/>
          </p:cNvSpPr>
          <p:nvPr/>
        </p:nvSpPr>
        <p:spPr>
          <a:xfrm>
            <a:off x="600075" y="1895475"/>
            <a:ext cx="685800" cy="219075"/>
          </a:xfrm>
          <a:prstGeom prst="roundRect">
            <a:avLst>
              <a:gd name="adj" fmla="val 50000"/>
            </a:avLst>
          </a:prstGeom>
          <a:solidFill>
            <a:srgbClr val="526D7A"/>
          </a:solidFill>
          <a:ln w="0">
            <a:noFill/>
            <a:prstDash val="solid"/>
          </a:ln>
        </p:spPr>
        <p:txBody>
          <a:bodyPr/>
          <a:lstStyle/>
          <a:p>
            <a:endParaRPr lang="en-US"/>
          </a:p>
        </p:txBody>
      </p:sp>
      <p:sp>
        <p:nvSpPr>
          <p:cNvPr id="30" name="Rectangle 29">
            <a:extLst>
              <a:ext uri="{FF2B5EF4-FFF2-40B4-BE49-F238E27FC236}">
                <a16:creationId xmlns:a16="http://schemas.microsoft.com/office/drawing/2014/main" id="{945C034C-BDDB-484A-B18C-2887205AD018}"/>
              </a:ext>
            </a:extLst>
          </p:cNvPr>
          <p:cNvSpPr>
            <a:spLocks noGrp="1"/>
          </p:cNvSpPr>
          <p:nvPr/>
        </p:nvSpPr>
        <p:spPr>
          <a:xfrm>
            <a:off x="638175" y="1933575"/>
            <a:ext cx="609600" cy="142875"/>
          </a:xfrm>
          <a:prstGeom prst="rect">
            <a:avLst/>
          </a:prstGeom>
          <a:noFill/>
          <a:ln w="0">
            <a:noFill/>
            <a:prstDash val="solid"/>
          </a:ln>
        </p:spPr>
        <p:txBody>
          <a:bodyPr/>
          <a:lstStyle/>
          <a:p>
            <a:pPr algn="ctr">
              <a:defRPr sz="713" b="1" i="0">
                <a:solidFill>
                  <a:srgbClr val="FFFFFF"/>
                </a:solidFill>
                <a:latin typeface="Aptos"/>
                <a:ea typeface="Aptos"/>
                <a:cs typeface="Aptos"/>
              </a:defRPr>
            </a:pPr>
            <a:r>
              <a:rPr sz="713" b="1" i="0">
                <a:solidFill>
                  <a:srgbClr val="FFFFFF"/>
                </a:solidFill>
                <a:latin typeface="Aptos"/>
                <a:ea typeface="Aptos"/>
                <a:cs typeface="Aptos"/>
              </a:rPr>
              <a:t>BASELINE</a:t>
            </a:r>
          </a:p>
        </p:txBody>
      </p:sp>
      <p:sp>
        <p:nvSpPr>
          <p:cNvPr id="31" name="Rectangle 30">
            <a:extLst>
              <a:ext uri="{FF2B5EF4-FFF2-40B4-BE49-F238E27FC236}">
                <a16:creationId xmlns:a16="http://schemas.microsoft.com/office/drawing/2014/main" id="{BF33DEAD-4CA0-4F2A-BC85-FC9A19BDDAF5}"/>
              </a:ext>
            </a:extLst>
          </p:cNvPr>
          <p:cNvSpPr>
            <a:spLocks noGrp="1"/>
          </p:cNvSpPr>
          <p:nvPr/>
        </p:nvSpPr>
        <p:spPr>
          <a:xfrm>
            <a:off x="600075" y="2209800"/>
            <a:ext cx="1419225" cy="238125"/>
          </a:xfrm>
          <a:prstGeom prst="rect">
            <a:avLst/>
          </a:prstGeom>
          <a:noFill/>
          <a:ln w="0">
            <a:noFill/>
            <a:prstDash val="solid"/>
          </a:ln>
        </p:spPr>
        <p:txBody>
          <a:bodyPr/>
          <a:lstStyle/>
          <a:p>
            <a:pPr algn="l">
              <a:defRPr sz="1275" b="1" i="0">
                <a:solidFill>
                  <a:srgbClr val="051C2C"/>
                </a:solidFill>
                <a:latin typeface="Aptos Display"/>
                <a:ea typeface="Aptos Display"/>
                <a:cs typeface="Aptos Display"/>
              </a:defRPr>
            </a:pPr>
            <a:r>
              <a:rPr sz="1275" b="1" i="0">
                <a:solidFill>
                  <a:srgbClr val="051C2C"/>
                </a:solidFill>
                <a:latin typeface="Aptos Display"/>
                <a:ea typeface="Aptos Display"/>
                <a:cs typeface="Aptos Display"/>
              </a:rPr>
              <a:t>Bankdaten</a:t>
            </a:r>
          </a:p>
        </p:txBody>
      </p:sp>
      <p:sp>
        <p:nvSpPr>
          <p:cNvPr id="32" name="Rectangle 31">
            <a:extLst>
              <a:ext uri="{FF2B5EF4-FFF2-40B4-BE49-F238E27FC236}">
                <a16:creationId xmlns:a16="http://schemas.microsoft.com/office/drawing/2014/main" id="{0A3F378D-1CA3-447F-A0F5-387EDEB26078}"/>
              </a:ext>
            </a:extLst>
          </p:cNvPr>
          <p:cNvSpPr>
            <a:spLocks noGrp="1"/>
          </p:cNvSpPr>
          <p:nvPr/>
        </p:nvSpPr>
        <p:spPr>
          <a:xfrm>
            <a:off x="600075" y="2466975"/>
            <a:ext cx="1419225" cy="190500"/>
          </a:xfrm>
          <a:prstGeom prst="rect">
            <a:avLst/>
          </a:prstGeom>
          <a:noFill/>
          <a:ln w="0">
            <a:noFill/>
            <a:prstDash val="solid"/>
          </a:ln>
        </p:spPr>
        <p:txBody>
          <a:bodyPr/>
          <a:lstStyle/>
          <a:p>
            <a:pPr algn="l">
              <a:defRPr sz="825" b="1" i="0">
                <a:solidFill>
                  <a:srgbClr val="526D7A"/>
                </a:solidFill>
                <a:latin typeface="Aptos"/>
                <a:ea typeface="Aptos"/>
                <a:cs typeface="Aptos"/>
              </a:defRPr>
            </a:pPr>
            <a:r>
              <a:rPr sz="825" b="1" i="0">
                <a:solidFill>
                  <a:srgbClr val="526D7A"/>
                </a:solidFill>
                <a:latin typeface="Aptos"/>
                <a:ea typeface="Aptos"/>
                <a:cs typeface="Aptos"/>
              </a:rPr>
              <a:t>Einheitlicher </a:t>
            </a:r>
            <a:r>
              <a:rPr sz="825" b="1" i="0" err="1">
                <a:solidFill>
                  <a:srgbClr val="526D7A"/>
                </a:solidFill>
                <a:latin typeface="Aptos"/>
                <a:ea typeface="Aptos"/>
                <a:cs typeface="Aptos"/>
              </a:rPr>
              <a:t>Stichtag</a:t>
            </a:r>
            <a:endParaRPr sz="825" b="1" i="0">
              <a:solidFill>
                <a:srgbClr val="526D7A"/>
              </a:solidFill>
              <a:latin typeface="Aptos"/>
              <a:ea typeface="Aptos"/>
              <a:cs typeface="Aptos"/>
            </a:endParaRPr>
          </a:p>
        </p:txBody>
      </p:sp>
      <p:sp>
        <p:nvSpPr>
          <p:cNvPr id="33" name="Rectangle 32">
            <a:extLst>
              <a:ext uri="{FF2B5EF4-FFF2-40B4-BE49-F238E27FC236}">
                <a16:creationId xmlns:a16="http://schemas.microsoft.com/office/drawing/2014/main" id="{1D394CB9-47A6-416E-84C3-3EAF006ABD74}"/>
              </a:ext>
            </a:extLst>
          </p:cNvPr>
          <p:cNvSpPr>
            <a:spLocks noGrp="1"/>
          </p:cNvSpPr>
          <p:nvPr/>
        </p:nvSpPr>
        <p:spPr>
          <a:xfrm>
            <a:off x="600075" y="2714625"/>
            <a:ext cx="1419225" cy="1971675"/>
          </a:xfrm>
          <a:prstGeom prst="rect">
            <a:avLst/>
          </a:prstGeom>
          <a:noFill/>
          <a:ln w="0">
            <a:noFill/>
            <a:prstDash val="solid"/>
          </a:ln>
        </p:spPr>
        <p:txBody>
          <a:bodyPr/>
          <a:lstStyle/>
          <a:p>
            <a:pPr algn="l">
              <a:defRPr sz="938" b="0" i="0">
                <a:solidFill>
                  <a:srgbClr val="4F6875"/>
                </a:solidFill>
                <a:latin typeface="Aptos"/>
                <a:ea typeface="Aptos"/>
                <a:cs typeface="Aptos"/>
              </a:defRPr>
            </a:pPr>
            <a:r>
              <a:rPr sz="938" b="0" i="0">
                <a:solidFill>
                  <a:srgbClr val="4F6875"/>
                </a:solidFill>
                <a:latin typeface="Aptos"/>
                <a:ea typeface="Aptos"/>
                <a:cs typeface="Aptos"/>
              </a:rPr>
              <a:t>Pillar 3 EU-CR6</a:t>
            </a:r>
          </a:p>
          <a:p>
            <a:pPr algn="l">
              <a:defRPr sz="938" b="0" i="0">
                <a:solidFill>
                  <a:srgbClr val="4F6875"/>
                </a:solidFill>
                <a:latin typeface="Aptos"/>
                <a:ea typeface="Aptos"/>
                <a:cs typeface="Aptos"/>
              </a:defRPr>
            </a:pPr>
            <a:r>
              <a:rPr sz="938" b="0" i="0">
                <a:solidFill>
                  <a:srgbClr val="4F6875"/>
                </a:solidFill>
                <a:latin typeface="Aptos"/>
                <a:ea typeface="Aptos"/>
                <a:cs typeface="Aptos"/>
              </a:rPr>
              <a:t>PD &amp; LGD je IRB-Klasse</a:t>
            </a:r>
          </a:p>
          <a:p>
            <a:endParaRPr sz="938" b="0" i="0">
              <a:solidFill>
                <a:srgbClr val="4F6875"/>
              </a:solidFill>
              <a:latin typeface="Aptos"/>
              <a:ea typeface="Aptos"/>
              <a:cs typeface="Aptos"/>
            </a:endParaRPr>
          </a:p>
          <a:p>
            <a:pPr algn="l">
              <a:defRPr sz="938" b="0" i="0">
                <a:solidFill>
                  <a:srgbClr val="4F6875"/>
                </a:solidFill>
                <a:latin typeface="Aptos"/>
                <a:ea typeface="Aptos"/>
                <a:cs typeface="Aptos"/>
              </a:defRPr>
            </a:pPr>
            <a:r>
              <a:rPr sz="938" b="0" i="0">
                <a:solidFill>
                  <a:srgbClr val="4F6875"/>
                </a:solidFill>
                <a:latin typeface="Aptos"/>
                <a:ea typeface="Aptos"/>
                <a:cs typeface="Aptos"/>
              </a:rPr>
              <a:t>EBA Transparency</a:t>
            </a:r>
          </a:p>
          <a:p>
            <a:pPr algn="l">
              <a:defRPr sz="938" b="0" i="0">
                <a:solidFill>
                  <a:srgbClr val="4F6875"/>
                </a:solidFill>
                <a:latin typeface="Aptos"/>
                <a:ea typeface="Aptos"/>
                <a:cs typeface="Aptos"/>
              </a:defRPr>
            </a:pPr>
            <a:r>
              <a:rPr sz="938" b="0" i="0">
                <a:solidFill>
                  <a:srgbClr val="4F6875"/>
                </a:solidFill>
                <a:latin typeface="Aptos"/>
                <a:ea typeface="Aptos"/>
                <a:cs typeface="Aptos"/>
              </a:rPr>
              <a:t>EAD · CET1 · RWA</a:t>
            </a:r>
          </a:p>
          <a:p>
            <a:pPr algn="l">
              <a:defRPr sz="938" b="0" i="0">
                <a:solidFill>
                  <a:srgbClr val="4F6875"/>
                </a:solidFill>
                <a:latin typeface="Aptos"/>
                <a:ea typeface="Aptos"/>
                <a:cs typeface="Aptos"/>
              </a:defRPr>
            </a:pPr>
            <a:r>
              <a:rPr sz="938" b="0" i="0">
                <a:solidFill>
                  <a:srgbClr val="4F6875"/>
                </a:solidFill>
                <a:latin typeface="Aptos"/>
                <a:ea typeface="Aptos"/>
                <a:cs typeface="Aptos"/>
              </a:rPr>
              <a:t>Sovereign-Bestände</a:t>
            </a:r>
          </a:p>
          <a:p>
            <a:endParaRPr sz="938" b="0" i="0">
              <a:solidFill>
                <a:srgbClr val="4F6875"/>
              </a:solidFill>
              <a:latin typeface="Aptos"/>
              <a:ea typeface="Aptos"/>
              <a:cs typeface="Aptos"/>
            </a:endParaRPr>
          </a:p>
          <a:p>
            <a:pPr algn="l">
              <a:defRPr sz="938" b="0" i="0">
                <a:solidFill>
                  <a:srgbClr val="4F6875"/>
                </a:solidFill>
                <a:latin typeface="Aptos"/>
                <a:ea typeface="Aptos"/>
                <a:cs typeface="Aptos"/>
              </a:defRPr>
            </a:pPr>
            <a:r>
              <a:rPr sz="938" b="0" i="0">
                <a:solidFill>
                  <a:srgbClr val="4F6875"/>
                </a:solidFill>
                <a:latin typeface="Aptos"/>
                <a:ea typeface="Aptos"/>
                <a:cs typeface="Aptos"/>
              </a:rPr>
              <a:t>31.12.2024</a:t>
            </a:r>
          </a:p>
          <a:p>
            <a:pPr algn="l">
              <a:defRPr sz="938" b="0" i="0">
                <a:solidFill>
                  <a:srgbClr val="4F6875"/>
                </a:solidFill>
                <a:latin typeface="Aptos"/>
                <a:ea typeface="Aptos"/>
                <a:cs typeface="Aptos"/>
              </a:defRPr>
            </a:pPr>
            <a:r>
              <a:rPr sz="938" b="0" i="0">
                <a:solidFill>
                  <a:srgbClr val="4F6875"/>
                </a:solidFill>
                <a:latin typeface="Aptos"/>
                <a:ea typeface="Aptos"/>
                <a:cs typeface="Aptos"/>
              </a:rPr>
              <a:t>10 EU-IRB-Banken</a:t>
            </a:r>
          </a:p>
        </p:txBody>
      </p:sp>
      <p:sp>
        <p:nvSpPr>
          <p:cNvPr id="34" name="Rectangle 33">
            <a:extLst>
              <a:ext uri="{FF2B5EF4-FFF2-40B4-BE49-F238E27FC236}">
                <a16:creationId xmlns:a16="http://schemas.microsoft.com/office/drawing/2014/main" id="{EA812CB1-29AB-40EF-A30F-4F2D83447577}"/>
              </a:ext>
            </a:extLst>
          </p:cNvPr>
          <p:cNvSpPr>
            <a:spLocks noGrp="1"/>
          </p:cNvSpPr>
          <p:nvPr/>
        </p:nvSpPr>
        <p:spPr>
          <a:xfrm>
            <a:off x="2143125" y="2981325"/>
            <a:ext cx="219075" cy="304800"/>
          </a:xfrm>
          <a:prstGeom prst="rect">
            <a:avLst/>
          </a:prstGeom>
          <a:noFill/>
          <a:ln w="0">
            <a:noFill/>
            <a:prstDash val="solid"/>
          </a:ln>
        </p:spPr>
        <p:txBody>
          <a:bodyPr/>
          <a:lstStyle/>
          <a:p>
            <a:pPr algn="ctr">
              <a:defRPr sz="2025" b="1" i="0">
                <a:solidFill>
                  <a:srgbClr val="71858F"/>
                </a:solidFill>
                <a:latin typeface="Aptos"/>
                <a:ea typeface="Aptos"/>
                <a:cs typeface="Aptos"/>
              </a:defRPr>
            </a:pPr>
            <a:r>
              <a:rPr sz="2025" b="1" i="0">
                <a:solidFill>
                  <a:srgbClr val="71858F"/>
                </a:solidFill>
                <a:latin typeface="Aptos"/>
                <a:ea typeface="Aptos"/>
                <a:cs typeface="Aptos"/>
              </a:rPr>
              <a:t>→</a:t>
            </a:r>
          </a:p>
        </p:txBody>
      </p:sp>
      <p:sp>
        <p:nvSpPr>
          <p:cNvPr id="35" name="Rectangle: Rounded Corners 34">
            <a:extLst>
              <a:ext uri="{FF2B5EF4-FFF2-40B4-BE49-F238E27FC236}">
                <a16:creationId xmlns:a16="http://schemas.microsoft.com/office/drawing/2014/main" id="{08E8C732-98BC-4F3A-AF84-72159E687D78}"/>
              </a:ext>
            </a:extLst>
          </p:cNvPr>
          <p:cNvSpPr>
            <a:spLocks noGrp="1"/>
          </p:cNvSpPr>
          <p:nvPr/>
        </p:nvSpPr>
        <p:spPr>
          <a:xfrm>
            <a:off x="2362200" y="1781175"/>
            <a:ext cx="1685925" cy="1304925"/>
          </a:xfrm>
          <a:prstGeom prst="roundRect">
            <a:avLst>
              <a:gd name="adj" fmla="val 8759"/>
            </a:avLst>
          </a:prstGeom>
          <a:solidFill>
            <a:srgbClr val="FFFFFF"/>
          </a:solidFill>
          <a:ln w="9525">
            <a:solidFill>
              <a:srgbClr val="D5E0E5"/>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36" name="Rectangle 35">
            <a:extLst>
              <a:ext uri="{FF2B5EF4-FFF2-40B4-BE49-F238E27FC236}">
                <a16:creationId xmlns:a16="http://schemas.microsoft.com/office/drawing/2014/main" id="{AE9110A5-8F09-4267-BD8E-3CBC7022E1DA}"/>
              </a:ext>
            </a:extLst>
          </p:cNvPr>
          <p:cNvSpPr>
            <a:spLocks noGrp="1"/>
          </p:cNvSpPr>
          <p:nvPr/>
        </p:nvSpPr>
        <p:spPr>
          <a:xfrm>
            <a:off x="2362200" y="1781175"/>
            <a:ext cx="57150" cy="1304925"/>
          </a:xfrm>
          <a:prstGeom prst="rect">
            <a:avLst/>
          </a:prstGeom>
          <a:solidFill>
            <a:srgbClr val="0B5D7A"/>
          </a:solidFill>
          <a:ln w="0">
            <a:noFill/>
            <a:prstDash val="solid"/>
          </a:ln>
        </p:spPr>
        <p:txBody>
          <a:bodyPr/>
          <a:lstStyle/>
          <a:p>
            <a:endParaRPr lang="en-US"/>
          </a:p>
        </p:txBody>
      </p:sp>
      <p:sp>
        <p:nvSpPr>
          <p:cNvPr id="37" name="Rectangle: Rounded Corners 36">
            <a:extLst>
              <a:ext uri="{FF2B5EF4-FFF2-40B4-BE49-F238E27FC236}">
                <a16:creationId xmlns:a16="http://schemas.microsoft.com/office/drawing/2014/main" id="{A5D5BF35-423D-481B-ACA9-767F786EBC87}"/>
              </a:ext>
            </a:extLst>
          </p:cNvPr>
          <p:cNvSpPr>
            <a:spLocks noGrp="1"/>
          </p:cNvSpPr>
          <p:nvPr/>
        </p:nvSpPr>
        <p:spPr>
          <a:xfrm>
            <a:off x="2505075" y="1895475"/>
            <a:ext cx="666750" cy="219075"/>
          </a:xfrm>
          <a:prstGeom prst="roundRect">
            <a:avLst>
              <a:gd name="adj" fmla="val 50000"/>
            </a:avLst>
          </a:prstGeom>
          <a:solidFill>
            <a:srgbClr val="0B5D7A"/>
          </a:solidFill>
          <a:ln w="0">
            <a:noFill/>
            <a:prstDash val="solid"/>
          </a:ln>
        </p:spPr>
        <p:txBody>
          <a:bodyPr/>
          <a:lstStyle/>
          <a:p>
            <a:endParaRPr lang="en-US"/>
          </a:p>
        </p:txBody>
      </p:sp>
      <p:sp>
        <p:nvSpPr>
          <p:cNvPr id="38" name="Rectangle 37">
            <a:extLst>
              <a:ext uri="{FF2B5EF4-FFF2-40B4-BE49-F238E27FC236}">
                <a16:creationId xmlns:a16="http://schemas.microsoft.com/office/drawing/2014/main" id="{5E0266F6-64E5-4E88-93C7-69F06631887B}"/>
              </a:ext>
            </a:extLst>
          </p:cNvPr>
          <p:cNvSpPr>
            <a:spLocks noGrp="1"/>
          </p:cNvSpPr>
          <p:nvPr/>
        </p:nvSpPr>
        <p:spPr>
          <a:xfrm>
            <a:off x="2543175" y="1933575"/>
            <a:ext cx="590550" cy="142875"/>
          </a:xfrm>
          <a:prstGeom prst="rect">
            <a:avLst/>
          </a:prstGeom>
          <a:noFill/>
          <a:ln w="0">
            <a:noFill/>
            <a:prstDash val="solid"/>
          </a:ln>
        </p:spPr>
        <p:txBody>
          <a:bodyPr/>
          <a:lstStyle/>
          <a:p>
            <a:pPr algn="ctr">
              <a:defRPr sz="713" b="1" i="0">
                <a:solidFill>
                  <a:srgbClr val="FFFFFF"/>
                </a:solidFill>
                <a:latin typeface="Aptos"/>
                <a:ea typeface="Aptos"/>
                <a:cs typeface="Aptos"/>
              </a:defRPr>
            </a:pPr>
            <a:r>
              <a:rPr sz="713" b="1" i="0">
                <a:solidFill>
                  <a:srgbClr val="FFFFFF"/>
                </a:solidFill>
                <a:latin typeface="Aptos"/>
                <a:ea typeface="Aptos"/>
                <a:cs typeface="Aptos"/>
              </a:rPr>
              <a:t>FAKTOR A</a:t>
            </a:r>
          </a:p>
        </p:txBody>
      </p:sp>
      <p:sp>
        <p:nvSpPr>
          <p:cNvPr id="39" name="Rectangle 38">
            <a:extLst>
              <a:ext uri="{FF2B5EF4-FFF2-40B4-BE49-F238E27FC236}">
                <a16:creationId xmlns:a16="http://schemas.microsoft.com/office/drawing/2014/main" id="{F18C38DC-D90A-4F3E-9532-42D496E14BB6}"/>
              </a:ext>
            </a:extLst>
          </p:cNvPr>
          <p:cNvSpPr>
            <a:spLocks noGrp="1"/>
          </p:cNvSpPr>
          <p:nvPr/>
        </p:nvSpPr>
        <p:spPr>
          <a:xfrm>
            <a:off x="2505075" y="2209800"/>
            <a:ext cx="1419225" cy="238125"/>
          </a:xfrm>
          <a:prstGeom prst="rect">
            <a:avLst/>
          </a:prstGeom>
          <a:noFill/>
          <a:ln w="0">
            <a:noFill/>
            <a:prstDash val="solid"/>
          </a:ln>
        </p:spPr>
        <p:txBody>
          <a:bodyPr/>
          <a:lstStyle/>
          <a:p>
            <a:pPr algn="l">
              <a:defRPr sz="1275" b="1" i="0">
                <a:solidFill>
                  <a:srgbClr val="051C2C"/>
                </a:solidFill>
                <a:latin typeface="Aptos Display"/>
                <a:ea typeface="Aptos Display"/>
                <a:cs typeface="Aptos Display"/>
              </a:defRPr>
            </a:pPr>
            <a:r>
              <a:rPr sz="1275" b="1" i="0">
                <a:solidFill>
                  <a:srgbClr val="051C2C"/>
                </a:solidFill>
                <a:latin typeface="Aptos Display"/>
                <a:ea typeface="Aptos Display"/>
                <a:cs typeface="Aptos Display"/>
              </a:rPr>
              <a:t>ΔBrent</a:t>
            </a:r>
          </a:p>
        </p:txBody>
      </p:sp>
      <p:sp>
        <p:nvSpPr>
          <p:cNvPr id="40" name="Rectangle 39">
            <a:extLst>
              <a:ext uri="{FF2B5EF4-FFF2-40B4-BE49-F238E27FC236}">
                <a16:creationId xmlns:a16="http://schemas.microsoft.com/office/drawing/2014/main" id="{72ABB004-34E5-4D1B-842B-C2B3360ED463}"/>
              </a:ext>
            </a:extLst>
          </p:cNvPr>
          <p:cNvSpPr>
            <a:spLocks noGrp="1"/>
          </p:cNvSpPr>
          <p:nvPr/>
        </p:nvSpPr>
        <p:spPr>
          <a:xfrm>
            <a:off x="2505075" y="2466975"/>
            <a:ext cx="1419225" cy="190500"/>
          </a:xfrm>
          <a:prstGeom prst="rect">
            <a:avLst/>
          </a:prstGeom>
          <a:noFill/>
          <a:ln w="0">
            <a:noFill/>
            <a:prstDash val="solid"/>
          </a:ln>
        </p:spPr>
        <p:txBody>
          <a:bodyPr/>
          <a:lstStyle/>
          <a:p>
            <a:pPr algn="l">
              <a:defRPr sz="825" b="1" i="0">
                <a:solidFill>
                  <a:srgbClr val="0B5D7A"/>
                </a:solidFill>
                <a:latin typeface="Aptos"/>
                <a:ea typeface="Aptos"/>
                <a:cs typeface="Aptos"/>
              </a:defRPr>
            </a:pPr>
            <a:r>
              <a:rPr sz="825" b="1" i="0">
                <a:solidFill>
                  <a:srgbClr val="0B5D7A"/>
                </a:solidFill>
                <a:latin typeface="Aptos"/>
                <a:ea typeface="Aptos"/>
                <a:cs typeface="Aptos"/>
              </a:rPr>
              <a:t>Ölpreis · Log-Return</a:t>
            </a:r>
          </a:p>
        </p:txBody>
      </p:sp>
      <p:sp>
        <p:nvSpPr>
          <p:cNvPr id="41" name="Rectangle 40">
            <a:extLst>
              <a:ext uri="{FF2B5EF4-FFF2-40B4-BE49-F238E27FC236}">
                <a16:creationId xmlns:a16="http://schemas.microsoft.com/office/drawing/2014/main" id="{757D180E-308A-442C-9647-67DC3A9D46AE}"/>
              </a:ext>
            </a:extLst>
          </p:cNvPr>
          <p:cNvSpPr>
            <a:spLocks noGrp="1"/>
          </p:cNvSpPr>
          <p:nvPr/>
        </p:nvSpPr>
        <p:spPr>
          <a:xfrm>
            <a:off x="2505075" y="2714625"/>
            <a:ext cx="1419225" cy="304800"/>
          </a:xfrm>
          <a:prstGeom prst="rect">
            <a:avLst/>
          </a:prstGeom>
          <a:noFill/>
          <a:ln w="0">
            <a:noFill/>
            <a:prstDash val="solid"/>
          </a:ln>
        </p:spPr>
        <p:txBody>
          <a:bodyPr/>
          <a:lstStyle/>
          <a:p>
            <a:pPr algn="l">
              <a:defRPr sz="938" b="0" i="0">
                <a:solidFill>
                  <a:srgbClr val="4F6875"/>
                </a:solidFill>
                <a:latin typeface="Aptos"/>
                <a:ea typeface="Aptos"/>
                <a:cs typeface="Aptos"/>
              </a:defRPr>
            </a:pPr>
            <a:r>
              <a:rPr sz="938" b="0" i="0">
                <a:solidFill>
                  <a:srgbClr val="4F6875"/>
                </a:solidFill>
                <a:latin typeface="Aptos"/>
                <a:ea typeface="Aptos"/>
                <a:cs typeface="Aptos"/>
              </a:rPr>
              <a:t>Energie, Inflation</a:t>
            </a:r>
          </a:p>
          <a:p>
            <a:pPr algn="l">
              <a:defRPr sz="938" b="0" i="0">
                <a:solidFill>
                  <a:srgbClr val="4F6875"/>
                </a:solidFill>
                <a:latin typeface="Aptos"/>
                <a:ea typeface="Aptos"/>
                <a:cs typeface="Aptos"/>
              </a:defRPr>
            </a:pPr>
            <a:r>
              <a:rPr sz="938" b="0" i="0">
                <a:solidFill>
                  <a:srgbClr val="4F6875"/>
                </a:solidFill>
                <a:latin typeface="Aptos"/>
                <a:ea typeface="Aptos"/>
                <a:cs typeface="Aptos"/>
              </a:rPr>
              <a:t>und Inputkosten</a:t>
            </a:r>
          </a:p>
        </p:txBody>
      </p:sp>
      <p:sp>
        <p:nvSpPr>
          <p:cNvPr id="42" name="Rectangle: Rounded Corners 41">
            <a:extLst>
              <a:ext uri="{FF2B5EF4-FFF2-40B4-BE49-F238E27FC236}">
                <a16:creationId xmlns:a16="http://schemas.microsoft.com/office/drawing/2014/main" id="{3C18B391-0E56-4A85-BB23-1EB43077F3D3}"/>
              </a:ext>
            </a:extLst>
          </p:cNvPr>
          <p:cNvSpPr>
            <a:spLocks noGrp="1"/>
          </p:cNvSpPr>
          <p:nvPr/>
        </p:nvSpPr>
        <p:spPr>
          <a:xfrm>
            <a:off x="2362200" y="3219450"/>
            <a:ext cx="1685925" cy="1304925"/>
          </a:xfrm>
          <a:prstGeom prst="roundRect">
            <a:avLst>
              <a:gd name="adj" fmla="val 8759"/>
            </a:avLst>
          </a:prstGeom>
          <a:solidFill>
            <a:srgbClr val="FFFFFF"/>
          </a:solidFill>
          <a:ln w="9525">
            <a:solidFill>
              <a:srgbClr val="D5E0E5"/>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43" name="Rectangle 42">
            <a:extLst>
              <a:ext uri="{FF2B5EF4-FFF2-40B4-BE49-F238E27FC236}">
                <a16:creationId xmlns:a16="http://schemas.microsoft.com/office/drawing/2014/main" id="{83E02640-3EE4-4C06-850E-57C1A5645B3C}"/>
              </a:ext>
            </a:extLst>
          </p:cNvPr>
          <p:cNvSpPr>
            <a:spLocks noGrp="1"/>
          </p:cNvSpPr>
          <p:nvPr/>
        </p:nvSpPr>
        <p:spPr>
          <a:xfrm>
            <a:off x="2362200" y="3219450"/>
            <a:ext cx="57150" cy="1304925"/>
          </a:xfrm>
          <a:prstGeom prst="rect">
            <a:avLst/>
          </a:prstGeom>
          <a:solidFill>
            <a:srgbClr val="A52F4D"/>
          </a:solidFill>
          <a:ln w="0">
            <a:noFill/>
            <a:prstDash val="solid"/>
          </a:ln>
        </p:spPr>
        <p:txBody>
          <a:bodyPr/>
          <a:lstStyle/>
          <a:p>
            <a:endParaRPr lang="en-US"/>
          </a:p>
        </p:txBody>
      </p:sp>
      <p:sp>
        <p:nvSpPr>
          <p:cNvPr id="44" name="Rectangle: Rounded Corners 43">
            <a:extLst>
              <a:ext uri="{FF2B5EF4-FFF2-40B4-BE49-F238E27FC236}">
                <a16:creationId xmlns:a16="http://schemas.microsoft.com/office/drawing/2014/main" id="{B5E6D75F-FD37-4E9D-833B-12AD370436E8}"/>
              </a:ext>
            </a:extLst>
          </p:cNvPr>
          <p:cNvSpPr>
            <a:spLocks noGrp="1"/>
          </p:cNvSpPr>
          <p:nvPr/>
        </p:nvSpPr>
        <p:spPr>
          <a:xfrm>
            <a:off x="2505075" y="3333750"/>
            <a:ext cx="666750" cy="219075"/>
          </a:xfrm>
          <a:prstGeom prst="roundRect">
            <a:avLst>
              <a:gd name="adj" fmla="val 50000"/>
            </a:avLst>
          </a:prstGeom>
          <a:solidFill>
            <a:srgbClr val="A52F4D"/>
          </a:solidFill>
          <a:ln w="0">
            <a:noFill/>
            <a:prstDash val="solid"/>
          </a:ln>
        </p:spPr>
        <p:txBody>
          <a:bodyPr/>
          <a:lstStyle/>
          <a:p>
            <a:endParaRPr lang="en-US"/>
          </a:p>
        </p:txBody>
      </p:sp>
      <p:sp>
        <p:nvSpPr>
          <p:cNvPr id="45" name="Rectangle 44">
            <a:extLst>
              <a:ext uri="{FF2B5EF4-FFF2-40B4-BE49-F238E27FC236}">
                <a16:creationId xmlns:a16="http://schemas.microsoft.com/office/drawing/2014/main" id="{3912CA47-B7CE-488D-8020-046273C1FCE7}"/>
              </a:ext>
            </a:extLst>
          </p:cNvPr>
          <p:cNvSpPr>
            <a:spLocks noGrp="1"/>
          </p:cNvSpPr>
          <p:nvPr/>
        </p:nvSpPr>
        <p:spPr>
          <a:xfrm>
            <a:off x="2543175" y="3371850"/>
            <a:ext cx="590550" cy="142875"/>
          </a:xfrm>
          <a:prstGeom prst="rect">
            <a:avLst/>
          </a:prstGeom>
          <a:noFill/>
          <a:ln w="0">
            <a:noFill/>
            <a:prstDash val="solid"/>
          </a:ln>
        </p:spPr>
        <p:txBody>
          <a:bodyPr/>
          <a:lstStyle/>
          <a:p>
            <a:pPr algn="ctr">
              <a:defRPr sz="713" b="1" i="0">
                <a:solidFill>
                  <a:srgbClr val="FFFFFF"/>
                </a:solidFill>
                <a:latin typeface="Aptos"/>
                <a:ea typeface="Aptos"/>
                <a:cs typeface="Aptos"/>
              </a:defRPr>
            </a:pPr>
            <a:r>
              <a:rPr sz="713" b="1" i="0">
                <a:solidFill>
                  <a:srgbClr val="FFFFFF"/>
                </a:solidFill>
                <a:latin typeface="Aptos"/>
                <a:ea typeface="Aptos"/>
                <a:cs typeface="Aptos"/>
              </a:rPr>
              <a:t>FAKTOR B</a:t>
            </a:r>
          </a:p>
        </p:txBody>
      </p:sp>
      <p:sp>
        <p:nvSpPr>
          <p:cNvPr id="46" name="Rectangle 45">
            <a:extLst>
              <a:ext uri="{FF2B5EF4-FFF2-40B4-BE49-F238E27FC236}">
                <a16:creationId xmlns:a16="http://schemas.microsoft.com/office/drawing/2014/main" id="{44C507D0-8836-4F40-BA93-8604FC6A2361}"/>
              </a:ext>
            </a:extLst>
          </p:cNvPr>
          <p:cNvSpPr>
            <a:spLocks noGrp="1"/>
          </p:cNvSpPr>
          <p:nvPr/>
        </p:nvSpPr>
        <p:spPr>
          <a:xfrm>
            <a:off x="2505075" y="3648075"/>
            <a:ext cx="1419225" cy="238125"/>
          </a:xfrm>
          <a:prstGeom prst="rect">
            <a:avLst/>
          </a:prstGeom>
          <a:noFill/>
          <a:ln w="0">
            <a:noFill/>
            <a:prstDash val="solid"/>
          </a:ln>
        </p:spPr>
        <p:txBody>
          <a:bodyPr/>
          <a:lstStyle/>
          <a:p>
            <a:pPr algn="l">
              <a:defRPr sz="1275" b="1" i="0">
                <a:solidFill>
                  <a:srgbClr val="051C2C"/>
                </a:solidFill>
                <a:latin typeface="Aptos Display"/>
                <a:ea typeface="Aptos Display"/>
                <a:cs typeface="Aptos Display"/>
              </a:defRPr>
            </a:pPr>
            <a:r>
              <a:rPr sz="1275" b="1" i="0">
                <a:solidFill>
                  <a:srgbClr val="051C2C"/>
                </a:solidFill>
                <a:latin typeface="Aptos Display"/>
                <a:ea typeface="Aptos Display"/>
                <a:cs typeface="Aptos Display"/>
              </a:rPr>
              <a:t>Δr 10Y</a:t>
            </a:r>
          </a:p>
        </p:txBody>
      </p:sp>
      <p:sp>
        <p:nvSpPr>
          <p:cNvPr id="47" name="Rectangle 46">
            <a:extLst>
              <a:ext uri="{FF2B5EF4-FFF2-40B4-BE49-F238E27FC236}">
                <a16:creationId xmlns:a16="http://schemas.microsoft.com/office/drawing/2014/main" id="{B6AFEB73-328F-4A4A-9CD4-96835B7C3F68}"/>
              </a:ext>
            </a:extLst>
          </p:cNvPr>
          <p:cNvSpPr>
            <a:spLocks noGrp="1"/>
          </p:cNvSpPr>
          <p:nvPr/>
        </p:nvSpPr>
        <p:spPr>
          <a:xfrm>
            <a:off x="2505075" y="3905250"/>
            <a:ext cx="1419225" cy="190500"/>
          </a:xfrm>
          <a:prstGeom prst="rect">
            <a:avLst/>
          </a:prstGeom>
          <a:noFill/>
          <a:ln w="0">
            <a:noFill/>
            <a:prstDash val="solid"/>
          </a:ln>
        </p:spPr>
        <p:txBody>
          <a:bodyPr/>
          <a:lstStyle/>
          <a:p>
            <a:pPr algn="l">
              <a:defRPr sz="825" b="1" i="0">
                <a:solidFill>
                  <a:srgbClr val="A52F4D"/>
                </a:solidFill>
                <a:latin typeface="Aptos"/>
                <a:ea typeface="Aptos"/>
                <a:cs typeface="Aptos"/>
              </a:defRPr>
            </a:pPr>
            <a:r>
              <a:rPr sz="825" b="1" i="0">
                <a:solidFill>
                  <a:srgbClr val="A52F4D"/>
                </a:solidFill>
                <a:latin typeface="Aptos"/>
                <a:ea typeface="Aptos"/>
                <a:cs typeface="Aptos"/>
              </a:rPr>
              <a:t>Zins · Prozentpunkte</a:t>
            </a:r>
          </a:p>
        </p:txBody>
      </p:sp>
      <p:sp>
        <p:nvSpPr>
          <p:cNvPr id="48" name="Rectangle 47">
            <a:extLst>
              <a:ext uri="{FF2B5EF4-FFF2-40B4-BE49-F238E27FC236}">
                <a16:creationId xmlns:a16="http://schemas.microsoft.com/office/drawing/2014/main" id="{EE64D715-46D2-4DBE-AC84-038DCE470108}"/>
              </a:ext>
            </a:extLst>
          </p:cNvPr>
          <p:cNvSpPr>
            <a:spLocks noGrp="1"/>
          </p:cNvSpPr>
          <p:nvPr/>
        </p:nvSpPr>
        <p:spPr>
          <a:xfrm>
            <a:off x="2505075" y="4152900"/>
            <a:ext cx="1419225" cy="304800"/>
          </a:xfrm>
          <a:prstGeom prst="rect">
            <a:avLst/>
          </a:prstGeom>
          <a:noFill/>
          <a:ln w="0">
            <a:noFill/>
            <a:prstDash val="solid"/>
          </a:ln>
        </p:spPr>
        <p:txBody>
          <a:bodyPr/>
          <a:lstStyle/>
          <a:p>
            <a:pPr algn="l">
              <a:defRPr sz="938" b="0" i="0">
                <a:solidFill>
                  <a:srgbClr val="4F6875"/>
                </a:solidFill>
                <a:latin typeface="Aptos"/>
                <a:ea typeface="Aptos"/>
                <a:cs typeface="Aptos"/>
              </a:defRPr>
            </a:pPr>
            <a:r>
              <a:rPr sz="938" b="0" i="0">
                <a:solidFill>
                  <a:srgbClr val="4F6875"/>
                </a:solidFill>
                <a:latin typeface="Aptos"/>
                <a:ea typeface="Aptos"/>
                <a:cs typeface="Aptos"/>
              </a:rPr>
              <a:t>Refinanzierung</a:t>
            </a:r>
          </a:p>
          <a:p>
            <a:pPr algn="l">
              <a:defRPr sz="938" b="0" i="0">
                <a:solidFill>
                  <a:srgbClr val="4F6875"/>
                </a:solidFill>
                <a:latin typeface="Aptos"/>
                <a:ea typeface="Aptos"/>
                <a:cs typeface="Aptos"/>
              </a:defRPr>
            </a:pPr>
            <a:r>
              <a:rPr sz="938" b="0" i="0">
                <a:solidFill>
                  <a:srgbClr val="4F6875"/>
                </a:solidFill>
                <a:latin typeface="Aptos"/>
                <a:ea typeface="Aptos"/>
                <a:cs typeface="Aptos"/>
              </a:rPr>
              <a:t>und Bond-Bewertung</a:t>
            </a:r>
          </a:p>
        </p:txBody>
      </p:sp>
      <p:sp>
        <p:nvSpPr>
          <p:cNvPr id="49" name="Rectangle: Rounded Corners 48">
            <a:extLst>
              <a:ext uri="{FF2B5EF4-FFF2-40B4-BE49-F238E27FC236}">
                <a16:creationId xmlns:a16="http://schemas.microsoft.com/office/drawing/2014/main" id="{466E8B74-8EF1-492D-8F9A-A8DBF26CAE2B}"/>
              </a:ext>
            </a:extLst>
          </p:cNvPr>
          <p:cNvSpPr>
            <a:spLocks noGrp="1"/>
          </p:cNvSpPr>
          <p:nvPr/>
        </p:nvSpPr>
        <p:spPr>
          <a:xfrm>
            <a:off x="2543175" y="4844415"/>
            <a:ext cx="1343025" cy="457200"/>
          </a:xfrm>
          <a:prstGeom prst="roundRect">
            <a:avLst>
              <a:gd name="adj" fmla="val 25000"/>
            </a:avLst>
          </a:prstGeom>
          <a:solidFill>
            <a:srgbClr val="E3F1EF"/>
          </a:solidFill>
          <a:ln w="9525">
            <a:solidFill>
              <a:srgbClr val="B7D4D2"/>
            </a:solidFill>
            <a:prstDash val="solid"/>
          </a:ln>
        </p:spPr>
        <p:txBody>
          <a:bodyPr/>
          <a:lstStyle/>
          <a:p>
            <a:endParaRPr lang="en-US"/>
          </a:p>
        </p:txBody>
      </p:sp>
      <p:sp>
        <p:nvSpPr>
          <p:cNvPr id="50" name="Rectangle 49">
            <a:extLst>
              <a:ext uri="{FF2B5EF4-FFF2-40B4-BE49-F238E27FC236}">
                <a16:creationId xmlns:a16="http://schemas.microsoft.com/office/drawing/2014/main" id="{3049A0FF-24FE-4E4F-87C5-F5D783E315F0}"/>
              </a:ext>
            </a:extLst>
          </p:cNvPr>
          <p:cNvSpPr>
            <a:spLocks noGrp="1"/>
          </p:cNvSpPr>
          <p:nvPr/>
        </p:nvSpPr>
        <p:spPr>
          <a:xfrm>
            <a:off x="2619375" y="4939665"/>
            <a:ext cx="1190625" cy="276225"/>
          </a:xfrm>
          <a:prstGeom prst="rect">
            <a:avLst/>
          </a:prstGeom>
          <a:noFill/>
          <a:ln w="0">
            <a:noFill/>
            <a:prstDash val="solid"/>
          </a:ln>
        </p:spPr>
        <p:txBody>
          <a:bodyPr/>
          <a:lstStyle/>
          <a:p>
            <a:pPr algn="ctr">
              <a:defRPr sz="788" b="1" i="0">
                <a:solidFill>
                  <a:srgbClr val="1B777F"/>
                </a:solidFill>
                <a:latin typeface="Aptos"/>
                <a:ea typeface="Aptos"/>
                <a:cs typeface="Aptos"/>
              </a:defRPr>
            </a:pPr>
            <a:r>
              <a:rPr sz="788" b="1" i="0">
                <a:solidFill>
                  <a:srgbClr val="1B777F"/>
                </a:solidFill>
                <a:latin typeface="Aptos"/>
                <a:ea typeface="Aptos"/>
                <a:cs typeface="Aptos"/>
              </a:rPr>
              <a:t>Nahezu unabhängig</a:t>
            </a:r>
          </a:p>
          <a:p>
            <a:pPr algn="ctr">
              <a:defRPr sz="788" b="1" i="0">
                <a:solidFill>
                  <a:srgbClr val="1B777F"/>
                </a:solidFill>
                <a:latin typeface="Aptos"/>
                <a:ea typeface="Aptos"/>
                <a:cs typeface="Aptos"/>
              </a:defRPr>
            </a:pPr>
            <a:r>
              <a:rPr sz="788" b="1" i="0">
                <a:solidFill>
                  <a:srgbClr val="1B777F"/>
                </a:solidFill>
                <a:latin typeface="Aptos"/>
                <a:ea typeface="Aptos"/>
                <a:cs typeface="Aptos"/>
              </a:rPr>
              <a:t>ρ ≈ +0,07</a:t>
            </a:r>
          </a:p>
        </p:txBody>
      </p:sp>
      <p:sp>
        <p:nvSpPr>
          <p:cNvPr id="51" name="Rectangle 50">
            <a:extLst>
              <a:ext uri="{FF2B5EF4-FFF2-40B4-BE49-F238E27FC236}">
                <a16:creationId xmlns:a16="http://schemas.microsoft.com/office/drawing/2014/main" id="{5983F59E-7909-4F7B-9D1A-D0404D9022EB}"/>
              </a:ext>
            </a:extLst>
          </p:cNvPr>
          <p:cNvSpPr>
            <a:spLocks noGrp="1"/>
          </p:cNvSpPr>
          <p:nvPr/>
        </p:nvSpPr>
        <p:spPr>
          <a:xfrm>
            <a:off x="4048125" y="2981325"/>
            <a:ext cx="219075" cy="304800"/>
          </a:xfrm>
          <a:prstGeom prst="rect">
            <a:avLst/>
          </a:prstGeom>
          <a:noFill/>
          <a:ln w="0">
            <a:noFill/>
            <a:prstDash val="solid"/>
          </a:ln>
        </p:spPr>
        <p:txBody>
          <a:bodyPr/>
          <a:lstStyle/>
          <a:p>
            <a:pPr algn="ctr">
              <a:defRPr sz="2025" b="1" i="0">
                <a:solidFill>
                  <a:srgbClr val="71858F"/>
                </a:solidFill>
                <a:latin typeface="Aptos"/>
                <a:ea typeface="Aptos"/>
                <a:cs typeface="Aptos"/>
              </a:defRPr>
            </a:pPr>
            <a:r>
              <a:rPr sz="2025" b="1" i="0">
                <a:solidFill>
                  <a:srgbClr val="71858F"/>
                </a:solidFill>
                <a:latin typeface="Aptos"/>
                <a:ea typeface="Aptos"/>
                <a:cs typeface="Aptos"/>
              </a:rPr>
              <a:t>→</a:t>
            </a:r>
          </a:p>
        </p:txBody>
      </p:sp>
      <p:sp>
        <p:nvSpPr>
          <p:cNvPr id="52" name="Rectangle: Rounded Corners 51">
            <a:extLst>
              <a:ext uri="{FF2B5EF4-FFF2-40B4-BE49-F238E27FC236}">
                <a16:creationId xmlns:a16="http://schemas.microsoft.com/office/drawing/2014/main" id="{F20E7B7C-0CF9-4616-9720-2F85A07F0C19}"/>
              </a:ext>
            </a:extLst>
          </p:cNvPr>
          <p:cNvSpPr>
            <a:spLocks noGrp="1"/>
          </p:cNvSpPr>
          <p:nvPr/>
        </p:nvSpPr>
        <p:spPr>
          <a:xfrm>
            <a:off x="4267200" y="1781175"/>
            <a:ext cx="1876425" cy="2971800"/>
          </a:xfrm>
          <a:prstGeom prst="roundRect">
            <a:avLst>
              <a:gd name="adj" fmla="val 6091"/>
            </a:avLst>
          </a:prstGeom>
          <a:solidFill>
            <a:srgbClr val="FFFFFF"/>
          </a:solidFill>
          <a:ln w="9525">
            <a:solidFill>
              <a:srgbClr val="D5E0E5"/>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53" name="Rectangle 52">
            <a:extLst>
              <a:ext uri="{FF2B5EF4-FFF2-40B4-BE49-F238E27FC236}">
                <a16:creationId xmlns:a16="http://schemas.microsoft.com/office/drawing/2014/main" id="{023AEAE4-8ADE-46C2-B9BD-4099A7331F5F}"/>
              </a:ext>
            </a:extLst>
          </p:cNvPr>
          <p:cNvSpPr>
            <a:spLocks noGrp="1"/>
          </p:cNvSpPr>
          <p:nvPr/>
        </p:nvSpPr>
        <p:spPr>
          <a:xfrm>
            <a:off x="4267200" y="1781175"/>
            <a:ext cx="57150" cy="2971800"/>
          </a:xfrm>
          <a:prstGeom prst="rect">
            <a:avLst/>
          </a:prstGeom>
          <a:solidFill>
            <a:srgbClr val="1B777F"/>
          </a:solidFill>
          <a:ln w="0">
            <a:noFill/>
            <a:prstDash val="solid"/>
          </a:ln>
        </p:spPr>
        <p:txBody>
          <a:bodyPr/>
          <a:lstStyle/>
          <a:p>
            <a:endParaRPr lang="en-US"/>
          </a:p>
        </p:txBody>
      </p:sp>
      <p:sp>
        <p:nvSpPr>
          <p:cNvPr id="54" name="Rectangle: Rounded Corners 53">
            <a:extLst>
              <a:ext uri="{FF2B5EF4-FFF2-40B4-BE49-F238E27FC236}">
                <a16:creationId xmlns:a16="http://schemas.microsoft.com/office/drawing/2014/main" id="{5A84AA88-E6D8-4904-990A-D83845F792A0}"/>
              </a:ext>
            </a:extLst>
          </p:cNvPr>
          <p:cNvSpPr>
            <a:spLocks noGrp="1"/>
          </p:cNvSpPr>
          <p:nvPr/>
        </p:nvSpPr>
        <p:spPr>
          <a:xfrm>
            <a:off x="4410075" y="1895475"/>
            <a:ext cx="838200" cy="219075"/>
          </a:xfrm>
          <a:prstGeom prst="roundRect">
            <a:avLst>
              <a:gd name="adj" fmla="val 50000"/>
            </a:avLst>
          </a:prstGeom>
          <a:solidFill>
            <a:srgbClr val="1B777F"/>
          </a:solidFill>
          <a:ln w="0">
            <a:noFill/>
            <a:prstDash val="solid"/>
          </a:ln>
        </p:spPr>
        <p:txBody>
          <a:bodyPr/>
          <a:lstStyle/>
          <a:p>
            <a:endParaRPr lang="en-US"/>
          </a:p>
        </p:txBody>
      </p:sp>
      <p:sp>
        <p:nvSpPr>
          <p:cNvPr id="55" name="Rectangle 54">
            <a:extLst>
              <a:ext uri="{FF2B5EF4-FFF2-40B4-BE49-F238E27FC236}">
                <a16:creationId xmlns:a16="http://schemas.microsoft.com/office/drawing/2014/main" id="{808AC358-9684-442B-B8AB-A2CCB640C391}"/>
              </a:ext>
            </a:extLst>
          </p:cNvPr>
          <p:cNvSpPr>
            <a:spLocks noGrp="1"/>
          </p:cNvSpPr>
          <p:nvPr/>
        </p:nvSpPr>
        <p:spPr>
          <a:xfrm>
            <a:off x="4448175" y="1933575"/>
            <a:ext cx="762000" cy="142875"/>
          </a:xfrm>
          <a:prstGeom prst="rect">
            <a:avLst/>
          </a:prstGeom>
          <a:noFill/>
          <a:ln w="0">
            <a:noFill/>
            <a:prstDash val="solid"/>
          </a:ln>
        </p:spPr>
        <p:txBody>
          <a:bodyPr/>
          <a:lstStyle/>
          <a:p>
            <a:pPr algn="ctr">
              <a:defRPr sz="713" b="1" i="0">
                <a:solidFill>
                  <a:srgbClr val="FFFFFF"/>
                </a:solidFill>
                <a:latin typeface="Aptos"/>
                <a:ea typeface="Aptos"/>
                <a:cs typeface="Aptos"/>
              </a:defRPr>
            </a:pPr>
            <a:r>
              <a:rPr sz="713" b="1" i="0">
                <a:solidFill>
                  <a:srgbClr val="FFFFFF"/>
                </a:solidFill>
                <a:latin typeface="Aptos"/>
                <a:ea typeface="Aptos"/>
                <a:cs typeface="Aptos"/>
              </a:rPr>
              <a:t>β / γ-MATRIX</a:t>
            </a:r>
          </a:p>
        </p:txBody>
      </p:sp>
      <p:sp>
        <p:nvSpPr>
          <p:cNvPr id="56" name="Rectangle 55">
            <a:extLst>
              <a:ext uri="{FF2B5EF4-FFF2-40B4-BE49-F238E27FC236}">
                <a16:creationId xmlns:a16="http://schemas.microsoft.com/office/drawing/2014/main" id="{35AF225C-FFF8-40B2-98A7-6A2D316A95D4}"/>
              </a:ext>
            </a:extLst>
          </p:cNvPr>
          <p:cNvSpPr>
            <a:spLocks noGrp="1"/>
          </p:cNvSpPr>
          <p:nvPr/>
        </p:nvSpPr>
        <p:spPr>
          <a:xfrm>
            <a:off x="4410075" y="2209800"/>
            <a:ext cx="1609725" cy="238125"/>
          </a:xfrm>
          <a:prstGeom prst="rect">
            <a:avLst/>
          </a:prstGeom>
          <a:noFill/>
          <a:ln w="0">
            <a:noFill/>
            <a:prstDash val="solid"/>
          </a:ln>
        </p:spPr>
        <p:txBody>
          <a:bodyPr/>
          <a:lstStyle/>
          <a:p>
            <a:pPr algn="l">
              <a:defRPr sz="1275" b="1" i="0">
                <a:solidFill>
                  <a:srgbClr val="051C2C"/>
                </a:solidFill>
                <a:latin typeface="Aptos Display"/>
                <a:ea typeface="Aptos Display"/>
                <a:cs typeface="Aptos Display"/>
              </a:defRPr>
            </a:pPr>
            <a:r>
              <a:rPr sz="1275" b="1" i="0">
                <a:solidFill>
                  <a:srgbClr val="051C2C"/>
                </a:solidFill>
                <a:latin typeface="Aptos Display"/>
                <a:ea typeface="Aptos Display"/>
                <a:cs typeface="Aptos Display"/>
              </a:rPr>
              <a:t>Sektorale Wirkung</a:t>
            </a:r>
          </a:p>
        </p:txBody>
      </p:sp>
      <p:sp>
        <p:nvSpPr>
          <p:cNvPr id="57" name="Rectangle 56">
            <a:extLst>
              <a:ext uri="{FF2B5EF4-FFF2-40B4-BE49-F238E27FC236}">
                <a16:creationId xmlns:a16="http://schemas.microsoft.com/office/drawing/2014/main" id="{0E75FAF8-FDDA-4D4C-BDA6-ACFD272C432A}"/>
              </a:ext>
            </a:extLst>
          </p:cNvPr>
          <p:cNvSpPr>
            <a:spLocks noGrp="1"/>
          </p:cNvSpPr>
          <p:nvPr/>
        </p:nvSpPr>
        <p:spPr>
          <a:xfrm>
            <a:off x="4410075" y="2466975"/>
            <a:ext cx="1609725" cy="190500"/>
          </a:xfrm>
          <a:prstGeom prst="rect">
            <a:avLst/>
          </a:prstGeom>
          <a:noFill/>
          <a:ln w="0">
            <a:noFill/>
            <a:prstDash val="solid"/>
          </a:ln>
        </p:spPr>
        <p:txBody>
          <a:bodyPr/>
          <a:lstStyle/>
          <a:p>
            <a:pPr algn="l">
              <a:defRPr sz="825" b="1" i="0">
                <a:solidFill>
                  <a:srgbClr val="1B777F"/>
                </a:solidFill>
                <a:latin typeface="Aptos"/>
                <a:ea typeface="Aptos"/>
                <a:cs typeface="Aptos"/>
              </a:defRPr>
            </a:pPr>
            <a:r>
              <a:rPr sz="825" b="1" i="0">
                <a:solidFill>
                  <a:srgbClr val="1B777F"/>
                </a:solidFill>
                <a:latin typeface="Aptos"/>
                <a:ea typeface="Aptos"/>
                <a:cs typeface="Aptos"/>
              </a:rPr>
              <a:t>Schock → PD &amp; LGD</a:t>
            </a:r>
          </a:p>
        </p:txBody>
      </p:sp>
      <p:sp>
        <p:nvSpPr>
          <p:cNvPr id="58" name="Rectangle 57">
            <a:extLst>
              <a:ext uri="{FF2B5EF4-FFF2-40B4-BE49-F238E27FC236}">
                <a16:creationId xmlns:a16="http://schemas.microsoft.com/office/drawing/2014/main" id="{F04C64C6-B6E6-4D20-9916-C2EEFD6C6AA6}"/>
              </a:ext>
            </a:extLst>
          </p:cNvPr>
          <p:cNvSpPr>
            <a:spLocks noGrp="1"/>
          </p:cNvSpPr>
          <p:nvPr/>
        </p:nvSpPr>
        <p:spPr>
          <a:xfrm>
            <a:off x="4410075" y="2714625"/>
            <a:ext cx="1609725" cy="1971675"/>
          </a:xfrm>
          <a:prstGeom prst="rect">
            <a:avLst/>
          </a:prstGeom>
          <a:noFill/>
          <a:ln w="0">
            <a:noFill/>
            <a:prstDash val="solid"/>
          </a:ln>
        </p:spPr>
        <p:txBody>
          <a:bodyPr/>
          <a:lstStyle/>
          <a:p>
            <a:pPr algn="l">
              <a:defRPr sz="915" b="0" i="0">
                <a:solidFill>
                  <a:srgbClr val="4F6875"/>
                </a:solidFill>
                <a:latin typeface="Aptos"/>
                <a:ea typeface="Aptos"/>
                <a:cs typeface="Aptos"/>
              </a:defRPr>
            </a:pPr>
            <a:r>
              <a:rPr sz="915" b="0" i="0">
                <a:solidFill>
                  <a:srgbClr val="4F6875"/>
                </a:solidFill>
                <a:latin typeface="Aptos"/>
                <a:ea typeface="Aptos"/>
                <a:cs typeface="Aptos"/>
              </a:rPr>
              <a:t>ΔPD = βoil × ΔBrent</a:t>
            </a:r>
          </a:p>
          <a:p>
            <a:pPr algn="l">
              <a:defRPr sz="915" b="0" i="0">
                <a:solidFill>
                  <a:srgbClr val="4F6875"/>
                </a:solidFill>
                <a:latin typeface="Aptos"/>
                <a:ea typeface="Aptos"/>
                <a:cs typeface="Aptos"/>
              </a:defRPr>
            </a:pPr>
            <a:r>
              <a:rPr sz="915" b="0" i="0">
                <a:solidFill>
                  <a:srgbClr val="4F6875"/>
                </a:solidFill>
                <a:latin typeface="Aptos"/>
                <a:ea typeface="Aptos"/>
                <a:cs typeface="Aptos"/>
              </a:rPr>
              <a:t>       + βrate × Δr10Y</a:t>
            </a:r>
          </a:p>
          <a:p>
            <a:endParaRPr sz="915" b="0" i="0">
              <a:solidFill>
                <a:srgbClr val="4F6875"/>
              </a:solidFill>
              <a:latin typeface="Aptos"/>
              <a:ea typeface="Aptos"/>
              <a:cs typeface="Aptos"/>
            </a:endParaRPr>
          </a:p>
          <a:p>
            <a:pPr algn="l">
              <a:defRPr sz="915" b="0" i="0">
                <a:solidFill>
                  <a:srgbClr val="4F6875"/>
                </a:solidFill>
                <a:latin typeface="Aptos"/>
                <a:ea typeface="Aptos"/>
                <a:cs typeface="Aptos"/>
              </a:defRPr>
            </a:pPr>
            <a:r>
              <a:rPr sz="915" b="0" i="0">
                <a:solidFill>
                  <a:srgbClr val="4F6875"/>
                </a:solidFill>
                <a:latin typeface="Aptos"/>
                <a:ea typeface="Aptos"/>
                <a:cs typeface="Aptos"/>
              </a:rPr>
              <a:t>ΔLGD = γoil × ΔBrent</a:t>
            </a:r>
          </a:p>
          <a:p>
            <a:pPr algn="l">
              <a:defRPr sz="915" b="0" i="0">
                <a:solidFill>
                  <a:srgbClr val="4F6875"/>
                </a:solidFill>
                <a:latin typeface="Aptos"/>
                <a:ea typeface="Aptos"/>
                <a:cs typeface="Aptos"/>
              </a:defRPr>
            </a:pPr>
            <a:r>
              <a:rPr sz="915" b="0" i="0">
                <a:solidFill>
                  <a:srgbClr val="4F6875"/>
                </a:solidFill>
                <a:latin typeface="Aptos"/>
                <a:ea typeface="Aptos"/>
                <a:cs typeface="Aptos"/>
              </a:rPr>
              <a:t>        + γrate × Δr10Y</a:t>
            </a:r>
          </a:p>
          <a:p>
            <a:endParaRPr sz="915" b="0" i="0">
              <a:solidFill>
                <a:srgbClr val="4F6875"/>
              </a:solidFill>
              <a:latin typeface="Aptos"/>
              <a:ea typeface="Aptos"/>
              <a:cs typeface="Aptos"/>
            </a:endParaRPr>
          </a:p>
          <a:p>
            <a:pPr algn="l">
              <a:defRPr sz="915" b="0" i="0">
                <a:solidFill>
                  <a:srgbClr val="4F6875"/>
                </a:solidFill>
                <a:latin typeface="Aptos"/>
                <a:ea typeface="Aptos"/>
                <a:cs typeface="Aptos"/>
              </a:defRPr>
            </a:pPr>
            <a:r>
              <a:rPr sz="915" b="0" i="0">
                <a:solidFill>
                  <a:srgbClr val="4F6875"/>
                </a:solidFill>
                <a:latin typeface="Aptos"/>
                <a:ea typeface="Aptos"/>
                <a:cs typeface="Aptos"/>
              </a:rPr>
              <a:t>7 Exposure-Klassen</a:t>
            </a:r>
          </a:p>
          <a:p>
            <a:pPr algn="l">
              <a:defRPr sz="915" b="0" i="0">
                <a:solidFill>
                  <a:srgbClr val="4F6875"/>
                </a:solidFill>
                <a:latin typeface="Aptos"/>
                <a:ea typeface="Aptos"/>
                <a:cs typeface="Aptos"/>
              </a:defRPr>
            </a:pPr>
            <a:r>
              <a:rPr sz="915" b="0" i="0">
                <a:solidFill>
                  <a:srgbClr val="4F6875"/>
                </a:solidFill>
                <a:latin typeface="Aptos"/>
                <a:ea typeface="Aptos"/>
                <a:cs typeface="Aptos"/>
              </a:rPr>
              <a:t>mit eigenen Sensitivitäten</a:t>
            </a:r>
          </a:p>
        </p:txBody>
      </p:sp>
      <p:sp>
        <p:nvSpPr>
          <p:cNvPr id="59" name="Rectangle 58">
            <a:extLst>
              <a:ext uri="{FF2B5EF4-FFF2-40B4-BE49-F238E27FC236}">
                <a16:creationId xmlns:a16="http://schemas.microsoft.com/office/drawing/2014/main" id="{AEEB25C1-D1F0-45BC-BE88-F92073F78C8B}"/>
              </a:ext>
            </a:extLst>
          </p:cNvPr>
          <p:cNvSpPr>
            <a:spLocks noGrp="1"/>
          </p:cNvSpPr>
          <p:nvPr/>
        </p:nvSpPr>
        <p:spPr>
          <a:xfrm>
            <a:off x="6143625" y="2981325"/>
            <a:ext cx="219075" cy="304800"/>
          </a:xfrm>
          <a:prstGeom prst="rect">
            <a:avLst/>
          </a:prstGeom>
          <a:noFill/>
          <a:ln w="0">
            <a:noFill/>
            <a:prstDash val="solid"/>
          </a:ln>
        </p:spPr>
        <p:txBody>
          <a:bodyPr/>
          <a:lstStyle/>
          <a:p>
            <a:pPr algn="ctr">
              <a:defRPr sz="2025" b="1" i="0">
                <a:solidFill>
                  <a:srgbClr val="71858F"/>
                </a:solidFill>
                <a:latin typeface="Aptos"/>
                <a:ea typeface="Aptos"/>
                <a:cs typeface="Aptos"/>
              </a:defRPr>
            </a:pPr>
            <a:r>
              <a:rPr sz="2025" b="1" i="0">
                <a:solidFill>
                  <a:srgbClr val="71858F"/>
                </a:solidFill>
                <a:latin typeface="Aptos"/>
                <a:ea typeface="Aptos"/>
                <a:cs typeface="Aptos"/>
              </a:rPr>
              <a:t>→</a:t>
            </a:r>
          </a:p>
        </p:txBody>
      </p:sp>
      <p:sp>
        <p:nvSpPr>
          <p:cNvPr id="60" name="Rectangle: Rounded Corners 59">
            <a:extLst>
              <a:ext uri="{FF2B5EF4-FFF2-40B4-BE49-F238E27FC236}">
                <a16:creationId xmlns:a16="http://schemas.microsoft.com/office/drawing/2014/main" id="{1B790629-9C06-49C5-9DD0-7988D0B974A1}"/>
              </a:ext>
            </a:extLst>
          </p:cNvPr>
          <p:cNvSpPr>
            <a:spLocks noGrp="1"/>
          </p:cNvSpPr>
          <p:nvPr/>
        </p:nvSpPr>
        <p:spPr>
          <a:xfrm>
            <a:off x="6362700" y="1781175"/>
            <a:ext cx="2952750" cy="1362075"/>
          </a:xfrm>
          <a:prstGeom prst="roundRect">
            <a:avLst>
              <a:gd name="adj" fmla="val 8392"/>
            </a:avLst>
          </a:prstGeom>
          <a:solidFill>
            <a:srgbClr val="FFFFFF"/>
          </a:solidFill>
          <a:ln w="9525">
            <a:solidFill>
              <a:srgbClr val="D5E0E5"/>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61" name="Rectangle 60">
            <a:extLst>
              <a:ext uri="{FF2B5EF4-FFF2-40B4-BE49-F238E27FC236}">
                <a16:creationId xmlns:a16="http://schemas.microsoft.com/office/drawing/2014/main" id="{5121CD01-B40D-4F01-B79A-6FF4F25DC6BB}"/>
              </a:ext>
            </a:extLst>
          </p:cNvPr>
          <p:cNvSpPr>
            <a:spLocks noGrp="1"/>
          </p:cNvSpPr>
          <p:nvPr/>
        </p:nvSpPr>
        <p:spPr>
          <a:xfrm>
            <a:off x="6362700" y="1781175"/>
            <a:ext cx="57150" cy="1362075"/>
          </a:xfrm>
          <a:prstGeom prst="rect">
            <a:avLst/>
          </a:prstGeom>
          <a:solidFill>
            <a:srgbClr val="A52F4D"/>
          </a:solidFill>
          <a:ln w="0">
            <a:noFill/>
            <a:prstDash val="solid"/>
          </a:ln>
        </p:spPr>
        <p:txBody>
          <a:bodyPr/>
          <a:lstStyle/>
          <a:p>
            <a:endParaRPr lang="en-US"/>
          </a:p>
        </p:txBody>
      </p:sp>
      <p:sp>
        <p:nvSpPr>
          <p:cNvPr id="62" name="Rectangle: Rounded Corners 61">
            <a:extLst>
              <a:ext uri="{FF2B5EF4-FFF2-40B4-BE49-F238E27FC236}">
                <a16:creationId xmlns:a16="http://schemas.microsoft.com/office/drawing/2014/main" id="{DD87F3D0-275A-4DC9-B3FE-22242D4A9877}"/>
              </a:ext>
            </a:extLst>
          </p:cNvPr>
          <p:cNvSpPr>
            <a:spLocks noGrp="1"/>
          </p:cNvSpPr>
          <p:nvPr/>
        </p:nvSpPr>
        <p:spPr>
          <a:xfrm>
            <a:off x="6505575" y="1895475"/>
            <a:ext cx="619125" cy="219075"/>
          </a:xfrm>
          <a:prstGeom prst="roundRect">
            <a:avLst>
              <a:gd name="adj" fmla="val 50000"/>
            </a:avLst>
          </a:prstGeom>
          <a:solidFill>
            <a:srgbClr val="A52F4D"/>
          </a:solidFill>
          <a:ln w="0">
            <a:noFill/>
            <a:prstDash val="solid"/>
          </a:ln>
        </p:spPr>
        <p:txBody>
          <a:bodyPr/>
          <a:lstStyle/>
          <a:p>
            <a:endParaRPr lang="en-US"/>
          </a:p>
        </p:txBody>
      </p:sp>
      <p:sp>
        <p:nvSpPr>
          <p:cNvPr id="63" name="Rectangle 62">
            <a:extLst>
              <a:ext uri="{FF2B5EF4-FFF2-40B4-BE49-F238E27FC236}">
                <a16:creationId xmlns:a16="http://schemas.microsoft.com/office/drawing/2014/main" id="{9AB2B3A8-9F5F-4B77-9A41-D4C687591434}"/>
              </a:ext>
            </a:extLst>
          </p:cNvPr>
          <p:cNvSpPr>
            <a:spLocks noGrp="1"/>
          </p:cNvSpPr>
          <p:nvPr/>
        </p:nvSpPr>
        <p:spPr>
          <a:xfrm>
            <a:off x="6543675" y="1933575"/>
            <a:ext cx="542925" cy="142875"/>
          </a:xfrm>
          <a:prstGeom prst="rect">
            <a:avLst/>
          </a:prstGeom>
          <a:noFill/>
          <a:ln w="0">
            <a:noFill/>
            <a:prstDash val="solid"/>
          </a:ln>
        </p:spPr>
        <p:txBody>
          <a:bodyPr/>
          <a:lstStyle/>
          <a:p>
            <a:pPr algn="ctr">
              <a:defRPr sz="713" b="1" i="0">
                <a:solidFill>
                  <a:srgbClr val="FFFFFF"/>
                </a:solidFill>
                <a:latin typeface="Aptos"/>
                <a:ea typeface="Aptos"/>
                <a:cs typeface="Aptos"/>
              </a:defRPr>
            </a:pPr>
            <a:r>
              <a:rPr sz="713" b="1" i="0">
                <a:solidFill>
                  <a:srgbClr val="FFFFFF"/>
                </a:solidFill>
                <a:latin typeface="Aptos"/>
                <a:ea typeface="Aptos"/>
                <a:cs typeface="Aptos"/>
              </a:rPr>
              <a:t>KANAL 1</a:t>
            </a:r>
          </a:p>
        </p:txBody>
      </p:sp>
      <p:sp>
        <p:nvSpPr>
          <p:cNvPr id="64" name="Rectangle 63">
            <a:extLst>
              <a:ext uri="{FF2B5EF4-FFF2-40B4-BE49-F238E27FC236}">
                <a16:creationId xmlns:a16="http://schemas.microsoft.com/office/drawing/2014/main" id="{3A18FC56-431F-484C-AB69-55FC15618479}"/>
              </a:ext>
            </a:extLst>
          </p:cNvPr>
          <p:cNvSpPr>
            <a:spLocks noGrp="1"/>
          </p:cNvSpPr>
          <p:nvPr/>
        </p:nvSpPr>
        <p:spPr>
          <a:xfrm>
            <a:off x="6505575" y="2209800"/>
            <a:ext cx="2686050" cy="238125"/>
          </a:xfrm>
          <a:prstGeom prst="rect">
            <a:avLst/>
          </a:prstGeom>
          <a:noFill/>
          <a:ln w="0">
            <a:noFill/>
            <a:prstDash val="solid"/>
          </a:ln>
        </p:spPr>
        <p:txBody>
          <a:bodyPr/>
          <a:lstStyle/>
          <a:p>
            <a:pPr algn="l">
              <a:defRPr sz="1275" b="1" i="0">
                <a:solidFill>
                  <a:srgbClr val="051C2C"/>
                </a:solidFill>
                <a:latin typeface="Aptos Display"/>
                <a:ea typeface="Aptos Display"/>
                <a:cs typeface="Aptos Display"/>
              </a:defRPr>
            </a:pPr>
            <a:r>
              <a:rPr sz="1275" b="1" i="0">
                <a:solidFill>
                  <a:srgbClr val="051C2C"/>
                </a:solidFill>
                <a:latin typeface="Aptos Display"/>
                <a:ea typeface="Aptos Display"/>
                <a:cs typeface="Aptos Display"/>
              </a:rPr>
              <a:t>Kreditbuch</a:t>
            </a:r>
          </a:p>
        </p:txBody>
      </p:sp>
      <p:sp>
        <p:nvSpPr>
          <p:cNvPr id="65" name="Rectangle 64">
            <a:extLst>
              <a:ext uri="{FF2B5EF4-FFF2-40B4-BE49-F238E27FC236}">
                <a16:creationId xmlns:a16="http://schemas.microsoft.com/office/drawing/2014/main" id="{CF0E8648-DE03-4587-BB51-4121F02680FD}"/>
              </a:ext>
            </a:extLst>
          </p:cNvPr>
          <p:cNvSpPr>
            <a:spLocks noGrp="1"/>
          </p:cNvSpPr>
          <p:nvPr/>
        </p:nvSpPr>
        <p:spPr>
          <a:xfrm>
            <a:off x="6505575" y="2466975"/>
            <a:ext cx="2686050" cy="190500"/>
          </a:xfrm>
          <a:prstGeom prst="rect">
            <a:avLst/>
          </a:prstGeom>
          <a:noFill/>
          <a:ln w="0">
            <a:noFill/>
            <a:prstDash val="solid"/>
          </a:ln>
        </p:spPr>
        <p:txBody>
          <a:bodyPr/>
          <a:lstStyle/>
          <a:p>
            <a:pPr algn="l">
              <a:defRPr sz="825" b="1" i="0">
                <a:solidFill>
                  <a:srgbClr val="A52F4D"/>
                </a:solidFill>
                <a:latin typeface="Aptos"/>
                <a:ea typeface="Aptos"/>
                <a:cs typeface="Aptos"/>
              </a:defRPr>
            </a:pPr>
            <a:r>
              <a:rPr sz="825" b="1" i="0">
                <a:solidFill>
                  <a:srgbClr val="A52F4D"/>
                </a:solidFill>
                <a:latin typeface="Aptos"/>
                <a:ea typeface="Aptos"/>
                <a:cs typeface="Aptos"/>
              </a:rPr>
              <a:t>Expected Loss &amp; IRB-RWA</a:t>
            </a:r>
          </a:p>
        </p:txBody>
      </p:sp>
      <p:sp>
        <p:nvSpPr>
          <p:cNvPr id="66" name="Rectangle 65">
            <a:extLst>
              <a:ext uri="{FF2B5EF4-FFF2-40B4-BE49-F238E27FC236}">
                <a16:creationId xmlns:a16="http://schemas.microsoft.com/office/drawing/2014/main" id="{CAB286D1-44F1-45F0-92E1-7466A6DEF1FA}"/>
              </a:ext>
            </a:extLst>
          </p:cNvPr>
          <p:cNvSpPr>
            <a:spLocks noGrp="1"/>
          </p:cNvSpPr>
          <p:nvPr/>
        </p:nvSpPr>
        <p:spPr>
          <a:xfrm>
            <a:off x="6505575" y="2714625"/>
            <a:ext cx="2686050" cy="361950"/>
          </a:xfrm>
          <a:prstGeom prst="rect">
            <a:avLst/>
          </a:prstGeom>
          <a:noFill/>
          <a:ln w="0">
            <a:noFill/>
            <a:prstDash val="solid"/>
          </a:ln>
        </p:spPr>
        <p:txBody>
          <a:bodyPr/>
          <a:lstStyle/>
          <a:p>
            <a:pPr algn="l">
              <a:defRPr sz="938" b="0" i="0">
                <a:solidFill>
                  <a:srgbClr val="4F6875"/>
                </a:solidFill>
                <a:latin typeface="Aptos"/>
                <a:ea typeface="Aptos"/>
                <a:cs typeface="Aptos"/>
              </a:defRPr>
            </a:pPr>
            <a:r>
              <a:rPr sz="938" b="0" i="0">
                <a:solidFill>
                  <a:srgbClr val="4F6875"/>
                </a:solidFill>
                <a:latin typeface="Aptos"/>
                <a:ea typeface="Aptos"/>
                <a:cs typeface="Aptos"/>
              </a:rPr>
              <a:t>Gestresste PD/LGD → höhere Vorsorge</a:t>
            </a:r>
          </a:p>
          <a:p>
            <a:pPr algn="l">
              <a:defRPr sz="938" b="0" i="0">
                <a:solidFill>
                  <a:srgbClr val="4F6875"/>
                </a:solidFill>
                <a:latin typeface="Aptos"/>
                <a:ea typeface="Aptos"/>
                <a:cs typeface="Aptos"/>
              </a:defRPr>
            </a:pPr>
            <a:r>
              <a:rPr sz="938" b="0" i="0">
                <a:solidFill>
                  <a:srgbClr val="4F6875"/>
                </a:solidFill>
                <a:latin typeface="Aptos"/>
                <a:ea typeface="Aptos"/>
                <a:cs typeface="Aptos"/>
              </a:rPr>
              <a:t>Basel-IRB-Formel → zusätzliche RWA</a:t>
            </a:r>
          </a:p>
        </p:txBody>
      </p:sp>
      <p:sp>
        <p:nvSpPr>
          <p:cNvPr id="67" name="Rectangle: Rounded Corners 66">
            <a:extLst>
              <a:ext uri="{FF2B5EF4-FFF2-40B4-BE49-F238E27FC236}">
                <a16:creationId xmlns:a16="http://schemas.microsoft.com/office/drawing/2014/main" id="{EDAC6A6C-E5BD-42C5-AB3D-896D6A259D68}"/>
              </a:ext>
            </a:extLst>
          </p:cNvPr>
          <p:cNvSpPr>
            <a:spLocks noGrp="1"/>
          </p:cNvSpPr>
          <p:nvPr/>
        </p:nvSpPr>
        <p:spPr>
          <a:xfrm>
            <a:off x="6362700" y="3314700"/>
            <a:ext cx="2952750" cy="1438275"/>
          </a:xfrm>
          <a:prstGeom prst="roundRect">
            <a:avLst>
              <a:gd name="adj" fmla="val 7947"/>
            </a:avLst>
          </a:prstGeom>
          <a:solidFill>
            <a:srgbClr val="FFFFFF"/>
          </a:solidFill>
          <a:ln w="9525">
            <a:solidFill>
              <a:srgbClr val="D5E0E5"/>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68" name="Rectangle 67">
            <a:extLst>
              <a:ext uri="{FF2B5EF4-FFF2-40B4-BE49-F238E27FC236}">
                <a16:creationId xmlns:a16="http://schemas.microsoft.com/office/drawing/2014/main" id="{81D9EAB0-5AEA-43BC-B0E0-DED1831904EB}"/>
              </a:ext>
            </a:extLst>
          </p:cNvPr>
          <p:cNvSpPr>
            <a:spLocks noGrp="1"/>
          </p:cNvSpPr>
          <p:nvPr/>
        </p:nvSpPr>
        <p:spPr>
          <a:xfrm>
            <a:off x="6362700" y="3314700"/>
            <a:ext cx="57150" cy="1438275"/>
          </a:xfrm>
          <a:prstGeom prst="rect">
            <a:avLst/>
          </a:prstGeom>
          <a:solidFill>
            <a:srgbClr val="D9A124"/>
          </a:solidFill>
          <a:ln w="0">
            <a:noFill/>
            <a:prstDash val="solid"/>
          </a:ln>
        </p:spPr>
        <p:txBody>
          <a:bodyPr/>
          <a:lstStyle/>
          <a:p>
            <a:endParaRPr lang="en-US"/>
          </a:p>
        </p:txBody>
      </p:sp>
      <p:sp>
        <p:nvSpPr>
          <p:cNvPr id="69" name="Rectangle: Rounded Corners 68">
            <a:extLst>
              <a:ext uri="{FF2B5EF4-FFF2-40B4-BE49-F238E27FC236}">
                <a16:creationId xmlns:a16="http://schemas.microsoft.com/office/drawing/2014/main" id="{085DC7F0-46E6-4036-8AB0-EC7802DC74F9}"/>
              </a:ext>
            </a:extLst>
          </p:cNvPr>
          <p:cNvSpPr>
            <a:spLocks noGrp="1"/>
          </p:cNvSpPr>
          <p:nvPr/>
        </p:nvSpPr>
        <p:spPr>
          <a:xfrm>
            <a:off x="6505575" y="3429000"/>
            <a:ext cx="619125" cy="219075"/>
          </a:xfrm>
          <a:prstGeom prst="roundRect">
            <a:avLst>
              <a:gd name="adj" fmla="val 50000"/>
            </a:avLst>
          </a:prstGeom>
          <a:solidFill>
            <a:srgbClr val="D9A124"/>
          </a:solidFill>
          <a:ln w="0">
            <a:noFill/>
            <a:prstDash val="solid"/>
          </a:ln>
        </p:spPr>
        <p:txBody>
          <a:bodyPr/>
          <a:lstStyle/>
          <a:p>
            <a:endParaRPr lang="en-US"/>
          </a:p>
        </p:txBody>
      </p:sp>
      <p:sp>
        <p:nvSpPr>
          <p:cNvPr id="70" name="Rectangle 69">
            <a:extLst>
              <a:ext uri="{FF2B5EF4-FFF2-40B4-BE49-F238E27FC236}">
                <a16:creationId xmlns:a16="http://schemas.microsoft.com/office/drawing/2014/main" id="{C15F0F11-74CC-430B-B2BB-A344DB99499A}"/>
              </a:ext>
            </a:extLst>
          </p:cNvPr>
          <p:cNvSpPr>
            <a:spLocks noGrp="1"/>
          </p:cNvSpPr>
          <p:nvPr/>
        </p:nvSpPr>
        <p:spPr>
          <a:xfrm>
            <a:off x="6543675" y="3467100"/>
            <a:ext cx="542925" cy="142875"/>
          </a:xfrm>
          <a:prstGeom prst="rect">
            <a:avLst/>
          </a:prstGeom>
          <a:noFill/>
          <a:ln w="0">
            <a:noFill/>
            <a:prstDash val="solid"/>
          </a:ln>
        </p:spPr>
        <p:txBody>
          <a:bodyPr/>
          <a:lstStyle/>
          <a:p>
            <a:pPr algn="ctr">
              <a:defRPr sz="713" b="1" i="0">
                <a:solidFill>
                  <a:srgbClr val="051C2C"/>
                </a:solidFill>
                <a:latin typeface="Aptos"/>
                <a:ea typeface="Aptos"/>
                <a:cs typeface="Aptos"/>
              </a:defRPr>
            </a:pPr>
            <a:r>
              <a:rPr sz="713" b="1" i="0">
                <a:solidFill>
                  <a:srgbClr val="051C2C"/>
                </a:solidFill>
                <a:latin typeface="Aptos"/>
                <a:ea typeface="Aptos"/>
                <a:cs typeface="Aptos"/>
              </a:rPr>
              <a:t>KANAL 2</a:t>
            </a:r>
          </a:p>
        </p:txBody>
      </p:sp>
      <p:sp>
        <p:nvSpPr>
          <p:cNvPr id="71" name="Rectangle 70">
            <a:extLst>
              <a:ext uri="{FF2B5EF4-FFF2-40B4-BE49-F238E27FC236}">
                <a16:creationId xmlns:a16="http://schemas.microsoft.com/office/drawing/2014/main" id="{752DF7B2-2E88-4229-A108-A359520602C4}"/>
              </a:ext>
            </a:extLst>
          </p:cNvPr>
          <p:cNvSpPr>
            <a:spLocks noGrp="1"/>
          </p:cNvSpPr>
          <p:nvPr/>
        </p:nvSpPr>
        <p:spPr>
          <a:xfrm>
            <a:off x="6505575" y="3743325"/>
            <a:ext cx="2686050" cy="238125"/>
          </a:xfrm>
          <a:prstGeom prst="rect">
            <a:avLst/>
          </a:prstGeom>
          <a:noFill/>
          <a:ln w="0">
            <a:noFill/>
            <a:prstDash val="solid"/>
          </a:ln>
        </p:spPr>
        <p:txBody>
          <a:bodyPr/>
          <a:lstStyle/>
          <a:p>
            <a:pPr algn="l">
              <a:defRPr sz="1275" b="1" i="0">
                <a:solidFill>
                  <a:srgbClr val="051C2C"/>
                </a:solidFill>
                <a:latin typeface="Aptos Display"/>
                <a:ea typeface="Aptos Display"/>
                <a:cs typeface="Aptos Display"/>
              </a:defRPr>
            </a:pPr>
            <a:r>
              <a:rPr sz="1275" b="1" i="0">
                <a:solidFill>
                  <a:srgbClr val="051C2C"/>
                </a:solidFill>
                <a:latin typeface="Aptos Display"/>
                <a:ea typeface="Aptos Display"/>
                <a:cs typeface="Aptos Display"/>
              </a:rPr>
              <a:t>Sovereign-Buch</a:t>
            </a:r>
          </a:p>
        </p:txBody>
      </p:sp>
      <p:sp>
        <p:nvSpPr>
          <p:cNvPr id="72" name="Rectangle 71">
            <a:extLst>
              <a:ext uri="{FF2B5EF4-FFF2-40B4-BE49-F238E27FC236}">
                <a16:creationId xmlns:a16="http://schemas.microsoft.com/office/drawing/2014/main" id="{DBB29953-5F59-4E69-A3E8-4810E1AE2917}"/>
              </a:ext>
            </a:extLst>
          </p:cNvPr>
          <p:cNvSpPr>
            <a:spLocks noGrp="1"/>
          </p:cNvSpPr>
          <p:nvPr/>
        </p:nvSpPr>
        <p:spPr>
          <a:xfrm>
            <a:off x="6505575" y="4000500"/>
            <a:ext cx="2686050" cy="190500"/>
          </a:xfrm>
          <a:prstGeom prst="rect">
            <a:avLst/>
          </a:prstGeom>
          <a:noFill/>
          <a:ln w="0">
            <a:noFill/>
            <a:prstDash val="solid"/>
          </a:ln>
        </p:spPr>
        <p:txBody>
          <a:bodyPr/>
          <a:lstStyle/>
          <a:p>
            <a:pPr algn="l">
              <a:defRPr sz="825" b="1" i="0">
                <a:solidFill>
                  <a:srgbClr val="D9A124"/>
                </a:solidFill>
                <a:latin typeface="Aptos"/>
                <a:ea typeface="Aptos"/>
                <a:cs typeface="Aptos"/>
              </a:defRPr>
            </a:pPr>
            <a:r>
              <a:rPr sz="825" b="1" i="0">
                <a:solidFill>
                  <a:srgbClr val="D9A124"/>
                </a:solidFill>
                <a:latin typeface="Aptos"/>
                <a:ea typeface="Aptos"/>
                <a:cs typeface="Aptos"/>
              </a:rPr>
              <a:t>Duration &amp; IFRS-9-Filter</a:t>
            </a:r>
          </a:p>
        </p:txBody>
      </p:sp>
      <p:sp>
        <p:nvSpPr>
          <p:cNvPr id="73" name="Rectangle 72">
            <a:extLst>
              <a:ext uri="{FF2B5EF4-FFF2-40B4-BE49-F238E27FC236}">
                <a16:creationId xmlns:a16="http://schemas.microsoft.com/office/drawing/2014/main" id="{D6F884B9-866F-4CC5-8138-B842A80CBB88}"/>
              </a:ext>
            </a:extLst>
          </p:cNvPr>
          <p:cNvSpPr>
            <a:spLocks noGrp="1"/>
          </p:cNvSpPr>
          <p:nvPr/>
        </p:nvSpPr>
        <p:spPr>
          <a:xfrm>
            <a:off x="6505575" y="4248150"/>
            <a:ext cx="2686050" cy="438150"/>
          </a:xfrm>
          <a:prstGeom prst="rect">
            <a:avLst/>
          </a:prstGeom>
          <a:noFill/>
          <a:ln w="0">
            <a:noFill/>
            <a:prstDash val="solid"/>
          </a:ln>
        </p:spPr>
        <p:txBody>
          <a:bodyPr/>
          <a:lstStyle/>
          <a:p>
            <a:pPr algn="l">
              <a:defRPr sz="938" b="0" i="0">
                <a:solidFill>
                  <a:srgbClr val="4F6875"/>
                </a:solidFill>
                <a:latin typeface="Aptos"/>
                <a:ea typeface="Aptos"/>
                <a:cs typeface="Aptos"/>
              </a:defRPr>
            </a:pPr>
            <a:r>
              <a:rPr sz="938" b="0" i="0">
                <a:solidFill>
                  <a:srgbClr val="4F6875"/>
                </a:solidFill>
                <a:latin typeface="Aptos"/>
                <a:ea typeface="Aptos"/>
                <a:cs typeface="Aptos"/>
              </a:rPr>
              <a:t>ΔFair Value ≈ −Duration × Δr × Bestand</a:t>
            </a:r>
          </a:p>
          <a:p>
            <a:pPr algn="l">
              <a:defRPr sz="938" b="0" i="0">
                <a:solidFill>
                  <a:srgbClr val="4F6875"/>
                </a:solidFill>
                <a:latin typeface="Aptos"/>
                <a:ea typeface="Aptos"/>
                <a:cs typeface="Aptos"/>
              </a:defRPr>
            </a:pPr>
            <a:r>
              <a:rPr sz="938" b="0" i="0">
                <a:solidFill>
                  <a:srgbClr val="4F6875"/>
                </a:solidFill>
                <a:latin typeface="Aptos"/>
                <a:ea typeface="Aptos"/>
                <a:cs typeface="Aptos"/>
              </a:rPr>
              <a:t>HfT / FVTPL / FVOCI wirken auf CET1</a:t>
            </a:r>
          </a:p>
        </p:txBody>
      </p:sp>
      <p:sp>
        <p:nvSpPr>
          <p:cNvPr id="74" name="Rectangle 73">
            <a:extLst>
              <a:ext uri="{FF2B5EF4-FFF2-40B4-BE49-F238E27FC236}">
                <a16:creationId xmlns:a16="http://schemas.microsoft.com/office/drawing/2014/main" id="{E01D4CFC-2A4B-45CC-A584-8EFC0B9A34F3}"/>
              </a:ext>
            </a:extLst>
          </p:cNvPr>
          <p:cNvSpPr>
            <a:spLocks noGrp="1"/>
          </p:cNvSpPr>
          <p:nvPr/>
        </p:nvSpPr>
        <p:spPr>
          <a:xfrm>
            <a:off x="9315450" y="2981325"/>
            <a:ext cx="219075" cy="304800"/>
          </a:xfrm>
          <a:prstGeom prst="rect">
            <a:avLst/>
          </a:prstGeom>
          <a:noFill/>
          <a:ln w="0">
            <a:noFill/>
            <a:prstDash val="solid"/>
          </a:ln>
        </p:spPr>
        <p:txBody>
          <a:bodyPr/>
          <a:lstStyle/>
          <a:p>
            <a:pPr algn="ctr">
              <a:defRPr sz="2025" b="1" i="0">
                <a:solidFill>
                  <a:srgbClr val="71858F"/>
                </a:solidFill>
                <a:latin typeface="Aptos"/>
                <a:ea typeface="Aptos"/>
                <a:cs typeface="Aptos"/>
              </a:defRPr>
            </a:pPr>
            <a:r>
              <a:rPr sz="2025" b="1" i="0">
                <a:solidFill>
                  <a:srgbClr val="71858F"/>
                </a:solidFill>
                <a:latin typeface="Aptos"/>
                <a:ea typeface="Aptos"/>
                <a:cs typeface="Aptos"/>
              </a:rPr>
              <a:t>→</a:t>
            </a:r>
          </a:p>
        </p:txBody>
      </p:sp>
      <p:sp>
        <p:nvSpPr>
          <p:cNvPr id="75" name="Rectangle: Rounded Corners 74">
            <a:extLst>
              <a:ext uri="{FF2B5EF4-FFF2-40B4-BE49-F238E27FC236}">
                <a16:creationId xmlns:a16="http://schemas.microsoft.com/office/drawing/2014/main" id="{EE018C5B-ED28-4B1F-A8EA-D7A4FCBD128D}"/>
              </a:ext>
            </a:extLst>
          </p:cNvPr>
          <p:cNvSpPr>
            <a:spLocks noGrp="1"/>
          </p:cNvSpPr>
          <p:nvPr/>
        </p:nvSpPr>
        <p:spPr>
          <a:xfrm>
            <a:off x="9534525" y="1781175"/>
            <a:ext cx="2200275" cy="1943100"/>
          </a:xfrm>
          <a:prstGeom prst="roundRect">
            <a:avLst>
              <a:gd name="adj" fmla="val 5882"/>
            </a:avLst>
          </a:prstGeom>
          <a:solidFill>
            <a:srgbClr val="123B50"/>
          </a:solidFill>
          <a:ln w="9525">
            <a:solidFill>
              <a:srgbClr val="123B50"/>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76" name="Rectangle 75">
            <a:extLst>
              <a:ext uri="{FF2B5EF4-FFF2-40B4-BE49-F238E27FC236}">
                <a16:creationId xmlns:a16="http://schemas.microsoft.com/office/drawing/2014/main" id="{90D28D47-92EC-4C7D-9673-48FF54DA96A7}"/>
              </a:ext>
            </a:extLst>
          </p:cNvPr>
          <p:cNvSpPr>
            <a:spLocks noGrp="1"/>
          </p:cNvSpPr>
          <p:nvPr/>
        </p:nvSpPr>
        <p:spPr>
          <a:xfrm>
            <a:off x="9534525" y="1781175"/>
            <a:ext cx="57150" cy="1943100"/>
          </a:xfrm>
          <a:prstGeom prst="rect">
            <a:avLst/>
          </a:prstGeom>
          <a:solidFill>
            <a:srgbClr val="A52F4D"/>
          </a:solidFill>
          <a:ln w="0">
            <a:noFill/>
            <a:prstDash val="solid"/>
          </a:ln>
        </p:spPr>
        <p:txBody>
          <a:bodyPr/>
          <a:lstStyle/>
          <a:p>
            <a:endParaRPr lang="en-US"/>
          </a:p>
        </p:txBody>
      </p:sp>
      <p:sp>
        <p:nvSpPr>
          <p:cNvPr id="77" name="Rectangle: Rounded Corners 76">
            <a:extLst>
              <a:ext uri="{FF2B5EF4-FFF2-40B4-BE49-F238E27FC236}">
                <a16:creationId xmlns:a16="http://schemas.microsoft.com/office/drawing/2014/main" id="{5F175E82-1A1E-47A0-8F47-621A422216F4}"/>
              </a:ext>
            </a:extLst>
          </p:cNvPr>
          <p:cNvSpPr>
            <a:spLocks noGrp="1"/>
          </p:cNvSpPr>
          <p:nvPr/>
        </p:nvSpPr>
        <p:spPr>
          <a:xfrm>
            <a:off x="9677400" y="1895475"/>
            <a:ext cx="895350" cy="219075"/>
          </a:xfrm>
          <a:prstGeom prst="roundRect">
            <a:avLst>
              <a:gd name="adj" fmla="val 50000"/>
            </a:avLst>
          </a:prstGeom>
          <a:solidFill>
            <a:srgbClr val="A52F4D"/>
          </a:solidFill>
          <a:ln w="0">
            <a:noFill/>
            <a:prstDash val="solid"/>
          </a:ln>
        </p:spPr>
        <p:txBody>
          <a:bodyPr/>
          <a:lstStyle/>
          <a:p>
            <a:endParaRPr lang="en-US"/>
          </a:p>
        </p:txBody>
      </p:sp>
      <p:sp>
        <p:nvSpPr>
          <p:cNvPr id="78" name="Rectangle 77">
            <a:extLst>
              <a:ext uri="{FF2B5EF4-FFF2-40B4-BE49-F238E27FC236}">
                <a16:creationId xmlns:a16="http://schemas.microsoft.com/office/drawing/2014/main" id="{42065CCE-8C75-4D3F-8E64-9742C42BB408}"/>
              </a:ext>
            </a:extLst>
          </p:cNvPr>
          <p:cNvSpPr>
            <a:spLocks noGrp="1"/>
          </p:cNvSpPr>
          <p:nvPr/>
        </p:nvSpPr>
        <p:spPr>
          <a:xfrm>
            <a:off x="9715500" y="1933575"/>
            <a:ext cx="819150" cy="142875"/>
          </a:xfrm>
          <a:prstGeom prst="rect">
            <a:avLst/>
          </a:prstGeom>
          <a:noFill/>
          <a:ln w="0">
            <a:noFill/>
            <a:prstDash val="solid"/>
          </a:ln>
        </p:spPr>
        <p:txBody>
          <a:bodyPr/>
          <a:lstStyle/>
          <a:p>
            <a:pPr algn="ctr">
              <a:defRPr sz="713" b="1" i="0">
                <a:solidFill>
                  <a:srgbClr val="FFFFFF"/>
                </a:solidFill>
                <a:latin typeface="Aptos"/>
                <a:ea typeface="Aptos"/>
                <a:cs typeface="Aptos"/>
              </a:defRPr>
            </a:pPr>
            <a:r>
              <a:rPr sz="713" b="1" i="0">
                <a:solidFill>
                  <a:srgbClr val="FFFFFF"/>
                </a:solidFill>
                <a:latin typeface="Aptos"/>
                <a:ea typeface="Aptos"/>
                <a:cs typeface="Aptos"/>
              </a:rPr>
              <a:t>CET1-BRIDGE</a:t>
            </a:r>
          </a:p>
        </p:txBody>
      </p:sp>
      <p:sp>
        <p:nvSpPr>
          <p:cNvPr id="79" name="Rectangle 78">
            <a:extLst>
              <a:ext uri="{FF2B5EF4-FFF2-40B4-BE49-F238E27FC236}">
                <a16:creationId xmlns:a16="http://schemas.microsoft.com/office/drawing/2014/main" id="{9147C9BF-BAC9-41D7-8F08-0EA43805731D}"/>
              </a:ext>
            </a:extLst>
          </p:cNvPr>
          <p:cNvSpPr>
            <a:spLocks noGrp="1"/>
          </p:cNvSpPr>
          <p:nvPr/>
        </p:nvSpPr>
        <p:spPr>
          <a:xfrm>
            <a:off x="9677400" y="2209800"/>
            <a:ext cx="1933575" cy="238125"/>
          </a:xfrm>
          <a:prstGeom prst="rect">
            <a:avLst/>
          </a:prstGeom>
          <a:noFill/>
          <a:ln w="0">
            <a:noFill/>
            <a:prstDash val="solid"/>
          </a:ln>
        </p:spPr>
        <p:txBody>
          <a:bodyPr/>
          <a:lstStyle/>
          <a:p>
            <a:pPr algn="l">
              <a:defRPr sz="1275" b="1" i="0">
                <a:solidFill>
                  <a:srgbClr val="FFFFFF"/>
                </a:solidFill>
                <a:latin typeface="Aptos Display"/>
                <a:ea typeface="Aptos Display"/>
                <a:cs typeface="Aptos Display"/>
              </a:defRPr>
            </a:pPr>
            <a:r>
              <a:rPr sz="1275" b="1" i="0">
                <a:solidFill>
                  <a:srgbClr val="FFFFFF"/>
                </a:solidFill>
                <a:latin typeface="Aptos Display"/>
                <a:ea typeface="Aptos Display"/>
                <a:cs typeface="Aptos Display"/>
              </a:rPr>
              <a:t>Zusammenführung</a:t>
            </a:r>
          </a:p>
        </p:txBody>
      </p:sp>
      <p:sp>
        <p:nvSpPr>
          <p:cNvPr id="80" name="Rectangle 79">
            <a:extLst>
              <a:ext uri="{FF2B5EF4-FFF2-40B4-BE49-F238E27FC236}">
                <a16:creationId xmlns:a16="http://schemas.microsoft.com/office/drawing/2014/main" id="{CD4BAC51-FB9F-47DB-8759-79F6BB899208}"/>
              </a:ext>
            </a:extLst>
          </p:cNvPr>
          <p:cNvSpPr>
            <a:spLocks noGrp="1"/>
          </p:cNvSpPr>
          <p:nvPr/>
        </p:nvSpPr>
        <p:spPr>
          <a:xfrm>
            <a:off x="9677400" y="2466975"/>
            <a:ext cx="1933575" cy="1200150"/>
          </a:xfrm>
          <a:prstGeom prst="rect">
            <a:avLst/>
          </a:prstGeom>
          <a:noFill/>
          <a:ln w="0">
            <a:noFill/>
            <a:prstDash val="solid"/>
          </a:ln>
        </p:spPr>
        <p:txBody>
          <a:bodyPr/>
          <a:lstStyle/>
          <a:p>
            <a:pPr algn="l">
              <a:defRPr sz="960" b="0" i="0">
                <a:solidFill>
                  <a:srgbClr val="E8F0F3"/>
                </a:solidFill>
                <a:latin typeface="Aptos"/>
                <a:ea typeface="Aptos"/>
                <a:cs typeface="Aptos"/>
              </a:defRPr>
            </a:pPr>
            <a:r>
              <a:rPr sz="960" b="0" i="0" err="1">
                <a:solidFill>
                  <a:srgbClr val="E8F0F3"/>
                </a:solidFill>
                <a:latin typeface="Aptos"/>
                <a:ea typeface="Aptos"/>
                <a:cs typeface="Aptos"/>
              </a:rPr>
              <a:t>Zähler</a:t>
            </a:r>
            <a:r>
              <a:rPr sz="960" b="0" i="0">
                <a:solidFill>
                  <a:srgbClr val="E8F0F3"/>
                </a:solidFill>
                <a:latin typeface="Aptos"/>
                <a:ea typeface="Aptos"/>
                <a:cs typeface="Aptos"/>
              </a:rPr>
              <a:t>:</a:t>
            </a:r>
          </a:p>
          <a:p>
            <a:pPr algn="l">
              <a:defRPr sz="960" b="0" i="0">
                <a:solidFill>
                  <a:srgbClr val="E8F0F3"/>
                </a:solidFill>
                <a:latin typeface="Aptos"/>
                <a:ea typeface="Aptos"/>
                <a:cs typeface="Aptos"/>
              </a:defRPr>
            </a:pPr>
            <a:r>
              <a:rPr sz="960" b="0" i="0">
                <a:solidFill>
                  <a:srgbClr val="E8F0F3"/>
                </a:solidFill>
                <a:latin typeface="Aptos"/>
                <a:ea typeface="Aptos"/>
                <a:cs typeface="Aptos"/>
              </a:rPr>
              <a:t>CET1 − </a:t>
            </a:r>
            <a:r>
              <a:rPr sz="960" b="0" i="0" err="1">
                <a:solidFill>
                  <a:srgbClr val="E8F0F3"/>
                </a:solidFill>
                <a:latin typeface="Aptos"/>
                <a:ea typeface="Aptos"/>
                <a:cs typeface="Aptos"/>
              </a:rPr>
              <a:t>Kreditvorsorge</a:t>
            </a:r>
            <a:r>
              <a:rPr lang="de-DE" sz="960" b="0" i="0">
                <a:solidFill>
                  <a:srgbClr val="E8F0F3"/>
                </a:solidFill>
                <a:latin typeface="Aptos"/>
                <a:ea typeface="Aptos"/>
                <a:cs typeface="Aptos"/>
              </a:rPr>
              <a:t> (Kanal 1)</a:t>
            </a:r>
            <a:endParaRPr sz="960" b="0" i="0">
              <a:solidFill>
                <a:srgbClr val="E8F0F3"/>
              </a:solidFill>
              <a:latin typeface="Aptos"/>
              <a:ea typeface="Aptos"/>
              <a:cs typeface="Aptos"/>
            </a:endParaRPr>
          </a:p>
          <a:p>
            <a:pPr algn="l">
              <a:defRPr sz="960" b="0" i="0">
                <a:solidFill>
                  <a:srgbClr val="E8F0F3"/>
                </a:solidFill>
                <a:latin typeface="Aptos"/>
                <a:ea typeface="Aptos"/>
                <a:cs typeface="Aptos"/>
              </a:defRPr>
            </a:pPr>
            <a:r>
              <a:rPr sz="960" b="0" i="0">
                <a:solidFill>
                  <a:srgbClr val="E8F0F3"/>
                </a:solidFill>
                <a:latin typeface="Aptos"/>
                <a:ea typeface="Aptos"/>
                <a:cs typeface="Aptos"/>
              </a:rPr>
              <a:t>− </a:t>
            </a:r>
            <a:r>
              <a:rPr lang="de-DE" sz="960">
                <a:solidFill>
                  <a:srgbClr val="E8F0F3"/>
                </a:solidFill>
                <a:latin typeface="Aptos"/>
                <a:ea typeface="Aptos"/>
                <a:cs typeface="Aptos"/>
              </a:rPr>
              <a:t>Marktwert-Verlust Sovereigns (Kanal 2)</a:t>
            </a:r>
            <a:endParaRPr sz="960" b="0" i="0">
              <a:solidFill>
                <a:srgbClr val="E8F0F3"/>
              </a:solidFill>
              <a:latin typeface="Aptos"/>
              <a:ea typeface="Aptos"/>
              <a:cs typeface="Aptos"/>
            </a:endParaRPr>
          </a:p>
          <a:p>
            <a:endParaRPr sz="960" b="0" i="0">
              <a:solidFill>
                <a:srgbClr val="E8F0F3"/>
              </a:solidFill>
              <a:latin typeface="Aptos"/>
              <a:ea typeface="Aptos"/>
              <a:cs typeface="Aptos"/>
            </a:endParaRPr>
          </a:p>
          <a:p>
            <a:pPr algn="l">
              <a:defRPr sz="960" b="0" i="0">
                <a:solidFill>
                  <a:srgbClr val="E8F0F3"/>
                </a:solidFill>
                <a:latin typeface="Aptos"/>
                <a:ea typeface="Aptos"/>
                <a:cs typeface="Aptos"/>
              </a:defRPr>
            </a:pPr>
            <a:r>
              <a:rPr sz="960" b="0" i="0" err="1">
                <a:solidFill>
                  <a:srgbClr val="E8F0F3"/>
                </a:solidFill>
                <a:latin typeface="Aptos"/>
                <a:ea typeface="Aptos"/>
                <a:cs typeface="Aptos"/>
              </a:rPr>
              <a:t>Nenner</a:t>
            </a:r>
            <a:r>
              <a:rPr sz="960" b="0" i="0">
                <a:solidFill>
                  <a:srgbClr val="E8F0F3"/>
                </a:solidFill>
                <a:latin typeface="Aptos"/>
                <a:ea typeface="Aptos"/>
                <a:cs typeface="Aptos"/>
              </a:rPr>
              <a:t>:</a:t>
            </a:r>
          </a:p>
          <a:p>
            <a:pPr algn="l">
              <a:defRPr sz="960" b="0" i="0">
                <a:solidFill>
                  <a:srgbClr val="E8F0F3"/>
                </a:solidFill>
                <a:latin typeface="Aptos"/>
                <a:ea typeface="Aptos"/>
                <a:cs typeface="Aptos"/>
              </a:defRPr>
            </a:pPr>
            <a:r>
              <a:rPr sz="960" b="0" i="0">
                <a:solidFill>
                  <a:srgbClr val="E8F0F3"/>
                </a:solidFill>
                <a:latin typeface="Aptos"/>
                <a:ea typeface="Aptos"/>
                <a:cs typeface="Aptos"/>
              </a:rPr>
              <a:t>RWA + </a:t>
            </a:r>
            <a:r>
              <a:rPr sz="960" b="0" i="0" err="1">
                <a:solidFill>
                  <a:srgbClr val="E8F0F3"/>
                </a:solidFill>
                <a:latin typeface="Aptos"/>
                <a:ea typeface="Aptos"/>
                <a:cs typeface="Aptos"/>
              </a:rPr>
              <a:t>zusätzliche</a:t>
            </a:r>
            <a:r>
              <a:rPr sz="960" b="0" i="0">
                <a:solidFill>
                  <a:srgbClr val="E8F0F3"/>
                </a:solidFill>
                <a:latin typeface="Aptos"/>
                <a:ea typeface="Aptos"/>
                <a:cs typeface="Aptos"/>
              </a:rPr>
              <a:t> </a:t>
            </a:r>
            <a:r>
              <a:rPr sz="960" b="0" i="0" err="1">
                <a:solidFill>
                  <a:srgbClr val="E8F0F3"/>
                </a:solidFill>
                <a:latin typeface="Aptos"/>
                <a:ea typeface="Aptos"/>
                <a:cs typeface="Aptos"/>
              </a:rPr>
              <a:t>Kredit</a:t>
            </a:r>
            <a:r>
              <a:rPr sz="960" b="0" i="0">
                <a:solidFill>
                  <a:srgbClr val="E8F0F3"/>
                </a:solidFill>
                <a:latin typeface="Aptos"/>
                <a:ea typeface="Aptos"/>
                <a:cs typeface="Aptos"/>
              </a:rPr>
              <a:t>-RWA</a:t>
            </a:r>
            <a:r>
              <a:rPr lang="de-DE" sz="960" b="0" i="0">
                <a:solidFill>
                  <a:srgbClr val="E8F0F3"/>
                </a:solidFill>
                <a:latin typeface="Aptos"/>
                <a:ea typeface="Aptos"/>
                <a:cs typeface="Aptos"/>
              </a:rPr>
              <a:t> (Kanal 1 )</a:t>
            </a:r>
            <a:endParaRPr sz="960" b="0" i="0">
              <a:solidFill>
                <a:srgbClr val="E8F0F3"/>
              </a:solidFill>
              <a:latin typeface="Aptos"/>
              <a:ea typeface="Aptos"/>
              <a:cs typeface="Aptos"/>
            </a:endParaRPr>
          </a:p>
        </p:txBody>
      </p:sp>
      <p:sp>
        <p:nvSpPr>
          <p:cNvPr id="81" name="Rectangle: Rounded Corners 80">
            <a:extLst>
              <a:ext uri="{FF2B5EF4-FFF2-40B4-BE49-F238E27FC236}">
                <a16:creationId xmlns:a16="http://schemas.microsoft.com/office/drawing/2014/main" id="{326A3D03-E66B-4C3B-A698-77D8B851B69B}"/>
              </a:ext>
            </a:extLst>
          </p:cNvPr>
          <p:cNvSpPr>
            <a:spLocks noGrp="1"/>
          </p:cNvSpPr>
          <p:nvPr/>
        </p:nvSpPr>
        <p:spPr>
          <a:xfrm>
            <a:off x="9534525" y="3876675"/>
            <a:ext cx="2200275" cy="1438274"/>
          </a:xfrm>
          <a:prstGeom prst="roundRect">
            <a:avLst>
              <a:gd name="adj" fmla="val 9375"/>
            </a:avLst>
          </a:prstGeom>
          <a:solidFill>
            <a:srgbClr val="FFFFFF"/>
          </a:solidFill>
          <a:ln w="9525">
            <a:solidFill>
              <a:srgbClr val="D5E0E5"/>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82" name="Rectangle 81">
            <a:extLst>
              <a:ext uri="{FF2B5EF4-FFF2-40B4-BE49-F238E27FC236}">
                <a16:creationId xmlns:a16="http://schemas.microsoft.com/office/drawing/2014/main" id="{C55A629D-6624-4838-80C1-7E307C1D796F}"/>
              </a:ext>
            </a:extLst>
          </p:cNvPr>
          <p:cNvSpPr>
            <a:spLocks noGrp="1"/>
          </p:cNvSpPr>
          <p:nvPr/>
        </p:nvSpPr>
        <p:spPr>
          <a:xfrm>
            <a:off x="9534525" y="3876674"/>
            <a:ext cx="47625" cy="1365885"/>
          </a:xfrm>
          <a:prstGeom prst="rect">
            <a:avLst/>
          </a:prstGeom>
          <a:solidFill>
            <a:srgbClr val="051C2C"/>
          </a:solidFill>
          <a:ln w="0">
            <a:noFill/>
            <a:prstDash val="solid"/>
          </a:ln>
        </p:spPr>
        <p:txBody>
          <a:bodyPr/>
          <a:lstStyle/>
          <a:p>
            <a:endParaRPr lang="en-US"/>
          </a:p>
        </p:txBody>
      </p:sp>
      <p:sp>
        <p:nvSpPr>
          <p:cNvPr id="83" name="Rectangle: Rounded Corners 82">
            <a:extLst>
              <a:ext uri="{FF2B5EF4-FFF2-40B4-BE49-F238E27FC236}">
                <a16:creationId xmlns:a16="http://schemas.microsoft.com/office/drawing/2014/main" id="{FA7A4D74-0608-4999-A94C-538EFEE3C3C6}"/>
              </a:ext>
            </a:extLst>
          </p:cNvPr>
          <p:cNvSpPr>
            <a:spLocks noGrp="1"/>
          </p:cNvSpPr>
          <p:nvPr/>
        </p:nvSpPr>
        <p:spPr>
          <a:xfrm>
            <a:off x="9677400" y="3990975"/>
            <a:ext cx="552450" cy="219075"/>
          </a:xfrm>
          <a:prstGeom prst="roundRect">
            <a:avLst>
              <a:gd name="adj" fmla="val 50000"/>
            </a:avLst>
          </a:prstGeom>
          <a:solidFill>
            <a:srgbClr val="051C2C"/>
          </a:solidFill>
          <a:ln w="0">
            <a:noFill/>
            <a:prstDash val="solid"/>
          </a:ln>
        </p:spPr>
        <p:txBody>
          <a:bodyPr/>
          <a:lstStyle/>
          <a:p>
            <a:endParaRPr lang="en-US"/>
          </a:p>
        </p:txBody>
      </p:sp>
      <p:sp>
        <p:nvSpPr>
          <p:cNvPr id="84" name="Rectangle 83">
            <a:extLst>
              <a:ext uri="{FF2B5EF4-FFF2-40B4-BE49-F238E27FC236}">
                <a16:creationId xmlns:a16="http://schemas.microsoft.com/office/drawing/2014/main" id="{6DE66E2C-E7F9-4D96-AD0C-97FE65D296BF}"/>
              </a:ext>
            </a:extLst>
          </p:cNvPr>
          <p:cNvSpPr>
            <a:spLocks noGrp="1"/>
          </p:cNvSpPr>
          <p:nvPr/>
        </p:nvSpPr>
        <p:spPr>
          <a:xfrm>
            <a:off x="9715500" y="4029075"/>
            <a:ext cx="476250" cy="142875"/>
          </a:xfrm>
          <a:prstGeom prst="rect">
            <a:avLst/>
          </a:prstGeom>
          <a:noFill/>
          <a:ln w="0">
            <a:noFill/>
            <a:prstDash val="solid"/>
          </a:ln>
        </p:spPr>
        <p:txBody>
          <a:bodyPr/>
          <a:lstStyle/>
          <a:p>
            <a:pPr algn="ctr">
              <a:defRPr sz="713" b="1" i="0">
                <a:solidFill>
                  <a:srgbClr val="FFFFFF"/>
                </a:solidFill>
                <a:latin typeface="Aptos"/>
                <a:ea typeface="Aptos"/>
                <a:cs typeface="Aptos"/>
              </a:defRPr>
            </a:pPr>
            <a:r>
              <a:rPr sz="713" b="1" i="0">
                <a:solidFill>
                  <a:srgbClr val="FFFFFF"/>
                </a:solidFill>
                <a:latin typeface="Aptos"/>
                <a:ea typeface="Aptos"/>
                <a:cs typeface="Aptos"/>
              </a:rPr>
              <a:t>OUTPUT</a:t>
            </a:r>
          </a:p>
        </p:txBody>
      </p:sp>
      <p:sp>
        <p:nvSpPr>
          <p:cNvPr id="85" name="Rectangle 84">
            <a:extLst>
              <a:ext uri="{FF2B5EF4-FFF2-40B4-BE49-F238E27FC236}">
                <a16:creationId xmlns:a16="http://schemas.microsoft.com/office/drawing/2014/main" id="{A29FF45D-F418-4137-B291-6F62748A64F7}"/>
              </a:ext>
            </a:extLst>
          </p:cNvPr>
          <p:cNvSpPr>
            <a:spLocks noGrp="1"/>
          </p:cNvSpPr>
          <p:nvPr/>
        </p:nvSpPr>
        <p:spPr>
          <a:xfrm>
            <a:off x="9677400" y="4305300"/>
            <a:ext cx="1933575" cy="238125"/>
          </a:xfrm>
          <a:prstGeom prst="rect">
            <a:avLst/>
          </a:prstGeom>
          <a:noFill/>
          <a:ln w="0">
            <a:noFill/>
            <a:prstDash val="solid"/>
          </a:ln>
        </p:spPr>
        <p:txBody>
          <a:bodyPr/>
          <a:lstStyle/>
          <a:p>
            <a:pPr algn="l">
              <a:defRPr sz="1275" b="1" i="0">
                <a:solidFill>
                  <a:srgbClr val="051C2C"/>
                </a:solidFill>
                <a:latin typeface="Aptos Display"/>
                <a:ea typeface="Aptos Display"/>
                <a:cs typeface="Aptos Display"/>
              </a:defRPr>
            </a:pPr>
            <a:r>
              <a:rPr sz="1275" b="1" i="0">
                <a:solidFill>
                  <a:srgbClr val="051C2C"/>
                </a:solidFill>
                <a:latin typeface="Aptos Display"/>
                <a:ea typeface="Aptos Display"/>
                <a:cs typeface="Aptos Display"/>
              </a:rPr>
              <a:t>Gestresste CET1-Quote</a:t>
            </a:r>
          </a:p>
        </p:txBody>
      </p:sp>
      <p:sp>
        <p:nvSpPr>
          <p:cNvPr id="86" name="Rectangle 85">
            <a:extLst>
              <a:ext uri="{FF2B5EF4-FFF2-40B4-BE49-F238E27FC236}">
                <a16:creationId xmlns:a16="http://schemas.microsoft.com/office/drawing/2014/main" id="{37D74F9F-4554-4E97-AEC4-B44E91035DFE}"/>
              </a:ext>
            </a:extLst>
          </p:cNvPr>
          <p:cNvSpPr>
            <a:spLocks noGrp="1"/>
          </p:cNvSpPr>
          <p:nvPr/>
        </p:nvSpPr>
        <p:spPr>
          <a:xfrm>
            <a:off x="9677400" y="4562475"/>
            <a:ext cx="2200275" cy="476250"/>
          </a:xfrm>
          <a:prstGeom prst="rect">
            <a:avLst/>
          </a:prstGeom>
          <a:noFill/>
          <a:ln w="0">
            <a:noFill/>
            <a:prstDash val="solid"/>
          </a:ln>
        </p:spPr>
        <p:txBody>
          <a:bodyPr/>
          <a:lstStyle/>
          <a:p>
            <a:pPr algn="l">
              <a:defRPr sz="938" b="0" i="0">
                <a:solidFill>
                  <a:srgbClr val="4F6875"/>
                </a:solidFill>
                <a:latin typeface="Aptos"/>
                <a:ea typeface="Aptos"/>
                <a:cs typeface="Aptos"/>
              </a:defRPr>
            </a:pPr>
            <a:r>
              <a:rPr sz="938" b="0" i="0">
                <a:solidFill>
                  <a:srgbClr val="4F6875"/>
                </a:solidFill>
                <a:latin typeface="Aptos"/>
                <a:ea typeface="Aptos"/>
                <a:cs typeface="Aptos"/>
              </a:rPr>
              <a:t>Bankenvergleich</a:t>
            </a:r>
            <a:r>
              <a:rPr lang="de-DE" sz="938" b="0" i="0">
                <a:solidFill>
                  <a:srgbClr val="4F6875"/>
                </a:solidFill>
                <a:latin typeface="Aptos"/>
                <a:ea typeface="Aptos"/>
                <a:cs typeface="Aptos"/>
              </a:rPr>
              <a:t> (Schwellenwerte)</a:t>
            </a:r>
            <a:endParaRPr sz="938" b="0" i="0">
              <a:solidFill>
                <a:srgbClr val="4F6875"/>
              </a:solidFill>
              <a:latin typeface="Aptos"/>
              <a:ea typeface="Aptos"/>
              <a:cs typeface="Aptos"/>
            </a:endParaRPr>
          </a:p>
          <a:p>
            <a:pPr algn="l">
              <a:defRPr sz="938" b="0" i="0">
                <a:solidFill>
                  <a:srgbClr val="4F6875"/>
                </a:solidFill>
                <a:latin typeface="Aptos"/>
                <a:ea typeface="Aptos"/>
                <a:cs typeface="Aptos"/>
              </a:defRPr>
            </a:pPr>
            <a:r>
              <a:rPr lang="de-DE" sz="938" b="0" i="0">
                <a:solidFill>
                  <a:srgbClr val="4F6875"/>
                </a:solidFill>
                <a:latin typeface="Aptos"/>
                <a:ea typeface="Aptos"/>
                <a:cs typeface="Aptos"/>
              </a:rPr>
              <a:t>. </a:t>
            </a:r>
            <a:r>
              <a:rPr sz="938" b="0" i="0">
                <a:solidFill>
                  <a:schemeClr val="accent1"/>
                </a:solidFill>
                <a:latin typeface="Aptos"/>
                <a:ea typeface="Aptos"/>
                <a:cs typeface="Aptos"/>
              </a:rPr>
              <a:t>4,5 %</a:t>
            </a:r>
            <a:r>
              <a:rPr lang="de-DE" sz="938" b="0" i="0">
                <a:solidFill>
                  <a:schemeClr val="accent1"/>
                </a:solidFill>
                <a:latin typeface="Aptos"/>
                <a:ea typeface="Aptos"/>
                <a:cs typeface="Aptos"/>
              </a:rPr>
              <a:t> </a:t>
            </a:r>
            <a:r>
              <a:rPr lang="de-DE" sz="938" b="0" i="0">
                <a:solidFill>
                  <a:srgbClr val="4F6875"/>
                </a:solidFill>
                <a:latin typeface="Aptos"/>
                <a:ea typeface="Aptos"/>
                <a:cs typeface="Aptos"/>
              </a:rPr>
              <a:t>(</a:t>
            </a:r>
            <a:r>
              <a:rPr lang="de-DE" sz="938">
                <a:solidFill>
                  <a:srgbClr val="4F6875"/>
                </a:solidFill>
                <a:latin typeface="Aptos"/>
                <a:ea typeface="Aptos"/>
                <a:cs typeface="Aptos"/>
              </a:rPr>
              <a:t>P</a:t>
            </a:r>
            <a:r>
              <a:rPr lang="de-DE" sz="938" b="0" i="0">
                <a:solidFill>
                  <a:srgbClr val="4F6875"/>
                </a:solidFill>
                <a:latin typeface="Aptos"/>
                <a:ea typeface="Aptos"/>
                <a:cs typeface="Aptos"/>
              </a:rPr>
              <a:t>illar 1)</a:t>
            </a:r>
          </a:p>
          <a:p>
            <a:pPr algn="l">
              <a:defRPr sz="938" b="0" i="0">
                <a:solidFill>
                  <a:srgbClr val="4F6875"/>
                </a:solidFill>
                <a:latin typeface="Aptos"/>
                <a:ea typeface="Aptos"/>
                <a:cs typeface="Aptos"/>
              </a:defRPr>
            </a:pPr>
            <a:r>
              <a:rPr sz="938" b="0" i="0">
                <a:solidFill>
                  <a:srgbClr val="4F6875"/>
                </a:solidFill>
                <a:latin typeface="Aptos"/>
                <a:ea typeface="Aptos"/>
                <a:cs typeface="Aptos"/>
              </a:rPr>
              <a:t>· </a:t>
            </a:r>
            <a:r>
              <a:rPr sz="938" b="0" i="0">
                <a:solidFill>
                  <a:schemeClr val="accent1"/>
                </a:solidFill>
                <a:latin typeface="Aptos"/>
                <a:ea typeface="Aptos"/>
                <a:cs typeface="Aptos"/>
              </a:rPr>
              <a:t>7,0 % </a:t>
            </a:r>
            <a:r>
              <a:rPr lang="de-DE" sz="938" b="0" i="0">
                <a:solidFill>
                  <a:schemeClr val="accent1"/>
                </a:solidFill>
                <a:latin typeface="Aptos"/>
                <a:ea typeface="Aptos"/>
                <a:cs typeface="Aptos"/>
              </a:rPr>
              <a:t> </a:t>
            </a:r>
            <a:r>
              <a:rPr lang="de-DE" sz="938" b="0" i="0">
                <a:solidFill>
                  <a:srgbClr val="4F6875"/>
                </a:solidFill>
                <a:latin typeface="Aptos"/>
                <a:ea typeface="Aptos"/>
                <a:cs typeface="Aptos"/>
              </a:rPr>
              <a:t>(inkl. Kapitalerhaltungspuffer)</a:t>
            </a:r>
            <a:r>
              <a:rPr sz="938" b="0" i="0">
                <a:solidFill>
                  <a:srgbClr val="4F6875"/>
                </a:solidFill>
                <a:latin typeface="Aptos"/>
                <a:ea typeface="Aptos"/>
                <a:cs typeface="Aptos"/>
              </a:rPr>
              <a:t> </a:t>
            </a:r>
            <a:endParaRPr lang="de-DE" sz="938" b="0" i="0">
              <a:solidFill>
                <a:srgbClr val="4F6875"/>
              </a:solidFill>
              <a:latin typeface="Aptos"/>
              <a:ea typeface="Aptos"/>
              <a:cs typeface="Aptos"/>
            </a:endParaRPr>
          </a:p>
          <a:p>
            <a:pPr algn="l">
              <a:defRPr sz="938" b="0" i="0">
                <a:solidFill>
                  <a:srgbClr val="4F6875"/>
                </a:solidFill>
                <a:latin typeface="Aptos"/>
                <a:ea typeface="Aptos"/>
                <a:cs typeface="Aptos"/>
              </a:defRPr>
            </a:pPr>
            <a:r>
              <a:rPr lang="de-DE" sz="938" b="0" i="0">
                <a:solidFill>
                  <a:srgbClr val="4F6875"/>
                </a:solidFill>
                <a:latin typeface="Aptos"/>
                <a:ea typeface="Aptos"/>
                <a:cs typeface="Aptos"/>
              </a:rPr>
              <a:t>. </a:t>
            </a:r>
            <a:r>
              <a:rPr sz="938" b="0" i="0">
                <a:solidFill>
                  <a:schemeClr val="accent1"/>
                </a:solidFill>
                <a:latin typeface="Aptos"/>
                <a:ea typeface="Aptos"/>
                <a:cs typeface="Aptos"/>
              </a:rPr>
              <a:t>8,0 % </a:t>
            </a:r>
            <a:r>
              <a:rPr sz="938" b="0" i="0">
                <a:solidFill>
                  <a:srgbClr val="4F6875"/>
                </a:solidFill>
                <a:latin typeface="Aptos"/>
                <a:ea typeface="Aptos"/>
                <a:cs typeface="Aptos"/>
              </a:rPr>
              <a:t>S</a:t>
            </a:r>
            <a:r>
              <a:rPr lang="de-DE" sz="938" b="0" i="0">
                <a:solidFill>
                  <a:srgbClr val="4F6875"/>
                </a:solidFill>
                <a:latin typeface="Aptos"/>
                <a:ea typeface="Aptos"/>
                <a:cs typeface="Aptos"/>
              </a:rPr>
              <a:t>REP-Schwelle</a:t>
            </a:r>
            <a:endParaRPr sz="938" b="0" i="0">
              <a:solidFill>
                <a:srgbClr val="4F6875"/>
              </a:solidFill>
              <a:latin typeface="Aptos"/>
              <a:ea typeface="Aptos"/>
              <a:cs typeface="Aptos"/>
            </a:endParaRPr>
          </a:p>
        </p:txBody>
      </p:sp>
      <p:sp>
        <p:nvSpPr>
          <p:cNvPr id="87" name="Rectangle: Rounded Corners 86">
            <a:extLst>
              <a:ext uri="{FF2B5EF4-FFF2-40B4-BE49-F238E27FC236}">
                <a16:creationId xmlns:a16="http://schemas.microsoft.com/office/drawing/2014/main" id="{E3169678-02EB-4C6B-9F9F-F5595E725CC5}"/>
              </a:ext>
            </a:extLst>
          </p:cNvPr>
          <p:cNvSpPr>
            <a:spLocks noGrp="1"/>
          </p:cNvSpPr>
          <p:nvPr/>
        </p:nvSpPr>
        <p:spPr>
          <a:xfrm>
            <a:off x="457200" y="5362575"/>
            <a:ext cx="11277600" cy="990600"/>
          </a:xfrm>
          <a:prstGeom prst="roundRect">
            <a:avLst>
              <a:gd name="adj" fmla="val 11538"/>
            </a:avLst>
          </a:prstGeom>
          <a:solidFill>
            <a:srgbClr val="FFFFFF"/>
          </a:solidFill>
          <a:ln w="9525">
            <a:solidFill>
              <a:srgbClr val="D5E0E5"/>
            </a:solidFill>
            <a:prstDash val="solid"/>
          </a:ln>
        </p:spPr>
        <p:txBody>
          <a:bodyPr/>
          <a:lstStyle/>
          <a:p>
            <a:endParaRPr lang="en-US"/>
          </a:p>
        </p:txBody>
      </p:sp>
      <p:sp>
        <p:nvSpPr>
          <p:cNvPr id="88" name="Rectangle 87">
            <a:extLst>
              <a:ext uri="{FF2B5EF4-FFF2-40B4-BE49-F238E27FC236}">
                <a16:creationId xmlns:a16="http://schemas.microsoft.com/office/drawing/2014/main" id="{5F51E386-5CF3-46D2-B178-4EF9484BFCE3}"/>
              </a:ext>
            </a:extLst>
          </p:cNvPr>
          <p:cNvSpPr>
            <a:spLocks noGrp="1"/>
          </p:cNvSpPr>
          <p:nvPr/>
        </p:nvSpPr>
        <p:spPr>
          <a:xfrm>
            <a:off x="619125" y="5514975"/>
            <a:ext cx="1666875" cy="161925"/>
          </a:xfrm>
          <a:prstGeom prst="rect">
            <a:avLst/>
          </a:prstGeom>
          <a:noFill/>
          <a:ln w="0">
            <a:noFill/>
            <a:prstDash val="solid"/>
          </a:ln>
        </p:spPr>
        <p:txBody>
          <a:bodyPr/>
          <a:lstStyle/>
          <a:p>
            <a:pPr algn="l">
              <a:defRPr sz="788" b="1" i="0">
                <a:solidFill>
                  <a:srgbClr val="A52F4D"/>
                </a:solidFill>
                <a:latin typeface="Aptos"/>
                <a:ea typeface="Aptos"/>
                <a:cs typeface="Aptos"/>
              </a:defRPr>
            </a:pPr>
            <a:r>
              <a:rPr sz="788" b="1" i="0">
                <a:solidFill>
                  <a:srgbClr val="A52F4D"/>
                </a:solidFill>
                <a:latin typeface="Aptos"/>
                <a:ea typeface="Aptos"/>
                <a:cs typeface="Aptos"/>
              </a:rPr>
              <a:t>COCKPIT-REIHENFOLGE</a:t>
            </a:r>
          </a:p>
        </p:txBody>
      </p:sp>
      <p:sp>
        <p:nvSpPr>
          <p:cNvPr id="89" name="Rectangle: Rounded Corners 88">
            <a:extLst>
              <a:ext uri="{FF2B5EF4-FFF2-40B4-BE49-F238E27FC236}">
                <a16:creationId xmlns:a16="http://schemas.microsoft.com/office/drawing/2014/main" id="{0F0CDB37-7AC4-477F-8C7C-D6E1A01ADC81}"/>
              </a:ext>
            </a:extLst>
          </p:cNvPr>
          <p:cNvSpPr>
            <a:spLocks noGrp="1"/>
          </p:cNvSpPr>
          <p:nvPr/>
        </p:nvSpPr>
        <p:spPr>
          <a:xfrm>
            <a:off x="619125" y="5781675"/>
            <a:ext cx="1762125" cy="219075"/>
          </a:xfrm>
          <a:prstGeom prst="roundRect">
            <a:avLst>
              <a:gd name="adj" fmla="val 50000"/>
            </a:avLst>
          </a:prstGeom>
          <a:solidFill>
            <a:srgbClr val="0B5D7A"/>
          </a:solidFill>
          <a:ln w="0">
            <a:noFill/>
            <a:prstDash val="solid"/>
          </a:ln>
        </p:spPr>
        <p:txBody>
          <a:bodyPr/>
          <a:lstStyle/>
          <a:p>
            <a:endParaRPr lang="en-US"/>
          </a:p>
        </p:txBody>
      </p:sp>
      <p:sp>
        <p:nvSpPr>
          <p:cNvPr id="90" name="Rectangle 89">
            <a:extLst>
              <a:ext uri="{FF2B5EF4-FFF2-40B4-BE49-F238E27FC236}">
                <a16:creationId xmlns:a16="http://schemas.microsoft.com/office/drawing/2014/main" id="{212175AE-C22D-4B89-A8B0-F595B505427A}"/>
              </a:ext>
            </a:extLst>
          </p:cNvPr>
          <p:cNvSpPr>
            <a:spLocks noGrp="1"/>
          </p:cNvSpPr>
          <p:nvPr/>
        </p:nvSpPr>
        <p:spPr>
          <a:xfrm>
            <a:off x="657225" y="5819775"/>
            <a:ext cx="1685925" cy="142875"/>
          </a:xfrm>
          <a:prstGeom prst="rect">
            <a:avLst/>
          </a:prstGeom>
          <a:noFill/>
          <a:ln w="0">
            <a:noFill/>
            <a:prstDash val="solid"/>
          </a:ln>
        </p:spPr>
        <p:txBody>
          <a:bodyPr/>
          <a:lstStyle/>
          <a:p>
            <a:pPr algn="ctr">
              <a:defRPr sz="713" b="1" i="0">
                <a:solidFill>
                  <a:srgbClr val="FFFFFF"/>
                </a:solidFill>
                <a:latin typeface="Aptos"/>
                <a:ea typeface="Aptos"/>
                <a:cs typeface="Aptos"/>
              </a:defRPr>
            </a:pPr>
            <a:r>
              <a:rPr sz="713" b="1" i="0">
                <a:solidFill>
                  <a:srgbClr val="FFFFFF"/>
                </a:solidFill>
                <a:latin typeface="Aptos"/>
                <a:ea typeface="Aptos"/>
                <a:cs typeface="Aptos"/>
              </a:rPr>
              <a:t>1 · Faktor-Analyse</a:t>
            </a:r>
          </a:p>
        </p:txBody>
      </p:sp>
      <p:sp>
        <p:nvSpPr>
          <p:cNvPr id="91" name="Rectangle 90">
            <a:extLst>
              <a:ext uri="{FF2B5EF4-FFF2-40B4-BE49-F238E27FC236}">
                <a16:creationId xmlns:a16="http://schemas.microsoft.com/office/drawing/2014/main" id="{3058C187-AF84-4265-A655-7B25677B0AC7}"/>
              </a:ext>
            </a:extLst>
          </p:cNvPr>
          <p:cNvSpPr>
            <a:spLocks noGrp="1"/>
          </p:cNvSpPr>
          <p:nvPr/>
        </p:nvSpPr>
        <p:spPr>
          <a:xfrm>
            <a:off x="619125" y="6076950"/>
            <a:ext cx="1762125" cy="161925"/>
          </a:xfrm>
          <a:prstGeom prst="rect">
            <a:avLst/>
          </a:prstGeom>
          <a:noFill/>
          <a:ln w="0">
            <a:noFill/>
            <a:prstDash val="solid"/>
          </a:ln>
        </p:spPr>
        <p:txBody>
          <a:bodyPr/>
          <a:lstStyle/>
          <a:p>
            <a:pPr algn="ctr">
              <a:defRPr sz="788" b="1" i="0">
                <a:solidFill>
                  <a:srgbClr val="4F6875"/>
                </a:solidFill>
                <a:latin typeface="Aptos"/>
                <a:ea typeface="Aptos"/>
                <a:cs typeface="Aptos"/>
              </a:defRPr>
            </a:pPr>
            <a:r>
              <a:rPr sz="788" b="1" i="0">
                <a:solidFill>
                  <a:srgbClr val="4F6875"/>
                </a:solidFill>
                <a:latin typeface="Aptos"/>
                <a:ea typeface="Aptos"/>
                <a:cs typeface="Aptos"/>
              </a:rPr>
              <a:t>Korrelation &amp; Transmission</a:t>
            </a:r>
          </a:p>
        </p:txBody>
      </p:sp>
      <p:sp>
        <p:nvSpPr>
          <p:cNvPr id="92" name="Rectangle 91">
            <a:extLst>
              <a:ext uri="{FF2B5EF4-FFF2-40B4-BE49-F238E27FC236}">
                <a16:creationId xmlns:a16="http://schemas.microsoft.com/office/drawing/2014/main" id="{4E68B72B-F371-46BD-991D-2A2ED004E807}"/>
              </a:ext>
            </a:extLst>
          </p:cNvPr>
          <p:cNvSpPr>
            <a:spLocks noGrp="1"/>
          </p:cNvSpPr>
          <p:nvPr/>
        </p:nvSpPr>
        <p:spPr>
          <a:xfrm>
            <a:off x="2438400" y="5772150"/>
            <a:ext cx="333375" cy="304800"/>
          </a:xfrm>
          <a:prstGeom prst="rect">
            <a:avLst/>
          </a:prstGeom>
          <a:noFill/>
          <a:ln w="0">
            <a:noFill/>
            <a:prstDash val="solid"/>
          </a:ln>
        </p:spPr>
        <p:txBody>
          <a:bodyPr/>
          <a:lstStyle/>
          <a:p>
            <a:pPr algn="ctr">
              <a:defRPr sz="2025" b="1" i="0">
                <a:solidFill>
                  <a:srgbClr val="71858F"/>
                </a:solidFill>
                <a:latin typeface="Aptos"/>
                <a:ea typeface="Aptos"/>
                <a:cs typeface="Aptos"/>
              </a:defRPr>
            </a:pPr>
            <a:r>
              <a:rPr sz="2025" b="1" i="0">
                <a:solidFill>
                  <a:srgbClr val="71858F"/>
                </a:solidFill>
                <a:latin typeface="Aptos"/>
                <a:ea typeface="Aptos"/>
                <a:cs typeface="Aptos"/>
              </a:rPr>
              <a:t>→</a:t>
            </a:r>
          </a:p>
        </p:txBody>
      </p:sp>
      <p:sp>
        <p:nvSpPr>
          <p:cNvPr id="93" name="Rectangle: Rounded Corners 92">
            <a:extLst>
              <a:ext uri="{FF2B5EF4-FFF2-40B4-BE49-F238E27FC236}">
                <a16:creationId xmlns:a16="http://schemas.microsoft.com/office/drawing/2014/main" id="{4482117E-E15D-4361-9B51-0E8A95630764}"/>
              </a:ext>
            </a:extLst>
          </p:cNvPr>
          <p:cNvSpPr>
            <a:spLocks noGrp="1"/>
          </p:cNvSpPr>
          <p:nvPr/>
        </p:nvSpPr>
        <p:spPr>
          <a:xfrm>
            <a:off x="2857500" y="5781675"/>
            <a:ext cx="1762125" cy="219075"/>
          </a:xfrm>
          <a:prstGeom prst="roundRect">
            <a:avLst>
              <a:gd name="adj" fmla="val 50000"/>
            </a:avLst>
          </a:prstGeom>
          <a:solidFill>
            <a:srgbClr val="A52F4D"/>
          </a:solidFill>
          <a:ln w="0">
            <a:noFill/>
            <a:prstDash val="solid"/>
          </a:ln>
        </p:spPr>
        <p:txBody>
          <a:bodyPr/>
          <a:lstStyle/>
          <a:p>
            <a:endParaRPr lang="en-US"/>
          </a:p>
        </p:txBody>
      </p:sp>
      <p:sp>
        <p:nvSpPr>
          <p:cNvPr id="94" name="Rectangle 93">
            <a:extLst>
              <a:ext uri="{FF2B5EF4-FFF2-40B4-BE49-F238E27FC236}">
                <a16:creationId xmlns:a16="http://schemas.microsoft.com/office/drawing/2014/main" id="{AC7DF31C-3FCD-4623-ABAB-240B51F4E3E2}"/>
              </a:ext>
            </a:extLst>
          </p:cNvPr>
          <p:cNvSpPr>
            <a:spLocks noGrp="1"/>
          </p:cNvSpPr>
          <p:nvPr/>
        </p:nvSpPr>
        <p:spPr>
          <a:xfrm>
            <a:off x="2895600" y="5819775"/>
            <a:ext cx="1685925" cy="142875"/>
          </a:xfrm>
          <a:prstGeom prst="rect">
            <a:avLst/>
          </a:prstGeom>
          <a:noFill/>
          <a:ln w="0">
            <a:noFill/>
            <a:prstDash val="solid"/>
          </a:ln>
        </p:spPr>
        <p:txBody>
          <a:bodyPr/>
          <a:lstStyle/>
          <a:p>
            <a:pPr algn="ctr">
              <a:defRPr sz="713" b="1" i="0">
                <a:solidFill>
                  <a:srgbClr val="FFFFFF"/>
                </a:solidFill>
                <a:latin typeface="Aptos"/>
                <a:ea typeface="Aptos"/>
                <a:cs typeface="Aptos"/>
              </a:defRPr>
            </a:pPr>
            <a:r>
              <a:rPr sz="713" b="1" i="0">
                <a:solidFill>
                  <a:srgbClr val="FFFFFF"/>
                </a:solidFill>
                <a:latin typeface="Aptos"/>
                <a:ea typeface="Aptos"/>
                <a:cs typeface="Aptos"/>
              </a:rPr>
              <a:t>2 · Kreditbuch</a:t>
            </a:r>
          </a:p>
        </p:txBody>
      </p:sp>
      <p:sp>
        <p:nvSpPr>
          <p:cNvPr id="95" name="Rectangle 94">
            <a:extLst>
              <a:ext uri="{FF2B5EF4-FFF2-40B4-BE49-F238E27FC236}">
                <a16:creationId xmlns:a16="http://schemas.microsoft.com/office/drawing/2014/main" id="{A6FAB224-3576-461E-8FBB-CCD50CA65E89}"/>
              </a:ext>
            </a:extLst>
          </p:cNvPr>
          <p:cNvSpPr>
            <a:spLocks noGrp="1"/>
          </p:cNvSpPr>
          <p:nvPr/>
        </p:nvSpPr>
        <p:spPr>
          <a:xfrm>
            <a:off x="2857500" y="6076950"/>
            <a:ext cx="1762125" cy="161925"/>
          </a:xfrm>
          <a:prstGeom prst="rect">
            <a:avLst/>
          </a:prstGeom>
          <a:noFill/>
          <a:ln w="0">
            <a:noFill/>
            <a:prstDash val="solid"/>
          </a:ln>
        </p:spPr>
        <p:txBody>
          <a:bodyPr/>
          <a:lstStyle/>
          <a:p>
            <a:pPr algn="ctr">
              <a:defRPr sz="788" b="1" i="0">
                <a:solidFill>
                  <a:srgbClr val="4F6875"/>
                </a:solidFill>
                <a:latin typeface="Aptos"/>
                <a:ea typeface="Aptos"/>
                <a:cs typeface="Aptos"/>
              </a:defRPr>
            </a:pPr>
            <a:r>
              <a:rPr sz="788" b="1" i="0">
                <a:solidFill>
                  <a:srgbClr val="4F6875"/>
                </a:solidFill>
                <a:latin typeface="Aptos"/>
                <a:ea typeface="Aptos"/>
                <a:cs typeface="Aptos"/>
              </a:rPr>
              <a:t>PD/LGD · EL · RWA</a:t>
            </a:r>
          </a:p>
        </p:txBody>
      </p:sp>
      <p:sp>
        <p:nvSpPr>
          <p:cNvPr id="96" name="Rectangle 95">
            <a:extLst>
              <a:ext uri="{FF2B5EF4-FFF2-40B4-BE49-F238E27FC236}">
                <a16:creationId xmlns:a16="http://schemas.microsoft.com/office/drawing/2014/main" id="{60291208-A52C-476E-B55D-D41AFBDD05AF}"/>
              </a:ext>
            </a:extLst>
          </p:cNvPr>
          <p:cNvSpPr>
            <a:spLocks noGrp="1"/>
          </p:cNvSpPr>
          <p:nvPr/>
        </p:nvSpPr>
        <p:spPr>
          <a:xfrm>
            <a:off x="4676775" y="5772150"/>
            <a:ext cx="333375" cy="304800"/>
          </a:xfrm>
          <a:prstGeom prst="rect">
            <a:avLst/>
          </a:prstGeom>
          <a:noFill/>
          <a:ln w="0">
            <a:noFill/>
            <a:prstDash val="solid"/>
          </a:ln>
        </p:spPr>
        <p:txBody>
          <a:bodyPr/>
          <a:lstStyle/>
          <a:p>
            <a:pPr algn="ctr">
              <a:defRPr sz="2025" b="1" i="0">
                <a:solidFill>
                  <a:srgbClr val="71858F"/>
                </a:solidFill>
                <a:latin typeface="Aptos"/>
                <a:ea typeface="Aptos"/>
                <a:cs typeface="Aptos"/>
              </a:defRPr>
            </a:pPr>
            <a:r>
              <a:rPr sz="2025" b="1" i="0">
                <a:solidFill>
                  <a:srgbClr val="71858F"/>
                </a:solidFill>
                <a:latin typeface="Aptos"/>
                <a:ea typeface="Aptos"/>
                <a:cs typeface="Aptos"/>
              </a:rPr>
              <a:t>→</a:t>
            </a:r>
          </a:p>
        </p:txBody>
      </p:sp>
      <p:sp>
        <p:nvSpPr>
          <p:cNvPr id="97" name="Rectangle: Rounded Corners 96">
            <a:extLst>
              <a:ext uri="{FF2B5EF4-FFF2-40B4-BE49-F238E27FC236}">
                <a16:creationId xmlns:a16="http://schemas.microsoft.com/office/drawing/2014/main" id="{31985F2B-1EB7-4D74-AAD5-A7D7CD38BBAB}"/>
              </a:ext>
            </a:extLst>
          </p:cNvPr>
          <p:cNvSpPr>
            <a:spLocks noGrp="1"/>
          </p:cNvSpPr>
          <p:nvPr/>
        </p:nvSpPr>
        <p:spPr>
          <a:xfrm>
            <a:off x="5095875" y="5781675"/>
            <a:ext cx="1762125" cy="219075"/>
          </a:xfrm>
          <a:prstGeom prst="roundRect">
            <a:avLst>
              <a:gd name="adj" fmla="val 50000"/>
            </a:avLst>
          </a:prstGeom>
          <a:solidFill>
            <a:srgbClr val="D9A124"/>
          </a:solidFill>
          <a:ln w="0">
            <a:noFill/>
            <a:prstDash val="solid"/>
          </a:ln>
        </p:spPr>
        <p:txBody>
          <a:bodyPr/>
          <a:lstStyle/>
          <a:p>
            <a:endParaRPr lang="en-US"/>
          </a:p>
        </p:txBody>
      </p:sp>
      <p:sp>
        <p:nvSpPr>
          <p:cNvPr id="98" name="Rectangle 97">
            <a:extLst>
              <a:ext uri="{FF2B5EF4-FFF2-40B4-BE49-F238E27FC236}">
                <a16:creationId xmlns:a16="http://schemas.microsoft.com/office/drawing/2014/main" id="{78DA5EF6-811D-4FF8-9F36-39C60D1881F4}"/>
              </a:ext>
            </a:extLst>
          </p:cNvPr>
          <p:cNvSpPr>
            <a:spLocks noGrp="1"/>
          </p:cNvSpPr>
          <p:nvPr/>
        </p:nvSpPr>
        <p:spPr>
          <a:xfrm>
            <a:off x="5133975" y="5819775"/>
            <a:ext cx="1685925" cy="142875"/>
          </a:xfrm>
          <a:prstGeom prst="rect">
            <a:avLst/>
          </a:prstGeom>
          <a:noFill/>
          <a:ln w="0">
            <a:noFill/>
            <a:prstDash val="solid"/>
          </a:ln>
        </p:spPr>
        <p:txBody>
          <a:bodyPr/>
          <a:lstStyle/>
          <a:p>
            <a:pPr algn="ctr">
              <a:defRPr sz="713" b="1" i="0">
                <a:solidFill>
                  <a:srgbClr val="051C2C"/>
                </a:solidFill>
                <a:latin typeface="Aptos"/>
                <a:ea typeface="Aptos"/>
                <a:cs typeface="Aptos"/>
              </a:defRPr>
            </a:pPr>
            <a:r>
              <a:rPr sz="713" b="1" i="0">
                <a:solidFill>
                  <a:srgbClr val="051C2C"/>
                </a:solidFill>
                <a:latin typeface="Aptos"/>
                <a:ea typeface="Aptos"/>
                <a:cs typeface="Aptos"/>
              </a:rPr>
              <a:t>3 · Marktbuch</a:t>
            </a:r>
          </a:p>
        </p:txBody>
      </p:sp>
      <p:sp>
        <p:nvSpPr>
          <p:cNvPr id="99" name="Rectangle 98">
            <a:extLst>
              <a:ext uri="{FF2B5EF4-FFF2-40B4-BE49-F238E27FC236}">
                <a16:creationId xmlns:a16="http://schemas.microsoft.com/office/drawing/2014/main" id="{1FEF9117-B865-4FEE-AB25-F1B8549BA1CB}"/>
              </a:ext>
            </a:extLst>
          </p:cNvPr>
          <p:cNvSpPr>
            <a:spLocks noGrp="1"/>
          </p:cNvSpPr>
          <p:nvPr/>
        </p:nvSpPr>
        <p:spPr>
          <a:xfrm>
            <a:off x="5095875" y="6076950"/>
            <a:ext cx="1762125" cy="161925"/>
          </a:xfrm>
          <a:prstGeom prst="rect">
            <a:avLst/>
          </a:prstGeom>
          <a:noFill/>
          <a:ln w="0">
            <a:noFill/>
            <a:prstDash val="solid"/>
          </a:ln>
        </p:spPr>
        <p:txBody>
          <a:bodyPr/>
          <a:lstStyle/>
          <a:p>
            <a:pPr algn="ctr">
              <a:defRPr sz="788" b="1" i="0">
                <a:solidFill>
                  <a:srgbClr val="4F6875"/>
                </a:solidFill>
                <a:latin typeface="Aptos"/>
                <a:ea typeface="Aptos"/>
                <a:cs typeface="Aptos"/>
              </a:defRPr>
            </a:pPr>
            <a:r>
              <a:rPr sz="788" b="1" i="0">
                <a:solidFill>
                  <a:srgbClr val="4F6875"/>
                </a:solidFill>
                <a:latin typeface="Aptos"/>
                <a:ea typeface="Aptos"/>
                <a:cs typeface="Aptos"/>
              </a:rPr>
              <a:t>Yield Curve · Sovereigns</a:t>
            </a:r>
          </a:p>
        </p:txBody>
      </p:sp>
      <p:sp>
        <p:nvSpPr>
          <p:cNvPr id="100" name="Rectangle 99">
            <a:extLst>
              <a:ext uri="{FF2B5EF4-FFF2-40B4-BE49-F238E27FC236}">
                <a16:creationId xmlns:a16="http://schemas.microsoft.com/office/drawing/2014/main" id="{F41BA51D-DF87-421C-8E61-E2707EFD7FCF}"/>
              </a:ext>
            </a:extLst>
          </p:cNvPr>
          <p:cNvSpPr>
            <a:spLocks noGrp="1"/>
          </p:cNvSpPr>
          <p:nvPr/>
        </p:nvSpPr>
        <p:spPr>
          <a:xfrm>
            <a:off x="6915150" y="5772150"/>
            <a:ext cx="333375" cy="304800"/>
          </a:xfrm>
          <a:prstGeom prst="rect">
            <a:avLst/>
          </a:prstGeom>
          <a:noFill/>
          <a:ln w="0">
            <a:noFill/>
            <a:prstDash val="solid"/>
          </a:ln>
        </p:spPr>
        <p:txBody>
          <a:bodyPr/>
          <a:lstStyle/>
          <a:p>
            <a:pPr algn="ctr">
              <a:defRPr sz="2025" b="1" i="0">
                <a:solidFill>
                  <a:srgbClr val="71858F"/>
                </a:solidFill>
                <a:latin typeface="Aptos"/>
                <a:ea typeface="Aptos"/>
                <a:cs typeface="Aptos"/>
              </a:defRPr>
            </a:pPr>
            <a:r>
              <a:rPr sz="2025" b="1" i="0">
                <a:solidFill>
                  <a:srgbClr val="71858F"/>
                </a:solidFill>
                <a:latin typeface="Aptos"/>
                <a:ea typeface="Aptos"/>
                <a:cs typeface="Aptos"/>
              </a:rPr>
              <a:t>→</a:t>
            </a:r>
          </a:p>
        </p:txBody>
      </p:sp>
      <p:sp>
        <p:nvSpPr>
          <p:cNvPr id="101" name="Rectangle: Rounded Corners 100">
            <a:extLst>
              <a:ext uri="{FF2B5EF4-FFF2-40B4-BE49-F238E27FC236}">
                <a16:creationId xmlns:a16="http://schemas.microsoft.com/office/drawing/2014/main" id="{27CE3B10-423C-4EB9-81A6-069F882D981E}"/>
              </a:ext>
            </a:extLst>
          </p:cNvPr>
          <p:cNvSpPr>
            <a:spLocks noGrp="1"/>
          </p:cNvSpPr>
          <p:nvPr/>
        </p:nvSpPr>
        <p:spPr>
          <a:xfrm>
            <a:off x="7334250" y="5781675"/>
            <a:ext cx="1762125" cy="219075"/>
          </a:xfrm>
          <a:prstGeom prst="roundRect">
            <a:avLst>
              <a:gd name="adj" fmla="val 50000"/>
            </a:avLst>
          </a:prstGeom>
          <a:solidFill>
            <a:srgbClr val="051C2C"/>
          </a:solidFill>
          <a:ln w="0">
            <a:noFill/>
            <a:prstDash val="solid"/>
          </a:ln>
        </p:spPr>
        <p:txBody>
          <a:bodyPr/>
          <a:lstStyle/>
          <a:p>
            <a:endParaRPr lang="en-US"/>
          </a:p>
        </p:txBody>
      </p:sp>
      <p:sp>
        <p:nvSpPr>
          <p:cNvPr id="102" name="Rectangle 101">
            <a:extLst>
              <a:ext uri="{FF2B5EF4-FFF2-40B4-BE49-F238E27FC236}">
                <a16:creationId xmlns:a16="http://schemas.microsoft.com/office/drawing/2014/main" id="{BAE4362B-28B4-423C-816A-164BCD06977B}"/>
              </a:ext>
            </a:extLst>
          </p:cNvPr>
          <p:cNvSpPr>
            <a:spLocks noGrp="1"/>
          </p:cNvSpPr>
          <p:nvPr/>
        </p:nvSpPr>
        <p:spPr>
          <a:xfrm>
            <a:off x="7372350" y="5819775"/>
            <a:ext cx="1685925" cy="142875"/>
          </a:xfrm>
          <a:prstGeom prst="rect">
            <a:avLst/>
          </a:prstGeom>
          <a:noFill/>
          <a:ln w="0">
            <a:noFill/>
            <a:prstDash val="solid"/>
          </a:ln>
        </p:spPr>
        <p:txBody>
          <a:bodyPr/>
          <a:lstStyle/>
          <a:p>
            <a:pPr algn="ctr">
              <a:defRPr sz="713" b="1" i="0">
                <a:solidFill>
                  <a:srgbClr val="FFFFFF"/>
                </a:solidFill>
                <a:latin typeface="Aptos"/>
                <a:ea typeface="Aptos"/>
                <a:cs typeface="Aptos"/>
              </a:defRPr>
            </a:pPr>
            <a:r>
              <a:rPr sz="713" b="1" i="0">
                <a:solidFill>
                  <a:srgbClr val="FFFFFF"/>
                </a:solidFill>
                <a:latin typeface="Aptos"/>
                <a:ea typeface="Aptos"/>
                <a:cs typeface="Aptos"/>
              </a:rPr>
              <a:t>4 · Eigenkapital</a:t>
            </a:r>
          </a:p>
        </p:txBody>
      </p:sp>
      <p:sp>
        <p:nvSpPr>
          <p:cNvPr id="103" name="Rectangle 102">
            <a:extLst>
              <a:ext uri="{FF2B5EF4-FFF2-40B4-BE49-F238E27FC236}">
                <a16:creationId xmlns:a16="http://schemas.microsoft.com/office/drawing/2014/main" id="{EC2E2F99-D70E-42DA-9036-363D8599AC0D}"/>
              </a:ext>
            </a:extLst>
          </p:cNvPr>
          <p:cNvSpPr>
            <a:spLocks noGrp="1"/>
          </p:cNvSpPr>
          <p:nvPr/>
        </p:nvSpPr>
        <p:spPr>
          <a:xfrm>
            <a:off x="7334250" y="6076950"/>
            <a:ext cx="1762125" cy="161925"/>
          </a:xfrm>
          <a:prstGeom prst="rect">
            <a:avLst/>
          </a:prstGeom>
          <a:noFill/>
          <a:ln w="0">
            <a:noFill/>
            <a:prstDash val="solid"/>
          </a:ln>
        </p:spPr>
        <p:txBody>
          <a:bodyPr/>
          <a:lstStyle/>
          <a:p>
            <a:pPr algn="ctr">
              <a:defRPr sz="788" b="1" i="0">
                <a:solidFill>
                  <a:srgbClr val="4F6875"/>
                </a:solidFill>
                <a:latin typeface="Aptos"/>
                <a:ea typeface="Aptos"/>
                <a:cs typeface="Aptos"/>
              </a:defRPr>
            </a:pPr>
            <a:r>
              <a:rPr sz="788" b="1" i="0">
                <a:solidFill>
                  <a:srgbClr val="4F6875"/>
                </a:solidFill>
                <a:latin typeface="Aptos"/>
                <a:ea typeface="Aptos"/>
                <a:cs typeface="Aptos"/>
              </a:rPr>
              <a:t>CET1-Waterfall</a:t>
            </a:r>
          </a:p>
        </p:txBody>
      </p:sp>
      <p:sp>
        <p:nvSpPr>
          <p:cNvPr id="104" name="Rectangle 103">
            <a:extLst>
              <a:ext uri="{FF2B5EF4-FFF2-40B4-BE49-F238E27FC236}">
                <a16:creationId xmlns:a16="http://schemas.microsoft.com/office/drawing/2014/main" id="{E52F52B2-C9AF-47F3-B6A4-CEF237612D2F}"/>
              </a:ext>
            </a:extLst>
          </p:cNvPr>
          <p:cNvSpPr>
            <a:spLocks noGrp="1"/>
          </p:cNvSpPr>
          <p:nvPr/>
        </p:nvSpPr>
        <p:spPr>
          <a:xfrm>
            <a:off x="9153525" y="5772150"/>
            <a:ext cx="333375" cy="304800"/>
          </a:xfrm>
          <a:prstGeom prst="rect">
            <a:avLst/>
          </a:prstGeom>
          <a:noFill/>
          <a:ln w="0">
            <a:noFill/>
            <a:prstDash val="solid"/>
          </a:ln>
        </p:spPr>
        <p:txBody>
          <a:bodyPr/>
          <a:lstStyle/>
          <a:p>
            <a:pPr algn="ctr">
              <a:defRPr sz="2025" b="1" i="0">
                <a:solidFill>
                  <a:srgbClr val="71858F"/>
                </a:solidFill>
                <a:latin typeface="Aptos"/>
                <a:ea typeface="Aptos"/>
                <a:cs typeface="Aptos"/>
              </a:defRPr>
            </a:pPr>
            <a:r>
              <a:rPr sz="2025" b="1" i="0">
                <a:solidFill>
                  <a:srgbClr val="71858F"/>
                </a:solidFill>
                <a:latin typeface="Aptos"/>
                <a:ea typeface="Aptos"/>
                <a:cs typeface="Aptos"/>
              </a:rPr>
              <a:t>→</a:t>
            </a:r>
          </a:p>
        </p:txBody>
      </p:sp>
      <p:sp>
        <p:nvSpPr>
          <p:cNvPr id="105" name="Rectangle: Rounded Corners 104">
            <a:extLst>
              <a:ext uri="{FF2B5EF4-FFF2-40B4-BE49-F238E27FC236}">
                <a16:creationId xmlns:a16="http://schemas.microsoft.com/office/drawing/2014/main" id="{0D662A9D-B191-4350-9903-74FA23480E25}"/>
              </a:ext>
            </a:extLst>
          </p:cNvPr>
          <p:cNvSpPr>
            <a:spLocks noGrp="1"/>
          </p:cNvSpPr>
          <p:nvPr/>
        </p:nvSpPr>
        <p:spPr>
          <a:xfrm>
            <a:off x="9572625" y="5781675"/>
            <a:ext cx="1762125" cy="219075"/>
          </a:xfrm>
          <a:prstGeom prst="roundRect">
            <a:avLst>
              <a:gd name="adj" fmla="val 50000"/>
            </a:avLst>
          </a:prstGeom>
          <a:solidFill>
            <a:srgbClr val="1B777F"/>
          </a:solidFill>
          <a:ln w="0">
            <a:noFill/>
            <a:prstDash val="solid"/>
          </a:ln>
        </p:spPr>
        <p:txBody>
          <a:bodyPr/>
          <a:lstStyle/>
          <a:p>
            <a:endParaRPr lang="en-US"/>
          </a:p>
        </p:txBody>
      </p:sp>
      <p:sp>
        <p:nvSpPr>
          <p:cNvPr id="106" name="Rectangle 105">
            <a:extLst>
              <a:ext uri="{FF2B5EF4-FFF2-40B4-BE49-F238E27FC236}">
                <a16:creationId xmlns:a16="http://schemas.microsoft.com/office/drawing/2014/main" id="{F32C6A0E-24EF-4DE0-839F-5F369FAA5940}"/>
              </a:ext>
            </a:extLst>
          </p:cNvPr>
          <p:cNvSpPr>
            <a:spLocks noGrp="1"/>
          </p:cNvSpPr>
          <p:nvPr/>
        </p:nvSpPr>
        <p:spPr>
          <a:xfrm>
            <a:off x="9610725" y="5819775"/>
            <a:ext cx="1685925" cy="142875"/>
          </a:xfrm>
          <a:prstGeom prst="rect">
            <a:avLst/>
          </a:prstGeom>
          <a:noFill/>
          <a:ln w="0">
            <a:noFill/>
            <a:prstDash val="solid"/>
          </a:ln>
        </p:spPr>
        <p:txBody>
          <a:bodyPr/>
          <a:lstStyle/>
          <a:p>
            <a:pPr algn="ctr">
              <a:defRPr sz="713" b="1" i="0">
                <a:solidFill>
                  <a:srgbClr val="FFFFFF"/>
                </a:solidFill>
                <a:latin typeface="Aptos"/>
                <a:ea typeface="Aptos"/>
                <a:cs typeface="Aptos"/>
              </a:defRPr>
            </a:pPr>
            <a:r>
              <a:rPr sz="713" b="1" i="0">
                <a:solidFill>
                  <a:srgbClr val="FFFFFF"/>
                </a:solidFill>
                <a:latin typeface="Aptos"/>
                <a:ea typeface="Aptos"/>
                <a:cs typeface="Aptos"/>
              </a:rPr>
              <a:t>5 · Validierung</a:t>
            </a:r>
          </a:p>
        </p:txBody>
      </p:sp>
      <p:sp>
        <p:nvSpPr>
          <p:cNvPr id="107" name="Rectangle 106">
            <a:extLst>
              <a:ext uri="{FF2B5EF4-FFF2-40B4-BE49-F238E27FC236}">
                <a16:creationId xmlns:a16="http://schemas.microsoft.com/office/drawing/2014/main" id="{C2911B43-5AE2-460D-A807-5C72DFC1362D}"/>
              </a:ext>
            </a:extLst>
          </p:cNvPr>
          <p:cNvSpPr>
            <a:spLocks noGrp="1"/>
          </p:cNvSpPr>
          <p:nvPr/>
        </p:nvSpPr>
        <p:spPr>
          <a:xfrm>
            <a:off x="9572625" y="6076950"/>
            <a:ext cx="1762125" cy="161925"/>
          </a:xfrm>
          <a:prstGeom prst="rect">
            <a:avLst/>
          </a:prstGeom>
          <a:noFill/>
          <a:ln w="0">
            <a:noFill/>
            <a:prstDash val="solid"/>
          </a:ln>
        </p:spPr>
        <p:txBody>
          <a:bodyPr/>
          <a:lstStyle/>
          <a:p>
            <a:pPr algn="ctr">
              <a:defRPr sz="788" b="1" i="0">
                <a:solidFill>
                  <a:srgbClr val="4F6875"/>
                </a:solidFill>
                <a:latin typeface="Aptos"/>
                <a:ea typeface="Aptos"/>
                <a:cs typeface="Aptos"/>
              </a:defRPr>
            </a:pPr>
            <a:r>
              <a:rPr sz="788" b="1" i="0">
                <a:solidFill>
                  <a:srgbClr val="4F6875"/>
                </a:solidFill>
                <a:latin typeface="Aptos"/>
                <a:ea typeface="Aptos"/>
                <a:cs typeface="Aptos"/>
              </a:rPr>
              <a:t>Backtest &amp; Governance</a:t>
            </a:r>
          </a:p>
        </p:txBody>
      </p:sp>
      <p:sp>
        <p:nvSpPr>
          <p:cNvPr id="108" name="Rectangle 107">
            <a:extLst>
              <a:ext uri="{FF2B5EF4-FFF2-40B4-BE49-F238E27FC236}">
                <a16:creationId xmlns:a16="http://schemas.microsoft.com/office/drawing/2014/main" id="{3322C40B-DACE-4E59-B0B0-482F865EBC52}"/>
              </a:ext>
            </a:extLst>
          </p:cNvPr>
          <p:cNvSpPr>
            <a:spLocks noGrp="1"/>
          </p:cNvSpPr>
          <p:nvPr/>
        </p:nvSpPr>
        <p:spPr>
          <a:xfrm>
            <a:off x="457200" y="6553200"/>
            <a:ext cx="4953000" cy="142875"/>
          </a:xfrm>
          <a:prstGeom prst="rect">
            <a:avLst/>
          </a:prstGeom>
          <a:noFill/>
          <a:ln w="0">
            <a:noFill/>
            <a:prstDash val="solid"/>
          </a:ln>
        </p:spPr>
        <p:txBody>
          <a:bodyPr/>
          <a:lstStyle/>
          <a:p>
            <a:pPr algn="l">
              <a:defRPr sz="675" b="0" i="0">
                <a:solidFill>
                  <a:srgbClr val="71858F"/>
                </a:solidFill>
                <a:latin typeface="Aptos"/>
                <a:ea typeface="Aptos"/>
                <a:cs typeface="Aptos"/>
              </a:defRPr>
            </a:pPr>
            <a:r>
              <a:rPr sz="675" b="0" i="0">
                <a:solidFill>
                  <a:srgbClr val="71858F"/>
                </a:solidFill>
                <a:latin typeface="Aptos"/>
                <a:ea typeface="Aptos"/>
                <a:cs typeface="Aptos"/>
              </a:rPr>
              <a:t>Alle Elemente dieser Folie sind editierbare PowerPoint-Formen.</a:t>
            </a:r>
          </a:p>
        </p:txBody>
      </p:sp>
      <p:sp>
        <p:nvSpPr>
          <p:cNvPr id="111" name="Right Brace 110">
            <a:extLst>
              <a:ext uri="{FF2B5EF4-FFF2-40B4-BE49-F238E27FC236}">
                <a16:creationId xmlns:a16="http://schemas.microsoft.com/office/drawing/2014/main" id="{6327E1C3-4CA8-A39D-7FA2-4F17A16A501C}"/>
              </a:ext>
            </a:extLst>
          </p:cNvPr>
          <p:cNvSpPr/>
          <p:nvPr/>
        </p:nvSpPr>
        <p:spPr>
          <a:xfrm rot="5400000">
            <a:off x="3123248" y="3858577"/>
            <a:ext cx="186690" cy="1784986"/>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9" name="CodexSlideNumber">
            <a:extLst>
              <a:ext uri="{FF2B5EF4-FFF2-40B4-BE49-F238E27FC236}">
                <a16:creationId xmlns:a16="http://schemas.microsoft.com/office/drawing/2014/main" id="{6BFE2002-379A-6746-8664-8BD099D5D155}"/>
              </a:ext>
            </a:extLst>
          </p:cNvPr>
          <p:cNvSpPr txBox="1"/>
          <p:nvPr/>
        </p:nvSpPr>
        <p:spPr>
          <a:xfrm>
            <a:off x="11226800" y="6553200"/>
            <a:ext cx="736600" cy="123111"/>
          </a:xfrm>
          <a:prstGeom prst="rect">
            <a:avLst/>
          </a:prstGeom>
          <a:noFill/>
        </p:spPr>
        <p:txBody>
          <a:bodyPr vert="horz" lIns="0" tIns="0" rIns="0" bIns="0" rtlCol="0">
            <a:spAutoFit/>
          </a:bodyPr>
          <a:lstStyle/>
          <a:p>
            <a:pPr algn="r"/>
            <a:r>
              <a:rPr lang="en-US" sz="800">
                <a:solidFill>
                  <a:srgbClr val="525252"/>
                </a:solidFill>
                <a:latin typeface="Arial" panose="020B0604020202020204" pitchFamily="34" charset="0"/>
              </a:rPr>
              <a:t>8 / 64</a:t>
            </a:r>
          </a:p>
        </p:txBody>
      </p:sp>
    </p:spTree>
    <p:extLst>
      <p:ext uri="{BB962C8B-B14F-4D97-AF65-F5344CB8AC3E}">
        <p14:creationId xmlns:p14="http://schemas.microsoft.com/office/powerpoint/2010/main" val="6790131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5B86C0B-D762-4F89-AD21-E28A00C7B75F}"/>
              </a:ext>
            </a:extLst>
          </p:cNvPr>
          <p:cNvSpPr>
            <a:spLocks noGrp="1"/>
          </p:cNvSpPr>
          <p:nvPr/>
        </p:nvSpPr>
        <p:spPr>
          <a:xfrm>
            <a:off x="457200" y="228600"/>
            <a:ext cx="4572000" cy="171450"/>
          </a:xfrm>
          <a:prstGeom prst="rect">
            <a:avLst/>
          </a:prstGeom>
          <a:noFill/>
          <a:ln w="0">
            <a:noFill/>
            <a:prstDash val="solid"/>
          </a:ln>
        </p:spPr>
        <p:txBody>
          <a:bodyPr/>
          <a:lstStyle/>
          <a:p>
            <a:pPr algn="l">
              <a:defRPr sz="863" b="1" i="0">
                <a:solidFill>
                  <a:srgbClr val="A52F4D"/>
                </a:solidFill>
                <a:latin typeface="Aptos"/>
                <a:ea typeface="Aptos"/>
                <a:cs typeface="Aptos"/>
              </a:defRPr>
            </a:pPr>
            <a:r>
              <a:rPr lang="en-GB" sz="863" b="1" i="0">
                <a:solidFill>
                  <a:schemeClr val="tx2"/>
                </a:solidFill>
                <a:latin typeface="Aptos"/>
                <a:ea typeface="Aptos"/>
                <a:cs typeface="Aptos"/>
              </a:rPr>
              <a:t>GOVERNANCE · PRÄMISSEN UND MODELLGRENZEN</a:t>
            </a:r>
          </a:p>
        </p:txBody>
      </p:sp>
      <p:sp>
        <p:nvSpPr>
          <p:cNvPr id="3" name="Rectangle 2">
            <a:extLst>
              <a:ext uri="{FF2B5EF4-FFF2-40B4-BE49-F238E27FC236}">
                <a16:creationId xmlns:a16="http://schemas.microsoft.com/office/drawing/2014/main" id="{A7695C19-59DD-4033-93CA-E9306CAF8FDA}"/>
              </a:ext>
            </a:extLst>
          </p:cNvPr>
          <p:cNvSpPr>
            <a:spLocks noGrp="1"/>
          </p:cNvSpPr>
          <p:nvPr/>
        </p:nvSpPr>
        <p:spPr>
          <a:xfrm>
            <a:off x="457200" y="457200"/>
            <a:ext cx="11191875" cy="409575"/>
          </a:xfrm>
          <a:prstGeom prst="rect">
            <a:avLst/>
          </a:prstGeom>
          <a:noFill/>
          <a:ln w="0">
            <a:noFill/>
            <a:prstDash val="solid"/>
          </a:ln>
        </p:spPr>
        <p:txBody>
          <a:bodyPr/>
          <a:lstStyle/>
          <a:p>
            <a:pPr algn="l">
              <a:defRPr sz="2475" b="1" i="0">
                <a:solidFill>
                  <a:srgbClr val="051C2C"/>
                </a:solidFill>
                <a:latin typeface="Aptos Display"/>
                <a:ea typeface="Aptos Display"/>
                <a:cs typeface="Aptos Display"/>
              </a:defRPr>
            </a:pPr>
            <a:r>
              <a:rPr sz="2475" b="1" i="0">
                <a:solidFill>
                  <a:srgbClr val="051C2C"/>
                </a:solidFill>
                <a:latin typeface="Aptos Display"/>
                <a:ea typeface="Aptos Display"/>
                <a:cs typeface="Aptos Display"/>
              </a:rPr>
              <a:t>Klare Prämissen begrenzen die Aussagekraft des Stressindikators</a:t>
            </a:r>
          </a:p>
        </p:txBody>
      </p:sp>
      <p:sp>
        <p:nvSpPr>
          <p:cNvPr id="4" name="Rectangle 3">
            <a:extLst>
              <a:ext uri="{FF2B5EF4-FFF2-40B4-BE49-F238E27FC236}">
                <a16:creationId xmlns:a16="http://schemas.microsoft.com/office/drawing/2014/main" id="{D26790E9-9CDA-4D49-A9F5-ED1BDEA3D3B9}"/>
              </a:ext>
            </a:extLst>
          </p:cNvPr>
          <p:cNvSpPr>
            <a:spLocks noGrp="1"/>
          </p:cNvSpPr>
          <p:nvPr/>
        </p:nvSpPr>
        <p:spPr>
          <a:xfrm>
            <a:off x="457200" y="914400"/>
            <a:ext cx="11096625" cy="228600"/>
          </a:xfrm>
          <a:prstGeom prst="rect">
            <a:avLst/>
          </a:prstGeom>
          <a:noFill/>
          <a:ln w="0">
            <a:noFill/>
            <a:prstDash val="solid"/>
          </a:ln>
        </p:spPr>
        <p:txBody>
          <a:bodyPr/>
          <a:lstStyle/>
          <a:p>
            <a:pPr algn="l">
              <a:defRPr sz="1125" b="0" i="0">
                <a:solidFill>
                  <a:srgbClr val="4F6875"/>
                </a:solidFill>
                <a:latin typeface="Aptos"/>
                <a:ea typeface="Aptos"/>
                <a:cs typeface="Aptos"/>
              </a:defRPr>
            </a:pPr>
            <a:r>
              <a:rPr sz="1125" b="0" i="0">
                <a:solidFill>
                  <a:srgbClr val="4F6875"/>
                </a:solidFill>
                <a:latin typeface="Aptos"/>
                <a:ea typeface="Aptos"/>
                <a:cs typeface="Aptos"/>
              </a:rPr>
              <a:t>Die Ergebnisse zeigen relative Verwundbarkeit und Wirkungskanäle; ihre Aussagekraft hängt von klar dokumentierten Vereinfachungen ab.</a:t>
            </a:r>
          </a:p>
        </p:txBody>
      </p:sp>
      <p:sp>
        <p:nvSpPr>
          <p:cNvPr id="6" name="Rectangle: Rounded Corners 5">
            <a:extLst>
              <a:ext uri="{FF2B5EF4-FFF2-40B4-BE49-F238E27FC236}">
                <a16:creationId xmlns:a16="http://schemas.microsoft.com/office/drawing/2014/main" id="{75CF00C4-6AEE-423E-956F-2163E3DD6CE7}"/>
              </a:ext>
            </a:extLst>
          </p:cNvPr>
          <p:cNvSpPr>
            <a:spLocks noGrp="1"/>
          </p:cNvSpPr>
          <p:nvPr/>
        </p:nvSpPr>
        <p:spPr>
          <a:xfrm>
            <a:off x="457200" y="1390650"/>
            <a:ext cx="3429000" cy="1809750"/>
          </a:xfrm>
          <a:prstGeom prst="roundRect">
            <a:avLst>
              <a:gd name="adj" fmla="val 6316"/>
            </a:avLst>
          </a:prstGeom>
          <a:solidFill>
            <a:srgbClr val="FFFFFF"/>
          </a:solidFill>
          <a:ln w="9525">
            <a:solidFill>
              <a:srgbClr val="D5E0E5"/>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7" name="Rectangle 6">
            <a:extLst>
              <a:ext uri="{FF2B5EF4-FFF2-40B4-BE49-F238E27FC236}">
                <a16:creationId xmlns:a16="http://schemas.microsoft.com/office/drawing/2014/main" id="{04E5BEB2-A9B3-4743-94A2-B7EA9ACF06A9}"/>
              </a:ext>
            </a:extLst>
          </p:cNvPr>
          <p:cNvSpPr>
            <a:spLocks noGrp="1"/>
          </p:cNvSpPr>
          <p:nvPr/>
        </p:nvSpPr>
        <p:spPr>
          <a:xfrm>
            <a:off x="457200" y="1390650"/>
            <a:ext cx="57150" cy="1809750"/>
          </a:xfrm>
          <a:prstGeom prst="rect">
            <a:avLst/>
          </a:prstGeom>
          <a:solidFill>
            <a:srgbClr val="051C2C"/>
          </a:solidFill>
          <a:ln w="0">
            <a:noFill/>
            <a:prstDash val="solid"/>
          </a:ln>
        </p:spPr>
        <p:txBody>
          <a:bodyPr/>
          <a:lstStyle/>
          <a:p>
            <a:endParaRPr lang="en-US"/>
          </a:p>
        </p:txBody>
      </p:sp>
      <p:sp>
        <p:nvSpPr>
          <p:cNvPr id="8" name="Rectangle: Rounded Corners 7">
            <a:extLst>
              <a:ext uri="{FF2B5EF4-FFF2-40B4-BE49-F238E27FC236}">
                <a16:creationId xmlns:a16="http://schemas.microsoft.com/office/drawing/2014/main" id="{67668996-6846-49D8-8B60-538AAF3A6F37}"/>
              </a:ext>
            </a:extLst>
          </p:cNvPr>
          <p:cNvSpPr>
            <a:spLocks noGrp="1"/>
          </p:cNvSpPr>
          <p:nvPr/>
        </p:nvSpPr>
        <p:spPr>
          <a:xfrm>
            <a:off x="628650" y="1524000"/>
            <a:ext cx="1028700" cy="219075"/>
          </a:xfrm>
          <a:prstGeom prst="roundRect">
            <a:avLst>
              <a:gd name="adj" fmla="val 50000"/>
            </a:avLst>
          </a:prstGeom>
          <a:solidFill>
            <a:srgbClr val="051C2C"/>
          </a:solidFill>
          <a:ln w="0">
            <a:noFill/>
            <a:prstDash val="solid"/>
          </a:ln>
        </p:spPr>
        <p:txBody>
          <a:bodyPr/>
          <a:lstStyle/>
          <a:p>
            <a:endParaRPr lang="en-US"/>
          </a:p>
        </p:txBody>
      </p:sp>
      <p:sp>
        <p:nvSpPr>
          <p:cNvPr id="9" name="Rectangle 8">
            <a:extLst>
              <a:ext uri="{FF2B5EF4-FFF2-40B4-BE49-F238E27FC236}">
                <a16:creationId xmlns:a16="http://schemas.microsoft.com/office/drawing/2014/main" id="{7983D6EA-A51A-464A-B666-691D306062C3}"/>
              </a:ext>
            </a:extLst>
          </p:cNvPr>
          <p:cNvSpPr>
            <a:spLocks noGrp="1"/>
          </p:cNvSpPr>
          <p:nvPr/>
        </p:nvSpPr>
        <p:spPr>
          <a:xfrm>
            <a:off x="666750" y="1562100"/>
            <a:ext cx="952500" cy="142875"/>
          </a:xfrm>
          <a:prstGeom prst="rect">
            <a:avLst/>
          </a:prstGeom>
          <a:noFill/>
          <a:ln w="0">
            <a:noFill/>
            <a:prstDash val="solid"/>
          </a:ln>
        </p:spPr>
        <p:txBody>
          <a:bodyPr/>
          <a:lstStyle/>
          <a:p>
            <a:pPr algn="ctr">
              <a:defRPr sz="713" b="1" i="0">
                <a:solidFill>
                  <a:srgbClr val="FFFFFF"/>
                </a:solidFill>
                <a:latin typeface="Aptos"/>
                <a:ea typeface="Aptos"/>
                <a:cs typeface="Aptos"/>
              </a:defRPr>
            </a:pPr>
            <a:r>
              <a:rPr sz="713" b="1" i="0">
                <a:solidFill>
                  <a:srgbClr val="FFFFFF"/>
                </a:solidFill>
                <a:latin typeface="Aptos"/>
                <a:ea typeface="Aptos"/>
                <a:cs typeface="Aptos"/>
              </a:rPr>
              <a:t>DATEN</a:t>
            </a:r>
          </a:p>
        </p:txBody>
      </p:sp>
      <p:sp>
        <p:nvSpPr>
          <p:cNvPr id="10" name="Rectangle 9">
            <a:extLst>
              <a:ext uri="{FF2B5EF4-FFF2-40B4-BE49-F238E27FC236}">
                <a16:creationId xmlns:a16="http://schemas.microsoft.com/office/drawing/2014/main" id="{7B2E97DF-6D41-4B45-A1E6-7A157E8E40A0}"/>
              </a:ext>
            </a:extLst>
          </p:cNvPr>
          <p:cNvSpPr>
            <a:spLocks noGrp="1"/>
          </p:cNvSpPr>
          <p:nvPr/>
        </p:nvSpPr>
        <p:spPr>
          <a:xfrm>
            <a:off x="628650" y="1876425"/>
            <a:ext cx="3086100" cy="257175"/>
          </a:xfrm>
          <a:prstGeom prst="rect">
            <a:avLst/>
          </a:prstGeom>
          <a:noFill/>
          <a:ln w="0">
            <a:noFill/>
            <a:prstDash val="solid"/>
          </a:ln>
        </p:spPr>
        <p:txBody>
          <a:bodyPr/>
          <a:lstStyle/>
          <a:p>
            <a:pPr algn="l">
              <a:defRPr sz="1275" b="1" i="0">
                <a:solidFill>
                  <a:srgbClr val="051C2C"/>
                </a:solidFill>
                <a:latin typeface="Aptos Display"/>
                <a:ea typeface="Aptos Display"/>
                <a:cs typeface="Aptos Display"/>
              </a:defRPr>
            </a:pPr>
            <a:r>
              <a:rPr sz="1275" b="1" i="0">
                <a:solidFill>
                  <a:srgbClr val="051C2C"/>
                </a:solidFill>
                <a:latin typeface="Aptos Display"/>
                <a:ea typeface="Aptos Display"/>
                <a:cs typeface="Aptos Display"/>
              </a:rPr>
              <a:t>Fixe regulatorische Snapshots</a:t>
            </a:r>
          </a:p>
        </p:txBody>
      </p:sp>
      <p:sp>
        <p:nvSpPr>
          <p:cNvPr id="11" name="Rectangle 10">
            <a:extLst>
              <a:ext uri="{FF2B5EF4-FFF2-40B4-BE49-F238E27FC236}">
                <a16:creationId xmlns:a16="http://schemas.microsoft.com/office/drawing/2014/main" id="{02D424DE-660A-4E5E-AB86-77F11DCF89E7}"/>
              </a:ext>
            </a:extLst>
          </p:cNvPr>
          <p:cNvSpPr>
            <a:spLocks noGrp="1"/>
          </p:cNvSpPr>
          <p:nvPr/>
        </p:nvSpPr>
        <p:spPr>
          <a:xfrm>
            <a:off x="628650" y="2209800"/>
            <a:ext cx="3086100" cy="838200"/>
          </a:xfrm>
          <a:prstGeom prst="rect">
            <a:avLst/>
          </a:prstGeom>
          <a:noFill/>
          <a:ln w="0">
            <a:noFill/>
            <a:prstDash val="solid"/>
          </a:ln>
        </p:spPr>
        <p:txBody>
          <a:bodyPr/>
          <a:lstStyle/>
          <a:p>
            <a:pPr algn="l">
              <a:defRPr sz="863" b="0" i="0">
                <a:solidFill>
                  <a:srgbClr val="4F6875"/>
                </a:solidFill>
                <a:latin typeface="Aptos"/>
                <a:ea typeface="Aptos"/>
                <a:cs typeface="Aptos"/>
              </a:defRPr>
            </a:pPr>
            <a:r>
              <a:rPr sz="863" b="0" i="0">
                <a:solidFill>
                  <a:srgbClr val="4F6875"/>
                </a:solidFill>
                <a:latin typeface="Aptos"/>
                <a:ea typeface="Aptos"/>
                <a:cs typeface="Aptos"/>
              </a:rPr>
              <a:t>Pillar 3 PD/LGD: 31.12.2024</a:t>
            </a:r>
          </a:p>
          <a:p>
            <a:pPr algn="l">
              <a:defRPr sz="863" b="0" i="0">
                <a:solidFill>
                  <a:srgbClr val="4F6875"/>
                </a:solidFill>
                <a:latin typeface="Aptos"/>
                <a:ea typeface="Aptos"/>
                <a:cs typeface="Aptos"/>
              </a:defRPr>
            </a:pPr>
            <a:r>
              <a:rPr sz="863" b="0" i="0">
                <a:solidFill>
                  <a:srgbClr val="4F6875"/>
                </a:solidFill>
                <a:latin typeface="Aptos"/>
                <a:ea typeface="Aptos"/>
                <a:cs typeface="Aptos"/>
              </a:rPr>
              <a:t>EBA Kapital &amp; Sovereigns: Juni 2025</a:t>
            </a:r>
          </a:p>
          <a:p>
            <a:pPr algn="l">
              <a:defRPr sz="863" b="0" i="0">
                <a:solidFill>
                  <a:srgbClr val="4F6875"/>
                </a:solidFill>
                <a:latin typeface="Aptos"/>
                <a:ea typeface="Aptos"/>
                <a:cs typeface="Aptos"/>
              </a:defRPr>
            </a:pPr>
            <a:r>
              <a:rPr sz="863" b="0" i="0">
                <a:solidFill>
                  <a:srgbClr val="4F6875"/>
                </a:solidFill>
                <a:latin typeface="Aptos"/>
                <a:ea typeface="Aptos"/>
                <a:cs typeface="Aptos"/>
              </a:rPr>
              <a:t>Top-10-Universum bleibt konstant</a:t>
            </a:r>
          </a:p>
          <a:p>
            <a:endParaRPr sz="863" b="0" i="0">
              <a:solidFill>
                <a:srgbClr val="4F6875"/>
              </a:solidFill>
              <a:latin typeface="Aptos"/>
              <a:ea typeface="Aptos"/>
              <a:cs typeface="Aptos"/>
            </a:endParaRPr>
          </a:p>
          <a:p>
            <a:pPr algn="l">
              <a:defRPr sz="863" b="0" i="0">
                <a:solidFill>
                  <a:srgbClr val="4F6875"/>
                </a:solidFill>
                <a:latin typeface="Aptos"/>
                <a:ea typeface="Aptos"/>
                <a:cs typeface="Aptos"/>
              </a:defRPr>
            </a:pPr>
            <a:r>
              <a:rPr sz="863" b="0" i="0">
                <a:solidFill>
                  <a:srgbClr val="4F6875"/>
                </a:solidFill>
                <a:latin typeface="Aptos"/>
                <a:ea typeface="Aptos"/>
                <a:cs typeface="Aptos"/>
              </a:rPr>
              <a:t>Grenze: kein vollständig synchroner Tagesabschluss.</a:t>
            </a:r>
          </a:p>
        </p:txBody>
      </p:sp>
      <p:sp>
        <p:nvSpPr>
          <p:cNvPr id="12" name="Rectangle: Rounded Corners 11">
            <a:extLst>
              <a:ext uri="{FF2B5EF4-FFF2-40B4-BE49-F238E27FC236}">
                <a16:creationId xmlns:a16="http://schemas.microsoft.com/office/drawing/2014/main" id="{32FE6EFB-F9C3-49C0-B548-CEEB46BAAEA9}"/>
              </a:ext>
            </a:extLst>
          </p:cNvPr>
          <p:cNvSpPr>
            <a:spLocks noGrp="1"/>
          </p:cNvSpPr>
          <p:nvPr/>
        </p:nvSpPr>
        <p:spPr>
          <a:xfrm>
            <a:off x="4248150" y="1390650"/>
            <a:ext cx="3429000" cy="1809750"/>
          </a:xfrm>
          <a:prstGeom prst="roundRect">
            <a:avLst>
              <a:gd name="adj" fmla="val 6316"/>
            </a:avLst>
          </a:prstGeom>
          <a:solidFill>
            <a:srgbClr val="FFFFFF"/>
          </a:solidFill>
          <a:ln w="9525">
            <a:solidFill>
              <a:srgbClr val="D5E0E5"/>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13" name="Rectangle 12">
            <a:extLst>
              <a:ext uri="{FF2B5EF4-FFF2-40B4-BE49-F238E27FC236}">
                <a16:creationId xmlns:a16="http://schemas.microsoft.com/office/drawing/2014/main" id="{AB90E915-58B2-478A-80B5-4E0869A8E244}"/>
              </a:ext>
            </a:extLst>
          </p:cNvPr>
          <p:cNvSpPr>
            <a:spLocks noGrp="1"/>
          </p:cNvSpPr>
          <p:nvPr/>
        </p:nvSpPr>
        <p:spPr>
          <a:xfrm>
            <a:off x="4248150" y="1390650"/>
            <a:ext cx="57150" cy="1809750"/>
          </a:xfrm>
          <a:prstGeom prst="rect">
            <a:avLst/>
          </a:prstGeom>
          <a:solidFill>
            <a:srgbClr val="1B777F"/>
          </a:solidFill>
          <a:ln w="0">
            <a:noFill/>
            <a:prstDash val="solid"/>
          </a:ln>
        </p:spPr>
        <p:txBody>
          <a:bodyPr/>
          <a:lstStyle/>
          <a:p>
            <a:endParaRPr lang="en-US"/>
          </a:p>
        </p:txBody>
      </p:sp>
      <p:sp>
        <p:nvSpPr>
          <p:cNvPr id="14" name="Rectangle: Rounded Corners 13">
            <a:extLst>
              <a:ext uri="{FF2B5EF4-FFF2-40B4-BE49-F238E27FC236}">
                <a16:creationId xmlns:a16="http://schemas.microsoft.com/office/drawing/2014/main" id="{B93F68A0-C656-4BDF-8CA0-7DC990B67EFA}"/>
              </a:ext>
            </a:extLst>
          </p:cNvPr>
          <p:cNvSpPr>
            <a:spLocks noGrp="1"/>
          </p:cNvSpPr>
          <p:nvPr/>
        </p:nvSpPr>
        <p:spPr>
          <a:xfrm>
            <a:off x="4419600" y="1524000"/>
            <a:ext cx="1028700" cy="219075"/>
          </a:xfrm>
          <a:prstGeom prst="roundRect">
            <a:avLst>
              <a:gd name="adj" fmla="val 50000"/>
            </a:avLst>
          </a:prstGeom>
          <a:solidFill>
            <a:srgbClr val="1B777F"/>
          </a:solidFill>
          <a:ln w="0">
            <a:noFill/>
            <a:prstDash val="solid"/>
          </a:ln>
        </p:spPr>
        <p:txBody>
          <a:bodyPr/>
          <a:lstStyle/>
          <a:p>
            <a:endParaRPr lang="en-US"/>
          </a:p>
        </p:txBody>
      </p:sp>
      <p:sp>
        <p:nvSpPr>
          <p:cNvPr id="15" name="Rectangle 14">
            <a:extLst>
              <a:ext uri="{FF2B5EF4-FFF2-40B4-BE49-F238E27FC236}">
                <a16:creationId xmlns:a16="http://schemas.microsoft.com/office/drawing/2014/main" id="{A9AA603D-2C0D-4493-992B-69B32A3C8044}"/>
              </a:ext>
            </a:extLst>
          </p:cNvPr>
          <p:cNvSpPr>
            <a:spLocks noGrp="1"/>
          </p:cNvSpPr>
          <p:nvPr/>
        </p:nvSpPr>
        <p:spPr>
          <a:xfrm>
            <a:off x="4457700" y="1562100"/>
            <a:ext cx="952500" cy="142875"/>
          </a:xfrm>
          <a:prstGeom prst="rect">
            <a:avLst/>
          </a:prstGeom>
          <a:noFill/>
          <a:ln w="0">
            <a:noFill/>
            <a:prstDash val="solid"/>
          </a:ln>
        </p:spPr>
        <p:txBody>
          <a:bodyPr/>
          <a:lstStyle/>
          <a:p>
            <a:pPr algn="ctr">
              <a:defRPr sz="713" b="1" i="0">
                <a:solidFill>
                  <a:srgbClr val="FFFFFF"/>
                </a:solidFill>
                <a:latin typeface="Aptos"/>
                <a:ea typeface="Aptos"/>
                <a:cs typeface="Aptos"/>
              </a:defRPr>
            </a:pPr>
            <a:r>
              <a:rPr sz="713" b="1" i="0">
                <a:solidFill>
                  <a:srgbClr val="FFFFFF"/>
                </a:solidFill>
                <a:latin typeface="Aptos"/>
                <a:ea typeface="Aptos"/>
                <a:cs typeface="Aptos"/>
              </a:rPr>
              <a:t>TRANSMISSION</a:t>
            </a:r>
          </a:p>
        </p:txBody>
      </p:sp>
      <p:sp>
        <p:nvSpPr>
          <p:cNvPr id="16" name="Rectangle 15">
            <a:extLst>
              <a:ext uri="{FF2B5EF4-FFF2-40B4-BE49-F238E27FC236}">
                <a16:creationId xmlns:a16="http://schemas.microsoft.com/office/drawing/2014/main" id="{09CAA388-783E-4E1D-BD7A-63469D7FD358}"/>
              </a:ext>
            </a:extLst>
          </p:cNvPr>
          <p:cNvSpPr>
            <a:spLocks noGrp="1"/>
          </p:cNvSpPr>
          <p:nvPr/>
        </p:nvSpPr>
        <p:spPr>
          <a:xfrm>
            <a:off x="4419600" y="1876425"/>
            <a:ext cx="3086100" cy="257175"/>
          </a:xfrm>
          <a:prstGeom prst="rect">
            <a:avLst/>
          </a:prstGeom>
          <a:noFill/>
          <a:ln w="0">
            <a:noFill/>
            <a:prstDash val="solid"/>
          </a:ln>
        </p:spPr>
        <p:txBody>
          <a:bodyPr/>
          <a:lstStyle/>
          <a:p>
            <a:pPr algn="l">
              <a:defRPr sz="1275" b="1" i="0">
                <a:solidFill>
                  <a:srgbClr val="051C2C"/>
                </a:solidFill>
                <a:latin typeface="Aptos Display"/>
                <a:ea typeface="Aptos Display"/>
                <a:cs typeface="Aptos Display"/>
              </a:defRPr>
            </a:pPr>
            <a:r>
              <a:rPr sz="1275" b="1" i="0">
                <a:solidFill>
                  <a:srgbClr val="051C2C"/>
                </a:solidFill>
                <a:latin typeface="Aptos Display"/>
                <a:ea typeface="Aptos Display"/>
                <a:cs typeface="Aptos Display"/>
              </a:rPr>
              <a:t>Lineare Klassenreaktion</a:t>
            </a:r>
          </a:p>
        </p:txBody>
      </p:sp>
      <p:sp>
        <p:nvSpPr>
          <p:cNvPr id="17" name="Rectangle 16">
            <a:extLst>
              <a:ext uri="{FF2B5EF4-FFF2-40B4-BE49-F238E27FC236}">
                <a16:creationId xmlns:a16="http://schemas.microsoft.com/office/drawing/2014/main" id="{EE59CD55-AA9E-4864-8D6A-ADCC75160D79}"/>
              </a:ext>
            </a:extLst>
          </p:cNvPr>
          <p:cNvSpPr>
            <a:spLocks noGrp="1"/>
          </p:cNvSpPr>
          <p:nvPr/>
        </p:nvSpPr>
        <p:spPr>
          <a:xfrm>
            <a:off x="4419600" y="2209800"/>
            <a:ext cx="3086100" cy="838200"/>
          </a:xfrm>
          <a:prstGeom prst="rect">
            <a:avLst/>
          </a:prstGeom>
          <a:noFill/>
          <a:ln w="0">
            <a:noFill/>
            <a:prstDash val="solid"/>
          </a:ln>
        </p:spPr>
        <p:txBody>
          <a:bodyPr/>
          <a:lstStyle/>
          <a:p>
            <a:pPr algn="l">
              <a:defRPr sz="863" b="0" i="0">
                <a:solidFill>
                  <a:srgbClr val="4F6875"/>
                </a:solidFill>
                <a:latin typeface="Aptos"/>
                <a:ea typeface="Aptos"/>
                <a:cs typeface="Aptos"/>
              </a:defRPr>
            </a:pPr>
            <a:r>
              <a:rPr sz="863" b="0" i="0">
                <a:solidFill>
                  <a:srgbClr val="4F6875"/>
                </a:solidFill>
                <a:latin typeface="Aptos"/>
                <a:ea typeface="Aptos"/>
                <a:cs typeface="Aptos"/>
              </a:rPr>
              <a:t>ΔPD und ΔLGD folgen festen β/γ-Werten je Klasse; dieselbe Sensitivität gilt für alle Banken.</a:t>
            </a:r>
          </a:p>
          <a:p>
            <a:endParaRPr sz="863" b="0" i="0">
              <a:solidFill>
                <a:srgbClr val="4F6875"/>
              </a:solidFill>
              <a:latin typeface="Aptos"/>
              <a:ea typeface="Aptos"/>
              <a:cs typeface="Aptos"/>
            </a:endParaRPr>
          </a:p>
          <a:p>
            <a:pPr algn="l">
              <a:defRPr sz="863" b="0" i="0">
                <a:solidFill>
                  <a:srgbClr val="4F6875"/>
                </a:solidFill>
                <a:latin typeface="Aptos"/>
                <a:ea typeface="Aptos"/>
                <a:cs typeface="Aptos"/>
              </a:defRPr>
            </a:pPr>
            <a:r>
              <a:rPr sz="863" b="0" i="0">
                <a:solidFill>
                  <a:srgbClr val="4F6875"/>
                </a:solidFill>
                <a:latin typeface="Aptos"/>
                <a:ea typeface="Aptos"/>
                <a:cs typeface="Aptos"/>
              </a:rPr>
              <a:t>Grenze: keine bankindividuellen Betas, Schwellen- oder Nichtlinearitäten.</a:t>
            </a:r>
          </a:p>
        </p:txBody>
      </p:sp>
      <p:sp>
        <p:nvSpPr>
          <p:cNvPr id="18" name="Rectangle: Rounded Corners 17">
            <a:extLst>
              <a:ext uri="{FF2B5EF4-FFF2-40B4-BE49-F238E27FC236}">
                <a16:creationId xmlns:a16="http://schemas.microsoft.com/office/drawing/2014/main" id="{3176BB99-81EB-42AE-95D8-142F1B614CDE}"/>
              </a:ext>
            </a:extLst>
          </p:cNvPr>
          <p:cNvSpPr>
            <a:spLocks noGrp="1"/>
          </p:cNvSpPr>
          <p:nvPr/>
        </p:nvSpPr>
        <p:spPr>
          <a:xfrm>
            <a:off x="8039100" y="1390650"/>
            <a:ext cx="3429000" cy="1809750"/>
          </a:xfrm>
          <a:prstGeom prst="roundRect">
            <a:avLst>
              <a:gd name="adj" fmla="val 6316"/>
            </a:avLst>
          </a:prstGeom>
          <a:solidFill>
            <a:srgbClr val="FFFFFF"/>
          </a:solidFill>
          <a:ln w="9525">
            <a:solidFill>
              <a:srgbClr val="D5E0E5"/>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19" name="Rectangle 18">
            <a:extLst>
              <a:ext uri="{FF2B5EF4-FFF2-40B4-BE49-F238E27FC236}">
                <a16:creationId xmlns:a16="http://schemas.microsoft.com/office/drawing/2014/main" id="{FB7642D3-ACC2-4429-8891-281E246C98AB}"/>
              </a:ext>
            </a:extLst>
          </p:cNvPr>
          <p:cNvSpPr>
            <a:spLocks noGrp="1"/>
          </p:cNvSpPr>
          <p:nvPr/>
        </p:nvSpPr>
        <p:spPr>
          <a:xfrm>
            <a:off x="8039100" y="1390650"/>
            <a:ext cx="57150" cy="1809750"/>
          </a:xfrm>
          <a:prstGeom prst="rect">
            <a:avLst/>
          </a:prstGeom>
          <a:solidFill>
            <a:srgbClr val="A52F4D"/>
          </a:solidFill>
          <a:ln w="0">
            <a:noFill/>
            <a:prstDash val="solid"/>
          </a:ln>
        </p:spPr>
        <p:txBody>
          <a:bodyPr/>
          <a:lstStyle/>
          <a:p>
            <a:endParaRPr lang="en-US"/>
          </a:p>
        </p:txBody>
      </p:sp>
      <p:sp>
        <p:nvSpPr>
          <p:cNvPr id="20" name="Rectangle: Rounded Corners 19">
            <a:extLst>
              <a:ext uri="{FF2B5EF4-FFF2-40B4-BE49-F238E27FC236}">
                <a16:creationId xmlns:a16="http://schemas.microsoft.com/office/drawing/2014/main" id="{0462FAF6-F007-4EB6-BBA5-7A5D93D9EE2A}"/>
              </a:ext>
            </a:extLst>
          </p:cNvPr>
          <p:cNvSpPr>
            <a:spLocks noGrp="1"/>
          </p:cNvSpPr>
          <p:nvPr/>
        </p:nvSpPr>
        <p:spPr>
          <a:xfrm>
            <a:off x="8210550" y="1524000"/>
            <a:ext cx="1028700" cy="219075"/>
          </a:xfrm>
          <a:prstGeom prst="roundRect">
            <a:avLst>
              <a:gd name="adj" fmla="val 50000"/>
            </a:avLst>
          </a:prstGeom>
          <a:solidFill>
            <a:srgbClr val="A52F4D"/>
          </a:solidFill>
          <a:ln w="0">
            <a:noFill/>
            <a:prstDash val="solid"/>
          </a:ln>
        </p:spPr>
        <p:txBody>
          <a:bodyPr/>
          <a:lstStyle/>
          <a:p>
            <a:endParaRPr lang="en-US"/>
          </a:p>
        </p:txBody>
      </p:sp>
      <p:sp>
        <p:nvSpPr>
          <p:cNvPr id="21" name="Rectangle 20">
            <a:extLst>
              <a:ext uri="{FF2B5EF4-FFF2-40B4-BE49-F238E27FC236}">
                <a16:creationId xmlns:a16="http://schemas.microsoft.com/office/drawing/2014/main" id="{95A89B91-C037-4D3C-9195-3B2C0D463613}"/>
              </a:ext>
            </a:extLst>
          </p:cNvPr>
          <p:cNvSpPr>
            <a:spLocks noGrp="1"/>
          </p:cNvSpPr>
          <p:nvPr/>
        </p:nvSpPr>
        <p:spPr>
          <a:xfrm>
            <a:off x="8248650" y="1562100"/>
            <a:ext cx="952500" cy="142875"/>
          </a:xfrm>
          <a:prstGeom prst="rect">
            <a:avLst/>
          </a:prstGeom>
          <a:noFill/>
          <a:ln w="0">
            <a:noFill/>
            <a:prstDash val="solid"/>
          </a:ln>
        </p:spPr>
        <p:txBody>
          <a:bodyPr/>
          <a:lstStyle/>
          <a:p>
            <a:pPr algn="ctr">
              <a:defRPr sz="713" b="1" i="0">
                <a:solidFill>
                  <a:srgbClr val="FFFFFF"/>
                </a:solidFill>
                <a:latin typeface="Aptos"/>
                <a:ea typeface="Aptos"/>
                <a:cs typeface="Aptos"/>
              </a:defRPr>
            </a:pPr>
            <a:r>
              <a:rPr sz="713" b="1" i="0">
                <a:solidFill>
                  <a:srgbClr val="FFFFFF"/>
                </a:solidFill>
                <a:latin typeface="Aptos"/>
                <a:ea typeface="Aptos"/>
                <a:cs typeface="Aptos"/>
              </a:rPr>
              <a:t>EXPECTED LOSS</a:t>
            </a:r>
          </a:p>
        </p:txBody>
      </p:sp>
      <p:sp>
        <p:nvSpPr>
          <p:cNvPr id="22" name="Rectangle 21">
            <a:extLst>
              <a:ext uri="{FF2B5EF4-FFF2-40B4-BE49-F238E27FC236}">
                <a16:creationId xmlns:a16="http://schemas.microsoft.com/office/drawing/2014/main" id="{3059C407-0F0C-4B69-92EE-82C1E2AFADB7}"/>
              </a:ext>
            </a:extLst>
          </p:cNvPr>
          <p:cNvSpPr>
            <a:spLocks noGrp="1"/>
          </p:cNvSpPr>
          <p:nvPr/>
        </p:nvSpPr>
        <p:spPr>
          <a:xfrm>
            <a:off x="8210550" y="1876425"/>
            <a:ext cx="3086100" cy="257175"/>
          </a:xfrm>
          <a:prstGeom prst="rect">
            <a:avLst/>
          </a:prstGeom>
          <a:noFill/>
          <a:ln w="0">
            <a:noFill/>
            <a:prstDash val="solid"/>
          </a:ln>
        </p:spPr>
        <p:txBody>
          <a:bodyPr/>
          <a:lstStyle/>
          <a:p>
            <a:pPr algn="l">
              <a:defRPr sz="1275" b="1" i="0">
                <a:solidFill>
                  <a:srgbClr val="051C2C"/>
                </a:solidFill>
                <a:latin typeface="Aptos Display"/>
                <a:ea typeface="Aptos Display"/>
                <a:cs typeface="Aptos Display"/>
              </a:defRPr>
            </a:pPr>
            <a:r>
              <a:rPr sz="1275" b="1" i="0">
                <a:solidFill>
                  <a:srgbClr val="051C2C"/>
                </a:solidFill>
                <a:latin typeface="Aptos Display"/>
                <a:ea typeface="Aptos Display"/>
                <a:cs typeface="Aptos Display"/>
              </a:rPr>
              <a:t>Vereinfachter 1-Jahres-Verlust</a:t>
            </a:r>
          </a:p>
        </p:txBody>
      </p:sp>
      <p:sp>
        <p:nvSpPr>
          <p:cNvPr id="23" name="Rectangle 22">
            <a:extLst>
              <a:ext uri="{FF2B5EF4-FFF2-40B4-BE49-F238E27FC236}">
                <a16:creationId xmlns:a16="http://schemas.microsoft.com/office/drawing/2014/main" id="{74A53980-705A-4E8B-B5A6-64308BD658D5}"/>
              </a:ext>
            </a:extLst>
          </p:cNvPr>
          <p:cNvSpPr>
            <a:spLocks noGrp="1"/>
          </p:cNvSpPr>
          <p:nvPr/>
        </p:nvSpPr>
        <p:spPr>
          <a:xfrm>
            <a:off x="8210550" y="2209800"/>
            <a:ext cx="3086100" cy="838200"/>
          </a:xfrm>
          <a:prstGeom prst="rect">
            <a:avLst/>
          </a:prstGeom>
          <a:noFill/>
          <a:ln w="0">
            <a:noFill/>
            <a:prstDash val="solid"/>
          </a:ln>
        </p:spPr>
        <p:txBody>
          <a:bodyPr/>
          <a:lstStyle/>
          <a:p>
            <a:pPr algn="l">
              <a:defRPr sz="863" b="0" i="0">
                <a:solidFill>
                  <a:srgbClr val="4F6875"/>
                </a:solidFill>
                <a:latin typeface="Aptos"/>
                <a:ea typeface="Aptos"/>
                <a:cs typeface="Aptos"/>
              </a:defRPr>
            </a:pPr>
            <a:r>
              <a:rPr sz="863" b="0" i="0">
                <a:solidFill>
                  <a:srgbClr val="4F6875"/>
                </a:solidFill>
                <a:latin typeface="Aptos"/>
                <a:ea typeface="Aptos"/>
                <a:cs typeface="Aptos"/>
              </a:rPr>
              <a:t>ΔEL = Veränderung von PD × LGD × EAD und wirkt als zusätzliche Vorsorge auf CET1.</a:t>
            </a:r>
          </a:p>
          <a:p>
            <a:endParaRPr sz="863" b="0" i="0">
              <a:solidFill>
                <a:srgbClr val="4F6875"/>
              </a:solidFill>
              <a:latin typeface="Aptos"/>
              <a:ea typeface="Aptos"/>
              <a:cs typeface="Aptos"/>
            </a:endParaRPr>
          </a:p>
          <a:p>
            <a:pPr algn="l">
              <a:defRPr sz="863" b="0" i="0">
                <a:solidFill>
                  <a:srgbClr val="4F6875"/>
                </a:solidFill>
                <a:latin typeface="Aptos"/>
                <a:ea typeface="Aptos"/>
                <a:cs typeface="Aptos"/>
              </a:defRPr>
            </a:pPr>
            <a:r>
              <a:rPr sz="863" b="0" i="0">
                <a:solidFill>
                  <a:srgbClr val="4F6875"/>
                </a:solidFill>
                <a:latin typeface="Aptos"/>
                <a:ea typeface="Aptos"/>
                <a:cs typeface="Aptos"/>
              </a:rPr>
              <a:t>Grenze: keine IFRS-9-Stages, Lifetime-ECL, Diskontierung oder Steuereffekte.</a:t>
            </a:r>
          </a:p>
        </p:txBody>
      </p:sp>
      <p:sp>
        <p:nvSpPr>
          <p:cNvPr id="24" name="Rectangle: Rounded Corners 23">
            <a:extLst>
              <a:ext uri="{FF2B5EF4-FFF2-40B4-BE49-F238E27FC236}">
                <a16:creationId xmlns:a16="http://schemas.microsoft.com/office/drawing/2014/main" id="{8A179450-4A8E-47F4-BEF3-78A5C02AFAB2}"/>
              </a:ext>
            </a:extLst>
          </p:cNvPr>
          <p:cNvSpPr>
            <a:spLocks noGrp="1"/>
          </p:cNvSpPr>
          <p:nvPr/>
        </p:nvSpPr>
        <p:spPr>
          <a:xfrm>
            <a:off x="457200" y="3429000"/>
            <a:ext cx="3429000" cy="1809750"/>
          </a:xfrm>
          <a:prstGeom prst="roundRect">
            <a:avLst>
              <a:gd name="adj" fmla="val 6316"/>
            </a:avLst>
          </a:prstGeom>
          <a:solidFill>
            <a:srgbClr val="FFFFFF"/>
          </a:solidFill>
          <a:ln w="9525">
            <a:solidFill>
              <a:srgbClr val="D5E0E5"/>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25" name="Rectangle 24">
            <a:extLst>
              <a:ext uri="{FF2B5EF4-FFF2-40B4-BE49-F238E27FC236}">
                <a16:creationId xmlns:a16="http://schemas.microsoft.com/office/drawing/2014/main" id="{3E7289CB-5A93-433F-B8D9-DB795AB71600}"/>
              </a:ext>
            </a:extLst>
          </p:cNvPr>
          <p:cNvSpPr>
            <a:spLocks noGrp="1"/>
          </p:cNvSpPr>
          <p:nvPr/>
        </p:nvSpPr>
        <p:spPr>
          <a:xfrm>
            <a:off x="457200" y="3429000"/>
            <a:ext cx="57150" cy="1809750"/>
          </a:xfrm>
          <a:prstGeom prst="rect">
            <a:avLst/>
          </a:prstGeom>
          <a:solidFill>
            <a:srgbClr val="0B5D7A"/>
          </a:solidFill>
          <a:ln w="0">
            <a:noFill/>
            <a:prstDash val="solid"/>
          </a:ln>
        </p:spPr>
        <p:txBody>
          <a:bodyPr/>
          <a:lstStyle/>
          <a:p>
            <a:endParaRPr lang="en-US"/>
          </a:p>
        </p:txBody>
      </p:sp>
      <p:sp>
        <p:nvSpPr>
          <p:cNvPr id="26" name="Rectangle: Rounded Corners 25">
            <a:extLst>
              <a:ext uri="{FF2B5EF4-FFF2-40B4-BE49-F238E27FC236}">
                <a16:creationId xmlns:a16="http://schemas.microsoft.com/office/drawing/2014/main" id="{5E48C102-C8FF-4546-8FBD-26181AD98BFE}"/>
              </a:ext>
            </a:extLst>
          </p:cNvPr>
          <p:cNvSpPr>
            <a:spLocks noGrp="1"/>
          </p:cNvSpPr>
          <p:nvPr/>
        </p:nvSpPr>
        <p:spPr>
          <a:xfrm>
            <a:off x="628650" y="3562350"/>
            <a:ext cx="1028700" cy="219075"/>
          </a:xfrm>
          <a:prstGeom prst="roundRect">
            <a:avLst>
              <a:gd name="adj" fmla="val 50000"/>
            </a:avLst>
          </a:prstGeom>
          <a:solidFill>
            <a:srgbClr val="0B5D7A"/>
          </a:solidFill>
          <a:ln w="0">
            <a:noFill/>
            <a:prstDash val="solid"/>
          </a:ln>
        </p:spPr>
        <p:txBody>
          <a:bodyPr/>
          <a:lstStyle/>
          <a:p>
            <a:endParaRPr lang="en-US"/>
          </a:p>
        </p:txBody>
      </p:sp>
      <p:sp>
        <p:nvSpPr>
          <p:cNvPr id="27" name="Rectangle 26">
            <a:extLst>
              <a:ext uri="{FF2B5EF4-FFF2-40B4-BE49-F238E27FC236}">
                <a16:creationId xmlns:a16="http://schemas.microsoft.com/office/drawing/2014/main" id="{04031FE7-0667-4B17-9758-5BF1ECA03A63}"/>
              </a:ext>
            </a:extLst>
          </p:cNvPr>
          <p:cNvSpPr>
            <a:spLocks noGrp="1"/>
          </p:cNvSpPr>
          <p:nvPr/>
        </p:nvSpPr>
        <p:spPr>
          <a:xfrm>
            <a:off x="666750" y="3600450"/>
            <a:ext cx="952500" cy="142875"/>
          </a:xfrm>
          <a:prstGeom prst="rect">
            <a:avLst/>
          </a:prstGeom>
          <a:noFill/>
          <a:ln w="0">
            <a:noFill/>
            <a:prstDash val="solid"/>
          </a:ln>
        </p:spPr>
        <p:txBody>
          <a:bodyPr/>
          <a:lstStyle/>
          <a:p>
            <a:pPr algn="ctr">
              <a:defRPr sz="713" b="1" i="0">
                <a:solidFill>
                  <a:srgbClr val="FFFFFF"/>
                </a:solidFill>
                <a:latin typeface="Aptos"/>
                <a:ea typeface="Aptos"/>
                <a:cs typeface="Aptos"/>
              </a:defRPr>
            </a:pPr>
            <a:r>
              <a:rPr sz="713" b="1" i="0">
                <a:solidFill>
                  <a:srgbClr val="FFFFFF"/>
                </a:solidFill>
                <a:latin typeface="Aptos"/>
                <a:ea typeface="Aptos"/>
                <a:cs typeface="Aptos"/>
              </a:rPr>
              <a:t>IRB / RWA</a:t>
            </a:r>
          </a:p>
        </p:txBody>
      </p:sp>
      <p:sp>
        <p:nvSpPr>
          <p:cNvPr id="28" name="Rectangle 27">
            <a:extLst>
              <a:ext uri="{FF2B5EF4-FFF2-40B4-BE49-F238E27FC236}">
                <a16:creationId xmlns:a16="http://schemas.microsoft.com/office/drawing/2014/main" id="{8C4D2B5F-1697-4454-907B-453B0A361E8D}"/>
              </a:ext>
            </a:extLst>
          </p:cNvPr>
          <p:cNvSpPr>
            <a:spLocks noGrp="1"/>
          </p:cNvSpPr>
          <p:nvPr/>
        </p:nvSpPr>
        <p:spPr>
          <a:xfrm>
            <a:off x="628650" y="3914775"/>
            <a:ext cx="3086100" cy="257175"/>
          </a:xfrm>
          <a:prstGeom prst="rect">
            <a:avLst/>
          </a:prstGeom>
          <a:noFill/>
          <a:ln w="0">
            <a:noFill/>
            <a:prstDash val="solid"/>
          </a:ln>
        </p:spPr>
        <p:txBody>
          <a:bodyPr/>
          <a:lstStyle/>
          <a:p>
            <a:pPr algn="l">
              <a:defRPr sz="1275" b="1" i="0">
                <a:solidFill>
                  <a:srgbClr val="051C2C"/>
                </a:solidFill>
                <a:latin typeface="Aptos Display"/>
                <a:ea typeface="Aptos Display"/>
                <a:cs typeface="Aptos Display"/>
              </a:defRPr>
            </a:pPr>
            <a:r>
              <a:rPr sz="1275" b="1" i="0">
                <a:solidFill>
                  <a:srgbClr val="051C2C"/>
                </a:solidFill>
                <a:latin typeface="Aptos Display"/>
                <a:ea typeface="Aptos Display"/>
                <a:cs typeface="Aptos Display"/>
              </a:rPr>
              <a:t>Regulatorische Kapitalmechanik</a:t>
            </a:r>
          </a:p>
        </p:txBody>
      </p:sp>
      <p:sp>
        <p:nvSpPr>
          <p:cNvPr id="29" name="Rectangle 28">
            <a:extLst>
              <a:ext uri="{FF2B5EF4-FFF2-40B4-BE49-F238E27FC236}">
                <a16:creationId xmlns:a16="http://schemas.microsoft.com/office/drawing/2014/main" id="{86BC9C4E-BFF0-491E-8B62-A1FD19B3BC55}"/>
              </a:ext>
            </a:extLst>
          </p:cNvPr>
          <p:cNvSpPr>
            <a:spLocks noGrp="1"/>
          </p:cNvSpPr>
          <p:nvPr/>
        </p:nvSpPr>
        <p:spPr>
          <a:xfrm>
            <a:off x="628650" y="4248150"/>
            <a:ext cx="3086100" cy="838200"/>
          </a:xfrm>
          <a:prstGeom prst="rect">
            <a:avLst/>
          </a:prstGeom>
          <a:noFill/>
          <a:ln w="0">
            <a:noFill/>
            <a:prstDash val="solid"/>
          </a:ln>
        </p:spPr>
        <p:txBody>
          <a:bodyPr/>
          <a:lstStyle/>
          <a:p>
            <a:pPr algn="l">
              <a:defRPr sz="863" b="0" i="0">
                <a:solidFill>
                  <a:srgbClr val="4F6875"/>
                </a:solidFill>
                <a:latin typeface="Aptos"/>
                <a:ea typeface="Aptos"/>
                <a:cs typeface="Aptos"/>
              </a:defRPr>
            </a:pPr>
            <a:r>
              <a:rPr sz="863" b="0" i="0">
                <a:solidFill>
                  <a:srgbClr val="4F6875"/>
                </a:solidFill>
                <a:latin typeface="Aptos"/>
                <a:ea typeface="Aptos"/>
                <a:cs typeface="Aptos"/>
              </a:rPr>
              <a:t>Gestresste PD/LGD fließen in die Basel-IRB-Formel; RWA = K × 12,5 × EAD.</a:t>
            </a:r>
          </a:p>
          <a:p>
            <a:endParaRPr sz="863" b="0" i="0">
              <a:solidFill>
                <a:srgbClr val="4F6875"/>
              </a:solidFill>
              <a:latin typeface="Aptos"/>
              <a:ea typeface="Aptos"/>
              <a:cs typeface="Aptos"/>
            </a:endParaRPr>
          </a:p>
          <a:p>
            <a:pPr algn="l">
              <a:defRPr sz="863" b="0" i="0">
                <a:solidFill>
                  <a:srgbClr val="4F6875"/>
                </a:solidFill>
                <a:latin typeface="Aptos"/>
                <a:ea typeface="Aptos"/>
                <a:cs typeface="Aptos"/>
              </a:defRPr>
            </a:pPr>
            <a:r>
              <a:rPr sz="863" b="0" i="0">
                <a:solidFill>
                  <a:srgbClr val="4F6875"/>
                </a:solidFill>
                <a:latin typeface="Aptos"/>
                <a:ea typeface="Aptos"/>
                <a:cs typeface="Aptos"/>
              </a:rPr>
              <a:t>Grenze: keine Portfolio-Umschichtung, Kapitalmaßnahmen oder Management Actions.</a:t>
            </a:r>
          </a:p>
        </p:txBody>
      </p:sp>
      <p:sp>
        <p:nvSpPr>
          <p:cNvPr id="30" name="Rectangle: Rounded Corners 29">
            <a:extLst>
              <a:ext uri="{FF2B5EF4-FFF2-40B4-BE49-F238E27FC236}">
                <a16:creationId xmlns:a16="http://schemas.microsoft.com/office/drawing/2014/main" id="{08F4A108-728A-4DC2-9776-44C4D912B7B0}"/>
              </a:ext>
            </a:extLst>
          </p:cNvPr>
          <p:cNvSpPr>
            <a:spLocks noGrp="1"/>
          </p:cNvSpPr>
          <p:nvPr/>
        </p:nvSpPr>
        <p:spPr>
          <a:xfrm>
            <a:off x="4248150" y="3429000"/>
            <a:ext cx="3429000" cy="1809750"/>
          </a:xfrm>
          <a:prstGeom prst="roundRect">
            <a:avLst>
              <a:gd name="adj" fmla="val 6316"/>
            </a:avLst>
          </a:prstGeom>
          <a:solidFill>
            <a:srgbClr val="FFFFFF"/>
          </a:solidFill>
          <a:ln w="9525">
            <a:solidFill>
              <a:srgbClr val="D5E0E5"/>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31" name="Rectangle 30">
            <a:extLst>
              <a:ext uri="{FF2B5EF4-FFF2-40B4-BE49-F238E27FC236}">
                <a16:creationId xmlns:a16="http://schemas.microsoft.com/office/drawing/2014/main" id="{5E29F45B-2DBA-4D90-8389-8C3B0DB9F8DF}"/>
              </a:ext>
            </a:extLst>
          </p:cNvPr>
          <p:cNvSpPr>
            <a:spLocks noGrp="1"/>
          </p:cNvSpPr>
          <p:nvPr/>
        </p:nvSpPr>
        <p:spPr>
          <a:xfrm>
            <a:off x="4248150" y="3429000"/>
            <a:ext cx="57150" cy="1809750"/>
          </a:xfrm>
          <a:prstGeom prst="rect">
            <a:avLst/>
          </a:prstGeom>
          <a:solidFill>
            <a:srgbClr val="D9A124"/>
          </a:solidFill>
          <a:ln w="0">
            <a:noFill/>
            <a:prstDash val="solid"/>
          </a:ln>
        </p:spPr>
        <p:txBody>
          <a:bodyPr/>
          <a:lstStyle/>
          <a:p>
            <a:endParaRPr lang="en-US"/>
          </a:p>
        </p:txBody>
      </p:sp>
      <p:sp>
        <p:nvSpPr>
          <p:cNvPr id="32" name="Rectangle: Rounded Corners 31">
            <a:extLst>
              <a:ext uri="{FF2B5EF4-FFF2-40B4-BE49-F238E27FC236}">
                <a16:creationId xmlns:a16="http://schemas.microsoft.com/office/drawing/2014/main" id="{F0760FD3-394D-436D-B06B-193FA328CC1E}"/>
              </a:ext>
            </a:extLst>
          </p:cNvPr>
          <p:cNvSpPr>
            <a:spLocks noGrp="1"/>
          </p:cNvSpPr>
          <p:nvPr/>
        </p:nvSpPr>
        <p:spPr>
          <a:xfrm>
            <a:off x="4419600" y="3562350"/>
            <a:ext cx="1028700" cy="219075"/>
          </a:xfrm>
          <a:prstGeom prst="roundRect">
            <a:avLst>
              <a:gd name="adj" fmla="val 50000"/>
            </a:avLst>
          </a:prstGeom>
          <a:solidFill>
            <a:srgbClr val="D9A124"/>
          </a:solidFill>
          <a:ln w="0">
            <a:noFill/>
            <a:prstDash val="solid"/>
          </a:ln>
        </p:spPr>
        <p:txBody>
          <a:bodyPr/>
          <a:lstStyle/>
          <a:p>
            <a:endParaRPr lang="en-US"/>
          </a:p>
        </p:txBody>
      </p:sp>
      <p:sp>
        <p:nvSpPr>
          <p:cNvPr id="33" name="Rectangle 32">
            <a:extLst>
              <a:ext uri="{FF2B5EF4-FFF2-40B4-BE49-F238E27FC236}">
                <a16:creationId xmlns:a16="http://schemas.microsoft.com/office/drawing/2014/main" id="{9CF1513F-25D8-444B-80FD-3B1A2F64D405}"/>
              </a:ext>
            </a:extLst>
          </p:cNvPr>
          <p:cNvSpPr>
            <a:spLocks noGrp="1"/>
          </p:cNvSpPr>
          <p:nvPr/>
        </p:nvSpPr>
        <p:spPr>
          <a:xfrm>
            <a:off x="4457700" y="3600450"/>
            <a:ext cx="952500" cy="142875"/>
          </a:xfrm>
          <a:prstGeom prst="rect">
            <a:avLst/>
          </a:prstGeom>
          <a:noFill/>
          <a:ln w="0">
            <a:noFill/>
            <a:prstDash val="solid"/>
          </a:ln>
        </p:spPr>
        <p:txBody>
          <a:bodyPr/>
          <a:lstStyle/>
          <a:p>
            <a:pPr algn="ctr">
              <a:defRPr sz="713" b="1" i="0">
                <a:solidFill>
                  <a:srgbClr val="FFFFFF"/>
                </a:solidFill>
                <a:latin typeface="Aptos"/>
                <a:ea typeface="Aptos"/>
                <a:cs typeface="Aptos"/>
              </a:defRPr>
            </a:pPr>
            <a:r>
              <a:rPr sz="713" b="1" i="0">
                <a:solidFill>
                  <a:srgbClr val="FFFFFF"/>
                </a:solidFill>
                <a:latin typeface="Aptos"/>
                <a:ea typeface="Aptos"/>
                <a:cs typeface="Aptos"/>
              </a:rPr>
              <a:t>SOVEREIGNS</a:t>
            </a:r>
          </a:p>
        </p:txBody>
      </p:sp>
      <p:sp>
        <p:nvSpPr>
          <p:cNvPr id="34" name="Rectangle 33">
            <a:extLst>
              <a:ext uri="{FF2B5EF4-FFF2-40B4-BE49-F238E27FC236}">
                <a16:creationId xmlns:a16="http://schemas.microsoft.com/office/drawing/2014/main" id="{77D55CDD-7FB6-4253-B77D-456A8EFE3B81}"/>
              </a:ext>
            </a:extLst>
          </p:cNvPr>
          <p:cNvSpPr>
            <a:spLocks noGrp="1"/>
          </p:cNvSpPr>
          <p:nvPr/>
        </p:nvSpPr>
        <p:spPr>
          <a:xfrm>
            <a:off x="4419600" y="3914775"/>
            <a:ext cx="3086100" cy="257175"/>
          </a:xfrm>
          <a:prstGeom prst="rect">
            <a:avLst/>
          </a:prstGeom>
          <a:noFill/>
          <a:ln w="0">
            <a:noFill/>
            <a:prstDash val="solid"/>
          </a:ln>
        </p:spPr>
        <p:txBody>
          <a:bodyPr/>
          <a:lstStyle/>
          <a:p>
            <a:pPr algn="l">
              <a:defRPr sz="1275" b="1" i="0">
                <a:solidFill>
                  <a:srgbClr val="051C2C"/>
                </a:solidFill>
                <a:latin typeface="Aptos Display"/>
                <a:ea typeface="Aptos Display"/>
                <a:cs typeface="Aptos Display"/>
              </a:defRPr>
            </a:pPr>
            <a:r>
              <a:rPr sz="1275" b="1" i="0">
                <a:solidFill>
                  <a:srgbClr val="051C2C"/>
                </a:solidFill>
                <a:latin typeface="Aptos Display"/>
                <a:ea typeface="Aptos Display"/>
                <a:cs typeface="Aptos Display"/>
              </a:rPr>
              <a:t>Duration- und IFRS-9-Proxy</a:t>
            </a:r>
          </a:p>
        </p:txBody>
      </p:sp>
      <p:sp>
        <p:nvSpPr>
          <p:cNvPr id="35" name="Rectangle 34">
            <a:extLst>
              <a:ext uri="{FF2B5EF4-FFF2-40B4-BE49-F238E27FC236}">
                <a16:creationId xmlns:a16="http://schemas.microsoft.com/office/drawing/2014/main" id="{2C9DBBA7-5D1F-4B6B-957D-024954C72F40}"/>
              </a:ext>
            </a:extLst>
          </p:cNvPr>
          <p:cNvSpPr>
            <a:spLocks noGrp="1"/>
          </p:cNvSpPr>
          <p:nvPr/>
        </p:nvSpPr>
        <p:spPr>
          <a:xfrm>
            <a:off x="4419600" y="4248150"/>
            <a:ext cx="3086100" cy="838200"/>
          </a:xfrm>
          <a:prstGeom prst="rect">
            <a:avLst/>
          </a:prstGeom>
          <a:noFill/>
          <a:ln w="0">
            <a:noFill/>
            <a:prstDash val="solid"/>
          </a:ln>
        </p:spPr>
        <p:txBody>
          <a:bodyPr/>
          <a:lstStyle/>
          <a:p>
            <a:pPr algn="l">
              <a:defRPr sz="863" b="0" i="0">
                <a:solidFill>
                  <a:srgbClr val="4F6875"/>
                </a:solidFill>
                <a:latin typeface="Aptos"/>
                <a:ea typeface="Aptos"/>
                <a:cs typeface="Aptos"/>
              </a:defRPr>
            </a:pPr>
            <a:r>
              <a:rPr sz="863" b="0" i="0">
                <a:solidFill>
                  <a:srgbClr val="4F6875"/>
                </a:solidFill>
                <a:latin typeface="Aptos"/>
                <a:ea typeface="Aptos"/>
                <a:cs typeface="Aptos"/>
              </a:rPr>
              <a:t>Parallel-Shift; Duration aus Laufzeitband-Mittelpunkten, &gt;10Y = 15Y. Nur HfT/FVTPL/FVOCI wirken direkt auf CET1.</a:t>
            </a:r>
          </a:p>
          <a:p>
            <a:endParaRPr sz="863" b="0" i="0">
              <a:solidFill>
                <a:srgbClr val="4F6875"/>
              </a:solidFill>
              <a:latin typeface="Aptos"/>
              <a:ea typeface="Aptos"/>
              <a:cs typeface="Aptos"/>
            </a:endParaRPr>
          </a:p>
          <a:p>
            <a:pPr algn="l">
              <a:defRPr sz="863" b="0" i="0">
                <a:solidFill>
                  <a:srgbClr val="4F6875"/>
                </a:solidFill>
                <a:latin typeface="Aptos"/>
                <a:ea typeface="Aptos"/>
                <a:cs typeface="Aptos"/>
              </a:defRPr>
            </a:pPr>
            <a:r>
              <a:rPr sz="863" b="0" i="0">
                <a:solidFill>
                  <a:srgbClr val="4F6875"/>
                </a:solidFill>
                <a:latin typeface="Aptos"/>
                <a:ea typeface="Aptos"/>
                <a:cs typeface="Aptos"/>
              </a:rPr>
              <a:t>Grenze: keine Spreads, Hedges oder Konvexität.</a:t>
            </a:r>
          </a:p>
        </p:txBody>
      </p:sp>
      <p:sp>
        <p:nvSpPr>
          <p:cNvPr id="36" name="Rectangle: Rounded Corners 35">
            <a:extLst>
              <a:ext uri="{FF2B5EF4-FFF2-40B4-BE49-F238E27FC236}">
                <a16:creationId xmlns:a16="http://schemas.microsoft.com/office/drawing/2014/main" id="{FE9F0270-376D-499C-B7B2-58B06A6A5075}"/>
              </a:ext>
            </a:extLst>
          </p:cNvPr>
          <p:cNvSpPr>
            <a:spLocks noGrp="1"/>
          </p:cNvSpPr>
          <p:nvPr/>
        </p:nvSpPr>
        <p:spPr>
          <a:xfrm>
            <a:off x="8039100" y="3429000"/>
            <a:ext cx="3429000" cy="1809750"/>
          </a:xfrm>
          <a:prstGeom prst="roundRect">
            <a:avLst>
              <a:gd name="adj" fmla="val 6316"/>
            </a:avLst>
          </a:prstGeom>
          <a:solidFill>
            <a:srgbClr val="FFFFFF"/>
          </a:solidFill>
          <a:ln w="9525">
            <a:solidFill>
              <a:srgbClr val="D5E0E5"/>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37" name="Rectangle 36">
            <a:extLst>
              <a:ext uri="{FF2B5EF4-FFF2-40B4-BE49-F238E27FC236}">
                <a16:creationId xmlns:a16="http://schemas.microsoft.com/office/drawing/2014/main" id="{ACC1D7B9-1C1A-482A-847C-30A5113C40E3}"/>
              </a:ext>
            </a:extLst>
          </p:cNvPr>
          <p:cNvSpPr>
            <a:spLocks noGrp="1"/>
          </p:cNvSpPr>
          <p:nvPr/>
        </p:nvSpPr>
        <p:spPr>
          <a:xfrm>
            <a:off x="8039100" y="3429000"/>
            <a:ext cx="57150" cy="1809750"/>
          </a:xfrm>
          <a:prstGeom prst="rect">
            <a:avLst/>
          </a:prstGeom>
          <a:solidFill>
            <a:srgbClr val="687A84"/>
          </a:solidFill>
          <a:ln w="0">
            <a:noFill/>
            <a:prstDash val="solid"/>
          </a:ln>
        </p:spPr>
        <p:txBody>
          <a:bodyPr/>
          <a:lstStyle/>
          <a:p>
            <a:endParaRPr lang="en-US"/>
          </a:p>
        </p:txBody>
      </p:sp>
      <p:sp>
        <p:nvSpPr>
          <p:cNvPr id="38" name="Rectangle: Rounded Corners 37">
            <a:extLst>
              <a:ext uri="{FF2B5EF4-FFF2-40B4-BE49-F238E27FC236}">
                <a16:creationId xmlns:a16="http://schemas.microsoft.com/office/drawing/2014/main" id="{A0AF605B-2ECF-491D-A037-E0291F88691E}"/>
              </a:ext>
            </a:extLst>
          </p:cNvPr>
          <p:cNvSpPr>
            <a:spLocks noGrp="1"/>
          </p:cNvSpPr>
          <p:nvPr/>
        </p:nvSpPr>
        <p:spPr>
          <a:xfrm>
            <a:off x="8210550" y="3562350"/>
            <a:ext cx="1028700" cy="219075"/>
          </a:xfrm>
          <a:prstGeom prst="roundRect">
            <a:avLst>
              <a:gd name="adj" fmla="val 50000"/>
            </a:avLst>
          </a:prstGeom>
          <a:solidFill>
            <a:srgbClr val="687A84"/>
          </a:solidFill>
          <a:ln w="0">
            <a:noFill/>
            <a:prstDash val="solid"/>
          </a:ln>
        </p:spPr>
        <p:txBody>
          <a:bodyPr/>
          <a:lstStyle/>
          <a:p>
            <a:endParaRPr lang="en-US"/>
          </a:p>
        </p:txBody>
      </p:sp>
      <p:sp>
        <p:nvSpPr>
          <p:cNvPr id="39" name="Rectangle 38">
            <a:extLst>
              <a:ext uri="{FF2B5EF4-FFF2-40B4-BE49-F238E27FC236}">
                <a16:creationId xmlns:a16="http://schemas.microsoft.com/office/drawing/2014/main" id="{68F92A66-BBD0-4D60-BD14-670CF554B136}"/>
              </a:ext>
            </a:extLst>
          </p:cNvPr>
          <p:cNvSpPr>
            <a:spLocks noGrp="1"/>
          </p:cNvSpPr>
          <p:nvPr/>
        </p:nvSpPr>
        <p:spPr>
          <a:xfrm>
            <a:off x="8248650" y="3600450"/>
            <a:ext cx="952500" cy="142875"/>
          </a:xfrm>
          <a:prstGeom prst="rect">
            <a:avLst/>
          </a:prstGeom>
          <a:noFill/>
          <a:ln w="0">
            <a:noFill/>
            <a:prstDash val="solid"/>
          </a:ln>
        </p:spPr>
        <p:txBody>
          <a:bodyPr/>
          <a:lstStyle/>
          <a:p>
            <a:pPr algn="ctr">
              <a:defRPr sz="713" b="1" i="0">
                <a:solidFill>
                  <a:srgbClr val="FFFFFF"/>
                </a:solidFill>
                <a:latin typeface="Aptos"/>
                <a:ea typeface="Aptos"/>
                <a:cs typeface="Aptos"/>
              </a:defRPr>
            </a:pPr>
            <a:r>
              <a:rPr sz="713" b="1" i="0">
                <a:solidFill>
                  <a:srgbClr val="FFFFFF"/>
                </a:solidFill>
                <a:latin typeface="Aptos"/>
                <a:ea typeface="Aptos"/>
                <a:cs typeface="Aptos"/>
              </a:rPr>
              <a:t>SCOPE</a:t>
            </a:r>
          </a:p>
        </p:txBody>
      </p:sp>
      <p:sp>
        <p:nvSpPr>
          <p:cNvPr id="40" name="Rectangle 39">
            <a:extLst>
              <a:ext uri="{FF2B5EF4-FFF2-40B4-BE49-F238E27FC236}">
                <a16:creationId xmlns:a16="http://schemas.microsoft.com/office/drawing/2014/main" id="{72B0B63E-69C3-470C-B425-AB643D7113F8}"/>
              </a:ext>
            </a:extLst>
          </p:cNvPr>
          <p:cNvSpPr>
            <a:spLocks noGrp="1"/>
          </p:cNvSpPr>
          <p:nvPr/>
        </p:nvSpPr>
        <p:spPr>
          <a:xfrm>
            <a:off x="8210550" y="3914775"/>
            <a:ext cx="3086100" cy="257175"/>
          </a:xfrm>
          <a:prstGeom prst="rect">
            <a:avLst/>
          </a:prstGeom>
          <a:noFill/>
          <a:ln w="0">
            <a:noFill/>
            <a:prstDash val="solid"/>
          </a:ln>
        </p:spPr>
        <p:txBody>
          <a:bodyPr/>
          <a:lstStyle/>
          <a:p>
            <a:pPr algn="l">
              <a:defRPr sz="1275" b="1" i="0">
                <a:solidFill>
                  <a:srgbClr val="051C2C"/>
                </a:solidFill>
                <a:latin typeface="Aptos Display"/>
                <a:ea typeface="Aptos Display"/>
                <a:cs typeface="Aptos Display"/>
              </a:defRPr>
            </a:pPr>
            <a:r>
              <a:rPr sz="1275" b="1" i="0">
                <a:solidFill>
                  <a:srgbClr val="051C2C"/>
                </a:solidFill>
                <a:latin typeface="Aptos Display"/>
                <a:ea typeface="Aptos Display"/>
                <a:cs typeface="Aptos Display"/>
              </a:rPr>
              <a:t>Bewusst nicht modelliert</a:t>
            </a:r>
          </a:p>
        </p:txBody>
      </p:sp>
      <p:sp>
        <p:nvSpPr>
          <p:cNvPr id="41" name="Rectangle 40">
            <a:extLst>
              <a:ext uri="{FF2B5EF4-FFF2-40B4-BE49-F238E27FC236}">
                <a16:creationId xmlns:a16="http://schemas.microsoft.com/office/drawing/2014/main" id="{85B367E8-8DE7-4A82-A503-9E93492E0955}"/>
              </a:ext>
            </a:extLst>
          </p:cNvPr>
          <p:cNvSpPr>
            <a:spLocks noGrp="1"/>
          </p:cNvSpPr>
          <p:nvPr/>
        </p:nvSpPr>
        <p:spPr>
          <a:xfrm>
            <a:off x="8210550" y="4248150"/>
            <a:ext cx="3086100" cy="838200"/>
          </a:xfrm>
          <a:prstGeom prst="rect">
            <a:avLst/>
          </a:prstGeom>
          <a:noFill/>
          <a:ln w="0">
            <a:noFill/>
            <a:prstDash val="solid"/>
          </a:ln>
        </p:spPr>
        <p:txBody>
          <a:bodyPr/>
          <a:lstStyle/>
          <a:p>
            <a:pPr algn="l">
              <a:defRPr sz="863" b="0" i="0">
                <a:solidFill>
                  <a:srgbClr val="4F6875"/>
                </a:solidFill>
                <a:latin typeface="Aptos"/>
                <a:ea typeface="Aptos"/>
                <a:cs typeface="Aptos"/>
              </a:defRPr>
            </a:pPr>
            <a:r>
              <a:rPr sz="863" b="0" i="0">
                <a:solidFill>
                  <a:srgbClr val="4F6875"/>
                </a:solidFill>
                <a:latin typeface="Aptos"/>
                <a:ea typeface="Aptos"/>
                <a:cs typeface="Aptos"/>
              </a:rPr>
              <a:t>Trading-Book-Stress, Liquiditätsrisiko, operationelles Risiko, Zweitrundeneffekte und dynamische Bilanzreaktionen.</a:t>
            </a:r>
          </a:p>
          <a:p>
            <a:endParaRPr sz="863" b="0" i="0">
              <a:solidFill>
                <a:srgbClr val="4F6875"/>
              </a:solidFill>
              <a:latin typeface="Aptos"/>
              <a:ea typeface="Aptos"/>
              <a:cs typeface="Aptos"/>
            </a:endParaRPr>
          </a:p>
          <a:p>
            <a:pPr algn="l">
              <a:defRPr sz="863" b="0" i="0">
                <a:solidFill>
                  <a:srgbClr val="4F6875"/>
                </a:solidFill>
                <a:latin typeface="Aptos"/>
                <a:ea typeface="Aptos"/>
                <a:cs typeface="Aptos"/>
              </a:defRPr>
            </a:pPr>
            <a:r>
              <a:rPr sz="863" b="0" i="0">
                <a:solidFill>
                  <a:srgbClr val="4F6875"/>
                </a:solidFill>
                <a:latin typeface="Aptos"/>
                <a:ea typeface="Aptos"/>
                <a:cs typeface="Aptos"/>
              </a:rPr>
              <a:t>Folge: Ergebnis nicht als regulatorischer Kapitalplan interpretieren.</a:t>
            </a:r>
          </a:p>
        </p:txBody>
      </p:sp>
      <p:sp>
        <p:nvSpPr>
          <p:cNvPr id="42" name="Rectangle: Rounded Corners 41">
            <a:extLst>
              <a:ext uri="{FF2B5EF4-FFF2-40B4-BE49-F238E27FC236}">
                <a16:creationId xmlns:a16="http://schemas.microsoft.com/office/drawing/2014/main" id="{E149A434-FD31-4313-B7D5-004637D5E1E7}"/>
              </a:ext>
            </a:extLst>
          </p:cNvPr>
          <p:cNvSpPr>
            <a:spLocks noGrp="1"/>
          </p:cNvSpPr>
          <p:nvPr/>
        </p:nvSpPr>
        <p:spPr>
          <a:xfrm>
            <a:off x="457200" y="5467350"/>
            <a:ext cx="11277600" cy="704850"/>
          </a:xfrm>
          <a:prstGeom prst="roundRect">
            <a:avLst>
              <a:gd name="adj" fmla="val 16216"/>
            </a:avLst>
          </a:prstGeom>
          <a:solidFill>
            <a:srgbClr val="051C2C"/>
          </a:solidFill>
          <a:ln w="9525">
            <a:solidFill>
              <a:srgbClr val="051C2C"/>
            </a:solidFill>
            <a:prstDash val="solid"/>
          </a:ln>
        </p:spPr>
        <p:txBody>
          <a:bodyPr/>
          <a:lstStyle/>
          <a:p>
            <a:endParaRPr lang="en-US"/>
          </a:p>
        </p:txBody>
      </p:sp>
      <p:sp>
        <p:nvSpPr>
          <p:cNvPr id="43" name="Rectangle 42">
            <a:extLst>
              <a:ext uri="{FF2B5EF4-FFF2-40B4-BE49-F238E27FC236}">
                <a16:creationId xmlns:a16="http://schemas.microsoft.com/office/drawing/2014/main" id="{80F54AF5-EC64-46E1-95E2-9465860F0C4E}"/>
              </a:ext>
            </a:extLst>
          </p:cNvPr>
          <p:cNvSpPr>
            <a:spLocks noGrp="1"/>
          </p:cNvSpPr>
          <p:nvPr/>
        </p:nvSpPr>
        <p:spPr>
          <a:xfrm>
            <a:off x="638175" y="5619750"/>
            <a:ext cx="1047750" cy="152400"/>
          </a:xfrm>
          <a:prstGeom prst="rect">
            <a:avLst/>
          </a:prstGeom>
          <a:noFill/>
          <a:ln w="0">
            <a:noFill/>
            <a:prstDash val="solid"/>
          </a:ln>
        </p:spPr>
        <p:txBody>
          <a:bodyPr/>
          <a:lstStyle/>
          <a:p>
            <a:pPr algn="l">
              <a:defRPr sz="788" b="1" i="0">
                <a:solidFill>
                  <a:srgbClr val="A9D6DF"/>
                </a:solidFill>
                <a:latin typeface="Aptos"/>
                <a:ea typeface="Aptos"/>
                <a:cs typeface="Aptos"/>
              </a:defRPr>
            </a:pPr>
            <a:r>
              <a:rPr sz="788" b="1" i="0">
                <a:solidFill>
                  <a:srgbClr val="A9D6DF"/>
                </a:solidFill>
                <a:latin typeface="Aptos"/>
                <a:ea typeface="Aptos"/>
                <a:cs typeface="Aptos"/>
              </a:rPr>
              <a:t>GEEIGNET FÜR</a:t>
            </a:r>
          </a:p>
        </p:txBody>
      </p:sp>
      <p:sp>
        <p:nvSpPr>
          <p:cNvPr id="44" name="Rectangle 43">
            <a:extLst>
              <a:ext uri="{FF2B5EF4-FFF2-40B4-BE49-F238E27FC236}">
                <a16:creationId xmlns:a16="http://schemas.microsoft.com/office/drawing/2014/main" id="{0506D074-8687-4C73-8A8C-41063BAA0A9D}"/>
              </a:ext>
            </a:extLst>
          </p:cNvPr>
          <p:cNvSpPr>
            <a:spLocks noGrp="1"/>
          </p:cNvSpPr>
          <p:nvPr/>
        </p:nvSpPr>
        <p:spPr>
          <a:xfrm>
            <a:off x="1685925" y="5600700"/>
            <a:ext cx="4286250" cy="180975"/>
          </a:xfrm>
          <a:prstGeom prst="rect">
            <a:avLst/>
          </a:prstGeom>
          <a:noFill/>
          <a:ln w="0">
            <a:noFill/>
            <a:prstDash val="solid"/>
          </a:ln>
        </p:spPr>
        <p:txBody>
          <a:bodyPr/>
          <a:lstStyle/>
          <a:p>
            <a:pPr algn="l">
              <a:defRPr sz="938" b="1" i="0">
                <a:solidFill>
                  <a:srgbClr val="FFFFFF"/>
                </a:solidFill>
                <a:latin typeface="Aptos"/>
                <a:ea typeface="Aptos"/>
                <a:cs typeface="Aptos"/>
              </a:defRPr>
            </a:pPr>
            <a:r>
              <a:rPr sz="938" b="1" i="0">
                <a:solidFill>
                  <a:srgbClr val="FFFFFF"/>
                </a:solidFill>
                <a:latin typeface="Aptos"/>
                <a:ea typeface="Aptos"/>
                <a:cs typeface="Aptos"/>
              </a:rPr>
              <a:t>Szenariovergleich · relative Bank- und Klassenanfälligkeit · Kanalattribution</a:t>
            </a:r>
          </a:p>
        </p:txBody>
      </p:sp>
      <p:sp>
        <p:nvSpPr>
          <p:cNvPr id="45" name="Rectangle 44">
            <a:extLst>
              <a:ext uri="{FF2B5EF4-FFF2-40B4-BE49-F238E27FC236}">
                <a16:creationId xmlns:a16="http://schemas.microsoft.com/office/drawing/2014/main" id="{5DC07219-548C-4CE2-AED8-78FA11BD29DE}"/>
              </a:ext>
            </a:extLst>
          </p:cNvPr>
          <p:cNvSpPr>
            <a:spLocks noGrp="1"/>
          </p:cNvSpPr>
          <p:nvPr/>
        </p:nvSpPr>
        <p:spPr>
          <a:xfrm>
            <a:off x="6286500" y="5619750"/>
            <a:ext cx="1476375" cy="152400"/>
          </a:xfrm>
          <a:prstGeom prst="rect">
            <a:avLst/>
          </a:prstGeom>
          <a:noFill/>
          <a:ln w="0">
            <a:noFill/>
            <a:prstDash val="solid"/>
          </a:ln>
        </p:spPr>
        <p:txBody>
          <a:bodyPr/>
          <a:lstStyle/>
          <a:p>
            <a:pPr algn="l">
              <a:defRPr sz="788" b="1" i="0">
                <a:solidFill>
                  <a:srgbClr val="F1BCC8"/>
                </a:solidFill>
                <a:latin typeface="Aptos"/>
                <a:ea typeface="Aptos"/>
                <a:cs typeface="Aptos"/>
              </a:defRPr>
            </a:pPr>
            <a:r>
              <a:rPr sz="788" b="1" i="0">
                <a:solidFill>
                  <a:srgbClr val="F1BCC8"/>
                </a:solidFill>
                <a:latin typeface="Aptos"/>
                <a:ea typeface="Aptos"/>
                <a:cs typeface="Aptos"/>
              </a:rPr>
              <a:t>NICHT GEEIGNET FÜR</a:t>
            </a:r>
          </a:p>
        </p:txBody>
      </p:sp>
      <p:sp>
        <p:nvSpPr>
          <p:cNvPr id="46" name="Rectangle 45">
            <a:extLst>
              <a:ext uri="{FF2B5EF4-FFF2-40B4-BE49-F238E27FC236}">
                <a16:creationId xmlns:a16="http://schemas.microsoft.com/office/drawing/2014/main" id="{56DB924E-2D1B-4E8C-A26A-7A66A0AED08D}"/>
              </a:ext>
            </a:extLst>
          </p:cNvPr>
          <p:cNvSpPr>
            <a:spLocks noGrp="1"/>
          </p:cNvSpPr>
          <p:nvPr/>
        </p:nvSpPr>
        <p:spPr>
          <a:xfrm>
            <a:off x="7762875" y="5600700"/>
            <a:ext cx="3667125" cy="180975"/>
          </a:xfrm>
          <a:prstGeom prst="rect">
            <a:avLst/>
          </a:prstGeom>
          <a:noFill/>
          <a:ln w="0">
            <a:noFill/>
            <a:prstDash val="solid"/>
          </a:ln>
        </p:spPr>
        <p:txBody>
          <a:bodyPr/>
          <a:lstStyle/>
          <a:p>
            <a:pPr algn="l">
              <a:defRPr sz="938" b="1" i="0">
                <a:solidFill>
                  <a:srgbClr val="FFFFFF"/>
                </a:solidFill>
                <a:latin typeface="Aptos"/>
                <a:ea typeface="Aptos"/>
                <a:cs typeface="Aptos"/>
              </a:defRPr>
            </a:pPr>
            <a:r>
              <a:rPr sz="938" b="1" i="0">
                <a:solidFill>
                  <a:srgbClr val="FFFFFF"/>
                </a:solidFill>
                <a:latin typeface="Aptos"/>
                <a:ea typeface="Aptos"/>
                <a:cs typeface="Aptos"/>
              </a:rPr>
              <a:t>Forecast · IFRS-9-Abschluss · regulatorische Kapitalplanung</a:t>
            </a:r>
          </a:p>
        </p:txBody>
      </p:sp>
      <p:sp>
        <p:nvSpPr>
          <p:cNvPr id="47" name="Rectangle 46">
            <a:extLst>
              <a:ext uri="{FF2B5EF4-FFF2-40B4-BE49-F238E27FC236}">
                <a16:creationId xmlns:a16="http://schemas.microsoft.com/office/drawing/2014/main" id="{06D02184-BD7D-44AF-9988-35FAA2C442AB}"/>
              </a:ext>
            </a:extLst>
          </p:cNvPr>
          <p:cNvSpPr>
            <a:spLocks noGrp="1"/>
          </p:cNvSpPr>
          <p:nvPr/>
        </p:nvSpPr>
        <p:spPr>
          <a:xfrm>
            <a:off x="638175" y="5905500"/>
            <a:ext cx="10810875" cy="161925"/>
          </a:xfrm>
          <a:prstGeom prst="rect">
            <a:avLst/>
          </a:prstGeom>
          <a:noFill/>
          <a:ln w="0">
            <a:noFill/>
            <a:prstDash val="solid"/>
          </a:ln>
        </p:spPr>
        <p:txBody>
          <a:bodyPr/>
          <a:lstStyle/>
          <a:p>
            <a:pPr algn="ctr">
              <a:defRPr sz="788" b="0" i="0">
                <a:solidFill>
                  <a:srgbClr val="DCE8ED"/>
                </a:solidFill>
                <a:latin typeface="Aptos"/>
                <a:ea typeface="Aptos"/>
                <a:cs typeface="Aptos"/>
              </a:defRPr>
            </a:pPr>
            <a:r>
              <a:rPr sz="788" b="0" i="0">
                <a:solidFill>
                  <a:srgbClr val="DCE8ED"/>
                </a:solidFill>
                <a:latin typeface="Aptos"/>
                <a:ea typeface="Aptos"/>
                <a:cs typeface="Aptos"/>
              </a:rPr>
              <a:t>Governance-Prinzip: Annahmen sind transparent, editierbar und über Sensitivitäts- sowie Backtests zu challengen.</a:t>
            </a:r>
          </a:p>
        </p:txBody>
      </p:sp>
      <p:sp>
        <p:nvSpPr>
          <p:cNvPr id="48" name="Rectangle 47">
            <a:extLst>
              <a:ext uri="{FF2B5EF4-FFF2-40B4-BE49-F238E27FC236}">
                <a16:creationId xmlns:a16="http://schemas.microsoft.com/office/drawing/2014/main" id="{7C4C4EE4-B136-422D-8000-A2F86E279A47}"/>
              </a:ext>
            </a:extLst>
          </p:cNvPr>
          <p:cNvSpPr>
            <a:spLocks noGrp="1"/>
          </p:cNvSpPr>
          <p:nvPr/>
        </p:nvSpPr>
        <p:spPr>
          <a:xfrm>
            <a:off x="457200" y="6486525"/>
            <a:ext cx="10382250" cy="152400"/>
          </a:xfrm>
          <a:prstGeom prst="rect">
            <a:avLst/>
          </a:prstGeom>
          <a:noFill/>
          <a:ln w="0">
            <a:noFill/>
            <a:prstDash val="solid"/>
          </a:ln>
        </p:spPr>
        <p:txBody>
          <a:bodyPr/>
          <a:lstStyle/>
          <a:p>
            <a:pPr algn="l">
              <a:defRPr sz="653" b="0" i="0">
                <a:solidFill>
                  <a:srgbClr val="71858F"/>
                </a:solidFill>
                <a:latin typeface="Aptos"/>
                <a:ea typeface="Aptos"/>
                <a:cs typeface="Aptos"/>
              </a:defRPr>
            </a:pPr>
            <a:r>
              <a:rPr sz="653" b="0" i="0">
                <a:solidFill>
                  <a:srgbClr val="71858F"/>
                </a:solidFill>
                <a:latin typeface="Aptos"/>
                <a:ea typeface="Aptos"/>
                <a:cs typeface="Aptos"/>
              </a:rPr>
              <a:t>Quelle: MODEL_ASSUMPTIONS.md · EBA/Pillar-3-Daten · Basel III / CRR · IFRS 9 · Modellimplementierung</a:t>
            </a:r>
          </a:p>
        </p:txBody>
      </p:sp>
      <p:sp>
        <p:nvSpPr>
          <p:cNvPr id="5" name="CodexSlideNumber">
            <a:extLst>
              <a:ext uri="{FF2B5EF4-FFF2-40B4-BE49-F238E27FC236}">
                <a16:creationId xmlns:a16="http://schemas.microsoft.com/office/drawing/2014/main" id="{A92636BC-C919-841F-8776-54F9BE20CAE7}"/>
              </a:ext>
            </a:extLst>
          </p:cNvPr>
          <p:cNvSpPr txBox="1"/>
          <p:nvPr/>
        </p:nvSpPr>
        <p:spPr>
          <a:xfrm>
            <a:off x="11226800" y="6553200"/>
            <a:ext cx="736600" cy="123111"/>
          </a:xfrm>
          <a:prstGeom prst="rect">
            <a:avLst/>
          </a:prstGeom>
          <a:noFill/>
        </p:spPr>
        <p:txBody>
          <a:bodyPr vert="horz" lIns="0" tIns="0" rIns="0" bIns="0" rtlCol="0">
            <a:spAutoFit/>
          </a:bodyPr>
          <a:lstStyle/>
          <a:p>
            <a:pPr algn="r"/>
            <a:r>
              <a:rPr lang="en-US" sz="800">
                <a:solidFill>
                  <a:srgbClr val="525252"/>
                </a:solidFill>
                <a:latin typeface="Arial" panose="020B0604020202020204" pitchFamily="34" charset="0"/>
              </a:rPr>
              <a:t>9 / 64</a:t>
            </a:r>
          </a:p>
        </p:txBody>
      </p:sp>
    </p:spTree>
    <p:extLst>
      <p:ext uri="{BB962C8B-B14F-4D97-AF65-F5344CB8AC3E}">
        <p14:creationId xmlns:p14="http://schemas.microsoft.com/office/powerpoint/2010/main" val="9372291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E28D5F68-CC12-452D-95ED-85D1DF7ADD87}"/>
              </a:ext>
            </a:extLst>
          </p:cNvPr>
          <p:cNvSpPr>
            <a:spLocks noGrp="1"/>
          </p:cNvSpPr>
          <p:nvPr/>
        </p:nvSpPr>
        <p:spPr>
          <a:xfrm>
            <a:off x="0" y="0"/>
            <a:ext cx="12192000" cy="6858000"/>
          </a:xfrm>
          <a:prstGeom prst="rect">
            <a:avLst/>
          </a:prstGeom>
          <a:solidFill>
            <a:srgbClr val="071C2C"/>
          </a:solidFill>
        </p:spPr>
        <p:txBody>
          <a:bodyPr/>
          <a:lstStyle/>
          <a:p>
            <a:endParaRPr lang="en-US"/>
          </a:p>
        </p:txBody>
      </p:sp>
      <p:sp>
        <p:nvSpPr>
          <p:cNvPr id="2" name="kicker-factor-divider-marker">
            <a:extLst>
              <a:ext uri="{FF2B5EF4-FFF2-40B4-BE49-F238E27FC236}">
                <a16:creationId xmlns:a16="http://schemas.microsoft.com/office/drawing/2014/main" id="{437B6B66-E373-4A20-9F96-8246953782B3}"/>
              </a:ext>
            </a:extLst>
          </p:cNvPr>
          <p:cNvSpPr>
            <a:spLocks noGrp="1"/>
          </p:cNvSpPr>
          <p:nvPr/>
        </p:nvSpPr>
        <p:spPr>
          <a:xfrm>
            <a:off x="609600" y="676275"/>
            <a:ext cx="76200" cy="76200"/>
          </a:xfrm>
          <a:prstGeom prst="rect">
            <a:avLst/>
          </a:prstGeom>
          <a:solidFill>
            <a:srgbClr val="A63B4D"/>
          </a:solidFill>
        </p:spPr>
        <p:txBody>
          <a:bodyPr/>
          <a:lstStyle/>
          <a:p>
            <a:endParaRPr lang="en-US"/>
          </a:p>
        </p:txBody>
      </p:sp>
      <p:sp>
        <p:nvSpPr>
          <p:cNvPr id="3" name="kicker-factor-divider-label">
            <a:extLst>
              <a:ext uri="{FF2B5EF4-FFF2-40B4-BE49-F238E27FC236}">
                <a16:creationId xmlns:a16="http://schemas.microsoft.com/office/drawing/2014/main" id="{EE9FDFAC-7938-44BA-98DE-669FFE9F6D49}"/>
              </a:ext>
            </a:extLst>
          </p:cNvPr>
          <p:cNvSpPr>
            <a:spLocks noGrp="1"/>
          </p:cNvSpPr>
          <p:nvPr/>
        </p:nvSpPr>
        <p:spPr>
          <a:xfrm>
            <a:off x="800100" y="609600"/>
            <a:ext cx="4000500" cy="209550"/>
          </a:xfrm>
          <a:prstGeom prst="rect">
            <a:avLst/>
          </a:prstGeom>
        </p:spPr>
        <p:txBody>
          <a:bodyPr lIns="0" tIns="0" rIns="0" bIns="0" anchor="ctr"/>
          <a:lstStyle/>
          <a:p>
            <a:pPr algn="l">
              <a:defRPr sz="1050" b="1">
                <a:solidFill>
                  <a:srgbClr val="D7E0E5"/>
                </a:solidFill>
                <a:latin typeface="Aptos"/>
                <a:ea typeface="Aptos"/>
                <a:cs typeface="Aptos"/>
              </a:defRPr>
            </a:pPr>
            <a:r>
              <a:t>FAKTOR-ANALYSE</a:t>
            </a:r>
          </a:p>
        </p:txBody>
      </p:sp>
      <p:sp>
        <p:nvSpPr>
          <p:cNvPr id="5" name="Rectangle 4">
            <a:extLst>
              <a:ext uri="{FF2B5EF4-FFF2-40B4-BE49-F238E27FC236}">
                <a16:creationId xmlns:a16="http://schemas.microsoft.com/office/drawing/2014/main" id="{054B9C11-286F-4E21-8314-B0529BA9156B}"/>
              </a:ext>
            </a:extLst>
          </p:cNvPr>
          <p:cNvSpPr>
            <a:spLocks noGrp="1"/>
          </p:cNvSpPr>
          <p:nvPr/>
        </p:nvSpPr>
        <p:spPr>
          <a:xfrm>
            <a:off x="609600" y="2152650"/>
            <a:ext cx="857250" cy="76200"/>
          </a:xfrm>
          <a:prstGeom prst="rect">
            <a:avLst/>
          </a:prstGeom>
          <a:solidFill>
            <a:srgbClr val="A63B4D"/>
          </a:solidFill>
        </p:spPr>
        <p:txBody>
          <a:bodyPr/>
          <a:lstStyle/>
          <a:p>
            <a:endParaRPr lang="en-US"/>
          </a:p>
        </p:txBody>
      </p:sp>
      <p:sp>
        <p:nvSpPr>
          <p:cNvPr id="6" name="Rectangle 5">
            <a:extLst>
              <a:ext uri="{FF2B5EF4-FFF2-40B4-BE49-F238E27FC236}">
                <a16:creationId xmlns:a16="http://schemas.microsoft.com/office/drawing/2014/main" id="{D7A218DB-3600-4D67-92E4-BEFF9FDDEBE2}"/>
              </a:ext>
            </a:extLst>
          </p:cNvPr>
          <p:cNvSpPr>
            <a:spLocks noGrp="1"/>
          </p:cNvSpPr>
          <p:nvPr/>
        </p:nvSpPr>
        <p:spPr>
          <a:xfrm>
            <a:off x="609600" y="2438400"/>
            <a:ext cx="9715500" cy="1428750"/>
          </a:xfrm>
          <a:prstGeom prst="rect">
            <a:avLst/>
          </a:prstGeom>
        </p:spPr>
        <p:txBody>
          <a:bodyPr lIns="0" tIns="0" rIns="0" bIns="0" anchor="t"/>
          <a:lstStyle/>
          <a:p>
            <a:pPr algn="l">
              <a:defRPr sz="4800" b="1">
                <a:solidFill>
                  <a:srgbClr val="FFFFFF"/>
                </a:solidFill>
                <a:latin typeface="Aptos Display"/>
                <a:ea typeface="Aptos Display"/>
                <a:cs typeface="Aptos Display"/>
              </a:defRPr>
            </a:pPr>
            <a:r>
              <a:t>Faktor-Analyse</a:t>
            </a:r>
          </a:p>
        </p:txBody>
      </p:sp>
      <p:sp>
        <p:nvSpPr>
          <p:cNvPr id="7" name="Rectangle 6">
            <a:extLst>
              <a:ext uri="{FF2B5EF4-FFF2-40B4-BE49-F238E27FC236}">
                <a16:creationId xmlns:a16="http://schemas.microsoft.com/office/drawing/2014/main" id="{7427B9AF-0ED2-4C62-92E5-1836F415CD7B}"/>
              </a:ext>
            </a:extLst>
          </p:cNvPr>
          <p:cNvSpPr>
            <a:spLocks noGrp="1"/>
          </p:cNvSpPr>
          <p:nvPr/>
        </p:nvSpPr>
        <p:spPr>
          <a:xfrm>
            <a:off x="609600" y="4076700"/>
            <a:ext cx="8572500" cy="666750"/>
          </a:xfrm>
          <a:prstGeom prst="rect">
            <a:avLst/>
          </a:prstGeom>
        </p:spPr>
        <p:txBody>
          <a:bodyPr lIns="0" tIns="0" rIns="0" bIns="0" anchor="t"/>
          <a:lstStyle/>
          <a:p>
            <a:pPr algn="l">
              <a:defRPr sz="1800" b="0">
                <a:solidFill>
                  <a:srgbClr val="C7D2D9"/>
                </a:solidFill>
                <a:latin typeface="Aptos"/>
                <a:ea typeface="Aptos"/>
                <a:cs typeface="Aptos"/>
              </a:defRPr>
            </a:pPr>
            <a:r>
              <a:t>Warum Brent und Zins getrennt bleiben und wie sie sektorspezifisch auf PD und LGD wirken.</a:t>
            </a:r>
          </a:p>
        </p:txBody>
      </p:sp>
      <p:sp>
        <p:nvSpPr>
          <p:cNvPr id="4" name="CodexSlideNumber">
            <a:extLst>
              <a:ext uri="{FF2B5EF4-FFF2-40B4-BE49-F238E27FC236}">
                <a16:creationId xmlns:a16="http://schemas.microsoft.com/office/drawing/2014/main" id="{F572CE65-2783-77F8-1286-6CB3FB06039B}"/>
              </a:ext>
            </a:extLst>
          </p:cNvPr>
          <p:cNvSpPr txBox="1"/>
          <p:nvPr/>
        </p:nvSpPr>
        <p:spPr>
          <a:xfrm>
            <a:off x="11226800" y="6553200"/>
            <a:ext cx="736600" cy="123111"/>
          </a:xfrm>
          <a:prstGeom prst="rect">
            <a:avLst/>
          </a:prstGeom>
          <a:noFill/>
        </p:spPr>
        <p:txBody>
          <a:bodyPr vert="horz" lIns="0" tIns="0" rIns="0" bIns="0" rtlCol="0">
            <a:spAutoFit/>
          </a:bodyPr>
          <a:lstStyle/>
          <a:p>
            <a:pPr algn="r"/>
            <a:r>
              <a:rPr lang="en-US" sz="800">
                <a:solidFill>
                  <a:srgbClr val="525252"/>
                </a:solidFill>
                <a:latin typeface="Arial" panose="020B0604020202020204" pitchFamily="34" charset="0"/>
              </a:rPr>
              <a:t>10 / 64</a:t>
            </a:r>
          </a:p>
        </p:txBody>
      </p:sp>
    </p:spTree>
    <p:extLst>
      <p:ext uri="{BB962C8B-B14F-4D97-AF65-F5344CB8AC3E}">
        <p14:creationId xmlns:p14="http://schemas.microsoft.com/office/powerpoint/2010/main" val="8646190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19C35BD-124A-412A-8FE9-CC6A7546A41B}"/>
              </a:ext>
            </a:extLst>
          </p:cNvPr>
          <p:cNvSpPr>
            <a:spLocks noGrp="1"/>
          </p:cNvSpPr>
          <p:nvPr/>
        </p:nvSpPr>
        <p:spPr>
          <a:xfrm>
            <a:off x="457200" y="228600"/>
            <a:ext cx="4572000" cy="171450"/>
          </a:xfrm>
          <a:prstGeom prst="rect">
            <a:avLst/>
          </a:prstGeom>
          <a:noFill/>
          <a:ln w="0">
            <a:noFill/>
            <a:prstDash val="solid"/>
          </a:ln>
        </p:spPr>
        <p:txBody>
          <a:bodyPr/>
          <a:lstStyle/>
          <a:p>
            <a:pPr algn="l">
              <a:defRPr sz="863" b="1" i="0">
                <a:solidFill>
                  <a:srgbClr val="A52F4D"/>
                </a:solidFill>
                <a:latin typeface="Aptos"/>
                <a:ea typeface="Aptos"/>
                <a:cs typeface="Aptos"/>
              </a:defRPr>
            </a:pPr>
            <a:r>
              <a:rPr lang="en-GB" sz="863" b="1" i="0" dirty="0">
                <a:solidFill>
                  <a:schemeClr val="tx2"/>
                </a:solidFill>
                <a:latin typeface="Aptos"/>
                <a:ea typeface="Aptos"/>
                <a:cs typeface="Aptos"/>
              </a:rPr>
              <a:t>FAKTORAUSWAHL</a:t>
            </a:r>
          </a:p>
        </p:txBody>
      </p:sp>
      <p:sp>
        <p:nvSpPr>
          <p:cNvPr id="3" name="Rectangle 2">
            <a:extLst>
              <a:ext uri="{FF2B5EF4-FFF2-40B4-BE49-F238E27FC236}">
                <a16:creationId xmlns:a16="http://schemas.microsoft.com/office/drawing/2014/main" id="{CD2DF228-F904-48CE-9277-0C8ACC3395D2}"/>
              </a:ext>
            </a:extLst>
          </p:cNvPr>
          <p:cNvSpPr>
            <a:spLocks noGrp="1"/>
          </p:cNvSpPr>
          <p:nvPr/>
        </p:nvSpPr>
        <p:spPr>
          <a:xfrm>
            <a:off x="457200" y="457200"/>
            <a:ext cx="11191875" cy="409575"/>
          </a:xfrm>
          <a:prstGeom prst="rect">
            <a:avLst/>
          </a:prstGeom>
          <a:noFill/>
          <a:ln w="0">
            <a:noFill/>
            <a:prstDash val="solid"/>
          </a:ln>
        </p:spPr>
        <p:txBody>
          <a:bodyPr/>
          <a:lstStyle/>
          <a:p>
            <a:pPr algn="l">
              <a:defRPr sz="2475" b="1" i="0">
                <a:solidFill>
                  <a:srgbClr val="051C2C"/>
                </a:solidFill>
                <a:latin typeface="Aptos Display"/>
                <a:ea typeface="Aptos Display"/>
                <a:cs typeface="Aptos Display"/>
              </a:defRPr>
            </a:pPr>
            <a:r>
              <a:rPr sz="2475" b="1" i="0">
                <a:solidFill>
                  <a:srgbClr val="051C2C"/>
                </a:solidFill>
                <a:latin typeface="Aptos Display"/>
                <a:ea typeface="Aptos Display"/>
                <a:cs typeface="Aptos Display"/>
              </a:rPr>
              <a:t>Brent und 10Y-Zins adressieren unterschiedliche ökonomische Risiken</a:t>
            </a:r>
          </a:p>
        </p:txBody>
      </p:sp>
      <p:sp>
        <p:nvSpPr>
          <p:cNvPr id="4" name="Rectangle 3">
            <a:extLst>
              <a:ext uri="{FF2B5EF4-FFF2-40B4-BE49-F238E27FC236}">
                <a16:creationId xmlns:a16="http://schemas.microsoft.com/office/drawing/2014/main" id="{1247EE6A-7873-40C2-8935-5F694FBEC744}"/>
              </a:ext>
            </a:extLst>
          </p:cNvPr>
          <p:cNvSpPr>
            <a:spLocks noGrp="1"/>
          </p:cNvSpPr>
          <p:nvPr/>
        </p:nvSpPr>
        <p:spPr>
          <a:xfrm>
            <a:off x="457200" y="914400"/>
            <a:ext cx="11096625" cy="228600"/>
          </a:xfrm>
          <a:prstGeom prst="rect">
            <a:avLst/>
          </a:prstGeom>
          <a:noFill/>
          <a:ln w="0">
            <a:noFill/>
            <a:prstDash val="solid"/>
          </a:ln>
        </p:spPr>
        <p:txBody>
          <a:bodyPr/>
          <a:lstStyle/>
          <a:p>
            <a:pPr algn="l">
              <a:defRPr sz="1125" b="0" i="0">
                <a:solidFill>
                  <a:srgbClr val="4F6875"/>
                </a:solidFill>
                <a:latin typeface="Aptos"/>
                <a:ea typeface="Aptos"/>
                <a:cs typeface="Aptos"/>
              </a:defRPr>
            </a:pPr>
            <a:r>
              <a:rPr sz="1125" b="0" i="0">
                <a:solidFill>
                  <a:srgbClr val="4F6875"/>
                </a:solidFill>
                <a:latin typeface="Aptos"/>
                <a:ea typeface="Aptos"/>
                <a:cs typeface="Aptos"/>
              </a:rPr>
              <a:t>Die Faktoren werden nicht aggregiert, weil sie verschiedene Ursachen, Bilanzkanäle und sektorale Gewinner bzw. Verlierer erzeugen.</a:t>
            </a:r>
          </a:p>
        </p:txBody>
      </p:sp>
      <p:sp>
        <p:nvSpPr>
          <p:cNvPr id="6" name="Rectangle: Rounded Corners 5">
            <a:extLst>
              <a:ext uri="{FF2B5EF4-FFF2-40B4-BE49-F238E27FC236}">
                <a16:creationId xmlns:a16="http://schemas.microsoft.com/office/drawing/2014/main" id="{F6C007FC-65FF-4F2F-ABC3-E34D68D654E1}"/>
              </a:ext>
            </a:extLst>
          </p:cNvPr>
          <p:cNvSpPr>
            <a:spLocks noGrp="1"/>
          </p:cNvSpPr>
          <p:nvPr/>
        </p:nvSpPr>
        <p:spPr>
          <a:xfrm>
            <a:off x="457200" y="1495425"/>
            <a:ext cx="4762500" cy="3743325"/>
          </a:xfrm>
          <a:prstGeom prst="roundRect">
            <a:avLst>
              <a:gd name="adj" fmla="val 3053"/>
            </a:avLst>
          </a:prstGeom>
          <a:solidFill>
            <a:srgbClr val="FFFFFF"/>
          </a:solidFill>
          <a:ln w="9525">
            <a:solidFill>
              <a:srgbClr val="D5E0E5"/>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7" name="Rectangle 6">
            <a:extLst>
              <a:ext uri="{FF2B5EF4-FFF2-40B4-BE49-F238E27FC236}">
                <a16:creationId xmlns:a16="http://schemas.microsoft.com/office/drawing/2014/main" id="{F02AFF62-F71F-4222-8C2E-942D21FF7269}"/>
              </a:ext>
            </a:extLst>
          </p:cNvPr>
          <p:cNvSpPr>
            <a:spLocks noGrp="1"/>
          </p:cNvSpPr>
          <p:nvPr/>
        </p:nvSpPr>
        <p:spPr>
          <a:xfrm>
            <a:off x="457200" y="1495425"/>
            <a:ext cx="57150" cy="3743325"/>
          </a:xfrm>
          <a:prstGeom prst="rect">
            <a:avLst/>
          </a:prstGeom>
          <a:solidFill>
            <a:srgbClr val="0B5D7A"/>
          </a:solidFill>
          <a:ln w="0">
            <a:noFill/>
            <a:prstDash val="solid"/>
          </a:ln>
        </p:spPr>
        <p:txBody>
          <a:bodyPr/>
          <a:lstStyle/>
          <a:p>
            <a:endParaRPr lang="en-US"/>
          </a:p>
        </p:txBody>
      </p:sp>
      <p:sp>
        <p:nvSpPr>
          <p:cNvPr id="8" name="Rectangle: Rounded Corners 7">
            <a:extLst>
              <a:ext uri="{FF2B5EF4-FFF2-40B4-BE49-F238E27FC236}">
                <a16:creationId xmlns:a16="http://schemas.microsoft.com/office/drawing/2014/main" id="{E96B1A4C-201B-4FE8-A36F-EE2FD84C11AD}"/>
              </a:ext>
            </a:extLst>
          </p:cNvPr>
          <p:cNvSpPr>
            <a:spLocks noGrp="1"/>
          </p:cNvSpPr>
          <p:nvPr/>
        </p:nvSpPr>
        <p:spPr>
          <a:xfrm>
            <a:off x="609600" y="1619250"/>
            <a:ext cx="714375" cy="219075"/>
          </a:xfrm>
          <a:prstGeom prst="roundRect">
            <a:avLst>
              <a:gd name="adj" fmla="val 50000"/>
            </a:avLst>
          </a:prstGeom>
          <a:solidFill>
            <a:srgbClr val="0B5D7A"/>
          </a:solidFill>
          <a:ln w="0">
            <a:noFill/>
            <a:prstDash val="solid"/>
          </a:ln>
        </p:spPr>
        <p:txBody>
          <a:bodyPr/>
          <a:lstStyle/>
          <a:p>
            <a:endParaRPr lang="en-US"/>
          </a:p>
        </p:txBody>
      </p:sp>
      <p:sp>
        <p:nvSpPr>
          <p:cNvPr id="9" name="Rectangle 8">
            <a:extLst>
              <a:ext uri="{FF2B5EF4-FFF2-40B4-BE49-F238E27FC236}">
                <a16:creationId xmlns:a16="http://schemas.microsoft.com/office/drawing/2014/main" id="{4EB0C31C-5C28-49DC-8183-25A19B1AADF7}"/>
              </a:ext>
            </a:extLst>
          </p:cNvPr>
          <p:cNvSpPr>
            <a:spLocks noGrp="1"/>
          </p:cNvSpPr>
          <p:nvPr/>
        </p:nvSpPr>
        <p:spPr>
          <a:xfrm>
            <a:off x="647700" y="1657350"/>
            <a:ext cx="638175" cy="142875"/>
          </a:xfrm>
          <a:prstGeom prst="rect">
            <a:avLst/>
          </a:prstGeom>
          <a:noFill/>
          <a:ln w="0">
            <a:noFill/>
            <a:prstDash val="solid"/>
          </a:ln>
        </p:spPr>
        <p:txBody>
          <a:bodyPr/>
          <a:lstStyle/>
          <a:p>
            <a:pPr algn="ctr">
              <a:defRPr sz="713" b="1" i="0">
                <a:solidFill>
                  <a:srgbClr val="FFFFFF"/>
                </a:solidFill>
                <a:latin typeface="Aptos"/>
                <a:ea typeface="Aptos"/>
                <a:cs typeface="Aptos"/>
              </a:defRPr>
            </a:pPr>
            <a:r>
              <a:rPr sz="713" b="1" i="0">
                <a:solidFill>
                  <a:srgbClr val="FFFFFF"/>
                </a:solidFill>
                <a:latin typeface="Aptos"/>
                <a:ea typeface="Aptos"/>
                <a:cs typeface="Aptos"/>
              </a:rPr>
              <a:t>FAKTOR A</a:t>
            </a:r>
          </a:p>
        </p:txBody>
      </p:sp>
      <p:sp>
        <p:nvSpPr>
          <p:cNvPr id="10" name="Rectangle 9">
            <a:extLst>
              <a:ext uri="{FF2B5EF4-FFF2-40B4-BE49-F238E27FC236}">
                <a16:creationId xmlns:a16="http://schemas.microsoft.com/office/drawing/2014/main" id="{7D041DAC-5B77-410A-8E35-3590FFB3B37B}"/>
              </a:ext>
            </a:extLst>
          </p:cNvPr>
          <p:cNvSpPr>
            <a:spLocks noGrp="1"/>
          </p:cNvSpPr>
          <p:nvPr/>
        </p:nvSpPr>
        <p:spPr>
          <a:xfrm>
            <a:off x="619125" y="1943100"/>
            <a:ext cx="4438650" cy="266700"/>
          </a:xfrm>
          <a:prstGeom prst="rect">
            <a:avLst/>
          </a:prstGeom>
          <a:noFill/>
          <a:ln w="0">
            <a:noFill/>
            <a:prstDash val="solid"/>
          </a:ln>
        </p:spPr>
        <p:txBody>
          <a:bodyPr/>
          <a:lstStyle/>
          <a:p>
            <a:pPr algn="l">
              <a:defRPr sz="1425" b="1" i="0">
                <a:solidFill>
                  <a:srgbClr val="051C2C"/>
                </a:solidFill>
                <a:latin typeface="Aptos Display"/>
                <a:ea typeface="Aptos Display"/>
                <a:cs typeface="Aptos Display"/>
              </a:defRPr>
            </a:pPr>
            <a:r>
              <a:rPr sz="1425" b="1" i="0">
                <a:solidFill>
                  <a:srgbClr val="051C2C"/>
                </a:solidFill>
                <a:latin typeface="Aptos Display"/>
                <a:ea typeface="Aptos Display"/>
                <a:cs typeface="Aptos Display"/>
              </a:rPr>
              <a:t>ΔBrent · Energie- und Angebotsschock</a:t>
            </a:r>
          </a:p>
        </p:txBody>
      </p:sp>
      <p:sp>
        <p:nvSpPr>
          <p:cNvPr id="11" name="Rectangle 10">
            <a:extLst>
              <a:ext uri="{FF2B5EF4-FFF2-40B4-BE49-F238E27FC236}">
                <a16:creationId xmlns:a16="http://schemas.microsoft.com/office/drawing/2014/main" id="{5F97BE03-AC5D-4A1C-8871-FCFB9BDDEDCC}"/>
              </a:ext>
            </a:extLst>
          </p:cNvPr>
          <p:cNvSpPr>
            <a:spLocks noGrp="1"/>
          </p:cNvSpPr>
          <p:nvPr/>
        </p:nvSpPr>
        <p:spPr>
          <a:xfrm>
            <a:off x="619125" y="2266950"/>
            <a:ext cx="4438650" cy="2886075"/>
          </a:xfrm>
          <a:prstGeom prst="rect">
            <a:avLst/>
          </a:prstGeom>
          <a:noFill/>
          <a:ln w="0">
            <a:noFill/>
            <a:prstDash val="solid"/>
          </a:ln>
        </p:spPr>
        <p:txBody>
          <a:bodyPr/>
          <a:lstStyle/>
          <a:p>
            <a:pPr algn="l">
              <a:defRPr sz="1050" b="0" i="0">
                <a:solidFill>
                  <a:srgbClr val="4F6875"/>
                </a:solidFill>
                <a:latin typeface="Aptos"/>
                <a:ea typeface="Aptos"/>
                <a:cs typeface="Aptos"/>
              </a:defRPr>
            </a:pPr>
            <a:r>
              <a:rPr lang="en-US" sz="1050" b="0" i="0">
                <a:solidFill>
                  <a:srgbClr val="4F6875"/>
                </a:solidFill>
                <a:latin typeface="Aptos"/>
                <a:ea typeface="Aptos"/>
                <a:cs typeface="Aptos"/>
              </a:rPr>
              <a:t>Warum</a:t>
            </a:r>
            <a:r>
              <a:rPr sz="1050" b="0" i="0" dirty="0">
                <a:solidFill>
                  <a:srgbClr val="4F6875"/>
                </a:solidFill>
                <a:latin typeface="Aptos"/>
                <a:ea typeface="Aptos"/>
                <a:cs typeface="Aptos"/>
              </a:rPr>
              <a:t> Brent?</a:t>
            </a:r>
          </a:p>
          <a:p>
            <a:pPr algn="l">
              <a:defRPr sz="1050" b="0" i="0">
                <a:solidFill>
                  <a:srgbClr val="4F6875"/>
                </a:solidFill>
                <a:latin typeface="Aptos"/>
                <a:ea typeface="Aptos"/>
                <a:cs typeface="Aptos"/>
              </a:defRPr>
            </a:pPr>
            <a:r>
              <a:rPr lang="en-US" sz="1050" b="0" i="0">
                <a:solidFill>
                  <a:srgbClr val="4F6875"/>
                </a:solidFill>
                <a:latin typeface="Aptos"/>
                <a:ea typeface="Aptos"/>
                <a:cs typeface="Aptos"/>
              </a:rPr>
              <a:t>Europäischer</a:t>
            </a:r>
            <a:r>
              <a:rPr sz="1050" b="0" i="0" dirty="0">
                <a:solidFill>
                  <a:srgbClr val="4F6875"/>
                </a:solidFill>
                <a:latin typeface="Aptos"/>
                <a:ea typeface="Aptos"/>
                <a:cs typeface="Aptos"/>
              </a:rPr>
              <a:t> </a:t>
            </a:r>
            <a:r>
              <a:rPr lang="en-US" sz="1050" b="0" i="0">
                <a:solidFill>
                  <a:srgbClr val="4F6875"/>
                </a:solidFill>
                <a:latin typeface="Aptos"/>
                <a:ea typeface="Aptos"/>
                <a:cs typeface="Aptos"/>
              </a:rPr>
              <a:t>Referenzpreis</a:t>
            </a:r>
            <a:r>
              <a:rPr sz="1050" b="0" i="0" dirty="0">
                <a:solidFill>
                  <a:srgbClr val="4F6875"/>
                </a:solidFill>
                <a:latin typeface="Aptos"/>
                <a:ea typeface="Aptos"/>
                <a:cs typeface="Aptos"/>
              </a:rPr>
              <a:t> für global </a:t>
            </a:r>
            <a:r>
              <a:rPr lang="en-US" sz="1050" b="0" i="0">
                <a:solidFill>
                  <a:srgbClr val="4F6875"/>
                </a:solidFill>
                <a:latin typeface="Aptos"/>
                <a:ea typeface="Aptos"/>
                <a:cs typeface="Aptos"/>
              </a:rPr>
              <a:t>gehandeltes</a:t>
            </a:r>
            <a:r>
              <a:rPr sz="1050" b="0" i="0" dirty="0">
                <a:solidFill>
                  <a:srgbClr val="4F6875"/>
                </a:solidFill>
                <a:latin typeface="Aptos"/>
                <a:ea typeface="Aptos"/>
                <a:cs typeface="Aptos"/>
              </a:rPr>
              <a:t> </a:t>
            </a:r>
            <a:r>
              <a:rPr lang="en-US" sz="1050" b="0" i="0">
                <a:solidFill>
                  <a:srgbClr val="4F6875"/>
                </a:solidFill>
                <a:latin typeface="Aptos"/>
                <a:ea typeface="Aptos"/>
                <a:cs typeface="Aptos"/>
              </a:rPr>
              <a:t>Rohöl</a:t>
            </a:r>
            <a:r>
              <a:rPr sz="1050" b="0" i="0" dirty="0">
                <a:solidFill>
                  <a:srgbClr val="4F6875"/>
                </a:solidFill>
                <a:latin typeface="Aptos"/>
                <a:ea typeface="Aptos"/>
                <a:cs typeface="Aptos"/>
              </a:rPr>
              <a:t>.</a:t>
            </a:r>
          </a:p>
          <a:p>
            <a:endParaRPr sz="1050" b="0" i="0" dirty="0">
              <a:solidFill>
                <a:srgbClr val="4F6875"/>
              </a:solidFill>
              <a:latin typeface="Aptos"/>
              <a:ea typeface="Aptos"/>
              <a:cs typeface="Aptos"/>
            </a:endParaRPr>
          </a:p>
          <a:p>
            <a:pPr algn="l">
              <a:defRPr sz="1050" b="0" i="0">
                <a:solidFill>
                  <a:srgbClr val="4F6875"/>
                </a:solidFill>
                <a:latin typeface="Aptos"/>
                <a:ea typeface="Aptos"/>
                <a:cs typeface="Aptos"/>
              </a:defRPr>
            </a:pPr>
            <a:r>
              <a:rPr lang="en-US" sz="1050" b="0" i="0">
                <a:solidFill>
                  <a:srgbClr val="4F6875"/>
                </a:solidFill>
                <a:latin typeface="Aptos"/>
                <a:ea typeface="Aptos"/>
                <a:cs typeface="Aptos"/>
              </a:rPr>
              <a:t>Wirkungskanäle</a:t>
            </a:r>
            <a:endParaRPr sz="1050" b="0" i="0" dirty="0">
              <a:solidFill>
                <a:srgbClr val="4F6875"/>
              </a:solidFill>
              <a:latin typeface="Aptos"/>
              <a:ea typeface="Aptos"/>
              <a:cs typeface="Aptos"/>
            </a:endParaRPr>
          </a:p>
          <a:p>
            <a:pPr algn="l">
              <a:defRPr sz="1050" b="0" i="0">
                <a:solidFill>
                  <a:srgbClr val="4F6875"/>
                </a:solidFill>
                <a:latin typeface="Aptos"/>
                <a:ea typeface="Aptos"/>
                <a:cs typeface="Aptos"/>
              </a:defRPr>
            </a:pPr>
            <a:r>
              <a:rPr sz="1050" b="0" i="0" dirty="0">
                <a:solidFill>
                  <a:srgbClr val="4F6875"/>
                </a:solidFill>
                <a:latin typeface="Aptos"/>
                <a:ea typeface="Aptos"/>
                <a:cs typeface="Aptos"/>
              </a:rPr>
              <a:t>• Energie- und </a:t>
            </a:r>
            <a:r>
              <a:rPr lang="en-US" sz="1050" b="0" i="0">
                <a:solidFill>
                  <a:srgbClr val="4F6875"/>
                </a:solidFill>
                <a:latin typeface="Aptos"/>
                <a:ea typeface="Aptos"/>
                <a:cs typeface="Aptos"/>
              </a:rPr>
              <a:t>Inputkosten</a:t>
            </a:r>
            <a:endParaRPr sz="1050" b="0" i="0" dirty="0">
              <a:solidFill>
                <a:srgbClr val="4F6875"/>
              </a:solidFill>
              <a:latin typeface="Aptos"/>
              <a:ea typeface="Aptos"/>
              <a:cs typeface="Aptos"/>
            </a:endParaRPr>
          </a:p>
          <a:p>
            <a:pPr algn="l">
              <a:defRPr sz="1050" b="0" i="0">
                <a:solidFill>
                  <a:srgbClr val="4F6875"/>
                </a:solidFill>
                <a:latin typeface="Aptos"/>
                <a:ea typeface="Aptos"/>
                <a:cs typeface="Aptos"/>
              </a:defRPr>
            </a:pPr>
            <a:r>
              <a:rPr sz="1050" b="0" i="0" dirty="0">
                <a:solidFill>
                  <a:srgbClr val="4F6875"/>
                </a:solidFill>
                <a:latin typeface="Aptos"/>
                <a:ea typeface="Aptos"/>
                <a:cs typeface="Aptos"/>
              </a:rPr>
              <a:t>• Headline-Inflation</a:t>
            </a:r>
          </a:p>
          <a:p>
            <a:pPr algn="l">
              <a:defRPr sz="1050" b="0" i="0">
                <a:solidFill>
                  <a:srgbClr val="4F6875"/>
                </a:solidFill>
                <a:latin typeface="Aptos"/>
                <a:ea typeface="Aptos"/>
                <a:cs typeface="Aptos"/>
              </a:defRPr>
            </a:pPr>
            <a:r>
              <a:rPr sz="1050" b="0" i="0" dirty="0">
                <a:solidFill>
                  <a:srgbClr val="4F6875"/>
                </a:solidFill>
                <a:latin typeface="Aptos"/>
                <a:ea typeface="Aptos"/>
                <a:cs typeface="Aptos"/>
              </a:rPr>
              <a:t>• </a:t>
            </a:r>
            <a:r>
              <a:rPr lang="en-US" sz="1050" b="0" i="0">
                <a:solidFill>
                  <a:srgbClr val="4F6875"/>
                </a:solidFill>
                <a:latin typeface="Aptos"/>
                <a:ea typeface="Aptos"/>
                <a:cs typeface="Aptos"/>
              </a:rPr>
              <a:t>verfügbares</a:t>
            </a:r>
            <a:r>
              <a:rPr sz="1050" b="0" i="0" dirty="0">
                <a:solidFill>
                  <a:srgbClr val="4F6875"/>
                </a:solidFill>
                <a:latin typeface="Aptos"/>
                <a:ea typeface="Aptos"/>
                <a:cs typeface="Aptos"/>
              </a:rPr>
              <a:t> </a:t>
            </a:r>
            <a:r>
              <a:rPr lang="en-US" sz="1050" b="0" i="0">
                <a:solidFill>
                  <a:srgbClr val="4F6875"/>
                </a:solidFill>
                <a:latin typeface="Aptos"/>
                <a:ea typeface="Aptos"/>
                <a:cs typeface="Aptos"/>
              </a:rPr>
              <a:t>Haushaltseinkommen</a:t>
            </a:r>
            <a:endParaRPr sz="1050" b="0" i="0" dirty="0">
              <a:solidFill>
                <a:srgbClr val="4F6875"/>
              </a:solidFill>
              <a:latin typeface="Aptos"/>
              <a:ea typeface="Aptos"/>
              <a:cs typeface="Aptos"/>
            </a:endParaRPr>
          </a:p>
          <a:p>
            <a:pPr algn="l">
              <a:defRPr sz="1050" b="0" i="0">
                <a:solidFill>
                  <a:srgbClr val="4F6875"/>
                </a:solidFill>
                <a:latin typeface="Aptos"/>
                <a:ea typeface="Aptos"/>
                <a:cs typeface="Aptos"/>
              </a:defRPr>
            </a:pPr>
            <a:r>
              <a:rPr sz="1050" b="0" i="0" dirty="0">
                <a:solidFill>
                  <a:srgbClr val="4F6875"/>
                </a:solidFill>
                <a:latin typeface="Aptos"/>
                <a:ea typeface="Aptos"/>
                <a:cs typeface="Aptos"/>
              </a:rPr>
              <a:t>• </a:t>
            </a:r>
            <a:r>
              <a:rPr lang="en-US" sz="1050" b="0" i="0">
                <a:solidFill>
                  <a:srgbClr val="4F6875"/>
                </a:solidFill>
                <a:latin typeface="Aptos"/>
                <a:ea typeface="Aptos"/>
                <a:cs typeface="Aptos"/>
              </a:rPr>
              <a:t>Unternehmensmargen</a:t>
            </a:r>
            <a:endParaRPr sz="1050" b="0" i="0" dirty="0">
              <a:solidFill>
                <a:srgbClr val="4F6875"/>
              </a:solidFill>
              <a:latin typeface="Aptos"/>
              <a:ea typeface="Aptos"/>
              <a:cs typeface="Aptos"/>
            </a:endParaRPr>
          </a:p>
          <a:p>
            <a:endParaRPr sz="1050" b="0" i="0" dirty="0">
              <a:solidFill>
                <a:srgbClr val="4F6875"/>
              </a:solidFill>
              <a:latin typeface="Aptos"/>
              <a:ea typeface="Aptos"/>
              <a:cs typeface="Aptos"/>
            </a:endParaRPr>
          </a:p>
          <a:p>
            <a:pPr algn="l">
              <a:defRPr sz="1050" b="0" i="0">
                <a:solidFill>
                  <a:srgbClr val="4F6875"/>
                </a:solidFill>
                <a:latin typeface="Aptos"/>
                <a:ea typeface="Aptos"/>
                <a:cs typeface="Aptos"/>
              </a:defRPr>
            </a:pPr>
            <a:r>
              <a:rPr sz="1050" b="0" i="0" dirty="0">
                <a:solidFill>
                  <a:srgbClr val="4F6875"/>
                </a:solidFill>
                <a:latin typeface="Aptos"/>
                <a:ea typeface="Aptos"/>
                <a:cs typeface="Aptos"/>
              </a:rPr>
              <a:t>Einheit</a:t>
            </a:r>
          </a:p>
          <a:p>
            <a:pPr algn="l">
              <a:defRPr sz="1050" b="0" i="0">
                <a:solidFill>
                  <a:srgbClr val="4F6875"/>
                </a:solidFill>
                <a:latin typeface="Aptos"/>
                <a:ea typeface="Aptos"/>
                <a:cs typeface="Aptos"/>
              </a:defRPr>
            </a:pPr>
            <a:r>
              <a:rPr sz="1050" b="0" i="0" dirty="0">
                <a:solidFill>
                  <a:srgbClr val="4F6875"/>
                </a:solidFill>
                <a:latin typeface="Aptos"/>
                <a:ea typeface="Aptos"/>
                <a:cs typeface="Aptos"/>
              </a:rPr>
              <a:t>Log-Return: </a:t>
            </a:r>
            <a:r>
              <a:rPr lang="en-US" sz="1050" b="0" i="0">
                <a:solidFill>
                  <a:srgbClr val="4F6875"/>
                </a:solidFill>
                <a:latin typeface="Aptos"/>
                <a:ea typeface="Aptos"/>
                <a:cs typeface="Aptos"/>
              </a:rPr>
              <a:t>additiv</a:t>
            </a:r>
            <a:r>
              <a:rPr sz="1050" b="0" i="0" dirty="0">
                <a:solidFill>
                  <a:srgbClr val="4F6875"/>
                </a:solidFill>
                <a:latin typeface="Aptos"/>
                <a:ea typeface="Aptos"/>
                <a:cs typeface="Aptos"/>
              </a:rPr>
              <a:t> </a:t>
            </a:r>
            <a:r>
              <a:rPr lang="en-US" sz="1050" b="0" i="0">
                <a:solidFill>
                  <a:srgbClr val="4F6875"/>
                </a:solidFill>
                <a:latin typeface="Aptos"/>
                <a:ea typeface="Aptos"/>
                <a:cs typeface="Aptos"/>
              </a:rPr>
              <a:t>über</a:t>
            </a:r>
            <a:r>
              <a:rPr sz="1050" b="0" i="0" dirty="0">
                <a:solidFill>
                  <a:srgbClr val="4F6875"/>
                </a:solidFill>
                <a:latin typeface="Aptos"/>
                <a:ea typeface="Aptos"/>
                <a:cs typeface="Aptos"/>
              </a:rPr>
              <a:t> die Zeit und </a:t>
            </a:r>
            <a:r>
              <a:rPr lang="en-US" sz="1050" b="0" i="0">
                <a:solidFill>
                  <a:srgbClr val="4F6875"/>
                </a:solidFill>
                <a:latin typeface="Aptos"/>
                <a:ea typeface="Aptos"/>
                <a:cs typeface="Aptos"/>
              </a:rPr>
              <a:t>symmetrisch</a:t>
            </a:r>
            <a:r>
              <a:rPr sz="1050" b="0" i="0" dirty="0">
                <a:solidFill>
                  <a:srgbClr val="4F6875"/>
                </a:solidFill>
                <a:latin typeface="Aptos"/>
                <a:ea typeface="Aptos"/>
                <a:cs typeface="Aptos"/>
              </a:rPr>
              <a:t> um null.</a:t>
            </a:r>
          </a:p>
        </p:txBody>
      </p:sp>
      <p:sp>
        <p:nvSpPr>
          <p:cNvPr id="12" name="Rectangle: Rounded Corners 11">
            <a:extLst>
              <a:ext uri="{FF2B5EF4-FFF2-40B4-BE49-F238E27FC236}">
                <a16:creationId xmlns:a16="http://schemas.microsoft.com/office/drawing/2014/main" id="{E4023800-0553-4B6A-8E00-ACD1D8220E10}"/>
              </a:ext>
            </a:extLst>
          </p:cNvPr>
          <p:cNvSpPr>
            <a:spLocks noGrp="1"/>
          </p:cNvSpPr>
          <p:nvPr/>
        </p:nvSpPr>
        <p:spPr>
          <a:xfrm>
            <a:off x="6972300" y="1495425"/>
            <a:ext cx="4762500" cy="3743325"/>
          </a:xfrm>
          <a:prstGeom prst="roundRect">
            <a:avLst>
              <a:gd name="adj" fmla="val 3053"/>
            </a:avLst>
          </a:prstGeom>
          <a:solidFill>
            <a:srgbClr val="FFFFFF"/>
          </a:solidFill>
          <a:ln w="9525">
            <a:solidFill>
              <a:srgbClr val="D5E0E5"/>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13" name="Rectangle 12">
            <a:extLst>
              <a:ext uri="{FF2B5EF4-FFF2-40B4-BE49-F238E27FC236}">
                <a16:creationId xmlns:a16="http://schemas.microsoft.com/office/drawing/2014/main" id="{BC72D2A1-4221-4BD4-9A01-009D6AFEDBA8}"/>
              </a:ext>
            </a:extLst>
          </p:cNvPr>
          <p:cNvSpPr>
            <a:spLocks noGrp="1"/>
          </p:cNvSpPr>
          <p:nvPr/>
        </p:nvSpPr>
        <p:spPr>
          <a:xfrm>
            <a:off x="6972300" y="1495425"/>
            <a:ext cx="57150" cy="3743325"/>
          </a:xfrm>
          <a:prstGeom prst="rect">
            <a:avLst/>
          </a:prstGeom>
          <a:solidFill>
            <a:srgbClr val="A52F4D"/>
          </a:solidFill>
          <a:ln w="0">
            <a:noFill/>
            <a:prstDash val="solid"/>
          </a:ln>
        </p:spPr>
        <p:txBody>
          <a:bodyPr/>
          <a:lstStyle/>
          <a:p>
            <a:endParaRPr lang="en-US"/>
          </a:p>
        </p:txBody>
      </p:sp>
      <p:sp>
        <p:nvSpPr>
          <p:cNvPr id="14" name="Rectangle: Rounded Corners 13">
            <a:extLst>
              <a:ext uri="{FF2B5EF4-FFF2-40B4-BE49-F238E27FC236}">
                <a16:creationId xmlns:a16="http://schemas.microsoft.com/office/drawing/2014/main" id="{86144D16-421C-45B3-ABF1-B68FDC50C995}"/>
              </a:ext>
            </a:extLst>
          </p:cNvPr>
          <p:cNvSpPr>
            <a:spLocks noGrp="1"/>
          </p:cNvSpPr>
          <p:nvPr/>
        </p:nvSpPr>
        <p:spPr>
          <a:xfrm>
            <a:off x="7124700" y="1619250"/>
            <a:ext cx="714375" cy="219075"/>
          </a:xfrm>
          <a:prstGeom prst="roundRect">
            <a:avLst>
              <a:gd name="adj" fmla="val 50000"/>
            </a:avLst>
          </a:prstGeom>
          <a:solidFill>
            <a:srgbClr val="A52F4D"/>
          </a:solidFill>
          <a:ln w="0">
            <a:noFill/>
            <a:prstDash val="solid"/>
          </a:ln>
        </p:spPr>
        <p:txBody>
          <a:bodyPr/>
          <a:lstStyle/>
          <a:p>
            <a:endParaRPr lang="en-US"/>
          </a:p>
        </p:txBody>
      </p:sp>
      <p:sp>
        <p:nvSpPr>
          <p:cNvPr id="15" name="Rectangle 14">
            <a:extLst>
              <a:ext uri="{FF2B5EF4-FFF2-40B4-BE49-F238E27FC236}">
                <a16:creationId xmlns:a16="http://schemas.microsoft.com/office/drawing/2014/main" id="{3BC4D167-9E06-4BE5-A78D-16CA6F485177}"/>
              </a:ext>
            </a:extLst>
          </p:cNvPr>
          <p:cNvSpPr>
            <a:spLocks noGrp="1"/>
          </p:cNvSpPr>
          <p:nvPr/>
        </p:nvSpPr>
        <p:spPr>
          <a:xfrm>
            <a:off x="7162800" y="1657350"/>
            <a:ext cx="638175" cy="142875"/>
          </a:xfrm>
          <a:prstGeom prst="rect">
            <a:avLst/>
          </a:prstGeom>
          <a:noFill/>
          <a:ln w="0">
            <a:noFill/>
            <a:prstDash val="solid"/>
          </a:ln>
        </p:spPr>
        <p:txBody>
          <a:bodyPr/>
          <a:lstStyle/>
          <a:p>
            <a:pPr algn="ctr">
              <a:defRPr sz="713" b="1" i="0">
                <a:solidFill>
                  <a:srgbClr val="FFFFFF"/>
                </a:solidFill>
                <a:latin typeface="Aptos"/>
                <a:ea typeface="Aptos"/>
                <a:cs typeface="Aptos"/>
              </a:defRPr>
            </a:pPr>
            <a:r>
              <a:rPr sz="713" b="1" i="0">
                <a:solidFill>
                  <a:srgbClr val="FFFFFF"/>
                </a:solidFill>
                <a:latin typeface="Aptos"/>
                <a:ea typeface="Aptos"/>
                <a:cs typeface="Aptos"/>
              </a:rPr>
              <a:t>FAKTOR B</a:t>
            </a:r>
          </a:p>
        </p:txBody>
      </p:sp>
      <p:sp>
        <p:nvSpPr>
          <p:cNvPr id="16" name="Rectangle 15">
            <a:extLst>
              <a:ext uri="{FF2B5EF4-FFF2-40B4-BE49-F238E27FC236}">
                <a16:creationId xmlns:a16="http://schemas.microsoft.com/office/drawing/2014/main" id="{FC42AB3A-785E-446B-AF9A-2B1CD2A01EFC}"/>
              </a:ext>
            </a:extLst>
          </p:cNvPr>
          <p:cNvSpPr>
            <a:spLocks noGrp="1"/>
          </p:cNvSpPr>
          <p:nvPr/>
        </p:nvSpPr>
        <p:spPr>
          <a:xfrm>
            <a:off x="7134225" y="1943100"/>
            <a:ext cx="4438650" cy="266700"/>
          </a:xfrm>
          <a:prstGeom prst="rect">
            <a:avLst/>
          </a:prstGeom>
          <a:noFill/>
          <a:ln w="0">
            <a:noFill/>
            <a:prstDash val="solid"/>
          </a:ln>
        </p:spPr>
        <p:txBody>
          <a:bodyPr/>
          <a:lstStyle/>
          <a:p>
            <a:pPr algn="l">
              <a:defRPr sz="1425" b="1" i="0">
                <a:solidFill>
                  <a:srgbClr val="051C2C"/>
                </a:solidFill>
                <a:latin typeface="Aptos Display"/>
                <a:ea typeface="Aptos Display"/>
                <a:cs typeface="Aptos Display"/>
              </a:defRPr>
            </a:pPr>
            <a:r>
              <a:rPr sz="1425" b="1" i="0">
                <a:solidFill>
                  <a:srgbClr val="051C2C"/>
                </a:solidFill>
                <a:latin typeface="Aptos Display"/>
                <a:ea typeface="Aptos Display"/>
                <a:cs typeface="Aptos Display"/>
              </a:rPr>
              <a:t>Δr 10Y · Refinanzierungs- und Bewertungsimpuls</a:t>
            </a:r>
          </a:p>
        </p:txBody>
      </p:sp>
      <p:sp>
        <p:nvSpPr>
          <p:cNvPr id="17" name="Rectangle 16">
            <a:extLst>
              <a:ext uri="{FF2B5EF4-FFF2-40B4-BE49-F238E27FC236}">
                <a16:creationId xmlns:a16="http://schemas.microsoft.com/office/drawing/2014/main" id="{AE7FB2B5-8A4A-4659-ABAF-FBB5B42578F4}"/>
              </a:ext>
            </a:extLst>
          </p:cNvPr>
          <p:cNvSpPr>
            <a:spLocks noGrp="1"/>
          </p:cNvSpPr>
          <p:nvPr/>
        </p:nvSpPr>
        <p:spPr>
          <a:xfrm>
            <a:off x="7134225" y="2266950"/>
            <a:ext cx="4438650" cy="2886075"/>
          </a:xfrm>
          <a:prstGeom prst="rect">
            <a:avLst/>
          </a:prstGeom>
          <a:noFill/>
          <a:ln w="0">
            <a:noFill/>
            <a:prstDash val="solid"/>
          </a:ln>
        </p:spPr>
        <p:txBody>
          <a:bodyPr/>
          <a:lstStyle/>
          <a:p>
            <a:pPr algn="l">
              <a:defRPr sz="1050" b="0" i="0">
                <a:solidFill>
                  <a:srgbClr val="4F6875"/>
                </a:solidFill>
                <a:latin typeface="Aptos"/>
                <a:ea typeface="Aptos"/>
                <a:cs typeface="Aptos"/>
              </a:defRPr>
            </a:pPr>
            <a:r>
              <a:rPr sz="1050" b="0" i="0">
                <a:solidFill>
                  <a:srgbClr val="4F6875"/>
                </a:solidFill>
                <a:latin typeface="Aptos"/>
                <a:ea typeface="Aptos"/>
                <a:cs typeface="Aptos"/>
              </a:rPr>
              <a:t>Warum zehn Jahre?</a:t>
            </a:r>
          </a:p>
          <a:p>
            <a:pPr algn="l">
              <a:defRPr sz="1050" b="0" i="0">
                <a:solidFill>
                  <a:srgbClr val="4F6875"/>
                </a:solidFill>
                <a:latin typeface="Aptos"/>
                <a:ea typeface="Aptos"/>
                <a:cs typeface="Aptos"/>
              </a:defRPr>
            </a:pPr>
            <a:r>
              <a:rPr sz="1050" b="0" i="0">
                <a:solidFill>
                  <a:srgbClr val="4F6875"/>
                </a:solidFill>
                <a:latin typeface="Aptos"/>
                <a:ea typeface="Aptos"/>
                <a:cs typeface="Aptos"/>
              </a:rPr>
              <a:t>Pricing-Anker für Hypotheken, Corporate Bonds und Sovereigns.</a:t>
            </a:r>
          </a:p>
          <a:p>
            <a:endParaRPr sz="1050" b="0" i="0">
              <a:solidFill>
                <a:srgbClr val="4F6875"/>
              </a:solidFill>
              <a:latin typeface="Aptos"/>
              <a:ea typeface="Aptos"/>
              <a:cs typeface="Aptos"/>
            </a:endParaRPr>
          </a:p>
          <a:p>
            <a:pPr algn="l">
              <a:defRPr sz="1050" b="0" i="0">
                <a:solidFill>
                  <a:srgbClr val="4F6875"/>
                </a:solidFill>
                <a:latin typeface="Aptos"/>
                <a:ea typeface="Aptos"/>
                <a:cs typeface="Aptos"/>
              </a:defRPr>
            </a:pPr>
            <a:r>
              <a:rPr sz="1050" b="0" i="0">
                <a:solidFill>
                  <a:srgbClr val="4F6875"/>
                </a:solidFill>
                <a:latin typeface="Aptos"/>
                <a:ea typeface="Aptos"/>
                <a:cs typeface="Aptos"/>
              </a:rPr>
              <a:t>Wirkungskanäle</a:t>
            </a:r>
          </a:p>
          <a:p>
            <a:pPr algn="l">
              <a:defRPr sz="1050" b="0" i="0">
                <a:solidFill>
                  <a:srgbClr val="4F6875"/>
                </a:solidFill>
                <a:latin typeface="Aptos"/>
                <a:ea typeface="Aptos"/>
                <a:cs typeface="Aptos"/>
              </a:defRPr>
            </a:pPr>
            <a:r>
              <a:rPr sz="1050" b="0" i="0">
                <a:solidFill>
                  <a:srgbClr val="4F6875"/>
                </a:solidFill>
                <a:latin typeface="Aptos"/>
                <a:ea typeface="Aptos"/>
                <a:cs typeface="Aptos"/>
              </a:rPr>
              <a:t>• Kredit- und Refinanzierungskosten</a:t>
            </a:r>
          </a:p>
          <a:p>
            <a:pPr algn="l">
              <a:defRPr sz="1050" b="0" i="0">
                <a:solidFill>
                  <a:srgbClr val="4F6875"/>
                </a:solidFill>
                <a:latin typeface="Aptos"/>
                <a:ea typeface="Aptos"/>
                <a:cs typeface="Aptos"/>
              </a:defRPr>
            </a:pPr>
            <a:r>
              <a:rPr sz="1050" b="0" i="0">
                <a:solidFill>
                  <a:srgbClr val="4F6875"/>
                </a:solidFill>
                <a:latin typeface="Aptos"/>
                <a:ea typeface="Aptos"/>
                <a:cs typeface="Aptos"/>
              </a:rPr>
              <a:t>• Immobilienwerte und Recovery</a:t>
            </a:r>
          </a:p>
          <a:p>
            <a:pPr algn="l">
              <a:defRPr sz="1050" b="0" i="0">
                <a:solidFill>
                  <a:srgbClr val="4F6875"/>
                </a:solidFill>
                <a:latin typeface="Aptos"/>
                <a:ea typeface="Aptos"/>
                <a:cs typeface="Aptos"/>
              </a:defRPr>
            </a:pPr>
            <a:r>
              <a:rPr sz="1050" b="0" i="0">
                <a:solidFill>
                  <a:srgbClr val="4F6875"/>
                </a:solidFill>
                <a:latin typeface="Aptos"/>
                <a:ea typeface="Aptos"/>
                <a:cs typeface="Aptos"/>
              </a:rPr>
              <a:t>• Bond-Duration / Mark-to-Market</a:t>
            </a:r>
          </a:p>
          <a:p>
            <a:pPr algn="l">
              <a:defRPr sz="1050" b="0" i="0">
                <a:solidFill>
                  <a:srgbClr val="4F6875"/>
                </a:solidFill>
                <a:latin typeface="Aptos"/>
                <a:ea typeface="Aptos"/>
                <a:cs typeface="Aptos"/>
              </a:defRPr>
            </a:pPr>
            <a:r>
              <a:rPr sz="1050" b="0" i="0">
                <a:solidFill>
                  <a:srgbClr val="4F6875"/>
                </a:solidFill>
                <a:latin typeface="Aptos"/>
                <a:ea typeface="Aptos"/>
                <a:cs typeface="Aptos"/>
              </a:rPr>
              <a:t>• Net Interest Margin der Banken</a:t>
            </a:r>
          </a:p>
          <a:p>
            <a:endParaRPr sz="1050" b="0" i="0">
              <a:solidFill>
                <a:srgbClr val="4F6875"/>
              </a:solidFill>
              <a:latin typeface="Aptos"/>
              <a:ea typeface="Aptos"/>
              <a:cs typeface="Aptos"/>
            </a:endParaRPr>
          </a:p>
          <a:p>
            <a:pPr algn="l">
              <a:defRPr sz="1050" b="0" i="0">
                <a:solidFill>
                  <a:srgbClr val="4F6875"/>
                </a:solidFill>
                <a:latin typeface="Aptos"/>
                <a:ea typeface="Aptos"/>
                <a:cs typeface="Aptos"/>
              </a:defRPr>
            </a:pPr>
            <a:r>
              <a:rPr sz="1050" b="0" i="0">
                <a:solidFill>
                  <a:srgbClr val="4F6875"/>
                </a:solidFill>
                <a:latin typeface="Aptos"/>
                <a:ea typeface="Aptos"/>
                <a:cs typeface="Aptos"/>
              </a:rPr>
              <a:t>Einheit</a:t>
            </a:r>
          </a:p>
          <a:p>
            <a:pPr algn="l">
              <a:defRPr sz="1050" b="0" i="0">
                <a:solidFill>
                  <a:srgbClr val="4F6875"/>
                </a:solidFill>
                <a:latin typeface="Aptos"/>
                <a:ea typeface="Aptos"/>
                <a:cs typeface="Aptos"/>
              </a:defRPr>
            </a:pPr>
            <a:r>
              <a:rPr sz="1050" b="0" i="0">
                <a:solidFill>
                  <a:srgbClr val="4F6875"/>
                </a:solidFill>
                <a:latin typeface="Aptos"/>
                <a:ea typeface="Aptos"/>
                <a:cs typeface="Aptos"/>
              </a:rPr>
              <a:t>Prozentpunkte: +2,0 pp entsprechen +200 Basispunkten.</a:t>
            </a:r>
          </a:p>
        </p:txBody>
      </p:sp>
      <p:sp>
        <p:nvSpPr>
          <p:cNvPr id="18" name="Rectangle: Rounded Corners 17">
            <a:extLst>
              <a:ext uri="{FF2B5EF4-FFF2-40B4-BE49-F238E27FC236}">
                <a16:creationId xmlns:a16="http://schemas.microsoft.com/office/drawing/2014/main" id="{1227F6F3-F46F-448D-8C66-5B7E6D026E84}"/>
              </a:ext>
            </a:extLst>
          </p:cNvPr>
          <p:cNvSpPr>
            <a:spLocks noGrp="1"/>
          </p:cNvSpPr>
          <p:nvPr/>
        </p:nvSpPr>
        <p:spPr>
          <a:xfrm>
            <a:off x="5219700" y="2324100"/>
            <a:ext cx="1752600" cy="1428750"/>
          </a:xfrm>
          <a:prstGeom prst="roundRect">
            <a:avLst>
              <a:gd name="adj" fmla="val 8000"/>
            </a:avLst>
          </a:prstGeom>
          <a:solidFill>
            <a:srgbClr val="051C2C"/>
          </a:solidFill>
          <a:ln w="9525">
            <a:solidFill>
              <a:srgbClr val="051C2C"/>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19" name="Rectangle 18">
            <a:extLst>
              <a:ext uri="{FF2B5EF4-FFF2-40B4-BE49-F238E27FC236}">
                <a16:creationId xmlns:a16="http://schemas.microsoft.com/office/drawing/2014/main" id="{021842C3-D942-4FC9-BBFC-16B51E8D354A}"/>
              </a:ext>
            </a:extLst>
          </p:cNvPr>
          <p:cNvSpPr>
            <a:spLocks noGrp="1"/>
          </p:cNvSpPr>
          <p:nvPr/>
        </p:nvSpPr>
        <p:spPr>
          <a:xfrm>
            <a:off x="5334000" y="2495550"/>
            <a:ext cx="1524000" cy="171450"/>
          </a:xfrm>
          <a:prstGeom prst="rect">
            <a:avLst/>
          </a:prstGeom>
          <a:noFill/>
          <a:ln w="0">
            <a:noFill/>
            <a:prstDash val="solid"/>
          </a:ln>
        </p:spPr>
        <p:txBody>
          <a:bodyPr/>
          <a:lstStyle/>
          <a:p>
            <a:pPr algn="ctr">
              <a:defRPr sz="713" b="1" i="0">
                <a:solidFill>
                  <a:srgbClr val="BBD0D9"/>
                </a:solidFill>
                <a:latin typeface="Aptos"/>
                <a:ea typeface="Aptos"/>
                <a:cs typeface="Aptos"/>
              </a:defRPr>
            </a:pPr>
            <a:r>
              <a:rPr sz="713" b="1" i="0">
                <a:solidFill>
                  <a:srgbClr val="BBD0D9"/>
                </a:solidFill>
                <a:latin typeface="Aptos"/>
                <a:ea typeface="Aptos"/>
                <a:cs typeface="Aptos"/>
              </a:rPr>
              <a:t>ZENTRALE THESE</a:t>
            </a:r>
          </a:p>
        </p:txBody>
      </p:sp>
      <p:sp>
        <p:nvSpPr>
          <p:cNvPr id="20" name="Rectangle 19">
            <a:extLst>
              <a:ext uri="{FF2B5EF4-FFF2-40B4-BE49-F238E27FC236}">
                <a16:creationId xmlns:a16="http://schemas.microsoft.com/office/drawing/2014/main" id="{7A411745-112D-4AAC-985C-850EF3114E85}"/>
              </a:ext>
            </a:extLst>
          </p:cNvPr>
          <p:cNvSpPr>
            <a:spLocks noGrp="1"/>
          </p:cNvSpPr>
          <p:nvPr/>
        </p:nvSpPr>
        <p:spPr>
          <a:xfrm>
            <a:off x="5314950" y="2790825"/>
            <a:ext cx="1562100" cy="342900"/>
          </a:xfrm>
          <a:prstGeom prst="rect">
            <a:avLst/>
          </a:prstGeom>
          <a:noFill/>
          <a:ln w="0">
            <a:noFill/>
            <a:prstDash val="solid"/>
          </a:ln>
        </p:spPr>
        <p:txBody>
          <a:bodyPr/>
          <a:lstStyle/>
          <a:p>
            <a:pPr algn="ctr">
              <a:defRPr sz="1875" b="1" i="0">
                <a:solidFill>
                  <a:srgbClr val="FFFFFF"/>
                </a:solidFill>
                <a:latin typeface="Aptos Display"/>
                <a:ea typeface="Aptos Display"/>
                <a:cs typeface="Aptos Display"/>
              </a:defRPr>
            </a:pPr>
            <a:r>
              <a:rPr sz="1875" b="1" i="0">
                <a:solidFill>
                  <a:srgbClr val="FFFFFF"/>
                </a:solidFill>
                <a:latin typeface="Aptos Display"/>
                <a:ea typeface="Aptos Display"/>
                <a:cs typeface="Aptos Display"/>
              </a:rPr>
              <a:t>ρ = +0,070</a:t>
            </a:r>
          </a:p>
        </p:txBody>
      </p:sp>
      <p:sp>
        <p:nvSpPr>
          <p:cNvPr id="21" name="Rectangle 20">
            <a:extLst>
              <a:ext uri="{FF2B5EF4-FFF2-40B4-BE49-F238E27FC236}">
                <a16:creationId xmlns:a16="http://schemas.microsoft.com/office/drawing/2014/main" id="{40734519-8ED1-4089-A4AD-868155A2DF5C}"/>
              </a:ext>
            </a:extLst>
          </p:cNvPr>
          <p:cNvSpPr>
            <a:spLocks noGrp="1"/>
          </p:cNvSpPr>
          <p:nvPr/>
        </p:nvSpPr>
        <p:spPr>
          <a:xfrm>
            <a:off x="5353050" y="3248025"/>
            <a:ext cx="1485900" cy="342900"/>
          </a:xfrm>
          <a:prstGeom prst="rect">
            <a:avLst/>
          </a:prstGeom>
          <a:noFill/>
          <a:ln w="0">
            <a:noFill/>
            <a:prstDash val="solid"/>
          </a:ln>
        </p:spPr>
        <p:txBody>
          <a:bodyPr/>
          <a:lstStyle/>
          <a:p>
            <a:pPr algn="ctr">
              <a:defRPr sz="863" b="1" i="0">
                <a:solidFill>
                  <a:srgbClr val="E4EEF2"/>
                </a:solidFill>
                <a:latin typeface="Aptos"/>
                <a:ea typeface="Aptos"/>
                <a:cs typeface="Aptos"/>
              </a:defRPr>
            </a:pPr>
            <a:r>
              <a:rPr sz="863" b="1" i="0">
                <a:solidFill>
                  <a:srgbClr val="E4EEF2"/>
                </a:solidFill>
                <a:latin typeface="Aptos"/>
                <a:ea typeface="Aptos"/>
                <a:cs typeface="Aptos"/>
              </a:rPr>
              <a:t>nahezu unabhängige</a:t>
            </a:r>
          </a:p>
          <a:p>
            <a:pPr algn="ctr">
              <a:defRPr sz="863" b="1" i="0">
                <a:solidFill>
                  <a:srgbClr val="E4EEF2"/>
                </a:solidFill>
                <a:latin typeface="Aptos"/>
                <a:ea typeface="Aptos"/>
                <a:cs typeface="Aptos"/>
              </a:defRPr>
            </a:pPr>
            <a:r>
              <a:rPr sz="863" b="1" i="0">
                <a:solidFill>
                  <a:srgbClr val="E4EEF2"/>
                </a:solidFill>
                <a:latin typeface="Aptos"/>
                <a:ea typeface="Aptos"/>
                <a:cs typeface="Aptos"/>
              </a:rPr>
              <a:t>Tagesbewegungen</a:t>
            </a:r>
          </a:p>
        </p:txBody>
      </p:sp>
      <p:sp>
        <p:nvSpPr>
          <p:cNvPr id="22" name="Rectangle: Rounded Corners 21">
            <a:extLst>
              <a:ext uri="{FF2B5EF4-FFF2-40B4-BE49-F238E27FC236}">
                <a16:creationId xmlns:a16="http://schemas.microsoft.com/office/drawing/2014/main" id="{66FAEDB1-76BD-4EBE-B5AA-4EB6A88F5E7E}"/>
              </a:ext>
            </a:extLst>
          </p:cNvPr>
          <p:cNvSpPr>
            <a:spLocks noGrp="1"/>
          </p:cNvSpPr>
          <p:nvPr/>
        </p:nvSpPr>
        <p:spPr>
          <a:xfrm>
            <a:off x="457200" y="5505450"/>
            <a:ext cx="11277600" cy="628650"/>
          </a:xfrm>
          <a:prstGeom prst="roundRect">
            <a:avLst>
              <a:gd name="adj" fmla="val 18182"/>
            </a:avLst>
          </a:prstGeom>
          <a:solidFill>
            <a:srgbClr val="E3F1EF"/>
          </a:solidFill>
          <a:ln w="9525">
            <a:solidFill>
              <a:srgbClr val="B7D4D2"/>
            </a:solidFill>
            <a:prstDash val="solid"/>
          </a:ln>
        </p:spPr>
        <p:txBody>
          <a:bodyPr/>
          <a:lstStyle/>
          <a:p>
            <a:endParaRPr lang="en-US"/>
          </a:p>
        </p:txBody>
      </p:sp>
      <p:sp>
        <p:nvSpPr>
          <p:cNvPr id="23" name="Rectangle 22">
            <a:extLst>
              <a:ext uri="{FF2B5EF4-FFF2-40B4-BE49-F238E27FC236}">
                <a16:creationId xmlns:a16="http://schemas.microsoft.com/office/drawing/2014/main" id="{549429BB-C04A-4110-A9C2-19337A0EF418}"/>
              </a:ext>
            </a:extLst>
          </p:cNvPr>
          <p:cNvSpPr>
            <a:spLocks noGrp="1"/>
          </p:cNvSpPr>
          <p:nvPr/>
        </p:nvSpPr>
        <p:spPr>
          <a:xfrm>
            <a:off x="647700" y="5648325"/>
            <a:ext cx="1714500" cy="152400"/>
          </a:xfrm>
          <a:prstGeom prst="rect">
            <a:avLst/>
          </a:prstGeom>
          <a:noFill/>
          <a:ln w="0">
            <a:noFill/>
            <a:prstDash val="solid"/>
          </a:ln>
        </p:spPr>
        <p:txBody>
          <a:bodyPr/>
          <a:lstStyle/>
          <a:p>
            <a:pPr algn="l">
              <a:defRPr sz="788" b="1" i="0">
                <a:solidFill>
                  <a:srgbClr val="1B777F"/>
                </a:solidFill>
                <a:latin typeface="Aptos"/>
                <a:ea typeface="Aptos"/>
                <a:cs typeface="Aptos"/>
              </a:defRPr>
            </a:pPr>
            <a:r>
              <a:rPr sz="788" b="1" i="0">
                <a:solidFill>
                  <a:srgbClr val="1B777F"/>
                </a:solidFill>
                <a:latin typeface="Aptos"/>
                <a:ea typeface="Aptos"/>
                <a:cs typeface="Aptos"/>
              </a:rPr>
              <a:t>MODELLKONSEQUENZ</a:t>
            </a:r>
          </a:p>
        </p:txBody>
      </p:sp>
      <p:sp>
        <p:nvSpPr>
          <p:cNvPr id="24" name="Rectangle 23">
            <a:extLst>
              <a:ext uri="{FF2B5EF4-FFF2-40B4-BE49-F238E27FC236}">
                <a16:creationId xmlns:a16="http://schemas.microsoft.com/office/drawing/2014/main" id="{C24DD90A-38F8-421E-9D2F-87D377E213C2}"/>
              </a:ext>
            </a:extLst>
          </p:cNvPr>
          <p:cNvSpPr>
            <a:spLocks noGrp="1"/>
          </p:cNvSpPr>
          <p:nvPr/>
        </p:nvSpPr>
        <p:spPr>
          <a:xfrm>
            <a:off x="2428875" y="5629275"/>
            <a:ext cx="8953500" cy="219075"/>
          </a:xfrm>
          <a:prstGeom prst="rect">
            <a:avLst/>
          </a:prstGeom>
          <a:noFill/>
          <a:ln w="0">
            <a:noFill/>
            <a:prstDash val="solid"/>
          </a:ln>
        </p:spPr>
        <p:txBody>
          <a:bodyPr/>
          <a:lstStyle/>
          <a:p>
            <a:pPr algn="l">
              <a:defRPr sz="1125" b="1" i="0">
                <a:solidFill>
                  <a:srgbClr val="051C2C"/>
                </a:solidFill>
                <a:latin typeface="Aptos"/>
                <a:ea typeface="Aptos"/>
                <a:cs typeface="Aptos"/>
              </a:defRPr>
            </a:pPr>
            <a:r>
              <a:rPr sz="1125" b="1" i="0">
                <a:solidFill>
                  <a:srgbClr val="051C2C"/>
                </a:solidFill>
                <a:latin typeface="Aptos"/>
                <a:ea typeface="Aptos"/>
                <a:cs typeface="Aptos"/>
              </a:rPr>
              <a:t>Zwei getrennte Slider und zwei direkte Faktorbeiträge – keine Verdichtung in einen systemischen Einzelfaktor.</a:t>
            </a:r>
          </a:p>
        </p:txBody>
      </p:sp>
      <p:sp>
        <p:nvSpPr>
          <p:cNvPr id="25" name="Rectangle 24">
            <a:extLst>
              <a:ext uri="{FF2B5EF4-FFF2-40B4-BE49-F238E27FC236}">
                <a16:creationId xmlns:a16="http://schemas.microsoft.com/office/drawing/2014/main" id="{0485E1BA-C383-4871-8CDB-4B5D632324EC}"/>
              </a:ext>
            </a:extLst>
          </p:cNvPr>
          <p:cNvSpPr>
            <a:spLocks noGrp="1"/>
          </p:cNvSpPr>
          <p:nvPr/>
        </p:nvSpPr>
        <p:spPr>
          <a:xfrm>
            <a:off x="457200" y="6486525"/>
            <a:ext cx="10382250" cy="152400"/>
          </a:xfrm>
          <a:prstGeom prst="rect">
            <a:avLst/>
          </a:prstGeom>
          <a:noFill/>
          <a:ln w="0">
            <a:noFill/>
            <a:prstDash val="solid"/>
          </a:ln>
        </p:spPr>
        <p:txBody>
          <a:bodyPr/>
          <a:lstStyle/>
          <a:p>
            <a:pPr algn="l">
              <a:defRPr sz="653" b="0" i="0">
                <a:solidFill>
                  <a:srgbClr val="71858F"/>
                </a:solidFill>
                <a:latin typeface="Aptos"/>
                <a:ea typeface="Aptos"/>
                <a:cs typeface="Aptos"/>
              </a:defRPr>
            </a:pPr>
            <a:r>
              <a:rPr sz="653" b="0" i="0">
                <a:solidFill>
                  <a:srgbClr val="71858F"/>
                </a:solidFill>
                <a:latin typeface="Aptos"/>
                <a:ea typeface="Aptos"/>
                <a:cs typeface="Aptos"/>
              </a:rPr>
              <a:t>Quelle: Modell-Cockpit · Pillar 3 EU-CR6 · EBA Transparency · ICE Brent · Deutsche Bundesbank</a:t>
            </a:r>
          </a:p>
        </p:txBody>
      </p:sp>
      <p:sp>
        <p:nvSpPr>
          <p:cNvPr id="5" name="CodexSlideNumber">
            <a:extLst>
              <a:ext uri="{FF2B5EF4-FFF2-40B4-BE49-F238E27FC236}">
                <a16:creationId xmlns:a16="http://schemas.microsoft.com/office/drawing/2014/main" id="{58C2DA00-F1CC-FE1B-C5D1-34AD42C48F10}"/>
              </a:ext>
            </a:extLst>
          </p:cNvPr>
          <p:cNvSpPr txBox="1"/>
          <p:nvPr/>
        </p:nvSpPr>
        <p:spPr>
          <a:xfrm>
            <a:off x="11226800" y="6553200"/>
            <a:ext cx="736600" cy="123111"/>
          </a:xfrm>
          <a:prstGeom prst="rect">
            <a:avLst/>
          </a:prstGeom>
          <a:noFill/>
        </p:spPr>
        <p:txBody>
          <a:bodyPr vert="horz" lIns="0" tIns="0" rIns="0" bIns="0" rtlCol="0">
            <a:spAutoFit/>
          </a:bodyPr>
          <a:lstStyle/>
          <a:p>
            <a:pPr algn="r"/>
            <a:r>
              <a:rPr lang="en-US" sz="800">
                <a:solidFill>
                  <a:srgbClr val="525252"/>
                </a:solidFill>
                <a:latin typeface="Arial" panose="020B0604020202020204" pitchFamily="34" charset="0"/>
              </a:rPr>
              <a:t>11 / 64</a:t>
            </a:r>
          </a:p>
        </p:txBody>
      </p:sp>
    </p:spTree>
    <p:extLst>
      <p:ext uri="{BB962C8B-B14F-4D97-AF65-F5344CB8AC3E}">
        <p14:creationId xmlns:p14="http://schemas.microsoft.com/office/powerpoint/2010/main" val="25919759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04B4086-FB37-4DEE-A161-B84879CAEA4C}"/>
              </a:ext>
            </a:extLst>
          </p:cNvPr>
          <p:cNvSpPr>
            <a:spLocks noGrp="1"/>
          </p:cNvSpPr>
          <p:nvPr/>
        </p:nvSpPr>
        <p:spPr>
          <a:xfrm>
            <a:off x="457200" y="228600"/>
            <a:ext cx="4572000" cy="171450"/>
          </a:xfrm>
          <a:prstGeom prst="rect">
            <a:avLst/>
          </a:prstGeom>
          <a:noFill/>
          <a:ln w="0">
            <a:noFill/>
            <a:prstDash val="solid"/>
          </a:ln>
        </p:spPr>
        <p:txBody>
          <a:bodyPr/>
          <a:lstStyle/>
          <a:p>
            <a:pPr algn="l">
              <a:defRPr sz="863" b="1" i="0">
                <a:solidFill>
                  <a:srgbClr val="A52F4D"/>
                </a:solidFill>
                <a:latin typeface="Aptos"/>
                <a:ea typeface="Aptos"/>
                <a:cs typeface="Aptos"/>
              </a:defRPr>
            </a:pPr>
            <a:r>
              <a:rPr lang="en-GB" sz="863" b="1" i="0" dirty="0">
                <a:solidFill>
                  <a:schemeClr val="tx2"/>
                </a:solidFill>
                <a:latin typeface="Aptos"/>
                <a:ea typeface="Aptos"/>
                <a:cs typeface="Aptos"/>
              </a:rPr>
              <a:t>FAKTOR-ANALYSE</a:t>
            </a:r>
          </a:p>
        </p:txBody>
      </p:sp>
      <p:sp>
        <p:nvSpPr>
          <p:cNvPr id="3" name="Rectangle 2">
            <a:extLst>
              <a:ext uri="{FF2B5EF4-FFF2-40B4-BE49-F238E27FC236}">
                <a16:creationId xmlns:a16="http://schemas.microsoft.com/office/drawing/2014/main" id="{6B298EB2-2403-41CA-8DBE-CAE9EC14E842}"/>
              </a:ext>
            </a:extLst>
          </p:cNvPr>
          <p:cNvSpPr>
            <a:spLocks noGrp="1"/>
          </p:cNvSpPr>
          <p:nvPr/>
        </p:nvSpPr>
        <p:spPr>
          <a:xfrm>
            <a:off x="457200" y="457200"/>
            <a:ext cx="11191875" cy="409575"/>
          </a:xfrm>
          <a:prstGeom prst="rect">
            <a:avLst/>
          </a:prstGeom>
          <a:noFill/>
          <a:ln w="0">
            <a:noFill/>
            <a:prstDash val="solid"/>
          </a:ln>
        </p:spPr>
        <p:txBody>
          <a:bodyPr/>
          <a:lstStyle/>
          <a:p>
            <a:pPr algn="l">
              <a:defRPr sz="2475" b="1" i="0">
                <a:solidFill>
                  <a:srgbClr val="051C2C"/>
                </a:solidFill>
                <a:latin typeface="Aptos Display"/>
                <a:ea typeface="Aptos Display"/>
                <a:cs typeface="Aptos Display"/>
              </a:defRPr>
            </a:pPr>
            <a:r>
              <a:rPr sz="2475" b="1" i="0">
                <a:solidFill>
                  <a:srgbClr val="051C2C"/>
                </a:solidFill>
                <a:latin typeface="Aptos Display"/>
                <a:ea typeface="Aptos Display"/>
                <a:cs typeface="Aptos Display"/>
              </a:rPr>
              <a:t>Nur 0,49 % der täglichen Zinsbewegung werden durch Brent erklärt</a:t>
            </a:r>
          </a:p>
        </p:txBody>
      </p:sp>
      <p:sp>
        <p:nvSpPr>
          <p:cNvPr id="4" name="Rectangle 3">
            <a:extLst>
              <a:ext uri="{FF2B5EF4-FFF2-40B4-BE49-F238E27FC236}">
                <a16:creationId xmlns:a16="http://schemas.microsoft.com/office/drawing/2014/main" id="{E576DA1C-2731-4F9D-9C0B-99089B931C58}"/>
              </a:ext>
            </a:extLst>
          </p:cNvPr>
          <p:cNvSpPr>
            <a:spLocks noGrp="1"/>
          </p:cNvSpPr>
          <p:nvPr/>
        </p:nvSpPr>
        <p:spPr>
          <a:xfrm>
            <a:off x="457200" y="914400"/>
            <a:ext cx="11096625" cy="228600"/>
          </a:xfrm>
          <a:prstGeom prst="rect">
            <a:avLst/>
          </a:prstGeom>
          <a:noFill/>
          <a:ln w="0">
            <a:noFill/>
            <a:prstDash val="solid"/>
          </a:ln>
        </p:spPr>
        <p:txBody>
          <a:bodyPr/>
          <a:lstStyle/>
          <a:p>
            <a:pPr algn="l">
              <a:defRPr sz="1125" b="0" i="0">
                <a:solidFill>
                  <a:srgbClr val="4F6875"/>
                </a:solidFill>
                <a:latin typeface="Aptos"/>
                <a:ea typeface="Aptos"/>
                <a:cs typeface="Aptos"/>
              </a:defRPr>
            </a:pPr>
            <a:r>
              <a:rPr sz="1125" b="0" i="0">
                <a:solidFill>
                  <a:srgbClr val="4F6875"/>
                </a:solidFill>
                <a:latin typeface="Aptos"/>
                <a:ea typeface="Aptos"/>
                <a:cs typeface="Aptos"/>
              </a:rPr>
              <a:t>Die empirische Analyse über fünf Jahre bestätigt: Beide Faktoren tragen weitgehend eigenständige Information.</a:t>
            </a:r>
          </a:p>
        </p:txBody>
      </p:sp>
      <p:sp>
        <p:nvSpPr>
          <p:cNvPr id="6" name="Rectangle: Rounded Corners 5">
            <a:extLst>
              <a:ext uri="{FF2B5EF4-FFF2-40B4-BE49-F238E27FC236}">
                <a16:creationId xmlns:a16="http://schemas.microsoft.com/office/drawing/2014/main" id="{ADFFD3B7-8BE6-4B02-93D6-A80E653A86A2}"/>
              </a:ext>
            </a:extLst>
          </p:cNvPr>
          <p:cNvSpPr>
            <a:spLocks noGrp="1"/>
          </p:cNvSpPr>
          <p:nvPr/>
        </p:nvSpPr>
        <p:spPr>
          <a:xfrm>
            <a:off x="457200" y="1428750"/>
            <a:ext cx="2076450" cy="990600"/>
          </a:xfrm>
          <a:prstGeom prst="roundRect">
            <a:avLst>
              <a:gd name="adj" fmla="val 11538"/>
            </a:avLst>
          </a:prstGeom>
          <a:solidFill>
            <a:srgbClr val="FFFFFF"/>
          </a:solidFill>
          <a:ln w="9525">
            <a:solidFill>
              <a:srgbClr val="D5E0E5"/>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7" name="Rectangle 6">
            <a:extLst>
              <a:ext uri="{FF2B5EF4-FFF2-40B4-BE49-F238E27FC236}">
                <a16:creationId xmlns:a16="http://schemas.microsoft.com/office/drawing/2014/main" id="{332E49FA-544F-4F4F-8238-1542C92E8204}"/>
              </a:ext>
            </a:extLst>
          </p:cNvPr>
          <p:cNvSpPr>
            <a:spLocks noGrp="1"/>
          </p:cNvSpPr>
          <p:nvPr/>
        </p:nvSpPr>
        <p:spPr>
          <a:xfrm>
            <a:off x="457200" y="1428750"/>
            <a:ext cx="2076450" cy="47625"/>
          </a:xfrm>
          <a:prstGeom prst="rect">
            <a:avLst/>
          </a:prstGeom>
          <a:solidFill>
            <a:srgbClr val="051C2C"/>
          </a:solidFill>
          <a:ln w="0">
            <a:noFill/>
            <a:prstDash val="solid"/>
          </a:ln>
        </p:spPr>
        <p:txBody>
          <a:bodyPr/>
          <a:lstStyle/>
          <a:p>
            <a:endParaRPr lang="en-US"/>
          </a:p>
        </p:txBody>
      </p:sp>
      <p:sp>
        <p:nvSpPr>
          <p:cNvPr id="8" name="Rectangle 7">
            <a:extLst>
              <a:ext uri="{FF2B5EF4-FFF2-40B4-BE49-F238E27FC236}">
                <a16:creationId xmlns:a16="http://schemas.microsoft.com/office/drawing/2014/main" id="{51A92788-84B0-4870-A3C9-4F0D34D082E6}"/>
              </a:ext>
            </a:extLst>
          </p:cNvPr>
          <p:cNvSpPr>
            <a:spLocks noGrp="1"/>
          </p:cNvSpPr>
          <p:nvPr/>
        </p:nvSpPr>
        <p:spPr>
          <a:xfrm>
            <a:off x="590550" y="1571625"/>
            <a:ext cx="1809750" cy="171450"/>
          </a:xfrm>
          <a:prstGeom prst="rect">
            <a:avLst/>
          </a:prstGeom>
          <a:noFill/>
          <a:ln w="0">
            <a:noFill/>
            <a:prstDash val="solid"/>
          </a:ln>
        </p:spPr>
        <p:txBody>
          <a:bodyPr/>
          <a:lstStyle/>
          <a:p>
            <a:pPr algn="l">
              <a:defRPr sz="788" b="1" i="0">
                <a:solidFill>
                  <a:srgbClr val="71858F"/>
                </a:solidFill>
                <a:latin typeface="Aptos"/>
                <a:ea typeface="Aptos"/>
                <a:cs typeface="Aptos"/>
              </a:defRPr>
            </a:pPr>
            <a:r>
              <a:rPr sz="788" b="1" i="0">
                <a:solidFill>
                  <a:srgbClr val="71858F"/>
                </a:solidFill>
                <a:latin typeface="Aptos"/>
                <a:ea typeface="Aptos"/>
                <a:cs typeface="Aptos"/>
              </a:rPr>
              <a:t>BEOBACHTUNGEN</a:t>
            </a:r>
          </a:p>
        </p:txBody>
      </p:sp>
      <p:sp>
        <p:nvSpPr>
          <p:cNvPr id="9" name="Rectangle 8">
            <a:extLst>
              <a:ext uri="{FF2B5EF4-FFF2-40B4-BE49-F238E27FC236}">
                <a16:creationId xmlns:a16="http://schemas.microsoft.com/office/drawing/2014/main" id="{DE6C70AC-2EF8-4771-87A1-26AEB3FFFBA1}"/>
              </a:ext>
            </a:extLst>
          </p:cNvPr>
          <p:cNvSpPr>
            <a:spLocks noGrp="1"/>
          </p:cNvSpPr>
          <p:nvPr/>
        </p:nvSpPr>
        <p:spPr>
          <a:xfrm>
            <a:off x="590550" y="1781175"/>
            <a:ext cx="1809750" cy="323850"/>
          </a:xfrm>
          <a:prstGeom prst="rect">
            <a:avLst/>
          </a:prstGeom>
          <a:noFill/>
          <a:ln w="0">
            <a:noFill/>
            <a:prstDash val="solid"/>
          </a:ln>
        </p:spPr>
        <p:txBody>
          <a:bodyPr/>
          <a:lstStyle/>
          <a:p>
            <a:pPr algn="l">
              <a:defRPr sz="1800" b="1" i="0">
                <a:solidFill>
                  <a:srgbClr val="051C2C"/>
                </a:solidFill>
                <a:latin typeface="Aptos Display"/>
                <a:ea typeface="Aptos Display"/>
                <a:cs typeface="Aptos Display"/>
              </a:defRPr>
            </a:pPr>
            <a:r>
              <a:rPr sz="1800" b="1" i="0">
                <a:solidFill>
                  <a:srgbClr val="051C2C"/>
                </a:solidFill>
                <a:latin typeface="Aptos Display"/>
                <a:ea typeface="Aptos Display"/>
                <a:cs typeface="Aptos Display"/>
              </a:rPr>
              <a:t>1.242</a:t>
            </a:r>
          </a:p>
        </p:txBody>
      </p:sp>
      <p:sp>
        <p:nvSpPr>
          <p:cNvPr id="10" name="Rectangle 9">
            <a:extLst>
              <a:ext uri="{FF2B5EF4-FFF2-40B4-BE49-F238E27FC236}">
                <a16:creationId xmlns:a16="http://schemas.microsoft.com/office/drawing/2014/main" id="{23E55750-FDCF-4F48-88F5-40752DC15C3B}"/>
              </a:ext>
            </a:extLst>
          </p:cNvPr>
          <p:cNvSpPr>
            <a:spLocks noGrp="1"/>
          </p:cNvSpPr>
          <p:nvPr/>
        </p:nvSpPr>
        <p:spPr>
          <a:xfrm>
            <a:off x="590550" y="2152650"/>
            <a:ext cx="1809750" cy="171450"/>
          </a:xfrm>
          <a:prstGeom prst="rect">
            <a:avLst/>
          </a:prstGeom>
          <a:noFill/>
          <a:ln w="0">
            <a:noFill/>
            <a:prstDash val="solid"/>
          </a:ln>
        </p:spPr>
        <p:txBody>
          <a:bodyPr/>
          <a:lstStyle/>
          <a:p>
            <a:pPr algn="l">
              <a:defRPr sz="788" b="0" i="0">
                <a:solidFill>
                  <a:srgbClr val="4F6875"/>
                </a:solidFill>
                <a:latin typeface="Aptos"/>
                <a:ea typeface="Aptos"/>
                <a:cs typeface="Aptos"/>
              </a:defRPr>
            </a:pPr>
            <a:r>
              <a:rPr sz="788" b="0" i="0">
                <a:solidFill>
                  <a:srgbClr val="4F6875"/>
                </a:solidFill>
                <a:latin typeface="Aptos"/>
                <a:ea typeface="Aptos"/>
                <a:cs typeface="Aptos"/>
              </a:rPr>
              <a:t>gemeinsame Handelstage</a:t>
            </a:r>
          </a:p>
        </p:txBody>
      </p:sp>
      <p:sp>
        <p:nvSpPr>
          <p:cNvPr id="11" name="Rectangle: Rounded Corners 10">
            <a:extLst>
              <a:ext uri="{FF2B5EF4-FFF2-40B4-BE49-F238E27FC236}">
                <a16:creationId xmlns:a16="http://schemas.microsoft.com/office/drawing/2014/main" id="{133AFF71-D9F5-41BF-969D-B44E907B83D4}"/>
              </a:ext>
            </a:extLst>
          </p:cNvPr>
          <p:cNvSpPr>
            <a:spLocks noGrp="1"/>
          </p:cNvSpPr>
          <p:nvPr/>
        </p:nvSpPr>
        <p:spPr>
          <a:xfrm>
            <a:off x="2724150" y="1428750"/>
            <a:ext cx="2076450" cy="990600"/>
          </a:xfrm>
          <a:prstGeom prst="roundRect">
            <a:avLst>
              <a:gd name="adj" fmla="val 11538"/>
            </a:avLst>
          </a:prstGeom>
          <a:solidFill>
            <a:srgbClr val="FFFFFF"/>
          </a:solidFill>
          <a:ln w="9525">
            <a:solidFill>
              <a:srgbClr val="D5E0E5"/>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12" name="Rectangle 11">
            <a:extLst>
              <a:ext uri="{FF2B5EF4-FFF2-40B4-BE49-F238E27FC236}">
                <a16:creationId xmlns:a16="http://schemas.microsoft.com/office/drawing/2014/main" id="{C9B9AA22-DA0D-4150-855E-A3E66E78CE9F}"/>
              </a:ext>
            </a:extLst>
          </p:cNvPr>
          <p:cNvSpPr>
            <a:spLocks noGrp="1"/>
          </p:cNvSpPr>
          <p:nvPr/>
        </p:nvSpPr>
        <p:spPr>
          <a:xfrm>
            <a:off x="2724150" y="1428750"/>
            <a:ext cx="2076450" cy="47625"/>
          </a:xfrm>
          <a:prstGeom prst="rect">
            <a:avLst/>
          </a:prstGeom>
          <a:solidFill>
            <a:srgbClr val="1B777F"/>
          </a:solidFill>
          <a:ln w="0">
            <a:noFill/>
            <a:prstDash val="solid"/>
          </a:ln>
        </p:spPr>
        <p:txBody>
          <a:bodyPr/>
          <a:lstStyle/>
          <a:p>
            <a:endParaRPr lang="en-US"/>
          </a:p>
        </p:txBody>
      </p:sp>
      <p:sp>
        <p:nvSpPr>
          <p:cNvPr id="13" name="Rectangle 12">
            <a:extLst>
              <a:ext uri="{FF2B5EF4-FFF2-40B4-BE49-F238E27FC236}">
                <a16:creationId xmlns:a16="http://schemas.microsoft.com/office/drawing/2014/main" id="{00926F7D-970E-4C0B-BAFC-C87B197BCA79}"/>
              </a:ext>
            </a:extLst>
          </p:cNvPr>
          <p:cNvSpPr>
            <a:spLocks noGrp="1"/>
          </p:cNvSpPr>
          <p:nvPr/>
        </p:nvSpPr>
        <p:spPr>
          <a:xfrm>
            <a:off x="2857500" y="1571625"/>
            <a:ext cx="1809750" cy="171450"/>
          </a:xfrm>
          <a:prstGeom prst="rect">
            <a:avLst/>
          </a:prstGeom>
          <a:noFill/>
          <a:ln w="0">
            <a:noFill/>
            <a:prstDash val="solid"/>
          </a:ln>
        </p:spPr>
        <p:txBody>
          <a:bodyPr/>
          <a:lstStyle/>
          <a:p>
            <a:pPr algn="l">
              <a:defRPr sz="788" b="1" i="0">
                <a:solidFill>
                  <a:srgbClr val="71858F"/>
                </a:solidFill>
                <a:latin typeface="Aptos"/>
                <a:ea typeface="Aptos"/>
                <a:cs typeface="Aptos"/>
              </a:defRPr>
            </a:pPr>
            <a:r>
              <a:rPr sz="788" b="1" i="0">
                <a:solidFill>
                  <a:srgbClr val="71858F"/>
                </a:solidFill>
                <a:latin typeface="Aptos"/>
                <a:ea typeface="Aptos"/>
                <a:cs typeface="Aptos"/>
              </a:rPr>
              <a:t>PEARSON ρ</a:t>
            </a:r>
          </a:p>
        </p:txBody>
      </p:sp>
      <p:sp>
        <p:nvSpPr>
          <p:cNvPr id="14" name="Rectangle 13">
            <a:extLst>
              <a:ext uri="{FF2B5EF4-FFF2-40B4-BE49-F238E27FC236}">
                <a16:creationId xmlns:a16="http://schemas.microsoft.com/office/drawing/2014/main" id="{08E29BD7-35E5-4725-9D6F-B7775C9CB650}"/>
              </a:ext>
            </a:extLst>
          </p:cNvPr>
          <p:cNvSpPr>
            <a:spLocks noGrp="1"/>
          </p:cNvSpPr>
          <p:nvPr/>
        </p:nvSpPr>
        <p:spPr>
          <a:xfrm>
            <a:off x="2857500" y="1781175"/>
            <a:ext cx="1809750" cy="323850"/>
          </a:xfrm>
          <a:prstGeom prst="rect">
            <a:avLst/>
          </a:prstGeom>
          <a:noFill/>
          <a:ln w="0">
            <a:noFill/>
            <a:prstDash val="solid"/>
          </a:ln>
        </p:spPr>
        <p:txBody>
          <a:bodyPr/>
          <a:lstStyle/>
          <a:p>
            <a:pPr algn="l">
              <a:defRPr sz="1800" b="1" i="0">
                <a:solidFill>
                  <a:srgbClr val="051C2C"/>
                </a:solidFill>
                <a:latin typeface="Aptos Display"/>
                <a:ea typeface="Aptos Display"/>
                <a:cs typeface="Aptos Display"/>
              </a:defRPr>
            </a:pPr>
            <a:r>
              <a:rPr sz="1800" b="1" i="0">
                <a:solidFill>
                  <a:srgbClr val="051C2C"/>
                </a:solidFill>
                <a:latin typeface="Aptos Display"/>
                <a:ea typeface="Aptos Display"/>
                <a:cs typeface="Aptos Display"/>
              </a:rPr>
              <a:t>+0,070</a:t>
            </a:r>
          </a:p>
        </p:txBody>
      </p:sp>
      <p:sp>
        <p:nvSpPr>
          <p:cNvPr id="15" name="Rectangle 14">
            <a:extLst>
              <a:ext uri="{FF2B5EF4-FFF2-40B4-BE49-F238E27FC236}">
                <a16:creationId xmlns:a16="http://schemas.microsoft.com/office/drawing/2014/main" id="{9676B1E9-6590-40A0-88FC-470910C22084}"/>
              </a:ext>
            </a:extLst>
          </p:cNvPr>
          <p:cNvSpPr>
            <a:spLocks noGrp="1"/>
          </p:cNvSpPr>
          <p:nvPr/>
        </p:nvSpPr>
        <p:spPr>
          <a:xfrm>
            <a:off x="2857500" y="2152650"/>
            <a:ext cx="1809750" cy="171450"/>
          </a:xfrm>
          <a:prstGeom prst="rect">
            <a:avLst/>
          </a:prstGeom>
          <a:noFill/>
          <a:ln w="0">
            <a:noFill/>
            <a:prstDash val="solid"/>
          </a:ln>
        </p:spPr>
        <p:txBody>
          <a:bodyPr/>
          <a:lstStyle/>
          <a:p>
            <a:pPr algn="l">
              <a:defRPr sz="788" b="0" i="0">
                <a:solidFill>
                  <a:srgbClr val="4F6875"/>
                </a:solidFill>
                <a:latin typeface="Aptos"/>
                <a:ea typeface="Aptos"/>
                <a:cs typeface="Aptos"/>
              </a:defRPr>
            </a:pPr>
            <a:r>
              <a:rPr sz="788" b="0" i="0">
                <a:solidFill>
                  <a:srgbClr val="4F6875"/>
                </a:solidFill>
                <a:latin typeface="Aptos"/>
                <a:ea typeface="Aptos"/>
                <a:cs typeface="Aptos"/>
              </a:rPr>
              <a:t>95%-KI +0,014 bis +0,125</a:t>
            </a:r>
          </a:p>
        </p:txBody>
      </p:sp>
      <p:sp>
        <p:nvSpPr>
          <p:cNvPr id="16" name="Rectangle: Rounded Corners 15">
            <a:extLst>
              <a:ext uri="{FF2B5EF4-FFF2-40B4-BE49-F238E27FC236}">
                <a16:creationId xmlns:a16="http://schemas.microsoft.com/office/drawing/2014/main" id="{2E8C4D18-A782-46CE-A14F-B136470CC114}"/>
              </a:ext>
            </a:extLst>
          </p:cNvPr>
          <p:cNvSpPr>
            <a:spLocks noGrp="1"/>
          </p:cNvSpPr>
          <p:nvPr/>
        </p:nvSpPr>
        <p:spPr>
          <a:xfrm>
            <a:off x="4991100" y="1428750"/>
            <a:ext cx="2076450" cy="990600"/>
          </a:xfrm>
          <a:prstGeom prst="roundRect">
            <a:avLst>
              <a:gd name="adj" fmla="val 11538"/>
            </a:avLst>
          </a:prstGeom>
          <a:solidFill>
            <a:srgbClr val="FFFFFF"/>
          </a:solidFill>
          <a:ln w="9525">
            <a:solidFill>
              <a:srgbClr val="D5E0E5"/>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17" name="Rectangle 16">
            <a:extLst>
              <a:ext uri="{FF2B5EF4-FFF2-40B4-BE49-F238E27FC236}">
                <a16:creationId xmlns:a16="http://schemas.microsoft.com/office/drawing/2014/main" id="{C40A5293-E52D-4C61-8D73-0629EF0FAAED}"/>
              </a:ext>
            </a:extLst>
          </p:cNvPr>
          <p:cNvSpPr>
            <a:spLocks noGrp="1"/>
          </p:cNvSpPr>
          <p:nvPr/>
        </p:nvSpPr>
        <p:spPr>
          <a:xfrm>
            <a:off x="4991100" y="1428750"/>
            <a:ext cx="2076450" cy="47625"/>
          </a:xfrm>
          <a:prstGeom prst="rect">
            <a:avLst/>
          </a:prstGeom>
          <a:solidFill>
            <a:srgbClr val="0B5D7A"/>
          </a:solidFill>
          <a:ln w="0">
            <a:noFill/>
            <a:prstDash val="solid"/>
          </a:ln>
        </p:spPr>
        <p:txBody>
          <a:bodyPr/>
          <a:lstStyle/>
          <a:p>
            <a:endParaRPr lang="en-US"/>
          </a:p>
        </p:txBody>
      </p:sp>
      <p:sp>
        <p:nvSpPr>
          <p:cNvPr id="18" name="Rectangle 17">
            <a:extLst>
              <a:ext uri="{FF2B5EF4-FFF2-40B4-BE49-F238E27FC236}">
                <a16:creationId xmlns:a16="http://schemas.microsoft.com/office/drawing/2014/main" id="{0C6BE8AB-C6CA-4A84-83E4-EAB2FA92B6A9}"/>
              </a:ext>
            </a:extLst>
          </p:cNvPr>
          <p:cNvSpPr>
            <a:spLocks noGrp="1"/>
          </p:cNvSpPr>
          <p:nvPr/>
        </p:nvSpPr>
        <p:spPr>
          <a:xfrm>
            <a:off x="5124450" y="1571625"/>
            <a:ext cx="1809750" cy="171450"/>
          </a:xfrm>
          <a:prstGeom prst="rect">
            <a:avLst/>
          </a:prstGeom>
          <a:noFill/>
          <a:ln w="0">
            <a:noFill/>
            <a:prstDash val="solid"/>
          </a:ln>
        </p:spPr>
        <p:txBody>
          <a:bodyPr/>
          <a:lstStyle/>
          <a:p>
            <a:pPr algn="l">
              <a:defRPr sz="788" b="1" i="0">
                <a:solidFill>
                  <a:srgbClr val="71858F"/>
                </a:solidFill>
                <a:latin typeface="Aptos"/>
                <a:ea typeface="Aptos"/>
                <a:cs typeface="Aptos"/>
              </a:defRPr>
            </a:pPr>
            <a:r>
              <a:rPr sz="788" b="1" i="0">
                <a:solidFill>
                  <a:srgbClr val="71858F"/>
                </a:solidFill>
                <a:latin typeface="Aptos"/>
                <a:ea typeface="Aptos"/>
                <a:cs typeface="Aptos"/>
              </a:rPr>
              <a:t>SPEARMAN ρ</a:t>
            </a:r>
          </a:p>
        </p:txBody>
      </p:sp>
      <p:sp>
        <p:nvSpPr>
          <p:cNvPr id="19" name="Rectangle 18">
            <a:extLst>
              <a:ext uri="{FF2B5EF4-FFF2-40B4-BE49-F238E27FC236}">
                <a16:creationId xmlns:a16="http://schemas.microsoft.com/office/drawing/2014/main" id="{924743D4-89C9-4C8B-996B-880A1540D817}"/>
              </a:ext>
            </a:extLst>
          </p:cNvPr>
          <p:cNvSpPr>
            <a:spLocks noGrp="1"/>
          </p:cNvSpPr>
          <p:nvPr/>
        </p:nvSpPr>
        <p:spPr>
          <a:xfrm>
            <a:off x="5124450" y="1781175"/>
            <a:ext cx="1809750" cy="323850"/>
          </a:xfrm>
          <a:prstGeom prst="rect">
            <a:avLst/>
          </a:prstGeom>
          <a:noFill/>
          <a:ln w="0">
            <a:noFill/>
            <a:prstDash val="solid"/>
          </a:ln>
        </p:spPr>
        <p:txBody>
          <a:bodyPr/>
          <a:lstStyle/>
          <a:p>
            <a:pPr algn="l">
              <a:defRPr sz="1800" b="1" i="0">
                <a:solidFill>
                  <a:srgbClr val="051C2C"/>
                </a:solidFill>
                <a:latin typeface="Aptos Display"/>
                <a:ea typeface="Aptos Display"/>
                <a:cs typeface="Aptos Display"/>
              </a:defRPr>
            </a:pPr>
            <a:r>
              <a:rPr sz="1800" b="1" i="0">
                <a:solidFill>
                  <a:srgbClr val="051C2C"/>
                </a:solidFill>
                <a:latin typeface="Aptos Display"/>
                <a:ea typeface="Aptos Display"/>
                <a:cs typeface="Aptos Display"/>
              </a:rPr>
              <a:t>+0,084</a:t>
            </a:r>
          </a:p>
        </p:txBody>
      </p:sp>
      <p:sp>
        <p:nvSpPr>
          <p:cNvPr id="20" name="Rectangle 19">
            <a:extLst>
              <a:ext uri="{FF2B5EF4-FFF2-40B4-BE49-F238E27FC236}">
                <a16:creationId xmlns:a16="http://schemas.microsoft.com/office/drawing/2014/main" id="{8E1718C7-7C98-40CE-8DD2-A95633AAA069}"/>
              </a:ext>
            </a:extLst>
          </p:cNvPr>
          <p:cNvSpPr>
            <a:spLocks noGrp="1"/>
          </p:cNvSpPr>
          <p:nvPr/>
        </p:nvSpPr>
        <p:spPr>
          <a:xfrm>
            <a:off x="5124450" y="2152650"/>
            <a:ext cx="1809750" cy="171450"/>
          </a:xfrm>
          <a:prstGeom prst="rect">
            <a:avLst/>
          </a:prstGeom>
          <a:noFill/>
          <a:ln w="0">
            <a:noFill/>
            <a:prstDash val="solid"/>
          </a:ln>
        </p:spPr>
        <p:txBody>
          <a:bodyPr/>
          <a:lstStyle/>
          <a:p>
            <a:pPr algn="l">
              <a:defRPr sz="788" b="0" i="0">
                <a:solidFill>
                  <a:srgbClr val="4F6875"/>
                </a:solidFill>
                <a:latin typeface="Aptos"/>
                <a:ea typeface="Aptos"/>
                <a:cs typeface="Aptos"/>
              </a:defRPr>
            </a:pPr>
            <a:r>
              <a:rPr sz="788" b="0" i="0">
                <a:solidFill>
                  <a:srgbClr val="4F6875"/>
                </a:solidFill>
                <a:latin typeface="Aptos"/>
                <a:ea typeface="Aptos"/>
                <a:cs typeface="Aptos"/>
              </a:rPr>
              <a:t>robust gegen Ausreißer</a:t>
            </a:r>
          </a:p>
        </p:txBody>
      </p:sp>
      <p:sp>
        <p:nvSpPr>
          <p:cNvPr id="21" name="Rectangle: Rounded Corners 20">
            <a:extLst>
              <a:ext uri="{FF2B5EF4-FFF2-40B4-BE49-F238E27FC236}">
                <a16:creationId xmlns:a16="http://schemas.microsoft.com/office/drawing/2014/main" id="{5EF73418-F058-4723-A2F9-9CD484810906}"/>
              </a:ext>
            </a:extLst>
          </p:cNvPr>
          <p:cNvSpPr>
            <a:spLocks noGrp="1"/>
          </p:cNvSpPr>
          <p:nvPr/>
        </p:nvSpPr>
        <p:spPr>
          <a:xfrm>
            <a:off x="7258050" y="1428750"/>
            <a:ext cx="2076450" cy="990600"/>
          </a:xfrm>
          <a:prstGeom prst="roundRect">
            <a:avLst>
              <a:gd name="adj" fmla="val 11538"/>
            </a:avLst>
          </a:prstGeom>
          <a:solidFill>
            <a:srgbClr val="FFFFFF"/>
          </a:solidFill>
          <a:ln w="9525">
            <a:solidFill>
              <a:srgbClr val="D5E0E5"/>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22" name="Rectangle 21">
            <a:extLst>
              <a:ext uri="{FF2B5EF4-FFF2-40B4-BE49-F238E27FC236}">
                <a16:creationId xmlns:a16="http://schemas.microsoft.com/office/drawing/2014/main" id="{E6C82D69-753C-4CEA-BADC-6E5CE1A485D4}"/>
              </a:ext>
            </a:extLst>
          </p:cNvPr>
          <p:cNvSpPr>
            <a:spLocks noGrp="1"/>
          </p:cNvSpPr>
          <p:nvPr/>
        </p:nvSpPr>
        <p:spPr>
          <a:xfrm>
            <a:off x="7258050" y="1428750"/>
            <a:ext cx="2076450" cy="47625"/>
          </a:xfrm>
          <a:prstGeom prst="rect">
            <a:avLst/>
          </a:prstGeom>
          <a:solidFill>
            <a:srgbClr val="A52F4D"/>
          </a:solidFill>
          <a:ln w="0">
            <a:noFill/>
            <a:prstDash val="solid"/>
          </a:ln>
        </p:spPr>
        <p:txBody>
          <a:bodyPr/>
          <a:lstStyle/>
          <a:p>
            <a:endParaRPr lang="en-US"/>
          </a:p>
        </p:txBody>
      </p:sp>
      <p:sp>
        <p:nvSpPr>
          <p:cNvPr id="23" name="Rectangle 22">
            <a:extLst>
              <a:ext uri="{FF2B5EF4-FFF2-40B4-BE49-F238E27FC236}">
                <a16:creationId xmlns:a16="http://schemas.microsoft.com/office/drawing/2014/main" id="{A43AB6AF-492D-4FA6-9E60-CF74B8C904FD}"/>
              </a:ext>
            </a:extLst>
          </p:cNvPr>
          <p:cNvSpPr>
            <a:spLocks noGrp="1"/>
          </p:cNvSpPr>
          <p:nvPr/>
        </p:nvSpPr>
        <p:spPr>
          <a:xfrm>
            <a:off x="7391400" y="1571625"/>
            <a:ext cx="1809750" cy="171450"/>
          </a:xfrm>
          <a:prstGeom prst="rect">
            <a:avLst/>
          </a:prstGeom>
          <a:noFill/>
          <a:ln w="0">
            <a:noFill/>
            <a:prstDash val="solid"/>
          </a:ln>
        </p:spPr>
        <p:txBody>
          <a:bodyPr/>
          <a:lstStyle/>
          <a:p>
            <a:pPr algn="l">
              <a:defRPr sz="788" b="1" i="0">
                <a:solidFill>
                  <a:srgbClr val="71858F"/>
                </a:solidFill>
                <a:latin typeface="Aptos"/>
                <a:ea typeface="Aptos"/>
                <a:cs typeface="Aptos"/>
              </a:defRPr>
            </a:pPr>
            <a:r>
              <a:rPr sz="788" b="1" i="0">
                <a:solidFill>
                  <a:srgbClr val="71858F"/>
                </a:solidFill>
                <a:latin typeface="Aptos"/>
                <a:ea typeface="Aptos"/>
                <a:cs typeface="Aptos"/>
              </a:rPr>
              <a:t>OLS β</a:t>
            </a:r>
          </a:p>
        </p:txBody>
      </p:sp>
      <p:sp>
        <p:nvSpPr>
          <p:cNvPr id="24" name="Rectangle 23">
            <a:extLst>
              <a:ext uri="{FF2B5EF4-FFF2-40B4-BE49-F238E27FC236}">
                <a16:creationId xmlns:a16="http://schemas.microsoft.com/office/drawing/2014/main" id="{A55C10E5-518F-4A4B-85B5-BA29449F86FA}"/>
              </a:ext>
            </a:extLst>
          </p:cNvPr>
          <p:cNvSpPr>
            <a:spLocks noGrp="1"/>
          </p:cNvSpPr>
          <p:nvPr/>
        </p:nvSpPr>
        <p:spPr>
          <a:xfrm>
            <a:off x="7391400" y="1781175"/>
            <a:ext cx="1809750" cy="323850"/>
          </a:xfrm>
          <a:prstGeom prst="rect">
            <a:avLst/>
          </a:prstGeom>
          <a:noFill/>
          <a:ln w="0">
            <a:noFill/>
            <a:prstDash val="solid"/>
          </a:ln>
        </p:spPr>
        <p:txBody>
          <a:bodyPr/>
          <a:lstStyle/>
          <a:p>
            <a:pPr algn="l">
              <a:defRPr sz="1800" b="1" i="0">
                <a:solidFill>
                  <a:srgbClr val="051C2C"/>
                </a:solidFill>
                <a:latin typeface="Aptos Display"/>
                <a:ea typeface="Aptos Display"/>
                <a:cs typeface="Aptos Display"/>
              </a:defRPr>
            </a:pPr>
            <a:r>
              <a:rPr sz="1800" b="1" i="0">
                <a:solidFill>
                  <a:srgbClr val="051C2C"/>
                </a:solidFill>
                <a:latin typeface="Aptos Display"/>
                <a:ea typeface="Aptos Display"/>
                <a:cs typeface="Aptos Display"/>
              </a:rPr>
              <a:t>+0,160</a:t>
            </a:r>
          </a:p>
        </p:txBody>
      </p:sp>
      <p:sp>
        <p:nvSpPr>
          <p:cNvPr id="25" name="Rectangle 24">
            <a:extLst>
              <a:ext uri="{FF2B5EF4-FFF2-40B4-BE49-F238E27FC236}">
                <a16:creationId xmlns:a16="http://schemas.microsoft.com/office/drawing/2014/main" id="{C8FCF8CF-C29E-4890-8327-13C20E1226EA}"/>
              </a:ext>
            </a:extLst>
          </p:cNvPr>
          <p:cNvSpPr>
            <a:spLocks noGrp="1"/>
          </p:cNvSpPr>
          <p:nvPr/>
        </p:nvSpPr>
        <p:spPr>
          <a:xfrm>
            <a:off x="7391400" y="2152650"/>
            <a:ext cx="1809750" cy="171450"/>
          </a:xfrm>
          <a:prstGeom prst="rect">
            <a:avLst/>
          </a:prstGeom>
          <a:noFill/>
          <a:ln w="0">
            <a:noFill/>
            <a:prstDash val="solid"/>
          </a:ln>
        </p:spPr>
        <p:txBody>
          <a:bodyPr/>
          <a:lstStyle/>
          <a:p>
            <a:pPr algn="l">
              <a:defRPr sz="788" b="0" i="0">
                <a:solidFill>
                  <a:srgbClr val="4F6875"/>
                </a:solidFill>
                <a:latin typeface="Aptos"/>
                <a:ea typeface="Aptos"/>
                <a:cs typeface="Aptos"/>
              </a:defRPr>
            </a:pPr>
            <a:r>
              <a:rPr sz="788" b="0" i="0">
                <a:solidFill>
                  <a:srgbClr val="4F6875"/>
                </a:solidFill>
                <a:latin typeface="Aptos"/>
                <a:ea typeface="Aptos"/>
                <a:cs typeface="Aptos"/>
              </a:rPr>
              <a:t>t = 2,47 · p = 0,014</a:t>
            </a:r>
          </a:p>
        </p:txBody>
      </p:sp>
      <p:sp>
        <p:nvSpPr>
          <p:cNvPr id="26" name="Rectangle: Rounded Corners 25">
            <a:extLst>
              <a:ext uri="{FF2B5EF4-FFF2-40B4-BE49-F238E27FC236}">
                <a16:creationId xmlns:a16="http://schemas.microsoft.com/office/drawing/2014/main" id="{7FC776D1-601D-41E7-AFE4-C6E311B8DB5C}"/>
              </a:ext>
            </a:extLst>
          </p:cNvPr>
          <p:cNvSpPr>
            <a:spLocks noGrp="1"/>
          </p:cNvSpPr>
          <p:nvPr/>
        </p:nvSpPr>
        <p:spPr>
          <a:xfrm>
            <a:off x="9525000" y="1428750"/>
            <a:ext cx="2076450" cy="990600"/>
          </a:xfrm>
          <a:prstGeom prst="roundRect">
            <a:avLst>
              <a:gd name="adj" fmla="val 11538"/>
            </a:avLst>
          </a:prstGeom>
          <a:solidFill>
            <a:srgbClr val="FFFFFF"/>
          </a:solidFill>
          <a:ln w="9525">
            <a:solidFill>
              <a:srgbClr val="D5E0E5"/>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27" name="Rectangle 26">
            <a:extLst>
              <a:ext uri="{FF2B5EF4-FFF2-40B4-BE49-F238E27FC236}">
                <a16:creationId xmlns:a16="http://schemas.microsoft.com/office/drawing/2014/main" id="{C6B112B7-6EFC-4789-B3B5-C7D6AAECE7D3}"/>
              </a:ext>
            </a:extLst>
          </p:cNvPr>
          <p:cNvSpPr>
            <a:spLocks noGrp="1"/>
          </p:cNvSpPr>
          <p:nvPr/>
        </p:nvSpPr>
        <p:spPr>
          <a:xfrm>
            <a:off x="9525000" y="1428750"/>
            <a:ext cx="2076450" cy="47625"/>
          </a:xfrm>
          <a:prstGeom prst="rect">
            <a:avLst/>
          </a:prstGeom>
          <a:solidFill>
            <a:srgbClr val="D9A124"/>
          </a:solidFill>
          <a:ln w="0">
            <a:noFill/>
            <a:prstDash val="solid"/>
          </a:ln>
        </p:spPr>
        <p:txBody>
          <a:bodyPr/>
          <a:lstStyle/>
          <a:p>
            <a:endParaRPr lang="en-US"/>
          </a:p>
        </p:txBody>
      </p:sp>
      <p:sp>
        <p:nvSpPr>
          <p:cNvPr id="28" name="Rectangle 27">
            <a:extLst>
              <a:ext uri="{FF2B5EF4-FFF2-40B4-BE49-F238E27FC236}">
                <a16:creationId xmlns:a16="http://schemas.microsoft.com/office/drawing/2014/main" id="{E14DE719-6DAF-41E7-A12B-549674830EA1}"/>
              </a:ext>
            </a:extLst>
          </p:cNvPr>
          <p:cNvSpPr>
            <a:spLocks noGrp="1"/>
          </p:cNvSpPr>
          <p:nvPr/>
        </p:nvSpPr>
        <p:spPr>
          <a:xfrm>
            <a:off x="9658350" y="1571625"/>
            <a:ext cx="1809750" cy="171450"/>
          </a:xfrm>
          <a:prstGeom prst="rect">
            <a:avLst/>
          </a:prstGeom>
          <a:noFill/>
          <a:ln w="0">
            <a:noFill/>
            <a:prstDash val="solid"/>
          </a:ln>
        </p:spPr>
        <p:txBody>
          <a:bodyPr/>
          <a:lstStyle/>
          <a:p>
            <a:pPr algn="l">
              <a:defRPr sz="788" b="1" i="0">
                <a:solidFill>
                  <a:srgbClr val="71858F"/>
                </a:solidFill>
                <a:latin typeface="Aptos"/>
                <a:ea typeface="Aptos"/>
                <a:cs typeface="Aptos"/>
              </a:defRPr>
            </a:pPr>
            <a:r>
              <a:rPr sz="788" b="1" i="0">
                <a:solidFill>
                  <a:srgbClr val="71858F"/>
                </a:solidFill>
                <a:latin typeface="Aptos"/>
                <a:ea typeface="Aptos"/>
                <a:cs typeface="Aptos"/>
              </a:rPr>
              <a:t>OLS R²</a:t>
            </a:r>
          </a:p>
        </p:txBody>
      </p:sp>
      <p:sp>
        <p:nvSpPr>
          <p:cNvPr id="29" name="Rectangle 28">
            <a:extLst>
              <a:ext uri="{FF2B5EF4-FFF2-40B4-BE49-F238E27FC236}">
                <a16:creationId xmlns:a16="http://schemas.microsoft.com/office/drawing/2014/main" id="{0E2C9387-07D0-4B3E-A178-C806E8EFFB20}"/>
              </a:ext>
            </a:extLst>
          </p:cNvPr>
          <p:cNvSpPr>
            <a:spLocks noGrp="1"/>
          </p:cNvSpPr>
          <p:nvPr/>
        </p:nvSpPr>
        <p:spPr>
          <a:xfrm>
            <a:off x="9658350" y="1781175"/>
            <a:ext cx="1809750" cy="323850"/>
          </a:xfrm>
          <a:prstGeom prst="rect">
            <a:avLst/>
          </a:prstGeom>
          <a:noFill/>
          <a:ln w="0">
            <a:noFill/>
            <a:prstDash val="solid"/>
          </a:ln>
        </p:spPr>
        <p:txBody>
          <a:bodyPr/>
          <a:lstStyle/>
          <a:p>
            <a:pPr algn="l">
              <a:defRPr sz="1800" b="1" i="0">
                <a:solidFill>
                  <a:srgbClr val="051C2C"/>
                </a:solidFill>
                <a:latin typeface="Aptos Display"/>
                <a:ea typeface="Aptos Display"/>
                <a:cs typeface="Aptos Display"/>
              </a:defRPr>
            </a:pPr>
            <a:r>
              <a:rPr sz="1800" b="1" i="0">
                <a:solidFill>
                  <a:srgbClr val="051C2C"/>
                </a:solidFill>
                <a:latin typeface="Aptos Display"/>
                <a:ea typeface="Aptos Display"/>
                <a:cs typeface="Aptos Display"/>
              </a:rPr>
              <a:t>0,49 %</a:t>
            </a:r>
          </a:p>
        </p:txBody>
      </p:sp>
      <p:sp>
        <p:nvSpPr>
          <p:cNvPr id="30" name="Rectangle 29">
            <a:extLst>
              <a:ext uri="{FF2B5EF4-FFF2-40B4-BE49-F238E27FC236}">
                <a16:creationId xmlns:a16="http://schemas.microsoft.com/office/drawing/2014/main" id="{B9C90E24-2BCE-4DFB-B79D-2073B1AA38E6}"/>
              </a:ext>
            </a:extLst>
          </p:cNvPr>
          <p:cNvSpPr>
            <a:spLocks noGrp="1"/>
          </p:cNvSpPr>
          <p:nvPr/>
        </p:nvSpPr>
        <p:spPr>
          <a:xfrm>
            <a:off x="9658350" y="2152650"/>
            <a:ext cx="1809750" cy="171450"/>
          </a:xfrm>
          <a:prstGeom prst="rect">
            <a:avLst/>
          </a:prstGeom>
          <a:noFill/>
          <a:ln w="0">
            <a:noFill/>
            <a:prstDash val="solid"/>
          </a:ln>
        </p:spPr>
        <p:txBody>
          <a:bodyPr/>
          <a:lstStyle/>
          <a:p>
            <a:pPr algn="l">
              <a:defRPr sz="788" b="0" i="0">
                <a:solidFill>
                  <a:srgbClr val="4F6875"/>
                </a:solidFill>
                <a:latin typeface="Aptos"/>
                <a:ea typeface="Aptos"/>
                <a:cs typeface="Aptos"/>
              </a:defRPr>
            </a:pPr>
            <a:r>
              <a:rPr sz="788" b="0" i="0">
                <a:solidFill>
                  <a:srgbClr val="4F6875"/>
                </a:solidFill>
                <a:latin typeface="Aptos"/>
                <a:ea typeface="Aptos"/>
                <a:cs typeface="Aptos"/>
              </a:rPr>
              <a:t>erklärte Varianz</a:t>
            </a:r>
          </a:p>
        </p:txBody>
      </p:sp>
      <p:sp>
        <p:nvSpPr>
          <p:cNvPr id="31" name="Rectangle: Rounded Corners 30">
            <a:extLst>
              <a:ext uri="{FF2B5EF4-FFF2-40B4-BE49-F238E27FC236}">
                <a16:creationId xmlns:a16="http://schemas.microsoft.com/office/drawing/2014/main" id="{8EA33565-AC67-4593-8D65-000E86506B94}"/>
              </a:ext>
            </a:extLst>
          </p:cNvPr>
          <p:cNvSpPr>
            <a:spLocks noGrp="1"/>
          </p:cNvSpPr>
          <p:nvPr/>
        </p:nvSpPr>
        <p:spPr>
          <a:xfrm>
            <a:off x="457200" y="2686050"/>
            <a:ext cx="7096125" cy="2952750"/>
          </a:xfrm>
          <a:prstGeom prst="roundRect">
            <a:avLst>
              <a:gd name="adj" fmla="val 3871"/>
            </a:avLst>
          </a:prstGeom>
          <a:solidFill>
            <a:srgbClr val="FFFFFF"/>
          </a:solidFill>
          <a:ln w="9525">
            <a:solidFill>
              <a:srgbClr val="D5E0E5"/>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32" name="Rectangle 31">
            <a:extLst>
              <a:ext uri="{FF2B5EF4-FFF2-40B4-BE49-F238E27FC236}">
                <a16:creationId xmlns:a16="http://schemas.microsoft.com/office/drawing/2014/main" id="{43F1C611-0FF0-4AF1-8418-032BDF07AF26}"/>
              </a:ext>
            </a:extLst>
          </p:cNvPr>
          <p:cNvSpPr>
            <a:spLocks noGrp="1"/>
          </p:cNvSpPr>
          <p:nvPr/>
        </p:nvSpPr>
        <p:spPr>
          <a:xfrm>
            <a:off x="647700" y="2867025"/>
            <a:ext cx="3143250" cy="171450"/>
          </a:xfrm>
          <a:prstGeom prst="rect">
            <a:avLst/>
          </a:prstGeom>
          <a:noFill/>
          <a:ln w="0">
            <a:noFill/>
            <a:prstDash val="solid"/>
          </a:ln>
        </p:spPr>
        <p:txBody>
          <a:bodyPr/>
          <a:lstStyle/>
          <a:p>
            <a:pPr algn="l">
              <a:defRPr sz="788" b="1" i="0">
                <a:solidFill>
                  <a:srgbClr val="A52F4D"/>
                </a:solidFill>
                <a:latin typeface="Aptos"/>
                <a:ea typeface="Aptos"/>
                <a:cs typeface="Aptos"/>
              </a:defRPr>
            </a:pPr>
            <a:r>
              <a:rPr sz="788" b="1" i="0">
                <a:solidFill>
                  <a:srgbClr val="A52F4D"/>
                </a:solidFill>
                <a:latin typeface="Aptos"/>
                <a:ea typeface="Aptos"/>
                <a:cs typeface="Aptos"/>
              </a:rPr>
              <a:t>STREUDIAGRAMM · TAGESVERÄNDERUNGEN</a:t>
            </a:r>
          </a:p>
        </p:txBody>
      </p:sp>
      <p:sp>
        <p:nvSpPr>
          <p:cNvPr id="33" name="Rectangle 32">
            <a:extLst>
              <a:ext uri="{FF2B5EF4-FFF2-40B4-BE49-F238E27FC236}">
                <a16:creationId xmlns:a16="http://schemas.microsoft.com/office/drawing/2014/main" id="{D5427ED1-2437-4B0A-97C7-AB36A69A67E0}"/>
              </a:ext>
            </a:extLst>
          </p:cNvPr>
          <p:cNvSpPr>
            <a:spLocks noGrp="1"/>
          </p:cNvSpPr>
          <p:nvPr/>
        </p:nvSpPr>
        <p:spPr>
          <a:xfrm>
            <a:off x="1000125" y="4333875"/>
            <a:ext cx="5953125" cy="9525"/>
          </a:xfrm>
          <a:prstGeom prst="rect">
            <a:avLst/>
          </a:prstGeom>
          <a:solidFill>
            <a:srgbClr val="B7C5CB"/>
          </a:solidFill>
          <a:ln w="0">
            <a:noFill/>
            <a:prstDash val="solid"/>
          </a:ln>
        </p:spPr>
        <p:txBody>
          <a:bodyPr/>
          <a:lstStyle/>
          <a:p>
            <a:endParaRPr lang="en-US"/>
          </a:p>
        </p:txBody>
      </p:sp>
      <p:sp>
        <p:nvSpPr>
          <p:cNvPr id="34" name="Rectangle 33">
            <a:extLst>
              <a:ext uri="{FF2B5EF4-FFF2-40B4-BE49-F238E27FC236}">
                <a16:creationId xmlns:a16="http://schemas.microsoft.com/office/drawing/2014/main" id="{AC67FC86-5EC9-477B-8D90-32335EE852F0}"/>
              </a:ext>
            </a:extLst>
          </p:cNvPr>
          <p:cNvSpPr>
            <a:spLocks noGrp="1"/>
          </p:cNvSpPr>
          <p:nvPr/>
        </p:nvSpPr>
        <p:spPr>
          <a:xfrm>
            <a:off x="3962400" y="3200400"/>
            <a:ext cx="9525" cy="2095500"/>
          </a:xfrm>
          <a:prstGeom prst="rect">
            <a:avLst/>
          </a:prstGeom>
          <a:solidFill>
            <a:srgbClr val="B7C5CB"/>
          </a:solidFill>
          <a:ln w="0">
            <a:noFill/>
            <a:prstDash val="solid"/>
          </a:ln>
        </p:spPr>
        <p:txBody>
          <a:bodyPr/>
          <a:lstStyle/>
          <a:p>
            <a:endParaRPr lang="en-US"/>
          </a:p>
        </p:txBody>
      </p:sp>
      <p:sp>
        <p:nvSpPr>
          <p:cNvPr id="35" name="Oval 34">
            <a:extLst>
              <a:ext uri="{FF2B5EF4-FFF2-40B4-BE49-F238E27FC236}">
                <a16:creationId xmlns:a16="http://schemas.microsoft.com/office/drawing/2014/main" id="{6B041EE6-1E1E-4093-8762-48CFFCD695DB}"/>
              </a:ext>
            </a:extLst>
          </p:cNvPr>
          <p:cNvSpPr>
            <a:spLocks noGrp="1"/>
          </p:cNvSpPr>
          <p:nvPr/>
        </p:nvSpPr>
        <p:spPr>
          <a:xfrm>
            <a:off x="1362075" y="4114800"/>
            <a:ext cx="66675" cy="66675"/>
          </a:xfrm>
          <a:prstGeom prst="ellipse">
            <a:avLst/>
          </a:prstGeom>
          <a:solidFill>
            <a:srgbClr val="A52F4D"/>
          </a:solidFill>
          <a:ln w="0">
            <a:noFill/>
            <a:prstDash val="solid"/>
          </a:ln>
        </p:spPr>
        <p:txBody>
          <a:bodyPr/>
          <a:lstStyle/>
          <a:p>
            <a:endParaRPr lang="en-US"/>
          </a:p>
        </p:txBody>
      </p:sp>
      <p:sp>
        <p:nvSpPr>
          <p:cNvPr id="36" name="Oval 35">
            <a:extLst>
              <a:ext uri="{FF2B5EF4-FFF2-40B4-BE49-F238E27FC236}">
                <a16:creationId xmlns:a16="http://schemas.microsoft.com/office/drawing/2014/main" id="{4C19941B-E64F-426C-A498-E5BD1D851007}"/>
              </a:ext>
            </a:extLst>
          </p:cNvPr>
          <p:cNvSpPr>
            <a:spLocks noGrp="1"/>
          </p:cNvSpPr>
          <p:nvPr/>
        </p:nvSpPr>
        <p:spPr>
          <a:xfrm>
            <a:off x="1562100" y="4495800"/>
            <a:ext cx="66675" cy="66675"/>
          </a:xfrm>
          <a:prstGeom prst="ellipse">
            <a:avLst/>
          </a:prstGeom>
          <a:solidFill>
            <a:srgbClr val="051C2C"/>
          </a:solidFill>
          <a:ln w="0">
            <a:noFill/>
            <a:prstDash val="solid"/>
          </a:ln>
        </p:spPr>
        <p:txBody>
          <a:bodyPr/>
          <a:lstStyle/>
          <a:p>
            <a:endParaRPr lang="en-US"/>
          </a:p>
        </p:txBody>
      </p:sp>
      <p:sp>
        <p:nvSpPr>
          <p:cNvPr id="37" name="Oval 36">
            <a:extLst>
              <a:ext uri="{FF2B5EF4-FFF2-40B4-BE49-F238E27FC236}">
                <a16:creationId xmlns:a16="http://schemas.microsoft.com/office/drawing/2014/main" id="{CF98F84D-9839-4679-95AD-0A5EFD8B1005}"/>
              </a:ext>
            </a:extLst>
          </p:cNvPr>
          <p:cNvSpPr>
            <a:spLocks noGrp="1"/>
          </p:cNvSpPr>
          <p:nvPr/>
        </p:nvSpPr>
        <p:spPr>
          <a:xfrm>
            <a:off x="1762125" y="3914775"/>
            <a:ext cx="66675" cy="66675"/>
          </a:xfrm>
          <a:prstGeom prst="ellipse">
            <a:avLst/>
          </a:prstGeom>
          <a:solidFill>
            <a:srgbClr val="051C2C"/>
          </a:solidFill>
          <a:ln w="0">
            <a:noFill/>
            <a:prstDash val="solid"/>
          </a:ln>
        </p:spPr>
        <p:txBody>
          <a:bodyPr/>
          <a:lstStyle/>
          <a:p>
            <a:endParaRPr lang="en-US"/>
          </a:p>
        </p:txBody>
      </p:sp>
      <p:sp>
        <p:nvSpPr>
          <p:cNvPr id="38" name="Oval 37">
            <a:extLst>
              <a:ext uri="{FF2B5EF4-FFF2-40B4-BE49-F238E27FC236}">
                <a16:creationId xmlns:a16="http://schemas.microsoft.com/office/drawing/2014/main" id="{70826256-7656-4D41-9D95-D699634C54C1}"/>
              </a:ext>
            </a:extLst>
          </p:cNvPr>
          <p:cNvSpPr>
            <a:spLocks noGrp="1"/>
          </p:cNvSpPr>
          <p:nvPr/>
        </p:nvSpPr>
        <p:spPr>
          <a:xfrm>
            <a:off x="1952625" y="4657725"/>
            <a:ext cx="66675" cy="66675"/>
          </a:xfrm>
          <a:prstGeom prst="ellipse">
            <a:avLst/>
          </a:prstGeom>
          <a:solidFill>
            <a:srgbClr val="051C2C"/>
          </a:solidFill>
          <a:ln w="0">
            <a:noFill/>
            <a:prstDash val="solid"/>
          </a:ln>
        </p:spPr>
        <p:txBody>
          <a:bodyPr/>
          <a:lstStyle/>
          <a:p>
            <a:endParaRPr lang="en-US"/>
          </a:p>
        </p:txBody>
      </p:sp>
      <p:sp>
        <p:nvSpPr>
          <p:cNvPr id="39" name="Oval 38">
            <a:extLst>
              <a:ext uri="{FF2B5EF4-FFF2-40B4-BE49-F238E27FC236}">
                <a16:creationId xmlns:a16="http://schemas.microsoft.com/office/drawing/2014/main" id="{59CABAFC-569C-42E6-BACC-AD36A2AE012A}"/>
              </a:ext>
            </a:extLst>
          </p:cNvPr>
          <p:cNvSpPr>
            <a:spLocks noGrp="1"/>
          </p:cNvSpPr>
          <p:nvPr/>
        </p:nvSpPr>
        <p:spPr>
          <a:xfrm>
            <a:off x="2171700" y="4248150"/>
            <a:ext cx="66675" cy="66675"/>
          </a:xfrm>
          <a:prstGeom prst="ellipse">
            <a:avLst/>
          </a:prstGeom>
          <a:solidFill>
            <a:srgbClr val="051C2C"/>
          </a:solidFill>
          <a:ln w="0">
            <a:noFill/>
            <a:prstDash val="solid"/>
          </a:ln>
        </p:spPr>
        <p:txBody>
          <a:bodyPr/>
          <a:lstStyle/>
          <a:p>
            <a:endParaRPr lang="en-US"/>
          </a:p>
        </p:txBody>
      </p:sp>
      <p:sp>
        <p:nvSpPr>
          <p:cNvPr id="40" name="Oval 39">
            <a:extLst>
              <a:ext uri="{FF2B5EF4-FFF2-40B4-BE49-F238E27FC236}">
                <a16:creationId xmlns:a16="http://schemas.microsoft.com/office/drawing/2014/main" id="{7B56B2AC-07F6-4E4B-A6AB-208DEBD8B0C1}"/>
              </a:ext>
            </a:extLst>
          </p:cNvPr>
          <p:cNvSpPr>
            <a:spLocks noGrp="1"/>
          </p:cNvSpPr>
          <p:nvPr/>
        </p:nvSpPr>
        <p:spPr>
          <a:xfrm>
            <a:off x="2362200" y="4391025"/>
            <a:ext cx="66675" cy="66675"/>
          </a:xfrm>
          <a:prstGeom prst="ellipse">
            <a:avLst/>
          </a:prstGeom>
          <a:solidFill>
            <a:srgbClr val="051C2C"/>
          </a:solidFill>
          <a:ln w="0">
            <a:noFill/>
            <a:prstDash val="solid"/>
          </a:ln>
        </p:spPr>
        <p:txBody>
          <a:bodyPr/>
          <a:lstStyle/>
          <a:p>
            <a:endParaRPr lang="en-US"/>
          </a:p>
        </p:txBody>
      </p:sp>
      <p:sp>
        <p:nvSpPr>
          <p:cNvPr id="41" name="Oval 40">
            <a:extLst>
              <a:ext uri="{FF2B5EF4-FFF2-40B4-BE49-F238E27FC236}">
                <a16:creationId xmlns:a16="http://schemas.microsoft.com/office/drawing/2014/main" id="{3379453B-FA7B-42BE-B090-3ED3BD72C3D6}"/>
              </a:ext>
            </a:extLst>
          </p:cNvPr>
          <p:cNvSpPr>
            <a:spLocks noGrp="1"/>
          </p:cNvSpPr>
          <p:nvPr/>
        </p:nvSpPr>
        <p:spPr>
          <a:xfrm>
            <a:off x="2552700" y="3790950"/>
            <a:ext cx="66675" cy="66675"/>
          </a:xfrm>
          <a:prstGeom prst="ellipse">
            <a:avLst/>
          </a:prstGeom>
          <a:solidFill>
            <a:srgbClr val="051C2C"/>
          </a:solidFill>
          <a:ln w="0">
            <a:noFill/>
            <a:prstDash val="solid"/>
          </a:ln>
        </p:spPr>
        <p:txBody>
          <a:bodyPr/>
          <a:lstStyle/>
          <a:p>
            <a:endParaRPr lang="en-US"/>
          </a:p>
        </p:txBody>
      </p:sp>
      <p:sp>
        <p:nvSpPr>
          <p:cNvPr id="42" name="Oval 41">
            <a:extLst>
              <a:ext uri="{FF2B5EF4-FFF2-40B4-BE49-F238E27FC236}">
                <a16:creationId xmlns:a16="http://schemas.microsoft.com/office/drawing/2014/main" id="{181766AA-C1DB-4379-98AA-122ABF51F259}"/>
              </a:ext>
            </a:extLst>
          </p:cNvPr>
          <p:cNvSpPr>
            <a:spLocks noGrp="1"/>
          </p:cNvSpPr>
          <p:nvPr/>
        </p:nvSpPr>
        <p:spPr>
          <a:xfrm>
            <a:off x="2724150" y="4581525"/>
            <a:ext cx="66675" cy="66675"/>
          </a:xfrm>
          <a:prstGeom prst="ellipse">
            <a:avLst/>
          </a:prstGeom>
          <a:solidFill>
            <a:srgbClr val="A52F4D"/>
          </a:solidFill>
          <a:ln w="0">
            <a:noFill/>
            <a:prstDash val="solid"/>
          </a:ln>
        </p:spPr>
        <p:txBody>
          <a:bodyPr/>
          <a:lstStyle/>
          <a:p>
            <a:endParaRPr lang="en-US"/>
          </a:p>
        </p:txBody>
      </p:sp>
      <p:sp>
        <p:nvSpPr>
          <p:cNvPr id="43" name="Oval 42">
            <a:extLst>
              <a:ext uri="{FF2B5EF4-FFF2-40B4-BE49-F238E27FC236}">
                <a16:creationId xmlns:a16="http://schemas.microsoft.com/office/drawing/2014/main" id="{5AB7654E-2592-496C-89C5-F74D6BD8634A}"/>
              </a:ext>
            </a:extLst>
          </p:cNvPr>
          <p:cNvSpPr>
            <a:spLocks noGrp="1"/>
          </p:cNvSpPr>
          <p:nvPr/>
        </p:nvSpPr>
        <p:spPr>
          <a:xfrm>
            <a:off x="2924175" y="4010025"/>
            <a:ext cx="66675" cy="66675"/>
          </a:xfrm>
          <a:prstGeom prst="ellipse">
            <a:avLst/>
          </a:prstGeom>
          <a:solidFill>
            <a:srgbClr val="051C2C"/>
          </a:solidFill>
          <a:ln w="0">
            <a:noFill/>
            <a:prstDash val="solid"/>
          </a:ln>
        </p:spPr>
        <p:txBody>
          <a:bodyPr/>
          <a:lstStyle/>
          <a:p>
            <a:endParaRPr lang="en-US"/>
          </a:p>
        </p:txBody>
      </p:sp>
      <p:sp>
        <p:nvSpPr>
          <p:cNvPr id="44" name="Oval 43">
            <a:extLst>
              <a:ext uri="{FF2B5EF4-FFF2-40B4-BE49-F238E27FC236}">
                <a16:creationId xmlns:a16="http://schemas.microsoft.com/office/drawing/2014/main" id="{BA00E268-084E-4727-A718-B23B4F3F40AF}"/>
              </a:ext>
            </a:extLst>
          </p:cNvPr>
          <p:cNvSpPr>
            <a:spLocks noGrp="1"/>
          </p:cNvSpPr>
          <p:nvPr/>
        </p:nvSpPr>
        <p:spPr>
          <a:xfrm>
            <a:off x="3133725" y="4343400"/>
            <a:ext cx="66675" cy="66675"/>
          </a:xfrm>
          <a:prstGeom prst="ellipse">
            <a:avLst/>
          </a:prstGeom>
          <a:solidFill>
            <a:srgbClr val="051C2C"/>
          </a:solidFill>
          <a:ln w="0">
            <a:noFill/>
            <a:prstDash val="solid"/>
          </a:ln>
        </p:spPr>
        <p:txBody>
          <a:bodyPr/>
          <a:lstStyle/>
          <a:p>
            <a:endParaRPr lang="en-US"/>
          </a:p>
        </p:txBody>
      </p:sp>
      <p:sp>
        <p:nvSpPr>
          <p:cNvPr id="45" name="Oval 44">
            <a:extLst>
              <a:ext uri="{FF2B5EF4-FFF2-40B4-BE49-F238E27FC236}">
                <a16:creationId xmlns:a16="http://schemas.microsoft.com/office/drawing/2014/main" id="{6D0F1208-F08C-4672-AE32-41C21E604837}"/>
              </a:ext>
            </a:extLst>
          </p:cNvPr>
          <p:cNvSpPr>
            <a:spLocks noGrp="1"/>
          </p:cNvSpPr>
          <p:nvPr/>
        </p:nvSpPr>
        <p:spPr>
          <a:xfrm>
            <a:off x="3305175" y="4829175"/>
            <a:ext cx="66675" cy="66675"/>
          </a:xfrm>
          <a:prstGeom prst="ellipse">
            <a:avLst/>
          </a:prstGeom>
          <a:solidFill>
            <a:srgbClr val="051C2C"/>
          </a:solidFill>
          <a:ln w="0">
            <a:noFill/>
            <a:prstDash val="solid"/>
          </a:ln>
        </p:spPr>
        <p:txBody>
          <a:bodyPr/>
          <a:lstStyle/>
          <a:p>
            <a:endParaRPr lang="en-US"/>
          </a:p>
        </p:txBody>
      </p:sp>
      <p:sp>
        <p:nvSpPr>
          <p:cNvPr id="46" name="Oval 45">
            <a:extLst>
              <a:ext uri="{FF2B5EF4-FFF2-40B4-BE49-F238E27FC236}">
                <a16:creationId xmlns:a16="http://schemas.microsoft.com/office/drawing/2014/main" id="{E12657E3-9786-460C-BE30-5584A5E73061}"/>
              </a:ext>
            </a:extLst>
          </p:cNvPr>
          <p:cNvSpPr>
            <a:spLocks noGrp="1"/>
          </p:cNvSpPr>
          <p:nvPr/>
        </p:nvSpPr>
        <p:spPr>
          <a:xfrm>
            <a:off x="3476625" y="4171950"/>
            <a:ext cx="66675" cy="66675"/>
          </a:xfrm>
          <a:prstGeom prst="ellipse">
            <a:avLst/>
          </a:prstGeom>
          <a:solidFill>
            <a:srgbClr val="051C2C"/>
          </a:solidFill>
          <a:ln w="0">
            <a:noFill/>
            <a:prstDash val="solid"/>
          </a:ln>
        </p:spPr>
        <p:txBody>
          <a:bodyPr/>
          <a:lstStyle/>
          <a:p>
            <a:endParaRPr lang="en-US"/>
          </a:p>
        </p:txBody>
      </p:sp>
      <p:sp>
        <p:nvSpPr>
          <p:cNvPr id="47" name="Oval 46">
            <a:extLst>
              <a:ext uri="{FF2B5EF4-FFF2-40B4-BE49-F238E27FC236}">
                <a16:creationId xmlns:a16="http://schemas.microsoft.com/office/drawing/2014/main" id="{1269C17D-859C-4989-B9D7-10D92F932206}"/>
              </a:ext>
            </a:extLst>
          </p:cNvPr>
          <p:cNvSpPr>
            <a:spLocks noGrp="1"/>
          </p:cNvSpPr>
          <p:nvPr/>
        </p:nvSpPr>
        <p:spPr>
          <a:xfrm>
            <a:off x="3638550" y="4495800"/>
            <a:ext cx="66675" cy="66675"/>
          </a:xfrm>
          <a:prstGeom prst="ellipse">
            <a:avLst/>
          </a:prstGeom>
          <a:solidFill>
            <a:srgbClr val="051C2C"/>
          </a:solidFill>
          <a:ln w="0">
            <a:noFill/>
            <a:prstDash val="solid"/>
          </a:ln>
        </p:spPr>
        <p:txBody>
          <a:bodyPr/>
          <a:lstStyle/>
          <a:p>
            <a:endParaRPr lang="en-US"/>
          </a:p>
        </p:txBody>
      </p:sp>
      <p:sp>
        <p:nvSpPr>
          <p:cNvPr id="48" name="Oval 47">
            <a:extLst>
              <a:ext uri="{FF2B5EF4-FFF2-40B4-BE49-F238E27FC236}">
                <a16:creationId xmlns:a16="http://schemas.microsoft.com/office/drawing/2014/main" id="{9F2855FC-E287-49EE-A630-E750CC340C3B}"/>
              </a:ext>
            </a:extLst>
          </p:cNvPr>
          <p:cNvSpPr>
            <a:spLocks noGrp="1"/>
          </p:cNvSpPr>
          <p:nvPr/>
        </p:nvSpPr>
        <p:spPr>
          <a:xfrm>
            <a:off x="3819525" y="3857625"/>
            <a:ext cx="66675" cy="66675"/>
          </a:xfrm>
          <a:prstGeom prst="ellipse">
            <a:avLst/>
          </a:prstGeom>
          <a:solidFill>
            <a:srgbClr val="051C2C"/>
          </a:solidFill>
          <a:ln w="0">
            <a:noFill/>
            <a:prstDash val="solid"/>
          </a:ln>
        </p:spPr>
        <p:txBody>
          <a:bodyPr/>
          <a:lstStyle/>
          <a:p>
            <a:endParaRPr lang="en-US"/>
          </a:p>
        </p:txBody>
      </p:sp>
      <p:sp>
        <p:nvSpPr>
          <p:cNvPr id="49" name="Oval 48">
            <a:extLst>
              <a:ext uri="{FF2B5EF4-FFF2-40B4-BE49-F238E27FC236}">
                <a16:creationId xmlns:a16="http://schemas.microsoft.com/office/drawing/2014/main" id="{44067AE9-30D9-49BA-A795-19B4850E0831}"/>
              </a:ext>
            </a:extLst>
          </p:cNvPr>
          <p:cNvSpPr>
            <a:spLocks noGrp="1"/>
          </p:cNvSpPr>
          <p:nvPr/>
        </p:nvSpPr>
        <p:spPr>
          <a:xfrm>
            <a:off x="4038600" y="4695825"/>
            <a:ext cx="66675" cy="66675"/>
          </a:xfrm>
          <a:prstGeom prst="ellipse">
            <a:avLst/>
          </a:prstGeom>
          <a:solidFill>
            <a:srgbClr val="A52F4D"/>
          </a:solidFill>
          <a:ln w="0">
            <a:noFill/>
            <a:prstDash val="solid"/>
          </a:ln>
        </p:spPr>
        <p:txBody>
          <a:bodyPr/>
          <a:lstStyle/>
          <a:p>
            <a:endParaRPr lang="en-US"/>
          </a:p>
        </p:txBody>
      </p:sp>
      <p:sp>
        <p:nvSpPr>
          <p:cNvPr id="50" name="Oval 49">
            <a:extLst>
              <a:ext uri="{FF2B5EF4-FFF2-40B4-BE49-F238E27FC236}">
                <a16:creationId xmlns:a16="http://schemas.microsoft.com/office/drawing/2014/main" id="{1DB9035C-1369-45B5-8F1D-73ED5AFB1DEA}"/>
              </a:ext>
            </a:extLst>
          </p:cNvPr>
          <p:cNvSpPr>
            <a:spLocks noGrp="1"/>
          </p:cNvSpPr>
          <p:nvPr/>
        </p:nvSpPr>
        <p:spPr>
          <a:xfrm>
            <a:off x="4200525" y="4143375"/>
            <a:ext cx="66675" cy="66675"/>
          </a:xfrm>
          <a:prstGeom prst="ellipse">
            <a:avLst/>
          </a:prstGeom>
          <a:solidFill>
            <a:srgbClr val="051C2C"/>
          </a:solidFill>
          <a:ln w="0">
            <a:noFill/>
            <a:prstDash val="solid"/>
          </a:ln>
        </p:spPr>
        <p:txBody>
          <a:bodyPr/>
          <a:lstStyle/>
          <a:p>
            <a:endParaRPr lang="en-US"/>
          </a:p>
        </p:txBody>
      </p:sp>
      <p:sp>
        <p:nvSpPr>
          <p:cNvPr id="51" name="Oval 50">
            <a:extLst>
              <a:ext uri="{FF2B5EF4-FFF2-40B4-BE49-F238E27FC236}">
                <a16:creationId xmlns:a16="http://schemas.microsoft.com/office/drawing/2014/main" id="{B746EDAB-8596-4296-83F8-D70CD3ED2251}"/>
              </a:ext>
            </a:extLst>
          </p:cNvPr>
          <p:cNvSpPr>
            <a:spLocks noGrp="1"/>
          </p:cNvSpPr>
          <p:nvPr/>
        </p:nvSpPr>
        <p:spPr>
          <a:xfrm>
            <a:off x="4381500" y="4438650"/>
            <a:ext cx="66675" cy="66675"/>
          </a:xfrm>
          <a:prstGeom prst="ellipse">
            <a:avLst/>
          </a:prstGeom>
          <a:solidFill>
            <a:srgbClr val="051C2C"/>
          </a:solidFill>
          <a:ln w="0">
            <a:noFill/>
            <a:prstDash val="solid"/>
          </a:ln>
        </p:spPr>
        <p:txBody>
          <a:bodyPr/>
          <a:lstStyle/>
          <a:p>
            <a:endParaRPr lang="en-US"/>
          </a:p>
        </p:txBody>
      </p:sp>
      <p:sp>
        <p:nvSpPr>
          <p:cNvPr id="52" name="Oval 51">
            <a:extLst>
              <a:ext uri="{FF2B5EF4-FFF2-40B4-BE49-F238E27FC236}">
                <a16:creationId xmlns:a16="http://schemas.microsoft.com/office/drawing/2014/main" id="{A7C302B7-FB75-4794-ABCC-C9673F0D7231}"/>
              </a:ext>
            </a:extLst>
          </p:cNvPr>
          <p:cNvSpPr>
            <a:spLocks noGrp="1"/>
          </p:cNvSpPr>
          <p:nvPr/>
        </p:nvSpPr>
        <p:spPr>
          <a:xfrm>
            <a:off x="4552950" y="3933825"/>
            <a:ext cx="66675" cy="66675"/>
          </a:xfrm>
          <a:prstGeom prst="ellipse">
            <a:avLst/>
          </a:prstGeom>
          <a:solidFill>
            <a:srgbClr val="051C2C"/>
          </a:solidFill>
          <a:ln w="0">
            <a:noFill/>
            <a:prstDash val="solid"/>
          </a:ln>
        </p:spPr>
        <p:txBody>
          <a:bodyPr/>
          <a:lstStyle/>
          <a:p>
            <a:endParaRPr lang="en-US"/>
          </a:p>
        </p:txBody>
      </p:sp>
      <p:sp>
        <p:nvSpPr>
          <p:cNvPr id="53" name="Oval 52">
            <a:extLst>
              <a:ext uri="{FF2B5EF4-FFF2-40B4-BE49-F238E27FC236}">
                <a16:creationId xmlns:a16="http://schemas.microsoft.com/office/drawing/2014/main" id="{7E451AC9-5638-40CB-B944-502A46538D16}"/>
              </a:ext>
            </a:extLst>
          </p:cNvPr>
          <p:cNvSpPr>
            <a:spLocks noGrp="1"/>
          </p:cNvSpPr>
          <p:nvPr/>
        </p:nvSpPr>
        <p:spPr>
          <a:xfrm>
            <a:off x="4743450" y="4629150"/>
            <a:ext cx="66675" cy="66675"/>
          </a:xfrm>
          <a:prstGeom prst="ellipse">
            <a:avLst/>
          </a:prstGeom>
          <a:solidFill>
            <a:srgbClr val="051C2C"/>
          </a:solidFill>
          <a:ln w="0">
            <a:noFill/>
            <a:prstDash val="solid"/>
          </a:ln>
        </p:spPr>
        <p:txBody>
          <a:bodyPr/>
          <a:lstStyle/>
          <a:p>
            <a:endParaRPr lang="en-US"/>
          </a:p>
        </p:txBody>
      </p:sp>
      <p:sp>
        <p:nvSpPr>
          <p:cNvPr id="54" name="Oval 53">
            <a:extLst>
              <a:ext uri="{FF2B5EF4-FFF2-40B4-BE49-F238E27FC236}">
                <a16:creationId xmlns:a16="http://schemas.microsoft.com/office/drawing/2014/main" id="{32B5470A-4C71-45C1-84A3-033E15458800}"/>
              </a:ext>
            </a:extLst>
          </p:cNvPr>
          <p:cNvSpPr>
            <a:spLocks noGrp="1"/>
          </p:cNvSpPr>
          <p:nvPr/>
        </p:nvSpPr>
        <p:spPr>
          <a:xfrm>
            <a:off x="4914900" y="4276725"/>
            <a:ext cx="66675" cy="66675"/>
          </a:xfrm>
          <a:prstGeom prst="ellipse">
            <a:avLst/>
          </a:prstGeom>
          <a:solidFill>
            <a:srgbClr val="051C2C"/>
          </a:solidFill>
          <a:ln w="0">
            <a:noFill/>
            <a:prstDash val="solid"/>
          </a:ln>
        </p:spPr>
        <p:txBody>
          <a:bodyPr/>
          <a:lstStyle/>
          <a:p>
            <a:endParaRPr lang="en-US"/>
          </a:p>
        </p:txBody>
      </p:sp>
      <p:sp>
        <p:nvSpPr>
          <p:cNvPr id="55" name="Oval 54">
            <a:extLst>
              <a:ext uri="{FF2B5EF4-FFF2-40B4-BE49-F238E27FC236}">
                <a16:creationId xmlns:a16="http://schemas.microsoft.com/office/drawing/2014/main" id="{6F4F06FA-8A70-4DA6-A8BB-89D85F963C80}"/>
              </a:ext>
            </a:extLst>
          </p:cNvPr>
          <p:cNvSpPr>
            <a:spLocks noGrp="1"/>
          </p:cNvSpPr>
          <p:nvPr/>
        </p:nvSpPr>
        <p:spPr>
          <a:xfrm>
            <a:off x="5105400" y="4048125"/>
            <a:ext cx="66675" cy="66675"/>
          </a:xfrm>
          <a:prstGeom prst="ellipse">
            <a:avLst/>
          </a:prstGeom>
          <a:solidFill>
            <a:srgbClr val="051C2C"/>
          </a:solidFill>
          <a:ln w="0">
            <a:noFill/>
            <a:prstDash val="solid"/>
          </a:ln>
        </p:spPr>
        <p:txBody>
          <a:bodyPr/>
          <a:lstStyle/>
          <a:p>
            <a:endParaRPr lang="en-US"/>
          </a:p>
        </p:txBody>
      </p:sp>
      <p:sp>
        <p:nvSpPr>
          <p:cNvPr id="56" name="Oval 55">
            <a:extLst>
              <a:ext uri="{FF2B5EF4-FFF2-40B4-BE49-F238E27FC236}">
                <a16:creationId xmlns:a16="http://schemas.microsoft.com/office/drawing/2014/main" id="{1FB5AA24-4EE0-47E5-8343-E42341784978}"/>
              </a:ext>
            </a:extLst>
          </p:cNvPr>
          <p:cNvSpPr>
            <a:spLocks noGrp="1"/>
          </p:cNvSpPr>
          <p:nvPr/>
        </p:nvSpPr>
        <p:spPr>
          <a:xfrm>
            <a:off x="5267325" y="4543425"/>
            <a:ext cx="66675" cy="66675"/>
          </a:xfrm>
          <a:prstGeom prst="ellipse">
            <a:avLst/>
          </a:prstGeom>
          <a:solidFill>
            <a:srgbClr val="A52F4D"/>
          </a:solidFill>
          <a:ln w="0">
            <a:noFill/>
            <a:prstDash val="solid"/>
          </a:ln>
        </p:spPr>
        <p:txBody>
          <a:bodyPr/>
          <a:lstStyle/>
          <a:p>
            <a:endParaRPr lang="en-US"/>
          </a:p>
        </p:txBody>
      </p:sp>
      <p:sp>
        <p:nvSpPr>
          <p:cNvPr id="57" name="Oval 56">
            <a:extLst>
              <a:ext uri="{FF2B5EF4-FFF2-40B4-BE49-F238E27FC236}">
                <a16:creationId xmlns:a16="http://schemas.microsoft.com/office/drawing/2014/main" id="{53019BD5-80EE-467F-AB41-D6BCDF875300}"/>
              </a:ext>
            </a:extLst>
          </p:cNvPr>
          <p:cNvSpPr>
            <a:spLocks noGrp="1"/>
          </p:cNvSpPr>
          <p:nvPr/>
        </p:nvSpPr>
        <p:spPr>
          <a:xfrm>
            <a:off x="5429250" y="3800475"/>
            <a:ext cx="66675" cy="66675"/>
          </a:xfrm>
          <a:prstGeom prst="ellipse">
            <a:avLst/>
          </a:prstGeom>
          <a:solidFill>
            <a:srgbClr val="051C2C"/>
          </a:solidFill>
          <a:ln w="0">
            <a:noFill/>
            <a:prstDash val="solid"/>
          </a:ln>
        </p:spPr>
        <p:txBody>
          <a:bodyPr/>
          <a:lstStyle/>
          <a:p>
            <a:endParaRPr lang="en-US"/>
          </a:p>
        </p:txBody>
      </p:sp>
      <p:sp>
        <p:nvSpPr>
          <p:cNvPr id="58" name="Oval 57">
            <a:extLst>
              <a:ext uri="{FF2B5EF4-FFF2-40B4-BE49-F238E27FC236}">
                <a16:creationId xmlns:a16="http://schemas.microsoft.com/office/drawing/2014/main" id="{78EC3B4D-1F9A-48E3-B178-52A29DAD6503}"/>
              </a:ext>
            </a:extLst>
          </p:cNvPr>
          <p:cNvSpPr>
            <a:spLocks noGrp="1"/>
          </p:cNvSpPr>
          <p:nvPr/>
        </p:nvSpPr>
        <p:spPr>
          <a:xfrm>
            <a:off x="5619750" y="4371975"/>
            <a:ext cx="66675" cy="66675"/>
          </a:xfrm>
          <a:prstGeom prst="ellipse">
            <a:avLst/>
          </a:prstGeom>
          <a:solidFill>
            <a:srgbClr val="051C2C"/>
          </a:solidFill>
          <a:ln w="0">
            <a:noFill/>
            <a:prstDash val="solid"/>
          </a:ln>
        </p:spPr>
        <p:txBody>
          <a:bodyPr/>
          <a:lstStyle/>
          <a:p>
            <a:endParaRPr lang="en-US"/>
          </a:p>
        </p:txBody>
      </p:sp>
      <p:sp>
        <p:nvSpPr>
          <p:cNvPr id="59" name="Oval 58">
            <a:extLst>
              <a:ext uri="{FF2B5EF4-FFF2-40B4-BE49-F238E27FC236}">
                <a16:creationId xmlns:a16="http://schemas.microsoft.com/office/drawing/2014/main" id="{0FC68799-66DB-4509-B73C-3D1FB8EE65A3}"/>
              </a:ext>
            </a:extLst>
          </p:cNvPr>
          <p:cNvSpPr>
            <a:spLocks noGrp="1"/>
          </p:cNvSpPr>
          <p:nvPr/>
        </p:nvSpPr>
        <p:spPr>
          <a:xfrm>
            <a:off x="5810250" y="4686300"/>
            <a:ext cx="66675" cy="66675"/>
          </a:xfrm>
          <a:prstGeom prst="ellipse">
            <a:avLst/>
          </a:prstGeom>
          <a:solidFill>
            <a:srgbClr val="051C2C"/>
          </a:solidFill>
          <a:ln w="0">
            <a:noFill/>
            <a:prstDash val="solid"/>
          </a:ln>
        </p:spPr>
        <p:txBody>
          <a:bodyPr/>
          <a:lstStyle/>
          <a:p>
            <a:endParaRPr lang="en-US"/>
          </a:p>
        </p:txBody>
      </p:sp>
      <p:sp>
        <p:nvSpPr>
          <p:cNvPr id="60" name="Oval 59">
            <a:extLst>
              <a:ext uri="{FF2B5EF4-FFF2-40B4-BE49-F238E27FC236}">
                <a16:creationId xmlns:a16="http://schemas.microsoft.com/office/drawing/2014/main" id="{13E587B0-17B3-4A88-8313-67FDE63C6984}"/>
              </a:ext>
            </a:extLst>
          </p:cNvPr>
          <p:cNvSpPr>
            <a:spLocks noGrp="1"/>
          </p:cNvSpPr>
          <p:nvPr/>
        </p:nvSpPr>
        <p:spPr>
          <a:xfrm>
            <a:off x="5991225" y="4105275"/>
            <a:ext cx="66675" cy="66675"/>
          </a:xfrm>
          <a:prstGeom prst="ellipse">
            <a:avLst/>
          </a:prstGeom>
          <a:solidFill>
            <a:srgbClr val="051C2C"/>
          </a:solidFill>
          <a:ln w="0">
            <a:noFill/>
            <a:prstDash val="solid"/>
          </a:ln>
        </p:spPr>
        <p:txBody>
          <a:bodyPr/>
          <a:lstStyle/>
          <a:p>
            <a:endParaRPr lang="en-US"/>
          </a:p>
        </p:txBody>
      </p:sp>
      <p:sp>
        <p:nvSpPr>
          <p:cNvPr id="61" name="Oval 60">
            <a:extLst>
              <a:ext uri="{FF2B5EF4-FFF2-40B4-BE49-F238E27FC236}">
                <a16:creationId xmlns:a16="http://schemas.microsoft.com/office/drawing/2014/main" id="{DBA9CA32-FDEE-46BA-BD8B-0C611680B314}"/>
              </a:ext>
            </a:extLst>
          </p:cNvPr>
          <p:cNvSpPr>
            <a:spLocks noGrp="1"/>
          </p:cNvSpPr>
          <p:nvPr/>
        </p:nvSpPr>
        <p:spPr>
          <a:xfrm>
            <a:off x="6191250" y="4457700"/>
            <a:ext cx="66675" cy="66675"/>
          </a:xfrm>
          <a:prstGeom prst="ellipse">
            <a:avLst/>
          </a:prstGeom>
          <a:solidFill>
            <a:srgbClr val="051C2C"/>
          </a:solidFill>
          <a:ln w="0">
            <a:noFill/>
            <a:prstDash val="solid"/>
          </a:ln>
        </p:spPr>
        <p:txBody>
          <a:bodyPr/>
          <a:lstStyle/>
          <a:p>
            <a:endParaRPr lang="en-US"/>
          </a:p>
        </p:txBody>
      </p:sp>
      <p:sp>
        <p:nvSpPr>
          <p:cNvPr id="62" name="Oval 61">
            <a:extLst>
              <a:ext uri="{FF2B5EF4-FFF2-40B4-BE49-F238E27FC236}">
                <a16:creationId xmlns:a16="http://schemas.microsoft.com/office/drawing/2014/main" id="{409AED94-0C6B-4190-AF1E-25EBE7754C65}"/>
              </a:ext>
            </a:extLst>
          </p:cNvPr>
          <p:cNvSpPr>
            <a:spLocks noGrp="1"/>
          </p:cNvSpPr>
          <p:nvPr/>
        </p:nvSpPr>
        <p:spPr>
          <a:xfrm>
            <a:off x="6419850" y="3971925"/>
            <a:ext cx="66675" cy="66675"/>
          </a:xfrm>
          <a:prstGeom prst="ellipse">
            <a:avLst/>
          </a:prstGeom>
          <a:solidFill>
            <a:srgbClr val="051C2C"/>
          </a:solidFill>
          <a:ln w="0">
            <a:noFill/>
            <a:prstDash val="solid"/>
          </a:ln>
        </p:spPr>
        <p:txBody>
          <a:bodyPr/>
          <a:lstStyle/>
          <a:p>
            <a:endParaRPr lang="en-US"/>
          </a:p>
        </p:txBody>
      </p:sp>
      <p:sp>
        <p:nvSpPr>
          <p:cNvPr id="63" name="Oval 62">
            <a:extLst>
              <a:ext uri="{FF2B5EF4-FFF2-40B4-BE49-F238E27FC236}">
                <a16:creationId xmlns:a16="http://schemas.microsoft.com/office/drawing/2014/main" id="{8637FC61-961F-400D-A19B-AE0C6A56CE06}"/>
              </a:ext>
            </a:extLst>
          </p:cNvPr>
          <p:cNvSpPr>
            <a:spLocks noGrp="1"/>
          </p:cNvSpPr>
          <p:nvPr/>
        </p:nvSpPr>
        <p:spPr>
          <a:xfrm>
            <a:off x="6648450" y="4295775"/>
            <a:ext cx="66675" cy="66675"/>
          </a:xfrm>
          <a:prstGeom prst="ellipse">
            <a:avLst/>
          </a:prstGeom>
          <a:solidFill>
            <a:srgbClr val="A52F4D"/>
          </a:solidFill>
          <a:ln w="0">
            <a:noFill/>
            <a:prstDash val="solid"/>
          </a:ln>
        </p:spPr>
        <p:txBody>
          <a:bodyPr/>
          <a:lstStyle/>
          <a:p>
            <a:endParaRPr lang="en-US"/>
          </a:p>
        </p:txBody>
      </p:sp>
      <p:sp>
        <p:nvSpPr>
          <p:cNvPr id="64" name="Oval 63">
            <a:extLst>
              <a:ext uri="{FF2B5EF4-FFF2-40B4-BE49-F238E27FC236}">
                <a16:creationId xmlns:a16="http://schemas.microsoft.com/office/drawing/2014/main" id="{13214C49-96AA-443B-ADE3-0BBFE85E665C}"/>
              </a:ext>
            </a:extLst>
          </p:cNvPr>
          <p:cNvSpPr>
            <a:spLocks noGrp="1"/>
          </p:cNvSpPr>
          <p:nvPr/>
        </p:nvSpPr>
        <p:spPr>
          <a:xfrm>
            <a:off x="2105025" y="4953000"/>
            <a:ext cx="66675" cy="66675"/>
          </a:xfrm>
          <a:prstGeom prst="ellipse">
            <a:avLst/>
          </a:prstGeom>
          <a:solidFill>
            <a:srgbClr val="051C2C"/>
          </a:solidFill>
          <a:ln w="0">
            <a:noFill/>
            <a:prstDash val="solid"/>
          </a:ln>
        </p:spPr>
        <p:txBody>
          <a:bodyPr/>
          <a:lstStyle/>
          <a:p>
            <a:endParaRPr lang="en-US"/>
          </a:p>
        </p:txBody>
      </p:sp>
      <p:sp>
        <p:nvSpPr>
          <p:cNvPr id="65" name="Oval 64">
            <a:extLst>
              <a:ext uri="{FF2B5EF4-FFF2-40B4-BE49-F238E27FC236}">
                <a16:creationId xmlns:a16="http://schemas.microsoft.com/office/drawing/2014/main" id="{A80CB8B3-FAA1-4FF5-9496-E2ADE08EEE08}"/>
              </a:ext>
            </a:extLst>
          </p:cNvPr>
          <p:cNvSpPr>
            <a:spLocks noGrp="1"/>
          </p:cNvSpPr>
          <p:nvPr/>
        </p:nvSpPr>
        <p:spPr>
          <a:xfrm>
            <a:off x="3048000" y="3619500"/>
            <a:ext cx="66675" cy="66675"/>
          </a:xfrm>
          <a:prstGeom prst="ellipse">
            <a:avLst/>
          </a:prstGeom>
          <a:solidFill>
            <a:srgbClr val="051C2C"/>
          </a:solidFill>
          <a:ln w="0">
            <a:noFill/>
            <a:prstDash val="solid"/>
          </a:ln>
        </p:spPr>
        <p:txBody>
          <a:bodyPr/>
          <a:lstStyle/>
          <a:p>
            <a:endParaRPr lang="en-US"/>
          </a:p>
        </p:txBody>
      </p:sp>
      <p:sp>
        <p:nvSpPr>
          <p:cNvPr id="66" name="Oval 65">
            <a:extLst>
              <a:ext uri="{FF2B5EF4-FFF2-40B4-BE49-F238E27FC236}">
                <a16:creationId xmlns:a16="http://schemas.microsoft.com/office/drawing/2014/main" id="{6389CC0F-9C69-4449-9B87-1F5677DEB827}"/>
              </a:ext>
            </a:extLst>
          </p:cNvPr>
          <p:cNvSpPr>
            <a:spLocks noGrp="1"/>
          </p:cNvSpPr>
          <p:nvPr/>
        </p:nvSpPr>
        <p:spPr>
          <a:xfrm>
            <a:off x="4905375" y="5019675"/>
            <a:ext cx="66675" cy="66675"/>
          </a:xfrm>
          <a:prstGeom prst="ellipse">
            <a:avLst/>
          </a:prstGeom>
          <a:solidFill>
            <a:srgbClr val="051C2C"/>
          </a:solidFill>
          <a:ln w="0">
            <a:noFill/>
            <a:prstDash val="solid"/>
          </a:ln>
        </p:spPr>
        <p:txBody>
          <a:bodyPr/>
          <a:lstStyle/>
          <a:p>
            <a:endParaRPr lang="en-US"/>
          </a:p>
        </p:txBody>
      </p:sp>
      <p:sp>
        <p:nvSpPr>
          <p:cNvPr id="67" name="Oval 66">
            <a:extLst>
              <a:ext uri="{FF2B5EF4-FFF2-40B4-BE49-F238E27FC236}">
                <a16:creationId xmlns:a16="http://schemas.microsoft.com/office/drawing/2014/main" id="{AF6B565D-F090-42F2-B921-F85F48C0B7A7}"/>
              </a:ext>
            </a:extLst>
          </p:cNvPr>
          <p:cNvSpPr>
            <a:spLocks noGrp="1"/>
          </p:cNvSpPr>
          <p:nvPr/>
        </p:nvSpPr>
        <p:spPr>
          <a:xfrm>
            <a:off x="5905500" y="3524250"/>
            <a:ext cx="66675" cy="66675"/>
          </a:xfrm>
          <a:prstGeom prst="ellipse">
            <a:avLst/>
          </a:prstGeom>
          <a:solidFill>
            <a:srgbClr val="051C2C"/>
          </a:solidFill>
          <a:ln w="0">
            <a:noFill/>
            <a:prstDash val="solid"/>
          </a:ln>
        </p:spPr>
        <p:txBody>
          <a:bodyPr/>
          <a:lstStyle/>
          <a:p>
            <a:endParaRPr lang="en-US"/>
          </a:p>
        </p:txBody>
      </p:sp>
      <p:sp>
        <p:nvSpPr>
          <p:cNvPr id="68" name="Oval 67">
            <a:extLst>
              <a:ext uri="{FF2B5EF4-FFF2-40B4-BE49-F238E27FC236}">
                <a16:creationId xmlns:a16="http://schemas.microsoft.com/office/drawing/2014/main" id="{D2933081-D7FE-4639-896E-1017B4F95958}"/>
              </a:ext>
            </a:extLst>
          </p:cNvPr>
          <p:cNvSpPr>
            <a:spLocks noGrp="1"/>
          </p:cNvSpPr>
          <p:nvPr/>
        </p:nvSpPr>
        <p:spPr>
          <a:xfrm>
            <a:off x="1628775" y="3724275"/>
            <a:ext cx="66675" cy="66675"/>
          </a:xfrm>
          <a:prstGeom prst="ellipse">
            <a:avLst/>
          </a:prstGeom>
          <a:solidFill>
            <a:srgbClr val="051C2C"/>
          </a:solidFill>
          <a:ln w="0">
            <a:noFill/>
            <a:prstDash val="solid"/>
          </a:ln>
        </p:spPr>
        <p:txBody>
          <a:bodyPr/>
          <a:lstStyle/>
          <a:p>
            <a:endParaRPr lang="en-US"/>
          </a:p>
        </p:txBody>
      </p:sp>
      <p:sp>
        <p:nvSpPr>
          <p:cNvPr id="69" name="Oval 68">
            <a:extLst>
              <a:ext uri="{FF2B5EF4-FFF2-40B4-BE49-F238E27FC236}">
                <a16:creationId xmlns:a16="http://schemas.microsoft.com/office/drawing/2014/main" id="{B353DF75-B5C3-441B-A019-6469975CAF26}"/>
              </a:ext>
            </a:extLst>
          </p:cNvPr>
          <p:cNvSpPr>
            <a:spLocks noGrp="1"/>
          </p:cNvSpPr>
          <p:nvPr/>
        </p:nvSpPr>
        <p:spPr>
          <a:xfrm>
            <a:off x="6572250" y="4810125"/>
            <a:ext cx="66675" cy="66675"/>
          </a:xfrm>
          <a:prstGeom prst="ellipse">
            <a:avLst/>
          </a:prstGeom>
          <a:solidFill>
            <a:srgbClr val="051C2C"/>
          </a:solidFill>
          <a:ln w="0">
            <a:noFill/>
            <a:prstDash val="solid"/>
          </a:ln>
        </p:spPr>
        <p:txBody>
          <a:bodyPr/>
          <a:lstStyle/>
          <a:p>
            <a:endParaRPr lang="en-US"/>
          </a:p>
        </p:txBody>
      </p:sp>
      <p:sp>
        <p:nvSpPr>
          <p:cNvPr id="70" name="Oval 69">
            <a:extLst>
              <a:ext uri="{FF2B5EF4-FFF2-40B4-BE49-F238E27FC236}">
                <a16:creationId xmlns:a16="http://schemas.microsoft.com/office/drawing/2014/main" id="{A5626ADA-BD14-4D50-8292-1477AB940B17}"/>
              </a:ext>
            </a:extLst>
          </p:cNvPr>
          <p:cNvSpPr>
            <a:spLocks noGrp="1"/>
          </p:cNvSpPr>
          <p:nvPr/>
        </p:nvSpPr>
        <p:spPr>
          <a:xfrm>
            <a:off x="4333875" y="3600450"/>
            <a:ext cx="66675" cy="66675"/>
          </a:xfrm>
          <a:prstGeom prst="ellipse">
            <a:avLst/>
          </a:prstGeom>
          <a:solidFill>
            <a:srgbClr val="A52F4D"/>
          </a:solidFill>
          <a:ln w="0">
            <a:noFill/>
            <a:prstDash val="solid"/>
          </a:ln>
        </p:spPr>
        <p:txBody>
          <a:bodyPr/>
          <a:lstStyle/>
          <a:p>
            <a:endParaRPr lang="en-US"/>
          </a:p>
        </p:txBody>
      </p:sp>
      <p:sp>
        <p:nvSpPr>
          <p:cNvPr id="71" name="Oval 70">
            <a:extLst>
              <a:ext uri="{FF2B5EF4-FFF2-40B4-BE49-F238E27FC236}">
                <a16:creationId xmlns:a16="http://schemas.microsoft.com/office/drawing/2014/main" id="{E98BE527-A278-4D6D-A337-68D16ED8E0F4}"/>
              </a:ext>
            </a:extLst>
          </p:cNvPr>
          <p:cNvSpPr>
            <a:spLocks noGrp="1"/>
          </p:cNvSpPr>
          <p:nvPr/>
        </p:nvSpPr>
        <p:spPr>
          <a:xfrm>
            <a:off x="3571875" y="4991100"/>
            <a:ext cx="66675" cy="66675"/>
          </a:xfrm>
          <a:prstGeom prst="ellipse">
            <a:avLst/>
          </a:prstGeom>
          <a:solidFill>
            <a:srgbClr val="051C2C"/>
          </a:solidFill>
          <a:ln w="0">
            <a:noFill/>
            <a:prstDash val="solid"/>
          </a:ln>
        </p:spPr>
        <p:txBody>
          <a:bodyPr/>
          <a:lstStyle/>
          <a:p>
            <a:endParaRPr lang="en-US"/>
          </a:p>
        </p:txBody>
      </p:sp>
      <p:sp>
        <p:nvSpPr>
          <p:cNvPr id="72" name="Oval 71">
            <a:extLst>
              <a:ext uri="{FF2B5EF4-FFF2-40B4-BE49-F238E27FC236}">
                <a16:creationId xmlns:a16="http://schemas.microsoft.com/office/drawing/2014/main" id="{81BE3594-26C3-49EA-953C-0BA74142458E}"/>
              </a:ext>
            </a:extLst>
          </p:cNvPr>
          <p:cNvSpPr>
            <a:spLocks noGrp="1"/>
          </p:cNvSpPr>
          <p:nvPr/>
        </p:nvSpPr>
        <p:spPr>
          <a:xfrm>
            <a:off x="2619375" y="4857750"/>
            <a:ext cx="66675" cy="66675"/>
          </a:xfrm>
          <a:prstGeom prst="ellipse">
            <a:avLst/>
          </a:prstGeom>
          <a:solidFill>
            <a:srgbClr val="051C2C"/>
          </a:solidFill>
          <a:ln w="0">
            <a:noFill/>
            <a:prstDash val="solid"/>
          </a:ln>
        </p:spPr>
        <p:txBody>
          <a:bodyPr/>
          <a:lstStyle/>
          <a:p>
            <a:endParaRPr lang="en-US"/>
          </a:p>
        </p:txBody>
      </p:sp>
      <p:sp>
        <p:nvSpPr>
          <p:cNvPr id="73" name="Oval 72">
            <a:extLst>
              <a:ext uri="{FF2B5EF4-FFF2-40B4-BE49-F238E27FC236}">
                <a16:creationId xmlns:a16="http://schemas.microsoft.com/office/drawing/2014/main" id="{55D14930-CBBC-4F12-AD73-6B5AF99B8CA9}"/>
              </a:ext>
            </a:extLst>
          </p:cNvPr>
          <p:cNvSpPr>
            <a:spLocks noGrp="1"/>
          </p:cNvSpPr>
          <p:nvPr/>
        </p:nvSpPr>
        <p:spPr>
          <a:xfrm>
            <a:off x="5334000" y="4895850"/>
            <a:ext cx="66675" cy="66675"/>
          </a:xfrm>
          <a:prstGeom prst="ellipse">
            <a:avLst/>
          </a:prstGeom>
          <a:solidFill>
            <a:srgbClr val="051C2C"/>
          </a:solidFill>
          <a:ln w="0">
            <a:noFill/>
            <a:prstDash val="solid"/>
          </a:ln>
        </p:spPr>
        <p:txBody>
          <a:bodyPr/>
          <a:lstStyle/>
          <a:p>
            <a:endParaRPr lang="en-US"/>
          </a:p>
        </p:txBody>
      </p:sp>
      <p:sp>
        <p:nvSpPr>
          <p:cNvPr id="74" name="Oval 73">
            <a:extLst>
              <a:ext uri="{FF2B5EF4-FFF2-40B4-BE49-F238E27FC236}">
                <a16:creationId xmlns:a16="http://schemas.microsoft.com/office/drawing/2014/main" id="{79B68FBF-AD77-4AA8-88C3-6244BFF05C1A}"/>
              </a:ext>
            </a:extLst>
          </p:cNvPr>
          <p:cNvSpPr>
            <a:spLocks noGrp="1"/>
          </p:cNvSpPr>
          <p:nvPr/>
        </p:nvSpPr>
        <p:spPr>
          <a:xfrm>
            <a:off x="3190875" y="3829050"/>
            <a:ext cx="66675" cy="66675"/>
          </a:xfrm>
          <a:prstGeom prst="ellipse">
            <a:avLst/>
          </a:prstGeom>
          <a:solidFill>
            <a:srgbClr val="051C2C"/>
          </a:solidFill>
          <a:ln w="0">
            <a:noFill/>
            <a:prstDash val="solid"/>
          </a:ln>
        </p:spPr>
        <p:txBody>
          <a:bodyPr/>
          <a:lstStyle/>
          <a:p>
            <a:endParaRPr lang="en-US"/>
          </a:p>
        </p:txBody>
      </p:sp>
      <p:sp>
        <p:nvSpPr>
          <p:cNvPr id="75" name="Rectangle 74">
            <a:extLst>
              <a:ext uri="{FF2B5EF4-FFF2-40B4-BE49-F238E27FC236}">
                <a16:creationId xmlns:a16="http://schemas.microsoft.com/office/drawing/2014/main" id="{8A4154DF-23AD-46E2-8995-6FE3D9F57CFD}"/>
              </a:ext>
            </a:extLst>
          </p:cNvPr>
          <p:cNvSpPr>
            <a:spLocks noGrp="1"/>
          </p:cNvSpPr>
          <p:nvPr/>
        </p:nvSpPr>
        <p:spPr>
          <a:xfrm>
            <a:off x="1000125" y="4257675"/>
            <a:ext cx="5953125" cy="28575"/>
          </a:xfrm>
          <a:prstGeom prst="rect">
            <a:avLst/>
          </a:prstGeom>
          <a:solidFill>
            <a:srgbClr val="A52F4D"/>
          </a:solidFill>
          <a:ln w="0">
            <a:noFill/>
            <a:prstDash val="solid"/>
          </a:ln>
        </p:spPr>
        <p:txBody>
          <a:bodyPr/>
          <a:lstStyle/>
          <a:p>
            <a:endParaRPr lang="en-US"/>
          </a:p>
        </p:txBody>
      </p:sp>
      <p:sp>
        <p:nvSpPr>
          <p:cNvPr id="76" name="Rectangle 75">
            <a:extLst>
              <a:ext uri="{FF2B5EF4-FFF2-40B4-BE49-F238E27FC236}">
                <a16:creationId xmlns:a16="http://schemas.microsoft.com/office/drawing/2014/main" id="{EABB59B2-28BC-4FE4-9BE9-3DD9C26F717B}"/>
              </a:ext>
            </a:extLst>
          </p:cNvPr>
          <p:cNvSpPr>
            <a:spLocks noGrp="1"/>
          </p:cNvSpPr>
          <p:nvPr/>
        </p:nvSpPr>
        <p:spPr>
          <a:xfrm>
            <a:off x="2762250" y="5353050"/>
            <a:ext cx="2571750" cy="171450"/>
          </a:xfrm>
          <a:prstGeom prst="rect">
            <a:avLst/>
          </a:prstGeom>
          <a:noFill/>
          <a:ln w="0">
            <a:noFill/>
            <a:prstDash val="solid"/>
          </a:ln>
        </p:spPr>
        <p:txBody>
          <a:bodyPr/>
          <a:lstStyle/>
          <a:p>
            <a:pPr algn="ctr">
              <a:defRPr sz="825" b="0" i="0">
                <a:solidFill>
                  <a:srgbClr val="4F6875"/>
                </a:solidFill>
                <a:latin typeface="Aptos"/>
                <a:ea typeface="Aptos"/>
                <a:cs typeface="Aptos"/>
              </a:defRPr>
            </a:pPr>
            <a:r>
              <a:rPr sz="825" b="0" i="0">
                <a:solidFill>
                  <a:srgbClr val="4F6875"/>
                </a:solidFill>
                <a:latin typeface="Aptos"/>
                <a:ea typeface="Aptos"/>
                <a:cs typeface="Aptos"/>
              </a:rPr>
              <a:t>ΔBrent · täglicher Log-Return</a:t>
            </a:r>
          </a:p>
        </p:txBody>
      </p:sp>
      <p:sp>
        <p:nvSpPr>
          <p:cNvPr id="77" name="Rectangle 76">
            <a:extLst>
              <a:ext uri="{FF2B5EF4-FFF2-40B4-BE49-F238E27FC236}">
                <a16:creationId xmlns:a16="http://schemas.microsoft.com/office/drawing/2014/main" id="{6F76C7A3-C260-4923-9B83-C2FAC1A04003}"/>
              </a:ext>
            </a:extLst>
          </p:cNvPr>
          <p:cNvSpPr>
            <a:spLocks noGrp="1"/>
          </p:cNvSpPr>
          <p:nvPr/>
        </p:nvSpPr>
        <p:spPr>
          <a:xfrm>
            <a:off x="581025" y="4000500"/>
            <a:ext cx="523875" cy="171450"/>
          </a:xfrm>
          <a:prstGeom prst="rect">
            <a:avLst/>
          </a:prstGeom>
          <a:noFill/>
          <a:ln w="0">
            <a:noFill/>
            <a:prstDash val="solid"/>
          </a:ln>
        </p:spPr>
        <p:txBody>
          <a:bodyPr/>
          <a:lstStyle/>
          <a:p>
            <a:pPr algn="ctr">
              <a:defRPr sz="825" b="0" i="0">
                <a:solidFill>
                  <a:srgbClr val="4F6875"/>
                </a:solidFill>
                <a:latin typeface="Aptos"/>
                <a:ea typeface="Aptos"/>
                <a:cs typeface="Aptos"/>
              </a:defRPr>
            </a:pPr>
            <a:r>
              <a:rPr sz="825" b="0" i="0">
                <a:solidFill>
                  <a:srgbClr val="4F6875"/>
                </a:solidFill>
                <a:latin typeface="Aptos"/>
                <a:ea typeface="Aptos"/>
                <a:cs typeface="Aptos"/>
              </a:rPr>
              <a:t>Δr 10Y</a:t>
            </a:r>
          </a:p>
        </p:txBody>
      </p:sp>
      <p:sp>
        <p:nvSpPr>
          <p:cNvPr id="78" name="Rectangle: Rounded Corners 77">
            <a:extLst>
              <a:ext uri="{FF2B5EF4-FFF2-40B4-BE49-F238E27FC236}">
                <a16:creationId xmlns:a16="http://schemas.microsoft.com/office/drawing/2014/main" id="{00A30819-019A-4794-850B-F940470BADF0}"/>
              </a:ext>
            </a:extLst>
          </p:cNvPr>
          <p:cNvSpPr>
            <a:spLocks noGrp="1"/>
          </p:cNvSpPr>
          <p:nvPr/>
        </p:nvSpPr>
        <p:spPr>
          <a:xfrm>
            <a:off x="5019675" y="3009900"/>
            <a:ext cx="1714500" cy="219075"/>
          </a:xfrm>
          <a:prstGeom prst="roundRect">
            <a:avLst>
              <a:gd name="adj" fmla="val 50000"/>
            </a:avLst>
          </a:prstGeom>
          <a:solidFill>
            <a:srgbClr val="F5E5E9"/>
          </a:solidFill>
          <a:ln w="0">
            <a:noFill/>
            <a:prstDash val="solid"/>
          </a:ln>
        </p:spPr>
        <p:txBody>
          <a:bodyPr/>
          <a:lstStyle/>
          <a:p>
            <a:endParaRPr lang="en-US"/>
          </a:p>
        </p:txBody>
      </p:sp>
      <p:sp>
        <p:nvSpPr>
          <p:cNvPr id="79" name="Rectangle 78">
            <a:extLst>
              <a:ext uri="{FF2B5EF4-FFF2-40B4-BE49-F238E27FC236}">
                <a16:creationId xmlns:a16="http://schemas.microsoft.com/office/drawing/2014/main" id="{6323896E-9A61-4CDD-B776-6CDDF7C498A6}"/>
              </a:ext>
            </a:extLst>
          </p:cNvPr>
          <p:cNvSpPr>
            <a:spLocks noGrp="1"/>
          </p:cNvSpPr>
          <p:nvPr/>
        </p:nvSpPr>
        <p:spPr>
          <a:xfrm>
            <a:off x="5057775" y="3048000"/>
            <a:ext cx="1638300" cy="142875"/>
          </a:xfrm>
          <a:prstGeom prst="rect">
            <a:avLst/>
          </a:prstGeom>
          <a:noFill/>
          <a:ln w="0">
            <a:noFill/>
            <a:prstDash val="solid"/>
          </a:ln>
        </p:spPr>
        <p:txBody>
          <a:bodyPr/>
          <a:lstStyle/>
          <a:p>
            <a:pPr algn="ctr">
              <a:defRPr sz="713" b="1" i="0">
                <a:solidFill>
                  <a:srgbClr val="A52F4D"/>
                </a:solidFill>
                <a:latin typeface="Aptos"/>
                <a:ea typeface="Aptos"/>
                <a:cs typeface="Aptos"/>
              </a:defRPr>
            </a:pPr>
            <a:r>
              <a:rPr sz="713" b="1" i="0">
                <a:solidFill>
                  <a:srgbClr val="A52F4D"/>
                </a:solidFill>
                <a:latin typeface="Aptos"/>
                <a:ea typeface="Aptos"/>
                <a:cs typeface="Aptos"/>
              </a:rPr>
              <a:t>nahezu flache OLS-Linie</a:t>
            </a:r>
          </a:p>
        </p:txBody>
      </p:sp>
      <p:sp>
        <p:nvSpPr>
          <p:cNvPr id="80" name="Rectangle: Rounded Corners 79">
            <a:extLst>
              <a:ext uri="{FF2B5EF4-FFF2-40B4-BE49-F238E27FC236}">
                <a16:creationId xmlns:a16="http://schemas.microsoft.com/office/drawing/2014/main" id="{3793A9B0-292C-45A6-95E3-32207C867327}"/>
              </a:ext>
            </a:extLst>
          </p:cNvPr>
          <p:cNvSpPr>
            <a:spLocks noGrp="1"/>
          </p:cNvSpPr>
          <p:nvPr/>
        </p:nvSpPr>
        <p:spPr>
          <a:xfrm>
            <a:off x="7858125" y="2686050"/>
            <a:ext cx="3876675" cy="2952750"/>
          </a:xfrm>
          <a:prstGeom prst="roundRect">
            <a:avLst>
              <a:gd name="adj" fmla="val 3871"/>
            </a:avLst>
          </a:prstGeom>
          <a:solidFill>
            <a:srgbClr val="FFFFFF"/>
          </a:solidFill>
          <a:ln w="9525">
            <a:solidFill>
              <a:srgbClr val="D5E0E5"/>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81" name="Rectangle 80">
            <a:extLst>
              <a:ext uri="{FF2B5EF4-FFF2-40B4-BE49-F238E27FC236}">
                <a16:creationId xmlns:a16="http://schemas.microsoft.com/office/drawing/2014/main" id="{4EAB6DE5-7425-45A7-AEC1-17BA7C2C5762}"/>
              </a:ext>
            </a:extLst>
          </p:cNvPr>
          <p:cNvSpPr>
            <a:spLocks noGrp="1"/>
          </p:cNvSpPr>
          <p:nvPr/>
        </p:nvSpPr>
        <p:spPr>
          <a:xfrm>
            <a:off x="7858125" y="2686050"/>
            <a:ext cx="57150" cy="2952750"/>
          </a:xfrm>
          <a:prstGeom prst="rect">
            <a:avLst/>
          </a:prstGeom>
          <a:solidFill>
            <a:srgbClr val="1B777F"/>
          </a:solidFill>
          <a:ln w="0">
            <a:noFill/>
            <a:prstDash val="solid"/>
          </a:ln>
        </p:spPr>
        <p:txBody>
          <a:bodyPr/>
          <a:lstStyle/>
          <a:p>
            <a:endParaRPr lang="en-US"/>
          </a:p>
        </p:txBody>
      </p:sp>
      <p:sp>
        <p:nvSpPr>
          <p:cNvPr id="82" name="Rectangle: Rounded Corners 81">
            <a:extLst>
              <a:ext uri="{FF2B5EF4-FFF2-40B4-BE49-F238E27FC236}">
                <a16:creationId xmlns:a16="http://schemas.microsoft.com/office/drawing/2014/main" id="{23E2D161-BC37-471B-9BA6-6B85C6F98C1F}"/>
              </a:ext>
            </a:extLst>
          </p:cNvPr>
          <p:cNvSpPr>
            <a:spLocks noGrp="1"/>
          </p:cNvSpPr>
          <p:nvPr/>
        </p:nvSpPr>
        <p:spPr>
          <a:xfrm>
            <a:off x="8010525" y="2809875"/>
            <a:ext cx="552450" cy="219075"/>
          </a:xfrm>
          <a:prstGeom prst="roundRect">
            <a:avLst>
              <a:gd name="adj" fmla="val 50000"/>
            </a:avLst>
          </a:prstGeom>
          <a:solidFill>
            <a:srgbClr val="1B777F"/>
          </a:solidFill>
          <a:ln w="0">
            <a:noFill/>
            <a:prstDash val="solid"/>
          </a:ln>
        </p:spPr>
        <p:txBody>
          <a:bodyPr/>
          <a:lstStyle/>
          <a:p>
            <a:endParaRPr lang="en-US"/>
          </a:p>
        </p:txBody>
      </p:sp>
      <p:sp>
        <p:nvSpPr>
          <p:cNvPr id="83" name="Rectangle 82">
            <a:extLst>
              <a:ext uri="{FF2B5EF4-FFF2-40B4-BE49-F238E27FC236}">
                <a16:creationId xmlns:a16="http://schemas.microsoft.com/office/drawing/2014/main" id="{82951BB1-9C5E-453F-B6FA-B0335A7C5DC3}"/>
              </a:ext>
            </a:extLst>
          </p:cNvPr>
          <p:cNvSpPr>
            <a:spLocks noGrp="1"/>
          </p:cNvSpPr>
          <p:nvPr/>
        </p:nvSpPr>
        <p:spPr>
          <a:xfrm>
            <a:off x="8048625" y="2847975"/>
            <a:ext cx="476250" cy="142875"/>
          </a:xfrm>
          <a:prstGeom prst="rect">
            <a:avLst/>
          </a:prstGeom>
          <a:noFill/>
          <a:ln w="0">
            <a:noFill/>
            <a:prstDash val="solid"/>
          </a:ln>
        </p:spPr>
        <p:txBody>
          <a:bodyPr/>
          <a:lstStyle/>
          <a:p>
            <a:pPr algn="ctr">
              <a:defRPr sz="713" b="1" i="0">
                <a:solidFill>
                  <a:srgbClr val="FFFFFF"/>
                </a:solidFill>
                <a:latin typeface="Aptos"/>
                <a:ea typeface="Aptos"/>
                <a:cs typeface="Aptos"/>
              </a:defRPr>
            </a:pPr>
            <a:r>
              <a:rPr sz="713" b="1" i="0">
                <a:solidFill>
                  <a:srgbClr val="FFFFFF"/>
                </a:solidFill>
                <a:latin typeface="Aptos"/>
                <a:ea typeface="Aptos"/>
                <a:cs typeface="Aptos"/>
              </a:rPr>
              <a:t>FAZIT</a:t>
            </a:r>
          </a:p>
        </p:txBody>
      </p:sp>
      <p:sp>
        <p:nvSpPr>
          <p:cNvPr id="84" name="Rectangle 83">
            <a:extLst>
              <a:ext uri="{FF2B5EF4-FFF2-40B4-BE49-F238E27FC236}">
                <a16:creationId xmlns:a16="http://schemas.microsoft.com/office/drawing/2014/main" id="{D0C54CB0-6F3A-4469-AB53-E0AF64318274}"/>
              </a:ext>
            </a:extLst>
          </p:cNvPr>
          <p:cNvSpPr>
            <a:spLocks noGrp="1"/>
          </p:cNvSpPr>
          <p:nvPr/>
        </p:nvSpPr>
        <p:spPr>
          <a:xfrm>
            <a:off x="8020050" y="3133725"/>
            <a:ext cx="3552825" cy="266700"/>
          </a:xfrm>
          <a:prstGeom prst="rect">
            <a:avLst/>
          </a:prstGeom>
          <a:noFill/>
          <a:ln w="0">
            <a:noFill/>
            <a:prstDash val="solid"/>
          </a:ln>
        </p:spPr>
        <p:txBody>
          <a:bodyPr/>
          <a:lstStyle/>
          <a:p>
            <a:pPr algn="l">
              <a:defRPr sz="1425" b="1" i="0">
                <a:solidFill>
                  <a:srgbClr val="051C2C"/>
                </a:solidFill>
                <a:latin typeface="Aptos Display"/>
                <a:ea typeface="Aptos Display"/>
                <a:cs typeface="Aptos Display"/>
              </a:defRPr>
            </a:pPr>
            <a:r>
              <a:rPr sz="1425" b="1" i="0">
                <a:solidFill>
                  <a:srgbClr val="051C2C"/>
                </a:solidFill>
                <a:latin typeface="Aptos Display"/>
                <a:ea typeface="Aptos Display"/>
                <a:cs typeface="Aptos Display"/>
              </a:rPr>
              <a:t>Empirisches Urteil</a:t>
            </a:r>
          </a:p>
        </p:txBody>
      </p:sp>
      <p:sp>
        <p:nvSpPr>
          <p:cNvPr id="85" name="Rectangle 84">
            <a:extLst>
              <a:ext uri="{FF2B5EF4-FFF2-40B4-BE49-F238E27FC236}">
                <a16:creationId xmlns:a16="http://schemas.microsoft.com/office/drawing/2014/main" id="{55918817-6C7E-46F1-9A96-22E00E1BCFAC}"/>
              </a:ext>
            </a:extLst>
          </p:cNvPr>
          <p:cNvSpPr>
            <a:spLocks noGrp="1"/>
          </p:cNvSpPr>
          <p:nvPr/>
        </p:nvSpPr>
        <p:spPr>
          <a:xfrm>
            <a:off x="8020050" y="3457575"/>
            <a:ext cx="3552825" cy="2095500"/>
          </a:xfrm>
          <a:prstGeom prst="rect">
            <a:avLst/>
          </a:prstGeom>
          <a:noFill/>
          <a:ln w="0">
            <a:noFill/>
            <a:prstDash val="solid"/>
          </a:ln>
        </p:spPr>
        <p:txBody>
          <a:bodyPr/>
          <a:lstStyle/>
          <a:p>
            <a:pPr algn="l">
              <a:defRPr sz="1050" b="0" i="0">
                <a:solidFill>
                  <a:srgbClr val="4F6875"/>
                </a:solidFill>
                <a:latin typeface="Aptos"/>
                <a:ea typeface="Aptos"/>
                <a:cs typeface="Aptos"/>
              </a:defRPr>
            </a:pPr>
            <a:r>
              <a:rPr sz="1050" b="0" i="0">
                <a:solidFill>
                  <a:srgbClr val="4F6875"/>
                </a:solidFill>
                <a:latin typeface="Aptos"/>
                <a:ea typeface="Aptos"/>
                <a:cs typeface="Aptos"/>
              </a:rPr>
              <a:t>Die Korrelation ist statistisch messbar, aber ökonomisch sehr klein.</a:t>
            </a:r>
          </a:p>
          <a:p>
            <a:endParaRPr sz="1050" b="0" i="0">
              <a:solidFill>
                <a:srgbClr val="4F6875"/>
              </a:solidFill>
              <a:latin typeface="Aptos"/>
              <a:ea typeface="Aptos"/>
              <a:cs typeface="Aptos"/>
            </a:endParaRPr>
          </a:p>
          <a:p>
            <a:pPr algn="l">
              <a:defRPr sz="1050" b="0" i="0">
                <a:solidFill>
                  <a:srgbClr val="4F6875"/>
                </a:solidFill>
                <a:latin typeface="Aptos"/>
                <a:ea typeface="Aptos"/>
                <a:cs typeface="Aptos"/>
              </a:defRPr>
            </a:pPr>
            <a:r>
              <a:rPr sz="1050" b="0" i="0">
                <a:solidFill>
                  <a:srgbClr val="4F6875"/>
                </a:solidFill>
                <a:latin typeface="Aptos"/>
                <a:ea typeface="Aptos"/>
                <a:cs typeface="Aptos"/>
              </a:rPr>
              <a:t>R² = 0,0049 bedeutet: 99,51 % der täglichen Zinsvarianz bleiben durch Brent unerklärt.</a:t>
            </a:r>
          </a:p>
          <a:p>
            <a:endParaRPr sz="1050" b="0" i="0">
              <a:solidFill>
                <a:srgbClr val="4F6875"/>
              </a:solidFill>
              <a:latin typeface="Aptos"/>
              <a:ea typeface="Aptos"/>
              <a:cs typeface="Aptos"/>
            </a:endParaRPr>
          </a:p>
          <a:p>
            <a:pPr algn="l">
              <a:defRPr sz="1050" b="0" i="0">
                <a:solidFill>
                  <a:srgbClr val="4F6875"/>
                </a:solidFill>
                <a:latin typeface="Aptos"/>
                <a:ea typeface="Aptos"/>
                <a:cs typeface="Aptos"/>
              </a:defRPr>
            </a:pPr>
            <a:r>
              <a:rPr sz="1050" b="0" i="0">
                <a:solidFill>
                  <a:srgbClr val="4F6875"/>
                </a:solidFill>
                <a:latin typeface="Aptos"/>
                <a:ea typeface="Aptos"/>
                <a:cs typeface="Aptos"/>
              </a:rPr>
              <a:t>Konsequenz</a:t>
            </a:r>
          </a:p>
          <a:p>
            <a:pPr algn="l">
              <a:defRPr sz="1050" b="0" i="0">
                <a:solidFill>
                  <a:srgbClr val="4F6875"/>
                </a:solidFill>
                <a:latin typeface="Aptos"/>
                <a:ea typeface="Aptos"/>
                <a:cs typeface="Aptos"/>
              </a:defRPr>
            </a:pPr>
            <a:r>
              <a:rPr sz="1050" b="0" i="0">
                <a:solidFill>
                  <a:srgbClr val="4F6875"/>
                </a:solidFill>
                <a:latin typeface="Aptos"/>
                <a:ea typeface="Aptos"/>
                <a:cs typeface="Aptos"/>
              </a:rPr>
              <a:t>Eine Aggregation würde Information vernichten und potenziell unterschiedliche sektorale Wirkungen verdecken.</a:t>
            </a:r>
          </a:p>
        </p:txBody>
      </p:sp>
      <p:sp>
        <p:nvSpPr>
          <p:cNvPr id="86" name="Rectangle 85">
            <a:extLst>
              <a:ext uri="{FF2B5EF4-FFF2-40B4-BE49-F238E27FC236}">
                <a16:creationId xmlns:a16="http://schemas.microsoft.com/office/drawing/2014/main" id="{D18ADF7D-09B5-4355-BD06-DCDDE164F711}"/>
              </a:ext>
            </a:extLst>
          </p:cNvPr>
          <p:cNvSpPr>
            <a:spLocks noGrp="1"/>
          </p:cNvSpPr>
          <p:nvPr/>
        </p:nvSpPr>
        <p:spPr>
          <a:xfrm>
            <a:off x="457200" y="6486525"/>
            <a:ext cx="10382250" cy="152400"/>
          </a:xfrm>
          <a:prstGeom prst="rect">
            <a:avLst/>
          </a:prstGeom>
          <a:noFill/>
          <a:ln w="0">
            <a:noFill/>
            <a:prstDash val="solid"/>
          </a:ln>
        </p:spPr>
        <p:txBody>
          <a:bodyPr/>
          <a:lstStyle/>
          <a:p>
            <a:pPr algn="l">
              <a:defRPr sz="653" b="0" i="0">
                <a:solidFill>
                  <a:srgbClr val="71858F"/>
                </a:solidFill>
                <a:latin typeface="Aptos"/>
                <a:ea typeface="Aptos"/>
                <a:cs typeface="Aptos"/>
              </a:defRPr>
            </a:pPr>
            <a:r>
              <a:rPr sz="653" b="0" i="0">
                <a:solidFill>
                  <a:srgbClr val="71858F"/>
                </a:solidFill>
                <a:latin typeface="Aptos"/>
                <a:ea typeface="Aptos"/>
                <a:cs typeface="Aptos"/>
              </a:rPr>
              <a:t>Daten: ICE Brent + Deutsche Bundesbank Svensson · 22.04.2021–22.04.2026 · lokaler Modell-Cache</a:t>
            </a:r>
          </a:p>
        </p:txBody>
      </p:sp>
      <p:sp>
        <p:nvSpPr>
          <p:cNvPr id="5" name="CodexSlideNumber">
            <a:extLst>
              <a:ext uri="{FF2B5EF4-FFF2-40B4-BE49-F238E27FC236}">
                <a16:creationId xmlns:a16="http://schemas.microsoft.com/office/drawing/2014/main" id="{B7313E02-43F2-B64D-1038-81EB633F9E7F}"/>
              </a:ext>
            </a:extLst>
          </p:cNvPr>
          <p:cNvSpPr txBox="1"/>
          <p:nvPr/>
        </p:nvSpPr>
        <p:spPr>
          <a:xfrm>
            <a:off x="11226800" y="6553200"/>
            <a:ext cx="736600" cy="123111"/>
          </a:xfrm>
          <a:prstGeom prst="rect">
            <a:avLst/>
          </a:prstGeom>
          <a:noFill/>
        </p:spPr>
        <p:txBody>
          <a:bodyPr vert="horz" lIns="0" tIns="0" rIns="0" bIns="0" rtlCol="0">
            <a:spAutoFit/>
          </a:bodyPr>
          <a:lstStyle/>
          <a:p>
            <a:pPr algn="r"/>
            <a:r>
              <a:rPr lang="en-US" sz="800">
                <a:solidFill>
                  <a:srgbClr val="525252"/>
                </a:solidFill>
                <a:latin typeface="Arial" panose="020B0604020202020204" pitchFamily="34" charset="0"/>
              </a:rPr>
              <a:t>12 / 64</a:t>
            </a:r>
          </a:p>
        </p:txBody>
      </p:sp>
    </p:spTree>
    <p:extLst>
      <p:ext uri="{BB962C8B-B14F-4D97-AF65-F5344CB8AC3E}">
        <p14:creationId xmlns:p14="http://schemas.microsoft.com/office/powerpoint/2010/main" val="17560871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FF1F98A-7776-4529-B3EE-1CEDFD6BD7B5}"/>
              </a:ext>
            </a:extLst>
          </p:cNvPr>
          <p:cNvSpPr>
            <a:spLocks noGrp="1"/>
          </p:cNvSpPr>
          <p:nvPr/>
        </p:nvSpPr>
        <p:spPr>
          <a:xfrm>
            <a:off x="457200" y="228600"/>
            <a:ext cx="4572000" cy="171450"/>
          </a:xfrm>
          <a:prstGeom prst="rect">
            <a:avLst/>
          </a:prstGeom>
          <a:noFill/>
          <a:ln w="0">
            <a:noFill/>
            <a:prstDash val="solid"/>
          </a:ln>
        </p:spPr>
        <p:txBody>
          <a:bodyPr/>
          <a:lstStyle/>
          <a:p>
            <a:pPr algn="l">
              <a:defRPr sz="863" b="1" i="0">
                <a:solidFill>
                  <a:srgbClr val="A52F4D"/>
                </a:solidFill>
                <a:latin typeface="Aptos"/>
                <a:ea typeface="Aptos"/>
                <a:cs typeface="Aptos"/>
              </a:defRPr>
            </a:pPr>
            <a:r>
              <a:rPr lang="de-DE" sz="863" b="1" i="0" dirty="0">
                <a:solidFill>
                  <a:schemeClr val="tx2"/>
                </a:solidFill>
                <a:latin typeface="Aptos"/>
                <a:ea typeface="Aptos"/>
                <a:cs typeface="Aptos"/>
              </a:rPr>
              <a:t>STABILITÄT DER FAKTORBEZIEHUNG</a:t>
            </a:r>
          </a:p>
        </p:txBody>
      </p:sp>
      <p:sp>
        <p:nvSpPr>
          <p:cNvPr id="3" name="Rectangle 2">
            <a:extLst>
              <a:ext uri="{FF2B5EF4-FFF2-40B4-BE49-F238E27FC236}">
                <a16:creationId xmlns:a16="http://schemas.microsoft.com/office/drawing/2014/main" id="{A3178C91-7DF4-4891-A10F-FA5394006866}"/>
              </a:ext>
            </a:extLst>
          </p:cNvPr>
          <p:cNvSpPr>
            <a:spLocks noGrp="1"/>
          </p:cNvSpPr>
          <p:nvPr/>
        </p:nvSpPr>
        <p:spPr>
          <a:xfrm>
            <a:off x="457200" y="457200"/>
            <a:ext cx="11191875" cy="409575"/>
          </a:xfrm>
          <a:prstGeom prst="rect">
            <a:avLst/>
          </a:prstGeom>
          <a:noFill/>
          <a:ln w="0">
            <a:noFill/>
            <a:prstDash val="solid"/>
          </a:ln>
        </p:spPr>
        <p:txBody>
          <a:bodyPr/>
          <a:lstStyle/>
          <a:p>
            <a:pPr algn="l">
              <a:defRPr sz="2475" b="1" i="0">
                <a:solidFill>
                  <a:srgbClr val="051C2C"/>
                </a:solidFill>
                <a:latin typeface="Aptos Display"/>
                <a:ea typeface="Aptos Display"/>
                <a:cs typeface="Aptos Display"/>
              </a:defRPr>
            </a:pPr>
            <a:r>
              <a:rPr sz="2475" b="1" i="0" dirty="0">
                <a:solidFill>
                  <a:srgbClr val="051C2C"/>
                </a:solidFill>
                <a:latin typeface="Aptos Display"/>
                <a:ea typeface="Aptos Display"/>
                <a:cs typeface="Aptos Display"/>
              </a:rPr>
              <a:t>Die </a:t>
            </a:r>
            <a:r>
              <a:rPr lang="en-GB" sz="2475" b="1" i="0" err="1">
                <a:solidFill>
                  <a:srgbClr val="051C2C"/>
                </a:solidFill>
                <a:latin typeface="Aptos Display"/>
                <a:ea typeface="Aptos Display"/>
                <a:cs typeface="Aptos Display"/>
              </a:rPr>
              <a:t>Faktorbeziehung</a:t>
            </a:r>
            <a:r>
              <a:rPr sz="2475" b="1" i="0" dirty="0">
                <a:solidFill>
                  <a:srgbClr val="051C2C"/>
                </a:solidFill>
                <a:latin typeface="Aptos Display"/>
                <a:ea typeface="Aptos Display"/>
                <a:cs typeface="Aptos Display"/>
              </a:rPr>
              <a:t> </a:t>
            </a:r>
            <a:r>
              <a:rPr lang="en-GB" sz="2475" b="1" i="0" err="1">
                <a:solidFill>
                  <a:srgbClr val="051C2C"/>
                </a:solidFill>
                <a:latin typeface="Aptos Display"/>
                <a:ea typeface="Aptos Display"/>
                <a:cs typeface="Aptos Display"/>
              </a:rPr>
              <a:t>schwankt</a:t>
            </a:r>
            <a:r>
              <a:rPr sz="2475" b="1" i="0" dirty="0">
                <a:solidFill>
                  <a:srgbClr val="051C2C"/>
                </a:solidFill>
                <a:latin typeface="Aptos Display"/>
                <a:ea typeface="Aptos Display"/>
                <a:cs typeface="Aptos Display"/>
              </a:rPr>
              <a:t> – </a:t>
            </a:r>
            <a:r>
              <a:rPr lang="en-GB" sz="2475" b="1" i="0" err="1">
                <a:solidFill>
                  <a:srgbClr val="051C2C"/>
                </a:solidFill>
                <a:latin typeface="Aptos Display"/>
                <a:ea typeface="Aptos Display"/>
                <a:cs typeface="Aptos Display"/>
              </a:rPr>
              <a:t>strukturell</a:t>
            </a:r>
            <a:r>
              <a:rPr sz="2475" b="1" i="0" dirty="0">
                <a:solidFill>
                  <a:srgbClr val="051C2C"/>
                </a:solidFill>
                <a:latin typeface="Aptos Display"/>
                <a:ea typeface="Aptos Display"/>
                <a:cs typeface="Aptos Display"/>
              </a:rPr>
              <a:t> </a:t>
            </a:r>
            <a:r>
              <a:rPr lang="en-GB" sz="2475" b="1" i="0" err="1">
                <a:solidFill>
                  <a:srgbClr val="051C2C"/>
                </a:solidFill>
                <a:latin typeface="Aptos Display"/>
                <a:ea typeface="Aptos Display"/>
                <a:cs typeface="Aptos Display"/>
              </a:rPr>
              <a:t>bleibt</a:t>
            </a:r>
            <a:r>
              <a:rPr sz="2475" b="1" i="0" dirty="0">
                <a:solidFill>
                  <a:srgbClr val="051C2C"/>
                </a:solidFill>
                <a:latin typeface="Aptos Display"/>
                <a:ea typeface="Aptos Display"/>
                <a:cs typeface="Aptos Display"/>
              </a:rPr>
              <a:t> die </a:t>
            </a:r>
            <a:r>
              <a:rPr lang="en-GB" sz="2475" b="1" i="0" err="1">
                <a:solidFill>
                  <a:srgbClr val="051C2C"/>
                </a:solidFill>
                <a:latin typeface="Aptos Display"/>
                <a:ea typeface="Aptos Display"/>
                <a:cs typeface="Aptos Display"/>
              </a:rPr>
              <a:t>Korrelation</a:t>
            </a:r>
            <a:r>
              <a:rPr sz="2475" b="1" i="0" dirty="0">
                <a:solidFill>
                  <a:srgbClr val="051C2C"/>
                </a:solidFill>
                <a:latin typeface="Aptos Display"/>
                <a:ea typeface="Aptos Display"/>
                <a:cs typeface="Aptos Display"/>
              </a:rPr>
              <a:t> </a:t>
            </a:r>
            <a:r>
              <a:rPr lang="en-GB" sz="2475" b="1" i="0" err="1">
                <a:solidFill>
                  <a:srgbClr val="051C2C"/>
                </a:solidFill>
                <a:latin typeface="Aptos Display"/>
                <a:ea typeface="Aptos Display"/>
                <a:cs typeface="Aptos Display"/>
              </a:rPr>
              <a:t>niedrig</a:t>
            </a:r>
            <a:endParaRPr sz="2475" b="1" i="0" dirty="0">
              <a:solidFill>
                <a:srgbClr val="051C2C"/>
              </a:solidFill>
              <a:latin typeface="Aptos Display"/>
              <a:ea typeface="Aptos Display"/>
              <a:cs typeface="Aptos Display"/>
            </a:endParaRPr>
          </a:p>
        </p:txBody>
      </p:sp>
      <p:sp>
        <p:nvSpPr>
          <p:cNvPr id="4" name="Rectangle 3">
            <a:extLst>
              <a:ext uri="{FF2B5EF4-FFF2-40B4-BE49-F238E27FC236}">
                <a16:creationId xmlns:a16="http://schemas.microsoft.com/office/drawing/2014/main" id="{2A1D8DEB-9067-4B66-AC0C-F4E66B77FB09}"/>
              </a:ext>
            </a:extLst>
          </p:cNvPr>
          <p:cNvSpPr>
            <a:spLocks noGrp="1"/>
          </p:cNvSpPr>
          <p:nvPr/>
        </p:nvSpPr>
        <p:spPr>
          <a:xfrm>
            <a:off x="457200" y="914400"/>
            <a:ext cx="11096625" cy="228600"/>
          </a:xfrm>
          <a:prstGeom prst="rect">
            <a:avLst/>
          </a:prstGeom>
          <a:noFill/>
          <a:ln w="0">
            <a:noFill/>
            <a:prstDash val="solid"/>
          </a:ln>
        </p:spPr>
        <p:txBody>
          <a:bodyPr/>
          <a:lstStyle/>
          <a:p>
            <a:pPr algn="l">
              <a:defRPr sz="1125" b="0" i="0">
                <a:solidFill>
                  <a:srgbClr val="4F6875"/>
                </a:solidFill>
                <a:latin typeface="Aptos"/>
                <a:ea typeface="Aptos"/>
                <a:cs typeface="Aptos"/>
              </a:defRPr>
            </a:pPr>
            <a:r>
              <a:rPr sz="1125" b="0" i="0">
                <a:solidFill>
                  <a:srgbClr val="4F6875"/>
                </a:solidFill>
                <a:latin typeface="Aptos"/>
                <a:ea typeface="Aptos"/>
                <a:cs typeface="Aptos"/>
              </a:rPr>
              <a:t>Ein explizites Zwei-Faktor-Modell kann temporäre Gleichläufe abbilden, ohne eine dauerhafte Abhängigkeit zu unterstellen.</a:t>
            </a:r>
          </a:p>
        </p:txBody>
      </p:sp>
      <p:sp>
        <p:nvSpPr>
          <p:cNvPr id="6" name="Rectangle: Rounded Corners 5">
            <a:extLst>
              <a:ext uri="{FF2B5EF4-FFF2-40B4-BE49-F238E27FC236}">
                <a16:creationId xmlns:a16="http://schemas.microsoft.com/office/drawing/2014/main" id="{4CADAB29-6236-4A4E-8C04-4CD0683A8808}"/>
              </a:ext>
            </a:extLst>
          </p:cNvPr>
          <p:cNvSpPr>
            <a:spLocks noGrp="1"/>
          </p:cNvSpPr>
          <p:nvPr/>
        </p:nvSpPr>
        <p:spPr>
          <a:xfrm>
            <a:off x="457200" y="1438275"/>
            <a:ext cx="7286625" cy="4210050"/>
          </a:xfrm>
          <a:prstGeom prst="roundRect">
            <a:avLst>
              <a:gd name="adj" fmla="val 2715"/>
            </a:avLst>
          </a:prstGeom>
          <a:solidFill>
            <a:srgbClr val="FFFFFF"/>
          </a:solidFill>
          <a:ln w="9525">
            <a:solidFill>
              <a:srgbClr val="D5E0E5"/>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7" name="Rectangle 6">
            <a:extLst>
              <a:ext uri="{FF2B5EF4-FFF2-40B4-BE49-F238E27FC236}">
                <a16:creationId xmlns:a16="http://schemas.microsoft.com/office/drawing/2014/main" id="{D079A964-847B-4328-93D1-F62510521911}"/>
              </a:ext>
            </a:extLst>
          </p:cNvPr>
          <p:cNvSpPr>
            <a:spLocks noGrp="1"/>
          </p:cNvSpPr>
          <p:nvPr/>
        </p:nvSpPr>
        <p:spPr>
          <a:xfrm>
            <a:off x="657225" y="1628775"/>
            <a:ext cx="3714750" cy="171450"/>
          </a:xfrm>
          <a:prstGeom prst="rect">
            <a:avLst/>
          </a:prstGeom>
          <a:noFill/>
          <a:ln w="0">
            <a:noFill/>
            <a:prstDash val="solid"/>
          </a:ln>
        </p:spPr>
        <p:txBody>
          <a:bodyPr/>
          <a:lstStyle/>
          <a:p>
            <a:pPr algn="l">
              <a:defRPr sz="788" b="1" i="0">
                <a:solidFill>
                  <a:srgbClr val="A52F4D"/>
                </a:solidFill>
                <a:latin typeface="Aptos"/>
                <a:ea typeface="Aptos"/>
                <a:cs typeface="Aptos"/>
              </a:defRPr>
            </a:pPr>
            <a:r>
              <a:rPr sz="788" b="1" i="0">
                <a:solidFill>
                  <a:srgbClr val="A52F4D"/>
                </a:solidFill>
                <a:latin typeface="Aptos"/>
                <a:ea typeface="Aptos"/>
                <a:cs typeface="Aptos"/>
              </a:rPr>
              <a:t>PEARSON-KORRELATION PRO KALENDERJAHR</a:t>
            </a:r>
          </a:p>
        </p:txBody>
      </p:sp>
      <p:sp>
        <p:nvSpPr>
          <p:cNvPr id="8" name="Rectangle 7">
            <a:extLst>
              <a:ext uri="{FF2B5EF4-FFF2-40B4-BE49-F238E27FC236}">
                <a16:creationId xmlns:a16="http://schemas.microsoft.com/office/drawing/2014/main" id="{5CC3EA51-ED8E-4519-B360-BFD05F41189B}"/>
              </a:ext>
            </a:extLst>
          </p:cNvPr>
          <p:cNvSpPr>
            <a:spLocks noGrp="1"/>
          </p:cNvSpPr>
          <p:nvPr/>
        </p:nvSpPr>
        <p:spPr>
          <a:xfrm>
            <a:off x="1047750" y="4438650"/>
            <a:ext cx="6096000" cy="9525"/>
          </a:xfrm>
          <a:prstGeom prst="rect">
            <a:avLst/>
          </a:prstGeom>
          <a:solidFill>
            <a:srgbClr val="AFC0C7"/>
          </a:solidFill>
          <a:ln w="0">
            <a:noFill/>
            <a:prstDash val="solid"/>
          </a:ln>
        </p:spPr>
        <p:txBody>
          <a:bodyPr/>
          <a:lstStyle/>
          <a:p>
            <a:endParaRPr lang="en-US"/>
          </a:p>
        </p:txBody>
      </p:sp>
      <p:sp>
        <p:nvSpPr>
          <p:cNvPr id="9" name="Rectangle 8">
            <a:extLst>
              <a:ext uri="{FF2B5EF4-FFF2-40B4-BE49-F238E27FC236}">
                <a16:creationId xmlns:a16="http://schemas.microsoft.com/office/drawing/2014/main" id="{05A36026-F5F7-4CB1-B142-E71E38280050}"/>
              </a:ext>
            </a:extLst>
          </p:cNvPr>
          <p:cNvSpPr>
            <a:spLocks noGrp="1"/>
          </p:cNvSpPr>
          <p:nvPr/>
        </p:nvSpPr>
        <p:spPr>
          <a:xfrm>
            <a:off x="1238250" y="3528536"/>
            <a:ext cx="514350" cy="910114"/>
          </a:xfrm>
          <a:prstGeom prst="rect">
            <a:avLst/>
          </a:prstGeom>
          <a:solidFill>
            <a:srgbClr val="0B5D7A"/>
          </a:solidFill>
          <a:ln w="0">
            <a:noFill/>
            <a:prstDash val="solid"/>
          </a:ln>
        </p:spPr>
        <p:txBody>
          <a:bodyPr/>
          <a:lstStyle/>
          <a:p>
            <a:endParaRPr lang="en-US"/>
          </a:p>
        </p:txBody>
      </p:sp>
      <p:sp>
        <p:nvSpPr>
          <p:cNvPr id="10" name="Rectangle 9">
            <a:extLst>
              <a:ext uri="{FF2B5EF4-FFF2-40B4-BE49-F238E27FC236}">
                <a16:creationId xmlns:a16="http://schemas.microsoft.com/office/drawing/2014/main" id="{AE0B5457-C260-48EA-8FE9-834F48B0A316}"/>
              </a:ext>
            </a:extLst>
          </p:cNvPr>
          <p:cNvSpPr>
            <a:spLocks noGrp="1"/>
          </p:cNvSpPr>
          <p:nvPr/>
        </p:nvSpPr>
        <p:spPr>
          <a:xfrm>
            <a:off x="1152525" y="3299936"/>
            <a:ext cx="685800" cy="171450"/>
          </a:xfrm>
          <a:prstGeom prst="rect">
            <a:avLst/>
          </a:prstGeom>
          <a:noFill/>
          <a:ln w="0">
            <a:noFill/>
            <a:prstDash val="solid"/>
          </a:ln>
        </p:spPr>
        <p:txBody>
          <a:bodyPr/>
          <a:lstStyle/>
          <a:p>
            <a:pPr algn="ctr">
              <a:defRPr sz="825" b="1" i="0">
                <a:solidFill>
                  <a:srgbClr val="0B5D7A"/>
                </a:solidFill>
                <a:latin typeface="Aptos"/>
                <a:ea typeface="Aptos"/>
                <a:cs typeface="Aptos"/>
              </a:defRPr>
            </a:pPr>
            <a:r>
              <a:rPr sz="825" b="1" i="0">
                <a:solidFill>
                  <a:srgbClr val="0B5D7A"/>
                </a:solidFill>
                <a:latin typeface="Aptos"/>
                <a:ea typeface="Aptos"/>
                <a:cs typeface="Aptos"/>
              </a:rPr>
              <a:t>+0,182</a:t>
            </a:r>
          </a:p>
        </p:txBody>
      </p:sp>
      <p:sp>
        <p:nvSpPr>
          <p:cNvPr id="11" name="Rectangle 10">
            <a:extLst>
              <a:ext uri="{FF2B5EF4-FFF2-40B4-BE49-F238E27FC236}">
                <a16:creationId xmlns:a16="http://schemas.microsoft.com/office/drawing/2014/main" id="{DBF4D0E8-E923-4CB6-B38F-C8983557159F}"/>
              </a:ext>
            </a:extLst>
          </p:cNvPr>
          <p:cNvSpPr>
            <a:spLocks noGrp="1"/>
          </p:cNvSpPr>
          <p:nvPr/>
        </p:nvSpPr>
        <p:spPr>
          <a:xfrm>
            <a:off x="1200150" y="5162550"/>
            <a:ext cx="590550" cy="171450"/>
          </a:xfrm>
          <a:prstGeom prst="rect">
            <a:avLst/>
          </a:prstGeom>
          <a:noFill/>
          <a:ln w="0">
            <a:noFill/>
            <a:prstDash val="solid"/>
          </a:ln>
        </p:spPr>
        <p:txBody>
          <a:bodyPr/>
          <a:lstStyle/>
          <a:p>
            <a:pPr algn="ctr">
              <a:defRPr sz="863" b="1" i="0">
                <a:solidFill>
                  <a:srgbClr val="051C2C"/>
                </a:solidFill>
                <a:latin typeface="Aptos"/>
                <a:ea typeface="Aptos"/>
                <a:cs typeface="Aptos"/>
              </a:defRPr>
            </a:pPr>
            <a:r>
              <a:rPr sz="863" b="1" i="0">
                <a:solidFill>
                  <a:srgbClr val="051C2C"/>
                </a:solidFill>
                <a:latin typeface="Aptos"/>
                <a:ea typeface="Aptos"/>
                <a:cs typeface="Aptos"/>
              </a:rPr>
              <a:t>2021</a:t>
            </a:r>
          </a:p>
        </p:txBody>
      </p:sp>
      <p:sp>
        <p:nvSpPr>
          <p:cNvPr id="12" name="Rectangle 11">
            <a:extLst>
              <a:ext uri="{FF2B5EF4-FFF2-40B4-BE49-F238E27FC236}">
                <a16:creationId xmlns:a16="http://schemas.microsoft.com/office/drawing/2014/main" id="{72122C14-9F4A-4556-807B-8D9F2A5EB611}"/>
              </a:ext>
            </a:extLst>
          </p:cNvPr>
          <p:cNvSpPr>
            <a:spLocks noGrp="1"/>
          </p:cNvSpPr>
          <p:nvPr/>
        </p:nvSpPr>
        <p:spPr>
          <a:xfrm>
            <a:off x="2190750" y="4438650"/>
            <a:ext cx="514350" cy="305038"/>
          </a:xfrm>
          <a:prstGeom prst="rect">
            <a:avLst/>
          </a:prstGeom>
          <a:solidFill>
            <a:srgbClr val="A52F4D"/>
          </a:solidFill>
          <a:ln w="0">
            <a:noFill/>
            <a:prstDash val="solid"/>
          </a:ln>
        </p:spPr>
        <p:txBody>
          <a:bodyPr/>
          <a:lstStyle/>
          <a:p>
            <a:endParaRPr lang="en-US"/>
          </a:p>
        </p:txBody>
      </p:sp>
      <p:sp>
        <p:nvSpPr>
          <p:cNvPr id="13" name="Rectangle 12">
            <a:extLst>
              <a:ext uri="{FF2B5EF4-FFF2-40B4-BE49-F238E27FC236}">
                <a16:creationId xmlns:a16="http://schemas.microsoft.com/office/drawing/2014/main" id="{98891A6E-1E0F-4019-B3F8-8832998112EA}"/>
              </a:ext>
            </a:extLst>
          </p:cNvPr>
          <p:cNvSpPr>
            <a:spLocks noGrp="1"/>
          </p:cNvSpPr>
          <p:nvPr/>
        </p:nvSpPr>
        <p:spPr>
          <a:xfrm>
            <a:off x="2105025" y="4800838"/>
            <a:ext cx="685800" cy="171450"/>
          </a:xfrm>
          <a:prstGeom prst="rect">
            <a:avLst/>
          </a:prstGeom>
          <a:noFill/>
          <a:ln w="0">
            <a:noFill/>
            <a:prstDash val="solid"/>
          </a:ln>
        </p:spPr>
        <p:txBody>
          <a:bodyPr/>
          <a:lstStyle/>
          <a:p>
            <a:pPr algn="ctr">
              <a:defRPr sz="825" b="1" i="0">
                <a:solidFill>
                  <a:srgbClr val="A52F4D"/>
                </a:solidFill>
                <a:latin typeface="Aptos"/>
                <a:ea typeface="Aptos"/>
                <a:cs typeface="Aptos"/>
              </a:defRPr>
            </a:pPr>
            <a:r>
              <a:rPr sz="825" b="1" i="0">
                <a:solidFill>
                  <a:srgbClr val="A52F4D"/>
                </a:solidFill>
                <a:latin typeface="Aptos"/>
                <a:ea typeface="Aptos"/>
                <a:cs typeface="Aptos"/>
              </a:rPr>
              <a:t>-0,061</a:t>
            </a:r>
          </a:p>
        </p:txBody>
      </p:sp>
      <p:sp>
        <p:nvSpPr>
          <p:cNvPr id="14" name="Rectangle 13">
            <a:extLst>
              <a:ext uri="{FF2B5EF4-FFF2-40B4-BE49-F238E27FC236}">
                <a16:creationId xmlns:a16="http://schemas.microsoft.com/office/drawing/2014/main" id="{8BF104B9-8670-4265-A664-235B04998116}"/>
              </a:ext>
            </a:extLst>
          </p:cNvPr>
          <p:cNvSpPr>
            <a:spLocks noGrp="1"/>
          </p:cNvSpPr>
          <p:nvPr/>
        </p:nvSpPr>
        <p:spPr>
          <a:xfrm>
            <a:off x="2152650" y="5162550"/>
            <a:ext cx="590550" cy="171450"/>
          </a:xfrm>
          <a:prstGeom prst="rect">
            <a:avLst/>
          </a:prstGeom>
          <a:noFill/>
          <a:ln w="0">
            <a:noFill/>
            <a:prstDash val="solid"/>
          </a:ln>
        </p:spPr>
        <p:txBody>
          <a:bodyPr/>
          <a:lstStyle/>
          <a:p>
            <a:pPr algn="ctr">
              <a:defRPr sz="863" b="1" i="0">
                <a:solidFill>
                  <a:srgbClr val="051C2C"/>
                </a:solidFill>
                <a:latin typeface="Aptos"/>
                <a:ea typeface="Aptos"/>
                <a:cs typeface="Aptos"/>
              </a:defRPr>
            </a:pPr>
            <a:r>
              <a:rPr sz="863" b="1" i="0">
                <a:solidFill>
                  <a:srgbClr val="051C2C"/>
                </a:solidFill>
                <a:latin typeface="Aptos"/>
                <a:ea typeface="Aptos"/>
                <a:cs typeface="Aptos"/>
              </a:rPr>
              <a:t>2022</a:t>
            </a:r>
          </a:p>
        </p:txBody>
      </p:sp>
      <p:sp>
        <p:nvSpPr>
          <p:cNvPr id="15" name="Rectangle 14">
            <a:extLst>
              <a:ext uri="{FF2B5EF4-FFF2-40B4-BE49-F238E27FC236}">
                <a16:creationId xmlns:a16="http://schemas.microsoft.com/office/drawing/2014/main" id="{7B36CEBE-87AD-481A-A7CC-87BF1F98BB7F}"/>
              </a:ext>
            </a:extLst>
          </p:cNvPr>
          <p:cNvSpPr>
            <a:spLocks noGrp="1"/>
          </p:cNvSpPr>
          <p:nvPr/>
        </p:nvSpPr>
        <p:spPr>
          <a:xfrm>
            <a:off x="3143250" y="3943588"/>
            <a:ext cx="514350" cy="495062"/>
          </a:xfrm>
          <a:prstGeom prst="rect">
            <a:avLst/>
          </a:prstGeom>
          <a:solidFill>
            <a:srgbClr val="0B5D7A"/>
          </a:solidFill>
          <a:ln w="0">
            <a:noFill/>
            <a:prstDash val="solid"/>
          </a:ln>
        </p:spPr>
        <p:txBody>
          <a:bodyPr/>
          <a:lstStyle/>
          <a:p>
            <a:endParaRPr lang="en-US"/>
          </a:p>
        </p:txBody>
      </p:sp>
      <p:sp>
        <p:nvSpPr>
          <p:cNvPr id="16" name="Rectangle 15">
            <a:extLst>
              <a:ext uri="{FF2B5EF4-FFF2-40B4-BE49-F238E27FC236}">
                <a16:creationId xmlns:a16="http://schemas.microsoft.com/office/drawing/2014/main" id="{7502D2AF-7A37-4245-A678-69A3D93BFA09}"/>
              </a:ext>
            </a:extLst>
          </p:cNvPr>
          <p:cNvSpPr>
            <a:spLocks noGrp="1"/>
          </p:cNvSpPr>
          <p:nvPr/>
        </p:nvSpPr>
        <p:spPr>
          <a:xfrm>
            <a:off x="3057525" y="3714988"/>
            <a:ext cx="685800" cy="171450"/>
          </a:xfrm>
          <a:prstGeom prst="rect">
            <a:avLst/>
          </a:prstGeom>
          <a:noFill/>
          <a:ln w="0">
            <a:noFill/>
            <a:prstDash val="solid"/>
          </a:ln>
        </p:spPr>
        <p:txBody>
          <a:bodyPr/>
          <a:lstStyle/>
          <a:p>
            <a:pPr algn="ctr">
              <a:defRPr sz="825" b="1" i="0">
                <a:solidFill>
                  <a:srgbClr val="0B5D7A"/>
                </a:solidFill>
                <a:latin typeface="Aptos"/>
                <a:ea typeface="Aptos"/>
                <a:cs typeface="Aptos"/>
              </a:defRPr>
            </a:pPr>
            <a:r>
              <a:rPr sz="825" b="1" i="0">
                <a:solidFill>
                  <a:srgbClr val="0B5D7A"/>
                </a:solidFill>
                <a:latin typeface="Aptos"/>
                <a:ea typeface="Aptos"/>
                <a:cs typeface="Aptos"/>
              </a:rPr>
              <a:t>+0,099</a:t>
            </a:r>
          </a:p>
        </p:txBody>
      </p:sp>
      <p:sp>
        <p:nvSpPr>
          <p:cNvPr id="17" name="Rectangle 16">
            <a:extLst>
              <a:ext uri="{FF2B5EF4-FFF2-40B4-BE49-F238E27FC236}">
                <a16:creationId xmlns:a16="http://schemas.microsoft.com/office/drawing/2014/main" id="{A959C523-9BB1-458D-A971-EE7EFA0FE75C}"/>
              </a:ext>
            </a:extLst>
          </p:cNvPr>
          <p:cNvSpPr>
            <a:spLocks noGrp="1"/>
          </p:cNvSpPr>
          <p:nvPr/>
        </p:nvSpPr>
        <p:spPr>
          <a:xfrm>
            <a:off x="3105150" y="5162550"/>
            <a:ext cx="590550" cy="171450"/>
          </a:xfrm>
          <a:prstGeom prst="rect">
            <a:avLst/>
          </a:prstGeom>
          <a:noFill/>
          <a:ln w="0">
            <a:noFill/>
            <a:prstDash val="solid"/>
          </a:ln>
        </p:spPr>
        <p:txBody>
          <a:bodyPr/>
          <a:lstStyle/>
          <a:p>
            <a:pPr algn="ctr">
              <a:defRPr sz="863" b="1" i="0">
                <a:solidFill>
                  <a:srgbClr val="051C2C"/>
                </a:solidFill>
                <a:latin typeface="Aptos"/>
                <a:ea typeface="Aptos"/>
                <a:cs typeface="Aptos"/>
              </a:defRPr>
            </a:pPr>
            <a:r>
              <a:rPr sz="863" b="1" i="0">
                <a:solidFill>
                  <a:srgbClr val="051C2C"/>
                </a:solidFill>
                <a:latin typeface="Aptos"/>
                <a:ea typeface="Aptos"/>
                <a:cs typeface="Aptos"/>
              </a:rPr>
              <a:t>2023</a:t>
            </a:r>
          </a:p>
        </p:txBody>
      </p:sp>
      <p:sp>
        <p:nvSpPr>
          <p:cNvPr id="18" name="Rectangle 17">
            <a:extLst>
              <a:ext uri="{FF2B5EF4-FFF2-40B4-BE49-F238E27FC236}">
                <a16:creationId xmlns:a16="http://schemas.microsoft.com/office/drawing/2014/main" id="{98EBF803-C8A7-4DA6-9EC7-E663A9826156}"/>
              </a:ext>
            </a:extLst>
          </p:cNvPr>
          <p:cNvSpPr>
            <a:spLocks noGrp="1"/>
          </p:cNvSpPr>
          <p:nvPr/>
        </p:nvSpPr>
        <p:spPr>
          <a:xfrm>
            <a:off x="4095750" y="3463528"/>
            <a:ext cx="514350" cy="975122"/>
          </a:xfrm>
          <a:prstGeom prst="rect">
            <a:avLst/>
          </a:prstGeom>
          <a:solidFill>
            <a:srgbClr val="0B5D7A"/>
          </a:solidFill>
          <a:ln w="0">
            <a:noFill/>
            <a:prstDash val="solid"/>
          </a:ln>
        </p:spPr>
        <p:txBody>
          <a:bodyPr/>
          <a:lstStyle/>
          <a:p>
            <a:endParaRPr lang="en-US"/>
          </a:p>
        </p:txBody>
      </p:sp>
      <p:sp>
        <p:nvSpPr>
          <p:cNvPr id="19" name="Rectangle 18">
            <a:extLst>
              <a:ext uri="{FF2B5EF4-FFF2-40B4-BE49-F238E27FC236}">
                <a16:creationId xmlns:a16="http://schemas.microsoft.com/office/drawing/2014/main" id="{148F5C33-6E8C-4B6D-A4EC-F1704F0CE9F4}"/>
              </a:ext>
            </a:extLst>
          </p:cNvPr>
          <p:cNvSpPr>
            <a:spLocks noGrp="1"/>
          </p:cNvSpPr>
          <p:nvPr/>
        </p:nvSpPr>
        <p:spPr>
          <a:xfrm>
            <a:off x="4010025" y="3234928"/>
            <a:ext cx="685800" cy="171450"/>
          </a:xfrm>
          <a:prstGeom prst="rect">
            <a:avLst/>
          </a:prstGeom>
          <a:noFill/>
          <a:ln w="0">
            <a:noFill/>
            <a:prstDash val="solid"/>
          </a:ln>
        </p:spPr>
        <p:txBody>
          <a:bodyPr/>
          <a:lstStyle/>
          <a:p>
            <a:pPr algn="ctr">
              <a:defRPr sz="825" b="1" i="0">
                <a:solidFill>
                  <a:srgbClr val="0B5D7A"/>
                </a:solidFill>
                <a:latin typeface="Aptos"/>
                <a:ea typeface="Aptos"/>
                <a:cs typeface="Aptos"/>
              </a:defRPr>
            </a:pPr>
            <a:r>
              <a:rPr sz="825" b="1" i="0">
                <a:solidFill>
                  <a:srgbClr val="0B5D7A"/>
                </a:solidFill>
                <a:latin typeface="Aptos"/>
                <a:ea typeface="Aptos"/>
                <a:cs typeface="Aptos"/>
              </a:rPr>
              <a:t>+0,195</a:t>
            </a:r>
          </a:p>
        </p:txBody>
      </p:sp>
      <p:sp>
        <p:nvSpPr>
          <p:cNvPr id="20" name="Rectangle 19">
            <a:extLst>
              <a:ext uri="{FF2B5EF4-FFF2-40B4-BE49-F238E27FC236}">
                <a16:creationId xmlns:a16="http://schemas.microsoft.com/office/drawing/2014/main" id="{61EDEEC5-65FE-4166-B3B7-A3C36A0E1726}"/>
              </a:ext>
            </a:extLst>
          </p:cNvPr>
          <p:cNvSpPr>
            <a:spLocks noGrp="1"/>
          </p:cNvSpPr>
          <p:nvPr/>
        </p:nvSpPr>
        <p:spPr>
          <a:xfrm>
            <a:off x="4057650" y="5162550"/>
            <a:ext cx="590550" cy="171450"/>
          </a:xfrm>
          <a:prstGeom prst="rect">
            <a:avLst/>
          </a:prstGeom>
          <a:noFill/>
          <a:ln w="0">
            <a:noFill/>
            <a:prstDash val="solid"/>
          </a:ln>
        </p:spPr>
        <p:txBody>
          <a:bodyPr/>
          <a:lstStyle/>
          <a:p>
            <a:pPr algn="ctr">
              <a:defRPr sz="863" b="1" i="0">
                <a:solidFill>
                  <a:srgbClr val="051C2C"/>
                </a:solidFill>
                <a:latin typeface="Aptos"/>
                <a:ea typeface="Aptos"/>
                <a:cs typeface="Aptos"/>
              </a:defRPr>
            </a:pPr>
            <a:r>
              <a:rPr sz="863" b="1" i="0">
                <a:solidFill>
                  <a:srgbClr val="051C2C"/>
                </a:solidFill>
                <a:latin typeface="Aptos"/>
                <a:ea typeface="Aptos"/>
                <a:cs typeface="Aptos"/>
              </a:rPr>
              <a:t>2024</a:t>
            </a:r>
          </a:p>
        </p:txBody>
      </p:sp>
      <p:sp>
        <p:nvSpPr>
          <p:cNvPr id="21" name="Rectangle 20">
            <a:extLst>
              <a:ext uri="{FF2B5EF4-FFF2-40B4-BE49-F238E27FC236}">
                <a16:creationId xmlns:a16="http://schemas.microsoft.com/office/drawing/2014/main" id="{A0D0DBE9-0203-416E-BA9A-7E26AA0D14D4}"/>
              </a:ext>
            </a:extLst>
          </p:cNvPr>
          <p:cNvSpPr>
            <a:spLocks noGrp="1"/>
          </p:cNvSpPr>
          <p:nvPr/>
        </p:nvSpPr>
        <p:spPr>
          <a:xfrm>
            <a:off x="5048250" y="4208621"/>
            <a:ext cx="514350" cy="230029"/>
          </a:xfrm>
          <a:prstGeom prst="rect">
            <a:avLst/>
          </a:prstGeom>
          <a:solidFill>
            <a:srgbClr val="0B5D7A"/>
          </a:solidFill>
          <a:ln w="0">
            <a:noFill/>
            <a:prstDash val="solid"/>
          </a:ln>
        </p:spPr>
        <p:txBody>
          <a:bodyPr/>
          <a:lstStyle/>
          <a:p>
            <a:endParaRPr lang="en-US"/>
          </a:p>
        </p:txBody>
      </p:sp>
      <p:sp>
        <p:nvSpPr>
          <p:cNvPr id="22" name="Rectangle 21">
            <a:extLst>
              <a:ext uri="{FF2B5EF4-FFF2-40B4-BE49-F238E27FC236}">
                <a16:creationId xmlns:a16="http://schemas.microsoft.com/office/drawing/2014/main" id="{7A4E521B-DBBB-4813-BF47-37599B3107E7}"/>
              </a:ext>
            </a:extLst>
          </p:cNvPr>
          <p:cNvSpPr>
            <a:spLocks noGrp="1"/>
          </p:cNvSpPr>
          <p:nvPr/>
        </p:nvSpPr>
        <p:spPr>
          <a:xfrm>
            <a:off x="4962525" y="3980021"/>
            <a:ext cx="685800" cy="171450"/>
          </a:xfrm>
          <a:prstGeom prst="rect">
            <a:avLst/>
          </a:prstGeom>
          <a:noFill/>
          <a:ln w="0">
            <a:noFill/>
            <a:prstDash val="solid"/>
          </a:ln>
        </p:spPr>
        <p:txBody>
          <a:bodyPr/>
          <a:lstStyle/>
          <a:p>
            <a:pPr algn="ctr">
              <a:defRPr sz="825" b="1" i="0">
                <a:solidFill>
                  <a:srgbClr val="0B5D7A"/>
                </a:solidFill>
                <a:latin typeface="Aptos"/>
                <a:ea typeface="Aptos"/>
                <a:cs typeface="Aptos"/>
              </a:defRPr>
            </a:pPr>
            <a:r>
              <a:rPr sz="825" b="1" i="0">
                <a:solidFill>
                  <a:srgbClr val="0B5D7A"/>
                </a:solidFill>
                <a:latin typeface="Aptos"/>
                <a:ea typeface="Aptos"/>
                <a:cs typeface="Aptos"/>
              </a:rPr>
              <a:t>+0,046</a:t>
            </a:r>
          </a:p>
        </p:txBody>
      </p:sp>
      <p:sp>
        <p:nvSpPr>
          <p:cNvPr id="23" name="Rectangle 22">
            <a:extLst>
              <a:ext uri="{FF2B5EF4-FFF2-40B4-BE49-F238E27FC236}">
                <a16:creationId xmlns:a16="http://schemas.microsoft.com/office/drawing/2014/main" id="{10C39362-7FB3-42CE-BF5C-FFAA7086CDB4}"/>
              </a:ext>
            </a:extLst>
          </p:cNvPr>
          <p:cNvSpPr>
            <a:spLocks noGrp="1"/>
          </p:cNvSpPr>
          <p:nvPr/>
        </p:nvSpPr>
        <p:spPr>
          <a:xfrm>
            <a:off x="5010150" y="5162550"/>
            <a:ext cx="590550" cy="171450"/>
          </a:xfrm>
          <a:prstGeom prst="rect">
            <a:avLst/>
          </a:prstGeom>
          <a:noFill/>
          <a:ln w="0">
            <a:noFill/>
            <a:prstDash val="solid"/>
          </a:ln>
        </p:spPr>
        <p:txBody>
          <a:bodyPr/>
          <a:lstStyle/>
          <a:p>
            <a:pPr algn="ctr">
              <a:defRPr sz="863" b="1" i="0">
                <a:solidFill>
                  <a:srgbClr val="051C2C"/>
                </a:solidFill>
                <a:latin typeface="Aptos"/>
                <a:ea typeface="Aptos"/>
                <a:cs typeface="Aptos"/>
              </a:defRPr>
            </a:pPr>
            <a:r>
              <a:rPr sz="863" b="1" i="0">
                <a:solidFill>
                  <a:srgbClr val="051C2C"/>
                </a:solidFill>
                <a:latin typeface="Aptos"/>
                <a:ea typeface="Aptos"/>
                <a:cs typeface="Aptos"/>
              </a:rPr>
              <a:t>2025</a:t>
            </a:r>
          </a:p>
        </p:txBody>
      </p:sp>
      <p:sp>
        <p:nvSpPr>
          <p:cNvPr id="24" name="Rectangle 23">
            <a:extLst>
              <a:ext uri="{FF2B5EF4-FFF2-40B4-BE49-F238E27FC236}">
                <a16:creationId xmlns:a16="http://schemas.microsoft.com/office/drawing/2014/main" id="{0C185FC9-102D-41F1-9125-5BCA31D24AE5}"/>
              </a:ext>
            </a:extLst>
          </p:cNvPr>
          <p:cNvSpPr>
            <a:spLocks noGrp="1"/>
          </p:cNvSpPr>
          <p:nvPr/>
        </p:nvSpPr>
        <p:spPr>
          <a:xfrm>
            <a:off x="6000750" y="2628424"/>
            <a:ext cx="514350" cy="1810226"/>
          </a:xfrm>
          <a:prstGeom prst="rect">
            <a:avLst/>
          </a:prstGeom>
          <a:solidFill>
            <a:srgbClr val="0B5D7A"/>
          </a:solidFill>
          <a:ln w="0">
            <a:noFill/>
            <a:prstDash val="solid"/>
          </a:ln>
        </p:spPr>
        <p:txBody>
          <a:bodyPr/>
          <a:lstStyle/>
          <a:p>
            <a:endParaRPr lang="en-US"/>
          </a:p>
        </p:txBody>
      </p:sp>
      <p:sp>
        <p:nvSpPr>
          <p:cNvPr id="25" name="Rectangle 24">
            <a:extLst>
              <a:ext uri="{FF2B5EF4-FFF2-40B4-BE49-F238E27FC236}">
                <a16:creationId xmlns:a16="http://schemas.microsoft.com/office/drawing/2014/main" id="{FD11B384-CF58-43C2-9F04-86BD96E5934B}"/>
              </a:ext>
            </a:extLst>
          </p:cNvPr>
          <p:cNvSpPr>
            <a:spLocks noGrp="1"/>
          </p:cNvSpPr>
          <p:nvPr/>
        </p:nvSpPr>
        <p:spPr>
          <a:xfrm>
            <a:off x="5915025" y="2399824"/>
            <a:ext cx="685800" cy="171450"/>
          </a:xfrm>
          <a:prstGeom prst="rect">
            <a:avLst/>
          </a:prstGeom>
          <a:noFill/>
          <a:ln w="0">
            <a:noFill/>
            <a:prstDash val="solid"/>
          </a:ln>
        </p:spPr>
        <p:txBody>
          <a:bodyPr/>
          <a:lstStyle/>
          <a:p>
            <a:pPr algn="ctr">
              <a:defRPr sz="825" b="1" i="0">
                <a:solidFill>
                  <a:srgbClr val="0B5D7A"/>
                </a:solidFill>
                <a:latin typeface="Aptos"/>
                <a:ea typeface="Aptos"/>
                <a:cs typeface="Aptos"/>
              </a:defRPr>
            </a:pPr>
            <a:r>
              <a:rPr sz="825" b="1" i="0">
                <a:solidFill>
                  <a:srgbClr val="0B5D7A"/>
                </a:solidFill>
                <a:latin typeface="Aptos"/>
                <a:ea typeface="Aptos"/>
                <a:cs typeface="Aptos"/>
              </a:rPr>
              <a:t>+0,362</a:t>
            </a:r>
          </a:p>
        </p:txBody>
      </p:sp>
      <p:sp>
        <p:nvSpPr>
          <p:cNvPr id="26" name="Rectangle 25">
            <a:extLst>
              <a:ext uri="{FF2B5EF4-FFF2-40B4-BE49-F238E27FC236}">
                <a16:creationId xmlns:a16="http://schemas.microsoft.com/office/drawing/2014/main" id="{46D5BCC2-1A15-4BF7-9685-9346F0E9BED2}"/>
              </a:ext>
            </a:extLst>
          </p:cNvPr>
          <p:cNvSpPr>
            <a:spLocks noGrp="1"/>
          </p:cNvSpPr>
          <p:nvPr/>
        </p:nvSpPr>
        <p:spPr>
          <a:xfrm>
            <a:off x="5962650" y="5162550"/>
            <a:ext cx="590550" cy="171450"/>
          </a:xfrm>
          <a:prstGeom prst="rect">
            <a:avLst/>
          </a:prstGeom>
          <a:noFill/>
          <a:ln w="0">
            <a:noFill/>
            <a:prstDash val="solid"/>
          </a:ln>
        </p:spPr>
        <p:txBody>
          <a:bodyPr/>
          <a:lstStyle/>
          <a:p>
            <a:pPr algn="ctr">
              <a:defRPr sz="863" b="1" i="0">
                <a:solidFill>
                  <a:srgbClr val="051C2C"/>
                </a:solidFill>
                <a:latin typeface="Aptos"/>
                <a:ea typeface="Aptos"/>
                <a:cs typeface="Aptos"/>
              </a:defRPr>
            </a:pPr>
            <a:r>
              <a:rPr sz="863" b="1" i="0">
                <a:solidFill>
                  <a:srgbClr val="051C2C"/>
                </a:solidFill>
                <a:latin typeface="Aptos"/>
                <a:ea typeface="Aptos"/>
                <a:cs typeface="Aptos"/>
              </a:rPr>
              <a:t>2026*</a:t>
            </a:r>
          </a:p>
        </p:txBody>
      </p:sp>
      <p:sp>
        <p:nvSpPr>
          <p:cNvPr id="27" name="Rectangle 26">
            <a:extLst>
              <a:ext uri="{FF2B5EF4-FFF2-40B4-BE49-F238E27FC236}">
                <a16:creationId xmlns:a16="http://schemas.microsoft.com/office/drawing/2014/main" id="{84ED13ED-8BB6-4E97-AF64-75CAAF011F20}"/>
              </a:ext>
            </a:extLst>
          </p:cNvPr>
          <p:cNvSpPr>
            <a:spLocks noGrp="1"/>
          </p:cNvSpPr>
          <p:nvPr/>
        </p:nvSpPr>
        <p:spPr>
          <a:xfrm>
            <a:off x="781050" y="5419725"/>
            <a:ext cx="6572250" cy="161925"/>
          </a:xfrm>
          <a:prstGeom prst="rect">
            <a:avLst/>
          </a:prstGeom>
          <a:noFill/>
          <a:ln w="0">
            <a:noFill/>
            <a:prstDash val="solid"/>
          </a:ln>
        </p:spPr>
        <p:txBody>
          <a:bodyPr/>
          <a:lstStyle/>
          <a:p>
            <a:pPr algn="l">
              <a:defRPr sz="713" b="0" i="0">
                <a:solidFill>
                  <a:srgbClr val="71858F"/>
                </a:solidFill>
                <a:latin typeface="Aptos"/>
                <a:ea typeface="Aptos"/>
                <a:cs typeface="Aptos"/>
              </a:defRPr>
            </a:pPr>
            <a:r>
              <a:rPr sz="713" b="0" i="0">
                <a:solidFill>
                  <a:srgbClr val="71858F"/>
                </a:solidFill>
                <a:latin typeface="Aptos"/>
                <a:ea typeface="Aptos"/>
                <a:cs typeface="Aptos"/>
              </a:rPr>
              <a:t>* 2026 ist ein Teilsample bis 22. April und daher nicht direkt mit Volljahren vergleichbar.</a:t>
            </a:r>
          </a:p>
        </p:txBody>
      </p:sp>
      <p:sp>
        <p:nvSpPr>
          <p:cNvPr id="28" name="Rectangle: Rounded Corners 27">
            <a:extLst>
              <a:ext uri="{FF2B5EF4-FFF2-40B4-BE49-F238E27FC236}">
                <a16:creationId xmlns:a16="http://schemas.microsoft.com/office/drawing/2014/main" id="{0F71C4C4-055B-4B4E-AC5C-E53EB553D91D}"/>
              </a:ext>
            </a:extLst>
          </p:cNvPr>
          <p:cNvSpPr>
            <a:spLocks noGrp="1"/>
          </p:cNvSpPr>
          <p:nvPr/>
        </p:nvSpPr>
        <p:spPr>
          <a:xfrm>
            <a:off x="8048625" y="1438275"/>
            <a:ext cx="3686175" cy="1123950"/>
          </a:xfrm>
          <a:prstGeom prst="roundRect">
            <a:avLst>
              <a:gd name="adj" fmla="val 10169"/>
            </a:avLst>
          </a:prstGeom>
          <a:solidFill>
            <a:srgbClr val="FFFFFF"/>
          </a:solidFill>
          <a:ln w="9525">
            <a:solidFill>
              <a:srgbClr val="D5E0E5"/>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29" name="Rectangle 28">
            <a:extLst>
              <a:ext uri="{FF2B5EF4-FFF2-40B4-BE49-F238E27FC236}">
                <a16:creationId xmlns:a16="http://schemas.microsoft.com/office/drawing/2014/main" id="{6E50C266-041B-4A03-AF45-E7C11D054A55}"/>
              </a:ext>
            </a:extLst>
          </p:cNvPr>
          <p:cNvSpPr>
            <a:spLocks noGrp="1"/>
          </p:cNvSpPr>
          <p:nvPr/>
        </p:nvSpPr>
        <p:spPr>
          <a:xfrm>
            <a:off x="8048625" y="1438275"/>
            <a:ext cx="3686175" cy="47625"/>
          </a:xfrm>
          <a:prstGeom prst="rect">
            <a:avLst/>
          </a:prstGeom>
          <a:solidFill>
            <a:srgbClr val="0B5D7A"/>
          </a:solidFill>
          <a:ln w="0">
            <a:noFill/>
            <a:prstDash val="solid"/>
          </a:ln>
        </p:spPr>
        <p:txBody>
          <a:bodyPr/>
          <a:lstStyle/>
          <a:p>
            <a:endParaRPr lang="en-US"/>
          </a:p>
        </p:txBody>
      </p:sp>
      <p:sp>
        <p:nvSpPr>
          <p:cNvPr id="30" name="Rectangle 29">
            <a:extLst>
              <a:ext uri="{FF2B5EF4-FFF2-40B4-BE49-F238E27FC236}">
                <a16:creationId xmlns:a16="http://schemas.microsoft.com/office/drawing/2014/main" id="{FD01978D-1C79-4099-AD07-4171149BA75B}"/>
              </a:ext>
            </a:extLst>
          </p:cNvPr>
          <p:cNvSpPr>
            <a:spLocks noGrp="1"/>
          </p:cNvSpPr>
          <p:nvPr/>
        </p:nvSpPr>
        <p:spPr>
          <a:xfrm>
            <a:off x="8181975" y="1581150"/>
            <a:ext cx="3419475" cy="171450"/>
          </a:xfrm>
          <a:prstGeom prst="rect">
            <a:avLst/>
          </a:prstGeom>
          <a:noFill/>
          <a:ln w="0">
            <a:noFill/>
            <a:prstDash val="solid"/>
          </a:ln>
        </p:spPr>
        <p:txBody>
          <a:bodyPr/>
          <a:lstStyle/>
          <a:p>
            <a:pPr algn="l">
              <a:defRPr sz="788" b="1" i="0">
                <a:solidFill>
                  <a:srgbClr val="71858F"/>
                </a:solidFill>
                <a:latin typeface="Aptos"/>
                <a:ea typeface="Aptos"/>
                <a:cs typeface="Aptos"/>
              </a:defRPr>
            </a:pPr>
            <a:r>
              <a:rPr sz="788" b="1" i="0">
                <a:solidFill>
                  <a:srgbClr val="71858F"/>
                </a:solidFill>
                <a:latin typeface="Aptos"/>
                <a:ea typeface="Aptos"/>
                <a:cs typeface="Aptos"/>
              </a:rPr>
              <a:t>ROLLING 252 TAGE · SPANNWEITE</a:t>
            </a:r>
          </a:p>
        </p:txBody>
      </p:sp>
      <p:sp>
        <p:nvSpPr>
          <p:cNvPr id="31" name="Rectangle 30">
            <a:extLst>
              <a:ext uri="{FF2B5EF4-FFF2-40B4-BE49-F238E27FC236}">
                <a16:creationId xmlns:a16="http://schemas.microsoft.com/office/drawing/2014/main" id="{585C9803-6229-4D5E-8733-E45CAC3E1B17}"/>
              </a:ext>
            </a:extLst>
          </p:cNvPr>
          <p:cNvSpPr>
            <a:spLocks noGrp="1"/>
          </p:cNvSpPr>
          <p:nvPr/>
        </p:nvSpPr>
        <p:spPr>
          <a:xfrm>
            <a:off x="8181975" y="1790700"/>
            <a:ext cx="3419475" cy="323850"/>
          </a:xfrm>
          <a:prstGeom prst="rect">
            <a:avLst/>
          </a:prstGeom>
          <a:noFill/>
          <a:ln w="0">
            <a:noFill/>
            <a:prstDash val="solid"/>
          </a:ln>
        </p:spPr>
        <p:txBody>
          <a:bodyPr/>
          <a:lstStyle/>
          <a:p>
            <a:pPr algn="l">
              <a:defRPr sz="1875" b="1" i="0">
                <a:solidFill>
                  <a:srgbClr val="051C2C"/>
                </a:solidFill>
                <a:latin typeface="Aptos Display"/>
                <a:ea typeface="Aptos Display"/>
                <a:cs typeface="Aptos Display"/>
              </a:defRPr>
            </a:pPr>
            <a:r>
              <a:rPr sz="1875" b="1" i="0">
                <a:solidFill>
                  <a:srgbClr val="051C2C"/>
                </a:solidFill>
                <a:latin typeface="Aptos Display"/>
                <a:ea typeface="Aptos Display"/>
                <a:cs typeface="Aptos Display"/>
              </a:rPr>
              <a:t>−0,175 bis +0,235</a:t>
            </a:r>
          </a:p>
        </p:txBody>
      </p:sp>
      <p:sp>
        <p:nvSpPr>
          <p:cNvPr id="32" name="Rectangle 31">
            <a:extLst>
              <a:ext uri="{FF2B5EF4-FFF2-40B4-BE49-F238E27FC236}">
                <a16:creationId xmlns:a16="http://schemas.microsoft.com/office/drawing/2014/main" id="{940D01EC-D88C-4DE7-B23F-B499A250924F}"/>
              </a:ext>
            </a:extLst>
          </p:cNvPr>
          <p:cNvSpPr>
            <a:spLocks noGrp="1"/>
          </p:cNvSpPr>
          <p:nvPr/>
        </p:nvSpPr>
        <p:spPr>
          <a:xfrm>
            <a:off x="8181975" y="2162175"/>
            <a:ext cx="3419475" cy="171450"/>
          </a:xfrm>
          <a:prstGeom prst="rect">
            <a:avLst/>
          </a:prstGeom>
          <a:noFill/>
          <a:ln w="0">
            <a:noFill/>
            <a:prstDash val="solid"/>
          </a:ln>
        </p:spPr>
        <p:txBody>
          <a:bodyPr/>
          <a:lstStyle/>
          <a:p>
            <a:pPr algn="l">
              <a:defRPr sz="788" b="0" i="0">
                <a:solidFill>
                  <a:srgbClr val="4F6875"/>
                </a:solidFill>
                <a:latin typeface="Aptos"/>
                <a:ea typeface="Aptos"/>
                <a:cs typeface="Aptos"/>
              </a:defRPr>
            </a:pPr>
            <a:r>
              <a:rPr sz="788" b="0" i="0">
                <a:solidFill>
                  <a:srgbClr val="4F6875"/>
                </a:solidFill>
                <a:latin typeface="Aptos"/>
                <a:ea typeface="Aptos"/>
                <a:cs typeface="Aptos"/>
              </a:rPr>
              <a:t>temporäre negative und positive Regime</a:t>
            </a:r>
          </a:p>
        </p:txBody>
      </p:sp>
      <p:sp>
        <p:nvSpPr>
          <p:cNvPr id="33" name="Rectangle: Rounded Corners 32">
            <a:extLst>
              <a:ext uri="{FF2B5EF4-FFF2-40B4-BE49-F238E27FC236}">
                <a16:creationId xmlns:a16="http://schemas.microsoft.com/office/drawing/2014/main" id="{CB79356D-6C9A-49B6-9578-7E0401253726}"/>
              </a:ext>
            </a:extLst>
          </p:cNvPr>
          <p:cNvSpPr>
            <a:spLocks noGrp="1"/>
          </p:cNvSpPr>
          <p:nvPr/>
        </p:nvSpPr>
        <p:spPr>
          <a:xfrm>
            <a:off x="8048625" y="2733675"/>
            <a:ext cx="3686175" cy="1123950"/>
          </a:xfrm>
          <a:prstGeom prst="roundRect">
            <a:avLst>
              <a:gd name="adj" fmla="val 10169"/>
            </a:avLst>
          </a:prstGeom>
          <a:solidFill>
            <a:srgbClr val="FFFFFF"/>
          </a:solidFill>
          <a:ln w="9525">
            <a:solidFill>
              <a:srgbClr val="D5E0E5"/>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34" name="Rectangle 33">
            <a:extLst>
              <a:ext uri="{FF2B5EF4-FFF2-40B4-BE49-F238E27FC236}">
                <a16:creationId xmlns:a16="http://schemas.microsoft.com/office/drawing/2014/main" id="{D7F113A1-5E01-47C1-BDDE-9A7F9E1D39C7}"/>
              </a:ext>
            </a:extLst>
          </p:cNvPr>
          <p:cNvSpPr>
            <a:spLocks noGrp="1"/>
          </p:cNvSpPr>
          <p:nvPr/>
        </p:nvSpPr>
        <p:spPr>
          <a:xfrm>
            <a:off x="8048625" y="2733675"/>
            <a:ext cx="3686175" cy="47625"/>
          </a:xfrm>
          <a:prstGeom prst="rect">
            <a:avLst/>
          </a:prstGeom>
          <a:solidFill>
            <a:srgbClr val="1B777F"/>
          </a:solidFill>
          <a:ln w="0">
            <a:noFill/>
            <a:prstDash val="solid"/>
          </a:ln>
        </p:spPr>
        <p:txBody>
          <a:bodyPr/>
          <a:lstStyle/>
          <a:p>
            <a:endParaRPr lang="en-US"/>
          </a:p>
        </p:txBody>
      </p:sp>
      <p:sp>
        <p:nvSpPr>
          <p:cNvPr id="35" name="Rectangle 34">
            <a:extLst>
              <a:ext uri="{FF2B5EF4-FFF2-40B4-BE49-F238E27FC236}">
                <a16:creationId xmlns:a16="http://schemas.microsoft.com/office/drawing/2014/main" id="{0EB9C2F3-B7EF-4863-AF6A-E707CBE8C57E}"/>
              </a:ext>
            </a:extLst>
          </p:cNvPr>
          <p:cNvSpPr>
            <a:spLocks noGrp="1"/>
          </p:cNvSpPr>
          <p:nvPr/>
        </p:nvSpPr>
        <p:spPr>
          <a:xfrm>
            <a:off x="8181975" y="2876550"/>
            <a:ext cx="3419475" cy="171450"/>
          </a:xfrm>
          <a:prstGeom prst="rect">
            <a:avLst/>
          </a:prstGeom>
          <a:noFill/>
          <a:ln w="0">
            <a:noFill/>
            <a:prstDash val="solid"/>
          </a:ln>
        </p:spPr>
        <p:txBody>
          <a:bodyPr/>
          <a:lstStyle/>
          <a:p>
            <a:pPr algn="l">
              <a:defRPr sz="788" b="1" i="0">
                <a:solidFill>
                  <a:srgbClr val="71858F"/>
                </a:solidFill>
                <a:latin typeface="Aptos"/>
                <a:ea typeface="Aptos"/>
                <a:cs typeface="Aptos"/>
              </a:defRPr>
            </a:pPr>
            <a:r>
              <a:rPr sz="788" b="1" i="0">
                <a:solidFill>
                  <a:srgbClr val="71858F"/>
                </a:solidFill>
                <a:latin typeface="Aptos"/>
                <a:ea typeface="Aptos"/>
                <a:cs typeface="Aptos"/>
              </a:rPr>
              <a:t>ROLLING-MITTEL</a:t>
            </a:r>
          </a:p>
        </p:txBody>
      </p:sp>
      <p:sp>
        <p:nvSpPr>
          <p:cNvPr id="36" name="Rectangle 35">
            <a:extLst>
              <a:ext uri="{FF2B5EF4-FFF2-40B4-BE49-F238E27FC236}">
                <a16:creationId xmlns:a16="http://schemas.microsoft.com/office/drawing/2014/main" id="{665A2F2C-39AE-490B-A31E-56FDFC383449}"/>
              </a:ext>
            </a:extLst>
          </p:cNvPr>
          <p:cNvSpPr>
            <a:spLocks noGrp="1"/>
          </p:cNvSpPr>
          <p:nvPr/>
        </p:nvSpPr>
        <p:spPr>
          <a:xfrm>
            <a:off x="8181975" y="3086100"/>
            <a:ext cx="3419475" cy="323850"/>
          </a:xfrm>
          <a:prstGeom prst="rect">
            <a:avLst/>
          </a:prstGeom>
          <a:noFill/>
          <a:ln w="0">
            <a:noFill/>
            <a:prstDash val="solid"/>
          </a:ln>
        </p:spPr>
        <p:txBody>
          <a:bodyPr/>
          <a:lstStyle/>
          <a:p>
            <a:pPr algn="l">
              <a:defRPr sz="2025" b="1" i="0">
                <a:solidFill>
                  <a:srgbClr val="051C2C"/>
                </a:solidFill>
                <a:latin typeface="Aptos Display"/>
                <a:ea typeface="Aptos Display"/>
                <a:cs typeface="Aptos Display"/>
              </a:defRPr>
            </a:pPr>
            <a:r>
              <a:rPr sz="2025" b="1" i="0">
                <a:solidFill>
                  <a:srgbClr val="051C2C"/>
                </a:solidFill>
                <a:latin typeface="Aptos Display"/>
                <a:ea typeface="Aptos Display"/>
                <a:cs typeface="Aptos Display"/>
              </a:rPr>
              <a:t>+0,065</a:t>
            </a:r>
          </a:p>
        </p:txBody>
      </p:sp>
      <p:sp>
        <p:nvSpPr>
          <p:cNvPr id="37" name="Rectangle 36">
            <a:extLst>
              <a:ext uri="{FF2B5EF4-FFF2-40B4-BE49-F238E27FC236}">
                <a16:creationId xmlns:a16="http://schemas.microsoft.com/office/drawing/2014/main" id="{807C7AE9-EF2A-476E-9219-6B44ACB1423A}"/>
              </a:ext>
            </a:extLst>
          </p:cNvPr>
          <p:cNvSpPr>
            <a:spLocks noGrp="1"/>
          </p:cNvSpPr>
          <p:nvPr/>
        </p:nvSpPr>
        <p:spPr>
          <a:xfrm>
            <a:off x="8181975" y="3457575"/>
            <a:ext cx="3419475" cy="171450"/>
          </a:xfrm>
          <a:prstGeom prst="rect">
            <a:avLst/>
          </a:prstGeom>
          <a:noFill/>
          <a:ln w="0">
            <a:noFill/>
            <a:prstDash val="solid"/>
          </a:ln>
        </p:spPr>
        <p:txBody>
          <a:bodyPr/>
          <a:lstStyle/>
          <a:p>
            <a:pPr algn="l">
              <a:defRPr sz="788" b="0" i="0">
                <a:solidFill>
                  <a:srgbClr val="4F6875"/>
                </a:solidFill>
                <a:latin typeface="Aptos"/>
                <a:ea typeface="Aptos"/>
                <a:cs typeface="Aptos"/>
              </a:defRPr>
            </a:pPr>
            <a:r>
              <a:rPr sz="788" b="0" i="0">
                <a:solidFill>
                  <a:srgbClr val="4F6875"/>
                </a:solidFill>
                <a:latin typeface="Aptos"/>
                <a:ea typeface="Aptos"/>
                <a:cs typeface="Aptos"/>
              </a:rPr>
              <a:t>nahe am Full-Sample-Wert</a:t>
            </a:r>
          </a:p>
        </p:txBody>
      </p:sp>
      <p:sp>
        <p:nvSpPr>
          <p:cNvPr id="38" name="Rectangle: Rounded Corners 37">
            <a:extLst>
              <a:ext uri="{FF2B5EF4-FFF2-40B4-BE49-F238E27FC236}">
                <a16:creationId xmlns:a16="http://schemas.microsoft.com/office/drawing/2014/main" id="{80A26F05-1C57-4263-813E-93761E25551C}"/>
              </a:ext>
            </a:extLst>
          </p:cNvPr>
          <p:cNvSpPr>
            <a:spLocks noGrp="1"/>
          </p:cNvSpPr>
          <p:nvPr/>
        </p:nvSpPr>
        <p:spPr>
          <a:xfrm>
            <a:off x="8048625" y="4029075"/>
            <a:ext cx="3686175" cy="1123950"/>
          </a:xfrm>
          <a:prstGeom prst="roundRect">
            <a:avLst>
              <a:gd name="adj" fmla="val 10169"/>
            </a:avLst>
          </a:prstGeom>
          <a:solidFill>
            <a:srgbClr val="FFFFFF"/>
          </a:solidFill>
          <a:ln w="9525">
            <a:solidFill>
              <a:srgbClr val="D5E0E5"/>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39" name="Rectangle 38">
            <a:extLst>
              <a:ext uri="{FF2B5EF4-FFF2-40B4-BE49-F238E27FC236}">
                <a16:creationId xmlns:a16="http://schemas.microsoft.com/office/drawing/2014/main" id="{ADBC7142-DED1-40AA-AB45-576D42E47204}"/>
              </a:ext>
            </a:extLst>
          </p:cNvPr>
          <p:cNvSpPr>
            <a:spLocks noGrp="1"/>
          </p:cNvSpPr>
          <p:nvPr/>
        </p:nvSpPr>
        <p:spPr>
          <a:xfrm>
            <a:off x="8048625" y="4029075"/>
            <a:ext cx="3686175" cy="47625"/>
          </a:xfrm>
          <a:prstGeom prst="rect">
            <a:avLst/>
          </a:prstGeom>
          <a:solidFill>
            <a:srgbClr val="D9A124"/>
          </a:solidFill>
          <a:ln w="0">
            <a:noFill/>
            <a:prstDash val="solid"/>
          </a:ln>
        </p:spPr>
        <p:txBody>
          <a:bodyPr/>
          <a:lstStyle/>
          <a:p>
            <a:endParaRPr lang="en-US"/>
          </a:p>
        </p:txBody>
      </p:sp>
      <p:sp>
        <p:nvSpPr>
          <p:cNvPr id="40" name="Rectangle 39">
            <a:extLst>
              <a:ext uri="{FF2B5EF4-FFF2-40B4-BE49-F238E27FC236}">
                <a16:creationId xmlns:a16="http://schemas.microsoft.com/office/drawing/2014/main" id="{D4113425-12F5-4279-AF13-A32DB8C2734C}"/>
              </a:ext>
            </a:extLst>
          </p:cNvPr>
          <p:cNvSpPr>
            <a:spLocks noGrp="1"/>
          </p:cNvSpPr>
          <p:nvPr/>
        </p:nvSpPr>
        <p:spPr>
          <a:xfrm>
            <a:off x="8181975" y="4171950"/>
            <a:ext cx="3419475" cy="171450"/>
          </a:xfrm>
          <a:prstGeom prst="rect">
            <a:avLst/>
          </a:prstGeom>
          <a:noFill/>
          <a:ln w="0">
            <a:noFill/>
            <a:prstDash val="solid"/>
          </a:ln>
        </p:spPr>
        <p:txBody>
          <a:bodyPr/>
          <a:lstStyle/>
          <a:p>
            <a:pPr algn="l">
              <a:defRPr sz="788" b="1" i="0">
                <a:solidFill>
                  <a:srgbClr val="71858F"/>
                </a:solidFill>
                <a:latin typeface="Aptos"/>
                <a:ea typeface="Aptos"/>
                <a:cs typeface="Aptos"/>
              </a:defRPr>
            </a:pPr>
            <a:r>
              <a:rPr sz="788" b="1" i="0">
                <a:solidFill>
                  <a:srgbClr val="71858F"/>
                </a:solidFill>
                <a:latin typeface="Aptos"/>
                <a:ea typeface="Aptos"/>
                <a:cs typeface="Aptos"/>
              </a:rPr>
              <a:t>LETZTER CACHE-WERT</a:t>
            </a:r>
          </a:p>
        </p:txBody>
      </p:sp>
      <p:sp>
        <p:nvSpPr>
          <p:cNvPr id="41" name="Rectangle 40">
            <a:extLst>
              <a:ext uri="{FF2B5EF4-FFF2-40B4-BE49-F238E27FC236}">
                <a16:creationId xmlns:a16="http://schemas.microsoft.com/office/drawing/2014/main" id="{FC506609-5D06-424B-8E46-64F54AF8F27E}"/>
              </a:ext>
            </a:extLst>
          </p:cNvPr>
          <p:cNvSpPr>
            <a:spLocks noGrp="1"/>
          </p:cNvSpPr>
          <p:nvPr/>
        </p:nvSpPr>
        <p:spPr>
          <a:xfrm>
            <a:off x="8181975" y="4381500"/>
            <a:ext cx="3419475" cy="323850"/>
          </a:xfrm>
          <a:prstGeom prst="rect">
            <a:avLst/>
          </a:prstGeom>
          <a:noFill/>
          <a:ln w="0">
            <a:noFill/>
            <a:prstDash val="solid"/>
          </a:ln>
        </p:spPr>
        <p:txBody>
          <a:bodyPr/>
          <a:lstStyle/>
          <a:p>
            <a:pPr algn="l">
              <a:defRPr sz="2025" b="1" i="0">
                <a:solidFill>
                  <a:srgbClr val="051C2C"/>
                </a:solidFill>
                <a:latin typeface="Aptos Display"/>
                <a:ea typeface="Aptos Display"/>
                <a:cs typeface="Aptos Display"/>
              </a:defRPr>
            </a:pPr>
            <a:r>
              <a:rPr sz="2025" b="1" i="0">
                <a:solidFill>
                  <a:srgbClr val="051C2C"/>
                </a:solidFill>
                <a:latin typeface="Aptos Display"/>
                <a:ea typeface="Aptos Display"/>
                <a:cs typeface="Aptos Display"/>
              </a:rPr>
              <a:t>+0,198</a:t>
            </a:r>
          </a:p>
        </p:txBody>
      </p:sp>
      <p:sp>
        <p:nvSpPr>
          <p:cNvPr id="42" name="Rectangle 41">
            <a:extLst>
              <a:ext uri="{FF2B5EF4-FFF2-40B4-BE49-F238E27FC236}">
                <a16:creationId xmlns:a16="http://schemas.microsoft.com/office/drawing/2014/main" id="{CCAE6EA0-76E1-4C3C-AD28-06F913BBAC1C}"/>
              </a:ext>
            </a:extLst>
          </p:cNvPr>
          <p:cNvSpPr>
            <a:spLocks noGrp="1"/>
          </p:cNvSpPr>
          <p:nvPr/>
        </p:nvSpPr>
        <p:spPr>
          <a:xfrm>
            <a:off x="8181975" y="4752975"/>
            <a:ext cx="3419475" cy="171450"/>
          </a:xfrm>
          <a:prstGeom prst="rect">
            <a:avLst/>
          </a:prstGeom>
          <a:noFill/>
          <a:ln w="0">
            <a:noFill/>
            <a:prstDash val="solid"/>
          </a:ln>
        </p:spPr>
        <p:txBody>
          <a:bodyPr/>
          <a:lstStyle/>
          <a:p>
            <a:pPr algn="l">
              <a:defRPr sz="788" b="0" i="0">
                <a:solidFill>
                  <a:srgbClr val="4F6875"/>
                </a:solidFill>
                <a:latin typeface="Aptos"/>
                <a:ea typeface="Aptos"/>
                <a:cs typeface="Aptos"/>
              </a:defRPr>
            </a:pPr>
            <a:r>
              <a:rPr sz="788" b="0" i="0">
                <a:solidFill>
                  <a:srgbClr val="4F6875"/>
                </a:solidFill>
                <a:latin typeface="Aptos"/>
                <a:ea typeface="Aptos"/>
                <a:cs typeface="Aptos"/>
              </a:rPr>
              <a:t>22. April 2026 · erhöht, aber moderat</a:t>
            </a:r>
          </a:p>
        </p:txBody>
      </p:sp>
      <p:sp>
        <p:nvSpPr>
          <p:cNvPr id="43" name="Rectangle: Rounded Corners 42">
            <a:extLst>
              <a:ext uri="{FF2B5EF4-FFF2-40B4-BE49-F238E27FC236}">
                <a16:creationId xmlns:a16="http://schemas.microsoft.com/office/drawing/2014/main" id="{96999A18-0C6E-4E39-868B-FF3C23D58B7D}"/>
              </a:ext>
            </a:extLst>
          </p:cNvPr>
          <p:cNvSpPr>
            <a:spLocks noGrp="1"/>
          </p:cNvSpPr>
          <p:nvPr/>
        </p:nvSpPr>
        <p:spPr>
          <a:xfrm>
            <a:off x="457200" y="5857875"/>
            <a:ext cx="11277600" cy="400050"/>
          </a:xfrm>
          <a:prstGeom prst="roundRect">
            <a:avLst>
              <a:gd name="adj" fmla="val 28571"/>
            </a:avLst>
          </a:prstGeom>
          <a:solidFill>
            <a:srgbClr val="E3F1EF"/>
          </a:solidFill>
          <a:ln w="9525">
            <a:solidFill>
              <a:srgbClr val="B7D4D2"/>
            </a:solidFill>
            <a:prstDash val="solid"/>
          </a:ln>
        </p:spPr>
        <p:txBody>
          <a:bodyPr/>
          <a:lstStyle/>
          <a:p>
            <a:endParaRPr lang="en-US"/>
          </a:p>
        </p:txBody>
      </p:sp>
      <p:sp>
        <p:nvSpPr>
          <p:cNvPr id="44" name="Rectangle 43">
            <a:extLst>
              <a:ext uri="{FF2B5EF4-FFF2-40B4-BE49-F238E27FC236}">
                <a16:creationId xmlns:a16="http://schemas.microsoft.com/office/drawing/2014/main" id="{E94A1789-40B4-4972-A89D-0584C2FD33C7}"/>
              </a:ext>
            </a:extLst>
          </p:cNvPr>
          <p:cNvSpPr>
            <a:spLocks noGrp="1"/>
          </p:cNvSpPr>
          <p:nvPr/>
        </p:nvSpPr>
        <p:spPr>
          <a:xfrm>
            <a:off x="619125" y="5972175"/>
            <a:ext cx="10953750" cy="171450"/>
          </a:xfrm>
          <a:prstGeom prst="rect">
            <a:avLst/>
          </a:prstGeom>
          <a:noFill/>
          <a:ln w="0">
            <a:noFill/>
            <a:prstDash val="solid"/>
          </a:ln>
        </p:spPr>
        <p:txBody>
          <a:bodyPr/>
          <a:lstStyle/>
          <a:p>
            <a:pPr algn="ctr">
              <a:defRPr sz="1013" b="1" i="0">
                <a:solidFill>
                  <a:srgbClr val="051C2C"/>
                </a:solidFill>
                <a:latin typeface="Aptos"/>
                <a:ea typeface="Aptos"/>
                <a:cs typeface="Aptos"/>
              </a:defRPr>
            </a:pPr>
            <a:r>
              <a:rPr sz="1013" b="1" i="0">
                <a:solidFill>
                  <a:srgbClr val="051C2C"/>
                </a:solidFill>
                <a:latin typeface="Aptos"/>
                <a:ea typeface="Aptos"/>
                <a:cs typeface="Aptos"/>
              </a:rPr>
              <a:t>Interpretation: Zeitvariation ja – strukturelle Ein-Faktor-Abhängigkeit nein. Deshalb bleiben Brent und Zins getrennt steuerbar.</a:t>
            </a:r>
          </a:p>
        </p:txBody>
      </p:sp>
      <p:sp>
        <p:nvSpPr>
          <p:cNvPr id="45" name="Rectangle 44">
            <a:extLst>
              <a:ext uri="{FF2B5EF4-FFF2-40B4-BE49-F238E27FC236}">
                <a16:creationId xmlns:a16="http://schemas.microsoft.com/office/drawing/2014/main" id="{AAD94944-D3F3-4A26-889E-071B639FAA20}"/>
              </a:ext>
            </a:extLst>
          </p:cNvPr>
          <p:cNvSpPr>
            <a:spLocks noGrp="1"/>
          </p:cNvSpPr>
          <p:nvPr/>
        </p:nvSpPr>
        <p:spPr>
          <a:xfrm>
            <a:off x="457200" y="6486525"/>
            <a:ext cx="10382250" cy="152400"/>
          </a:xfrm>
          <a:prstGeom prst="rect">
            <a:avLst/>
          </a:prstGeom>
          <a:noFill/>
          <a:ln w="0">
            <a:noFill/>
            <a:prstDash val="solid"/>
          </a:ln>
        </p:spPr>
        <p:txBody>
          <a:bodyPr/>
          <a:lstStyle/>
          <a:p>
            <a:pPr algn="l">
              <a:defRPr sz="653" b="0" i="0">
                <a:solidFill>
                  <a:srgbClr val="71858F"/>
                </a:solidFill>
                <a:latin typeface="Aptos"/>
                <a:ea typeface="Aptos"/>
                <a:cs typeface="Aptos"/>
              </a:defRPr>
            </a:pPr>
            <a:r>
              <a:rPr sz="653" b="0" i="0">
                <a:solidFill>
                  <a:srgbClr val="71858F"/>
                </a:solidFill>
                <a:latin typeface="Aptos"/>
                <a:ea typeface="Aptos"/>
                <a:cs typeface="Aptos"/>
              </a:rPr>
              <a:t>Quelle: factor_correlation.py · Rolling Window 252 Handelstage · lokale Markt- und Bundesbankdaten</a:t>
            </a:r>
          </a:p>
        </p:txBody>
      </p:sp>
      <p:sp>
        <p:nvSpPr>
          <p:cNvPr id="5" name="CodexSlideNumber">
            <a:extLst>
              <a:ext uri="{FF2B5EF4-FFF2-40B4-BE49-F238E27FC236}">
                <a16:creationId xmlns:a16="http://schemas.microsoft.com/office/drawing/2014/main" id="{96686524-4533-9B79-2747-8C8F2A8E946A}"/>
              </a:ext>
            </a:extLst>
          </p:cNvPr>
          <p:cNvSpPr txBox="1"/>
          <p:nvPr/>
        </p:nvSpPr>
        <p:spPr>
          <a:xfrm>
            <a:off x="11226800" y="6553200"/>
            <a:ext cx="736600" cy="123111"/>
          </a:xfrm>
          <a:prstGeom prst="rect">
            <a:avLst/>
          </a:prstGeom>
          <a:noFill/>
        </p:spPr>
        <p:txBody>
          <a:bodyPr vert="horz" lIns="0" tIns="0" rIns="0" bIns="0" rtlCol="0">
            <a:spAutoFit/>
          </a:bodyPr>
          <a:lstStyle/>
          <a:p>
            <a:pPr algn="r"/>
            <a:r>
              <a:rPr lang="en-US" sz="800">
                <a:solidFill>
                  <a:srgbClr val="525252"/>
                </a:solidFill>
                <a:latin typeface="Arial" panose="020B0604020202020204" pitchFamily="34" charset="0"/>
              </a:rPr>
              <a:t>13 / 64</a:t>
            </a:r>
          </a:p>
        </p:txBody>
      </p:sp>
    </p:spTree>
    <p:extLst>
      <p:ext uri="{BB962C8B-B14F-4D97-AF65-F5344CB8AC3E}">
        <p14:creationId xmlns:p14="http://schemas.microsoft.com/office/powerpoint/2010/main" val="15604470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5502B1F-FE3D-46E1-82AF-B067AB0C148F}"/>
              </a:ext>
            </a:extLst>
          </p:cNvPr>
          <p:cNvSpPr>
            <a:spLocks noGrp="1"/>
          </p:cNvSpPr>
          <p:nvPr/>
        </p:nvSpPr>
        <p:spPr>
          <a:xfrm>
            <a:off x="457200" y="228600"/>
            <a:ext cx="4572000" cy="171450"/>
          </a:xfrm>
          <a:prstGeom prst="rect">
            <a:avLst/>
          </a:prstGeom>
          <a:noFill/>
          <a:ln w="0">
            <a:noFill/>
            <a:prstDash val="solid"/>
          </a:ln>
        </p:spPr>
        <p:txBody>
          <a:bodyPr/>
          <a:lstStyle/>
          <a:p>
            <a:pPr algn="l">
              <a:defRPr sz="863" b="1" i="0">
                <a:solidFill>
                  <a:srgbClr val="A52F4D"/>
                </a:solidFill>
                <a:latin typeface="Aptos"/>
                <a:ea typeface="Aptos"/>
                <a:cs typeface="Aptos"/>
              </a:defRPr>
            </a:pPr>
            <a:r>
              <a:rPr lang="en-GB" sz="863" b="1" i="0" dirty="0">
                <a:solidFill>
                  <a:schemeClr val="tx2"/>
                </a:solidFill>
                <a:latin typeface="Aptos"/>
                <a:ea typeface="Aptos"/>
                <a:cs typeface="Aptos"/>
              </a:rPr>
              <a:t>TRANSMISSION</a:t>
            </a:r>
          </a:p>
        </p:txBody>
      </p:sp>
      <p:sp>
        <p:nvSpPr>
          <p:cNvPr id="3" name="Rectangle 2">
            <a:extLst>
              <a:ext uri="{FF2B5EF4-FFF2-40B4-BE49-F238E27FC236}">
                <a16:creationId xmlns:a16="http://schemas.microsoft.com/office/drawing/2014/main" id="{F6E46F2B-985A-4214-A6C0-04477D9964F9}"/>
              </a:ext>
            </a:extLst>
          </p:cNvPr>
          <p:cNvSpPr>
            <a:spLocks noGrp="1"/>
          </p:cNvSpPr>
          <p:nvPr/>
        </p:nvSpPr>
        <p:spPr>
          <a:xfrm>
            <a:off x="457200" y="457200"/>
            <a:ext cx="11191875" cy="409575"/>
          </a:xfrm>
          <a:prstGeom prst="rect">
            <a:avLst/>
          </a:prstGeom>
          <a:noFill/>
          <a:ln w="0">
            <a:noFill/>
            <a:prstDash val="solid"/>
          </a:ln>
        </p:spPr>
        <p:txBody>
          <a:bodyPr/>
          <a:lstStyle/>
          <a:p>
            <a:pPr algn="l">
              <a:defRPr sz="2475" b="1" i="0">
                <a:solidFill>
                  <a:srgbClr val="051C2C"/>
                </a:solidFill>
                <a:latin typeface="Aptos Display"/>
                <a:ea typeface="Aptos Display"/>
                <a:cs typeface="Aptos Display"/>
              </a:defRPr>
            </a:pPr>
            <a:r>
              <a:rPr sz="2475" b="1" i="0">
                <a:solidFill>
                  <a:srgbClr val="051C2C"/>
                </a:solidFill>
                <a:latin typeface="Aptos Display"/>
                <a:ea typeface="Aptos Display"/>
                <a:cs typeface="Aptos Display"/>
              </a:rPr>
              <a:t>Sektorale β/γ-Werte übersetzen Schocks in PD und LGD</a:t>
            </a:r>
          </a:p>
        </p:txBody>
      </p:sp>
      <p:sp>
        <p:nvSpPr>
          <p:cNvPr id="4" name="Rectangle 3">
            <a:extLst>
              <a:ext uri="{FF2B5EF4-FFF2-40B4-BE49-F238E27FC236}">
                <a16:creationId xmlns:a16="http://schemas.microsoft.com/office/drawing/2014/main" id="{4998D1F8-F346-4BD2-BABE-A2C3DDF1AF28}"/>
              </a:ext>
            </a:extLst>
          </p:cNvPr>
          <p:cNvSpPr>
            <a:spLocks noGrp="1"/>
          </p:cNvSpPr>
          <p:nvPr/>
        </p:nvSpPr>
        <p:spPr>
          <a:xfrm>
            <a:off x="457200" y="914400"/>
            <a:ext cx="11096625" cy="228600"/>
          </a:xfrm>
          <a:prstGeom prst="rect">
            <a:avLst/>
          </a:prstGeom>
          <a:noFill/>
          <a:ln w="0">
            <a:noFill/>
            <a:prstDash val="solid"/>
          </a:ln>
        </p:spPr>
        <p:txBody>
          <a:bodyPr/>
          <a:lstStyle/>
          <a:p>
            <a:pPr algn="l">
              <a:defRPr sz="1125" b="0" i="0">
                <a:solidFill>
                  <a:srgbClr val="4F6875"/>
                </a:solidFill>
                <a:latin typeface="Aptos"/>
                <a:ea typeface="Aptos"/>
                <a:cs typeface="Aptos"/>
              </a:defRPr>
            </a:pPr>
            <a:r>
              <a:rPr sz="1125" b="0" i="0">
                <a:solidFill>
                  <a:srgbClr val="4F6875"/>
                </a:solidFill>
                <a:latin typeface="Aptos"/>
                <a:ea typeface="Aptos"/>
                <a:cs typeface="Aptos"/>
              </a:rPr>
              <a:t>Jede Exposure-Klasse reagiert anders – inklusive positiver Zinswirkung auf Bank-Counterparties über den NIM-Kanal.</a:t>
            </a:r>
          </a:p>
        </p:txBody>
      </p:sp>
      <p:sp>
        <p:nvSpPr>
          <p:cNvPr id="6" name="Rectangle: Rounded Corners 5">
            <a:extLst>
              <a:ext uri="{FF2B5EF4-FFF2-40B4-BE49-F238E27FC236}">
                <a16:creationId xmlns:a16="http://schemas.microsoft.com/office/drawing/2014/main" id="{017F92E9-89A1-443A-9F04-7D6C19601A9F}"/>
              </a:ext>
            </a:extLst>
          </p:cNvPr>
          <p:cNvSpPr>
            <a:spLocks noGrp="1"/>
          </p:cNvSpPr>
          <p:nvPr/>
        </p:nvSpPr>
        <p:spPr>
          <a:xfrm>
            <a:off x="457200" y="1381125"/>
            <a:ext cx="11277600" cy="819150"/>
          </a:xfrm>
          <a:prstGeom prst="roundRect">
            <a:avLst>
              <a:gd name="adj" fmla="val 13953"/>
            </a:avLst>
          </a:prstGeom>
          <a:solidFill>
            <a:srgbClr val="051C2C"/>
          </a:solidFill>
          <a:ln w="9525">
            <a:solidFill>
              <a:srgbClr val="051C2C"/>
            </a:solidFill>
            <a:prstDash val="solid"/>
          </a:ln>
        </p:spPr>
        <p:txBody>
          <a:bodyPr/>
          <a:lstStyle/>
          <a:p>
            <a:endParaRPr lang="en-US"/>
          </a:p>
        </p:txBody>
      </p:sp>
      <p:sp>
        <p:nvSpPr>
          <p:cNvPr id="7" name="Rectangle 6">
            <a:extLst>
              <a:ext uri="{FF2B5EF4-FFF2-40B4-BE49-F238E27FC236}">
                <a16:creationId xmlns:a16="http://schemas.microsoft.com/office/drawing/2014/main" id="{10436E7B-4417-435C-8EC3-F12C090EBDFB}"/>
              </a:ext>
            </a:extLst>
          </p:cNvPr>
          <p:cNvSpPr>
            <a:spLocks noGrp="1"/>
          </p:cNvSpPr>
          <p:nvPr/>
        </p:nvSpPr>
        <p:spPr>
          <a:xfrm>
            <a:off x="742950" y="1562100"/>
            <a:ext cx="4953000" cy="342900"/>
          </a:xfrm>
          <a:prstGeom prst="rect">
            <a:avLst/>
          </a:prstGeom>
          <a:noFill/>
          <a:ln w="0">
            <a:noFill/>
            <a:prstDash val="solid"/>
          </a:ln>
        </p:spPr>
        <p:txBody>
          <a:bodyPr/>
          <a:lstStyle/>
          <a:p>
            <a:pPr algn="ctr">
              <a:defRPr sz="1650" b="1" i="0">
                <a:solidFill>
                  <a:srgbClr val="FFFFFF"/>
                </a:solidFill>
                <a:latin typeface="Aptos Display"/>
                <a:ea typeface="Aptos Display"/>
                <a:cs typeface="Aptos Display"/>
              </a:defRPr>
            </a:pPr>
            <a:r>
              <a:rPr sz="1650" b="1" i="0">
                <a:solidFill>
                  <a:srgbClr val="FFFFFF"/>
                </a:solidFill>
                <a:latin typeface="Aptos Display"/>
                <a:ea typeface="Aptos Display"/>
                <a:cs typeface="Aptos Display"/>
              </a:rPr>
              <a:t>ΔPDKlasse = βoil × ΔBrent + βrate × Δr10Y</a:t>
            </a:r>
          </a:p>
        </p:txBody>
      </p:sp>
      <p:sp>
        <p:nvSpPr>
          <p:cNvPr id="8" name="Rectangle 7">
            <a:extLst>
              <a:ext uri="{FF2B5EF4-FFF2-40B4-BE49-F238E27FC236}">
                <a16:creationId xmlns:a16="http://schemas.microsoft.com/office/drawing/2014/main" id="{7D9F644D-DD8B-429E-ABD8-4CE82D26343D}"/>
              </a:ext>
            </a:extLst>
          </p:cNvPr>
          <p:cNvSpPr>
            <a:spLocks noGrp="1"/>
          </p:cNvSpPr>
          <p:nvPr/>
        </p:nvSpPr>
        <p:spPr>
          <a:xfrm>
            <a:off x="6238875" y="1562100"/>
            <a:ext cx="4953000" cy="342900"/>
          </a:xfrm>
          <a:prstGeom prst="rect">
            <a:avLst/>
          </a:prstGeom>
          <a:noFill/>
          <a:ln w="0">
            <a:noFill/>
            <a:prstDash val="solid"/>
          </a:ln>
        </p:spPr>
        <p:txBody>
          <a:bodyPr/>
          <a:lstStyle/>
          <a:p>
            <a:pPr algn="ctr">
              <a:defRPr sz="1650" b="1" i="0">
                <a:solidFill>
                  <a:srgbClr val="FFFFFF"/>
                </a:solidFill>
                <a:latin typeface="Aptos Display"/>
                <a:ea typeface="Aptos Display"/>
                <a:cs typeface="Aptos Display"/>
              </a:defRPr>
            </a:pPr>
            <a:r>
              <a:rPr sz="1650" b="1" i="0">
                <a:solidFill>
                  <a:srgbClr val="FFFFFF"/>
                </a:solidFill>
                <a:latin typeface="Aptos Display"/>
                <a:ea typeface="Aptos Display"/>
                <a:cs typeface="Aptos Display"/>
              </a:rPr>
              <a:t>ΔLGDKlasse = γoil × ΔBrent + γrate × Δr10Y</a:t>
            </a:r>
          </a:p>
        </p:txBody>
      </p:sp>
      <p:sp>
        <p:nvSpPr>
          <p:cNvPr id="9" name="Rectangle 8">
            <a:extLst>
              <a:ext uri="{FF2B5EF4-FFF2-40B4-BE49-F238E27FC236}">
                <a16:creationId xmlns:a16="http://schemas.microsoft.com/office/drawing/2014/main" id="{11C0ECCD-334B-493B-9882-EC532B7F43AF}"/>
              </a:ext>
            </a:extLst>
          </p:cNvPr>
          <p:cNvSpPr>
            <a:spLocks noGrp="1"/>
          </p:cNvSpPr>
          <p:nvPr/>
        </p:nvSpPr>
        <p:spPr>
          <a:xfrm>
            <a:off x="457200" y="2381250"/>
            <a:ext cx="2428875" cy="323850"/>
          </a:xfrm>
          <a:prstGeom prst="rect">
            <a:avLst/>
          </a:prstGeom>
          <a:solidFill>
            <a:srgbClr val="051C2C"/>
          </a:solidFill>
          <a:ln w="0">
            <a:noFill/>
            <a:prstDash val="solid"/>
          </a:ln>
        </p:spPr>
        <p:txBody>
          <a:bodyPr/>
          <a:lstStyle/>
          <a:p>
            <a:endParaRPr lang="en-US"/>
          </a:p>
        </p:txBody>
      </p:sp>
      <p:sp>
        <p:nvSpPr>
          <p:cNvPr id="10" name="Rectangle 9">
            <a:extLst>
              <a:ext uri="{FF2B5EF4-FFF2-40B4-BE49-F238E27FC236}">
                <a16:creationId xmlns:a16="http://schemas.microsoft.com/office/drawing/2014/main" id="{9D428447-3A17-4C70-93EB-5435FFA559E0}"/>
              </a:ext>
            </a:extLst>
          </p:cNvPr>
          <p:cNvSpPr>
            <a:spLocks noGrp="1"/>
          </p:cNvSpPr>
          <p:nvPr/>
        </p:nvSpPr>
        <p:spPr>
          <a:xfrm>
            <a:off x="504825" y="2466975"/>
            <a:ext cx="2333625" cy="161925"/>
          </a:xfrm>
          <a:prstGeom prst="rect">
            <a:avLst/>
          </a:prstGeom>
          <a:noFill/>
          <a:ln w="0">
            <a:noFill/>
            <a:prstDash val="solid"/>
          </a:ln>
        </p:spPr>
        <p:txBody>
          <a:bodyPr/>
          <a:lstStyle/>
          <a:p>
            <a:pPr algn="l">
              <a:defRPr sz="788" b="1" i="0">
                <a:solidFill>
                  <a:srgbClr val="FFFFFF"/>
                </a:solidFill>
                <a:latin typeface="Aptos"/>
                <a:ea typeface="Aptos"/>
                <a:cs typeface="Aptos"/>
              </a:defRPr>
            </a:pPr>
            <a:r>
              <a:rPr sz="788" b="1" i="0">
                <a:solidFill>
                  <a:srgbClr val="FFFFFF"/>
                </a:solidFill>
                <a:latin typeface="Aptos"/>
                <a:ea typeface="Aptos"/>
                <a:cs typeface="Aptos"/>
              </a:rPr>
              <a:t>Exposure-Klasse</a:t>
            </a:r>
          </a:p>
        </p:txBody>
      </p:sp>
      <p:sp>
        <p:nvSpPr>
          <p:cNvPr id="11" name="Rectangle 10">
            <a:extLst>
              <a:ext uri="{FF2B5EF4-FFF2-40B4-BE49-F238E27FC236}">
                <a16:creationId xmlns:a16="http://schemas.microsoft.com/office/drawing/2014/main" id="{DC984526-3145-43BC-B27E-04515596B44B}"/>
              </a:ext>
            </a:extLst>
          </p:cNvPr>
          <p:cNvSpPr>
            <a:spLocks noGrp="1"/>
          </p:cNvSpPr>
          <p:nvPr/>
        </p:nvSpPr>
        <p:spPr>
          <a:xfrm>
            <a:off x="3000375" y="2381250"/>
            <a:ext cx="1409700" cy="323850"/>
          </a:xfrm>
          <a:prstGeom prst="rect">
            <a:avLst/>
          </a:prstGeom>
          <a:solidFill>
            <a:srgbClr val="051C2C"/>
          </a:solidFill>
          <a:ln w="0">
            <a:noFill/>
            <a:prstDash val="solid"/>
          </a:ln>
        </p:spPr>
        <p:txBody>
          <a:bodyPr/>
          <a:lstStyle/>
          <a:p>
            <a:endParaRPr lang="en-US"/>
          </a:p>
        </p:txBody>
      </p:sp>
      <p:sp>
        <p:nvSpPr>
          <p:cNvPr id="12" name="Rectangle 11">
            <a:extLst>
              <a:ext uri="{FF2B5EF4-FFF2-40B4-BE49-F238E27FC236}">
                <a16:creationId xmlns:a16="http://schemas.microsoft.com/office/drawing/2014/main" id="{E6D07300-CE81-4CAC-ADC5-3F3F0307430A}"/>
              </a:ext>
            </a:extLst>
          </p:cNvPr>
          <p:cNvSpPr>
            <a:spLocks noGrp="1"/>
          </p:cNvSpPr>
          <p:nvPr/>
        </p:nvSpPr>
        <p:spPr>
          <a:xfrm>
            <a:off x="3048000" y="2466975"/>
            <a:ext cx="1314450" cy="161925"/>
          </a:xfrm>
          <a:prstGeom prst="rect">
            <a:avLst/>
          </a:prstGeom>
          <a:noFill/>
          <a:ln w="0">
            <a:noFill/>
            <a:prstDash val="solid"/>
          </a:ln>
        </p:spPr>
        <p:txBody>
          <a:bodyPr/>
          <a:lstStyle/>
          <a:p>
            <a:pPr algn="ctr">
              <a:defRPr sz="788" b="1" i="0">
                <a:solidFill>
                  <a:srgbClr val="FFFFFF"/>
                </a:solidFill>
                <a:latin typeface="Aptos"/>
                <a:ea typeface="Aptos"/>
                <a:cs typeface="Aptos"/>
              </a:defRPr>
            </a:pPr>
            <a:r>
              <a:rPr sz="788" b="1" i="0">
                <a:solidFill>
                  <a:srgbClr val="FFFFFF"/>
                </a:solidFill>
                <a:latin typeface="Aptos"/>
                <a:ea typeface="Aptos"/>
                <a:cs typeface="Aptos"/>
              </a:rPr>
              <a:t>β Oil · PD</a:t>
            </a:r>
          </a:p>
        </p:txBody>
      </p:sp>
      <p:sp>
        <p:nvSpPr>
          <p:cNvPr id="13" name="Rectangle 12">
            <a:extLst>
              <a:ext uri="{FF2B5EF4-FFF2-40B4-BE49-F238E27FC236}">
                <a16:creationId xmlns:a16="http://schemas.microsoft.com/office/drawing/2014/main" id="{8ABB4C98-B71B-4566-B6F4-FFDC19E6DCD4}"/>
              </a:ext>
            </a:extLst>
          </p:cNvPr>
          <p:cNvSpPr>
            <a:spLocks noGrp="1"/>
          </p:cNvSpPr>
          <p:nvPr/>
        </p:nvSpPr>
        <p:spPr>
          <a:xfrm>
            <a:off x="4524375" y="2381250"/>
            <a:ext cx="1409700" cy="323850"/>
          </a:xfrm>
          <a:prstGeom prst="rect">
            <a:avLst/>
          </a:prstGeom>
          <a:solidFill>
            <a:srgbClr val="051C2C"/>
          </a:solidFill>
          <a:ln w="0">
            <a:noFill/>
            <a:prstDash val="solid"/>
          </a:ln>
        </p:spPr>
        <p:txBody>
          <a:bodyPr/>
          <a:lstStyle/>
          <a:p>
            <a:endParaRPr lang="en-US"/>
          </a:p>
        </p:txBody>
      </p:sp>
      <p:sp>
        <p:nvSpPr>
          <p:cNvPr id="14" name="Rectangle 13">
            <a:extLst>
              <a:ext uri="{FF2B5EF4-FFF2-40B4-BE49-F238E27FC236}">
                <a16:creationId xmlns:a16="http://schemas.microsoft.com/office/drawing/2014/main" id="{343C3C77-3CBB-44FF-8881-77FC0B5A0011}"/>
              </a:ext>
            </a:extLst>
          </p:cNvPr>
          <p:cNvSpPr>
            <a:spLocks noGrp="1"/>
          </p:cNvSpPr>
          <p:nvPr/>
        </p:nvSpPr>
        <p:spPr>
          <a:xfrm>
            <a:off x="4572000" y="2466975"/>
            <a:ext cx="1314450" cy="161925"/>
          </a:xfrm>
          <a:prstGeom prst="rect">
            <a:avLst/>
          </a:prstGeom>
          <a:noFill/>
          <a:ln w="0">
            <a:noFill/>
            <a:prstDash val="solid"/>
          </a:ln>
        </p:spPr>
        <p:txBody>
          <a:bodyPr/>
          <a:lstStyle/>
          <a:p>
            <a:pPr algn="ctr">
              <a:defRPr sz="788" b="1" i="0">
                <a:solidFill>
                  <a:srgbClr val="FFFFFF"/>
                </a:solidFill>
                <a:latin typeface="Aptos"/>
                <a:ea typeface="Aptos"/>
                <a:cs typeface="Aptos"/>
              </a:defRPr>
            </a:pPr>
            <a:r>
              <a:rPr sz="788" b="1" i="0">
                <a:solidFill>
                  <a:srgbClr val="FFFFFF"/>
                </a:solidFill>
                <a:latin typeface="Aptos"/>
                <a:ea typeface="Aptos"/>
                <a:cs typeface="Aptos"/>
              </a:rPr>
              <a:t>β Rate · PD</a:t>
            </a:r>
          </a:p>
        </p:txBody>
      </p:sp>
      <p:sp>
        <p:nvSpPr>
          <p:cNvPr id="15" name="Rectangle 14">
            <a:extLst>
              <a:ext uri="{FF2B5EF4-FFF2-40B4-BE49-F238E27FC236}">
                <a16:creationId xmlns:a16="http://schemas.microsoft.com/office/drawing/2014/main" id="{27B43CF7-852E-4BA6-A38D-A08003C16499}"/>
              </a:ext>
            </a:extLst>
          </p:cNvPr>
          <p:cNvSpPr>
            <a:spLocks noGrp="1"/>
          </p:cNvSpPr>
          <p:nvPr/>
        </p:nvSpPr>
        <p:spPr>
          <a:xfrm>
            <a:off x="6048375" y="2381250"/>
            <a:ext cx="1409700" cy="323850"/>
          </a:xfrm>
          <a:prstGeom prst="rect">
            <a:avLst/>
          </a:prstGeom>
          <a:solidFill>
            <a:srgbClr val="051C2C"/>
          </a:solidFill>
          <a:ln w="0">
            <a:noFill/>
            <a:prstDash val="solid"/>
          </a:ln>
        </p:spPr>
        <p:txBody>
          <a:bodyPr/>
          <a:lstStyle/>
          <a:p>
            <a:endParaRPr lang="en-US"/>
          </a:p>
        </p:txBody>
      </p:sp>
      <p:sp>
        <p:nvSpPr>
          <p:cNvPr id="16" name="Rectangle 15">
            <a:extLst>
              <a:ext uri="{FF2B5EF4-FFF2-40B4-BE49-F238E27FC236}">
                <a16:creationId xmlns:a16="http://schemas.microsoft.com/office/drawing/2014/main" id="{54321325-4C9D-4E02-9650-F0E15F3B7B80}"/>
              </a:ext>
            </a:extLst>
          </p:cNvPr>
          <p:cNvSpPr>
            <a:spLocks noGrp="1"/>
          </p:cNvSpPr>
          <p:nvPr/>
        </p:nvSpPr>
        <p:spPr>
          <a:xfrm>
            <a:off x="6096000" y="2466975"/>
            <a:ext cx="1314450" cy="161925"/>
          </a:xfrm>
          <a:prstGeom prst="rect">
            <a:avLst/>
          </a:prstGeom>
          <a:noFill/>
          <a:ln w="0">
            <a:noFill/>
            <a:prstDash val="solid"/>
          </a:ln>
        </p:spPr>
        <p:txBody>
          <a:bodyPr/>
          <a:lstStyle/>
          <a:p>
            <a:pPr algn="ctr">
              <a:defRPr sz="788" b="1" i="0">
                <a:solidFill>
                  <a:srgbClr val="FFFFFF"/>
                </a:solidFill>
                <a:latin typeface="Aptos"/>
                <a:ea typeface="Aptos"/>
                <a:cs typeface="Aptos"/>
              </a:defRPr>
            </a:pPr>
            <a:r>
              <a:rPr sz="788" b="1" i="0">
                <a:solidFill>
                  <a:srgbClr val="FFFFFF"/>
                </a:solidFill>
                <a:latin typeface="Aptos"/>
                <a:ea typeface="Aptos"/>
                <a:cs typeface="Aptos"/>
              </a:rPr>
              <a:t>γ Oil · LGD</a:t>
            </a:r>
          </a:p>
        </p:txBody>
      </p:sp>
      <p:sp>
        <p:nvSpPr>
          <p:cNvPr id="17" name="Rectangle 16">
            <a:extLst>
              <a:ext uri="{FF2B5EF4-FFF2-40B4-BE49-F238E27FC236}">
                <a16:creationId xmlns:a16="http://schemas.microsoft.com/office/drawing/2014/main" id="{69ABA657-0092-44DD-914F-66D9D6FED4A4}"/>
              </a:ext>
            </a:extLst>
          </p:cNvPr>
          <p:cNvSpPr>
            <a:spLocks noGrp="1"/>
          </p:cNvSpPr>
          <p:nvPr/>
        </p:nvSpPr>
        <p:spPr>
          <a:xfrm>
            <a:off x="7572375" y="2381250"/>
            <a:ext cx="1409700" cy="323850"/>
          </a:xfrm>
          <a:prstGeom prst="rect">
            <a:avLst/>
          </a:prstGeom>
          <a:solidFill>
            <a:srgbClr val="051C2C"/>
          </a:solidFill>
          <a:ln w="0">
            <a:noFill/>
            <a:prstDash val="solid"/>
          </a:ln>
        </p:spPr>
        <p:txBody>
          <a:bodyPr/>
          <a:lstStyle/>
          <a:p>
            <a:endParaRPr lang="en-US"/>
          </a:p>
        </p:txBody>
      </p:sp>
      <p:sp>
        <p:nvSpPr>
          <p:cNvPr id="18" name="Rectangle 17">
            <a:extLst>
              <a:ext uri="{FF2B5EF4-FFF2-40B4-BE49-F238E27FC236}">
                <a16:creationId xmlns:a16="http://schemas.microsoft.com/office/drawing/2014/main" id="{56BCCEDA-A4DA-43F0-B4E9-7090FF9A8386}"/>
              </a:ext>
            </a:extLst>
          </p:cNvPr>
          <p:cNvSpPr>
            <a:spLocks noGrp="1"/>
          </p:cNvSpPr>
          <p:nvPr/>
        </p:nvSpPr>
        <p:spPr>
          <a:xfrm>
            <a:off x="7620000" y="2466975"/>
            <a:ext cx="1314450" cy="161925"/>
          </a:xfrm>
          <a:prstGeom prst="rect">
            <a:avLst/>
          </a:prstGeom>
          <a:noFill/>
          <a:ln w="0">
            <a:noFill/>
            <a:prstDash val="solid"/>
          </a:ln>
        </p:spPr>
        <p:txBody>
          <a:bodyPr/>
          <a:lstStyle/>
          <a:p>
            <a:pPr algn="ctr">
              <a:defRPr sz="788" b="1" i="0">
                <a:solidFill>
                  <a:srgbClr val="FFFFFF"/>
                </a:solidFill>
                <a:latin typeface="Aptos"/>
                <a:ea typeface="Aptos"/>
                <a:cs typeface="Aptos"/>
              </a:defRPr>
            </a:pPr>
            <a:r>
              <a:rPr sz="788" b="1" i="0">
                <a:solidFill>
                  <a:srgbClr val="FFFFFF"/>
                </a:solidFill>
                <a:latin typeface="Aptos"/>
                <a:ea typeface="Aptos"/>
                <a:cs typeface="Aptos"/>
              </a:rPr>
              <a:t>γ Rate · LGD</a:t>
            </a:r>
          </a:p>
        </p:txBody>
      </p:sp>
      <p:sp>
        <p:nvSpPr>
          <p:cNvPr id="19" name="Rectangle 18">
            <a:extLst>
              <a:ext uri="{FF2B5EF4-FFF2-40B4-BE49-F238E27FC236}">
                <a16:creationId xmlns:a16="http://schemas.microsoft.com/office/drawing/2014/main" id="{DB007FE6-7D75-4B95-91F8-15ABC2C78200}"/>
              </a:ext>
            </a:extLst>
          </p:cNvPr>
          <p:cNvSpPr>
            <a:spLocks noGrp="1"/>
          </p:cNvSpPr>
          <p:nvPr/>
        </p:nvSpPr>
        <p:spPr>
          <a:xfrm>
            <a:off x="9096375" y="2381250"/>
            <a:ext cx="2638425" cy="323850"/>
          </a:xfrm>
          <a:prstGeom prst="rect">
            <a:avLst/>
          </a:prstGeom>
          <a:solidFill>
            <a:srgbClr val="051C2C"/>
          </a:solidFill>
          <a:ln w="0">
            <a:noFill/>
            <a:prstDash val="solid"/>
          </a:ln>
        </p:spPr>
        <p:txBody>
          <a:bodyPr/>
          <a:lstStyle/>
          <a:p>
            <a:endParaRPr lang="en-US"/>
          </a:p>
        </p:txBody>
      </p:sp>
      <p:sp>
        <p:nvSpPr>
          <p:cNvPr id="20" name="Rectangle 19">
            <a:extLst>
              <a:ext uri="{FF2B5EF4-FFF2-40B4-BE49-F238E27FC236}">
                <a16:creationId xmlns:a16="http://schemas.microsoft.com/office/drawing/2014/main" id="{87224E02-65AB-40D0-8514-9E14BA99E585}"/>
              </a:ext>
            </a:extLst>
          </p:cNvPr>
          <p:cNvSpPr>
            <a:spLocks noGrp="1"/>
          </p:cNvSpPr>
          <p:nvPr/>
        </p:nvSpPr>
        <p:spPr>
          <a:xfrm>
            <a:off x="9144000" y="2466975"/>
            <a:ext cx="2543175" cy="161925"/>
          </a:xfrm>
          <a:prstGeom prst="rect">
            <a:avLst/>
          </a:prstGeom>
          <a:noFill/>
          <a:ln w="0">
            <a:noFill/>
            <a:prstDash val="solid"/>
          </a:ln>
        </p:spPr>
        <p:txBody>
          <a:bodyPr/>
          <a:lstStyle/>
          <a:p>
            <a:pPr algn="l">
              <a:defRPr sz="788" b="1" i="0">
                <a:solidFill>
                  <a:srgbClr val="FFFFFF"/>
                </a:solidFill>
                <a:latin typeface="Aptos"/>
                <a:ea typeface="Aptos"/>
                <a:cs typeface="Aptos"/>
              </a:defRPr>
            </a:pPr>
            <a:r>
              <a:rPr sz="788" b="1" i="0">
                <a:solidFill>
                  <a:srgbClr val="FFFFFF"/>
                </a:solidFill>
                <a:latin typeface="Aptos"/>
                <a:ea typeface="Aptos"/>
                <a:cs typeface="Aptos"/>
              </a:rPr>
              <a:t>Ökonomisches Profil</a:t>
            </a:r>
          </a:p>
        </p:txBody>
      </p:sp>
      <p:sp>
        <p:nvSpPr>
          <p:cNvPr id="21" name="Rectangle 20">
            <a:extLst>
              <a:ext uri="{FF2B5EF4-FFF2-40B4-BE49-F238E27FC236}">
                <a16:creationId xmlns:a16="http://schemas.microsoft.com/office/drawing/2014/main" id="{5D161B55-8786-463D-9EDA-1004FBEA0B38}"/>
              </a:ext>
            </a:extLst>
          </p:cNvPr>
          <p:cNvSpPr>
            <a:spLocks noGrp="1"/>
          </p:cNvSpPr>
          <p:nvPr/>
        </p:nvSpPr>
        <p:spPr>
          <a:xfrm>
            <a:off x="457200" y="2705100"/>
            <a:ext cx="2428875" cy="409575"/>
          </a:xfrm>
          <a:prstGeom prst="rect">
            <a:avLst/>
          </a:prstGeom>
          <a:solidFill>
            <a:srgbClr val="FFFFFF"/>
          </a:solidFill>
          <a:ln w="4763">
            <a:solidFill>
              <a:srgbClr val="D5E0E5"/>
            </a:solidFill>
            <a:prstDash val="solid"/>
          </a:ln>
        </p:spPr>
        <p:txBody>
          <a:bodyPr/>
          <a:lstStyle/>
          <a:p>
            <a:endParaRPr lang="en-US"/>
          </a:p>
        </p:txBody>
      </p:sp>
      <p:sp>
        <p:nvSpPr>
          <p:cNvPr id="22" name="Rectangle 21">
            <a:extLst>
              <a:ext uri="{FF2B5EF4-FFF2-40B4-BE49-F238E27FC236}">
                <a16:creationId xmlns:a16="http://schemas.microsoft.com/office/drawing/2014/main" id="{8A6546DF-8495-4D32-9A37-B34850347894}"/>
              </a:ext>
            </a:extLst>
          </p:cNvPr>
          <p:cNvSpPr>
            <a:spLocks noGrp="1"/>
          </p:cNvSpPr>
          <p:nvPr/>
        </p:nvSpPr>
        <p:spPr>
          <a:xfrm>
            <a:off x="523875" y="2828925"/>
            <a:ext cx="2295525" cy="171450"/>
          </a:xfrm>
          <a:prstGeom prst="rect">
            <a:avLst/>
          </a:prstGeom>
          <a:noFill/>
          <a:ln w="0">
            <a:noFill/>
            <a:prstDash val="solid"/>
          </a:ln>
        </p:spPr>
        <p:txBody>
          <a:bodyPr/>
          <a:lstStyle/>
          <a:p>
            <a:pPr algn="l">
              <a:defRPr sz="863" b="1" i="0">
                <a:solidFill>
                  <a:srgbClr val="162E3B"/>
                </a:solidFill>
                <a:latin typeface="Aptos"/>
                <a:ea typeface="Aptos"/>
                <a:cs typeface="Aptos"/>
              </a:defRPr>
            </a:pPr>
            <a:r>
              <a:rPr sz="863" b="1" i="0">
                <a:solidFill>
                  <a:srgbClr val="162E3B"/>
                </a:solidFill>
                <a:latin typeface="Aptos"/>
                <a:ea typeface="Aptos"/>
                <a:cs typeface="Aptos"/>
              </a:rPr>
              <a:t>Corporate</a:t>
            </a:r>
          </a:p>
        </p:txBody>
      </p:sp>
      <p:sp>
        <p:nvSpPr>
          <p:cNvPr id="23" name="Rectangle 22">
            <a:extLst>
              <a:ext uri="{FF2B5EF4-FFF2-40B4-BE49-F238E27FC236}">
                <a16:creationId xmlns:a16="http://schemas.microsoft.com/office/drawing/2014/main" id="{AC1ACCF9-68DB-4233-9371-AC6D2655F0D4}"/>
              </a:ext>
            </a:extLst>
          </p:cNvPr>
          <p:cNvSpPr>
            <a:spLocks noGrp="1"/>
          </p:cNvSpPr>
          <p:nvPr/>
        </p:nvSpPr>
        <p:spPr>
          <a:xfrm>
            <a:off x="3000375" y="2705100"/>
            <a:ext cx="1409700" cy="409575"/>
          </a:xfrm>
          <a:prstGeom prst="rect">
            <a:avLst/>
          </a:prstGeom>
          <a:solidFill>
            <a:srgbClr val="FFFFFF"/>
          </a:solidFill>
          <a:ln w="4763">
            <a:solidFill>
              <a:srgbClr val="D5E0E5"/>
            </a:solidFill>
            <a:prstDash val="solid"/>
          </a:ln>
        </p:spPr>
        <p:txBody>
          <a:bodyPr/>
          <a:lstStyle/>
          <a:p>
            <a:endParaRPr lang="en-US"/>
          </a:p>
        </p:txBody>
      </p:sp>
      <p:sp>
        <p:nvSpPr>
          <p:cNvPr id="24" name="Rectangle 23">
            <a:extLst>
              <a:ext uri="{FF2B5EF4-FFF2-40B4-BE49-F238E27FC236}">
                <a16:creationId xmlns:a16="http://schemas.microsoft.com/office/drawing/2014/main" id="{F34B4F6F-B596-4548-9BE2-3CC1E4240389}"/>
              </a:ext>
            </a:extLst>
          </p:cNvPr>
          <p:cNvSpPr>
            <a:spLocks noGrp="1"/>
          </p:cNvSpPr>
          <p:nvPr/>
        </p:nvSpPr>
        <p:spPr>
          <a:xfrm>
            <a:off x="3067050" y="2828925"/>
            <a:ext cx="1276350" cy="171450"/>
          </a:xfrm>
          <a:prstGeom prst="rect">
            <a:avLst/>
          </a:prstGeom>
          <a:noFill/>
          <a:ln w="0">
            <a:noFill/>
            <a:prstDash val="solid"/>
          </a:ln>
        </p:spPr>
        <p:txBody>
          <a:bodyPr/>
          <a:lstStyle/>
          <a:p>
            <a:pPr algn="ctr">
              <a:defRPr sz="863" b="0" i="0">
                <a:solidFill>
                  <a:srgbClr val="162E3B"/>
                </a:solidFill>
                <a:latin typeface="Aptos"/>
                <a:ea typeface="Aptos"/>
                <a:cs typeface="Aptos"/>
              </a:defRPr>
            </a:pPr>
            <a:r>
              <a:rPr sz="863" b="0" i="0">
                <a:solidFill>
                  <a:srgbClr val="162E3B"/>
                </a:solidFill>
                <a:latin typeface="Aptos"/>
                <a:ea typeface="Aptos"/>
                <a:cs typeface="Aptos"/>
              </a:rPr>
              <a:t>+0,30</a:t>
            </a:r>
          </a:p>
        </p:txBody>
      </p:sp>
      <p:sp>
        <p:nvSpPr>
          <p:cNvPr id="25" name="Rectangle 24">
            <a:extLst>
              <a:ext uri="{FF2B5EF4-FFF2-40B4-BE49-F238E27FC236}">
                <a16:creationId xmlns:a16="http://schemas.microsoft.com/office/drawing/2014/main" id="{848C1373-24C8-4AAB-8A5E-A60EA2C96CBB}"/>
              </a:ext>
            </a:extLst>
          </p:cNvPr>
          <p:cNvSpPr>
            <a:spLocks noGrp="1"/>
          </p:cNvSpPr>
          <p:nvPr/>
        </p:nvSpPr>
        <p:spPr>
          <a:xfrm>
            <a:off x="4524375" y="2705100"/>
            <a:ext cx="1409700" cy="409575"/>
          </a:xfrm>
          <a:prstGeom prst="rect">
            <a:avLst/>
          </a:prstGeom>
          <a:solidFill>
            <a:srgbClr val="FFFFFF"/>
          </a:solidFill>
          <a:ln w="4763">
            <a:solidFill>
              <a:srgbClr val="D5E0E5"/>
            </a:solidFill>
            <a:prstDash val="solid"/>
          </a:ln>
        </p:spPr>
        <p:txBody>
          <a:bodyPr/>
          <a:lstStyle/>
          <a:p>
            <a:endParaRPr lang="en-US"/>
          </a:p>
        </p:txBody>
      </p:sp>
      <p:sp>
        <p:nvSpPr>
          <p:cNvPr id="26" name="Rectangle 25">
            <a:extLst>
              <a:ext uri="{FF2B5EF4-FFF2-40B4-BE49-F238E27FC236}">
                <a16:creationId xmlns:a16="http://schemas.microsoft.com/office/drawing/2014/main" id="{A41D7927-E1DF-46AA-8BB6-12633B947E79}"/>
              </a:ext>
            </a:extLst>
          </p:cNvPr>
          <p:cNvSpPr>
            <a:spLocks noGrp="1"/>
          </p:cNvSpPr>
          <p:nvPr/>
        </p:nvSpPr>
        <p:spPr>
          <a:xfrm>
            <a:off x="4591050" y="2828925"/>
            <a:ext cx="1276350" cy="171450"/>
          </a:xfrm>
          <a:prstGeom prst="rect">
            <a:avLst/>
          </a:prstGeom>
          <a:noFill/>
          <a:ln w="0">
            <a:noFill/>
            <a:prstDash val="solid"/>
          </a:ln>
        </p:spPr>
        <p:txBody>
          <a:bodyPr/>
          <a:lstStyle/>
          <a:p>
            <a:pPr algn="ctr">
              <a:defRPr sz="863" b="0" i="0">
                <a:solidFill>
                  <a:srgbClr val="162E3B"/>
                </a:solidFill>
                <a:latin typeface="Aptos"/>
                <a:ea typeface="Aptos"/>
                <a:cs typeface="Aptos"/>
              </a:defRPr>
            </a:pPr>
            <a:r>
              <a:rPr sz="863" b="0" i="0">
                <a:solidFill>
                  <a:srgbClr val="162E3B"/>
                </a:solidFill>
                <a:latin typeface="Aptos"/>
                <a:ea typeface="Aptos"/>
                <a:cs typeface="Aptos"/>
              </a:rPr>
              <a:t>+0,20</a:t>
            </a:r>
          </a:p>
        </p:txBody>
      </p:sp>
      <p:sp>
        <p:nvSpPr>
          <p:cNvPr id="27" name="Rectangle 26">
            <a:extLst>
              <a:ext uri="{FF2B5EF4-FFF2-40B4-BE49-F238E27FC236}">
                <a16:creationId xmlns:a16="http://schemas.microsoft.com/office/drawing/2014/main" id="{E8E04064-B971-4EF4-A780-58A74BA904F6}"/>
              </a:ext>
            </a:extLst>
          </p:cNvPr>
          <p:cNvSpPr>
            <a:spLocks noGrp="1"/>
          </p:cNvSpPr>
          <p:nvPr/>
        </p:nvSpPr>
        <p:spPr>
          <a:xfrm>
            <a:off x="6048375" y="2705100"/>
            <a:ext cx="1409700" cy="409575"/>
          </a:xfrm>
          <a:prstGeom prst="rect">
            <a:avLst/>
          </a:prstGeom>
          <a:solidFill>
            <a:srgbClr val="FFFFFF"/>
          </a:solidFill>
          <a:ln w="4763">
            <a:solidFill>
              <a:srgbClr val="D5E0E5"/>
            </a:solidFill>
            <a:prstDash val="solid"/>
          </a:ln>
        </p:spPr>
        <p:txBody>
          <a:bodyPr/>
          <a:lstStyle/>
          <a:p>
            <a:endParaRPr lang="en-US"/>
          </a:p>
        </p:txBody>
      </p:sp>
      <p:sp>
        <p:nvSpPr>
          <p:cNvPr id="28" name="Rectangle 27">
            <a:extLst>
              <a:ext uri="{FF2B5EF4-FFF2-40B4-BE49-F238E27FC236}">
                <a16:creationId xmlns:a16="http://schemas.microsoft.com/office/drawing/2014/main" id="{E6C71FD8-F9D6-4069-8BD4-1D76732E7F7B}"/>
              </a:ext>
            </a:extLst>
          </p:cNvPr>
          <p:cNvSpPr>
            <a:spLocks noGrp="1"/>
          </p:cNvSpPr>
          <p:nvPr/>
        </p:nvSpPr>
        <p:spPr>
          <a:xfrm>
            <a:off x="6115050" y="2828925"/>
            <a:ext cx="1276350" cy="171450"/>
          </a:xfrm>
          <a:prstGeom prst="rect">
            <a:avLst/>
          </a:prstGeom>
          <a:noFill/>
          <a:ln w="0">
            <a:noFill/>
            <a:prstDash val="solid"/>
          </a:ln>
        </p:spPr>
        <p:txBody>
          <a:bodyPr/>
          <a:lstStyle/>
          <a:p>
            <a:pPr algn="ctr">
              <a:defRPr sz="863" b="0" i="0">
                <a:solidFill>
                  <a:srgbClr val="162E3B"/>
                </a:solidFill>
                <a:latin typeface="Aptos"/>
                <a:ea typeface="Aptos"/>
                <a:cs typeface="Aptos"/>
              </a:defRPr>
            </a:pPr>
            <a:r>
              <a:rPr sz="863" b="0" i="0">
                <a:solidFill>
                  <a:srgbClr val="162E3B"/>
                </a:solidFill>
                <a:latin typeface="Aptos"/>
                <a:ea typeface="Aptos"/>
                <a:cs typeface="Aptos"/>
              </a:rPr>
              <a:t>+0,50</a:t>
            </a:r>
          </a:p>
        </p:txBody>
      </p:sp>
      <p:sp>
        <p:nvSpPr>
          <p:cNvPr id="29" name="Rectangle 28">
            <a:extLst>
              <a:ext uri="{FF2B5EF4-FFF2-40B4-BE49-F238E27FC236}">
                <a16:creationId xmlns:a16="http://schemas.microsoft.com/office/drawing/2014/main" id="{7B3295B7-540E-492D-9184-3B82B7C3E91E}"/>
              </a:ext>
            </a:extLst>
          </p:cNvPr>
          <p:cNvSpPr>
            <a:spLocks noGrp="1"/>
          </p:cNvSpPr>
          <p:nvPr/>
        </p:nvSpPr>
        <p:spPr>
          <a:xfrm>
            <a:off x="7572375" y="2705100"/>
            <a:ext cx="1409700" cy="409575"/>
          </a:xfrm>
          <a:prstGeom prst="rect">
            <a:avLst/>
          </a:prstGeom>
          <a:solidFill>
            <a:srgbClr val="FFFFFF"/>
          </a:solidFill>
          <a:ln w="4763">
            <a:solidFill>
              <a:srgbClr val="D5E0E5"/>
            </a:solidFill>
            <a:prstDash val="solid"/>
          </a:ln>
        </p:spPr>
        <p:txBody>
          <a:bodyPr/>
          <a:lstStyle/>
          <a:p>
            <a:endParaRPr lang="en-US"/>
          </a:p>
        </p:txBody>
      </p:sp>
      <p:sp>
        <p:nvSpPr>
          <p:cNvPr id="30" name="Rectangle 29">
            <a:extLst>
              <a:ext uri="{FF2B5EF4-FFF2-40B4-BE49-F238E27FC236}">
                <a16:creationId xmlns:a16="http://schemas.microsoft.com/office/drawing/2014/main" id="{CD7E982C-5805-4C06-8B2A-17B9B224894D}"/>
              </a:ext>
            </a:extLst>
          </p:cNvPr>
          <p:cNvSpPr>
            <a:spLocks noGrp="1"/>
          </p:cNvSpPr>
          <p:nvPr/>
        </p:nvSpPr>
        <p:spPr>
          <a:xfrm>
            <a:off x="7639050" y="2828925"/>
            <a:ext cx="1276350" cy="171450"/>
          </a:xfrm>
          <a:prstGeom prst="rect">
            <a:avLst/>
          </a:prstGeom>
          <a:noFill/>
          <a:ln w="0">
            <a:noFill/>
            <a:prstDash val="solid"/>
          </a:ln>
        </p:spPr>
        <p:txBody>
          <a:bodyPr/>
          <a:lstStyle/>
          <a:p>
            <a:pPr algn="ctr">
              <a:defRPr sz="863" b="0" i="0">
                <a:solidFill>
                  <a:srgbClr val="162E3B"/>
                </a:solidFill>
                <a:latin typeface="Aptos"/>
                <a:ea typeface="Aptos"/>
                <a:cs typeface="Aptos"/>
              </a:defRPr>
            </a:pPr>
            <a:r>
              <a:rPr sz="863" b="0" i="0">
                <a:solidFill>
                  <a:srgbClr val="162E3B"/>
                </a:solidFill>
                <a:latin typeface="Aptos"/>
                <a:ea typeface="Aptos"/>
                <a:cs typeface="Aptos"/>
              </a:rPr>
              <a:t>+1,00</a:t>
            </a:r>
          </a:p>
        </p:txBody>
      </p:sp>
      <p:sp>
        <p:nvSpPr>
          <p:cNvPr id="31" name="Rectangle 30">
            <a:extLst>
              <a:ext uri="{FF2B5EF4-FFF2-40B4-BE49-F238E27FC236}">
                <a16:creationId xmlns:a16="http://schemas.microsoft.com/office/drawing/2014/main" id="{4378B8AC-A36A-41CF-A5C3-09A87B596C48}"/>
              </a:ext>
            </a:extLst>
          </p:cNvPr>
          <p:cNvSpPr>
            <a:spLocks noGrp="1"/>
          </p:cNvSpPr>
          <p:nvPr/>
        </p:nvSpPr>
        <p:spPr>
          <a:xfrm>
            <a:off x="9096375" y="2705100"/>
            <a:ext cx="2638425" cy="409575"/>
          </a:xfrm>
          <a:prstGeom prst="rect">
            <a:avLst/>
          </a:prstGeom>
          <a:solidFill>
            <a:srgbClr val="FFFFFF"/>
          </a:solidFill>
          <a:ln w="4763">
            <a:solidFill>
              <a:srgbClr val="D5E0E5"/>
            </a:solidFill>
            <a:prstDash val="solid"/>
          </a:ln>
        </p:spPr>
        <p:txBody>
          <a:bodyPr/>
          <a:lstStyle/>
          <a:p>
            <a:endParaRPr lang="en-US"/>
          </a:p>
        </p:txBody>
      </p:sp>
      <p:sp>
        <p:nvSpPr>
          <p:cNvPr id="32" name="Rectangle 31">
            <a:extLst>
              <a:ext uri="{FF2B5EF4-FFF2-40B4-BE49-F238E27FC236}">
                <a16:creationId xmlns:a16="http://schemas.microsoft.com/office/drawing/2014/main" id="{64629E90-CC34-4EE7-BA44-62FDAC023307}"/>
              </a:ext>
            </a:extLst>
          </p:cNvPr>
          <p:cNvSpPr>
            <a:spLocks noGrp="1"/>
          </p:cNvSpPr>
          <p:nvPr/>
        </p:nvSpPr>
        <p:spPr>
          <a:xfrm>
            <a:off x="9163050" y="2828925"/>
            <a:ext cx="2505075" cy="171450"/>
          </a:xfrm>
          <a:prstGeom prst="rect">
            <a:avLst/>
          </a:prstGeom>
          <a:noFill/>
          <a:ln w="0">
            <a:noFill/>
            <a:prstDash val="solid"/>
          </a:ln>
        </p:spPr>
        <p:txBody>
          <a:bodyPr/>
          <a:lstStyle/>
          <a:p>
            <a:pPr algn="l">
              <a:defRPr sz="863" b="0" i="0">
                <a:solidFill>
                  <a:srgbClr val="162E3B"/>
                </a:solidFill>
                <a:latin typeface="Aptos"/>
                <a:ea typeface="Aptos"/>
                <a:cs typeface="Aptos"/>
              </a:defRPr>
            </a:pPr>
            <a:r>
              <a:rPr sz="863" b="0" i="0">
                <a:solidFill>
                  <a:srgbClr val="162E3B"/>
                </a:solidFill>
                <a:latin typeface="Aptos"/>
                <a:ea typeface="Aptos"/>
                <a:cs typeface="Aptos"/>
              </a:rPr>
              <a:t>Kosten + Refinanzierung</a:t>
            </a:r>
          </a:p>
        </p:txBody>
      </p:sp>
      <p:sp>
        <p:nvSpPr>
          <p:cNvPr id="33" name="Rectangle 32">
            <a:extLst>
              <a:ext uri="{FF2B5EF4-FFF2-40B4-BE49-F238E27FC236}">
                <a16:creationId xmlns:a16="http://schemas.microsoft.com/office/drawing/2014/main" id="{B875F54D-4C85-44FE-A816-2DCEF7D362AA}"/>
              </a:ext>
            </a:extLst>
          </p:cNvPr>
          <p:cNvSpPr>
            <a:spLocks noGrp="1"/>
          </p:cNvSpPr>
          <p:nvPr/>
        </p:nvSpPr>
        <p:spPr>
          <a:xfrm>
            <a:off x="457200" y="3114675"/>
            <a:ext cx="2428875" cy="409575"/>
          </a:xfrm>
          <a:prstGeom prst="rect">
            <a:avLst/>
          </a:prstGeom>
          <a:solidFill>
            <a:srgbClr val="F8FAFB"/>
          </a:solidFill>
          <a:ln w="4763">
            <a:solidFill>
              <a:srgbClr val="D5E0E5"/>
            </a:solidFill>
            <a:prstDash val="solid"/>
          </a:ln>
        </p:spPr>
        <p:txBody>
          <a:bodyPr/>
          <a:lstStyle/>
          <a:p>
            <a:endParaRPr lang="en-US"/>
          </a:p>
        </p:txBody>
      </p:sp>
      <p:sp>
        <p:nvSpPr>
          <p:cNvPr id="34" name="Rectangle 33">
            <a:extLst>
              <a:ext uri="{FF2B5EF4-FFF2-40B4-BE49-F238E27FC236}">
                <a16:creationId xmlns:a16="http://schemas.microsoft.com/office/drawing/2014/main" id="{C8028550-7F70-40FB-BAD2-4D5B35CD921D}"/>
              </a:ext>
            </a:extLst>
          </p:cNvPr>
          <p:cNvSpPr>
            <a:spLocks noGrp="1"/>
          </p:cNvSpPr>
          <p:nvPr/>
        </p:nvSpPr>
        <p:spPr>
          <a:xfrm>
            <a:off x="523875" y="3238500"/>
            <a:ext cx="2295525" cy="171450"/>
          </a:xfrm>
          <a:prstGeom prst="rect">
            <a:avLst/>
          </a:prstGeom>
          <a:noFill/>
          <a:ln w="0">
            <a:noFill/>
            <a:prstDash val="solid"/>
          </a:ln>
        </p:spPr>
        <p:txBody>
          <a:bodyPr/>
          <a:lstStyle/>
          <a:p>
            <a:pPr algn="l">
              <a:defRPr sz="863" b="1" i="0">
                <a:solidFill>
                  <a:srgbClr val="162E3B"/>
                </a:solidFill>
                <a:latin typeface="Aptos"/>
                <a:ea typeface="Aptos"/>
                <a:cs typeface="Aptos"/>
              </a:defRPr>
            </a:pPr>
            <a:r>
              <a:rPr sz="863" b="1" i="0">
                <a:solidFill>
                  <a:srgbClr val="162E3B"/>
                </a:solidFill>
                <a:latin typeface="Aptos"/>
                <a:ea typeface="Aptos"/>
                <a:cs typeface="Aptos"/>
              </a:rPr>
              <a:t>SME Corporate</a:t>
            </a:r>
          </a:p>
        </p:txBody>
      </p:sp>
      <p:sp>
        <p:nvSpPr>
          <p:cNvPr id="35" name="Rectangle 34">
            <a:extLst>
              <a:ext uri="{FF2B5EF4-FFF2-40B4-BE49-F238E27FC236}">
                <a16:creationId xmlns:a16="http://schemas.microsoft.com/office/drawing/2014/main" id="{D84BF44C-84DD-415B-91E6-908A34F28AC5}"/>
              </a:ext>
            </a:extLst>
          </p:cNvPr>
          <p:cNvSpPr>
            <a:spLocks noGrp="1"/>
          </p:cNvSpPr>
          <p:nvPr/>
        </p:nvSpPr>
        <p:spPr>
          <a:xfrm>
            <a:off x="3000375" y="3114675"/>
            <a:ext cx="1409700" cy="409575"/>
          </a:xfrm>
          <a:prstGeom prst="rect">
            <a:avLst/>
          </a:prstGeom>
          <a:solidFill>
            <a:srgbClr val="F8FAFB"/>
          </a:solidFill>
          <a:ln w="4763">
            <a:solidFill>
              <a:srgbClr val="D5E0E5"/>
            </a:solidFill>
            <a:prstDash val="solid"/>
          </a:ln>
        </p:spPr>
        <p:txBody>
          <a:bodyPr/>
          <a:lstStyle/>
          <a:p>
            <a:endParaRPr lang="en-US"/>
          </a:p>
        </p:txBody>
      </p:sp>
      <p:sp>
        <p:nvSpPr>
          <p:cNvPr id="36" name="Rectangle 35">
            <a:extLst>
              <a:ext uri="{FF2B5EF4-FFF2-40B4-BE49-F238E27FC236}">
                <a16:creationId xmlns:a16="http://schemas.microsoft.com/office/drawing/2014/main" id="{F8DCA8D3-A79D-4469-AF97-7D13069AB8C7}"/>
              </a:ext>
            </a:extLst>
          </p:cNvPr>
          <p:cNvSpPr>
            <a:spLocks noGrp="1"/>
          </p:cNvSpPr>
          <p:nvPr/>
        </p:nvSpPr>
        <p:spPr>
          <a:xfrm>
            <a:off x="3067050" y="3238500"/>
            <a:ext cx="1276350" cy="171450"/>
          </a:xfrm>
          <a:prstGeom prst="rect">
            <a:avLst/>
          </a:prstGeom>
          <a:noFill/>
          <a:ln w="0">
            <a:noFill/>
            <a:prstDash val="solid"/>
          </a:ln>
        </p:spPr>
        <p:txBody>
          <a:bodyPr/>
          <a:lstStyle/>
          <a:p>
            <a:pPr algn="ctr">
              <a:defRPr sz="863" b="0" i="0">
                <a:solidFill>
                  <a:srgbClr val="162E3B"/>
                </a:solidFill>
                <a:latin typeface="Aptos"/>
                <a:ea typeface="Aptos"/>
                <a:cs typeface="Aptos"/>
              </a:defRPr>
            </a:pPr>
            <a:r>
              <a:rPr sz="863" b="0" i="0">
                <a:solidFill>
                  <a:srgbClr val="162E3B"/>
                </a:solidFill>
                <a:latin typeface="Aptos"/>
                <a:ea typeface="Aptos"/>
                <a:cs typeface="Aptos"/>
              </a:rPr>
              <a:t>+0,60</a:t>
            </a:r>
          </a:p>
        </p:txBody>
      </p:sp>
      <p:sp>
        <p:nvSpPr>
          <p:cNvPr id="37" name="Rectangle 36">
            <a:extLst>
              <a:ext uri="{FF2B5EF4-FFF2-40B4-BE49-F238E27FC236}">
                <a16:creationId xmlns:a16="http://schemas.microsoft.com/office/drawing/2014/main" id="{7EF1BED6-B448-4955-B15E-60779B1BA08C}"/>
              </a:ext>
            </a:extLst>
          </p:cNvPr>
          <p:cNvSpPr>
            <a:spLocks noGrp="1"/>
          </p:cNvSpPr>
          <p:nvPr/>
        </p:nvSpPr>
        <p:spPr>
          <a:xfrm>
            <a:off x="4524375" y="3114675"/>
            <a:ext cx="1409700" cy="409575"/>
          </a:xfrm>
          <a:prstGeom prst="rect">
            <a:avLst/>
          </a:prstGeom>
          <a:solidFill>
            <a:srgbClr val="F8FAFB"/>
          </a:solidFill>
          <a:ln w="4763">
            <a:solidFill>
              <a:srgbClr val="D5E0E5"/>
            </a:solidFill>
            <a:prstDash val="solid"/>
          </a:ln>
        </p:spPr>
        <p:txBody>
          <a:bodyPr/>
          <a:lstStyle/>
          <a:p>
            <a:endParaRPr lang="en-US"/>
          </a:p>
        </p:txBody>
      </p:sp>
      <p:sp>
        <p:nvSpPr>
          <p:cNvPr id="38" name="Rectangle 37">
            <a:extLst>
              <a:ext uri="{FF2B5EF4-FFF2-40B4-BE49-F238E27FC236}">
                <a16:creationId xmlns:a16="http://schemas.microsoft.com/office/drawing/2014/main" id="{A0D9C52E-B34A-4CE3-9F89-ED40AD1F2F99}"/>
              </a:ext>
            </a:extLst>
          </p:cNvPr>
          <p:cNvSpPr>
            <a:spLocks noGrp="1"/>
          </p:cNvSpPr>
          <p:nvPr/>
        </p:nvSpPr>
        <p:spPr>
          <a:xfrm>
            <a:off x="4591050" y="3238500"/>
            <a:ext cx="1276350" cy="171450"/>
          </a:xfrm>
          <a:prstGeom prst="rect">
            <a:avLst/>
          </a:prstGeom>
          <a:noFill/>
          <a:ln w="0">
            <a:noFill/>
            <a:prstDash val="solid"/>
          </a:ln>
        </p:spPr>
        <p:txBody>
          <a:bodyPr/>
          <a:lstStyle/>
          <a:p>
            <a:pPr algn="ctr">
              <a:defRPr sz="863" b="0" i="0">
                <a:solidFill>
                  <a:srgbClr val="162E3B"/>
                </a:solidFill>
                <a:latin typeface="Aptos"/>
                <a:ea typeface="Aptos"/>
                <a:cs typeface="Aptos"/>
              </a:defRPr>
            </a:pPr>
            <a:r>
              <a:rPr sz="863" b="0" i="0">
                <a:solidFill>
                  <a:srgbClr val="162E3B"/>
                </a:solidFill>
                <a:latin typeface="Aptos"/>
                <a:ea typeface="Aptos"/>
                <a:cs typeface="Aptos"/>
              </a:rPr>
              <a:t>+0,40</a:t>
            </a:r>
          </a:p>
        </p:txBody>
      </p:sp>
      <p:sp>
        <p:nvSpPr>
          <p:cNvPr id="39" name="Rectangle 38">
            <a:extLst>
              <a:ext uri="{FF2B5EF4-FFF2-40B4-BE49-F238E27FC236}">
                <a16:creationId xmlns:a16="http://schemas.microsoft.com/office/drawing/2014/main" id="{8796B184-0CB2-4FBD-9F25-B73A85F0F273}"/>
              </a:ext>
            </a:extLst>
          </p:cNvPr>
          <p:cNvSpPr>
            <a:spLocks noGrp="1"/>
          </p:cNvSpPr>
          <p:nvPr/>
        </p:nvSpPr>
        <p:spPr>
          <a:xfrm>
            <a:off x="6048375" y="3114675"/>
            <a:ext cx="1409700" cy="409575"/>
          </a:xfrm>
          <a:prstGeom prst="rect">
            <a:avLst/>
          </a:prstGeom>
          <a:solidFill>
            <a:srgbClr val="F8FAFB"/>
          </a:solidFill>
          <a:ln w="4763">
            <a:solidFill>
              <a:srgbClr val="D5E0E5"/>
            </a:solidFill>
            <a:prstDash val="solid"/>
          </a:ln>
        </p:spPr>
        <p:txBody>
          <a:bodyPr/>
          <a:lstStyle/>
          <a:p>
            <a:endParaRPr lang="en-US"/>
          </a:p>
        </p:txBody>
      </p:sp>
      <p:sp>
        <p:nvSpPr>
          <p:cNvPr id="40" name="Rectangle 39">
            <a:extLst>
              <a:ext uri="{FF2B5EF4-FFF2-40B4-BE49-F238E27FC236}">
                <a16:creationId xmlns:a16="http://schemas.microsoft.com/office/drawing/2014/main" id="{E9B7F3E1-4B53-4EF8-A9BB-2A3A9F2BFE50}"/>
              </a:ext>
            </a:extLst>
          </p:cNvPr>
          <p:cNvSpPr>
            <a:spLocks noGrp="1"/>
          </p:cNvSpPr>
          <p:nvPr/>
        </p:nvSpPr>
        <p:spPr>
          <a:xfrm>
            <a:off x="6115050" y="3238500"/>
            <a:ext cx="1276350" cy="171450"/>
          </a:xfrm>
          <a:prstGeom prst="rect">
            <a:avLst/>
          </a:prstGeom>
          <a:noFill/>
          <a:ln w="0">
            <a:noFill/>
            <a:prstDash val="solid"/>
          </a:ln>
        </p:spPr>
        <p:txBody>
          <a:bodyPr/>
          <a:lstStyle/>
          <a:p>
            <a:pPr algn="ctr">
              <a:defRPr sz="863" b="0" i="0">
                <a:solidFill>
                  <a:srgbClr val="162E3B"/>
                </a:solidFill>
                <a:latin typeface="Aptos"/>
                <a:ea typeface="Aptos"/>
                <a:cs typeface="Aptos"/>
              </a:defRPr>
            </a:pPr>
            <a:r>
              <a:rPr sz="863" b="0" i="0">
                <a:solidFill>
                  <a:srgbClr val="162E3B"/>
                </a:solidFill>
                <a:latin typeface="Aptos"/>
                <a:ea typeface="Aptos"/>
                <a:cs typeface="Aptos"/>
              </a:rPr>
              <a:t>+0,45</a:t>
            </a:r>
          </a:p>
        </p:txBody>
      </p:sp>
      <p:sp>
        <p:nvSpPr>
          <p:cNvPr id="41" name="Rectangle 40">
            <a:extLst>
              <a:ext uri="{FF2B5EF4-FFF2-40B4-BE49-F238E27FC236}">
                <a16:creationId xmlns:a16="http://schemas.microsoft.com/office/drawing/2014/main" id="{DDE2E626-57A2-4700-8CD9-2791229BA16A}"/>
              </a:ext>
            </a:extLst>
          </p:cNvPr>
          <p:cNvSpPr>
            <a:spLocks noGrp="1"/>
          </p:cNvSpPr>
          <p:nvPr/>
        </p:nvSpPr>
        <p:spPr>
          <a:xfrm>
            <a:off x="7572375" y="3114675"/>
            <a:ext cx="1409700" cy="409575"/>
          </a:xfrm>
          <a:prstGeom prst="rect">
            <a:avLst/>
          </a:prstGeom>
          <a:solidFill>
            <a:srgbClr val="F8FAFB"/>
          </a:solidFill>
          <a:ln w="4763">
            <a:solidFill>
              <a:srgbClr val="D5E0E5"/>
            </a:solidFill>
            <a:prstDash val="solid"/>
          </a:ln>
        </p:spPr>
        <p:txBody>
          <a:bodyPr/>
          <a:lstStyle/>
          <a:p>
            <a:endParaRPr lang="en-US"/>
          </a:p>
        </p:txBody>
      </p:sp>
      <p:sp>
        <p:nvSpPr>
          <p:cNvPr id="42" name="Rectangle 41">
            <a:extLst>
              <a:ext uri="{FF2B5EF4-FFF2-40B4-BE49-F238E27FC236}">
                <a16:creationId xmlns:a16="http://schemas.microsoft.com/office/drawing/2014/main" id="{230090E4-6C9C-45EB-9F1D-F235F09993F7}"/>
              </a:ext>
            </a:extLst>
          </p:cNvPr>
          <p:cNvSpPr>
            <a:spLocks noGrp="1"/>
          </p:cNvSpPr>
          <p:nvPr/>
        </p:nvSpPr>
        <p:spPr>
          <a:xfrm>
            <a:off x="7639050" y="3238500"/>
            <a:ext cx="1276350" cy="171450"/>
          </a:xfrm>
          <a:prstGeom prst="rect">
            <a:avLst/>
          </a:prstGeom>
          <a:noFill/>
          <a:ln w="0">
            <a:noFill/>
            <a:prstDash val="solid"/>
          </a:ln>
        </p:spPr>
        <p:txBody>
          <a:bodyPr/>
          <a:lstStyle/>
          <a:p>
            <a:pPr algn="ctr">
              <a:defRPr sz="863" b="0" i="0">
                <a:solidFill>
                  <a:srgbClr val="162E3B"/>
                </a:solidFill>
                <a:latin typeface="Aptos"/>
                <a:ea typeface="Aptos"/>
                <a:cs typeface="Aptos"/>
              </a:defRPr>
            </a:pPr>
            <a:r>
              <a:rPr sz="863" b="0" i="0">
                <a:solidFill>
                  <a:srgbClr val="162E3B"/>
                </a:solidFill>
                <a:latin typeface="Aptos"/>
                <a:ea typeface="Aptos"/>
                <a:cs typeface="Aptos"/>
              </a:rPr>
              <a:t>+1,10</a:t>
            </a:r>
          </a:p>
        </p:txBody>
      </p:sp>
      <p:sp>
        <p:nvSpPr>
          <p:cNvPr id="43" name="Rectangle 42">
            <a:extLst>
              <a:ext uri="{FF2B5EF4-FFF2-40B4-BE49-F238E27FC236}">
                <a16:creationId xmlns:a16="http://schemas.microsoft.com/office/drawing/2014/main" id="{06A638BB-8BC5-4B8E-ADEB-615F0855E25F}"/>
              </a:ext>
            </a:extLst>
          </p:cNvPr>
          <p:cNvSpPr>
            <a:spLocks noGrp="1"/>
          </p:cNvSpPr>
          <p:nvPr/>
        </p:nvSpPr>
        <p:spPr>
          <a:xfrm>
            <a:off x="9096375" y="3114675"/>
            <a:ext cx="2638425" cy="409575"/>
          </a:xfrm>
          <a:prstGeom prst="rect">
            <a:avLst/>
          </a:prstGeom>
          <a:solidFill>
            <a:srgbClr val="F8FAFB"/>
          </a:solidFill>
          <a:ln w="4763">
            <a:solidFill>
              <a:srgbClr val="D5E0E5"/>
            </a:solidFill>
            <a:prstDash val="solid"/>
          </a:ln>
        </p:spPr>
        <p:txBody>
          <a:bodyPr/>
          <a:lstStyle/>
          <a:p>
            <a:endParaRPr lang="en-US"/>
          </a:p>
        </p:txBody>
      </p:sp>
      <p:sp>
        <p:nvSpPr>
          <p:cNvPr id="44" name="Rectangle 43">
            <a:extLst>
              <a:ext uri="{FF2B5EF4-FFF2-40B4-BE49-F238E27FC236}">
                <a16:creationId xmlns:a16="http://schemas.microsoft.com/office/drawing/2014/main" id="{544B222A-908F-431F-B594-7318B4ACA014}"/>
              </a:ext>
            </a:extLst>
          </p:cNvPr>
          <p:cNvSpPr>
            <a:spLocks noGrp="1"/>
          </p:cNvSpPr>
          <p:nvPr/>
        </p:nvSpPr>
        <p:spPr>
          <a:xfrm>
            <a:off x="9163050" y="3238500"/>
            <a:ext cx="2505075" cy="171450"/>
          </a:xfrm>
          <a:prstGeom prst="rect">
            <a:avLst/>
          </a:prstGeom>
          <a:noFill/>
          <a:ln w="0">
            <a:noFill/>
            <a:prstDash val="solid"/>
          </a:ln>
        </p:spPr>
        <p:txBody>
          <a:bodyPr/>
          <a:lstStyle/>
          <a:p>
            <a:pPr algn="l">
              <a:defRPr sz="863" b="0" i="0">
                <a:solidFill>
                  <a:srgbClr val="162E3B"/>
                </a:solidFill>
                <a:latin typeface="Aptos"/>
                <a:ea typeface="Aptos"/>
                <a:cs typeface="Aptos"/>
              </a:defRPr>
            </a:pPr>
            <a:r>
              <a:rPr sz="863" b="0" i="0">
                <a:solidFill>
                  <a:srgbClr val="162E3B"/>
                </a:solidFill>
                <a:latin typeface="Aptos"/>
                <a:ea typeface="Aptos"/>
                <a:cs typeface="Aptos"/>
              </a:rPr>
              <a:t>rund 2× Corporate</a:t>
            </a:r>
          </a:p>
        </p:txBody>
      </p:sp>
      <p:sp>
        <p:nvSpPr>
          <p:cNvPr id="45" name="Rectangle 44">
            <a:extLst>
              <a:ext uri="{FF2B5EF4-FFF2-40B4-BE49-F238E27FC236}">
                <a16:creationId xmlns:a16="http://schemas.microsoft.com/office/drawing/2014/main" id="{123B5390-5091-47E4-945D-67C47260518B}"/>
              </a:ext>
            </a:extLst>
          </p:cNvPr>
          <p:cNvSpPr>
            <a:spLocks noGrp="1"/>
          </p:cNvSpPr>
          <p:nvPr/>
        </p:nvSpPr>
        <p:spPr>
          <a:xfrm>
            <a:off x="457200" y="3524250"/>
            <a:ext cx="2428875" cy="409575"/>
          </a:xfrm>
          <a:prstGeom prst="rect">
            <a:avLst/>
          </a:prstGeom>
          <a:solidFill>
            <a:srgbClr val="FFFFFF"/>
          </a:solidFill>
          <a:ln w="4763">
            <a:solidFill>
              <a:srgbClr val="D5E0E5"/>
            </a:solidFill>
            <a:prstDash val="solid"/>
          </a:ln>
        </p:spPr>
        <p:txBody>
          <a:bodyPr/>
          <a:lstStyle/>
          <a:p>
            <a:endParaRPr lang="en-US"/>
          </a:p>
        </p:txBody>
      </p:sp>
      <p:sp>
        <p:nvSpPr>
          <p:cNvPr id="46" name="Rectangle 45">
            <a:extLst>
              <a:ext uri="{FF2B5EF4-FFF2-40B4-BE49-F238E27FC236}">
                <a16:creationId xmlns:a16="http://schemas.microsoft.com/office/drawing/2014/main" id="{D5B5C181-54B9-482E-A075-0A36F6F6E702}"/>
              </a:ext>
            </a:extLst>
          </p:cNvPr>
          <p:cNvSpPr>
            <a:spLocks noGrp="1"/>
          </p:cNvSpPr>
          <p:nvPr/>
        </p:nvSpPr>
        <p:spPr>
          <a:xfrm>
            <a:off x="523875" y="3648075"/>
            <a:ext cx="2295525" cy="171450"/>
          </a:xfrm>
          <a:prstGeom prst="rect">
            <a:avLst/>
          </a:prstGeom>
          <a:noFill/>
          <a:ln w="0">
            <a:noFill/>
            <a:prstDash val="solid"/>
          </a:ln>
        </p:spPr>
        <p:txBody>
          <a:bodyPr/>
          <a:lstStyle/>
          <a:p>
            <a:pPr algn="l">
              <a:defRPr sz="863" b="1" i="0">
                <a:solidFill>
                  <a:srgbClr val="162E3B"/>
                </a:solidFill>
                <a:latin typeface="Aptos"/>
                <a:ea typeface="Aptos"/>
                <a:cs typeface="Aptos"/>
              </a:defRPr>
            </a:pPr>
            <a:r>
              <a:rPr sz="863" b="1" i="0">
                <a:solidFill>
                  <a:srgbClr val="162E3B"/>
                </a:solidFill>
                <a:latin typeface="Aptos"/>
                <a:ea typeface="Aptos"/>
                <a:cs typeface="Aptos"/>
              </a:rPr>
              <a:t>Mortgage</a:t>
            </a:r>
          </a:p>
        </p:txBody>
      </p:sp>
      <p:sp>
        <p:nvSpPr>
          <p:cNvPr id="47" name="Rectangle 46">
            <a:extLst>
              <a:ext uri="{FF2B5EF4-FFF2-40B4-BE49-F238E27FC236}">
                <a16:creationId xmlns:a16="http://schemas.microsoft.com/office/drawing/2014/main" id="{0074C309-74AC-4C14-95E3-9FDA6DA83C4F}"/>
              </a:ext>
            </a:extLst>
          </p:cNvPr>
          <p:cNvSpPr>
            <a:spLocks noGrp="1"/>
          </p:cNvSpPr>
          <p:nvPr/>
        </p:nvSpPr>
        <p:spPr>
          <a:xfrm>
            <a:off x="3000375" y="3524250"/>
            <a:ext cx="1409700" cy="409575"/>
          </a:xfrm>
          <a:prstGeom prst="rect">
            <a:avLst/>
          </a:prstGeom>
          <a:solidFill>
            <a:srgbClr val="FFFFFF"/>
          </a:solidFill>
          <a:ln w="4763">
            <a:solidFill>
              <a:srgbClr val="D5E0E5"/>
            </a:solidFill>
            <a:prstDash val="solid"/>
          </a:ln>
        </p:spPr>
        <p:txBody>
          <a:bodyPr/>
          <a:lstStyle/>
          <a:p>
            <a:endParaRPr lang="en-US"/>
          </a:p>
        </p:txBody>
      </p:sp>
      <p:sp>
        <p:nvSpPr>
          <p:cNvPr id="48" name="Rectangle 47">
            <a:extLst>
              <a:ext uri="{FF2B5EF4-FFF2-40B4-BE49-F238E27FC236}">
                <a16:creationId xmlns:a16="http://schemas.microsoft.com/office/drawing/2014/main" id="{2B8DB10F-DBFF-40ED-A4AD-F96DC03E9818}"/>
              </a:ext>
            </a:extLst>
          </p:cNvPr>
          <p:cNvSpPr>
            <a:spLocks noGrp="1"/>
          </p:cNvSpPr>
          <p:nvPr/>
        </p:nvSpPr>
        <p:spPr>
          <a:xfrm>
            <a:off x="3067050" y="3648075"/>
            <a:ext cx="1276350" cy="171450"/>
          </a:xfrm>
          <a:prstGeom prst="rect">
            <a:avLst/>
          </a:prstGeom>
          <a:noFill/>
          <a:ln w="0">
            <a:noFill/>
            <a:prstDash val="solid"/>
          </a:ln>
        </p:spPr>
        <p:txBody>
          <a:bodyPr/>
          <a:lstStyle/>
          <a:p>
            <a:pPr algn="ctr">
              <a:defRPr sz="863" b="0" i="0">
                <a:solidFill>
                  <a:srgbClr val="162E3B"/>
                </a:solidFill>
                <a:latin typeface="Aptos"/>
                <a:ea typeface="Aptos"/>
                <a:cs typeface="Aptos"/>
              </a:defRPr>
            </a:pPr>
            <a:r>
              <a:rPr sz="863" b="0" i="0">
                <a:solidFill>
                  <a:srgbClr val="162E3B"/>
                </a:solidFill>
                <a:latin typeface="Aptos"/>
                <a:ea typeface="Aptos"/>
                <a:cs typeface="Aptos"/>
              </a:rPr>
              <a:t>+0,05</a:t>
            </a:r>
          </a:p>
        </p:txBody>
      </p:sp>
      <p:sp>
        <p:nvSpPr>
          <p:cNvPr id="49" name="Rectangle 48">
            <a:extLst>
              <a:ext uri="{FF2B5EF4-FFF2-40B4-BE49-F238E27FC236}">
                <a16:creationId xmlns:a16="http://schemas.microsoft.com/office/drawing/2014/main" id="{E4AE8BF2-AE31-48F4-B38E-3FA0A4E59B6C}"/>
              </a:ext>
            </a:extLst>
          </p:cNvPr>
          <p:cNvSpPr>
            <a:spLocks noGrp="1"/>
          </p:cNvSpPr>
          <p:nvPr/>
        </p:nvSpPr>
        <p:spPr>
          <a:xfrm>
            <a:off x="4524375" y="3524250"/>
            <a:ext cx="1409700" cy="409575"/>
          </a:xfrm>
          <a:prstGeom prst="rect">
            <a:avLst/>
          </a:prstGeom>
          <a:solidFill>
            <a:srgbClr val="FFFFFF"/>
          </a:solidFill>
          <a:ln w="4763">
            <a:solidFill>
              <a:srgbClr val="D5E0E5"/>
            </a:solidFill>
            <a:prstDash val="solid"/>
          </a:ln>
        </p:spPr>
        <p:txBody>
          <a:bodyPr/>
          <a:lstStyle/>
          <a:p>
            <a:endParaRPr lang="en-US"/>
          </a:p>
        </p:txBody>
      </p:sp>
      <p:sp>
        <p:nvSpPr>
          <p:cNvPr id="50" name="Rectangle 49">
            <a:extLst>
              <a:ext uri="{FF2B5EF4-FFF2-40B4-BE49-F238E27FC236}">
                <a16:creationId xmlns:a16="http://schemas.microsoft.com/office/drawing/2014/main" id="{FE33B8FF-B06A-4B48-B165-7D51A5499201}"/>
              </a:ext>
            </a:extLst>
          </p:cNvPr>
          <p:cNvSpPr>
            <a:spLocks noGrp="1"/>
          </p:cNvSpPr>
          <p:nvPr/>
        </p:nvSpPr>
        <p:spPr>
          <a:xfrm>
            <a:off x="4591050" y="3648075"/>
            <a:ext cx="1276350" cy="171450"/>
          </a:xfrm>
          <a:prstGeom prst="rect">
            <a:avLst/>
          </a:prstGeom>
          <a:noFill/>
          <a:ln w="0">
            <a:noFill/>
            <a:prstDash val="solid"/>
          </a:ln>
        </p:spPr>
        <p:txBody>
          <a:bodyPr/>
          <a:lstStyle/>
          <a:p>
            <a:pPr algn="ctr">
              <a:defRPr sz="863" b="0" i="0">
                <a:solidFill>
                  <a:srgbClr val="162E3B"/>
                </a:solidFill>
                <a:latin typeface="Aptos"/>
                <a:ea typeface="Aptos"/>
                <a:cs typeface="Aptos"/>
              </a:defRPr>
            </a:pPr>
            <a:r>
              <a:rPr sz="863" b="0" i="0">
                <a:solidFill>
                  <a:srgbClr val="162E3B"/>
                </a:solidFill>
                <a:latin typeface="Aptos"/>
                <a:ea typeface="Aptos"/>
                <a:cs typeface="Aptos"/>
              </a:rPr>
              <a:t>+0,30</a:t>
            </a:r>
          </a:p>
        </p:txBody>
      </p:sp>
      <p:sp>
        <p:nvSpPr>
          <p:cNvPr id="51" name="Rectangle 50">
            <a:extLst>
              <a:ext uri="{FF2B5EF4-FFF2-40B4-BE49-F238E27FC236}">
                <a16:creationId xmlns:a16="http://schemas.microsoft.com/office/drawing/2014/main" id="{B6378EA0-6744-4191-BE16-18A9CBAC90A2}"/>
              </a:ext>
            </a:extLst>
          </p:cNvPr>
          <p:cNvSpPr>
            <a:spLocks noGrp="1"/>
          </p:cNvSpPr>
          <p:nvPr/>
        </p:nvSpPr>
        <p:spPr>
          <a:xfrm>
            <a:off x="6048375" y="3524250"/>
            <a:ext cx="1409700" cy="409575"/>
          </a:xfrm>
          <a:prstGeom prst="rect">
            <a:avLst/>
          </a:prstGeom>
          <a:solidFill>
            <a:srgbClr val="FFFFFF"/>
          </a:solidFill>
          <a:ln w="4763">
            <a:solidFill>
              <a:srgbClr val="D5E0E5"/>
            </a:solidFill>
            <a:prstDash val="solid"/>
          </a:ln>
        </p:spPr>
        <p:txBody>
          <a:bodyPr/>
          <a:lstStyle/>
          <a:p>
            <a:endParaRPr lang="en-US"/>
          </a:p>
        </p:txBody>
      </p:sp>
      <p:sp>
        <p:nvSpPr>
          <p:cNvPr id="52" name="Rectangle 51">
            <a:extLst>
              <a:ext uri="{FF2B5EF4-FFF2-40B4-BE49-F238E27FC236}">
                <a16:creationId xmlns:a16="http://schemas.microsoft.com/office/drawing/2014/main" id="{743C62B7-C605-47CA-B3CA-57C4BECA6AD1}"/>
              </a:ext>
            </a:extLst>
          </p:cNvPr>
          <p:cNvSpPr>
            <a:spLocks noGrp="1"/>
          </p:cNvSpPr>
          <p:nvPr/>
        </p:nvSpPr>
        <p:spPr>
          <a:xfrm>
            <a:off x="6115050" y="3648075"/>
            <a:ext cx="1276350" cy="171450"/>
          </a:xfrm>
          <a:prstGeom prst="rect">
            <a:avLst/>
          </a:prstGeom>
          <a:noFill/>
          <a:ln w="0">
            <a:noFill/>
            <a:prstDash val="solid"/>
          </a:ln>
        </p:spPr>
        <p:txBody>
          <a:bodyPr/>
          <a:lstStyle/>
          <a:p>
            <a:pPr algn="ctr">
              <a:defRPr sz="863" b="0" i="0">
                <a:solidFill>
                  <a:srgbClr val="162E3B"/>
                </a:solidFill>
                <a:latin typeface="Aptos"/>
                <a:ea typeface="Aptos"/>
                <a:cs typeface="Aptos"/>
              </a:defRPr>
            </a:pPr>
            <a:r>
              <a:rPr sz="863" b="0" i="0">
                <a:solidFill>
                  <a:srgbClr val="162E3B"/>
                </a:solidFill>
                <a:latin typeface="Aptos"/>
                <a:ea typeface="Aptos"/>
                <a:cs typeface="Aptos"/>
              </a:rPr>
              <a:t>+0,10</a:t>
            </a:r>
          </a:p>
        </p:txBody>
      </p:sp>
      <p:sp>
        <p:nvSpPr>
          <p:cNvPr id="53" name="Rectangle 52">
            <a:extLst>
              <a:ext uri="{FF2B5EF4-FFF2-40B4-BE49-F238E27FC236}">
                <a16:creationId xmlns:a16="http://schemas.microsoft.com/office/drawing/2014/main" id="{37DF9763-D9BB-43D6-B4E5-7DB705ACE3B7}"/>
              </a:ext>
            </a:extLst>
          </p:cNvPr>
          <p:cNvSpPr>
            <a:spLocks noGrp="1"/>
          </p:cNvSpPr>
          <p:nvPr/>
        </p:nvSpPr>
        <p:spPr>
          <a:xfrm>
            <a:off x="7572375" y="3524250"/>
            <a:ext cx="1409700" cy="409575"/>
          </a:xfrm>
          <a:prstGeom prst="rect">
            <a:avLst/>
          </a:prstGeom>
          <a:solidFill>
            <a:srgbClr val="FFFFFF"/>
          </a:solidFill>
          <a:ln w="4763">
            <a:solidFill>
              <a:srgbClr val="D5E0E5"/>
            </a:solidFill>
            <a:prstDash val="solid"/>
          </a:ln>
        </p:spPr>
        <p:txBody>
          <a:bodyPr/>
          <a:lstStyle/>
          <a:p>
            <a:endParaRPr lang="en-US"/>
          </a:p>
        </p:txBody>
      </p:sp>
      <p:sp>
        <p:nvSpPr>
          <p:cNvPr id="54" name="Rectangle 53">
            <a:extLst>
              <a:ext uri="{FF2B5EF4-FFF2-40B4-BE49-F238E27FC236}">
                <a16:creationId xmlns:a16="http://schemas.microsoft.com/office/drawing/2014/main" id="{34AD1C46-AAF6-4B50-8E09-6C4DDEB4ADF2}"/>
              </a:ext>
            </a:extLst>
          </p:cNvPr>
          <p:cNvSpPr>
            <a:spLocks noGrp="1"/>
          </p:cNvSpPr>
          <p:nvPr/>
        </p:nvSpPr>
        <p:spPr>
          <a:xfrm>
            <a:off x="7639050" y="3648075"/>
            <a:ext cx="1276350" cy="171450"/>
          </a:xfrm>
          <a:prstGeom prst="rect">
            <a:avLst/>
          </a:prstGeom>
          <a:noFill/>
          <a:ln w="0">
            <a:noFill/>
            <a:prstDash val="solid"/>
          </a:ln>
        </p:spPr>
        <p:txBody>
          <a:bodyPr/>
          <a:lstStyle/>
          <a:p>
            <a:pPr algn="ctr">
              <a:defRPr sz="863" b="0" i="0">
                <a:solidFill>
                  <a:srgbClr val="162E3B"/>
                </a:solidFill>
                <a:latin typeface="Aptos"/>
                <a:ea typeface="Aptos"/>
                <a:cs typeface="Aptos"/>
              </a:defRPr>
            </a:pPr>
            <a:r>
              <a:rPr sz="863" b="0" i="0">
                <a:solidFill>
                  <a:srgbClr val="162E3B"/>
                </a:solidFill>
                <a:latin typeface="Aptos"/>
                <a:ea typeface="Aptos"/>
                <a:cs typeface="Aptos"/>
              </a:rPr>
              <a:t>+1,50</a:t>
            </a:r>
          </a:p>
        </p:txBody>
      </p:sp>
      <p:sp>
        <p:nvSpPr>
          <p:cNvPr id="55" name="Rectangle 54">
            <a:extLst>
              <a:ext uri="{FF2B5EF4-FFF2-40B4-BE49-F238E27FC236}">
                <a16:creationId xmlns:a16="http://schemas.microsoft.com/office/drawing/2014/main" id="{8B23FDD5-5DC2-4A57-B769-C3068E986E51}"/>
              </a:ext>
            </a:extLst>
          </p:cNvPr>
          <p:cNvSpPr>
            <a:spLocks noGrp="1"/>
          </p:cNvSpPr>
          <p:nvPr/>
        </p:nvSpPr>
        <p:spPr>
          <a:xfrm>
            <a:off x="9096375" y="3524250"/>
            <a:ext cx="2638425" cy="409575"/>
          </a:xfrm>
          <a:prstGeom prst="rect">
            <a:avLst/>
          </a:prstGeom>
          <a:solidFill>
            <a:srgbClr val="FFFFFF"/>
          </a:solidFill>
          <a:ln w="4763">
            <a:solidFill>
              <a:srgbClr val="D5E0E5"/>
            </a:solidFill>
            <a:prstDash val="solid"/>
          </a:ln>
        </p:spPr>
        <p:txBody>
          <a:bodyPr/>
          <a:lstStyle/>
          <a:p>
            <a:endParaRPr lang="en-US"/>
          </a:p>
        </p:txBody>
      </p:sp>
      <p:sp>
        <p:nvSpPr>
          <p:cNvPr id="56" name="Rectangle 55">
            <a:extLst>
              <a:ext uri="{FF2B5EF4-FFF2-40B4-BE49-F238E27FC236}">
                <a16:creationId xmlns:a16="http://schemas.microsoft.com/office/drawing/2014/main" id="{C0E0219A-0345-4119-A80E-FB8AA330752E}"/>
              </a:ext>
            </a:extLst>
          </p:cNvPr>
          <p:cNvSpPr>
            <a:spLocks noGrp="1"/>
          </p:cNvSpPr>
          <p:nvPr/>
        </p:nvSpPr>
        <p:spPr>
          <a:xfrm>
            <a:off x="9163050" y="3648075"/>
            <a:ext cx="2505075" cy="171450"/>
          </a:xfrm>
          <a:prstGeom prst="rect">
            <a:avLst/>
          </a:prstGeom>
          <a:noFill/>
          <a:ln w="0">
            <a:noFill/>
            <a:prstDash val="solid"/>
          </a:ln>
        </p:spPr>
        <p:txBody>
          <a:bodyPr/>
          <a:lstStyle/>
          <a:p>
            <a:pPr algn="l">
              <a:defRPr sz="863" b="0" i="0">
                <a:solidFill>
                  <a:srgbClr val="162E3B"/>
                </a:solidFill>
                <a:latin typeface="Aptos"/>
                <a:ea typeface="Aptos"/>
                <a:cs typeface="Aptos"/>
              </a:defRPr>
            </a:pPr>
            <a:r>
              <a:rPr sz="863" b="0" i="0">
                <a:solidFill>
                  <a:srgbClr val="162E3B"/>
                </a:solidFill>
                <a:latin typeface="Aptos"/>
                <a:ea typeface="Aptos"/>
                <a:cs typeface="Aptos"/>
              </a:rPr>
              <a:t>zins- und collateral-dominiert</a:t>
            </a:r>
          </a:p>
        </p:txBody>
      </p:sp>
      <p:sp>
        <p:nvSpPr>
          <p:cNvPr id="57" name="Rectangle 56">
            <a:extLst>
              <a:ext uri="{FF2B5EF4-FFF2-40B4-BE49-F238E27FC236}">
                <a16:creationId xmlns:a16="http://schemas.microsoft.com/office/drawing/2014/main" id="{C8F7827B-F588-43E5-9F97-DDD9039E928D}"/>
              </a:ext>
            </a:extLst>
          </p:cNvPr>
          <p:cNvSpPr>
            <a:spLocks noGrp="1"/>
          </p:cNvSpPr>
          <p:nvPr/>
        </p:nvSpPr>
        <p:spPr>
          <a:xfrm>
            <a:off x="457200" y="3933825"/>
            <a:ext cx="2428875" cy="409575"/>
          </a:xfrm>
          <a:prstGeom prst="rect">
            <a:avLst/>
          </a:prstGeom>
          <a:solidFill>
            <a:srgbClr val="F8FAFB"/>
          </a:solidFill>
          <a:ln w="4763">
            <a:solidFill>
              <a:srgbClr val="D5E0E5"/>
            </a:solidFill>
            <a:prstDash val="solid"/>
          </a:ln>
        </p:spPr>
        <p:txBody>
          <a:bodyPr/>
          <a:lstStyle/>
          <a:p>
            <a:endParaRPr lang="en-US"/>
          </a:p>
        </p:txBody>
      </p:sp>
      <p:sp>
        <p:nvSpPr>
          <p:cNvPr id="58" name="Rectangle 57">
            <a:extLst>
              <a:ext uri="{FF2B5EF4-FFF2-40B4-BE49-F238E27FC236}">
                <a16:creationId xmlns:a16="http://schemas.microsoft.com/office/drawing/2014/main" id="{0F872687-AAEB-43B1-850A-0B48A4ABB152}"/>
              </a:ext>
            </a:extLst>
          </p:cNvPr>
          <p:cNvSpPr>
            <a:spLocks noGrp="1"/>
          </p:cNvSpPr>
          <p:nvPr/>
        </p:nvSpPr>
        <p:spPr>
          <a:xfrm>
            <a:off x="523875" y="4057650"/>
            <a:ext cx="2295525" cy="171450"/>
          </a:xfrm>
          <a:prstGeom prst="rect">
            <a:avLst/>
          </a:prstGeom>
          <a:noFill/>
          <a:ln w="0">
            <a:noFill/>
            <a:prstDash val="solid"/>
          </a:ln>
        </p:spPr>
        <p:txBody>
          <a:bodyPr/>
          <a:lstStyle/>
          <a:p>
            <a:pPr algn="l">
              <a:defRPr sz="863" b="1" i="0">
                <a:solidFill>
                  <a:srgbClr val="162E3B"/>
                </a:solidFill>
                <a:latin typeface="Aptos"/>
                <a:ea typeface="Aptos"/>
                <a:cs typeface="Aptos"/>
              </a:defRPr>
            </a:pPr>
            <a:r>
              <a:rPr sz="863" b="1" i="0">
                <a:solidFill>
                  <a:srgbClr val="162E3B"/>
                </a:solidFill>
                <a:latin typeface="Aptos"/>
                <a:ea typeface="Aptos"/>
                <a:cs typeface="Aptos"/>
              </a:rPr>
              <a:t>QRRE</a:t>
            </a:r>
          </a:p>
        </p:txBody>
      </p:sp>
      <p:sp>
        <p:nvSpPr>
          <p:cNvPr id="59" name="Rectangle 58">
            <a:extLst>
              <a:ext uri="{FF2B5EF4-FFF2-40B4-BE49-F238E27FC236}">
                <a16:creationId xmlns:a16="http://schemas.microsoft.com/office/drawing/2014/main" id="{CD9B6851-CB8A-457C-AC5B-4E6EF2202CDB}"/>
              </a:ext>
            </a:extLst>
          </p:cNvPr>
          <p:cNvSpPr>
            <a:spLocks noGrp="1"/>
          </p:cNvSpPr>
          <p:nvPr/>
        </p:nvSpPr>
        <p:spPr>
          <a:xfrm>
            <a:off x="3000375" y="3933825"/>
            <a:ext cx="1409700" cy="409575"/>
          </a:xfrm>
          <a:prstGeom prst="rect">
            <a:avLst/>
          </a:prstGeom>
          <a:solidFill>
            <a:srgbClr val="F8FAFB"/>
          </a:solidFill>
          <a:ln w="4763">
            <a:solidFill>
              <a:srgbClr val="D5E0E5"/>
            </a:solidFill>
            <a:prstDash val="solid"/>
          </a:ln>
        </p:spPr>
        <p:txBody>
          <a:bodyPr/>
          <a:lstStyle/>
          <a:p>
            <a:endParaRPr lang="en-US"/>
          </a:p>
        </p:txBody>
      </p:sp>
      <p:sp>
        <p:nvSpPr>
          <p:cNvPr id="60" name="Rectangle 59">
            <a:extLst>
              <a:ext uri="{FF2B5EF4-FFF2-40B4-BE49-F238E27FC236}">
                <a16:creationId xmlns:a16="http://schemas.microsoft.com/office/drawing/2014/main" id="{E7F62DFF-0155-4287-8949-742670A87507}"/>
              </a:ext>
            </a:extLst>
          </p:cNvPr>
          <p:cNvSpPr>
            <a:spLocks noGrp="1"/>
          </p:cNvSpPr>
          <p:nvPr/>
        </p:nvSpPr>
        <p:spPr>
          <a:xfrm>
            <a:off x="3067050" y="4057650"/>
            <a:ext cx="1276350" cy="171450"/>
          </a:xfrm>
          <a:prstGeom prst="rect">
            <a:avLst/>
          </a:prstGeom>
          <a:noFill/>
          <a:ln w="0">
            <a:noFill/>
            <a:prstDash val="solid"/>
          </a:ln>
        </p:spPr>
        <p:txBody>
          <a:bodyPr/>
          <a:lstStyle/>
          <a:p>
            <a:pPr algn="ctr">
              <a:defRPr sz="863" b="0" i="0">
                <a:solidFill>
                  <a:srgbClr val="162E3B"/>
                </a:solidFill>
                <a:latin typeface="Aptos"/>
                <a:ea typeface="Aptos"/>
                <a:cs typeface="Aptos"/>
              </a:defRPr>
            </a:pPr>
            <a:r>
              <a:rPr sz="863" b="0" i="0">
                <a:solidFill>
                  <a:srgbClr val="162E3B"/>
                </a:solidFill>
                <a:latin typeface="Aptos"/>
                <a:ea typeface="Aptos"/>
                <a:cs typeface="Aptos"/>
              </a:rPr>
              <a:t>+0,40</a:t>
            </a:r>
          </a:p>
        </p:txBody>
      </p:sp>
      <p:sp>
        <p:nvSpPr>
          <p:cNvPr id="61" name="Rectangle 60">
            <a:extLst>
              <a:ext uri="{FF2B5EF4-FFF2-40B4-BE49-F238E27FC236}">
                <a16:creationId xmlns:a16="http://schemas.microsoft.com/office/drawing/2014/main" id="{7E8F4FAD-3341-4E1A-9A70-ABA248C653DB}"/>
              </a:ext>
            </a:extLst>
          </p:cNvPr>
          <p:cNvSpPr>
            <a:spLocks noGrp="1"/>
          </p:cNvSpPr>
          <p:nvPr/>
        </p:nvSpPr>
        <p:spPr>
          <a:xfrm>
            <a:off x="4524375" y="3933825"/>
            <a:ext cx="1409700" cy="409575"/>
          </a:xfrm>
          <a:prstGeom prst="rect">
            <a:avLst/>
          </a:prstGeom>
          <a:solidFill>
            <a:srgbClr val="F8FAFB"/>
          </a:solidFill>
          <a:ln w="4763">
            <a:solidFill>
              <a:srgbClr val="D5E0E5"/>
            </a:solidFill>
            <a:prstDash val="solid"/>
          </a:ln>
        </p:spPr>
        <p:txBody>
          <a:bodyPr/>
          <a:lstStyle/>
          <a:p>
            <a:endParaRPr lang="en-US"/>
          </a:p>
        </p:txBody>
      </p:sp>
      <p:sp>
        <p:nvSpPr>
          <p:cNvPr id="62" name="Rectangle 61">
            <a:extLst>
              <a:ext uri="{FF2B5EF4-FFF2-40B4-BE49-F238E27FC236}">
                <a16:creationId xmlns:a16="http://schemas.microsoft.com/office/drawing/2014/main" id="{84126157-B378-4F79-942A-B23F59FEC99F}"/>
              </a:ext>
            </a:extLst>
          </p:cNvPr>
          <p:cNvSpPr>
            <a:spLocks noGrp="1"/>
          </p:cNvSpPr>
          <p:nvPr/>
        </p:nvSpPr>
        <p:spPr>
          <a:xfrm>
            <a:off x="4591050" y="4057650"/>
            <a:ext cx="1276350" cy="171450"/>
          </a:xfrm>
          <a:prstGeom prst="rect">
            <a:avLst/>
          </a:prstGeom>
          <a:noFill/>
          <a:ln w="0">
            <a:noFill/>
            <a:prstDash val="solid"/>
          </a:ln>
        </p:spPr>
        <p:txBody>
          <a:bodyPr/>
          <a:lstStyle/>
          <a:p>
            <a:pPr algn="ctr">
              <a:defRPr sz="863" b="0" i="0">
                <a:solidFill>
                  <a:srgbClr val="162E3B"/>
                </a:solidFill>
                <a:latin typeface="Aptos"/>
                <a:ea typeface="Aptos"/>
                <a:cs typeface="Aptos"/>
              </a:defRPr>
            </a:pPr>
            <a:r>
              <a:rPr sz="863" b="0" i="0">
                <a:solidFill>
                  <a:srgbClr val="162E3B"/>
                </a:solidFill>
                <a:latin typeface="Aptos"/>
                <a:ea typeface="Aptos"/>
                <a:cs typeface="Aptos"/>
              </a:rPr>
              <a:t>+0,15</a:t>
            </a:r>
          </a:p>
        </p:txBody>
      </p:sp>
      <p:sp>
        <p:nvSpPr>
          <p:cNvPr id="63" name="Rectangle 62">
            <a:extLst>
              <a:ext uri="{FF2B5EF4-FFF2-40B4-BE49-F238E27FC236}">
                <a16:creationId xmlns:a16="http://schemas.microsoft.com/office/drawing/2014/main" id="{DCA715DA-72A5-4A52-9B04-D9384496324F}"/>
              </a:ext>
            </a:extLst>
          </p:cNvPr>
          <p:cNvSpPr>
            <a:spLocks noGrp="1"/>
          </p:cNvSpPr>
          <p:nvPr/>
        </p:nvSpPr>
        <p:spPr>
          <a:xfrm>
            <a:off x="6048375" y="3933825"/>
            <a:ext cx="1409700" cy="409575"/>
          </a:xfrm>
          <a:prstGeom prst="rect">
            <a:avLst/>
          </a:prstGeom>
          <a:solidFill>
            <a:srgbClr val="F8FAFB"/>
          </a:solidFill>
          <a:ln w="4763">
            <a:solidFill>
              <a:srgbClr val="D5E0E5"/>
            </a:solidFill>
            <a:prstDash val="solid"/>
          </a:ln>
        </p:spPr>
        <p:txBody>
          <a:bodyPr/>
          <a:lstStyle/>
          <a:p>
            <a:endParaRPr lang="en-US"/>
          </a:p>
        </p:txBody>
      </p:sp>
      <p:sp>
        <p:nvSpPr>
          <p:cNvPr id="64" name="Rectangle 63">
            <a:extLst>
              <a:ext uri="{FF2B5EF4-FFF2-40B4-BE49-F238E27FC236}">
                <a16:creationId xmlns:a16="http://schemas.microsoft.com/office/drawing/2014/main" id="{F917A471-7D94-4748-9D19-F63C907BD361}"/>
              </a:ext>
            </a:extLst>
          </p:cNvPr>
          <p:cNvSpPr>
            <a:spLocks noGrp="1"/>
          </p:cNvSpPr>
          <p:nvPr/>
        </p:nvSpPr>
        <p:spPr>
          <a:xfrm>
            <a:off x="6115050" y="4057650"/>
            <a:ext cx="1276350" cy="171450"/>
          </a:xfrm>
          <a:prstGeom prst="rect">
            <a:avLst/>
          </a:prstGeom>
          <a:noFill/>
          <a:ln w="0">
            <a:noFill/>
            <a:prstDash val="solid"/>
          </a:ln>
        </p:spPr>
        <p:txBody>
          <a:bodyPr/>
          <a:lstStyle/>
          <a:p>
            <a:pPr algn="ctr">
              <a:defRPr sz="863" b="0" i="0">
                <a:solidFill>
                  <a:srgbClr val="162E3B"/>
                </a:solidFill>
                <a:latin typeface="Aptos"/>
                <a:ea typeface="Aptos"/>
                <a:cs typeface="Aptos"/>
              </a:defRPr>
            </a:pPr>
            <a:r>
              <a:rPr sz="863" b="0" i="0">
                <a:solidFill>
                  <a:srgbClr val="162E3B"/>
                </a:solidFill>
                <a:latin typeface="Aptos"/>
                <a:ea typeface="Aptos"/>
                <a:cs typeface="Aptos"/>
              </a:rPr>
              <a:t>+0,30</a:t>
            </a:r>
          </a:p>
        </p:txBody>
      </p:sp>
      <p:sp>
        <p:nvSpPr>
          <p:cNvPr id="65" name="Rectangle 64">
            <a:extLst>
              <a:ext uri="{FF2B5EF4-FFF2-40B4-BE49-F238E27FC236}">
                <a16:creationId xmlns:a16="http://schemas.microsoft.com/office/drawing/2014/main" id="{334B5F3E-1522-45A4-B051-159F4D64DEA5}"/>
              </a:ext>
            </a:extLst>
          </p:cNvPr>
          <p:cNvSpPr>
            <a:spLocks noGrp="1"/>
          </p:cNvSpPr>
          <p:nvPr/>
        </p:nvSpPr>
        <p:spPr>
          <a:xfrm>
            <a:off x="7572375" y="3933825"/>
            <a:ext cx="1409700" cy="409575"/>
          </a:xfrm>
          <a:prstGeom prst="rect">
            <a:avLst/>
          </a:prstGeom>
          <a:solidFill>
            <a:srgbClr val="F8FAFB"/>
          </a:solidFill>
          <a:ln w="4763">
            <a:solidFill>
              <a:srgbClr val="D5E0E5"/>
            </a:solidFill>
            <a:prstDash val="solid"/>
          </a:ln>
        </p:spPr>
        <p:txBody>
          <a:bodyPr/>
          <a:lstStyle/>
          <a:p>
            <a:endParaRPr lang="en-US"/>
          </a:p>
        </p:txBody>
      </p:sp>
      <p:sp>
        <p:nvSpPr>
          <p:cNvPr id="66" name="Rectangle 65">
            <a:extLst>
              <a:ext uri="{FF2B5EF4-FFF2-40B4-BE49-F238E27FC236}">
                <a16:creationId xmlns:a16="http://schemas.microsoft.com/office/drawing/2014/main" id="{BBB47721-2FE6-45AD-B524-FF31071BF1AF}"/>
              </a:ext>
            </a:extLst>
          </p:cNvPr>
          <p:cNvSpPr>
            <a:spLocks noGrp="1"/>
          </p:cNvSpPr>
          <p:nvPr/>
        </p:nvSpPr>
        <p:spPr>
          <a:xfrm>
            <a:off x="7639050" y="4057650"/>
            <a:ext cx="1276350" cy="171450"/>
          </a:xfrm>
          <a:prstGeom prst="rect">
            <a:avLst/>
          </a:prstGeom>
          <a:noFill/>
          <a:ln w="0">
            <a:noFill/>
            <a:prstDash val="solid"/>
          </a:ln>
        </p:spPr>
        <p:txBody>
          <a:bodyPr/>
          <a:lstStyle/>
          <a:p>
            <a:pPr algn="ctr">
              <a:defRPr sz="863" b="0" i="0">
                <a:solidFill>
                  <a:srgbClr val="162E3B"/>
                </a:solidFill>
                <a:latin typeface="Aptos"/>
                <a:ea typeface="Aptos"/>
                <a:cs typeface="Aptos"/>
              </a:defRPr>
            </a:pPr>
            <a:r>
              <a:rPr sz="863" b="0" i="0">
                <a:solidFill>
                  <a:srgbClr val="162E3B"/>
                </a:solidFill>
                <a:latin typeface="Aptos"/>
                <a:ea typeface="Aptos"/>
                <a:cs typeface="Aptos"/>
              </a:rPr>
              <a:t>+0,50</a:t>
            </a:r>
          </a:p>
        </p:txBody>
      </p:sp>
      <p:sp>
        <p:nvSpPr>
          <p:cNvPr id="67" name="Rectangle 66">
            <a:extLst>
              <a:ext uri="{FF2B5EF4-FFF2-40B4-BE49-F238E27FC236}">
                <a16:creationId xmlns:a16="http://schemas.microsoft.com/office/drawing/2014/main" id="{E8EDC877-F8BE-489A-ABAD-C62233B17A4E}"/>
              </a:ext>
            </a:extLst>
          </p:cNvPr>
          <p:cNvSpPr>
            <a:spLocks noGrp="1"/>
          </p:cNvSpPr>
          <p:nvPr/>
        </p:nvSpPr>
        <p:spPr>
          <a:xfrm>
            <a:off x="9096375" y="3933825"/>
            <a:ext cx="2638425" cy="409575"/>
          </a:xfrm>
          <a:prstGeom prst="rect">
            <a:avLst/>
          </a:prstGeom>
          <a:solidFill>
            <a:srgbClr val="F8FAFB"/>
          </a:solidFill>
          <a:ln w="4763">
            <a:solidFill>
              <a:srgbClr val="D5E0E5"/>
            </a:solidFill>
            <a:prstDash val="solid"/>
          </a:ln>
        </p:spPr>
        <p:txBody>
          <a:bodyPr/>
          <a:lstStyle/>
          <a:p>
            <a:endParaRPr lang="en-US"/>
          </a:p>
        </p:txBody>
      </p:sp>
      <p:sp>
        <p:nvSpPr>
          <p:cNvPr id="68" name="Rectangle 67">
            <a:extLst>
              <a:ext uri="{FF2B5EF4-FFF2-40B4-BE49-F238E27FC236}">
                <a16:creationId xmlns:a16="http://schemas.microsoft.com/office/drawing/2014/main" id="{BE45B4CE-C008-4B61-A5F6-4960281EE4DB}"/>
              </a:ext>
            </a:extLst>
          </p:cNvPr>
          <p:cNvSpPr>
            <a:spLocks noGrp="1"/>
          </p:cNvSpPr>
          <p:nvPr/>
        </p:nvSpPr>
        <p:spPr>
          <a:xfrm>
            <a:off x="9163050" y="4057650"/>
            <a:ext cx="2505075" cy="171450"/>
          </a:xfrm>
          <a:prstGeom prst="rect">
            <a:avLst/>
          </a:prstGeom>
          <a:noFill/>
          <a:ln w="0">
            <a:noFill/>
            <a:prstDash val="solid"/>
          </a:ln>
        </p:spPr>
        <p:txBody>
          <a:bodyPr/>
          <a:lstStyle/>
          <a:p>
            <a:pPr algn="l">
              <a:defRPr sz="863" b="0" i="0">
                <a:solidFill>
                  <a:srgbClr val="162E3B"/>
                </a:solidFill>
                <a:latin typeface="Aptos"/>
                <a:ea typeface="Aptos"/>
                <a:cs typeface="Aptos"/>
              </a:defRPr>
            </a:pPr>
            <a:r>
              <a:rPr sz="863" b="0" i="0">
                <a:solidFill>
                  <a:srgbClr val="162E3B"/>
                </a:solidFill>
                <a:latin typeface="Aptos"/>
                <a:ea typeface="Aptos"/>
                <a:cs typeface="Aptos"/>
              </a:rPr>
              <a:t>Einkommen / Energieinflation</a:t>
            </a:r>
          </a:p>
        </p:txBody>
      </p:sp>
      <p:sp>
        <p:nvSpPr>
          <p:cNvPr id="69" name="Rectangle 68">
            <a:extLst>
              <a:ext uri="{FF2B5EF4-FFF2-40B4-BE49-F238E27FC236}">
                <a16:creationId xmlns:a16="http://schemas.microsoft.com/office/drawing/2014/main" id="{6AC521A1-5AA7-4642-9D11-C7D79FDCCC69}"/>
              </a:ext>
            </a:extLst>
          </p:cNvPr>
          <p:cNvSpPr>
            <a:spLocks noGrp="1"/>
          </p:cNvSpPr>
          <p:nvPr/>
        </p:nvSpPr>
        <p:spPr>
          <a:xfrm>
            <a:off x="457200" y="4343400"/>
            <a:ext cx="2428875" cy="409575"/>
          </a:xfrm>
          <a:prstGeom prst="rect">
            <a:avLst/>
          </a:prstGeom>
          <a:solidFill>
            <a:srgbClr val="FFFFFF"/>
          </a:solidFill>
          <a:ln w="4763">
            <a:solidFill>
              <a:srgbClr val="D5E0E5"/>
            </a:solidFill>
            <a:prstDash val="solid"/>
          </a:ln>
        </p:spPr>
        <p:txBody>
          <a:bodyPr/>
          <a:lstStyle/>
          <a:p>
            <a:endParaRPr lang="en-US"/>
          </a:p>
        </p:txBody>
      </p:sp>
      <p:sp>
        <p:nvSpPr>
          <p:cNvPr id="70" name="Rectangle 69">
            <a:extLst>
              <a:ext uri="{FF2B5EF4-FFF2-40B4-BE49-F238E27FC236}">
                <a16:creationId xmlns:a16="http://schemas.microsoft.com/office/drawing/2014/main" id="{6B2D4D6F-43EC-4F04-B3D7-5520D9A1E063}"/>
              </a:ext>
            </a:extLst>
          </p:cNvPr>
          <p:cNvSpPr>
            <a:spLocks noGrp="1"/>
          </p:cNvSpPr>
          <p:nvPr/>
        </p:nvSpPr>
        <p:spPr>
          <a:xfrm>
            <a:off x="523875" y="4467225"/>
            <a:ext cx="2295525" cy="171450"/>
          </a:xfrm>
          <a:prstGeom prst="rect">
            <a:avLst/>
          </a:prstGeom>
          <a:noFill/>
          <a:ln w="0">
            <a:noFill/>
            <a:prstDash val="solid"/>
          </a:ln>
        </p:spPr>
        <p:txBody>
          <a:bodyPr/>
          <a:lstStyle/>
          <a:p>
            <a:pPr algn="l">
              <a:defRPr sz="863" b="1" i="0">
                <a:solidFill>
                  <a:srgbClr val="162E3B"/>
                </a:solidFill>
                <a:latin typeface="Aptos"/>
                <a:ea typeface="Aptos"/>
                <a:cs typeface="Aptos"/>
              </a:defRPr>
            </a:pPr>
            <a:r>
              <a:rPr sz="863" b="1" i="0">
                <a:solidFill>
                  <a:srgbClr val="162E3B"/>
                </a:solidFill>
                <a:latin typeface="Aptos"/>
                <a:ea typeface="Aptos"/>
                <a:cs typeface="Aptos"/>
              </a:rPr>
              <a:t>Other Retail</a:t>
            </a:r>
          </a:p>
        </p:txBody>
      </p:sp>
      <p:sp>
        <p:nvSpPr>
          <p:cNvPr id="71" name="Rectangle 70">
            <a:extLst>
              <a:ext uri="{FF2B5EF4-FFF2-40B4-BE49-F238E27FC236}">
                <a16:creationId xmlns:a16="http://schemas.microsoft.com/office/drawing/2014/main" id="{3091B2B8-0FE1-4FCD-BBB5-6A17B9D61B84}"/>
              </a:ext>
            </a:extLst>
          </p:cNvPr>
          <p:cNvSpPr>
            <a:spLocks noGrp="1"/>
          </p:cNvSpPr>
          <p:nvPr/>
        </p:nvSpPr>
        <p:spPr>
          <a:xfrm>
            <a:off x="3000375" y="4343400"/>
            <a:ext cx="1409700" cy="409575"/>
          </a:xfrm>
          <a:prstGeom prst="rect">
            <a:avLst/>
          </a:prstGeom>
          <a:solidFill>
            <a:srgbClr val="FFFFFF"/>
          </a:solidFill>
          <a:ln w="4763">
            <a:solidFill>
              <a:srgbClr val="D5E0E5"/>
            </a:solidFill>
            <a:prstDash val="solid"/>
          </a:ln>
        </p:spPr>
        <p:txBody>
          <a:bodyPr/>
          <a:lstStyle/>
          <a:p>
            <a:endParaRPr lang="en-US"/>
          </a:p>
        </p:txBody>
      </p:sp>
      <p:sp>
        <p:nvSpPr>
          <p:cNvPr id="72" name="Rectangle 71">
            <a:extLst>
              <a:ext uri="{FF2B5EF4-FFF2-40B4-BE49-F238E27FC236}">
                <a16:creationId xmlns:a16="http://schemas.microsoft.com/office/drawing/2014/main" id="{86020880-C9D2-41B8-A0BF-52B4B14C803E}"/>
              </a:ext>
            </a:extLst>
          </p:cNvPr>
          <p:cNvSpPr>
            <a:spLocks noGrp="1"/>
          </p:cNvSpPr>
          <p:nvPr/>
        </p:nvSpPr>
        <p:spPr>
          <a:xfrm>
            <a:off x="3067050" y="4467225"/>
            <a:ext cx="1276350" cy="171450"/>
          </a:xfrm>
          <a:prstGeom prst="rect">
            <a:avLst/>
          </a:prstGeom>
          <a:noFill/>
          <a:ln w="0">
            <a:noFill/>
            <a:prstDash val="solid"/>
          </a:ln>
        </p:spPr>
        <p:txBody>
          <a:bodyPr/>
          <a:lstStyle/>
          <a:p>
            <a:pPr algn="ctr">
              <a:defRPr sz="863" b="0" i="0">
                <a:solidFill>
                  <a:srgbClr val="162E3B"/>
                </a:solidFill>
                <a:latin typeface="Aptos"/>
                <a:ea typeface="Aptos"/>
                <a:cs typeface="Aptos"/>
              </a:defRPr>
            </a:pPr>
            <a:r>
              <a:rPr sz="863" b="0" i="0">
                <a:solidFill>
                  <a:srgbClr val="162E3B"/>
                </a:solidFill>
                <a:latin typeface="Aptos"/>
                <a:ea typeface="Aptos"/>
                <a:cs typeface="Aptos"/>
              </a:rPr>
              <a:t>+0,30</a:t>
            </a:r>
          </a:p>
        </p:txBody>
      </p:sp>
      <p:sp>
        <p:nvSpPr>
          <p:cNvPr id="73" name="Rectangle 72">
            <a:extLst>
              <a:ext uri="{FF2B5EF4-FFF2-40B4-BE49-F238E27FC236}">
                <a16:creationId xmlns:a16="http://schemas.microsoft.com/office/drawing/2014/main" id="{46549289-4E2E-4C26-8A33-379035BEE6BA}"/>
              </a:ext>
            </a:extLst>
          </p:cNvPr>
          <p:cNvSpPr>
            <a:spLocks noGrp="1"/>
          </p:cNvSpPr>
          <p:nvPr/>
        </p:nvSpPr>
        <p:spPr>
          <a:xfrm>
            <a:off x="4524375" y="4343400"/>
            <a:ext cx="1409700" cy="409575"/>
          </a:xfrm>
          <a:prstGeom prst="rect">
            <a:avLst/>
          </a:prstGeom>
          <a:solidFill>
            <a:srgbClr val="FFFFFF"/>
          </a:solidFill>
          <a:ln w="4763">
            <a:solidFill>
              <a:srgbClr val="D5E0E5"/>
            </a:solidFill>
            <a:prstDash val="solid"/>
          </a:ln>
        </p:spPr>
        <p:txBody>
          <a:bodyPr/>
          <a:lstStyle/>
          <a:p>
            <a:endParaRPr lang="en-US"/>
          </a:p>
        </p:txBody>
      </p:sp>
      <p:sp>
        <p:nvSpPr>
          <p:cNvPr id="74" name="Rectangle 73">
            <a:extLst>
              <a:ext uri="{FF2B5EF4-FFF2-40B4-BE49-F238E27FC236}">
                <a16:creationId xmlns:a16="http://schemas.microsoft.com/office/drawing/2014/main" id="{F6F97EEA-D7D7-4FB9-932D-FCC25B891428}"/>
              </a:ext>
            </a:extLst>
          </p:cNvPr>
          <p:cNvSpPr>
            <a:spLocks noGrp="1"/>
          </p:cNvSpPr>
          <p:nvPr/>
        </p:nvSpPr>
        <p:spPr>
          <a:xfrm>
            <a:off x="4591050" y="4467225"/>
            <a:ext cx="1276350" cy="171450"/>
          </a:xfrm>
          <a:prstGeom prst="rect">
            <a:avLst/>
          </a:prstGeom>
          <a:noFill/>
          <a:ln w="0">
            <a:noFill/>
            <a:prstDash val="solid"/>
          </a:ln>
        </p:spPr>
        <p:txBody>
          <a:bodyPr/>
          <a:lstStyle/>
          <a:p>
            <a:pPr algn="ctr">
              <a:defRPr sz="863" b="0" i="0">
                <a:solidFill>
                  <a:srgbClr val="162E3B"/>
                </a:solidFill>
                <a:latin typeface="Aptos"/>
                <a:ea typeface="Aptos"/>
                <a:cs typeface="Aptos"/>
              </a:defRPr>
            </a:pPr>
            <a:r>
              <a:rPr sz="863" b="0" i="0">
                <a:solidFill>
                  <a:srgbClr val="162E3B"/>
                </a:solidFill>
                <a:latin typeface="Aptos"/>
                <a:ea typeface="Aptos"/>
                <a:cs typeface="Aptos"/>
              </a:rPr>
              <a:t>+0,25</a:t>
            </a:r>
          </a:p>
        </p:txBody>
      </p:sp>
      <p:sp>
        <p:nvSpPr>
          <p:cNvPr id="75" name="Rectangle 74">
            <a:extLst>
              <a:ext uri="{FF2B5EF4-FFF2-40B4-BE49-F238E27FC236}">
                <a16:creationId xmlns:a16="http://schemas.microsoft.com/office/drawing/2014/main" id="{CB6D3CD4-657D-46CF-9316-DC888620CF69}"/>
              </a:ext>
            </a:extLst>
          </p:cNvPr>
          <p:cNvSpPr>
            <a:spLocks noGrp="1"/>
          </p:cNvSpPr>
          <p:nvPr/>
        </p:nvSpPr>
        <p:spPr>
          <a:xfrm>
            <a:off x="6048375" y="4343400"/>
            <a:ext cx="1409700" cy="409575"/>
          </a:xfrm>
          <a:prstGeom prst="rect">
            <a:avLst/>
          </a:prstGeom>
          <a:solidFill>
            <a:srgbClr val="FFFFFF"/>
          </a:solidFill>
          <a:ln w="4763">
            <a:solidFill>
              <a:srgbClr val="D5E0E5"/>
            </a:solidFill>
            <a:prstDash val="solid"/>
          </a:ln>
        </p:spPr>
        <p:txBody>
          <a:bodyPr/>
          <a:lstStyle/>
          <a:p>
            <a:endParaRPr lang="en-US"/>
          </a:p>
        </p:txBody>
      </p:sp>
      <p:sp>
        <p:nvSpPr>
          <p:cNvPr id="76" name="Rectangle 75">
            <a:extLst>
              <a:ext uri="{FF2B5EF4-FFF2-40B4-BE49-F238E27FC236}">
                <a16:creationId xmlns:a16="http://schemas.microsoft.com/office/drawing/2014/main" id="{54B4E9FA-9EDC-4E3A-B5E4-47B4F76EED4F}"/>
              </a:ext>
            </a:extLst>
          </p:cNvPr>
          <p:cNvSpPr>
            <a:spLocks noGrp="1"/>
          </p:cNvSpPr>
          <p:nvPr/>
        </p:nvSpPr>
        <p:spPr>
          <a:xfrm>
            <a:off x="6115050" y="4467225"/>
            <a:ext cx="1276350" cy="171450"/>
          </a:xfrm>
          <a:prstGeom prst="rect">
            <a:avLst/>
          </a:prstGeom>
          <a:noFill/>
          <a:ln w="0">
            <a:noFill/>
            <a:prstDash val="solid"/>
          </a:ln>
        </p:spPr>
        <p:txBody>
          <a:bodyPr/>
          <a:lstStyle/>
          <a:p>
            <a:pPr algn="ctr">
              <a:defRPr sz="863" b="0" i="0">
                <a:solidFill>
                  <a:srgbClr val="162E3B"/>
                </a:solidFill>
                <a:latin typeface="Aptos"/>
                <a:ea typeface="Aptos"/>
                <a:cs typeface="Aptos"/>
              </a:defRPr>
            </a:pPr>
            <a:r>
              <a:rPr sz="863" b="0" i="0">
                <a:solidFill>
                  <a:srgbClr val="162E3B"/>
                </a:solidFill>
                <a:latin typeface="Aptos"/>
                <a:ea typeface="Aptos"/>
                <a:cs typeface="Aptos"/>
              </a:rPr>
              <a:t>+0,25</a:t>
            </a:r>
          </a:p>
        </p:txBody>
      </p:sp>
      <p:sp>
        <p:nvSpPr>
          <p:cNvPr id="77" name="Rectangle 76">
            <a:extLst>
              <a:ext uri="{FF2B5EF4-FFF2-40B4-BE49-F238E27FC236}">
                <a16:creationId xmlns:a16="http://schemas.microsoft.com/office/drawing/2014/main" id="{A6CE9A37-0B29-4741-9CE1-1E017C47CA18}"/>
              </a:ext>
            </a:extLst>
          </p:cNvPr>
          <p:cNvSpPr>
            <a:spLocks noGrp="1"/>
          </p:cNvSpPr>
          <p:nvPr/>
        </p:nvSpPr>
        <p:spPr>
          <a:xfrm>
            <a:off x="7572375" y="4343400"/>
            <a:ext cx="1409700" cy="409575"/>
          </a:xfrm>
          <a:prstGeom prst="rect">
            <a:avLst/>
          </a:prstGeom>
          <a:solidFill>
            <a:srgbClr val="FFFFFF"/>
          </a:solidFill>
          <a:ln w="4763">
            <a:solidFill>
              <a:srgbClr val="D5E0E5"/>
            </a:solidFill>
            <a:prstDash val="solid"/>
          </a:ln>
        </p:spPr>
        <p:txBody>
          <a:bodyPr/>
          <a:lstStyle/>
          <a:p>
            <a:endParaRPr lang="en-US"/>
          </a:p>
        </p:txBody>
      </p:sp>
      <p:sp>
        <p:nvSpPr>
          <p:cNvPr id="78" name="Rectangle 77">
            <a:extLst>
              <a:ext uri="{FF2B5EF4-FFF2-40B4-BE49-F238E27FC236}">
                <a16:creationId xmlns:a16="http://schemas.microsoft.com/office/drawing/2014/main" id="{8D56A345-B221-49BE-ACDD-99A76B984FD8}"/>
              </a:ext>
            </a:extLst>
          </p:cNvPr>
          <p:cNvSpPr>
            <a:spLocks noGrp="1"/>
          </p:cNvSpPr>
          <p:nvPr/>
        </p:nvSpPr>
        <p:spPr>
          <a:xfrm>
            <a:off x="7639050" y="4467225"/>
            <a:ext cx="1276350" cy="171450"/>
          </a:xfrm>
          <a:prstGeom prst="rect">
            <a:avLst/>
          </a:prstGeom>
          <a:noFill/>
          <a:ln w="0">
            <a:noFill/>
            <a:prstDash val="solid"/>
          </a:ln>
        </p:spPr>
        <p:txBody>
          <a:bodyPr/>
          <a:lstStyle/>
          <a:p>
            <a:pPr algn="ctr">
              <a:defRPr sz="863" b="0" i="0">
                <a:solidFill>
                  <a:srgbClr val="162E3B"/>
                </a:solidFill>
                <a:latin typeface="Aptos"/>
                <a:ea typeface="Aptos"/>
                <a:cs typeface="Aptos"/>
              </a:defRPr>
            </a:pPr>
            <a:r>
              <a:rPr sz="863" b="0" i="0">
                <a:solidFill>
                  <a:srgbClr val="162E3B"/>
                </a:solidFill>
                <a:latin typeface="Aptos"/>
                <a:ea typeface="Aptos"/>
                <a:cs typeface="Aptos"/>
              </a:rPr>
              <a:t>+0,80</a:t>
            </a:r>
          </a:p>
        </p:txBody>
      </p:sp>
      <p:sp>
        <p:nvSpPr>
          <p:cNvPr id="79" name="Rectangle 78">
            <a:extLst>
              <a:ext uri="{FF2B5EF4-FFF2-40B4-BE49-F238E27FC236}">
                <a16:creationId xmlns:a16="http://schemas.microsoft.com/office/drawing/2014/main" id="{371CBFCE-1390-4039-8C18-099FEDB6C8B5}"/>
              </a:ext>
            </a:extLst>
          </p:cNvPr>
          <p:cNvSpPr>
            <a:spLocks noGrp="1"/>
          </p:cNvSpPr>
          <p:nvPr/>
        </p:nvSpPr>
        <p:spPr>
          <a:xfrm>
            <a:off x="9096375" y="4343400"/>
            <a:ext cx="2638425" cy="409575"/>
          </a:xfrm>
          <a:prstGeom prst="rect">
            <a:avLst/>
          </a:prstGeom>
          <a:solidFill>
            <a:srgbClr val="FFFFFF"/>
          </a:solidFill>
          <a:ln w="4763">
            <a:solidFill>
              <a:srgbClr val="D5E0E5"/>
            </a:solidFill>
            <a:prstDash val="solid"/>
          </a:ln>
        </p:spPr>
        <p:txBody>
          <a:bodyPr/>
          <a:lstStyle/>
          <a:p>
            <a:endParaRPr lang="en-US"/>
          </a:p>
        </p:txBody>
      </p:sp>
      <p:sp>
        <p:nvSpPr>
          <p:cNvPr id="80" name="Rectangle 79">
            <a:extLst>
              <a:ext uri="{FF2B5EF4-FFF2-40B4-BE49-F238E27FC236}">
                <a16:creationId xmlns:a16="http://schemas.microsoft.com/office/drawing/2014/main" id="{50E8E07D-F317-4555-A896-E6DA48F881F9}"/>
              </a:ext>
            </a:extLst>
          </p:cNvPr>
          <p:cNvSpPr>
            <a:spLocks noGrp="1"/>
          </p:cNvSpPr>
          <p:nvPr/>
        </p:nvSpPr>
        <p:spPr>
          <a:xfrm>
            <a:off x="9163050" y="4467225"/>
            <a:ext cx="2505075" cy="171450"/>
          </a:xfrm>
          <a:prstGeom prst="rect">
            <a:avLst/>
          </a:prstGeom>
          <a:noFill/>
          <a:ln w="0">
            <a:noFill/>
            <a:prstDash val="solid"/>
          </a:ln>
        </p:spPr>
        <p:txBody>
          <a:bodyPr/>
          <a:lstStyle/>
          <a:p>
            <a:pPr algn="l">
              <a:defRPr sz="863" b="0" i="0">
                <a:solidFill>
                  <a:srgbClr val="162E3B"/>
                </a:solidFill>
                <a:latin typeface="Aptos"/>
                <a:ea typeface="Aptos"/>
                <a:cs typeface="Aptos"/>
              </a:defRPr>
            </a:pPr>
            <a:r>
              <a:rPr sz="863" b="0" i="0">
                <a:solidFill>
                  <a:srgbClr val="162E3B"/>
                </a:solidFill>
                <a:latin typeface="Aptos"/>
                <a:ea typeface="Aptos"/>
                <a:cs typeface="Aptos"/>
              </a:rPr>
              <a:t>gemischtes Haushaltsprofil</a:t>
            </a:r>
          </a:p>
        </p:txBody>
      </p:sp>
      <p:sp>
        <p:nvSpPr>
          <p:cNvPr id="81" name="Rectangle 80">
            <a:extLst>
              <a:ext uri="{FF2B5EF4-FFF2-40B4-BE49-F238E27FC236}">
                <a16:creationId xmlns:a16="http://schemas.microsoft.com/office/drawing/2014/main" id="{68BC7C37-B1D5-4ED2-A227-7C7B2533D3BF}"/>
              </a:ext>
            </a:extLst>
          </p:cNvPr>
          <p:cNvSpPr>
            <a:spLocks noGrp="1"/>
          </p:cNvSpPr>
          <p:nvPr/>
        </p:nvSpPr>
        <p:spPr>
          <a:xfrm>
            <a:off x="457200" y="4752975"/>
            <a:ext cx="2428875" cy="409575"/>
          </a:xfrm>
          <a:prstGeom prst="rect">
            <a:avLst/>
          </a:prstGeom>
          <a:solidFill>
            <a:srgbClr val="F8FAFB"/>
          </a:solidFill>
          <a:ln w="4763">
            <a:solidFill>
              <a:srgbClr val="D5E0E5"/>
            </a:solidFill>
            <a:prstDash val="solid"/>
          </a:ln>
        </p:spPr>
        <p:txBody>
          <a:bodyPr/>
          <a:lstStyle/>
          <a:p>
            <a:endParaRPr lang="en-US"/>
          </a:p>
        </p:txBody>
      </p:sp>
      <p:sp>
        <p:nvSpPr>
          <p:cNvPr id="82" name="Rectangle 81">
            <a:extLst>
              <a:ext uri="{FF2B5EF4-FFF2-40B4-BE49-F238E27FC236}">
                <a16:creationId xmlns:a16="http://schemas.microsoft.com/office/drawing/2014/main" id="{79DAB5EA-4D3C-40AC-9948-E3CEC1901263}"/>
              </a:ext>
            </a:extLst>
          </p:cNvPr>
          <p:cNvSpPr>
            <a:spLocks noGrp="1"/>
          </p:cNvSpPr>
          <p:nvPr/>
        </p:nvSpPr>
        <p:spPr>
          <a:xfrm>
            <a:off x="523875" y="4876800"/>
            <a:ext cx="2295525" cy="171450"/>
          </a:xfrm>
          <a:prstGeom prst="rect">
            <a:avLst/>
          </a:prstGeom>
          <a:noFill/>
          <a:ln w="0">
            <a:noFill/>
            <a:prstDash val="solid"/>
          </a:ln>
        </p:spPr>
        <p:txBody>
          <a:bodyPr/>
          <a:lstStyle/>
          <a:p>
            <a:pPr algn="l">
              <a:defRPr sz="863" b="1" i="0">
                <a:solidFill>
                  <a:srgbClr val="162E3B"/>
                </a:solidFill>
                <a:latin typeface="Aptos"/>
                <a:ea typeface="Aptos"/>
                <a:cs typeface="Aptos"/>
              </a:defRPr>
            </a:pPr>
            <a:r>
              <a:rPr sz="863" b="1" i="0">
                <a:solidFill>
                  <a:srgbClr val="162E3B"/>
                </a:solidFill>
                <a:latin typeface="Aptos"/>
                <a:ea typeface="Aptos"/>
                <a:cs typeface="Aptos"/>
              </a:rPr>
              <a:t>Bank</a:t>
            </a:r>
          </a:p>
        </p:txBody>
      </p:sp>
      <p:sp>
        <p:nvSpPr>
          <p:cNvPr id="83" name="Rectangle 82">
            <a:extLst>
              <a:ext uri="{FF2B5EF4-FFF2-40B4-BE49-F238E27FC236}">
                <a16:creationId xmlns:a16="http://schemas.microsoft.com/office/drawing/2014/main" id="{105E3311-E3BC-47C9-8078-83102263C2CB}"/>
              </a:ext>
            </a:extLst>
          </p:cNvPr>
          <p:cNvSpPr>
            <a:spLocks noGrp="1"/>
          </p:cNvSpPr>
          <p:nvPr/>
        </p:nvSpPr>
        <p:spPr>
          <a:xfrm>
            <a:off x="3000375" y="4752975"/>
            <a:ext cx="1409700" cy="409575"/>
          </a:xfrm>
          <a:prstGeom prst="rect">
            <a:avLst/>
          </a:prstGeom>
          <a:solidFill>
            <a:srgbClr val="F8FAFB"/>
          </a:solidFill>
          <a:ln w="4763">
            <a:solidFill>
              <a:srgbClr val="D5E0E5"/>
            </a:solidFill>
            <a:prstDash val="solid"/>
          </a:ln>
        </p:spPr>
        <p:txBody>
          <a:bodyPr/>
          <a:lstStyle/>
          <a:p>
            <a:endParaRPr lang="en-US"/>
          </a:p>
        </p:txBody>
      </p:sp>
      <p:sp>
        <p:nvSpPr>
          <p:cNvPr id="84" name="Rectangle 83">
            <a:extLst>
              <a:ext uri="{FF2B5EF4-FFF2-40B4-BE49-F238E27FC236}">
                <a16:creationId xmlns:a16="http://schemas.microsoft.com/office/drawing/2014/main" id="{FB3E056E-00D5-46B0-B261-47A460E7115F}"/>
              </a:ext>
            </a:extLst>
          </p:cNvPr>
          <p:cNvSpPr>
            <a:spLocks noGrp="1"/>
          </p:cNvSpPr>
          <p:nvPr/>
        </p:nvSpPr>
        <p:spPr>
          <a:xfrm>
            <a:off x="3067050" y="4876800"/>
            <a:ext cx="1276350" cy="171450"/>
          </a:xfrm>
          <a:prstGeom prst="rect">
            <a:avLst/>
          </a:prstGeom>
          <a:noFill/>
          <a:ln w="0">
            <a:noFill/>
            <a:prstDash val="solid"/>
          </a:ln>
        </p:spPr>
        <p:txBody>
          <a:bodyPr/>
          <a:lstStyle/>
          <a:p>
            <a:pPr algn="ctr">
              <a:defRPr sz="863" b="0" i="0">
                <a:solidFill>
                  <a:srgbClr val="162E3B"/>
                </a:solidFill>
                <a:latin typeface="Aptos"/>
                <a:ea typeface="Aptos"/>
                <a:cs typeface="Aptos"/>
              </a:defRPr>
            </a:pPr>
            <a:r>
              <a:rPr sz="863" b="0" i="0">
                <a:solidFill>
                  <a:srgbClr val="162E3B"/>
                </a:solidFill>
                <a:latin typeface="Aptos"/>
                <a:ea typeface="Aptos"/>
                <a:cs typeface="Aptos"/>
              </a:rPr>
              <a:t>+0,05</a:t>
            </a:r>
          </a:p>
        </p:txBody>
      </p:sp>
      <p:sp>
        <p:nvSpPr>
          <p:cNvPr id="85" name="Rectangle 84">
            <a:extLst>
              <a:ext uri="{FF2B5EF4-FFF2-40B4-BE49-F238E27FC236}">
                <a16:creationId xmlns:a16="http://schemas.microsoft.com/office/drawing/2014/main" id="{02D000D9-CBD8-4225-AC67-D3344F1198DB}"/>
              </a:ext>
            </a:extLst>
          </p:cNvPr>
          <p:cNvSpPr>
            <a:spLocks noGrp="1"/>
          </p:cNvSpPr>
          <p:nvPr/>
        </p:nvSpPr>
        <p:spPr>
          <a:xfrm>
            <a:off x="4524375" y="4752975"/>
            <a:ext cx="1409700" cy="409575"/>
          </a:xfrm>
          <a:prstGeom prst="rect">
            <a:avLst/>
          </a:prstGeom>
          <a:solidFill>
            <a:srgbClr val="E3F1EF"/>
          </a:solidFill>
          <a:ln w="4763">
            <a:solidFill>
              <a:srgbClr val="D5E0E5"/>
            </a:solidFill>
            <a:prstDash val="solid"/>
          </a:ln>
        </p:spPr>
        <p:txBody>
          <a:bodyPr/>
          <a:lstStyle/>
          <a:p>
            <a:endParaRPr lang="en-US"/>
          </a:p>
        </p:txBody>
      </p:sp>
      <p:sp>
        <p:nvSpPr>
          <p:cNvPr id="86" name="Rectangle 85">
            <a:extLst>
              <a:ext uri="{FF2B5EF4-FFF2-40B4-BE49-F238E27FC236}">
                <a16:creationId xmlns:a16="http://schemas.microsoft.com/office/drawing/2014/main" id="{79C2F1CA-96A3-415C-84CC-80E3FC49D9D1}"/>
              </a:ext>
            </a:extLst>
          </p:cNvPr>
          <p:cNvSpPr>
            <a:spLocks noGrp="1"/>
          </p:cNvSpPr>
          <p:nvPr/>
        </p:nvSpPr>
        <p:spPr>
          <a:xfrm>
            <a:off x="4591050" y="4876800"/>
            <a:ext cx="1276350" cy="171450"/>
          </a:xfrm>
          <a:prstGeom prst="rect">
            <a:avLst/>
          </a:prstGeom>
          <a:noFill/>
          <a:ln w="0">
            <a:noFill/>
            <a:prstDash val="solid"/>
          </a:ln>
        </p:spPr>
        <p:txBody>
          <a:bodyPr/>
          <a:lstStyle/>
          <a:p>
            <a:pPr algn="ctr">
              <a:defRPr sz="863" b="1" i="0">
                <a:solidFill>
                  <a:srgbClr val="1B777F"/>
                </a:solidFill>
                <a:latin typeface="Aptos"/>
                <a:ea typeface="Aptos"/>
                <a:cs typeface="Aptos"/>
              </a:defRPr>
            </a:pPr>
            <a:r>
              <a:rPr sz="863" b="1" i="0">
                <a:solidFill>
                  <a:srgbClr val="1B777F"/>
                </a:solidFill>
                <a:latin typeface="Aptos"/>
                <a:ea typeface="Aptos"/>
                <a:cs typeface="Aptos"/>
              </a:rPr>
              <a:t>−0,05</a:t>
            </a:r>
          </a:p>
        </p:txBody>
      </p:sp>
      <p:sp>
        <p:nvSpPr>
          <p:cNvPr id="87" name="Rectangle 86">
            <a:extLst>
              <a:ext uri="{FF2B5EF4-FFF2-40B4-BE49-F238E27FC236}">
                <a16:creationId xmlns:a16="http://schemas.microsoft.com/office/drawing/2014/main" id="{7BCB40A5-66F6-4C5C-ADDB-A8B4673048E2}"/>
              </a:ext>
            </a:extLst>
          </p:cNvPr>
          <p:cNvSpPr>
            <a:spLocks noGrp="1"/>
          </p:cNvSpPr>
          <p:nvPr/>
        </p:nvSpPr>
        <p:spPr>
          <a:xfrm>
            <a:off x="6048375" y="4752975"/>
            <a:ext cx="1409700" cy="409575"/>
          </a:xfrm>
          <a:prstGeom prst="rect">
            <a:avLst/>
          </a:prstGeom>
          <a:solidFill>
            <a:srgbClr val="F8FAFB"/>
          </a:solidFill>
          <a:ln w="4763">
            <a:solidFill>
              <a:srgbClr val="D5E0E5"/>
            </a:solidFill>
            <a:prstDash val="solid"/>
          </a:ln>
        </p:spPr>
        <p:txBody>
          <a:bodyPr/>
          <a:lstStyle/>
          <a:p>
            <a:endParaRPr lang="en-US"/>
          </a:p>
        </p:txBody>
      </p:sp>
      <p:sp>
        <p:nvSpPr>
          <p:cNvPr id="88" name="Rectangle 87">
            <a:extLst>
              <a:ext uri="{FF2B5EF4-FFF2-40B4-BE49-F238E27FC236}">
                <a16:creationId xmlns:a16="http://schemas.microsoft.com/office/drawing/2014/main" id="{C3FF3AA3-93F0-47CD-994A-A935489AC780}"/>
              </a:ext>
            </a:extLst>
          </p:cNvPr>
          <p:cNvSpPr>
            <a:spLocks noGrp="1"/>
          </p:cNvSpPr>
          <p:nvPr/>
        </p:nvSpPr>
        <p:spPr>
          <a:xfrm>
            <a:off x="6115050" y="4876800"/>
            <a:ext cx="1276350" cy="171450"/>
          </a:xfrm>
          <a:prstGeom prst="rect">
            <a:avLst/>
          </a:prstGeom>
          <a:noFill/>
          <a:ln w="0">
            <a:noFill/>
            <a:prstDash val="solid"/>
          </a:ln>
        </p:spPr>
        <p:txBody>
          <a:bodyPr/>
          <a:lstStyle/>
          <a:p>
            <a:pPr algn="ctr">
              <a:defRPr sz="863" b="0" i="0">
                <a:solidFill>
                  <a:srgbClr val="162E3B"/>
                </a:solidFill>
                <a:latin typeface="Aptos"/>
                <a:ea typeface="Aptos"/>
                <a:cs typeface="Aptos"/>
              </a:defRPr>
            </a:pPr>
            <a:r>
              <a:rPr sz="863" b="0" i="0">
                <a:solidFill>
                  <a:srgbClr val="162E3B"/>
                </a:solidFill>
                <a:latin typeface="Aptos"/>
                <a:ea typeface="Aptos"/>
                <a:cs typeface="Aptos"/>
              </a:rPr>
              <a:t>+0,10</a:t>
            </a:r>
          </a:p>
        </p:txBody>
      </p:sp>
      <p:sp>
        <p:nvSpPr>
          <p:cNvPr id="89" name="Rectangle 88">
            <a:extLst>
              <a:ext uri="{FF2B5EF4-FFF2-40B4-BE49-F238E27FC236}">
                <a16:creationId xmlns:a16="http://schemas.microsoft.com/office/drawing/2014/main" id="{40DAC215-16F2-48F1-AA70-97153B4FBFB5}"/>
              </a:ext>
            </a:extLst>
          </p:cNvPr>
          <p:cNvSpPr>
            <a:spLocks noGrp="1"/>
          </p:cNvSpPr>
          <p:nvPr/>
        </p:nvSpPr>
        <p:spPr>
          <a:xfrm>
            <a:off x="7572375" y="4752975"/>
            <a:ext cx="1409700" cy="409575"/>
          </a:xfrm>
          <a:prstGeom prst="rect">
            <a:avLst/>
          </a:prstGeom>
          <a:solidFill>
            <a:srgbClr val="F8FAFB"/>
          </a:solidFill>
          <a:ln w="4763">
            <a:solidFill>
              <a:srgbClr val="D5E0E5"/>
            </a:solidFill>
            <a:prstDash val="solid"/>
          </a:ln>
        </p:spPr>
        <p:txBody>
          <a:bodyPr/>
          <a:lstStyle/>
          <a:p>
            <a:endParaRPr lang="en-US"/>
          </a:p>
        </p:txBody>
      </p:sp>
      <p:sp>
        <p:nvSpPr>
          <p:cNvPr id="90" name="Rectangle 89">
            <a:extLst>
              <a:ext uri="{FF2B5EF4-FFF2-40B4-BE49-F238E27FC236}">
                <a16:creationId xmlns:a16="http://schemas.microsoft.com/office/drawing/2014/main" id="{31C55C94-7550-426B-A34A-FFA508F8974F}"/>
              </a:ext>
            </a:extLst>
          </p:cNvPr>
          <p:cNvSpPr>
            <a:spLocks noGrp="1"/>
          </p:cNvSpPr>
          <p:nvPr/>
        </p:nvSpPr>
        <p:spPr>
          <a:xfrm>
            <a:off x="7639050" y="4876800"/>
            <a:ext cx="1276350" cy="171450"/>
          </a:xfrm>
          <a:prstGeom prst="rect">
            <a:avLst/>
          </a:prstGeom>
          <a:noFill/>
          <a:ln w="0">
            <a:noFill/>
            <a:prstDash val="solid"/>
          </a:ln>
        </p:spPr>
        <p:txBody>
          <a:bodyPr/>
          <a:lstStyle/>
          <a:p>
            <a:pPr algn="ctr">
              <a:defRPr sz="863" b="0" i="0">
                <a:solidFill>
                  <a:srgbClr val="162E3B"/>
                </a:solidFill>
                <a:latin typeface="Aptos"/>
                <a:ea typeface="Aptos"/>
                <a:cs typeface="Aptos"/>
              </a:defRPr>
            </a:pPr>
            <a:r>
              <a:rPr sz="863" b="0" i="0">
                <a:solidFill>
                  <a:srgbClr val="162E3B"/>
                </a:solidFill>
                <a:latin typeface="Aptos"/>
                <a:ea typeface="Aptos"/>
                <a:cs typeface="Aptos"/>
              </a:rPr>
              <a:t>+0,50</a:t>
            </a:r>
          </a:p>
        </p:txBody>
      </p:sp>
      <p:sp>
        <p:nvSpPr>
          <p:cNvPr id="91" name="Rectangle 90">
            <a:extLst>
              <a:ext uri="{FF2B5EF4-FFF2-40B4-BE49-F238E27FC236}">
                <a16:creationId xmlns:a16="http://schemas.microsoft.com/office/drawing/2014/main" id="{BFDC454C-741A-4BF7-BEB7-80536F88B5FE}"/>
              </a:ext>
            </a:extLst>
          </p:cNvPr>
          <p:cNvSpPr>
            <a:spLocks noGrp="1"/>
          </p:cNvSpPr>
          <p:nvPr/>
        </p:nvSpPr>
        <p:spPr>
          <a:xfrm>
            <a:off x="9096375" y="4752975"/>
            <a:ext cx="2638425" cy="409575"/>
          </a:xfrm>
          <a:prstGeom prst="rect">
            <a:avLst/>
          </a:prstGeom>
          <a:solidFill>
            <a:srgbClr val="F8FAFB"/>
          </a:solidFill>
          <a:ln w="4763">
            <a:solidFill>
              <a:srgbClr val="D5E0E5"/>
            </a:solidFill>
            <a:prstDash val="solid"/>
          </a:ln>
        </p:spPr>
        <p:txBody>
          <a:bodyPr/>
          <a:lstStyle/>
          <a:p>
            <a:endParaRPr lang="en-US"/>
          </a:p>
        </p:txBody>
      </p:sp>
      <p:sp>
        <p:nvSpPr>
          <p:cNvPr id="92" name="Rectangle 91">
            <a:extLst>
              <a:ext uri="{FF2B5EF4-FFF2-40B4-BE49-F238E27FC236}">
                <a16:creationId xmlns:a16="http://schemas.microsoft.com/office/drawing/2014/main" id="{EFAE7EE5-1F89-4452-A0BC-7766EE1F55CA}"/>
              </a:ext>
            </a:extLst>
          </p:cNvPr>
          <p:cNvSpPr>
            <a:spLocks noGrp="1"/>
          </p:cNvSpPr>
          <p:nvPr/>
        </p:nvSpPr>
        <p:spPr>
          <a:xfrm>
            <a:off x="9163050" y="4876800"/>
            <a:ext cx="2505075" cy="171450"/>
          </a:xfrm>
          <a:prstGeom prst="rect">
            <a:avLst/>
          </a:prstGeom>
          <a:noFill/>
          <a:ln w="0">
            <a:noFill/>
            <a:prstDash val="solid"/>
          </a:ln>
        </p:spPr>
        <p:txBody>
          <a:bodyPr/>
          <a:lstStyle/>
          <a:p>
            <a:pPr algn="l">
              <a:defRPr sz="863" b="0" i="0">
                <a:solidFill>
                  <a:srgbClr val="162E3B"/>
                </a:solidFill>
                <a:latin typeface="Aptos"/>
                <a:ea typeface="Aptos"/>
                <a:cs typeface="Aptos"/>
              </a:defRPr>
            </a:pPr>
            <a:r>
              <a:rPr sz="863" b="0" i="0">
                <a:solidFill>
                  <a:srgbClr val="162E3B"/>
                </a:solidFill>
                <a:latin typeface="Aptos"/>
                <a:ea typeface="Aptos"/>
                <a:cs typeface="Aptos"/>
              </a:rPr>
              <a:t>NIM-Effekt senkt PD</a:t>
            </a:r>
          </a:p>
        </p:txBody>
      </p:sp>
      <p:sp>
        <p:nvSpPr>
          <p:cNvPr id="93" name="Rectangle 92">
            <a:extLst>
              <a:ext uri="{FF2B5EF4-FFF2-40B4-BE49-F238E27FC236}">
                <a16:creationId xmlns:a16="http://schemas.microsoft.com/office/drawing/2014/main" id="{AFD03494-1F66-4EB9-8DF6-09EC0C75FF13}"/>
              </a:ext>
            </a:extLst>
          </p:cNvPr>
          <p:cNvSpPr>
            <a:spLocks noGrp="1"/>
          </p:cNvSpPr>
          <p:nvPr/>
        </p:nvSpPr>
        <p:spPr>
          <a:xfrm>
            <a:off x="457200" y="5162550"/>
            <a:ext cx="2428875" cy="409575"/>
          </a:xfrm>
          <a:prstGeom prst="rect">
            <a:avLst/>
          </a:prstGeom>
          <a:solidFill>
            <a:srgbClr val="FFFFFF"/>
          </a:solidFill>
          <a:ln w="4763">
            <a:solidFill>
              <a:srgbClr val="D5E0E5"/>
            </a:solidFill>
            <a:prstDash val="solid"/>
          </a:ln>
        </p:spPr>
        <p:txBody>
          <a:bodyPr/>
          <a:lstStyle/>
          <a:p>
            <a:endParaRPr lang="en-US"/>
          </a:p>
        </p:txBody>
      </p:sp>
      <p:sp>
        <p:nvSpPr>
          <p:cNvPr id="94" name="Rectangle 93">
            <a:extLst>
              <a:ext uri="{FF2B5EF4-FFF2-40B4-BE49-F238E27FC236}">
                <a16:creationId xmlns:a16="http://schemas.microsoft.com/office/drawing/2014/main" id="{A9E4A025-F0C1-46F8-B9BD-17DBB2C066F5}"/>
              </a:ext>
            </a:extLst>
          </p:cNvPr>
          <p:cNvSpPr>
            <a:spLocks noGrp="1"/>
          </p:cNvSpPr>
          <p:nvPr/>
        </p:nvSpPr>
        <p:spPr>
          <a:xfrm>
            <a:off x="523875" y="5286375"/>
            <a:ext cx="2295525" cy="171450"/>
          </a:xfrm>
          <a:prstGeom prst="rect">
            <a:avLst/>
          </a:prstGeom>
          <a:noFill/>
          <a:ln w="0">
            <a:noFill/>
            <a:prstDash val="solid"/>
          </a:ln>
        </p:spPr>
        <p:txBody>
          <a:bodyPr/>
          <a:lstStyle/>
          <a:p>
            <a:pPr algn="l">
              <a:defRPr sz="863" b="1" i="0">
                <a:solidFill>
                  <a:srgbClr val="162E3B"/>
                </a:solidFill>
                <a:latin typeface="Aptos"/>
                <a:ea typeface="Aptos"/>
                <a:cs typeface="Aptos"/>
              </a:defRPr>
            </a:pPr>
            <a:r>
              <a:rPr sz="863" b="1" i="0">
                <a:solidFill>
                  <a:srgbClr val="162E3B"/>
                </a:solidFill>
                <a:latin typeface="Aptos"/>
                <a:ea typeface="Aptos"/>
                <a:cs typeface="Aptos"/>
              </a:rPr>
              <a:t>Sovereign</a:t>
            </a:r>
          </a:p>
        </p:txBody>
      </p:sp>
      <p:sp>
        <p:nvSpPr>
          <p:cNvPr id="95" name="Rectangle 94">
            <a:extLst>
              <a:ext uri="{FF2B5EF4-FFF2-40B4-BE49-F238E27FC236}">
                <a16:creationId xmlns:a16="http://schemas.microsoft.com/office/drawing/2014/main" id="{7AD297C3-C2A2-4184-B556-59271B2F151B}"/>
              </a:ext>
            </a:extLst>
          </p:cNvPr>
          <p:cNvSpPr>
            <a:spLocks noGrp="1"/>
          </p:cNvSpPr>
          <p:nvPr/>
        </p:nvSpPr>
        <p:spPr>
          <a:xfrm>
            <a:off x="3000375" y="5162550"/>
            <a:ext cx="1409700" cy="409575"/>
          </a:xfrm>
          <a:prstGeom prst="rect">
            <a:avLst/>
          </a:prstGeom>
          <a:solidFill>
            <a:srgbClr val="F8EED3"/>
          </a:solidFill>
          <a:ln w="4763">
            <a:solidFill>
              <a:srgbClr val="D5E0E5"/>
            </a:solidFill>
            <a:prstDash val="solid"/>
          </a:ln>
        </p:spPr>
        <p:txBody>
          <a:bodyPr/>
          <a:lstStyle/>
          <a:p>
            <a:endParaRPr lang="en-US"/>
          </a:p>
        </p:txBody>
      </p:sp>
      <p:sp>
        <p:nvSpPr>
          <p:cNvPr id="96" name="Rectangle 95">
            <a:extLst>
              <a:ext uri="{FF2B5EF4-FFF2-40B4-BE49-F238E27FC236}">
                <a16:creationId xmlns:a16="http://schemas.microsoft.com/office/drawing/2014/main" id="{E13FA54B-F52E-44A2-914E-8485E73B1624}"/>
              </a:ext>
            </a:extLst>
          </p:cNvPr>
          <p:cNvSpPr>
            <a:spLocks noGrp="1"/>
          </p:cNvSpPr>
          <p:nvPr/>
        </p:nvSpPr>
        <p:spPr>
          <a:xfrm>
            <a:off x="3067050" y="5286375"/>
            <a:ext cx="1276350" cy="171450"/>
          </a:xfrm>
          <a:prstGeom prst="rect">
            <a:avLst/>
          </a:prstGeom>
          <a:noFill/>
          <a:ln w="0">
            <a:noFill/>
            <a:prstDash val="solid"/>
          </a:ln>
        </p:spPr>
        <p:txBody>
          <a:bodyPr/>
          <a:lstStyle/>
          <a:p>
            <a:pPr algn="ctr">
              <a:defRPr sz="863" b="0" i="0">
                <a:solidFill>
                  <a:srgbClr val="162E3B"/>
                </a:solidFill>
                <a:latin typeface="Aptos"/>
                <a:ea typeface="Aptos"/>
                <a:cs typeface="Aptos"/>
              </a:defRPr>
            </a:pPr>
            <a:r>
              <a:rPr sz="863" b="0" i="0">
                <a:solidFill>
                  <a:srgbClr val="162E3B"/>
                </a:solidFill>
                <a:latin typeface="Aptos"/>
                <a:ea typeface="Aptos"/>
                <a:cs typeface="Aptos"/>
              </a:rPr>
              <a:t>0,00</a:t>
            </a:r>
          </a:p>
        </p:txBody>
      </p:sp>
      <p:sp>
        <p:nvSpPr>
          <p:cNvPr id="97" name="Rectangle 96">
            <a:extLst>
              <a:ext uri="{FF2B5EF4-FFF2-40B4-BE49-F238E27FC236}">
                <a16:creationId xmlns:a16="http://schemas.microsoft.com/office/drawing/2014/main" id="{D023E294-E8D0-4C16-B2B2-20A0C3A7B73C}"/>
              </a:ext>
            </a:extLst>
          </p:cNvPr>
          <p:cNvSpPr>
            <a:spLocks noGrp="1"/>
          </p:cNvSpPr>
          <p:nvPr/>
        </p:nvSpPr>
        <p:spPr>
          <a:xfrm>
            <a:off x="4524375" y="5162550"/>
            <a:ext cx="1409700" cy="409575"/>
          </a:xfrm>
          <a:prstGeom prst="rect">
            <a:avLst/>
          </a:prstGeom>
          <a:solidFill>
            <a:srgbClr val="F8EED3"/>
          </a:solidFill>
          <a:ln w="4763">
            <a:solidFill>
              <a:srgbClr val="D5E0E5"/>
            </a:solidFill>
            <a:prstDash val="solid"/>
          </a:ln>
        </p:spPr>
        <p:txBody>
          <a:bodyPr/>
          <a:lstStyle/>
          <a:p>
            <a:endParaRPr lang="en-US"/>
          </a:p>
        </p:txBody>
      </p:sp>
      <p:sp>
        <p:nvSpPr>
          <p:cNvPr id="98" name="Rectangle 97">
            <a:extLst>
              <a:ext uri="{FF2B5EF4-FFF2-40B4-BE49-F238E27FC236}">
                <a16:creationId xmlns:a16="http://schemas.microsoft.com/office/drawing/2014/main" id="{F440A696-5C38-4FC4-8017-FFB791E935AC}"/>
              </a:ext>
            </a:extLst>
          </p:cNvPr>
          <p:cNvSpPr>
            <a:spLocks noGrp="1"/>
          </p:cNvSpPr>
          <p:nvPr/>
        </p:nvSpPr>
        <p:spPr>
          <a:xfrm>
            <a:off x="4591050" y="5286375"/>
            <a:ext cx="1276350" cy="171450"/>
          </a:xfrm>
          <a:prstGeom prst="rect">
            <a:avLst/>
          </a:prstGeom>
          <a:noFill/>
          <a:ln w="0">
            <a:noFill/>
            <a:prstDash val="solid"/>
          </a:ln>
        </p:spPr>
        <p:txBody>
          <a:bodyPr/>
          <a:lstStyle/>
          <a:p>
            <a:pPr algn="ctr">
              <a:defRPr sz="863" b="0" i="0">
                <a:solidFill>
                  <a:srgbClr val="162E3B"/>
                </a:solidFill>
                <a:latin typeface="Aptos"/>
                <a:ea typeface="Aptos"/>
                <a:cs typeface="Aptos"/>
              </a:defRPr>
            </a:pPr>
            <a:r>
              <a:rPr sz="863" b="0" i="0">
                <a:solidFill>
                  <a:srgbClr val="162E3B"/>
                </a:solidFill>
                <a:latin typeface="Aptos"/>
                <a:ea typeface="Aptos"/>
                <a:cs typeface="Aptos"/>
              </a:rPr>
              <a:t>0,00</a:t>
            </a:r>
          </a:p>
        </p:txBody>
      </p:sp>
      <p:sp>
        <p:nvSpPr>
          <p:cNvPr id="99" name="Rectangle 98">
            <a:extLst>
              <a:ext uri="{FF2B5EF4-FFF2-40B4-BE49-F238E27FC236}">
                <a16:creationId xmlns:a16="http://schemas.microsoft.com/office/drawing/2014/main" id="{A158BC4A-DCFA-443C-A610-D81EEF212BBD}"/>
              </a:ext>
            </a:extLst>
          </p:cNvPr>
          <p:cNvSpPr>
            <a:spLocks noGrp="1"/>
          </p:cNvSpPr>
          <p:nvPr/>
        </p:nvSpPr>
        <p:spPr>
          <a:xfrm>
            <a:off x="6048375" y="5162550"/>
            <a:ext cx="1409700" cy="409575"/>
          </a:xfrm>
          <a:prstGeom prst="rect">
            <a:avLst/>
          </a:prstGeom>
          <a:solidFill>
            <a:srgbClr val="F8EED3"/>
          </a:solidFill>
          <a:ln w="4763">
            <a:solidFill>
              <a:srgbClr val="D5E0E5"/>
            </a:solidFill>
            <a:prstDash val="solid"/>
          </a:ln>
        </p:spPr>
        <p:txBody>
          <a:bodyPr/>
          <a:lstStyle/>
          <a:p>
            <a:endParaRPr lang="en-US"/>
          </a:p>
        </p:txBody>
      </p:sp>
      <p:sp>
        <p:nvSpPr>
          <p:cNvPr id="100" name="Rectangle 99">
            <a:extLst>
              <a:ext uri="{FF2B5EF4-FFF2-40B4-BE49-F238E27FC236}">
                <a16:creationId xmlns:a16="http://schemas.microsoft.com/office/drawing/2014/main" id="{6675A42A-4EDB-4FBE-A512-0ADD3A79BA36}"/>
              </a:ext>
            </a:extLst>
          </p:cNvPr>
          <p:cNvSpPr>
            <a:spLocks noGrp="1"/>
          </p:cNvSpPr>
          <p:nvPr/>
        </p:nvSpPr>
        <p:spPr>
          <a:xfrm>
            <a:off x="6115050" y="5286375"/>
            <a:ext cx="1276350" cy="171450"/>
          </a:xfrm>
          <a:prstGeom prst="rect">
            <a:avLst/>
          </a:prstGeom>
          <a:noFill/>
          <a:ln w="0">
            <a:noFill/>
            <a:prstDash val="solid"/>
          </a:ln>
        </p:spPr>
        <p:txBody>
          <a:bodyPr/>
          <a:lstStyle/>
          <a:p>
            <a:pPr algn="ctr">
              <a:defRPr sz="863" b="0" i="0">
                <a:solidFill>
                  <a:srgbClr val="162E3B"/>
                </a:solidFill>
                <a:latin typeface="Aptos"/>
                <a:ea typeface="Aptos"/>
                <a:cs typeface="Aptos"/>
              </a:defRPr>
            </a:pPr>
            <a:r>
              <a:rPr sz="863" b="0" i="0">
                <a:solidFill>
                  <a:srgbClr val="162E3B"/>
                </a:solidFill>
                <a:latin typeface="Aptos"/>
                <a:ea typeface="Aptos"/>
                <a:cs typeface="Aptos"/>
              </a:rPr>
              <a:t>0,00</a:t>
            </a:r>
          </a:p>
        </p:txBody>
      </p:sp>
      <p:sp>
        <p:nvSpPr>
          <p:cNvPr id="101" name="Rectangle 100">
            <a:extLst>
              <a:ext uri="{FF2B5EF4-FFF2-40B4-BE49-F238E27FC236}">
                <a16:creationId xmlns:a16="http://schemas.microsoft.com/office/drawing/2014/main" id="{9D780BC3-F535-433D-9138-58E69E1DEAAC}"/>
              </a:ext>
            </a:extLst>
          </p:cNvPr>
          <p:cNvSpPr>
            <a:spLocks noGrp="1"/>
          </p:cNvSpPr>
          <p:nvPr/>
        </p:nvSpPr>
        <p:spPr>
          <a:xfrm>
            <a:off x="7572375" y="5162550"/>
            <a:ext cx="1409700" cy="409575"/>
          </a:xfrm>
          <a:prstGeom prst="rect">
            <a:avLst/>
          </a:prstGeom>
          <a:solidFill>
            <a:srgbClr val="F8EED3"/>
          </a:solidFill>
          <a:ln w="4763">
            <a:solidFill>
              <a:srgbClr val="D5E0E5"/>
            </a:solidFill>
            <a:prstDash val="solid"/>
          </a:ln>
        </p:spPr>
        <p:txBody>
          <a:bodyPr/>
          <a:lstStyle/>
          <a:p>
            <a:endParaRPr lang="en-US"/>
          </a:p>
        </p:txBody>
      </p:sp>
      <p:sp>
        <p:nvSpPr>
          <p:cNvPr id="102" name="Rectangle 101">
            <a:extLst>
              <a:ext uri="{FF2B5EF4-FFF2-40B4-BE49-F238E27FC236}">
                <a16:creationId xmlns:a16="http://schemas.microsoft.com/office/drawing/2014/main" id="{ADABF3D6-ED24-4B3B-A2F5-B1BDBF753280}"/>
              </a:ext>
            </a:extLst>
          </p:cNvPr>
          <p:cNvSpPr>
            <a:spLocks noGrp="1"/>
          </p:cNvSpPr>
          <p:nvPr/>
        </p:nvSpPr>
        <p:spPr>
          <a:xfrm>
            <a:off x="7639050" y="5286375"/>
            <a:ext cx="1276350" cy="171450"/>
          </a:xfrm>
          <a:prstGeom prst="rect">
            <a:avLst/>
          </a:prstGeom>
          <a:noFill/>
          <a:ln w="0">
            <a:noFill/>
            <a:prstDash val="solid"/>
          </a:ln>
        </p:spPr>
        <p:txBody>
          <a:bodyPr/>
          <a:lstStyle/>
          <a:p>
            <a:pPr algn="ctr">
              <a:defRPr sz="863" b="0" i="0">
                <a:solidFill>
                  <a:srgbClr val="162E3B"/>
                </a:solidFill>
                <a:latin typeface="Aptos"/>
                <a:ea typeface="Aptos"/>
                <a:cs typeface="Aptos"/>
              </a:defRPr>
            </a:pPr>
            <a:r>
              <a:rPr sz="863" b="0" i="0">
                <a:solidFill>
                  <a:srgbClr val="162E3B"/>
                </a:solidFill>
                <a:latin typeface="Aptos"/>
                <a:ea typeface="Aptos"/>
                <a:cs typeface="Aptos"/>
              </a:rPr>
              <a:t>0,00</a:t>
            </a:r>
          </a:p>
        </p:txBody>
      </p:sp>
      <p:sp>
        <p:nvSpPr>
          <p:cNvPr id="103" name="Rectangle 102">
            <a:extLst>
              <a:ext uri="{FF2B5EF4-FFF2-40B4-BE49-F238E27FC236}">
                <a16:creationId xmlns:a16="http://schemas.microsoft.com/office/drawing/2014/main" id="{C4E16AA3-2BEE-45B9-B390-70D2DA5839EE}"/>
              </a:ext>
            </a:extLst>
          </p:cNvPr>
          <p:cNvSpPr>
            <a:spLocks noGrp="1"/>
          </p:cNvSpPr>
          <p:nvPr/>
        </p:nvSpPr>
        <p:spPr>
          <a:xfrm>
            <a:off x="9096375" y="5162550"/>
            <a:ext cx="2638425" cy="409575"/>
          </a:xfrm>
          <a:prstGeom prst="rect">
            <a:avLst/>
          </a:prstGeom>
          <a:solidFill>
            <a:srgbClr val="FFFFFF"/>
          </a:solidFill>
          <a:ln w="4763">
            <a:solidFill>
              <a:srgbClr val="D5E0E5"/>
            </a:solidFill>
            <a:prstDash val="solid"/>
          </a:ln>
        </p:spPr>
        <p:txBody>
          <a:bodyPr/>
          <a:lstStyle/>
          <a:p>
            <a:endParaRPr lang="en-US"/>
          </a:p>
        </p:txBody>
      </p:sp>
      <p:sp>
        <p:nvSpPr>
          <p:cNvPr id="104" name="Rectangle 103">
            <a:extLst>
              <a:ext uri="{FF2B5EF4-FFF2-40B4-BE49-F238E27FC236}">
                <a16:creationId xmlns:a16="http://schemas.microsoft.com/office/drawing/2014/main" id="{B5B8B7C9-E40D-4EE9-B4E9-02825D708707}"/>
              </a:ext>
            </a:extLst>
          </p:cNvPr>
          <p:cNvSpPr>
            <a:spLocks noGrp="1"/>
          </p:cNvSpPr>
          <p:nvPr/>
        </p:nvSpPr>
        <p:spPr>
          <a:xfrm>
            <a:off x="9163050" y="5286375"/>
            <a:ext cx="2505075" cy="171450"/>
          </a:xfrm>
          <a:prstGeom prst="rect">
            <a:avLst/>
          </a:prstGeom>
          <a:noFill/>
          <a:ln w="0">
            <a:noFill/>
            <a:prstDash val="solid"/>
          </a:ln>
        </p:spPr>
        <p:txBody>
          <a:bodyPr/>
          <a:lstStyle/>
          <a:p>
            <a:pPr algn="l">
              <a:defRPr sz="863" b="0" i="0">
                <a:solidFill>
                  <a:srgbClr val="162E3B"/>
                </a:solidFill>
                <a:latin typeface="Aptos"/>
                <a:ea typeface="Aptos"/>
                <a:cs typeface="Aptos"/>
              </a:defRPr>
            </a:pPr>
            <a:r>
              <a:rPr sz="863" b="0" i="0">
                <a:solidFill>
                  <a:srgbClr val="162E3B"/>
                </a:solidFill>
                <a:latin typeface="Aptos"/>
                <a:ea typeface="Aptos"/>
                <a:cs typeface="Aptos"/>
              </a:rPr>
              <a:t>separater MtM-Kanal</a:t>
            </a:r>
          </a:p>
        </p:txBody>
      </p:sp>
      <p:sp>
        <p:nvSpPr>
          <p:cNvPr id="105" name="Rectangle 104">
            <a:extLst>
              <a:ext uri="{FF2B5EF4-FFF2-40B4-BE49-F238E27FC236}">
                <a16:creationId xmlns:a16="http://schemas.microsoft.com/office/drawing/2014/main" id="{33BFFA68-3A23-4E6B-AE2A-A042BC589DCF}"/>
              </a:ext>
            </a:extLst>
          </p:cNvPr>
          <p:cNvSpPr>
            <a:spLocks noGrp="1"/>
          </p:cNvSpPr>
          <p:nvPr/>
        </p:nvSpPr>
        <p:spPr>
          <a:xfrm>
            <a:off x="457200" y="5743575"/>
            <a:ext cx="11277600" cy="228600"/>
          </a:xfrm>
          <a:prstGeom prst="rect">
            <a:avLst/>
          </a:prstGeom>
          <a:noFill/>
          <a:ln w="0">
            <a:noFill/>
            <a:prstDash val="solid"/>
          </a:ln>
        </p:spPr>
        <p:txBody>
          <a:bodyPr/>
          <a:lstStyle/>
          <a:p>
            <a:pPr algn="ctr">
              <a:defRPr sz="975" b="1" i="0">
                <a:solidFill>
                  <a:srgbClr val="A52F4D"/>
                </a:solidFill>
                <a:latin typeface="Aptos"/>
                <a:ea typeface="Aptos"/>
                <a:cs typeface="Aptos"/>
              </a:defRPr>
            </a:pPr>
            <a:r>
              <a:rPr sz="975" b="1" i="0">
                <a:solidFill>
                  <a:srgbClr val="A52F4D"/>
                </a:solidFill>
                <a:latin typeface="Aptos"/>
                <a:ea typeface="Aptos"/>
                <a:cs typeface="Aptos"/>
              </a:rPr>
              <a:t>Lesebeispiel: +0,50 Brent und +2,0 pp Zins ergeben für Corporate ΔPD = +0,55 pp und ΔLGD = +2,25 pp.</a:t>
            </a:r>
          </a:p>
        </p:txBody>
      </p:sp>
      <p:sp>
        <p:nvSpPr>
          <p:cNvPr id="106" name="Rectangle 105">
            <a:extLst>
              <a:ext uri="{FF2B5EF4-FFF2-40B4-BE49-F238E27FC236}">
                <a16:creationId xmlns:a16="http://schemas.microsoft.com/office/drawing/2014/main" id="{26091C87-E849-4C60-A151-14CB45CAB2EB}"/>
              </a:ext>
            </a:extLst>
          </p:cNvPr>
          <p:cNvSpPr>
            <a:spLocks noGrp="1"/>
          </p:cNvSpPr>
          <p:nvPr/>
        </p:nvSpPr>
        <p:spPr>
          <a:xfrm>
            <a:off x="457200" y="6486525"/>
            <a:ext cx="10382250" cy="152400"/>
          </a:xfrm>
          <a:prstGeom prst="rect">
            <a:avLst/>
          </a:prstGeom>
          <a:noFill/>
          <a:ln w="0">
            <a:noFill/>
            <a:prstDash val="solid"/>
          </a:ln>
        </p:spPr>
        <p:txBody>
          <a:bodyPr/>
          <a:lstStyle/>
          <a:p>
            <a:pPr algn="l">
              <a:defRPr sz="653" b="0" i="0">
                <a:solidFill>
                  <a:srgbClr val="71858F"/>
                </a:solidFill>
                <a:latin typeface="Aptos"/>
                <a:ea typeface="Aptos"/>
                <a:cs typeface="Aptos"/>
              </a:defRPr>
            </a:pPr>
            <a:r>
              <a:rPr sz="653" b="0" i="0">
                <a:solidFill>
                  <a:srgbClr val="71858F"/>
                </a:solidFill>
                <a:latin typeface="Aptos"/>
                <a:ea typeface="Aptos"/>
                <a:cs typeface="Aptos"/>
              </a:rPr>
              <a:t>Quelle: EBA §2.4.2 · ECB WP 2897/3112 · ECB FSR · Modellmatrix in two_factor_stress.py</a:t>
            </a:r>
          </a:p>
        </p:txBody>
      </p:sp>
      <p:sp>
        <p:nvSpPr>
          <p:cNvPr id="5" name="CodexSlideNumber">
            <a:extLst>
              <a:ext uri="{FF2B5EF4-FFF2-40B4-BE49-F238E27FC236}">
                <a16:creationId xmlns:a16="http://schemas.microsoft.com/office/drawing/2014/main" id="{6C58171C-FE6B-2654-CF5B-399FA01C9C64}"/>
              </a:ext>
            </a:extLst>
          </p:cNvPr>
          <p:cNvSpPr txBox="1"/>
          <p:nvPr/>
        </p:nvSpPr>
        <p:spPr>
          <a:xfrm>
            <a:off x="11226800" y="6553200"/>
            <a:ext cx="736600" cy="123111"/>
          </a:xfrm>
          <a:prstGeom prst="rect">
            <a:avLst/>
          </a:prstGeom>
          <a:noFill/>
        </p:spPr>
        <p:txBody>
          <a:bodyPr vert="horz" lIns="0" tIns="0" rIns="0" bIns="0" rtlCol="0">
            <a:spAutoFit/>
          </a:bodyPr>
          <a:lstStyle/>
          <a:p>
            <a:pPr algn="r"/>
            <a:r>
              <a:rPr lang="en-US" sz="800">
                <a:solidFill>
                  <a:srgbClr val="525252"/>
                </a:solidFill>
                <a:latin typeface="Arial" panose="020B0604020202020204" pitchFamily="34" charset="0"/>
              </a:rPr>
              <a:t>14 / 64</a:t>
            </a:r>
          </a:p>
        </p:txBody>
      </p:sp>
    </p:spTree>
    <p:extLst>
      <p:ext uri="{BB962C8B-B14F-4D97-AF65-F5344CB8AC3E}">
        <p14:creationId xmlns:p14="http://schemas.microsoft.com/office/powerpoint/2010/main" val="8266465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F0A0E18-8F6C-4CE6-B779-22499E59AC0E}"/>
              </a:ext>
            </a:extLst>
          </p:cNvPr>
          <p:cNvSpPr>
            <a:spLocks noGrp="1"/>
          </p:cNvSpPr>
          <p:nvPr/>
        </p:nvSpPr>
        <p:spPr>
          <a:xfrm>
            <a:off x="457200" y="228600"/>
            <a:ext cx="4572000" cy="171450"/>
          </a:xfrm>
          <a:prstGeom prst="rect">
            <a:avLst/>
          </a:prstGeom>
          <a:noFill/>
          <a:ln w="0">
            <a:noFill/>
            <a:prstDash val="solid"/>
          </a:ln>
        </p:spPr>
        <p:txBody>
          <a:bodyPr/>
          <a:lstStyle/>
          <a:p>
            <a:pPr algn="l">
              <a:defRPr sz="863" b="1" i="0">
                <a:solidFill>
                  <a:srgbClr val="A52F4D"/>
                </a:solidFill>
                <a:latin typeface="Aptos"/>
                <a:ea typeface="Aptos"/>
                <a:cs typeface="Aptos"/>
              </a:defRPr>
            </a:pPr>
            <a:r>
              <a:rPr lang="en-GB" sz="863" b="1" i="0" dirty="0">
                <a:solidFill>
                  <a:schemeClr val="tx2"/>
                </a:solidFill>
                <a:latin typeface="Aptos"/>
                <a:ea typeface="Aptos"/>
                <a:cs typeface="Aptos"/>
              </a:rPr>
              <a:t>KONKRETER MODELLLAUF</a:t>
            </a:r>
          </a:p>
        </p:txBody>
      </p:sp>
      <p:sp>
        <p:nvSpPr>
          <p:cNvPr id="3" name="Rectangle 2">
            <a:extLst>
              <a:ext uri="{FF2B5EF4-FFF2-40B4-BE49-F238E27FC236}">
                <a16:creationId xmlns:a16="http://schemas.microsoft.com/office/drawing/2014/main" id="{F10B46D7-A011-4DCF-AD6A-A56E82893C6E}"/>
              </a:ext>
            </a:extLst>
          </p:cNvPr>
          <p:cNvSpPr>
            <a:spLocks noGrp="1"/>
          </p:cNvSpPr>
          <p:nvPr/>
        </p:nvSpPr>
        <p:spPr>
          <a:xfrm>
            <a:off x="457200" y="457200"/>
            <a:ext cx="11191875" cy="409575"/>
          </a:xfrm>
          <a:prstGeom prst="rect">
            <a:avLst/>
          </a:prstGeom>
          <a:noFill/>
          <a:ln w="0">
            <a:noFill/>
            <a:prstDash val="solid"/>
          </a:ln>
        </p:spPr>
        <p:txBody>
          <a:bodyPr/>
          <a:lstStyle/>
          <a:p>
            <a:pPr algn="l">
              <a:defRPr sz="2475" b="1" i="0">
                <a:solidFill>
                  <a:srgbClr val="051C2C"/>
                </a:solidFill>
                <a:latin typeface="Aptos Display"/>
                <a:ea typeface="Aptos Display"/>
                <a:cs typeface="Aptos Display"/>
              </a:defRPr>
            </a:pPr>
            <a:r>
              <a:rPr sz="2475" b="1" i="0">
                <a:solidFill>
                  <a:srgbClr val="051C2C"/>
                </a:solidFill>
                <a:latin typeface="Aptos Display"/>
                <a:ea typeface="Aptos Display"/>
                <a:cs typeface="Aptos Display"/>
              </a:rPr>
              <a:t>Retail-PD steigt am stärksten; Bank-PD sinkt leicht</a:t>
            </a:r>
          </a:p>
        </p:txBody>
      </p:sp>
      <p:sp>
        <p:nvSpPr>
          <p:cNvPr id="4" name="Rectangle 3">
            <a:extLst>
              <a:ext uri="{FF2B5EF4-FFF2-40B4-BE49-F238E27FC236}">
                <a16:creationId xmlns:a16="http://schemas.microsoft.com/office/drawing/2014/main" id="{1BE587DF-53F7-4EAC-B1CE-14ED76E782A6}"/>
              </a:ext>
            </a:extLst>
          </p:cNvPr>
          <p:cNvSpPr>
            <a:spLocks noGrp="1"/>
          </p:cNvSpPr>
          <p:nvPr/>
        </p:nvSpPr>
        <p:spPr>
          <a:xfrm>
            <a:off x="457200" y="914400"/>
            <a:ext cx="11096625" cy="228600"/>
          </a:xfrm>
          <a:prstGeom prst="rect">
            <a:avLst/>
          </a:prstGeom>
          <a:noFill/>
          <a:ln w="0">
            <a:noFill/>
            <a:prstDash val="solid"/>
          </a:ln>
        </p:spPr>
        <p:txBody>
          <a:bodyPr/>
          <a:lstStyle/>
          <a:p>
            <a:pPr algn="l">
              <a:defRPr sz="1125" b="0" i="0">
                <a:solidFill>
                  <a:srgbClr val="4F6875"/>
                </a:solidFill>
                <a:latin typeface="Aptos"/>
                <a:ea typeface="Aptos"/>
                <a:cs typeface="Aptos"/>
              </a:defRPr>
            </a:pPr>
            <a:r>
              <a:rPr sz="1125" b="0" i="0" err="1">
                <a:solidFill>
                  <a:srgbClr val="4F6875"/>
                </a:solidFill>
                <a:latin typeface="Aptos"/>
                <a:ea typeface="Aptos"/>
                <a:cs typeface="Aptos"/>
              </a:rPr>
              <a:t>Szenario</a:t>
            </a:r>
            <a:r>
              <a:rPr sz="1125" b="0" i="0">
                <a:solidFill>
                  <a:srgbClr val="4F6875"/>
                </a:solidFill>
                <a:latin typeface="Aptos"/>
                <a:ea typeface="Aptos"/>
                <a:cs typeface="Aptos"/>
              </a:rPr>
              <a:t>: </a:t>
            </a:r>
            <a:r>
              <a:rPr sz="1125" b="0" i="0" err="1">
                <a:solidFill>
                  <a:srgbClr val="4F6875"/>
                </a:solidFill>
                <a:latin typeface="Aptos"/>
                <a:ea typeface="Aptos"/>
                <a:cs typeface="Aptos"/>
              </a:rPr>
              <a:t>ΔBrent</a:t>
            </a:r>
            <a:r>
              <a:rPr sz="1125" b="0" i="0">
                <a:solidFill>
                  <a:srgbClr val="4F6875"/>
                </a:solidFill>
                <a:latin typeface="Aptos"/>
                <a:ea typeface="Aptos"/>
                <a:cs typeface="Aptos"/>
              </a:rPr>
              <a:t> +0,50 log ≈ +65 % </a:t>
            </a:r>
            <a:r>
              <a:rPr sz="1125" b="0" i="0" err="1">
                <a:solidFill>
                  <a:srgbClr val="4F6875"/>
                </a:solidFill>
                <a:latin typeface="Aptos"/>
                <a:ea typeface="Aptos"/>
                <a:cs typeface="Aptos"/>
              </a:rPr>
              <a:t>Ölpreis</a:t>
            </a:r>
            <a:r>
              <a:rPr sz="1125" b="0" i="0">
                <a:solidFill>
                  <a:srgbClr val="4F6875"/>
                </a:solidFill>
                <a:latin typeface="Aptos"/>
                <a:ea typeface="Aptos"/>
                <a:cs typeface="Aptos"/>
              </a:rPr>
              <a:t> und </a:t>
            </a:r>
            <a:r>
              <a:rPr sz="1125" b="0" i="0" err="1">
                <a:solidFill>
                  <a:srgbClr val="4F6875"/>
                </a:solidFill>
                <a:latin typeface="Aptos"/>
                <a:ea typeface="Aptos"/>
                <a:cs typeface="Aptos"/>
              </a:rPr>
              <a:t>Δr</a:t>
            </a:r>
            <a:r>
              <a:rPr sz="1125" b="0" i="0">
                <a:solidFill>
                  <a:srgbClr val="4F6875"/>
                </a:solidFill>
                <a:latin typeface="Aptos"/>
                <a:ea typeface="Aptos"/>
                <a:cs typeface="Aptos"/>
              </a:rPr>
              <a:t> 10Y +2,0 pp = +200 bp.</a:t>
            </a:r>
          </a:p>
        </p:txBody>
      </p:sp>
      <p:sp>
        <p:nvSpPr>
          <p:cNvPr id="6" name="Rectangle: Rounded Corners 5">
            <a:extLst>
              <a:ext uri="{FF2B5EF4-FFF2-40B4-BE49-F238E27FC236}">
                <a16:creationId xmlns:a16="http://schemas.microsoft.com/office/drawing/2014/main" id="{777A67C0-E9C2-4A11-B123-CDC11EC75CEE}"/>
              </a:ext>
            </a:extLst>
          </p:cNvPr>
          <p:cNvSpPr>
            <a:spLocks noGrp="1"/>
          </p:cNvSpPr>
          <p:nvPr/>
        </p:nvSpPr>
        <p:spPr>
          <a:xfrm>
            <a:off x="457200" y="1381125"/>
            <a:ext cx="781050" cy="219075"/>
          </a:xfrm>
          <a:prstGeom prst="roundRect">
            <a:avLst>
              <a:gd name="adj" fmla="val 50000"/>
            </a:avLst>
          </a:prstGeom>
          <a:solidFill>
            <a:srgbClr val="A52F4D"/>
          </a:solidFill>
          <a:ln w="0">
            <a:noFill/>
            <a:prstDash val="solid"/>
          </a:ln>
        </p:spPr>
        <p:txBody>
          <a:bodyPr/>
          <a:lstStyle/>
          <a:p>
            <a:endParaRPr lang="en-US"/>
          </a:p>
        </p:txBody>
      </p:sp>
      <p:sp>
        <p:nvSpPr>
          <p:cNvPr id="7" name="Rectangle 6">
            <a:extLst>
              <a:ext uri="{FF2B5EF4-FFF2-40B4-BE49-F238E27FC236}">
                <a16:creationId xmlns:a16="http://schemas.microsoft.com/office/drawing/2014/main" id="{D68081F5-621E-4087-A8FB-A0DBE88D2022}"/>
              </a:ext>
            </a:extLst>
          </p:cNvPr>
          <p:cNvSpPr>
            <a:spLocks noGrp="1"/>
          </p:cNvSpPr>
          <p:nvPr/>
        </p:nvSpPr>
        <p:spPr>
          <a:xfrm>
            <a:off x="495300" y="1419225"/>
            <a:ext cx="704850" cy="142875"/>
          </a:xfrm>
          <a:prstGeom prst="rect">
            <a:avLst/>
          </a:prstGeom>
          <a:noFill/>
          <a:ln w="0">
            <a:noFill/>
            <a:prstDash val="solid"/>
          </a:ln>
        </p:spPr>
        <p:txBody>
          <a:bodyPr/>
          <a:lstStyle/>
          <a:p>
            <a:pPr algn="ctr">
              <a:defRPr sz="713" b="1" i="0">
                <a:solidFill>
                  <a:srgbClr val="FFFFFF"/>
                </a:solidFill>
                <a:latin typeface="Aptos"/>
                <a:ea typeface="Aptos"/>
                <a:cs typeface="Aptos"/>
              </a:defRPr>
            </a:pPr>
            <a:r>
              <a:rPr sz="713" b="1" i="0">
                <a:solidFill>
                  <a:srgbClr val="FFFFFF"/>
                </a:solidFill>
                <a:latin typeface="Aptos"/>
                <a:ea typeface="Aptos"/>
                <a:cs typeface="Aptos"/>
              </a:rPr>
              <a:t>SZENARIO</a:t>
            </a:r>
          </a:p>
        </p:txBody>
      </p:sp>
      <p:sp>
        <p:nvSpPr>
          <p:cNvPr id="8" name="Rectangle: Rounded Corners 7">
            <a:extLst>
              <a:ext uri="{FF2B5EF4-FFF2-40B4-BE49-F238E27FC236}">
                <a16:creationId xmlns:a16="http://schemas.microsoft.com/office/drawing/2014/main" id="{DE0870E1-E856-4AF3-AC55-0CC3DF2E296E}"/>
              </a:ext>
            </a:extLst>
          </p:cNvPr>
          <p:cNvSpPr>
            <a:spLocks noGrp="1"/>
          </p:cNvSpPr>
          <p:nvPr/>
        </p:nvSpPr>
        <p:spPr>
          <a:xfrm>
            <a:off x="1381125" y="1314450"/>
            <a:ext cx="2333625" cy="895350"/>
          </a:xfrm>
          <a:prstGeom prst="roundRect">
            <a:avLst>
              <a:gd name="adj" fmla="val 12766"/>
            </a:avLst>
          </a:prstGeom>
          <a:solidFill>
            <a:srgbClr val="FFFFFF"/>
          </a:solidFill>
          <a:ln w="9525">
            <a:solidFill>
              <a:srgbClr val="D5E0E5"/>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9" name="Rectangle 8">
            <a:extLst>
              <a:ext uri="{FF2B5EF4-FFF2-40B4-BE49-F238E27FC236}">
                <a16:creationId xmlns:a16="http://schemas.microsoft.com/office/drawing/2014/main" id="{42EEB609-9C16-4623-87D0-1637E136A9C0}"/>
              </a:ext>
            </a:extLst>
          </p:cNvPr>
          <p:cNvSpPr>
            <a:spLocks noGrp="1"/>
          </p:cNvSpPr>
          <p:nvPr/>
        </p:nvSpPr>
        <p:spPr>
          <a:xfrm>
            <a:off x="1381125" y="1314450"/>
            <a:ext cx="2333625" cy="47625"/>
          </a:xfrm>
          <a:prstGeom prst="rect">
            <a:avLst/>
          </a:prstGeom>
          <a:solidFill>
            <a:srgbClr val="0B5D7A"/>
          </a:solidFill>
          <a:ln w="0">
            <a:noFill/>
            <a:prstDash val="solid"/>
          </a:ln>
        </p:spPr>
        <p:txBody>
          <a:bodyPr/>
          <a:lstStyle/>
          <a:p>
            <a:endParaRPr lang="en-US"/>
          </a:p>
        </p:txBody>
      </p:sp>
      <p:sp>
        <p:nvSpPr>
          <p:cNvPr id="10" name="Rectangle 9">
            <a:extLst>
              <a:ext uri="{FF2B5EF4-FFF2-40B4-BE49-F238E27FC236}">
                <a16:creationId xmlns:a16="http://schemas.microsoft.com/office/drawing/2014/main" id="{AE0F0748-3AC0-4FD6-ADAA-01A5C97C7207}"/>
              </a:ext>
            </a:extLst>
          </p:cNvPr>
          <p:cNvSpPr>
            <a:spLocks noGrp="1"/>
          </p:cNvSpPr>
          <p:nvPr/>
        </p:nvSpPr>
        <p:spPr>
          <a:xfrm>
            <a:off x="1514475" y="1457325"/>
            <a:ext cx="2066925" cy="171450"/>
          </a:xfrm>
          <a:prstGeom prst="rect">
            <a:avLst/>
          </a:prstGeom>
          <a:noFill/>
          <a:ln w="0">
            <a:noFill/>
            <a:prstDash val="solid"/>
          </a:ln>
        </p:spPr>
        <p:txBody>
          <a:bodyPr/>
          <a:lstStyle/>
          <a:p>
            <a:pPr algn="l">
              <a:defRPr sz="788" b="1" i="0">
                <a:solidFill>
                  <a:srgbClr val="71858F"/>
                </a:solidFill>
                <a:latin typeface="Aptos"/>
                <a:ea typeface="Aptos"/>
                <a:cs typeface="Aptos"/>
              </a:defRPr>
            </a:pPr>
            <a:r>
              <a:rPr sz="788" b="1" i="0">
                <a:solidFill>
                  <a:srgbClr val="71858F"/>
                </a:solidFill>
                <a:latin typeface="Aptos"/>
                <a:ea typeface="Aptos"/>
                <a:cs typeface="Aptos"/>
              </a:rPr>
              <a:t>ÖLPREIS-SCHOCK</a:t>
            </a:r>
          </a:p>
        </p:txBody>
      </p:sp>
      <p:sp>
        <p:nvSpPr>
          <p:cNvPr id="11" name="Rectangle 10">
            <a:extLst>
              <a:ext uri="{FF2B5EF4-FFF2-40B4-BE49-F238E27FC236}">
                <a16:creationId xmlns:a16="http://schemas.microsoft.com/office/drawing/2014/main" id="{9C5C0DDF-5184-407C-B9AB-C3797E6B4EB8}"/>
              </a:ext>
            </a:extLst>
          </p:cNvPr>
          <p:cNvSpPr>
            <a:spLocks noGrp="1"/>
          </p:cNvSpPr>
          <p:nvPr/>
        </p:nvSpPr>
        <p:spPr>
          <a:xfrm>
            <a:off x="1514475" y="1666875"/>
            <a:ext cx="2066925" cy="323850"/>
          </a:xfrm>
          <a:prstGeom prst="rect">
            <a:avLst/>
          </a:prstGeom>
          <a:noFill/>
          <a:ln w="0">
            <a:noFill/>
            <a:prstDash val="solid"/>
          </a:ln>
        </p:spPr>
        <p:txBody>
          <a:bodyPr/>
          <a:lstStyle/>
          <a:p>
            <a:pPr algn="l">
              <a:defRPr sz="1875" b="1" i="0">
                <a:solidFill>
                  <a:srgbClr val="051C2C"/>
                </a:solidFill>
                <a:latin typeface="Aptos Display"/>
                <a:ea typeface="Aptos Display"/>
                <a:cs typeface="Aptos Display"/>
              </a:defRPr>
            </a:pPr>
            <a:r>
              <a:rPr sz="1875" b="1" i="0">
                <a:solidFill>
                  <a:srgbClr val="051C2C"/>
                </a:solidFill>
                <a:latin typeface="Aptos Display"/>
                <a:ea typeface="Aptos Display"/>
                <a:cs typeface="Aptos Display"/>
              </a:rPr>
              <a:t>+0,50 log</a:t>
            </a:r>
          </a:p>
        </p:txBody>
      </p:sp>
      <p:sp>
        <p:nvSpPr>
          <p:cNvPr id="12" name="Rectangle 11">
            <a:extLst>
              <a:ext uri="{FF2B5EF4-FFF2-40B4-BE49-F238E27FC236}">
                <a16:creationId xmlns:a16="http://schemas.microsoft.com/office/drawing/2014/main" id="{08C2D6F0-7CB9-46DB-8DEE-361470EC878C}"/>
              </a:ext>
            </a:extLst>
          </p:cNvPr>
          <p:cNvSpPr>
            <a:spLocks noGrp="1"/>
          </p:cNvSpPr>
          <p:nvPr/>
        </p:nvSpPr>
        <p:spPr>
          <a:xfrm>
            <a:off x="1514475" y="2398014"/>
            <a:ext cx="2066925" cy="171450"/>
          </a:xfrm>
          <a:prstGeom prst="rect">
            <a:avLst/>
          </a:prstGeom>
          <a:noFill/>
          <a:ln w="0">
            <a:noFill/>
            <a:prstDash val="solid"/>
          </a:ln>
        </p:spPr>
        <p:txBody>
          <a:bodyPr/>
          <a:lstStyle/>
          <a:p>
            <a:pPr algn="l">
              <a:defRPr sz="788" b="0" i="0">
                <a:solidFill>
                  <a:srgbClr val="4F6875"/>
                </a:solidFill>
                <a:latin typeface="Aptos"/>
                <a:ea typeface="Aptos"/>
                <a:cs typeface="Aptos"/>
              </a:defRPr>
            </a:pPr>
            <a:r>
              <a:rPr sz="788" b="0" i="0">
                <a:solidFill>
                  <a:srgbClr val="4F6875"/>
                </a:solidFill>
                <a:latin typeface="Aptos"/>
                <a:ea typeface="Aptos"/>
                <a:cs typeface="Aptos"/>
              </a:rPr>
              <a:t>≈ +65 % Preisbewegung</a:t>
            </a:r>
          </a:p>
        </p:txBody>
      </p:sp>
      <p:sp>
        <p:nvSpPr>
          <p:cNvPr id="13" name="Rectangle: Rounded Corners 12">
            <a:extLst>
              <a:ext uri="{FF2B5EF4-FFF2-40B4-BE49-F238E27FC236}">
                <a16:creationId xmlns:a16="http://schemas.microsoft.com/office/drawing/2014/main" id="{3DA4B71E-F88A-4FEE-8BFE-ABA49CA63064}"/>
              </a:ext>
            </a:extLst>
          </p:cNvPr>
          <p:cNvSpPr>
            <a:spLocks noGrp="1"/>
          </p:cNvSpPr>
          <p:nvPr/>
        </p:nvSpPr>
        <p:spPr>
          <a:xfrm>
            <a:off x="3905250" y="1314450"/>
            <a:ext cx="2333625" cy="895350"/>
          </a:xfrm>
          <a:prstGeom prst="roundRect">
            <a:avLst>
              <a:gd name="adj" fmla="val 12766"/>
            </a:avLst>
          </a:prstGeom>
          <a:solidFill>
            <a:srgbClr val="FFFFFF"/>
          </a:solidFill>
          <a:ln w="9525">
            <a:solidFill>
              <a:srgbClr val="D5E0E5"/>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14" name="Rectangle 13">
            <a:extLst>
              <a:ext uri="{FF2B5EF4-FFF2-40B4-BE49-F238E27FC236}">
                <a16:creationId xmlns:a16="http://schemas.microsoft.com/office/drawing/2014/main" id="{C26BC775-4C72-418C-B3C5-884997430E63}"/>
              </a:ext>
            </a:extLst>
          </p:cNvPr>
          <p:cNvSpPr>
            <a:spLocks noGrp="1"/>
          </p:cNvSpPr>
          <p:nvPr/>
        </p:nvSpPr>
        <p:spPr>
          <a:xfrm>
            <a:off x="3905250" y="1314450"/>
            <a:ext cx="2333625" cy="47625"/>
          </a:xfrm>
          <a:prstGeom prst="rect">
            <a:avLst/>
          </a:prstGeom>
          <a:solidFill>
            <a:srgbClr val="A52F4D"/>
          </a:solidFill>
          <a:ln w="0">
            <a:noFill/>
            <a:prstDash val="solid"/>
          </a:ln>
        </p:spPr>
        <p:txBody>
          <a:bodyPr/>
          <a:lstStyle/>
          <a:p>
            <a:endParaRPr lang="en-US"/>
          </a:p>
        </p:txBody>
      </p:sp>
      <p:sp>
        <p:nvSpPr>
          <p:cNvPr id="15" name="Rectangle 14">
            <a:extLst>
              <a:ext uri="{FF2B5EF4-FFF2-40B4-BE49-F238E27FC236}">
                <a16:creationId xmlns:a16="http://schemas.microsoft.com/office/drawing/2014/main" id="{5FE09EF8-8D2A-492D-B75C-94735EC006BF}"/>
              </a:ext>
            </a:extLst>
          </p:cNvPr>
          <p:cNvSpPr>
            <a:spLocks noGrp="1"/>
          </p:cNvSpPr>
          <p:nvPr/>
        </p:nvSpPr>
        <p:spPr>
          <a:xfrm>
            <a:off x="4038600" y="1457325"/>
            <a:ext cx="2066925" cy="171450"/>
          </a:xfrm>
          <a:prstGeom prst="rect">
            <a:avLst/>
          </a:prstGeom>
          <a:noFill/>
          <a:ln w="0">
            <a:noFill/>
            <a:prstDash val="solid"/>
          </a:ln>
        </p:spPr>
        <p:txBody>
          <a:bodyPr/>
          <a:lstStyle/>
          <a:p>
            <a:pPr algn="l">
              <a:defRPr sz="788" b="1" i="0">
                <a:solidFill>
                  <a:srgbClr val="71858F"/>
                </a:solidFill>
                <a:latin typeface="Aptos"/>
                <a:ea typeface="Aptos"/>
                <a:cs typeface="Aptos"/>
              </a:defRPr>
            </a:pPr>
            <a:r>
              <a:rPr sz="788" b="1" i="0">
                <a:solidFill>
                  <a:srgbClr val="71858F"/>
                </a:solidFill>
                <a:latin typeface="Aptos"/>
                <a:ea typeface="Aptos"/>
                <a:cs typeface="Aptos"/>
              </a:rPr>
              <a:t>ZINSSCHOCK</a:t>
            </a:r>
          </a:p>
        </p:txBody>
      </p:sp>
      <p:sp>
        <p:nvSpPr>
          <p:cNvPr id="16" name="Rectangle 15">
            <a:extLst>
              <a:ext uri="{FF2B5EF4-FFF2-40B4-BE49-F238E27FC236}">
                <a16:creationId xmlns:a16="http://schemas.microsoft.com/office/drawing/2014/main" id="{29C4B938-1B8D-4B8E-858A-9CE0DA594266}"/>
              </a:ext>
            </a:extLst>
          </p:cNvPr>
          <p:cNvSpPr>
            <a:spLocks noGrp="1"/>
          </p:cNvSpPr>
          <p:nvPr/>
        </p:nvSpPr>
        <p:spPr>
          <a:xfrm>
            <a:off x="4038600" y="1666875"/>
            <a:ext cx="2066925" cy="323850"/>
          </a:xfrm>
          <a:prstGeom prst="rect">
            <a:avLst/>
          </a:prstGeom>
          <a:noFill/>
          <a:ln w="0">
            <a:noFill/>
            <a:prstDash val="solid"/>
          </a:ln>
        </p:spPr>
        <p:txBody>
          <a:bodyPr/>
          <a:lstStyle/>
          <a:p>
            <a:pPr algn="l">
              <a:defRPr sz="1875" b="1" i="0">
                <a:solidFill>
                  <a:srgbClr val="051C2C"/>
                </a:solidFill>
                <a:latin typeface="Aptos Display"/>
                <a:ea typeface="Aptos Display"/>
                <a:cs typeface="Aptos Display"/>
              </a:defRPr>
            </a:pPr>
            <a:r>
              <a:rPr sz="1875" b="1" i="0">
                <a:solidFill>
                  <a:srgbClr val="051C2C"/>
                </a:solidFill>
                <a:latin typeface="Aptos Display"/>
                <a:ea typeface="Aptos Display"/>
                <a:cs typeface="Aptos Display"/>
              </a:rPr>
              <a:t>+2,0 pp</a:t>
            </a:r>
          </a:p>
        </p:txBody>
      </p:sp>
      <p:sp>
        <p:nvSpPr>
          <p:cNvPr id="17" name="Rectangle 16">
            <a:extLst>
              <a:ext uri="{FF2B5EF4-FFF2-40B4-BE49-F238E27FC236}">
                <a16:creationId xmlns:a16="http://schemas.microsoft.com/office/drawing/2014/main" id="{ABA8F68D-9669-47E2-A312-945A75833DC3}"/>
              </a:ext>
            </a:extLst>
          </p:cNvPr>
          <p:cNvSpPr>
            <a:spLocks noGrp="1"/>
          </p:cNvSpPr>
          <p:nvPr/>
        </p:nvSpPr>
        <p:spPr>
          <a:xfrm>
            <a:off x="4038600" y="2398014"/>
            <a:ext cx="2066925" cy="171450"/>
          </a:xfrm>
          <a:prstGeom prst="rect">
            <a:avLst/>
          </a:prstGeom>
          <a:noFill/>
          <a:ln w="0">
            <a:noFill/>
            <a:prstDash val="solid"/>
          </a:ln>
        </p:spPr>
        <p:txBody>
          <a:bodyPr/>
          <a:lstStyle/>
          <a:p>
            <a:pPr algn="l">
              <a:defRPr sz="788" b="0" i="0">
                <a:solidFill>
                  <a:srgbClr val="4F6875"/>
                </a:solidFill>
                <a:latin typeface="Aptos"/>
                <a:ea typeface="Aptos"/>
                <a:cs typeface="Aptos"/>
              </a:defRPr>
            </a:pPr>
            <a:r>
              <a:rPr sz="788" b="0" i="0">
                <a:solidFill>
                  <a:srgbClr val="4F6875"/>
                </a:solidFill>
                <a:latin typeface="Aptos"/>
                <a:ea typeface="Aptos"/>
                <a:cs typeface="Aptos"/>
              </a:rPr>
              <a:t>+200 Basispunkte</a:t>
            </a:r>
          </a:p>
        </p:txBody>
      </p:sp>
      <p:sp>
        <p:nvSpPr>
          <p:cNvPr id="18" name="Rectangle: Rounded Corners 17">
            <a:extLst>
              <a:ext uri="{FF2B5EF4-FFF2-40B4-BE49-F238E27FC236}">
                <a16:creationId xmlns:a16="http://schemas.microsoft.com/office/drawing/2014/main" id="{37EC4D69-8E1D-4ED6-9783-7244EE1C0CB1}"/>
              </a:ext>
            </a:extLst>
          </p:cNvPr>
          <p:cNvSpPr>
            <a:spLocks noGrp="1"/>
          </p:cNvSpPr>
          <p:nvPr/>
        </p:nvSpPr>
        <p:spPr>
          <a:xfrm>
            <a:off x="6429375" y="1314450"/>
            <a:ext cx="2333625" cy="895350"/>
          </a:xfrm>
          <a:prstGeom prst="roundRect">
            <a:avLst>
              <a:gd name="adj" fmla="val 12766"/>
            </a:avLst>
          </a:prstGeom>
          <a:solidFill>
            <a:srgbClr val="FFFFFF"/>
          </a:solidFill>
          <a:ln w="9525">
            <a:solidFill>
              <a:srgbClr val="D5E0E5"/>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19" name="Rectangle 18">
            <a:extLst>
              <a:ext uri="{FF2B5EF4-FFF2-40B4-BE49-F238E27FC236}">
                <a16:creationId xmlns:a16="http://schemas.microsoft.com/office/drawing/2014/main" id="{A3A58C0C-97F0-4C0D-B1D5-423AF1EBAC12}"/>
              </a:ext>
            </a:extLst>
          </p:cNvPr>
          <p:cNvSpPr>
            <a:spLocks noGrp="1"/>
          </p:cNvSpPr>
          <p:nvPr/>
        </p:nvSpPr>
        <p:spPr>
          <a:xfrm>
            <a:off x="6429375" y="1314450"/>
            <a:ext cx="2333625" cy="47625"/>
          </a:xfrm>
          <a:prstGeom prst="rect">
            <a:avLst/>
          </a:prstGeom>
          <a:solidFill>
            <a:srgbClr val="051C2C"/>
          </a:solidFill>
          <a:ln w="0">
            <a:noFill/>
            <a:prstDash val="solid"/>
          </a:ln>
        </p:spPr>
        <p:txBody>
          <a:bodyPr/>
          <a:lstStyle/>
          <a:p>
            <a:endParaRPr lang="en-US"/>
          </a:p>
        </p:txBody>
      </p:sp>
      <p:sp>
        <p:nvSpPr>
          <p:cNvPr id="20" name="Rectangle 19">
            <a:extLst>
              <a:ext uri="{FF2B5EF4-FFF2-40B4-BE49-F238E27FC236}">
                <a16:creationId xmlns:a16="http://schemas.microsoft.com/office/drawing/2014/main" id="{D5EC1942-6F22-4F32-9DCE-BB5EF60616D5}"/>
              </a:ext>
            </a:extLst>
          </p:cNvPr>
          <p:cNvSpPr>
            <a:spLocks noGrp="1"/>
          </p:cNvSpPr>
          <p:nvPr/>
        </p:nvSpPr>
        <p:spPr>
          <a:xfrm>
            <a:off x="6562725" y="1457325"/>
            <a:ext cx="2066925" cy="171450"/>
          </a:xfrm>
          <a:prstGeom prst="rect">
            <a:avLst/>
          </a:prstGeom>
          <a:noFill/>
          <a:ln w="0">
            <a:noFill/>
            <a:prstDash val="solid"/>
          </a:ln>
        </p:spPr>
        <p:txBody>
          <a:bodyPr/>
          <a:lstStyle/>
          <a:p>
            <a:pPr algn="l">
              <a:defRPr sz="788" b="1" i="0">
                <a:solidFill>
                  <a:srgbClr val="71858F"/>
                </a:solidFill>
                <a:latin typeface="Aptos"/>
                <a:ea typeface="Aptos"/>
                <a:cs typeface="Aptos"/>
              </a:defRPr>
            </a:pPr>
            <a:r>
              <a:rPr sz="788" b="1" i="0">
                <a:solidFill>
                  <a:srgbClr val="71858F"/>
                </a:solidFill>
                <a:latin typeface="Aptos"/>
                <a:ea typeface="Aptos"/>
                <a:cs typeface="Aptos"/>
              </a:rPr>
              <a:t>MODELL-UNIVERSUM</a:t>
            </a:r>
          </a:p>
        </p:txBody>
      </p:sp>
      <p:sp>
        <p:nvSpPr>
          <p:cNvPr id="21" name="Rectangle 20">
            <a:extLst>
              <a:ext uri="{FF2B5EF4-FFF2-40B4-BE49-F238E27FC236}">
                <a16:creationId xmlns:a16="http://schemas.microsoft.com/office/drawing/2014/main" id="{112DD1EC-350D-4A3A-B2AA-0DD9966635A9}"/>
              </a:ext>
            </a:extLst>
          </p:cNvPr>
          <p:cNvSpPr>
            <a:spLocks noGrp="1"/>
          </p:cNvSpPr>
          <p:nvPr/>
        </p:nvSpPr>
        <p:spPr>
          <a:xfrm>
            <a:off x="6562725" y="1666875"/>
            <a:ext cx="2066925" cy="323850"/>
          </a:xfrm>
          <a:prstGeom prst="rect">
            <a:avLst/>
          </a:prstGeom>
          <a:noFill/>
          <a:ln w="0">
            <a:noFill/>
            <a:prstDash val="solid"/>
          </a:ln>
        </p:spPr>
        <p:txBody>
          <a:bodyPr/>
          <a:lstStyle/>
          <a:p>
            <a:pPr algn="l">
              <a:defRPr sz="1875" b="1" i="0">
                <a:solidFill>
                  <a:srgbClr val="051C2C"/>
                </a:solidFill>
                <a:latin typeface="Aptos Display"/>
                <a:ea typeface="Aptos Display"/>
                <a:cs typeface="Aptos Display"/>
              </a:defRPr>
            </a:pPr>
            <a:r>
              <a:rPr sz="1875" b="1" i="0">
                <a:solidFill>
                  <a:srgbClr val="051C2C"/>
                </a:solidFill>
                <a:latin typeface="Aptos Display"/>
                <a:ea typeface="Aptos Display"/>
                <a:cs typeface="Aptos Display"/>
              </a:rPr>
              <a:t>€8,28 tn</a:t>
            </a:r>
          </a:p>
        </p:txBody>
      </p:sp>
      <p:sp>
        <p:nvSpPr>
          <p:cNvPr id="22" name="Rectangle 21">
            <a:extLst>
              <a:ext uri="{FF2B5EF4-FFF2-40B4-BE49-F238E27FC236}">
                <a16:creationId xmlns:a16="http://schemas.microsoft.com/office/drawing/2014/main" id="{7860A8D5-7323-4F56-8C89-5F64775FD0D2}"/>
              </a:ext>
            </a:extLst>
          </p:cNvPr>
          <p:cNvSpPr>
            <a:spLocks noGrp="1"/>
          </p:cNvSpPr>
          <p:nvPr/>
        </p:nvSpPr>
        <p:spPr>
          <a:xfrm>
            <a:off x="6562725" y="2398014"/>
            <a:ext cx="2066925" cy="171450"/>
          </a:xfrm>
          <a:prstGeom prst="rect">
            <a:avLst/>
          </a:prstGeom>
          <a:noFill/>
          <a:ln w="0">
            <a:noFill/>
            <a:prstDash val="solid"/>
          </a:ln>
        </p:spPr>
        <p:txBody>
          <a:bodyPr/>
          <a:lstStyle/>
          <a:p>
            <a:pPr algn="l">
              <a:defRPr sz="788" b="0" i="0">
                <a:solidFill>
                  <a:srgbClr val="4F6875"/>
                </a:solidFill>
                <a:latin typeface="Aptos"/>
                <a:ea typeface="Aptos"/>
                <a:cs typeface="Aptos"/>
              </a:defRPr>
            </a:pPr>
            <a:r>
              <a:rPr sz="788" b="0" i="0">
                <a:solidFill>
                  <a:srgbClr val="4F6875"/>
                </a:solidFill>
                <a:latin typeface="Aptos"/>
                <a:ea typeface="Aptos"/>
                <a:cs typeface="Aptos"/>
              </a:rPr>
              <a:t>10 EU-IRB-Banken</a:t>
            </a:r>
          </a:p>
        </p:txBody>
      </p:sp>
      <p:sp>
        <p:nvSpPr>
          <p:cNvPr id="23" name="Rectangle: Rounded Corners 22">
            <a:extLst>
              <a:ext uri="{FF2B5EF4-FFF2-40B4-BE49-F238E27FC236}">
                <a16:creationId xmlns:a16="http://schemas.microsoft.com/office/drawing/2014/main" id="{D3E89825-5840-4A52-A099-2DD36D390CED}"/>
              </a:ext>
            </a:extLst>
          </p:cNvPr>
          <p:cNvSpPr>
            <a:spLocks noGrp="1"/>
          </p:cNvSpPr>
          <p:nvPr/>
        </p:nvSpPr>
        <p:spPr>
          <a:xfrm>
            <a:off x="8953500" y="1314450"/>
            <a:ext cx="2781300" cy="895350"/>
          </a:xfrm>
          <a:prstGeom prst="roundRect">
            <a:avLst>
              <a:gd name="adj" fmla="val 12766"/>
            </a:avLst>
          </a:prstGeom>
          <a:solidFill>
            <a:srgbClr val="FFFFFF"/>
          </a:solidFill>
          <a:ln w="9525">
            <a:solidFill>
              <a:srgbClr val="D5E0E5"/>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24" name="Rectangle 23">
            <a:extLst>
              <a:ext uri="{FF2B5EF4-FFF2-40B4-BE49-F238E27FC236}">
                <a16:creationId xmlns:a16="http://schemas.microsoft.com/office/drawing/2014/main" id="{266032DC-6AC7-49A7-AB1F-A042A1F9D0E3}"/>
              </a:ext>
            </a:extLst>
          </p:cNvPr>
          <p:cNvSpPr>
            <a:spLocks noGrp="1"/>
          </p:cNvSpPr>
          <p:nvPr/>
        </p:nvSpPr>
        <p:spPr>
          <a:xfrm>
            <a:off x="8953500" y="1314450"/>
            <a:ext cx="2781300" cy="47625"/>
          </a:xfrm>
          <a:prstGeom prst="rect">
            <a:avLst/>
          </a:prstGeom>
          <a:solidFill>
            <a:srgbClr val="1B777F"/>
          </a:solidFill>
          <a:ln w="0">
            <a:noFill/>
            <a:prstDash val="solid"/>
          </a:ln>
        </p:spPr>
        <p:txBody>
          <a:bodyPr/>
          <a:lstStyle/>
          <a:p>
            <a:endParaRPr lang="en-US"/>
          </a:p>
        </p:txBody>
      </p:sp>
      <p:sp>
        <p:nvSpPr>
          <p:cNvPr id="25" name="Rectangle 24">
            <a:extLst>
              <a:ext uri="{FF2B5EF4-FFF2-40B4-BE49-F238E27FC236}">
                <a16:creationId xmlns:a16="http://schemas.microsoft.com/office/drawing/2014/main" id="{B42EB055-BED6-459D-9F6D-551E686D3DF1}"/>
              </a:ext>
            </a:extLst>
          </p:cNvPr>
          <p:cNvSpPr>
            <a:spLocks noGrp="1"/>
          </p:cNvSpPr>
          <p:nvPr/>
        </p:nvSpPr>
        <p:spPr>
          <a:xfrm>
            <a:off x="9086850" y="1457325"/>
            <a:ext cx="2514600" cy="171450"/>
          </a:xfrm>
          <a:prstGeom prst="rect">
            <a:avLst/>
          </a:prstGeom>
          <a:noFill/>
          <a:ln w="0">
            <a:noFill/>
            <a:prstDash val="solid"/>
          </a:ln>
        </p:spPr>
        <p:txBody>
          <a:bodyPr/>
          <a:lstStyle/>
          <a:p>
            <a:pPr algn="l">
              <a:defRPr sz="788" b="1" i="0">
                <a:solidFill>
                  <a:srgbClr val="71858F"/>
                </a:solidFill>
                <a:latin typeface="Aptos"/>
                <a:ea typeface="Aptos"/>
                <a:cs typeface="Aptos"/>
              </a:defRPr>
            </a:pPr>
            <a:r>
              <a:rPr sz="788" b="1" i="0">
                <a:solidFill>
                  <a:srgbClr val="71858F"/>
                </a:solidFill>
                <a:latin typeface="Aptos"/>
                <a:ea typeface="Aptos"/>
                <a:cs typeface="Aptos"/>
              </a:rPr>
              <a:t>STICHTAGE</a:t>
            </a:r>
          </a:p>
        </p:txBody>
      </p:sp>
      <p:sp>
        <p:nvSpPr>
          <p:cNvPr id="26" name="Rectangle 25">
            <a:extLst>
              <a:ext uri="{FF2B5EF4-FFF2-40B4-BE49-F238E27FC236}">
                <a16:creationId xmlns:a16="http://schemas.microsoft.com/office/drawing/2014/main" id="{08130BFF-3E41-42D4-81A1-40AFE9C707FC}"/>
              </a:ext>
            </a:extLst>
          </p:cNvPr>
          <p:cNvSpPr>
            <a:spLocks noGrp="1"/>
          </p:cNvSpPr>
          <p:nvPr/>
        </p:nvSpPr>
        <p:spPr>
          <a:xfrm>
            <a:off x="9086850" y="1666875"/>
            <a:ext cx="2514600" cy="323850"/>
          </a:xfrm>
          <a:prstGeom prst="rect">
            <a:avLst/>
          </a:prstGeom>
          <a:noFill/>
          <a:ln w="0">
            <a:noFill/>
            <a:prstDash val="solid"/>
          </a:ln>
        </p:spPr>
        <p:txBody>
          <a:bodyPr/>
          <a:lstStyle/>
          <a:p>
            <a:pPr algn="l">
              <a:defRPr sz="1725" b="1" i="0">
                <a:solidFill>
                  <a:srgbClr val="051C2C"/>
                </a:solidFill>
                <a:latin typeface="Aptos Display"/>
                <a:ea typeface="Aptos Display"/>
                <a:cs typeface="Aptos Display"/>
              </a:defRPr>
            </a:pPr>
            <a:r>
              <a:rPr sz="1725" b="1" i="0">
                <a:solidFill>
                  <a:srgbClr val="051C2C"/>
                </a:solidFill>
                <a:latin typeface="Aptos Display"/>
                <a:ea typeface="Aptos Display"/>
                <a:cs typeface="Aptos Display"/>
              </a:rPr>
              <a:t>2024 / 2025</a:t>
            </a:r>
          </a:p>
        </p:txBody>
      </p:sp>
      <p:sp>
        <p:nvSpPr>
          <p:cNvPr id="27" name="Rectangle 26">
            <a:extLst>
              <a:ext uri="{FF2B5EF4-FFF2-40B4-BE49-F238E27FC236}">
                <a16:creationId xmlns:a16="http://schemas.microsoft.com/office/drawing/2014/main" id="{094D368F-EAF6-4CEB-9195-3A11E147104E}"/>
              </a:ext>
            </a:extLst>
          </p:cNvPr>
          <p:cNvSpPr>
            <a:spLocks noGrp="1"/>
          </p:cNvSpPr>
          <p:nvPr/>
        </p:nvSpPr>
        <p:spPr>
          <a:xfrm>
            <a:off x="9086850" y="2398014"/>
            <a:ext cx="2514600" cy="171450"/>
          </a:xfrm>
          <a:prstGeom prst="rect">
            <a:avLst/>
          </a:prstGeom>
          <a:noFill/>
          <a:ln w="0">
            <a:noFill/>
            <a:prstDash val="solid"/>
          </a:ln>
        </p:spPr>
        <p:txBody>
          <a:bodyPr/>
          <a:lstStyle/>
          <a:p>
            <a:pPr algn="l">
              <a:defRPr sz="788" b="0" i="0">
                <a:solidFill>
                  <a:srgbClr val="4F6875"/>
                </a:solidFill>
                <a:latin typeface="Aptos"/>
                <a:ea typeface="Aptos"/>
                <a:cs typeface="Aptos"/>
              </a:defRPr>
            </a:pPr>
            <a:r>
              <a:rPr sz="788" b="0" i="0">
                <a:solidFill>
                  <a:srgbClr val="4F6875"/>
                </a:solidFill>
                <a:latin typeface="Aptos"/>
                <a:ea typeface="Aptos"/>
                <a:cs typeface="Aptos"/>
              </a:rPr>
              <a:t>Pillar 3 / EBA Transparency</a:t>
            </a:r>
          </a:p>
        </p:txBody>
      </p:sp>
      <p:sp>
        <p:nvSpPr>
          <p:cNvPr id="80" name="Rectangle 79">
            <a:extLst>
              <a:ext uri="{FF2B5EF4-FFF2-40B4-BE49-F238E27FC236}">
                <a16:creationId xmlns:a16="http://schemas.microsoft.com/office/drawing/2014/main" id="{EE0CA2A8-CCEB-44BF-A764-F3CCEB6FB783}"/>
              </a:ext>
            </a:extLst>
          </p:cNvPr>
          <p:cNvSpPr>
            <a:spLocks noGrp="1"/>
          </p:cNvSpPr>
          <p:nvPr/>
        </p:nvSpPr>
        <p:spPr>
          <a:xfrm>
            <a:off x="457200" y="6486525"/>
            <a:ext cx="10382250" cy="152400"/>
          </a:xfrm>
          <a:prstGeom prst="rect">
            <a:avLst/>
          </a:prstGeom>
          <a:noFill/>
          <a:ln w="0">
            <a:noFill/>
            <a:prstDash val="solid"/>
          </a:ln>
        </p:spPr>
        <p:txBody>
          <a:bodyPr/>
          <a:lstStyle/>
          <a:p>
            <a:pPr algn="l">
              <a:defRPr sz="653" b="0" i="0">
                <a:solidFill>
                  <a:srgbClr val="71858F"/>
                </a:solidFill>
                <a:latin typeface="Aptos"/>
                <a:ea typeface="Aptos"/>
                <a:cs typeface="Aptos"/>
              </a:defRPr>
            </a:pPr>
            <a:r>
              <a:rPr sz="653" b="0" i="0">
                <a:solidFill>
                  <a:srgbClr val="71858F"/>
                </a:solidFill>
                <a:latin typeface="Aptos"/>
                <a:ea typeface="Aptos"/>
                <a:cs typeface="Aptos"/>
              </a:rPr>
              <a:t>Konkreter Modelllauf · Werte EAD-gewichtet über das Top-10-Universum · Sovereign-Default separat vom MtM-Kanal</a:t>
            </a:r>
          </a:p>
        </p:txBody>
      </p:sp>
      <p:sp>
        <p:nvSpPr>
          <p:cNvPr id="82" name="Rectangle: Rounded Corners 81">
            <a:extLst>
              <a:ext uri="{FF2B5EF4-FFF2-40B4-BE49-F238E27FC236}">
                <a16:creationId xmlns:a16="http://schemas.microsoft.com/office/drawing/2014/main" id="{2422462C-FE42-A87B-A127-FDE818E91650}"/>
              </a:ext>
            </a:extLst>
          </p:cNvPr>
          <p:cNvSpPr>
            <a:spLocks noGrp="1"/>
          </p:cNvSpPr>
          <p:nvPr/>
        </p:nvSpPr>
        <p:spPr>
          <a:xfrm>
            <a:off x="457200" y="2588514"/>
            <a:ext cx="5429250" cy="3657600"/>
          </a:xfrm>
          <a:prstGeom prst="roundRect">
            <a:avLst>
              <a:gd name="adj" fmla="val 3125"/>
            </a:avLst>
          </a:prstGeom>
          <a:solidFill>
            <a:srgbClr val="FFFFFF"/>
          </a:solidFill>
          <a:ln w="9525">
            <a:solidFill>
              <a:srgbClr val="D5E0E5"/>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83" name="Rectangle 82">
            <a:extLst>
              <a:ext uri="{FF2B5EF4-FFF2-40B4-BE49-F238E27FC236}">
                <a16:creationId xmlns:a16="http://schemas.microsoft.com/office/drawing/2014/main" id="{47125809-D584-FDCE-3127-603372A6D07D}"/>
              </a:ext>
            </a:extLst>
          </p:cNvPr>
          <p:cNvSpPr>
            <a:spLocks noGrp="1"/>
          </p:cNvSpPr>
          <p:nvPr/>
        </p:nvSpPr>
        <p:spPr>
          <a:xfrm>
            <a:off x="647700" y="2769489"/>
            <a:ext cx="3238500" cy="171450"/>
          </a:xfrm>
          <a:prstGeom prst="rect">
            <a:avLst/>
          </a:prstGeom>
          <a:noFill/>
          <a:ln w="0">
            <a:noFill/>
            <a:prstDash val="solid"/>
          </a:ln>
        </p:spPr>
        <p:txBody>
          <a:bodyPr/>
          <a:lstStyle/>
          <a:p>
            <a:pPr algn="l">
              <a:defRPr sz="825" b="1" i="0">
                <a:solidFill>
                  <a:srgbClr val="A52F4D"/>
                </a:solidFill>
                <a:latin typeface="Aptos"/>
                <a:ea typeface="Aptos"/>
                <a:cs typeface="Aptos"/>
              </a:defRPr>
            </a:pPr>
            <a:r>
              <a:rPr sz="825" b="1" i="0">
                <a:solidFill>
                  <a:srgbClr val="A52F4D"/>
                </a:solidFill>
                <a:latin typeface="Aptos"/>
                <a:ea typeface="Aptos"/>
                <a:cs typeface="Aptos"/>
              </a:rPr>
              <a:t>ΔPD · AUSFALLWAHRSCHEINLICHKEIT</a:t>
            </a:r>
          </a:p>
        </p:txBody>
      </p:sp>
      <p:sp>
        <p:nvSpPr>
          <p:cNvPr id="84" name="Rectangle 83">
            <a:extLst>
              <a:ext uri="{FF2B5EF4-FFF2-40B4-BE49-F238E27FC236}">
                <a16:creationId xmlns:a16="http://schemas.microsoft.com/office/drawing/2014/main" id="{36C689D9-519A-FEBB-F1ED-235A99B59E7F}"/>
              </a:ext>
            </a:extLst>
          </p:cNvPr>
          <p:cNvSpPr>
            <a:spLocks noGrp="1"/>
          </p:cNvSpPr>
          <p:nvPr/>
        </p:nvSpPr>
        <p:spPr>
          <a:xfrm>
            <a:off x="647700" y="2988564"/>
            <a:ext cx="2476500" cy="152400"/>
          </a:xfrm>
          <a:prstGeom prst="rect">
            <a:avLst/>
          </a:prstGeom>
          <a:noFill/>
          <a:ln w="0">
            <a:noFill/>
            <a:prstDash val="solid"/>
          </a:ln>
        </p:spPr>
        <p:txBody>
          <a:bodyPr/>
          <a:lstStyle/>
          <a:p>
            <a:pPr algn="l">
              <a:defRPr sz="788" b="0" i="0">
                <a:solidFill>
                  <a:srgbClr val="71858F"/>
                </a:solidFill>
                <a:latin typeface="Aptos"/>
                <a:ea typeface="Aptos"/>
                <a:cs typeface="Aptos"/>
              </a:defRPr>
            </a:pPr>
            <a:r>
              <a:rPr sz="788" b="0" i="0">
                <a:solidFill>
                  <a:srgbClr val="71858F"/>
                </a:solidFill>
                <a:latin typeface="Aptos"/>
                <a:ea typeface="Aptos"/>
                <a:cs typeface="Aptos"/>
              </a:rPr>
              <a:t>Veränderung in Prozentpunkten</a:t>
            </a:r>
          </a:p>
        </p:txBody>
      </p:sp>
      <p:sp>
        <p:nvSpPr>
          <p:cNvPr id="85" name="Rectangle 84">
            <a:extLst>
              <a:ext uri="{FF2B5EF4-FFF2-40B4-BE49-F238E27FC236}">
                <a16:creationId xmlns:a16="http://schemas.microsoft.com/office/drawing/2014/main" id="{F4EFA792-D5F3-0C8E-3738-14859D682346}"/>
              </a:ext>
            </a:extLst>
          </p:cNvPr>
          <p:cNvSpPr>
            <a:spLocks noGrp="1"/>
          </p:cNvSpPr>
          <p:nvPr/>
        </p:nvSpPr>
        <p:spPr>
          <a:xfrm>
            <a:off x="2047875" y="3274314"/>
            <a:ext cx="9525" cy="2609850"/>
          </a:xfrm>
          <a:prstGeom prst="rect">
            <a:avLst/>
          </a:prstGeom>
          <a:solidFill>
            <a:srgbClr val="AFC0C7"/>
          </a:solidFill>
          <a:ln w="0">
            <a:noFill/>
            <a:prstDash val="solid"/>
          </a:ln>
        </p:spPr>
        <p:txBody>
          <a:bodyPr/>
          <a:lstStyle/>
          <a:p>
            <a:endParaRPr lang="en-US"/>
          </a:p>
        </p:txBody>
      </p:sp>
      <p:sp>
        <p:nvSpPr>
          <p:cNvPr id="86" name="Rectangle 85">
            <a:extLst>
              <a:ext uri="{FF2B5EF4-FFF2-40B4-BE49-F238E27FC236}">
                <a16:creationId xmlns:a16="http://schemas.microsoft.com/office/drawing/2014/main" id="{792E61FE-EDBE-C511-8253-CCC37CA2EFD2}"/>
              </a:ext>
            </a:extLst>
          </p:cNvPr>
          <p:cNvSpPr>
            <a:spLocks noGrp="1"/>
          </p:cNvSpPr>
          <p:nvPr/>
        </p:nvSpPr>
        <p:spPr>
          <a:xfrm>
            <a:off x="666750" y="3369564"/>
            <a:ext cx="1285875" cy="171450"/>
          </a:xfrm>
          <a:prstGeom prst="rect">
            <a:avLst/>
          </a:prstGeom>
          <a:noFill/>
          <a:ln w="0">
            <a:noFill/>
            <a:prstDash val="solid"/>
          </a:ln>
        </p:spPr>
        <p:txBody>
          <a:bodyPr/>
          <a:lstStyle/>
          <a:p>
            <a:pPr algn="l">
              <a:defRPr sz="863" b="1" i="0">
                <a:solidFill>
                  <a:srgbClr val="051C2C"/>
                </a:solidFill>
                <a:latin typeface="Aptos"/>
                <a:ea typeface="Aptos"/>
                <a:cs typeface="Aptos"/>
              </a:defRPr>
            </a:pPr>
            <a:r>
              <a:rPr sz="863" b="1" i="0">
                <a:solidFill>
                  <a:srgbClr val="051C2C"/>
                </a:solidFill>
                <a:latin typeface="Aptos"/>
                <a:ea typeface="Aptos"/>
                <a:cs typeface="Aptos"/>
              </a:rPr>
              <a:t>SME Corporate</a:t>
            </a:r>
          </a:p>
        </p:txBody>
      </p:sp>
      <p:sp>
        <p:nvSpPr>
          <p:cNvPr id="87" name="Rectangle: Rounded Corners 86">
            <a:extLst>
              <a:ext uri="{FF2B5EF4-FFF2-40B4-BE49-F238E27FC236}">
                <a16:creationId xmlns:a16="http://schemas.microsoft.com/office/drawing/2014/main" id="{49A2B98E-2933-3440-53C8-A1726DBE8853}"/>
              </a:ext>
            </a:extLst>
          </p:cNvPr>
          <p:cNvSpPr>
            <a:spLocks noGrp="1"/>
          </p:cNvSpPr>
          <p:nvPr/>
        </p:nvSpPr>
        <p:spPr>
          <a:xfrm>
            <a:off x="2047875" y="3388614"/>
            <a:ext cx="2857500" cy="142875"/>
          </a:xfrm>
          <a:prstGeom prst="roundRect">
            <a:avLst>
              <a:gd name="adj" fmla="val 50000"/>
            </a:avLst>
          </a:prstGeom>
          <a:solidFill>
            <a:srgbClr val="A52F4D"/>
          </a:solidFill>
          <a:ln w="0">
            <a:noFill/>
            <a:prstDash val="solid"/>
          </a:ln>
        </p:spPr>
        <p:txBody>
          <a:bodyPr/>
          <a:lstStyle/>
          <a:p>
            <a:endParaRPr lang="en-US"/>
          </a:p>
        </p:txBody>
      </p:sp>
      <p:sp>
        <p:nvSpPr>
          <p:cNvPr id="88" name="Rectangle 87">
            <a:extLst>
              <a:ext uri="{FF2B5EF4-FFF2-40B4-BE49-F238E27FC236}">
                <a16:creationId xmlns:a16="http://schemas.microsoft.com/office/drawing/2014/main" id="{E37F77E8-2376-0317-61E1-CA523ADFDA7D}"/>
              </a:ext>
            </a:extLst>
          </p:cNvPr>
          <p:cNvSpPr>
            <a:spLocks noGrp="1"/>
          </p:cNvSpPr>
          <p:nvPr/>
        </p:nvSpPr>
        <p:spPr>
          <a:xfrm>
            <a:off x="4981575" y="3369564"/>
            <a:ext cx="781050" cy="171450"/>
          </a:xfrm>
          <a:prstGeom prst="rect">
            <a:avLst/>
          </a:prstGeom>
          <a:noFill/>
          <a:ln w="0">
            <a:noFill/>
            <a:prstDash val="solid"/>
          </a:ln>
        </p:spPr>
        <p:txBody>
          <a:bodyPr/>
          <a:lstStyle/>
          <a:p>
            <a:pPr algn="l">
              <a:defRPr sz="788" b="1" i="0">
                <a:solidFill>
                  <a:srgbClr val="A52F4D"/>
                </a:solidFill>
                <a:latin typeface="Aptos"/>
                <a:ea typeface="Aptos"/>
                <a:cs typeface="Aptos"/>
              </a:defRPr>
            </a:pPr>
            <a:r>
              <a:rPr sz="788" b="1" i="0">
                <a:solidFill>
                  <a:srgbClr val="A52F4D"/>
                </a:solidFill>
                <a:latin typeface="Aptos"/>
                <a:ea typeface="Aptos"/>
                <a:cs typeface="Aptos"/>
              </a:rPr>
              <a:t>+1,100 pp</a:t>
            </a:r>
          </a:p>
        </p:txBody>
      </p:sp>
      <p:sp>
        <p:nvSpPr>
          <p:cNvPr id="89" name="Rectangle 88">
            <a:extLst>
              <a:ext uri="{FF2B5EF4-FFF2-40B4-BE49-F238E27FC236}">
                <a16:creationId xmlns:a16="http://schemas.microsoft.com/office/drawing/2014/main" id="{E7E95333-24E1-0648-3DDA-4CCA38772518}"/>
              </a:ext>
            </a:extLst>
          </p:cNvPr>
          <p:cNvSpPr>
            <a:spLocks noGrp="1"/>
          </p:cNvSpPr>
          <p:nvPr/>
        </p:nvSpPr>
        <p:spPr>
          <a:xfrm>
            <a:off x="666750" y="3731514"/>
            <a:ext cx="1285875" cy="171450"/>
          </a:xfrm>
          <a:prstGeom prst="rect">
            <a:avLst/>
          </a:prstGeom>
          <a:noFill/>
          <a:ln w="0">
            <a:noFill/>
            <a:prstDash val="solid"/>
          </a:ln>
        </p:spPr>
        <p:txBody>
          <a:bodyPr/>
          <a:lstStyle/>
          <a:p>
            <a:pPr algn="l">
              <a:defRPr sz="863" b="1" i="0">
                <a:solidFill>
                  <a:srgbClr val="051C2C"/>
                </a:solidFill>
                <a:latin typeface="Aptos"/>
                <a:ea typeface="Aptos"/>
                <a:cs typeface="Aptos"/>
              </a:defRPr>
            </a:pPr>
            <a:r>
              <a:rPr sz="863" b="1" i="0">
                <a:solidFill>
                  <a:srgbClr val="051C2C"/>
                </a:solidFill>
                <a:latin typeface="Aptos"/>
                <a:ea typeface="Aptos"/>
                <a:cs typeface="Aptos"/>
              </a:rPr>
              <a:t>Mortgage</a:t>
            </a:r>
          </a:p>
        </p:txBody>
      </p:sp>
      <p:sp>
        <p:nvSpPr>
          <p:cNvPr id="90" name="Rectangle: Rounded Corners 89">
            <a:extLst>
              <a:ext uri="{FF2B5EF4-FFF2-40B4-BE49-F238E27FC236}">
                <a16:creationId xmlns:a16="http://schemas.microsoft.com/office/drawing/2014/main" id="{DF312897-EC64-7EE5-F0EB-BE7F32FE6E0F}"/>
              </a:ext>
            </a:extLst>
          </p:cNvPr>
          <p:cNvSpPr>
            <a:spLocks noGrp="1"/>
          </p:cNvSpPr>
          <p:nvPr/>
        </p:nvSpPr>
        <p:spPr>
          <a:xfrm>
            <a:off x="2047875" y="3750564"/>
            <a:ext cx="1623580" cy="142875"/>
          </a:xfrm>
          <a:prstGeom prst="roundRect">
            <a:avLst>
              <a:gd name="adj" fmla="val 50000"/>
            </a:avLst>
          </a:prstGeom>
          <a:solidFill>
            <a:srgbClr val="D9A124"/>
          </a:solidFill>
          <a:ln w="0">
            <a:noFill/>
            <a:prstDash val="solid"/>
          </a:ln>
        </p:spPr>
        <p:txBody>
          <a:bodyPr/>
          <a:lstStyle/>
          <a:p>
            <a:endParaRPr lang="en-US"/>
          </a:p>
        </p:txBody>
      </p:sp>
      <p:sp>
        <p:nvSpPr>
          <p:cNvPr id="91" name="Rectangle 90">
            <a:extLst>
              <a:ext uri="{FF2B5EF4-FFF2-40B4-BE49-F238E27FC236}">
                <a16:creationId xmlns:a16="http://schemas.microsoft.com/office/drawing/2014/main" id="{179D290F-B9D7-3095-2600-943ECB2B4481}"/>
              </a:ext>
            </a:extLst>
          </p:cNvPr>
          <p:cNvSpPr>
            <a:spLocks noGrp="1"/>
          </p:cNvSpPr>
          <p:nvPr/>
        </p:nvSpPr>
        <p:spPr>
          <a:xfrm>
            <a:off x="3747655" y="3731514"/>
            <a:ext cx="781050" cy="171450"/>
          </a:xfrm>
          <a:prstGeom prst="rect">
            <a:avLst/>
          </a:prstGeom>
          <a:noFill/>
          <a:ln w="0">
            <a:noFill/>
            <a:prstDash val="solid"/>
          </a:ln>
        </p:spPr>
        <p:txBody>
          <a:bodyPr/>
          <a:lstStyle/>
          <a:p>
            <a:pPr algn="l">
              <a:defRPr sz="788" b="1" i="0">
                <a:solidFill>
                  <a:srgbClr val="D9A124"/>
                </a:solidFill>
                <a:latin typeface="Aptos"/>
                <a:ea typeface="Aptos"/>
                <a:cs typeface="Aptos"/>
              </a:defRPr>
            </a:pPr>
            <a:r>
              <a:rPr sz="788" b="1" i="0">
                <a:solidFill>
                  <a:srgbClr val="D9A124"/>
                </a:solidFill>
                <a:latin typeface="Aptos"/>
                <a:ea typeface="Aptos"/>
                <a:cs typeface="Aptos"/>
              </a:rPr>
              <a:t>+0,625 pp</a:t>
            </a:r>
          </a:p>
        </p:txBody>
      </p:sp>
      <p:sp>
        <p:nvSpPr>
          <p:cNvPr id="92" name="Rectangle 91">
            <a:extLst>
              <a:ext uri="{FF2B5EF4-FFF2-40B4-BE49-F238E27FC236}">
                <a16:creationId xmlns:a16="http://schemas.microsoft.com/office/drawing/2014/main" id="{DC7CC5F3-919A-EE75-596B-35550FFC82CC}"/>
              </a:ext>
            </a:extLst>
          </p:cNvPr>
          <p:cNvSpPr>
            <a:spLocks noGrp="1"/>
          </p:cNvSpPr>
          <p:nvPr/>
        </p:nvSpPr>
        <p:spPr>
          <a:xfrm>
            <a:off x="666750" y="4093464"/>
            <a:ext cx="1285875" cy="171450"/>
          </a:xfrm>
          <a:prstGeom prst="rect">
            <a:avLst/>
          </a:prstGeom>
          <a:noFill/>
          <a:ln w="0">
            <a:noFill/>
            <a:prstDash val="solid"/>
          </a:ln>
        </p:spPr>
        <p:txBody>
          <a:bodyPr/>
          <a:lstStyle/>
          <a:p>
            <a:pPr algn="l">
              <a:defRPr sz="863" b="1" i="0">
                <a:solidFill>
                  <a:srgbClr val="051C2C"/>
                </a:solidFill>
                <a:latin typeface="Aptos"/>
                <a:ea typeface="Aptos"/>
                <a:cs typeface="Aptos"/>
              </a:defRPr>
            </a:pPr>
            <a:r>
              <a:rPr sz="863" b="1" i="0">
                <a:solidFill>
                  <a:srgbClr val="051C2C"/>
                </a:solidFill>
                <a:latin typeface="Aptos"/>
                <a:ea typeface="Aptos"/>
                <a:cs typeface="Aptos"/>
              </a:rPr>
              <a:t>Other Retail</a:t>
            </a:r>
          </a:p>
        </p:txBody>
      </p:sp>
      <p:sp>
        <p:nvSpPr>
          <p:cNvPr id="93" name="Rectangle: Rounded Corners 92">
            <a:extLst>
              <a:ext uri="{FF2B5EF4-FFF2-40B4-BE49-F238E27FC236}">
                <a16:creationId xmlns:a16="http://schemas.microsoft.com/office/drawing/2014/main" id="{3D1FD986-FA43-9B54-B688-A9BDA4D5BF61}"/>
              </a:ext>
            </a:extLst>
          </p:cNvPr>
          <p:cNvSpPr>
            <a:spLocks noGrp="1"/>
          </p:cNvSpPr>
          <p:nvPr/>
        </p:nvSpPr>
        <p:spPr>
          <a:xfrm>
            <a:off x="2047875" y="4112514"/>
            <a:ext cx="1688523" cy="142875"/>
          </a:xfrm>
          <a:prstGeom prst="roundRect">
            <a:avLst>
              <a:gd name="adj" fmla="val 50000"/>
            </a:avLst>
          </a:prstGeom>
          <a:solidFill>
            <a:srgbClr val="0B5D7A"/>
          </a:solidFill>
          <a:ln w="0">
            <a:noFill/>
            <a:prstDash val="solid"/>
          </a:ln>
        </p:spPr>
        <p:txBody>
          <a:bodyPr/>
          <a:lstStyle/>
          <a:p>
            <a:endParaRPr lang="en-US"/>
          </a:p>
        </p:txBody>
      </p:sp>
      <p:sp>
        <p:nvSpPr>
          <p:cNvPr id="94" name="Rectangle 93">
            <a:extLst>
              <a:ext uri="{FF2B5EF4-FFF2-40B4-BE49-F238E27FC236}">
                <a16:creationId xmlns:a16="http://schemas.microsoft.com/office/drawing/2014/main" id="{74A357FA-8836-8624-056A-0D0C3A9B3F04}"/>
              </a:ext>
            </a:extLst>
          </p:cNvPr>
          <p:cNvSpPr>
            <a:spLocks noGrp="1"/>
          </p:cNvSpPr>
          <p:nvPr/>
        </p:nvSpPr>
        <p:spPr>
          <a:xfrm>
            <a:off x="3812598" y="4093464"/>
            <a:ext cx="781050" cy="171450"/>
          </a:xfrm>
          <a:prstGeom prst="rect">
            <a:avLst/>
          </a:prstGeom>
          <a:noFill/>
          <a:ln w="0">
            <a:noFill/>
            <a:prstDash val="solid"/>
          </a:ln>
        </p:spPr>
        <p:txBody>
          <a:bodyPr/>
          <a:lstStyle/>
          <a:p>
            <a:pPr algn="l">
              <a:defRPr sz="788" b="1" i="0">
                <a:solidFill>
                  <a:srgbClr val="0B5D7A"/>
                </a:solidFill>
                <a:latin typeface="Aptos"/>
                <a:ea typeface="Aptos"/>
                <a:cs typeface="Aptos"/>
              </a:defRPr>
            </a:pPr>
            <a:r>
              <a:rPr sz="788" b="1" i="0">
                <a:solidFill>
                  <a:srgbClr val="0B5D7A"/>
                </a:solidFill>
                <a:latin typeface="Aptos"/>
                <a:ea typeface="Aptos"/>
                <a:cs typeface="Aptos"/>
              </a:rPr>
              <a:t>+0,650 pp</a:t>
            </a:r>
          </a:p>
        </p:txBody>
      </p:sp>
      <p:sp>
        <p:nvSpPr>
          <p:cNvPr id="95" name="Rectangle 94">
            <a:extLst>
              <a:ext uri="{FF2B5EF4-FFF2-40B4-BE49-F238E27FC236}">
                <a16:creationId xmlns:a16="http://schemas.microsoft.com/office/drawing/2014/main" id="{9CFA5F35-134C-C363-6C73-7D0BF6D4D1C7}"/>
              </a:ext>
            </a:extLst>
          </p:cNvPr>
          <p:cNvSpPr>
            <a:spLocks noGrp="1"/>
          </p:cNvSpPr>
          <p:nvPr/>
        </p:nvSpPr>
        <p:spPr>
          <a:xfrm>
            <a:off x="666750" y="4455414"/>
            <a:ext cx="1285875" cy="171450"/>
          </a:xfrm>
          <a:prstGeom prst="rect">
            <a:avLst/>
          </a:prstGeom>
          <a:noFill/>
          <a:ln w="0">
            <a:noFill/>
            <a:prstDash val="solid"/>
          </a:ln>
        </p:spPr>
        <p:txBody>
          <a:bodyPr/>
          <a:lstStyle/>
          <a:p>
            <a:pPr algn="l">
              <a:defRPr sz="863" b="1" i="0">
                <a:solidFill>
                  <a:srgbClr val="051C2C"/>
                </a:solidFill>
                <a:latin typeface="Aptos"/>
                <a:ea typeface="Aptos"/>
                <a:cs typeface="Aptos"/>
              </a:defRPr>
            </a:pPr>
            <a:r>
              <a:rPr sz="863" b="1" i="0">
                <a:solidFill>
                  <a:srgbClr val="051C2C"/>
                </a:solidFill>
                <a:latin typeface="Aptos"/>
                <a:ea typeface="Aptos"/>
                <a:cs typeface="Aptos"/>
              </a:rPr>
              <a:t>Corporate</a:t>
            </a:r>
          </a:p>
        </p:txBody>
      </p:sp>
      <p:sp>
        <p:nvSpPr>
          <p:cNvPr id="96" name="Rectangle: Rounded Corners 95">
            <a:extLst>
              <a:ext uri="{FF2B5EF4-FFF2-40B4-BE49-F238E27FC236}">
                <a16:creationId xmlns:a16="http://schemas.microsoft.com/office/drawing/2014/main" id="{B60B57DA-2D30-733A-F111-1DD60FEE1551}"/>
              </a:ext>
            </a:extLst>
          </p:cNvPr>
          <p:cNvSpPr>
            <a:spLocks noGrp="1"/>
          </p:cNvSpPr>
          <p:nvPr/>
        </p:nvSpPr>
        <p:spPr>
          <a:xfrm>
            <a:off x="2047875" y="4474464"/>
            <a:ext cx="1428750" cy="142875"/>
          </a:xfrm>
          <a:prstGeom prst="roundRect">
            <a:avLst>
              <a:gd name="adj" fmla="val 50000"/>
            </a:avLst>
          </a:prstGeom>
          <a:solidFill>
            <a:srgbClr val="0B5D7A"/>
          </a:solidFill>
          <a:ln w="0">
            <a:noFill/>
            <a:prstDash val="solid"/>
          </a:ln>
        </p:spPr>
        <p:txBody>
          <a:bodyPr/>
          <a:lstStyle/>
          <a:p>
            <a:endParaRPr lang="en-US"/>
          </a:p>
        </p:txBody>
      </p:sp>
      <p:sp>
        <p:nvSpPr>
          <p:cNvPr id="97" name="Rectangle 96">
            <a:extLst>
              <a:ext uri="{FF2B5EF4-FFF2-40B4-BE49-F238E27FC236}">
                <a16:creationId xmlns:a16="http://schemas.microsoft.com/office/drawing/2014/main" id="{A6D07D79-91BF-4B0E-DB6A-FD3E62C689C6}"/>
              </a:ext>
            </a:extLst>
          </p:cNvPr>
          <p:cNvSpPr>
            <a:spLocks noGrp="1"/>
          </p:cNvSpPr>
          <p:nvPr/>
        </p:nvSpPr>
        <p:spPr>
          <a:xfrm>
            <a:off x="3552825" y="4455414"/>
            <a:ext cx="781050" cy="171450"/>
          </a:xfrm>
          <a:prstGeom prst="rect">
            <a:avLst/>
          </a:prstGeom>
          <a:noFill/>
          <a:ln w="0">
            <a:noFill/>
            <a:prstDash val="solid"/>
          </a:ln>
        </p:spPr>
        <p:txBody>
          <a:bodyPr/>
          <a:lstStyle/>
          <a:p>
            <a:pPr algn="l">
              <a:defRPr sz="788" b="1" i="0">
                <a:solidFill>
                  <a:srgbClr val="0B5D7A"/>
                </a:solidFill>
                <a:latin typeface="Aptos"/>
                <a:ea typeface="Aptos"/>
                <a:cs typeface="Aptos"/>
              </a:defRPr>
            </a:pPr>
            <a:r>
              <a:rPr sz="788" b="1" i="0">
                <a:solidFill>
                  <a:srgbClr val="0B5D7A"/>
                </a:solidFill>
                <a:latin typeface="Aptos"/>
                <a:ea typeface="Aptos"/>
                <a:cs typeface="Aptos"/>
              </a:rPr>
              <a:t>+0,550 pp</a:t>
            </a:r>
          </a:p>
        </p:txBody>
      </p:sp>
      <p:sp>
        <p:nvSpPr>
          <p:cNvPr id="98" name="Rectangle 97">
            <a:extLst>
              <a:ext uri="{FF2B5EF4-FFF2-40B4-BE49-F238E27FC236}">
                <a16:creationId xmlns:a16="http://schemas.microsoft.com/office/drawing/2014/main" id="{8CE989C7-0CE3-61A5-038B-198D6F643E2E}"/>
              </a:ext>
            </a:extLst>
          </p:cNvPr>
          <p:cNvSpPr>
            <a:spLocks noGrp="1"/>
          </p:cNvSpPr>
          <p:nvPr/>
        </p:nvSpPr>
        <p:spPr>
          <a:xfrm>
            <a:off x="666750" y="4817364"/>
            <a:ext cx="1285875" cy="171450"/>
          </a:xfrm>
          <a:prstGeom prst="rect">
            <a:avLst/>
          </a:prstGeom>
          <a:noFill/>
          <a:ln w="0">
            <a:noFill/>
            <a:prstDash val="solid"/>
          </a:ln>
        </p:spPr>
        <p:txBody>
          <a:bodyPr/>
          <a:lstStyle/>
          <a:p>
            <a:pPr algn="l">
              <a:defRPr sz="863" b="1" i="0">
                <a:solidFill>
                  <a:srgbClr val="051C2C"/>
                </a:solidFill>
                <a:latin typeface="Aptos"/>
                <a:ea typeface="Aptos"/>
                <a:cs typeface="Aptos"/>
              </a:defRPr>
            </a:pPr>
            <a:r>
              <a:rPr sz="863" b="1" i="0">
                <a:solidFill>
                  <a:srgbClr val="051C2C"/>
                </a:solidFill>
                <a:latin typeface="Aptos"/>
                <a:ea typeface="Aptos"/>
                <a:cs typeface="Aptos"/>
              </a:rPr>
              <a:t>QRRE</a:t>
            </a:r>
          </a:p>
        </p:txBody>
      </p:sp>
      <p:sp>
        <p:nvSpPr>
          <p:cNvPr id="99" name="Rectangle: Rounded Corners 98">
            <a:extLst>
              <a:ext uri="{FF2B5EF4-FFF2-40B4-BE49-F238E27FC236}">
                <a16:creationId xmlns:a16="http://schemas.microsoft.com/office/drawing/2014/main" id="{474004FF-EB5B-333D-91A8-3ED277C9064F}"/>
              </a:ext>
            </a:extLst>
          </p:cNvPr>
          <p:cNvSpPr>
            <a:spLocks noGrp="1"/>
          </p:cNvSpPr>
          <p:nvPr/>
        </p:nvSpPr>
        <p:spPr>
          <a:xfrm>
            <a:off x="2047875" y="4836414"/>
            <a:ext cx="1298864" cy="142875"/>
          </a:xfrm>
          <a:prstGeom prst="roundRect">
            <a:avLst>
              <a:gd name="adj" fmla="val 50000"/>
            </a:avLst>
          </a:prstGeom>
          <a:solidFill>
            <a:srgbClr val="A52F4D"/>
          </a:solidFill>
          <a:ln w="0">
            <a:noFill/>
            <a:prstDash val="solid"/>
          </a:ln>
        </p:spPr>
        <p:txBody>
          <a:bodyPr/>
          <a:lstStyle/>
          <a:p>
            <a:endParaRPr lang="en-US"/>
          </a:p>
        </p:txBody>
      </p:sp>
      <p:sp>
        <p:nvSpPr>
          <p:cNvPr id="100" name="Rectangle 99">
            <a:extLst>
              <a:ext uri="{FF2B5EF4-FFF2-40B4-BE49-F238E27FC236}">
                <a16:creationId xmlns:a16="http://schemas.microsoft.com/office/drawing/2014/main" id="{2815FBD2-77AD-D131-215A-CB46D42D33BD}"/>
              </a:ext>
            </a:extLst>
          </p:cNvPr>
          <p:cNvSpPr>
            <a:spLocks noGrp="1"/>
          </p:cNvSpPr>
          <p:nvPr/>
        </p:nvSpPr>
        <p:spPr>
          <a:xfrm>
            <a:off x="3422939" y="4817364"/>
            <a:ext cx="781050" cy="171450"/>
          </a:xfrm>
          <a:prstGeom prst="rect">
            <a:avLst/>
          </a:prstGeom>
          <a:noFill/>
          <a:ln w="0">
            <a:noFill/>
            <a:prstDash val="solid"/>
          </a:ln>
        </p:spPr>
        <p:txBody>
          <a:bodyPr/>
          <a:lstStyle/>
          <a:p>
            <a:pPr algn="l">
              <a:defRPr sz="788" b="1" i="0">
                <a:solidFill>
                  <a:srgbClr val="A52F4D"/>
                </a:solidFill>
                <a:latin typeface="Aptos"/>
                <a:ea typeface="Aptos"/>
                <a:cs typeface="Aptos"/>
              </a:defRPr>
            </a:pPr>
            <a:r>
              <a:rPr sz="788" b="1" i="0">
                <a:solidFill>
                  <a:srgbClr val="A52F4D"/>
                </a:solidFill>
                <a:latin typeface="Aptos"/>
                <a:ea typeface="Aptos"/>
                <a:cs typeface="Aptos"/>
              </a:rPr>
              <a:t>+0,500 pp</a:t>
            </a:r>
          </a:p>
        </p:txBody>
      </p:sp>
      <p:sp>
        <p:nvSpPr>
          <p:cNvPr id="101" name="Rectangle 100">
            <a:extLst>
              <a:ext uri="{FF2B5EF4-FFF2-40B4-BE49-F238E27FC236}">
                <a16:creationId xmlns:a16="http://schemas.microsoft.com/office/drawing/2014/main" id="{99D49908-5149-CBDB-2B0E-9DC9C71CDAFA}"/>
              </a:ext>
            </a:extLst>
          </p:cNvPr>
          <p:cNvSpPr>
            <a:spLocks noGrp="1"/>
          </p:cNvSpPr>
          <p:nvPr/>
        </p:nvSpPr>
        <p:spPr>
          <a:xfrm>
            <a:off x="666750" y="5179314"/>
            <a:ext cx="1285875" cy="171450"/>
          </a:xfrm>
          <a:prstGeom prst="rect">
            <a:avLst/>
          </a:prstGeom>
          <a:noFill/>
          <a:ln w="0">
            <a:noFill/>
            <a:prstDash val="solid"/>
          </a:ln>
        </p:spPr>
        <p:txBody>
          <a:bodyPr/>
          <a:lstStyle/>
          <a:p>
            <a:pPr algn="l">
              <a:defRPr sz="863" b="1" i="0">
                <a:solidFill>
                  <a:srgbClr val="051C2C"/>
                </a:solidFill>
                <a:latin typeface="Aptos"/>
                <a:ea typeface="Aptos"/>
                <a:cs typeface="Aptos"/>
              </a:defRPr>
            </a:pPr>
            <a:r>
              <a:rPr sz="863" b="1" i="0">
                <a:solidFill>
                  <a:srgbClr val="051C2C"/>
                </a:solidFill>
                <a:latin typeface="Aptos"/>
                <a:ea typeface="Aptos"/>
                <a:cs typeface="Aptos"/>
              </a:rPr>
              <a:t>Bank</a:t>
            </a:r>
          </a:p>
        </p:txBody>
      </p:sp>
      <p:sp>
        <p:nvSpPr>
          <p:cNvPr id="102" name="Rectangle: Rounded Corners 101">
            <a:extLst>
              <a:ext uri="{FF2B5EF4-FFF2-40B4-BE49-F238E27FC236}">
                <a16:creationId xmlns:a16="http://schemas.microsoft.com/office/drawing/2014/main" id="{58010AD5-C9BA-9328-4D52-0FEBB84BA0DF}"/>
              </a:ext>
            </a:extLst>
          </p:cNvPr>
          <p:cNvSpPr>
            <a:spLocks noGrp="1"/>
          </p:cNvSpPr>
          <p:nvPr/>
        </p:nvSpPr>
        <p:spPr>
          <a:xfrm>
            <a:off x="1853045" y="5198364"/>
            <a:ext cx="194830" cy="142875"/>
          </a:xfrm>
          <a:prstGeom prst="roundRect">
            <a:avLst>
              <a:gd name="adj" fmla="val 50000"/>
            </a:avLst>
          </a:prstGeom>
          <a:solidFill>
            <a:srgbClr val="1B777F"/>
          </a:solidFill>
          <a:ln w="0">
            <a:noFill/>
            <a:prstDash val="solid"/>
          </a:ln>
        </p:spPr>
        <p:txBody>
          <a:bodyPr/>
          <a:lstStyle/>
          <a:p>
            <a:endParaRPr lang="en-US"/>
          </a:p>
        </p:txBody>
      </p:sp>
      <p:sp>
        <p:nvSpPr>
          <p:cNvPr id="103" name="Rectangle 102">
            <a:extLst>
              <a:ext uri="{FF2B5EF4-FFF2-40B4-BE49-F238E27FC236}">
                <a16:creationId xmlns:a16="http://schemas.microsoft.com/office/drawing/2014/main" id="{F55792D4-750C-8113-9034-34B6C61617C2}"/>
              </a:ext>
            </a:extLst>
          </p:cNvPr>
          <p:cNvSpPr>
            <a:spLocks noGrp="1"/>
          </p:cNvSpPr>
          <p:nvPr/>
        </p:nvSpPr>
        <p:spPr>
          <a:xfrm>
            <a:off x="2124075" y="5179314"/>
            <a:ext cx="781050" cy="171450"/>
          </a:xfrm>
          <a:prstGeom prst="rect">
            <a:avLst/>
          </a:prstGeom>
          <a:noFill/>
          <a:ln w="0">
            <a:noFill/>
            <a:prstDash val="solid"/>
          </a:ln>
        </p:spPr>
        <p:txBody>
          <a:bodyPr/>
          <a:lstStyle/>
          <a:p>
            <a:pPr algn="l">
              <a:defRPr sz="788" b="1" i="0">
                <a:solidFill>
                  <a:srgbClr val="1B777F"/>
                </a:solidFill>
                <a:latin typeface="Aptos"/>
                <a:ea typeface="Aptos"/>
                <a:cs typeface="Aptos"/>
              </a:defRPr>
            </a:pPr>
            <a:r>
              <a:rPr sz="788" b="1" i="0">
                <a:solidFill>
                  <a:srgbClr val="1B777F"/>
                </a:solidFill>
                <a:latin typeface="Aptos"/>
                <a:ea typeface="Aptos"/>
                <a:cs typeface="Aptos"/>
              </a:rPr>
              <a:t>−0,075 pp</a:t>
            </a:r>
          </a:p>
        </p:txBody>
      </p:sp>
      <p:sp>
        <p:nvSpPr>
          <p:cNvPr id="104" name="Rectangle 103">
            <a:extLst>
              <a:ext uri="{FF2B5EF4-FFF2-40B4-BE49-F238E27FC236}">
                <a16:creationId xmlns:a16="http://schemas.microsoft.com/office/drawing/2014/main" id="{56246405-DA0E-8B87-1B0C-0170CA202B45}"/>
              </a:ext>
            </a:extLst>
          </p:cNvPr>
          <p:cNvSpPr>
            <a:spLocks noGrp="1"/>
          </p:cNvSpPr>
          <p:nvPr/>
        </p:nvSpPr>
        <p:spPr>
          <a:xfrm>
            <a:off x="666750" y="5541264"/>
            <a:ext cx="1285875" cy="171450"/>
          </a:xfrm>
          <a:prstGeom prst="rect">
            <a:avLst/>
          </a:prstGeom>
          <a:noFill/>
          <a:ln w="0">
            <a:noFill/>
            <a:prstDash val="solid"/>
          </a:ln>
        </p:spPr>
        <p:txBody>
          <a:bodyPr/>
          <a:lstStyle/>
          <a:p>
            <a:pPr algn="l">
              <a:defRPr sz="863" b="1" i="0">
                <a:solidFill>
                  <a:srgbClr val="051C2C"/>
                </a:solidFill>
                <a:latin typeface="Aptos"/>
                <a:ea typeface="Aptos"/>
                <a:cs typeface="Aptos"/>
              </a:defRPr>
            </a:pPr>
            <a:r>
              <a:rPr sz="863" b="1" i="0">
                <a:solidFill>
                  <a:srgbClr val="051C2C"/>
                </a:solidFill>
                <a:latin typeface="Aptos"/>
                <a:ea typeface="Aptos"/>
                <a:cs typeface="Aptos"/>
              </a:rPr>
              <a:t>Sovereign</a:t>
            </a:r>
          </a:p>
        </p:txBody>
      </p:sp>
      <p:sp>
        <p:nvSpPr>
          <p:cNvPr id="105" name="Rectangle 104">
            <a:extLst>
              <a:ext uri="{FF2B5EF4-FFF2-40B4-BE49-F238E27FC236}">
                <a16:creationId xmlns:a16="http://schemas.microsoft.com/office/drawing/2014/main" id="{FC3EDE59-DF5C-54B3-ECE9-CB1D58B291E5}"/>
              </a:ext>
            </a:extLst>
          </p:cNvPr>
          <p:cNvSpPr>
            <a:spLocks noGrp="1"/>
          </p:cNvSpPr>
          <p:nvPr/>
        </p:nvSpPr>
        <p:spPr>
          <a:xfrm>
            <a:off x="2019300" y="5579364"/>
            <a:ext cx="66675" cy="104775"/>
          </a:xfrm>
          <a:prstGeom prst="rect">
            <a:avLst/>
          </a:prstGeom>
          <a:solidFill>
            <a:srgbClr val="8B9296"/>
          </a:solidFill>
          <a:ln w="0">
            <a:noFill/>
            <a:prstDash val="solid"/>
          </a:ln>
        </p:spPr>
        <p:txBody>
          <a:bodyPr/>
          <a:lstStyle/>
          <a:p>
            <a:endParaRPr lang="en-US"/>
          </a:p>
        </p:txBody>
      </p:sp>
      <p:sp>
        <p:nvSpPr>
          <p:cNvPr id="106" name="Rectangle 105">
            <a:extLst>
              <a:ext uri="{FF2B5EF4-FFF2-40B4-BE49-F238E27FC236}">
                <a16:creationId xmlns:a16="http://schemas.microsoft.com/office/drawing/2014/main" id="{CE2D0030-E3E8-B1CD-EEA8-8A27A81BFF69}"/>
              </a:ext>
            </a:extLst>
          </p:cNvPr>
          <p:cNvSpPr>
            <a:spLocks noGrp="1"/>
          </p:cNvSpPr>
          <p:nvPr/>
        </p:nvSpPr>
        <p:spPr>
          <a:xfrm>
            <a:off x="2124075" y="5541264"/>
            <a:ext cx="714375" cy="171450"/>
          </a:xfrm>
          <a:prstGeom prst="rect">
            <a:avLst/>
          </a:prstGeom>
          <a:noFill/>
          <a:ln w="0">
            <a:noFill/>
            <a:prstDash val="solid"/>
          </a:ln>
        </p:spPr>
        <p:txBody>
          <a:bodyPr/>
          <a:lstStyle/>
          <a:p>
            <a:pPr algn="l">
              <a:defRPr sz="788" b="1" i="0">
                <a:solidFill>
                  <a:srgbClr val="8B9296"/>
                </a:solidFill>
                <a:latin typeface="Aptos"/>
                <a:ea typeface="Aptos"/>
                <a:cs typeface="Aptos"/>
              </a:defRPr>
            </a:pPr>
            <a:r>
              <a:rPr sz="788" b="1" i="0">
                <a:solidFill>
                  <a:srgbClr val="8B9296"/>
                </a:solidFill>
                <a:latin typeface="Aptos"/>
                <a:ea typeface="Aptos"/>
                <a:cs typeface="Aptos"/>
              </a:rPr>
              <a:t>0,000 pp</a:t>
            </a:r>
          </a:p>
        </p:txBody>
      </p:sp>
      <p:sp>
        <p:nvSpPr>
          <p:cNvPr id="107" name="Rectangle: Rounded Corners 106">
            <a:extLst>
              <a:ext uri="{FF2B5EF4-FFF2-40B4-BE49-F238E27FC236}">
                <a16:creationId xmlns:a16="http://schemas.microsoft.com/office/drawing/2014/main" id="{8CCDB924-5A0D-960C-EB12-1A5187B1102A}"/>
              </a:ext>
            </a:extLst>
          </p:cNvPr>
          <p:cNvSpPr>
            <a:spLocks noGrp="1"/>
          </p:cNvSpPr>
          <p:nvPr/>
        </p:nvSpPr>
        <p:spPr>
          <a:xfrm>
            <a:off x="647700" y="5979414"/>
            <a:ext cx="5048250" cy="161925"/>
          </a:xfrm>
          <a:prstGeom prst="roundRect">
            <a:avLst>
              <a:gd name="adj" fmla="val 50000"/>
            </a:avLst>
          </a:prstGeom>
          <a:solidFill>
            <a:srgbClr val="F5E5E9"/>
          </a:solidFill>
          <a:ln w="0">
            <a:noFill/>
            <a:prstDash val="solid"/>
          </a:ln>
        </p:spPr>
        <p:txBody>
          <a:bodyPr/>
          <a:lstStyle/>
          <a:p>
            <a:endParaRPr lang="en-US"/>
          </a:p>
        </p:txBody>
      </p:sp>
      <p:sp>
        <p:nvSpPr>
          <p:cNvPr id="108" name="Rectangle 107">
            <a:extLst>
              <a:ext uri="{FF2B5EF4-FFF2-40B4-BE49-F238E27FC236}">
                <a16:creationId xmlns:a16="http://schemas.microsoft.com/office/drawing/2014/main" id="{0D274B5E-066A-F226-68EA-EDC652B51BDA}"/>
              </a:ext>
            </a:extLst>
          </p:cNvPr>
          <p:cNvSpPr>
            <a:spLocks noGrp="1"/>
          </p:cNvSpPr>
          <p:nvPr/>
        </p:nvSpPr>
        <p:spPr>
          <a:xfrm>
            <a:off x="695325" y="5998464"/>
            <a:ext cx="4953000" cy="133350"/>
          </a:xfrm>
          <a:prstGeom prst="rect">
            <a:avLst/>
          </a:prstGeom>
          <a:noFill/>
          <a:ln w="0">
            <a:noFill/>
            <a:prstDash val="solid"/>
          </a:ln>
        </p:spPr>
        <p:txBody>
          <a:bodyPr/>
          <a:lstStyle/>
          <a:p>
            <a:pPr algn="ctr">
              <a:defRPr sz="735" b="1" i="0">
                <a:solidFill>
                  <a:srgbClr val="A52F4D"/>
                </a:solidFill>
                <a:latin typeface="Aptos"/>
                <a:ea typeface="Aptos"/>
                <a:cs typeface="Aptos"/>
              </a:defRPr>
            </a:pPr>
            <a:r>
              <a:rPr sz="735" b="1" i="0">
                <a:solidFill>
                  <a:srgbClr val="A52F4D"/>
                </a:solidFill>
                <a:latin typeface="Aptos"/>
                <a:ea typeface="Aptos"/>
                <a:cs typeface="Aptos"/>
              </a:rPr>
              <a:t>Corporate +0,550 pp · Other Retail +0,650 pp – unterschiedliche Klassen, beide Werte korrekt.</a:t>
            </a:r>
          </a:p>
        </p:txBody>
      </p:sp>
      <p:sp>
        <p:nvSpPr>
          <p:cNvPr id="109" name="Rectangle: Rounded Corners 108">
            <a:extLst>
              <a:ext uri="{FF2B5EF4-FFF2-40B4-BE49-F238E27FC236}">
                <a16:creationId xmlns:a16="http://schemas.microsoft.com/office/drawing/2014/main" id="{82226171-70BA-1849-8C7E-2061175FA5D7}"/>
              </a:ext>
            </a:extLst>
          </p:cNvPr>
          <p:cNvSpPr>
            <a:spLocks noGrp="1"/>
          </p:cNvSpPr>
          <p:nvPr/>
        </p:nvSpPr>
        <p:spPr>
          <a:xfrm>
            <a:off x="6134100" y="2588514"/>
            <a:ext cx="5600700" cy="3657600"/>
          </a:xfrm>
          <a:prstGeom prst="roundRect">
            <a:avLst>
              <a:gd name="adj" fmla="val 3125"/>
            </a:avLst>
          </a:prstGeom>
          <a:solidFill>
            <a:srgbClr val="FFFFFF"/>
          </a:solidFill>
          <a:ln w="9525">
            <a:solidFill>
              <a:srgbClr val="D5E0E5"/>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110" name="Rectangle 109">
            <a:extLst>
              <a:ext uri="{FF2B5EF4-FFF2-40B4-BE49-F238E27FC236}">
                <a16:creationId xmlns:a16="http://schemas.microsoft.com/office/drawing/2014/main" id="{1D017B31-3270-7081-1AC2-72A2E5FA90D1}"/>
              </a:ext>
            </a:extLst>
          </p:cNvPr>
          <p:cNvSpPr>
            <a:spLocks noGrp="1"/>
          </p:cNvSpPr>
          <p:nvPr/>
        </p:nvSpPr>
        <p:spPr>
          <a:xfrm>
            <a:off x="6324600" y="2769489"/>
            <a:ext cx="3238500" cy="171450"/>
          </a:xfrm>
          <a:prstGeom prst="rect">
            <a:avLst/>
          </a:prstGeom>
          <a:noFill/>
          <a:ln w="0">
            <a:noFill/>
            <a:prstDash val="solid"/>
          </a:ln>
        </p:spPr>
        <p:txBody>
          <a:bodyPr/>
          <a:lstStyle/>
          <a:p>
            <a:pPr algn="l">
              <a:defRPr sz="825" b="1" i="0">
                <a:solidFill>
                  <a:srgbClr val="A52F4D"/>
                </a:solidFill>
                <a:latin typeface="Aptos"/>
                <a:ea typeface="Aptos"/>
                <a:cs typeface="Aptos"/>
              </a:defRPr>
            </a:pPr>
            <a:r>
              <a:rPr sz="825" b="1" i="0">
                <a:solidFill>
                  <a:srgbClr val="A52F4D"/>
                </a:solidFill>
                <a:latin typeface="Aptos"/>
                <a:ea typeface="Aptos"/>
                <a:cs typeface="Aptos"/>
              </a:rPr>
              <a:t>ΔLGD · VERLUSTQUOTE BEI AUSFALL</a:t>
            </a:r>
          </a:p>
        </p:txBody>
      </p:sp>
      <p:sp>
        <p:nvSpPr>
          <p:cNvPr id="111" name="Rectangle 110">
            <a:extLst>
              <a:ext uri="{FF2B5EF4-FFF2-40B4-BE49-F238E27FC236}">
                <a16:creationId xmlns:a16="http://schemas.microsoft.com/office/drawing/2014/main" id="{9A81254F-9100-2A97-F948-3CCE050B02CA}"/>
              </a:ext>
            </a:extLst>
          </p:cNvPr>
          <p:cNvSpPr>
            <a:spLocks noGrp="1"/>
          </p:cNvSpPr>
          <p:nvPr/>
        </p:nvSpPr>
        <p:spPr>
          <a:xfrm>
            <a:off x="6324600" y="2988564"/>
            <a:ext cx="2476500" cy="152400"/>
          </a:xfrm>
          <a:prstGeom prst="rect">
            <a:avLst/>
          </a:prstGeom>
          <a:noFill/>
          <a:ln w="0">
            <a:noFill/>
            <a:prstDash val="solid"/>
          </a:ln>
        </p:spPr>
        <p:txBody>
          <a:bodyPr/>
          <a:lstStyle/>
          <a:p>
            <a:pPr algn="l">
              <a:defRPr sz="788" b="0" i="0">
                <a:solidFill>
                  <a:srgbClr val="71858F"/>
                </a:solidFill>
                <a:latin typeface="Aptos"/>
                <a:ea typeface="Aptos"/>
                <a:cs typeface="Aptos"/>
              </a:defRPr>
            </a:pPr>
            <a:r>
              <a:rPr sz="788" b="0" i="0">
                <a:solidFill>
                  <a:srgbClr val="71858F"/>
                </a:solidFill>
                <a:latin typeface="Aptos"/>
                <a:ea typeface="Aptos"/>
                <a:cs typeface="Aptos"/>
              </a:rPr>
              <a:t>Veränderung in Prozentpunkten</a:t>
            </a:r>
          </a:p>
        </p:txBody>
      </p:sp>
      <p:sp>
        <p:nvSpPr>
          <p:cNvPr id="112" name="Rectangle 111">
            <a:extLst>
              <a:ext uri="{FF2B5EF4-FFF2-40B4-BE49-F238E27FC236}">
                <a16:creationId xmlns:a16="http://schemas.microsoft.com/office/drawing/2014/main" id="{9758C88C-3EA6-E7FD-EFFE-C787E131A0A5}"/>
              </a:ext>
            </a:extLst>
          </p:cNvPr>
          <p:cNvSpPr>
            <a:spLocks noGrp="1"/>
          </p:cNvSpPr>
          <p:nvPr/>
        </p:nvSpPr>
        <p:spPr>
          <a:xfrm>
            <a:off x="6343650" y="3369564"/>
            <a:ext cx="1285875" cy="171450"/>
          </a:xfrm>
          <a:prstGeom prst="rect">
            <a:avLst/>
          </a:prstGeom>
          <a:noFill/>
          <a:ln w="0">
            <a:noFill/>
            <a:prstDash val="solid"/>
          </a:ln>
        </p:spPr>
        <p:txBody>
          <a:bodyPr/>
          <a:lstStyle/>
          <a:p>
            <a:pPr algn="l">
              <a:defRPr sz="863" b="1" i="0">
                <a:solidFill>
                  <a:srgbClr val="051C2C"/>
                </a:solidFill>
                <a:latin typeface="Aptos"/>
                <a:ea typeface="Aptos"/>
                <a:cs typeface="Aptos"/>
              </a:defRPr>
            </a:pPr>
            <a:r>
              <a:rPr sz="863" b="1" i="0">
                <a:solidFill>
                  <a:srgbClr val="051C2C"/>
                </a:solidFill>
                <a:latin typeface="Aptos"/>
                <a:ea typeface="Aptos"/>
                <a:cs typeface="Aptos"/>
              </a:rPr>
              <a:t>SME Corporate</a:t>
            </a:r>
          </a:p>
        </p:txBody>
      </p:sp>
      <p:sp>
        <p:nvSpPr>
          <p:cNvPr id="113" name="Rectangle: Rounded Corners 112">
            <a:extLst>
              <a:ext uri="{FF2B5EF4-FFF2-40B4-BE49-F238E27FC236}">
                <a16:creationId xmlns:a16="http://schemas.microsoft.com/office/drawing/2014/main" id="{8FDF91BA-EE91-A2A9-3636-9321E2913CBA}"/>
              </a:ext>
            </a:extLst>
          </p:cNvPr>
          <p:cNvSpPr>
            <a:spLocks noGrp="1"/>
          </p:cNvSpPr>
          <p:nvPr/>
        </p:nvSpPr>
        <p:spPr>
          <a:xfrm>
            <a:off x="7715250" y="3388614"/>
            <a:ext cx="3095625" cy="142875"/>
          </a:xfrm>
          <a:prstGeom prst="roundRect">
            <a:avLst>
              <a:gd name="adj" fmla="val 50000"/>
            </a:avLst>
          </a:prstGeom>
          <a:solidFill>
            <a:srgbClr val="E7EEF1"/>
          </a:solidFill>
          <a:ln w="0">
            <a:noFill/>
            <a:prstDash val="solid"/>
          </a:ln>
        </p:spPr>
        <p:txBody>
          <a:bodyPr/>
          <a:lstStyle/>
          <a:p>
            <a:endParaRPr lang="en-US"/>
          </a:p>
        </p:txBody>
      </p:sp>
      <p:sp>
        <p:nvSpPr>
          <p:cNvPr id="114" name="Rectangle: Rounded Corners 113">
            <a:extLst>
              <a:ext uri="{FF2B5EF4-FFF2-40B4-BE49-F238E27FC236}">
                <a16:creationId xmlns:a16="http://schemas.microsoft.com/office/drawing/2014/main" id="{E020706D-1093-745A-842D-A9424CBBB653}"/>
              </a:ext>
            </a:extLst>
          </p:cNvPr>
          <p:cNvSpPr>
            <a:spLocks noGrp="1"/>
          </p:cNvSpPr>
          <p:nvPr/>
        </p:nvSpPr>
        <p:spPr>
          <a:xfrm>
            <a:off x="7715250" y="3388614"/>
            <a:ext cx="2461276" cy="142875"/>
          </a:xfrm>
          <a:prstGeom prst="roundRect">
            <a:avLst>
              <a:gd name="adj" fmla="val 50000"/>
            </a:avLst>
          </a:prstGeom>
          <a:solidFill>
            <a:srgbClr val="A52F4D"/>
          </a:solidFill>
          <a:ln w="0">
            <a:noFill/>
            <a:prstDash val="solid"/>
          </a:ln>
        </p:spPr>
        <p:txBody>
          <a:bodyPr/>
          <a:lstStyle/>
          <a:p>
            <a:endParaRPr lang="en-US"/>
          </a:p>
        </p:txBody>
      </p:sp>
      <p:sp>
        <p:nvSpPr>
          <p:cNvPr id="115" name="Rectangle 114">
            <a:extLst>
              <a:ext uri="{FF2B5EF4-FFF2-40B4-BE49-F238E27FC236}">
                <a16:creationId xmlns:a16="http://schemas.microsoft.com/office/drawing/2014/main" id="{4904E0F9-F2D3-C9D4-EDCB-7225DF59937B}"/>
              </a:ext>
            </a:extLst>
          </p:cNvPr>
          <p:cNvSpPr>
            <a:spLocks noGrp="1"/>
          </p:cNvSpPr>
          <p:nvPr/>
        </p:nvSpPr>
        <p:spPr>
          <a:xfrm>
            <a:off x="10887075" y="3369564"/>
            <a:ext cx="666750" cy="171450"/>
          </a:xfrm>
          <a:prstGeom prst="rect">
            <a:avLst/>
          </a:prstGeom>
          <a:noFill/>
          <a:ln w="0">
            <a:noFill/>
            <a:prstDash val="solid"/>
          </a:ln>
        </p:spPr>
        <p:txBody>
          <a:bodyPr/>
          <a:lstStyle/>
          <a:p>
            <a:pPr algn="r">
              <a:defRPr sz="788" b="1" i="0">
                <a:solidFill>
                  <a:srgbClr val="A52F4D"/>
                </a:solidFill>
                <a:latin typeface="Aptos"/>
                <a:ea typeface="Aptos"/>
                <a:cs typeface="Aptos"/>
              </a:defRPr>
            </a:pPr>
            <a:r>
              <a:rPr sz="788" b="1" i="0">
                <a:solidFill>
                  <a:srgbClr val="A52F4D"/>
                </a:solidFill>
                <a:latin typeface="Aptos"/>
                <a:ea typeface="Aptos"/>
                <a:cs typeface="Aptos"/>
              </a:rPr>
              <a:t>+2,425 pp</a:t>
            </a:r>
          </a:p>
        </p:txBody>
      </p:sp>
      <p:sp>
        <p:nvSpPr>
          <p:cNvPr id="116" name="Rectangle 115">
            <a:extLst>
              <a:ext uri="{FF2B5EF4-FFF2-40B4-BE49-F238E27FC236}">
                <a16:creationId xmlns:a16="http://schemas.microsoft.com/office/drawing/2014/main" id="{FAAC4AB5-C346-795F-863D-445805477D37}"/>
              </a:ext>
            </a:extLst>
          </p:cNvPr>
          <p:cNvSpPr>
            <a:spLocks noGrp="1"/>
          </p:cNvSpPr>
          <p:nvPr/>
        </p:nvSpPr>
        <p:spPr>
          <a:xfrm>
            <a:off x="6343650" y="3731514"/>
            <a:ext cx="1285875" cy="171450"/>
          </a:xfrm>
          <a:prstGeom prst="rect">
            <a:avLst/>
          </a:prstGeom>
          <a:noFill/>
          <a:ln w="0">
            <a:noFill/>
            <a:prstDash val="solid"/>
          </a:ln>
        </p:spPr>
        <p:txBody>
          <a:bodyPr/>
          <a:lstStyle/>
          <a:p>
            <a:pPr algn="l">
              <a:defRPr sz="863" b="1" i="0">
                <a:solidFill>
                  <a:srgbClr val="051C2C"/>
                </a:solidFill>
                <a:latin typeface="Aptos"/>
                <a:ea typeface="Aptos"/>
                <a:cs typeface="Aptos"/>
              </a:defRPr>
            </a:pPr>
            <a:r>
              <a:rPr sz="863" b="1" i="0">
                <a:solidFill>
                  <a:srgbClr val="051C2C"/>
                </a:solidFill>
                <a:latin typeface="Aptos"/>
                <a:ea typeface="Aptos"/>
                <a:cs typeface="Aptos"/>
              </a:rPr>
              <a:t>Mortgage</a:t>
            </a:r>
          </a:p>
        </p:txBody>
      </p:sp>
      <p:sp>
        <p:nvSpPr>
          <p:cNvPr id="117" name="Rectangle: Rounded Corners 116">
            <a:extLst>
              <a:ext uri="{FF2B5EF4-FFF2-40B4-BE49-F238E27FC236}">
                <a16:creationId xmlns:a16="http://schemas.microsoft.com/office/drawing/2014/main" id="{F18359F6-195E-1DA8-638F-A6E317641CE8}"/>
              </a:ext>
            </a:extLst>
          </p:cNvPr>
          <p:cNvSpPr>
            <a:spLocks noGrp="1"/>
          </p:cNvSpPr>
          <p:nvPr/>
        </p:nvSpPr>
        <p:spPr>
          <a:xfrm>
            <a:off x="7715250" y="3750564"/>
            <a:ext cx="3095625" cy="142875"/>
          </a:xfrm>
          <a:prstGeom prst="roundRect">
            <a:avLst>
              <a:gd name="adj" fmla="val 50000"/>
            </a:avLst>
          </a:prstGeom>
          <a:solidFill>
            <a:srgbClr val="E7EEF1"/>
          </a:solidFill>
          <a:ln w="0">
            <a:noFill/>
            <a:prstDash val="solid"/>
          </a:ln>
        </p:spPr>
        <p:txBody>
          <a:bodyPr/>
          <a:lstStyle/>
          <a:p>
            <a:endParaRPr lang="en-US"/>
          </a:p>
        </p:txBody>
      </p:sp>
      <p:sp>
        <p:nvSpPr>
          <p:cNvPr id="118" name="Rectangle: Rounded Corners 117">
            <a:extLst>
              <a:ext uri="{FF2B5EF4-FFF2-40B4-BE49-F238E27FC236}">
                <a16:creationId xmlns:a16="http://schemas.microsoft.com/office/drawing/2014/main" id="{AED8E814-D3BC-E706-80E9-0CB585A4F03B}"/>
              </a:ext>
            </a:extLst>
          </p:cNvPr>
          <p:cNvSpPr>
            <a:spLocks noGrp="1"/>
          </p:cNvSpPr>
          <p:nvPr/>
        </p:nvSpPr>
        <p:spPr>
          <a:xfrm>
            <a:off x="7715250" y="3750564"/>
            <a:ext cx="3095625" cy="142875"/>
          </a:xfrm>
          <a:prstGeom prst="roundRect">
            <a:avLst>
              <a:gd name="adj" fmla="val 50000"/>
            </a:avLst>
          </a:prstGeom>
          <a:solidFill>
            <a:srgbClr val="D9A124"/>
          </a:solidFill>
          <a:ln w="0">
            <a:noFill/>
            <a:prstDash val="solid"/>
          </a:ln>
        </p:spPr>
        <p:txBody>
          <a:bodyPr/>
          <a:lstStyle/>
          <a:p>
            <a:endParaRPr lang="en-US"/>
          </a:p>
        </p:txBody>
      </p:sp>
      <p:sp>
        <p:nvSpPr>
          <p:cNvPr id="119" name="Rectangle 118">
            <a:extLst>
              <a:ext uri="{FF2B5EF4-FFF2-40B4-BE49-F238E27FC236}">
                <a16:creationId xmlns:a16="http://schemas.microsoft.com/office/drawing/2014/main" id="{5116F5DD-B934-E5A5-CEA9-EC5B47CDF857}"/>
              </a:ext>
            </a:extLst>
          </p:cNvPr>
          <p:cNvSpPr>
            <a:spLocks noGrp="1"/>
          </p:cNvSpPr>
          <p:nvPr/>
        </p:nvSpPr>
        <p:spPr>
          <a:xfrm>
            <a:off x="10887075" y="3731514"/>
            <a:ext cx="666750" cy="171450"/>
          </a:xfrm>
          <a:prstGeom prst="rect">
            <a:avLst/>
          </a:prstGeom>
          <a:noFill/>
          <a:ln w="0">
            <a:noFill/>
            <a:prstDash val="solid"/>
          </a:ln>
        </p:spPr>
        <p:txBody>
          <a:bodyPr/>
          <a:lstStyle/>
          <a:p>
            <a:pPr algn="r">
              <a:defRPr sz="788" b="1" i="0">
                <a:solidFill>
                  <a:srgbClr val="D9A124"/>
                </a:solidFill>
                <a:latin typeface="Aptos"/>
                <a:ea typeface="Aptos"/>
                <a:cs typeface="Aptos"/>
              </a:defRPr>
            </a:pPr>
            <a:r>
              <a:rPr sz="788" b="1" i="0">
                <a:solidFill>
                  <a:srgbClr val="D9A124"/>
                </a:solidFill>
                <a:latin typeface="Aptos"/>
                <a:ea typeface="Aptos"/>
                <a:cs typeface="Aptos"/>
              </a:rPr>
              <a:t>+3,050 pp</a:t>
            </a:r>
          </a:p>
        </p:txBody>
      </p:sp>
      <p:sp>
        <p:nvSpPr>
          <p:cNvPr id="120" name="Rectangle 119">
            <a:extLst>
              <a:ext uri="{FF2B5EF4-FFF2-40B4-BE49-F238E27FC236}">
                <a16:creationId xmlns:a16="http://schemas.microsoft.com/office/drawing/2014/main" id="{2A880EC4-5D24-9B2B-50B0-CD4EFDD240BD}"/>
              </a:ext>
            </a:extLst>
          </p:cNvPr>
          <p:cNvSpPr>
            <a:spLocks noGrp="1"/>
          </p:cNvSpPr>
          <p:nvPr/>
        </p:nvSpPr>
        <p:spPr>
          <a:xfrm>
            <a:off x="6343650" y="4093464"/>
            <a:ext cx="1285875" cy="171450"/>
          </a:xfrm>
          <a:prstGeom prst="rect">
            <a:avLst/>
          </a:prstGeom>
          <a:noFill/>
          <a:ln w="0">
            <a:noFill/>
            <a:prstDash val="solid"/>
          </a:ln>
        </p:spPr>
        <p:txBody>
          <a:bodyPr/>
          <a:lstStyle/>
          <a:p>
            <a:pPr algn="l">
              <a:defRPr sz="863" b="1" i="0">
                <a:solidFill>
                  <a:srgbClr val="051C2C"/>
                </a:solidFill>
                <a:latin typeface="Aptos"/>
                <a:ea typeface="Aptos"/>
                <a:cs typeface="Aptos"/>
              </a:defRPr>
            </a:pPr>
            <a:r>
              <a:rPr sz="863" b="1" i="0">
                <a:solidFill>
                  <a:srgbClr val="051C2C"/>
                </a:solidFill>
                <a:latin typeface="Aptos"/>
                <a:ea typeface="Aptos"/>
                <a:cs typeface="Aptos"/>
              </a:rPr>
              <a:t>Other Retail</a:t>
            </a:r>
          </a:p>
        </p:txBody>
      </p:sp>
      <p:sp>
        <p:nvSpPr>
          <p:cNvPr id="121" name="Rectangle: Rounded Corners 120">
            <a:extLst>
              <a:ext uri="{FF2B5EF4-FFF2-40B4-BE49-F238E27FC236}">
                <a16:creationId xmlns:a16="http://schemas.microsoft.com/office/drawing/2014/main" id="{3174C8F3-2FB0-2B45-9B37-8D06220C623C}"/>
              </a:ext>
            </a:extLst>
          </p:cNvPr>
          <p:cNvSpPr>
            <a:spLocks noGrp="1"/>
          </p:cNvSpPr>
          <p:nvPr/>
        </p:nvSpPr>
        <p:spPr>
          <a:xfrm>
            <a:off x="7715250" y="4112514"/>
            <a:ext cx="3095625" cy="142875"/>
          </a:xfrm>
          <a:prstGeom prst="roundRect">
            <a:avLst>
              <a:gd name="adj" fmla="val 50000"/>
            </a:avLst>
          </a:prstGeom>
          <a:solidFill>
            <a:srgbClr val="E7EEF1"/>
          </a:solidFill>
          <a:ln w="0">
            <a:noFill/>
            <a:prstDash val="solid"/>
          </a:ln>
        </p:spPr>
        <p:txBody>
          <a:bodyPr/>
          <a:lstStyle/>
          <a:p>
            <a:endParaRPr lang="en-US"/>
          </a:p>
        </p:txBody>
      </p:sp>
      <p:sp>
        <p:nvSpPr>
          <p:cNvPr id="122" name="Rectangle: Rounded Corners 121">
            <a:extLst>
              <a:ext uri="{FF2B5EF4-FFF2-40B4-BE49-F238E27FC236}">
                <a16:creationId xmlns:a16="http://schemas.microsoft.com/office/drawing/2014/main" id="{C06ED259-BF14-B584-3549-44D33A1ECF9D}"/>
              </a:ext>
            </a:extLst>
          </p:cNvPr>
          <p:cNvSpPr>
            <a:spLocks noGrp="1"/>
          </p:cNvSpPr>
          <p:nvPr/>
        </p:nvSpPr>
        <p:spPr>
          <a:xfrm>
            <a:off x="7715250" y="4112514"/>
            <a:ext cx="1750804" cy="142875"/>
          </a:xfrm>
          <a:prstGeom prst="roundRect">
            <a:avLst>
              <a:gd name="adj" fmla="val 50000"/>
            </a:avLst>
          </a:prstGeom>
          <a:solidFill>
            <a:srgbClr val="0B5D7A"/>
          </a:solidFill>
          <a:ln w="0">
            <a:noFill/>
            <a:prstDash val="solid"/>
          </a:ln>
        </p:spPr>
        <p:txBody>
          <a:bodyPr/>
          <a:lstStyle/>
          <a:p>
            <a:endParaRPr lang="en-US"/>
          </a:p>
        </p:txBody>
      </p:sp>
      <p:sp>
        <p:nvSpPr>
          <p:cNvPr id="123" name="Rectangle 122">
            <a:extLst>
              <a:ext uri="{FF2B5EF4-FFF2-40B4-BE49-F238E27FC236}">
                <a16:creationId xmlns:a16="http://schemas.microsoft.com/office/drawing/2014/main" id="{4F3C9FD8-3923-6724-95D1-247B7B925026}"/>
              </a:ext>
            </a:extLst>
          </p:cNvPr>
          <p:cNvSpPr>
            <a:spLocks noGrp="1"/>
          </p:cNvSpPr>
          <p:nvPr/>
        </p:nvSpPr>
        <p:spPr>
          <a:xfrm>
            <a:off x="10887075" y="4093464"/>
            <a:ext cx="666750" cy="171450"/>
          </a:xfrm>
          <a:prstGeom prst="rect">
            <a:avLst/>
          </a:prstGeom>
          <a:noFill/>
          <a:ln w="0">
            <a:noFill/>
            <a:prstDash val="solid"/>
          </a:ln>
        </p:spPr>
        <p:txBody>
          <a:bodyPr/>
          <a:lstStyle/>
          <a:p>
            <a:pPr algn="r">
              <a:defRPr sz="788" b="1" i="0">
                <a:solidFill>
                  <a:srgbClr val="0B5D7A"/>
                </a:solidFill>
                <a:latin typeface="Aptos"/>
                <a:ea typeface="Aptos"/>
                <a:cs typeface="Aptos"/>
              </a:defRPr>
            </a:pPr>
            <a:r>
              <a:rPr sz="788" b="1" i="0">
                <a:solidFill>
                  <a:srgbClr val="0B5D7A"/>
                </a:solidFill>
                <a:latin typeface="Aptos"/>
                <a:ea typeface="Aptos"/>
                <a:cs typeface="Aptos"/>
              </a:rPr>
              <a:t>+1,725 pp</a:t>
            </a:r>
          </a:p>
        </p:txBody>
      </p:sp>
      <p:sp>
        <p:nvSpPr>
          <p:cNvPr id="124" name="Rectangle 123">
            <a:extLst>
              <a:ext uri="{FF2B5EF4-FFF2-40B4-BE49-F238E27FC236}">
                <a16:creationId xmlns:a16="http://schemas.microsoft.com/office/drawing/2014/main" id="{60ABF815-C570-EFB9-D1A0-A9BE2CD6AF1B}"/>
              </a:ext>
            </a:extLst>
          </p:cNvPr>
          <p:cNvSpPr>
            <a:spLocks noGrp="1"/>
          </p:cNvSpPr>
          <p:nvPr/>
        </p:nvSpPr>
        <p:spPr>
          <a:xfrm>
            <a:off x="6343650" y="4455414"/>
            <a:ext cx="1285875" cy="171450"/>
          </a:xfrm>
          <a:prstGeom prst="rect">
            <a:avLst/>
          </a:prstGeom>
          <a:noFill/>
          <a:ln w="0">
            <a:noFill/>
            <a:prstDash val="solid"/>
          </a:ln>
        </p:spPr>
        <p:txBody>
          <a:bodyPr/>
          <a:lstStyle/>
          <a:p>
            <a:pPr algn="l">
              <a:defRPr sz="863" b="1" i="0">
                <a:solidFill>
                  <a:srgbClr val="051C2C"/>
                </a:solidFill>
                <a:latin typeface="Aptos"/>
                <a:ea typeface="Aptos"/>
                <a:cs typeface="Aptos"/>
              </a:defRPr>
            </a:pPr>
            <a:r>
              <a:rPr sz="863" b="1" i="0">
                <a:solidFill>
                  <a:srgbClr val="051C2C"/>
                </a:solidFill>
                <a:latin typeface="Aptos"/>
                <a:ea typeface="Aptos"/>
                <a:cs typeface="Aptos"/>
              </a:rPr>
              <a:t>Corporate</a:t>
            </a:r>
          </a:p>
        </p:txBody>
      </p:sp>
      <p:sp>
        <p:nvSpPr>
          <p:cNvPr id="125" name="Rectangle: Rounded Corners 124">
            <a:extLst>
              <a:ext uri="{FF2B5EF4-FFF2-40B4-BE49-F238E27FC236}">
                <a16:creationId xmlns:a16="http://schemas.microsoft.com/office/drawing/2014/main" id="{BCFA3317-93F2-3BE2-60AE-775770677B57}"/>
              </a:ext>
            </a:extLst>
          </p:cNvPr>
          <p:cNvSpPr>
            <a:spLocks noGrp="1"/>
          </p:cNvSpPr>
          <p:nvPr/>
        </p:nvSpPr>
        <p:spPr>
          <a:xfrm>
            <a:off x="7715250" y="4474464"/>
            <a:ext cx="3095625" cy="142875"/>
          </a:xfrm>
          <a:prstGeom prst="roundRect">
            <a:avLst>
              <a:gd name="adj" fmla="val 50000"/>
            </a:avLst>
          </a:prstGeom>
          <a:solidFill>
            <a:srgbClr val="E7EEF1"/>
          </a:solidFill>
          <a:ln w="0">
            <a:noFill/>
            <a:prstDash val="solid"/>
          </a:ln>
        </p:spPr>
        <p:txBody>
          <a:bodyPr/>
          <a:lstStyle/>
          <a:p>
            <a:endParaRPr lang="en-US"/>
          </a:p>
        </p:txBody>
      </p:sp>
      <p:sp>
        <p:nvSpPr>
          <p:cNvPr id="126" name="Rectangle: Rounded Corners 125">
            <a:extLst>
              <a:ext uri="{FF2B5EF4-FFF2-40B4-BE49-F238E27FC236}">
                <a16:creationId xmlns:a16="http://schemas.microsoft.com/office/drawing/2014/main" id="{A89886A8-7F24-9F6C-935F-198F656ADC85}"/>
              </a:ext>
            </a:extLst>
          </p:cNvPr>
          <p:cNvSpPr>
            <a:spLocks noGrp="1"/>
          </p:cNvSpPr>
          <p:nvPr/>
        </p:nvSpPr>
        <p:spPr>
          <a:xfrm>
            <a:off x="7715250" y="4474464"/>
            <a:ext cx="2283658" cy="142875"/>
          </a:xfrm>
          <a:prstGeom prst="roundRect">
            <a:avLst>
              <a:gd name="adj" fmla="val 50000"/>
            </a:avLst>
          </a:prstGeom>
          <a:solidFill>
            <a:srgbClr val="0B5D7A"/>
          </a:solidFill>
          <a:ln w="0">
            <a:noFill/>
            <a:prstDash val="solid"/>
          </a:ln>
        </p:spPr>
        <p:txBody>
          <a:bodyPr/>
          <a:lstStyle/>
          <a:p>
            <a:endParaRPr lang="en-US"/>
          </a:p>
        </p:txBody>
      </p:sp>
      <p:sp>
        <p:nvSpPr>
          <p:cNvPr id="127" name="Rectangle 126">
            <a:extLst>
              <a:ext uri="{FF2B5EF4-FFF2-40B4-BE49-F238E27FC236}">
                <a16:creationId xmlns:a16="http://schemas.microsoft.com/office/drawing/2014/main" id="{7857956D-07A5-78A5-577F-2D6F9B9189AD}"/>
              </a:ext>
            </a:extLst>
          </p:cNvPr>
          <p:cNvSpPr>
            <a:spLocks noGrp="1"/>
          </p:cNvSpPr>
          <p:nvPr/>
        </p:nvSpPr>
        <p:spPr>
          <a:xfrm>
            <a:off x="10887075" y="4455414"/>
            <a:ext cx="666750" cy="171450"/>
          </a:xfrm>
          <a:prstGeom prst="rect">
            <a:avLst/>
          </a:prstGeom>
          <a:noFill/>
          <a:ln w="0">
            <a:noFill/>
            <a:prstDash val="solid"/>
          </a:ln>
        </p:spPr>
        <p:txBody>
          <a:bodyPr/>
          <a:lstStyle/>
          <a:p>
            <a:pPr algn="r">
              <a:defRPr sz="788" b="1" i="0">
                <a:solidFill>
                  <a:srgbClr val="0B5D7A"/>
                </a:solidFill>
                <a:latin typeface="Aptos"/>
                <a:ea typeface="Aptos"/>
                <a:cs typeface="Aptos"/>
              </a:defRPr>
            </a:pPr>
            <a:r>
              <a:rPr sz="788" b="1" i="0">
                <a:solidFill>
                  <a:srgbClr val="0B5D7A"/>
                </a:solidFill>
                <a:latin typeface="Aptos"/>
                <a:ea typeface="Aptos"/>
                <a:cs typeface="Aptos"/>
              </a:rPr>
              <a:t>+2,250 pp</a:t>
            </a:r>
          </a:p>
        </p:txBody>
      </p:sp>
      <p:sp>
        <p:nvSpPr>
          <p:cNvPr id="128" name="Rectangle 127">
            <a:extLst>
              <a:ext uri="{FF2B5EF4-FFF2-40B4-BE49-F238E27FC236}">
                <a16:creationId xmlns:a16="http://schemas.microsoft.com/office/drawing/2014/main" id="{75246FF2-425B-45B7-F36E-BA9B48086995}"/>
              </a:ext>
            </a:extLst>
          </p:cNvPr>
          <p:cNvSpPr>
            <a:spLocks noGrp="1"/>
          </p:cNvSpPr>
          <p:nvPr/>
        </p:nvSpPr>
        <p:spPr>
          <a:xfrm>
            <a:off x="6343650" y="4817364"/>
            <a:ext cx="1285875" cy="171450"/>
          </a:xfrm>
          <a:prstGeom prst="rect">
            <a:avLst/>
          </a:prstGeom>
          <a:noFill/>
          <a:ln w="0">
            <a:noFill/>
            <a:prstDash val="solid"/>
          </a:ln>
        </p:spPr>
        <p:txBody>
          <a:bodyPr/>
          <a:lstStyle/>
          <a:p>
            <a:pPr algn="l">
              <a:defRPr sz="863" b="1" i="0">
                <a:solidFill>
                  <a:srgbClr val="051C2C"/>
                </a:solidFill>
                <a:latin typeface="Aptos"/>
                <a:ea typeface="Aptos"/>
                <a:cs typeface="Aptos"/>
              </a:defRPr>
            </a:pPr>
            <a:r>
              <a:rPr sz="863" b="1" i="0">
                <a:solidFill>
                  <a:srgbClr val="051C2C"/>
                </a:solidFill>
                <a:latin typeface="Aptos"/>
                <a:ea typeface="Aptos"/>
                <a:cs typeface="Aptos"/>
              </a:rPr>
              <a:t>QRRE</a:t>
            </a:r>
          </a:p>
        </p:txBody>
      </p:sp>
      <p:sp>
        <p:nvSpPr>
          <p:cNvPr id="129" name="Rectangle: Rounded Corners 128">
            <a:extLst>
              <a:ext uri="{FF2B5EF4-FFF2-40B4-BE49-F238E27FC236}">
                <a16:creationId xmlns:a16="http://schemas.microsoft.com/office/drawing/2014/main" id="{F7BB9A4E-3A9D-9D8A-EB98-33EEDCA3CA27}"/>
              </a:ext>
            </a:extLst>
          </p:cNvPr>
          <p:cNvSpPr>
            <a:spLocks noGrp="1"/>
          </p:cNvSpPr>
          <p:nvPr/>
        </p:nvSpPr>
        <p:spPr>
          <a:xfrm>
            <a:off x="7715250" y="4836414"/>
            <a:ext cx="3095625" cy="142875"/>
          </a:xfrm>
          <a:prstGeom prst="roundRect">
            <a:avLst>
              <a:gd name="adj" fmla="val 50000"/>
            </a:avLst>
          </a:prstGeom>
          <a:solidFill>
            <a:srgbClr val="E7EEF1"/>
          </a:solidFill>
          <a:ln w="0">
            <a:noFill/>
            <a:prstDash val="solid"/>
          </a:ln>
        </p:spPr>
        <p:txBody>
          <a:bodyPr/>
          <a:lstStyle/>
          <a:p>
            <a:endParaRPr lang="en-US"/>
          </a:p>
        </p:txBody>
      </p:sp>
      <p:sp>
        <p:nvSpPr>
          <p:cNvPr id="130" name="Rectangle: Rounded Corners 129">
            <a:extLst>
              <a:ext uri="{FF2B5EF4-FFF2-40B4-BE49-F238E27FC236}">
                <a16:creationId xmlns:a16="http://schemas.microsoft.com/office/drawing/2014/main" id="{617C2110-F4B3-7ED5-2DC1-6D98D55B58B0}"/>
              </a:ext>
            </a:extLst>
          </p:cNvPr>
          <p:cNvSpPr>
            <a:spLocks noGrp="1"/>
          </p:cNvSpPr>
          <p:nvPr/>
        </p:nvSpPr>
        <p:spPr>
          <a:xfrm>
            <a:off x="7715250" y="4836414"/>
            <a:ext cx="1167203" cy="142875"/>
          </a:xfrm>
          <a:prstGeom prst="roundRect">
            <a:avLst>
              <a:gd name="adj" fmla="val 50000"/>
            </a:avLst>
          </a:prstGeom>
          <a:solidFill>
            <a:srgbClr val="A52F4D"/>
          </a:solidFill>
          <a:ln w="0">
            <a:noFill/>
            <a:prstDash val="solid"/>
          </a:ln>
        </p:spPr>
        <p:txBody>
          <a:bodyPr/>
          <a:lstStyle/>
          <a:p>
            <a:endParaRPr lang="en-US"/>
          </a:p>
        </p:txBody>
      </p:sp>
      <p:sp>
        <p:nvSpPr>
          <p:cNvPr id="131" name="Rectangle 130">
            <a:extLst>
              <a:ext uri="{FF2B5EF4-FFF2-40B4-BE49-F238E27FC236}">
                <a16:creationId xmlns:a16="http://schemas.microsoft.com/office/drawing/2014/main" id="{D0739100-CEAB-B135-BE53-E77859E905CE}"/>
              </a:ext>
            </a:extLst>
          </p:cNvPr>
          <p:cNvSpPr>
            <a:spLocks noGrp="1"/>
          </p:cNvSpPr>
          <p:nvPr/>
        </p:nvSpPr>
        <p:spPr>
          <a:xfrm>
            <a:off x="10887075" y="4817364"/>
            <a:ext cx="666750" cy="171450"/>
          </a:xfrm>
          <a:prstGeom prst="rect">
            <a:avLst/>
          </a:prstGeom>
          <a:noFill/>
          <a:ln w="0">
            <a:noFill/>
            <a:prstDash val="solid"/>
          </a:ln>
        </p:spPr>
        <p:txBody>
          <a:bodyPr/>
          <a:lstStyle/>
          <a:p>
            <a:pPr algn="r">
              <a:defRPr sz="788" b="1" i="0">
                <a:solidFill>
                  <a:srgbClr val="A52F4D"/>
                </a:solidFill>
                <a:latin typeface="Aptos"/>
                <a:ea typeface="Aptos"/>
                <a:cs typeface="Aptos"/>
              </a:defRPr>
            </a:pPr>
            <a:r>
              <a:rPr sz="788" b="1" i="0">
                <a:solidFill>
                  <a:srgbClr val="A52F4D"/>
                </a:solidFill>
                <a:latin typeface="Aptos"/>
                <a:ea typeface="Aptos"/>
                <a:cs typeface="Aptos"/>
              </a:rPr>
              <a:t>+1,150 pp</a:t>
            </a:r>
          </a:p>
        </p:txBody>
      </p:sp>
      <p:sp>
        <p:nvSpPr>
          <p:cNvPr id="132" name="Rectangle 131">
            <a:extLst>
              <a:ext uri="{FF2B5EF4-FFF2-40B4-BE49-F238E27FC236}">
                <a16:creationId xmlns:a16="http://schemas.microsoft.com/office/drawing/2014/main" id="{DDCF2AE2-0DA9-7098-EF29-A20B7CDC7A43}"/>
              </a:ext>
            </a:extLst>
          </p:cNvPr>
          <p:cNvSpPr>
            <a:spLocks noGrp="1"/>
          </p:cNvSpPr>
          <p:nvPr/>
        </p:nvSpPr>
        <p:spPr>
          <a:xfrm>
            <a:off x="6343650" y="5179314"/>
            <a:ext cx="1285875" cy="171450"/>
          </a:xfrm>
          <a:prstGeom prst="rect">
            <a:avLst/>
          </a:prstGeom>
          <a:noFill/>
          <a:ln w="0">
            <a:noFill/>
            <a:prstDash val="solid"/>
          </a:ln>
        </p:spPr>
        <p:txBody>
          <a:bodyPr/>
          <a:lstStyle/>
          <a:p>
            <a:pPr algn="l">
              <a:defRPr sz="863" b="1" i="0">
                <a:solidFill>
                  <a:srgbClr val="051C2C"/>
                </a:solidFill>
                <a:latin typeface="Aptos"/>
                <a:ea typeface="Aptos"/>
                <a:cs typeface="Aptos"/>
              </a:defRPr>
            </a:pPr>
            <a:r>
              <a:rPr sz="863" b="1" i="0">
                <a:solidFill>
                  <a:srgbClr val="051C2C"/>
                </a:solidFill>
                <a:latin typeface="Aptos"/>
                <a:ea typeface="Aptos"/>
                <a:cs typeface="Aptos"/>
              </a:rPr>
              <a:t>Bank</a:t>
            </a:r>
          </a:p>
        </p:txBody>
      </p:sp>
      <p:sp>
        <p:nvSpPr>
          <p:cNvPr id="133" name="Rectangle: Rounded Corners 132">
            <a:extLst>
              <a:ext uri="{FF2B5EF4-FFF2-40B4-BE49-F238E27FC236}">
                <a16:creationId xmlns:a16="http://schemas.microsoft.com/office/drawing/2014/main" id="{849FB3A9-51A9-AC07-F389-167AB80DCEC8}"/>
              </a:ext>
            </a:extLst>
          </p:cNvPr>
          <p:cNvSpPr>
            <a:spLocks noGrp="1"/>
          </p:cNvSpPr>
          <p:nvPr/>
        </p:nvSpPr>
        <p:spPr>
          <a:xfrm>
            <a:off x="7715250" y="5198364"/>
            <a:ext cx="3095625" cy="142875"/>
          </a:xfrm>
          <a:prstGeom prst="roundRect">
            <a:avLst>
              <a:gd name="adj" fmla="val 50000"/>
            </a:avLst>
          </a:prstGeom>
          <a:solidFill>
            <a:srgbClr val="E7EEF1"/>
          </a:solidFill>
          <a:ln w="0">
            <a:noFill/>
            <a:prstDash val="solid"/>
          </a:ln>
        </p:spPr>
        <p:txBody>
          <a:bodyPr/>
          <a:lstStyle/>
          <a:p>
            <a:endParaRPr lang="en-US"/>
          </a:p>
        </p:txBody>
      </p:sp>
      <p:sp>
        <p:nvSpPr>
          <p:cNvPr id="134" name="Rectangle: Rounded Corners 133">
            <a:extLst>
              <a:ext uri="{FF2B5EF4-FFF2-40B4-BE49-F238E27FC236}">
                <a16:creationId xmlns:a16="http://schemas.microsoft.com/office/drawing/2014/main" id="{7C9F3C78-25B2-C8F6-155E-D471BCF2F567}"/>
              </a:ext>
            </a:extLst>
          </p:cNvPr>
          <p:cNvSpPr>
            <a:spLocks noGrp="1"/>
          </p:cNvSpPr>
          <p:nvPr/>
        </p:nvSpPr>
        <p:spPr>
          <a:xfrm>
            <a:off x="7715250" y="5198364"/>
            <a:ext cx="1065707" cy="142875"/>
          </a:xfrm>
          <a:prstGeom prst="roundRect">
            <a:avLst>
              <a:gd name="adj" fmla="val 50000"/>
            </a:avLst>
          </a:prstGeom>
          <a:solidFill>
            <a:srgbClr val="1B777F"/>
          </a:solidFill>
          <a:ln w="0">
            <a:noFill/>
            <a:prstDash val="solid"/>
          </a:ln>
        </p:spPr>
        <p:txBody>
          <a:bodyPr/>
          <a:lstStyle/>
          <a:p>
            <a:endParaRPr lang="en-US"/>
          </a:p>
        </p:txBody>
      </p:sp>
      <p:sp>
        <p:nvSpPr>
          <p:cNvPr id="135" name="Rectangle 134">
            <a:extLst>
              <a:ext uri="{FF2B5EF4-FFF2-40B4-BE49-F238E27FC236}">
                <a16:creationId xmlns:a16="http://schemas.microsoft.com/office/drawing/2014/main" id="{07D0A576-BF35-7603-ED72-8F72C9B6F13C}"/>
              </a:ext>
            </a:extLst>
          </p:cNvPr>
          <p:cNvSpPr>
            <a:spLocks noGrp="1"/>
          </p:cNvSpPr>
          <p:nvPr/>
        </p:nvSpPr>
        <p:spPr>
          <a:xfrm>
            <a:off x="10887075" y="5179314"/>
            <a:ext cx="666750" cy="171450"/>
          </a:xfrm>
          <a:prstGeom prst="rect">
            <a:avLst/>
          </a:prstGeom>
          <a:noFill/>
          <a:ln w="0">
            <a:noFill/>
            <a:prstDash val="solid"/>
          </a:ln>
        </p:spPr>
        <p:txBody>
          <a:bodyPr/>
          <a:lstStyle/>
          <a:p>
            <a:pPr algn="r">
              <a:defRPr sz="788" b="1" i="0">
                <a:solidFill>
                  <a:srgbClr val="1B777F"/>
                </a:solidFill>
                <a:latin typeface="Aptos"/>
                <a:ea typeface="Aptos"/>
                <a:cs typeface="Aptos"/>
              </a:defRPr>
            </a:pPr>
            <a:r>
              <a:rPr sz="788" b="1" i="0">
                <a:solidFill>
                  <a:srgbClr val="1B777F"/>
                </a:solidFill>
                <a:latin typeface="Aptos"/>
                <a:ea typeface="Aptos"/>
                <a:cs typeface="Aptos"/>
              </a:rPr>
              <a:t>+1,050 pp</a:t>
            </a:r>
          </a:p>
        </p:txBody>
      </p:sp>
      <p:sp>
        <p:nvSpPr>
          <p:cNvPr id="136" name="Rectangle 135">
            <a:extLst>
              <a:ext uri="{FF2B5EF4-FFF2-40B4-BE49-F238E27FC236}">
                <a16:creationId xmlns:a16="http://schemas.microsoft.com/office/drawing/2014/main" id="{C2A4F062-C4A6-F5C5-FEBA-DC858F619F5B}"/>
              </a:ext>
            </a:extLst>
          </p:cNvPr>
          <p:cNvSpPr>
            <a:spLocks noGrp="1"/>
          </p:cNvSpPr>
          <p:nvPr/>
        </p:nvSpPr>
        <p:spPr>
          <a:xfrm>
            <a:off x="6343650" y="5541264"/>
            <a:ext cx="1285875" cy="171450"/>
          </a:xfrm>
          <a:prstGeom prst="rect">
            <a:avLst/>
          </a:prstGeom>
          <a:noFill/>
          <a:ln w="0">
            <a:noFill/>
            <a:prstDash val="solid"/>
          </a:ln>
        </p:spPr>
        <p:txBody>
          <a:bodyPr/>
          <a:lstStyle/>
          <a:p>
            <a:pPr algn="l">
              <a:defRPr sz="863" b="1" i="0">
                <a:solidFill>
                  <a:srgbClr val="051C2C"/>
                </a:solidFill>
                <a:latin typeface="Aptos"/>
                <a:ea typeface="Aptos"/>
                <a:cs typeface="Aptos"/>
              </a:defRPr>
            </a:pPr>
            <a:r>
              <a:rPr sz="863" b="1" i="0">
                <a:solidFill>
                  <a:srgbClr val="051C2C"/>
                </a:solidFill>
                <a:latin typeface="Aptos"/>
                <a:ea typeface="Aptos"/>
                <a:cs typeface="Aptos"/>
              </a:rPr>
              <a:t>Sovereign</a:t>
            </a:r>
          </a:p>
        </p:txBody>
      </p:sp>
      <p:sp>
        <p:nvSpPr>
          <p:cNvPr id="137" name="Rectangle: Rounded Corners 136">
            <a:extLst>
              <a:ext uri="{FF2B5EF4-FFF2-40B4-BE49-F238E27FC236}">
                <a16:creationId xmlns:a16="http://schemas.microsoft.com/office/drawing/2014/main" id="{E043AF98-2174-A234-8736-7EE864DD727A}"/>
              </a:ext>
            </a:extLst>
          </p:cNvPr>
          <p:cNvSpPr>
            <a:spLocks noGrp="1"/>
          </p:cNvSpPr>
          <p:nvPr/>
        </p:nvSpPr>
        <p:spPr>
          <a:xfrm>
            <a:off x="7715250" y="5560314"/>
            <a:ext cx="3095625" cy="142875"/>
          </a:xfrm>
          <a:prstGeom prst="roundRect">
            <a:avLst>
              <a:gd name="adj" fmla="val 50000"/>
            </a:avLst>
          </a:prstGeom>
          <a:solidFill>
            <a:srgbClr val="E7EEF1"/>
          </a:solidFill>
          <a:ln w="0">
            <a:noFill/>
            <a:prstDash val="solid"/>
          </a:ln>
        </p:spPr>
        <p:txBody>
          <a:bodyPr/>
          <a:lstStyle/>
          <a:p>
            <a:endParaRPr lang="en-US"/>
          </a:p>
        </p:txBody>
      </p:sp>
      <p:sp>
        <p:nvSpPr>
          <p:cNvPr id="138" name="Rectangle 137">
            <a:extLst>
              <a:ext uri="{FF2B5EF4-FFF2-40B4-BE49-F238E27FC236}">
                <a16:creationId xmlns:a16="http://schemas.microsoft.com/office/drawing/2014/main" id="{F29386E9-F24E-F4D3-1FE8-5A1D609311A2}"/>
              </a:ext>
            </a:extLst>
          </p:cNvPr>
          <p:cNvSpPr>
            <a:spLocks noGrp="1"/>
          </p:cNvSpPr>
          <p:nvPr/>
        </p:nvSpPr>
        <p:spPr>
          <a:xfrm>
            <a:off x="7686675" y="5579364"/>
            <a:ext cx="66675" cy="104775"/>
          </a:xfrm>
          <a:prstGeom prst="rect">
            <a:avLst/>
          </a:prstGeom>
          <a:solidFill>
            <a:srgbClr val="8B9296"/>
          </a:solidFill>
          <a:ln w="0">
            <a:noFill/>
            <a:prstDash val="solid"/>
          </a:ln>
        </p:spPr>
        <p:txBody>
          <a:bodyPr/>
          <a:lstStyle/>
          <a:p>
            <a:endParaRPr lang="en-US"/>
          </a:p>
        </p:txBody>
      </p:sp>
      <p:sp>
        <p:nvSpPr>
          <p:cNvPr id="139" name="Rectangle 138">
            <a:extLst>
              <a:ext uri="{FF2B5EF4-FFF2-40B4-BE49-F238E27FC236}">
                <a16:creationId xmlns:a16="http://schemas.microsoft.com/office/drawing/2014/main" id="{1F46B353-3D98-168C-21DA-08C76D03CD0A}"/>
              </a:ext>
            </a:extLst>
          </p:cNvPr>
          <p:cNvSpPr>
            <a:spLocks noGrp="1"/>
          </p:cNvSpPr>
          <p:nvPr/>
        </p:nvSpPr>
        <p:spPr>
          <a:xfrm>
            <a:off x="10887075" y="5541264"/>
            <a:ext cx="666750" cy="171450"/>
          </a:xfrm>
          <a:prstGeom prst="rect">
            <a:avLst/>
          </a:prstGeom>
          <a:noFill/>
          <a:ln w="0">
            <a:noFill/>
            <a:prstDash val="solid"/>
          </a:ln>
        </p:spPr>
        <p:txBody>
          <a:bodyPr/>
          <a:lstStyle/>
          <a:p>
            <a:pPr algn="r">
              <a:defRPr sz="788" b="1" i="0">
                <a:solidFill>
                  <a:srgbClr val="8B9296"/>
                </a:solidFill>
                <a:latin typeface="Aptos"/>
                <a:ea typeface="Aptos"/>
                <a:cs typeface="Aptos"/>
              </a:defRPr>
            </a:pPr>
            <a:r>
              <a:rPr sz="788" b="1" i="0">
                <a:solidFill>
                  <a:srgbClr val="8B9296"/>
                </a:solidFill>
                <a:latin typeface="Aptos"/>
                <a:ea typeface="Aptos"/>
                <a:cs typeface="Aptos"/>
              </a:rPr>
              <a:t>0,000 pp</a:t>
            </a:r>
          </a:p>
        </p:txBody>
      </p:sp>
      <p:sp>
        <p:nvSpPr>
          <p:cNvPr id="140" name="Rectangle: Rounded Corners 139">
            <a:extLst>
              <a:ext uri="{FF2B5EF4-FFF2-40B4-BE49-F238E27FC236}">
                <a16:creationId xmlns:a16="http://schemas.microsoft.com/office/drawing/2014/main" id="{D5B80BE4-A2B0-E231-D324-A26C51EB318B}"/>
              </a:ext>
            </a:extLst>
          </p:cNvPr>
          <p:cNvSpPr>
            <a:spLocks noGrp="1"/>
          </p:cNvSpPr>
          <p:nvPr/>
        </p:nvSpPr>
        <p:spPr>
          <a:xfrm>
            <a:off x="6324600" y="5979414"/>
            <a:ext cx="5219700" cy="161925"/>
          </a:xfrm>
          <a:prstGeom prst="roundRect">
            <a:avLst>
              <a:gd name="adj" fmla="val 50000"/>
            </a:avLst>
          </a:prstGeom>
          <a:solidFill>
            <a:srgbClr val="E3EFF4"/>
          </a:solidFill>
          <a:ln w="0">
            <a:noFill/>
            <a:prstDash val="solid"/>
          </a:ln>
        </p:spPr>
        <p:txBody>
          <a:bodyPr/>
          <a:lstStyle/>
          <a:p>
            <a:endParaRPr lang="en-US"/>
          </a:p>
        </p:txBody>
      </p:sp>
      <p:sp>
        <p:nvSpPr>
          <p:cNvPr id="141" name="Rectangle 140">
            <a:extLst>
              <a:ext uri="{FF2B5EF4-FFF2-40B4-BE49-F238E27FC236}">
                <a16:creationId xmlns:a16="http://schemas.microsoft.com/office/drawing/2014/main" id="{FB00014C-5EA8-F391-47B9-165385BDE49E}"/>
              </a:ext>
            </a:extLst>
          </p:cNvPr>
          <p:cNvSpPr>
            <a:spLocks noGrp="1"/>
          </p:cNvSpPr>
          <p:nvPr/>
        </p:nvSpPr>
        <p:spPr>
          <a:xfrm>
            <a:off x="6381750" y="5998464"/>
            <a:ext cx="5105400" cy="133350"/>
          </a:xfrm>
          <a:prstGeom prst="rect">
            <a:avLst/>
          </a:prstGeom>
          <a:noFill/>
          <a:ln w="0">
            <a:noFill/>
            <a:prstDash val="solid"/>
          </a:ln>
        </p:spPr>
        <p:txBody>
          <a:bodyPr/>
          <a:lstStyle/>
          <a:p>
            <a:pPr algn="ctr">
              <a:defRPr sz="735" b="1" i="0">
                <a:solidFill>
                  <a:srgbClr val="0B5D7A"/>
                </a:solidFill>
                <a:latin typeface="Aptos"/>
                <a:ea typeface="Aptos"/>
                <a:cs typeface="Aptos"/>
              </a:defRPr>
            </a:pPr>
            <a:r>
              <a:rPr sz="735" b="1" i="0">
                <a:solidFill>
                  <a:srgbClr val="0B5D7A"/>
                </a:solidFill>
                <a:latin typeface="Aptos"/>
                <a:ea typeface="Aptos"/>
                <a:cs typeface="Aptos"/>
              </a:rPr>
              <a:t>Höchste LGD-Reaktion: Mortgage +3,050 pp durch den starken Zins- und Sicherheitenkanal.</a:t>
            </a:r>
          </a:p>
        </p:txBody>
      </p:sp>
      <p:sp>
        <p:nvSpPr>
          <p:cNvPr id="142" name="Rectangle 141">
            <a:extLst>
              <a:ext uri="{FF2B5EF4-FFF2-40B4-BE49-F238E27FC236}">
                <a16:creationId xmlns:a16="http://schemas.microsoft.com/office/drawing/2014/main" id="{A0F4B9C1-90BE-00B1-8075-2C680CE90770}"/>
              </a:ext>
            </a:extLst>
          </p:cNvPr>
          <p:cNvSpPr>
            <a:spLocks noGrp="1"/>
          </p:cNvSpPr>
          <p:nvPr/>
        </p:nvSpPr>
        <p:spPr>
          <a:xfrm>
            <a:off x="8983599" y="854774"/>
            <a:ext cx="554657" cy="56307"/>
          </a:xfrm>
          <a:prstGeom prst="rect">
            <a:avLst/>
          </a:prstGeom>
          <a:noFill/>
          <a:ln w="0">
            <a:noFill/>
            <a:prstDash val="solid"/>
          </a:ln>
        </p:spPr>
        <p:txBody>
          <a:bodyPr/>
          <a:lstStyle/>
          <a:p>
            <a:pPr algn="l">
              <a:defRPr sz="750" b="1" i="0">
                <a:solidFill>
                  <a:srgbClr val="BCD0D9"/>
                </a:solidFill>
                <a:latin typeface="Aptos"/>
                <a:ea typeface="Aptos"/>
                <a:cs typeface="Aptos"/>
              </a:defRPr>
            </a:pPr>
            <a:r>
              <a:rPr sz="750" b="1" i="0">
                <a:solidFill>
                  <a:schemeClr val="bg2">
                    <a:lumMod val="50000"/>
                  </a:schemeClr>
                </a:solidFill>
                <a:latin typeface="Aptos"/>
                <a:ea typeface="Aptos"/>
                <a:cs typeface="Aptos"/>
              </a:rPr>
              <a:t>Formel</a:t>
            </a:r>
          </a:p>
        </p:txBody>
      </p:sp>
      <p:sp>
        <p:nvSpPr>
          <p:cNvPr id="143" name="Rectangle 142">
            <a:extLst>
              <a:ext uri="{FF2B5EF4-FFF2-40B4-BE49-F238E27FC236}">
                <a16:creationId xmlns:a16="http://schemas.microsoft.com/office/drawing/2014/main" id="{AC87BDD9-815A-2DDD-B576-EF7DD4C74770}"/>
              </a:ext>
            </a:extLst>
          </p:cNvPr>
          <p:cNvSpPr>
            <a:spLocks noGrp="1"/>
          </p:cNvSpPr>
          <p:nvPr/>
        </p:nvSpPr>
        <p:spPr>
          <a:xfrm>
            <a:off x="9602724" y="854774"/>
            <a:ext cx="3626605" cy="66865"/>
          </a:xfrm>
          <a:prstGeom prst="rect">
            <a:avLst/>
          </a:prstGeom>
          <a:noFill/>
          <a:ln w="0">
            <a:noFill/>
            <a:prstDash val="solid"/>
          </a:ln>
        </p:spPr>
        <p:txBody>
          <a:bodyPr/>
          <a:lstStyle/>
          <a:p>
            <a:pPr algn="l">
              <a:defRPr sz="1013" b="1" i="0">
                <a:solidFill>
                  <a:srgbClr val="FFFFFF"/>
                </a:solidFill>
                <a:latin typeface="Aptos"/>
                <a:ea typeface="Aptos"/>
                <a:cs typeface="Aptos"/>
              </a:defRPr>
            </a:pPr>
            <a:r>
              <a:rPr sz="1013" b="1" i="0">
                <a:solidFill>
                  <a:schemeClr val="bg2">
                    <a:lumMod val="50000"/>
                  </a:schemeClr>
                </a:solidFill>
                <a:latin typeface="Aptos"/>
                <a:ea typeface="Aptos"/>
                <a:cs typeface="Aptos"/>
              </a:rPr>
              <a:t>ΔPD = βoil × 0,50 + βrate × 2,0</a:t>
            </a:r>
          </a:p>
        </p:txBody>
      </p:sp>
      <p:sp>
        <p:nvSpPr>
          <p:cNvPr id="144" name="Rectangle 143">
            <a:extLst>
              <a:ext uri="{FF2B5EF4-FFF2-40B4-BE49-F238E27FC236}">
                <a16:creationId xmlns:a16="http://schemas.microsoft.com/office/drawing/2014/main" id="{E051D2DF-41D2-671C-74E4-4769F5A1B109}"/>
              </a:ext>
            </a:extLst>
          </p:cNvPr>
          <p:cNvSpPr>
            <a:spLocks noGrp="1"/>
          </p:cNvSpPr>
          <p:nvPr/>
        </p:nvSpPr>
        <p:spPr>
          <a:xfrm>
            <a:off x="9602724" y="1083374"/>
            <a:ext cx="3626605" cy="66865"/>
          </a:xfrm>
          <a:prstGeom prst="rect">
            <a:avLst/>
          </a:prstGeom>
          <a:noFill/>
          <a:ln w="0">
            <a:noFill/>
            <a:prstDash val="solid"/>
          </a:ln>
        </p:spPr>
        <p:txBody>
          <a:bodyPr/>
          <a:lstStyle/>
          <a:p>
            <a:pPr algn="l">
              <a:defRPr sz="1013" b="1" i="0">
                <a:solidFill>
                  <a:srgbClr val="FFFFFF"/>
                </a:solidFill>
                <a:latin typeface="Aptos"/>
                <a:ea typeface="Aptos"/>
                <a:cs typeface="Aptos"/>
              </a:defRPr>
            </a:pPr>
            <a:r>
              <a:rPr sz="1013" b="1" i="0">
                <a:solidFill>
                  <a:schemeClr val="bg2">
                    <a:lumMod val="50000"/>
                  </a:schemeClr>
                </a:solidFill>
                <a:latin typeface="Aptos"/>
                <a:ea typeface="Aptos"/>
                <a:cs typeface="Aptos"/>
              </a:rPr>
              <a:t>ΔLGD = </a:t>
            </a:r>
            <a:r>
              <a:rPr sz="1013" b="1" i="0" err="1">
                <a:solidFill>
                  <a:schemeClr val="bg2">
                    <a:lumMod val="50000"/>
                  </a:schemeClr>
                </a:solidFill>
                <a:latin typeface="Aptos"/>
                <a:ea typeface="Aptos"/>
                <a:cs typeface="Aptos"/>
              </a:rPr>
              <a:t>γoil</a:t>
            </a:r>
            <a:r>
              <a:rPr sz="1013" b="1" i="0">
                <a:solidFill>
                  <a:schemeClr val="bg2">
                    <a:lumMod val="50000"/>
                  </a:schemeClr>
                </a:solidFill>
                <a:latin typeface="Aptos"/>
                <a:ea typeface="Aptos"/>
                <a:cs typeface="Aptos"/>
              </a:rPr>
              <a:t> × 0,50 + </a:t>
            </a:r>
            <a:r>
              <a:rPr sz="1013" b="1" i="0" err="1">
                <a:solidFill>
                  <a:schemeClr val="bg2">
                    <a:lumMod val="50000"/>
                  </a:schemeClr>
                </a:solidFill>
                <a:latin typeface="Aptos"/>
                <a:ea typeface="Aptos"/>
                <a:cs typeface="Aptos"/>
              </a:rPr>
              <a:t>γrate</a:t>
            </a:r>
            <a:r>
              <a:rPr sz="1013" b="1" i="0">
                <a:solidFill>
                  <a:schemeClr val="bg2">
                    <a:lumMod val="50000"/>
                  </a:schemeClr>
                </a:solidFill>
                <a:latin typeface="Aptos"/>
                <a:ea typeface="Aptos"/>
                <a:cs typeface="Aptos"/>
              </a:rPr>
              <a:t> × 2,0</a:t>
            </a:r>
          </a:p>
        </p:txBody>
      </p:sp>
      <p:sp>
        <p:nvSpPr>
          <p:cNvPr id="5" name="CodexSlideNumber">
            <a:extLst>
              <a:ext uri="{FF2B5EF4-FFF2-40B4-BE49-F238E27FC236}">
                <a16:creationId xmlns:a16="http://schemas.microsoft.com/office/drawing/2014/main" id="{D184D002-6E76-B0BD-9C9F-0028A461089C}"/>
              </a:ext>
            </a:extLst>
          </p:cNvPr>
          <p:cNvSpPr txBox="1"/>
          <p:nvPr/>
        </p:nvSpPr>
        <p:spPr>
          <a:xfrm>
            <a:off x="11226800" y="6553200"/>
            <a:ext cx="736600" cy="123111"/>
          </a:xfrm>
          <a:prstGeom prst="rect">
            <a:avLst/>
          </a:prstGeom>
          <a:noFill/>
        </p:spPr>
        <p:txBody>
          <a:bodyPr vert="horz" lIns="0" tIns="0" rIns="0" bIns="0" rtlCol="0">
            <a:spAutoFit/>
          </a:bodyPr>
          <a:lstStyle/>
          <a:p>
            <a:pPr algn="r"/>
            <a:r>
              <a:rPr lang="en-US" sz="800">
                <a:solidFill>
                  <a:srgbClr val="525252"/>
                </a:solidFill>
                <a:latin typeface="Arial" panose="020B0604020202020204" pitchFamily="34" charset="0"/>
              </a:rPr>
              <a:t>15 / 64</a:t>
            </a:r>
          </a:p>
        </p:txBody>
      </p:sp>
    </p:spTree>
    <p:extLst>
      <p:ext uri="{BB962C8B-B14F-4D97-AF65-F5344CB8AC3E}">
        <p14:creationId xmlns:p14="http://schemas.microsoft.com/office/powerpoint/2010/main" val="28450705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0AC4E36-1D33-44F8-A729-03B3BBF32AA2}"/>
              </a:ext>
            </a:extLst>
          </p:cNvPr>
          <p:cNvSpPr>
            <a:spLocks noGrp="1"/>
          </p:cNvSpPr>
          <p:nvPr/>
        </p:nvSpPr>
        <p:spPr>
          <a:xfrm>
            <a:off x="457200" y="228600"/>
            <a:ext cx="4572000" cy="171450"/>
          </a:xfrm>
          <a:prstGeom prst="rect">
            <a:avLst/>
          </a:prstGeom>
          <a:noFill/>
          <a:ln w="0">
            <a:noFill/>
            <a:prstDash val="solid"/>
          </a:ln>
        </p:spPr>
        <p:txBody>
          <a:bodyPr/>
          <a:lstStyle/>
          <a:p>
            <a:pPr algn="l">
              <a:defRPr sz="863" b="1" i="0">
                <a:solidFill>
                  <a:srgbClr val="A52F4D"/>
                </a:solidFill>
                <a:latin typeface="Aptos"/>
                <a:ea typeface="Aptos"/>
                <a:cs typeface="Aptos"/>
              </a:defRPr>
            </a:pPr>
            <a:r>
              <a:rPr lang="en-GB" sz="863" b="1" i="0" dirty="0">
                <a:solidFill>
                  <a:schemeClr val="tx2"/>
                </a:solidFill>
                <a:latin typeface="Aptos"/>
                <a:ea typeface="Aptos"/>
                <a:cs typeface="Aptos"/>
              </a:rPr>
              <a:t>IRB-CAPITAL-BRIDGE</a:t>
            </a:r>
          </a:p>
        </p:txBody>
      </p:sp>
      <p:sp>
        <p:nvSpPr>
          <p:cNvPr id="3" name="Rectangle 2">
            <a:extLst>
              <a:ext uri="{FF2B5EF4-FFF2-40B4-BE49-F238E27FC236}">
                <a16:creationId xmlns:a16="http://schemas.microsoft.com/office/drawing/2014/main" id="{9B1DECA7-FED2-446D-9A00-B5C61CBC301E}"/>
              </a:ext>
            </a:extLst>
          </p:cNvPr>
          <p:cNvSpPr>
            <a:spLocks noGrp="1"/>
          </p:cNvSpPr>
          <p:nvPr/>
        </p:nvSpPr>
        <p:spPr>
          <a:xfrm>
            <a:off x="457200" y="457200"/>
            <a:ext cx="11191875" cy="409575"/>
          </a:xfrm>
          <a:prstGeom prst="rect">
            <a:avLst/>
          </a:prstGeom>
          <a:noFill/>
          <a:ln w="0">
            <a:noFill/>
            <a:prstDash val="solid"/>
          </a:ln>
        </p:spPr>
        <p:txBody>
          <a:bodyPr/>
          <a:lstStyle/>
          <a:p>
            <a:pPr algn="l">
              <a:defRPr sz="2475" b="1" i="0">
                <a:solidFill>
                  <a:srgbClr val="051C2C"/>
                </a:solidFill>
                <a:latin typeface="Aptos Display"/>
                <a:ea typeface="Aptos Display"/>
                <a:cs typeface="Aptos Display"/>
              </a:defRPr>
            </a:pPr>
            <a:r>
              <a:rPr sz="2475" b="1" i="0">
                <a:solidFill>
                  <a:srgbClr val="051C2C"/>
                </a:solidFill>
                <a:latin typeface="Aptos Display"/>
                <a:ea typeface="Aptos Display"/>
                <a:cs typeface="Aptos Display"/>
              </a:rPr>
              <a:t>LGD-Stress erklärt rund zwei Drittel des zusätzlichen IRB-Kapitalbedarfs</a:t>
            </a:r>
          </a:p>
        </p:txBody>
      </p:sp>
      <p:sp>
        <p:nvSpPr>
          <p:cNvPr id="4" name="Rectangle 3">
            <a:extLst>
              <a:ext uri="{FF2B5EF4-FFF2-40B4-BE49-F238E27FC236}">
                <a16:creationId xmlns:a16="http://schemas.microsoft.com/office/drawing/2014/main" id="{51D77515-74CC-44C9-8FD5-D0000D328882}"/>
              </a:ext>
            </a:extLst>
          </p:cNvPr>
          <p:cNvSpPr>
            <a:spLocks noGrp="1"/>
          </p:cNvSpPr>
          <p:nvPr/>
        </p:nvSpPr>
        <p:spPr>
          <a:xfrm>
            <a:off x="457200" y="914400"/>
            <a:ext cx="11096625" cy="228600"/>
          </a:xfrm>
          <a:prstGeom prst="rect">
            <a:avLst/>
          </a:prstGeom>
          <a:noFill/>
          <a:ln w="0">
            <a:noFill/>
            <a:prstDash val="solid"/>
          </a:ln>
        </p:spPr>
        <p:txBody>
          <a:bodyPr/>
          <a:lstStyle/>
          <a:p>
            <a:pPr algn="l">
              <a:defRPr sz="1125" b="0" i="0">
                <a:solidFill>
                  <a:srgbClr val="4F6875"/>
                </a:solidFill>
                <a:latin typeface="Aptos"/>
                <a:ea typeface="Aptos"/>
                <a:cs typeface="Aptos"/>
              </a:defRPr>
            </a:pPr>
            <a:r>
              <a:rPr sz="1125" b="0" i="0">
                <a:solidFill>
                  <a:srgbClr val="4F6875"/>
                </a:solidFill>
                <a:latin typeface="Aptos"/>
                <a:ea typeface="Aptos"/>
                <a:cs typeface="Aptos"/>
              </a:rPr>
              <a:t>Gestresste PD und LGD werden nacheinander in die unveränderte Basel-IRB-Formel eingesetzt.</a:t>
            </a:r>
          </a:p>
        </p:txBody>
      </p:sp>
      <p:sp>
        <p:nvSpPr>
          <p:cNvPr id="6" name="Rectangle: Rounded Corners 5">
            <a:extLst>
              <a:ext uri="{FF2B5EF4-FFF2-40B4-BE49-F238E27FC236}">
                <a16:creationId xmlns:a16="http://schemas.microsoft.com/office/drawing/2014/main" id="{12EA923D-5565-4CBE-9B33-01D70DAA7EE1}"/>
              </a:ext>
            </a:extLst>
          </p:cNvPr>
          <p:cNvSpPr>
            <a:spLocks noGrp="1"/>
          </p:cNvSpPr>
          <p:nvPr/>
        </p:nvSpPr>
        <p:spPr>
          <a:xfrm>
            <a:off x="457200" y="1438275"/>
            <a:ext cx="7067550" cy="3867150"/>
          </a:xfrm>
          <a:prstGeom prst="roundRect">
            <a:avLst>
              <a:gd name="adj" fmla="val 2956"/>
            </a:avLst>
          </a:prstGeom>
          <a:solidFill>
            <a:srgbClr val="FFFFFF"/>
          </a:solidFill>
          <a:ln w="9525">
            <a:solidFill>
              <a:srgbClr val="D5E0E5"/>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7" name="Rectangle 6">
            <a:extLst>
              <a:ext uri="{FF2B5EF4-FFF2-40B4-BE49-F238E27FC236}">
                <a16:creationId xmlns:a16="http://schemas.microsoft.com/office/drawing/2014/main" id="{CE51E8C4-6E49-49D6-9CF6-9C7D64D7F6BD}"/>
              </a:ext>
            </a:extLst>
          </p:cNvPr>
          <p:cNvSpPr>
            <a:spLocks noGrp="1"/>
          </p:cNvSpPr>
          <p:nvPr/>
        </p:nvSpPr>
        <p:spPr>
          <a:xfrm>
            <a:off x="647700" y="1638300"/>
            <a:ext cx="2667000" cy="171450"/>
          </a:xfrm>
          <a:prstGeom prst="rect">
            <a:avLst/>
          </a:prstGeom>
          <a:noFill/>
          <a:ln w="0">
            <a:noFill/>
            <a:prstDash val="solid"/>
          </a:ln>
        </p:spPr>
        <p:txBody>
          <a:bodyPr/>
          <a:lstStyle/>
          <a:p>
            <a:pPr algn="l">
              <a:defRPr sz="825" b="1" i="0">
                <a:solidFill>
                  <a:srgbClr val="A52F4D"/>
                </a:solidFill>
                <a:latin typeface="Aptos"/>
                <a:ea typeface="Aptos"/>
                <a:cs typeface="Aptos"/>
              </a:defRPr>
            </a:pPr>
            <a:r>
              <a:rPr sz="825" b="1" i="0">
                <a:solidFill>
                  <a:srgbClr val="A52F4D"/>
                </a:solidFill>
                <a:latin typeface="Aptos"/>
                <a:ea typeface="Aptos"/>
                <a:cs typeface="Aptos"/>
              </a:rPr>
              <a:t>KAPITALBEDARF K · € MRD.</a:t>
            </a:r>
          </a:p>
        </p:txBody>
      </p:sp>
      <p:sp>
        <p:nvSpPr>
          <p:cNvPr id="8" name="Rectangle 7">
            <a:extLst>
              <a:ext uri="{FF2B5EF4-FFF2-40B4-BE49-F238E27FC236}">
                <a16:creationId xmlns:a16="http://schemas.microsoft.com/office/drawing/2014/main" id="{1F42F76B-B0AB-4B9C-9705-C5B18BBFD3D1}"/>
              </a:ext>
            </a:extLst>
          </p:cNvPr>
          <p:cNvSpPr>
            <a:spLocks noGrp="1"/>
          </p:cNvSpPr>
          <p:nvPr/>
        </p:nvSpPr>
        <p:spPr>
          <a:xfrm>
            <a:off x="857250" y="4524375"/>
            <a:ext cx="6191250" cy="9525"/>
          </a:xfrm>
          <a:prstGeom prst="rect">
            <a:avLst/>
          </a:prstGeom>
          <a:solidFill>
            <a:srgbClr val="AFC0C7"/>
          </a:solidFill>
          <a:ln w="0">
            <a:noFill/>
            <a:prstDash val="solid"/>
          </a:ln>
        </p:spPr>
        <p:txBody>
          <a:bodyPr/>
          <a:lstStyle/>
          <a:p>
            <a:endParaRPr lang="en-US"/>
          </a:p>
        </p:txBody>
      </p:sp>
      <p:sp>
        <p:nvSpPr>
          <p:cNvPr id="9" name="Rectangle 8">
            <a:extLst>
              <a:ext uri="{FF2B5EF4-FFF2-40B4-BE49-F238E27FC236}">
                <a16:creationId xmlns:a16="http://schemas.microsoft.com/office/drawing/2014/main" id="{9C8177A5-F662-45A4-B7B5-2C4A5BC99BBE}"/>
              </a:ext>
            </a:extLst>
          </p:cNvPr>
          <p:cNvSpPr>
            <a:spLocks noGrp="1"/>
          </p:cNvSpPr>
          <p:nvPr/>
        </p:nvSpPr>
        <p:spPr>
          <a:xfrm>
            <a:off x="1047750" y="2643436"/>
            <a:ext cx="1381125" cy="1880939"/>
          </a:xfrm>
          <a:prstGeom prst="rect">
            <a:avLst/>
          </a:prstGeom>
          <a:solidFill>
            <a:srgbClr val="051C2C"/>
          </a:solidFill>
          <a:ln w="0">
            <a:noFill/>
            <a:prstDash val="solid"/>
          </a:ln>
        </p:spPr>
        <p:txBody>
          <a:bodyPr/>
          <a:lstStyle/>
          <a:p>
            <a:endParaRPr lang="en-US"/>
          </a:p>
        </p:txBody>
      </p:sp>
      <p:sp>
        <p:nvSpPr>
          <p:cNvPr id="10" name="Rectangle 9">
            <a:extLst>
              <a:ext uri="{FF2B5EF4-FFF2-40B4-BE49-F238E27FC236}">
                <a16:creationId xmlns:a16="http://schemas.microsoft.com/office/drawing/2014/main" id="{7C7156B3-4010-40AE-B71F-E0EF8DCFEC3B}"/>
              </a:ext>
            </a:extLst>
          </p:cNvPr>
          <p:cNvSpPr>
            <a:spLocks noGrp="1"/>
          </p:cNvSpPr>
          <p:nvPr/>
        </p:nvSpPr>
        <p:spPr>
          <a:xfrm>
            <a:off x="1047750" y="2376736"/>
            <a:ext cx="1381125" cy="209550"/>
          </a:xfrm>
          <a:prstGeom prst="rect">
            <a:avLst/>
          </a:prstGeom>
          <a:noFill/>
          <a:ln w="0">
            <a:noFill/>
            <a:prstDash val="solid"/>
          </a:ln>
        </p:spPr>
        <p:txBody>
          <a:bodyPr/>
          <a:lstStyle/>
          <a:p>
            <a:pPr algn="ctr">
              <a:defRPr sz="1275" b="1" i="0">
                <a:solidFill>
                  <a:srgbClr val="051C2C"/>
                </a:solidFill>
                <a:latin typeface="Aptos"/>
                <a:ea typeface="Aptos"/>
                <a:cs typeface="Aptos"/>
              </a:defRPr>
            </a:pPr>
            <a:r>
              <a:rPr sz="1275" b="1" i="0">
                <a:solidFill>
                  <a:srgbClr val="051C2C"/>
                </a:solidFill>
                <a:latin typeface="Aptos"/>
                <a:ea typeface="Aptos"/>
                <a:cs typeface="Aptos"/>
              </a:rPr>
              <a:t>€412,9</a:t>
            </a:r>
          </a:p>
        </p:txBody>
      </p:sp>
      <p:sp>
        <p:nvSpPr>
          <p:cNvPr id="11" name="Rectangle 10">
            <a:extLst>
              <a:ext uri="{FF2B5EF4-FFF2-40B4-BE49-F238E27FC236}">
                <a16:creationId xmlns:a16="http://schemas.microsoft.com/office/drawing/2014/main" id="{C3246ADA-3C2D-4C97-A224-63124477FAB0}"/>
              </a:ext>
            </a:extLst>
          </p:cNvPr>
          <p:cNvSpPr>
            <a:spLocks noGrp="1"/>
          </p:cNvSpPr>
          <p:nvPr/>
        </p:nvSpPr>
        <p:spPr>
          <a:xfrm>
            <a:off x="1047750" y="4762500"/>
            <a:ext cx="1381125" cy="209550"/>
          </a:xfrm>
          <a:prstGeom prst="rect">
            <a:avLst/>
          </a:prstGeom>
          <a:noFill/>
          <a:ln w="0">
            <a:noFill/>
            <a:prstDash val="solid"/>
          </a:ln>
        </p:spPr>
        <p:txBody>
          <a:bodyPr/>
          <a:lstStyle/>
          <a:p>
            <a:pPr algn="ctr">
              <a:defRPr sz="900" b="1" i="0">
                <a:solidFill>
                  <a:srgbClr val="051C2C"/>
                </a:solidFill>
                <a:latin typeface="Aptos"/>
                <a:ea typeface="Aptos"/>
                <a:cs typeface="Aptos"/>
              </a:defRPr>
            </a:pPr>
            <a:r>
              <a:rPr sz="900" b="1" i="0">
                <a:solidFill>
                  <a:srgbClr val="051C2C"/>
                </a:solidFill>
                <a:latin typeface="Aptos"/>
                <a:ea typeface="Aptos"/>
                <a:cs typeface="Aptos"/>
              </a:rPr>
              <a:t>K Baseline</a:t>
            </a:r>
          </a:p>
        </p:txBody>
      </p:sp>
      <p:sp>
        <p:nvSpPr>
          <p:cNvPr id="12" name="Rectangle 11">
            <a:extLst>
              <a:ext uri="{FF2B5EF4-FFF2-40B4-BE49-F238E27FC236}">
                <a16:creationId xmlns:a16="http://schemas.microsoft.com/office/drawing/2014/main" id="{9BA4EAEE-705B-436F-BCA7-5BA8DFEEB44E}"/>
              </a:ext>
            </a:extLst>
          </p:cNvPr>
          <p:cNvSpPr>
            <a:spLocks noGrp="1"/>
          </p:cNvSpPr>
          <p:nvPr/>
        </p:nvSpPr>
        <p:spPr>
          <a:xfrm>
            <a:off x="2571750" y="3476625"/>
            <a:ext cx="428625" cy="323850"/>
          </a:xfrm>
          <a:prstGeom prst="rect">
            <a:avLst/>
          </a:prstGeom>
          <a:noFill/>
          <a:ln w="0">
            <a:noFill/>
            <a:prstDash val="solid"/>
          </a:ln>
        </p:spPr>
        <p:txBody>
          <a:bodyPr/>
          <a:lstStyle/>
          <a:p>
            <a:pPr algn="ctr">
              <a:defRPr sz="2100" b="1" i="0">
                <a:solidFill>
                  <a:srgbClr val="71858F"/>
                </a:solidFill>
                <a:latin typeface="Aptos"/>
                <a:ea typeface="Aptos"/>
                <a:cs typeface="Aptos"/>
              </a:defRPr>
            </a:pPr>
            <a:r>
              <a:rPr sz="2100" b="1" i="0">
                <a:solidFill>
                  <a:srgbClr val="71858F"/>
                </a:solidFill>
                <a:latin typeface="Aptos"/>
                <a:ea typeface="Aptos"/>
                <a:cs typeface="Aptos"/>
              </a:rPr>
              <a:t>→</a:t>
            </a:r>
          </a:p>
        </p:txBody>
      </p:sp>
      <p:sp>
        <p:nvSpPr>
          <p:cNvPr id="13" name="Rectangle 12">
            <a:extLst>
              <a:ext uri="{FF2B5EF4-FFF2-40B4-BE49-F238E27FC236}">
                <a16:creationId xmlns:a16="http://schemas.microsoft.com/office/drawing/2014/main" id="{D71E7549-9E3A-4514-B1D6-9C9DBA250474}"/>
              </a:ext>
            </a:extLst>
          </p:cNvPr>
          <p:cNvSpPr>
            <a:spLocks noGrp="1"/>
          </p:cNvSpPr>
          <p:nvPr/>
        </p:nvSpPr>
        <p:spPr>
          <a:xfrm>
            <a:off x="3143250" y="3945731"/>
            <a:ext cx="1381125" cy="578644"/>
          </a:xfrm>
          <a:prstGeom prst="rect">
            <a:avLst/>
          </a:prstGeom>
          <a:solidFill>
            <a:srgbClr val="0B5D7A"/>
          </a:solidFill>
          <a:ln w="0">
            <a:noFill/>
            <a:prstDash val="solid"/>
          </a:ln>
        </p:spPr>
        <p:txBody>
          <a:bodyPr/>
          <a:lstStyle/>
          <a:p>
            <a:endParaRPr lang="en-US"/>
          </a:p>
        </p:txBody>
      </p:sp>
      <p:sp>
        <p:nvSpPr>
          <p:cNvPr id="14" name="Rectangle 13">
            <a:extLst>
              <a:ext uri="{FF2B5EF4-FFF2-40B4-BE49-F238E27FC236}">
                <a16:creationId xmlns:a16="http://schemas.microsoft.com/office/drawing/2014/main" id="{A844182B-EC25-4CAE-8CC1-1E504974F992}"/>
              </a:ext>
            </a:extLst>
          </p:cNvPr>
          <p:cNvSpPr>
            <a:spLocks noGrp="1"/>
          </p:cNvSpPr>
          <p:nvPr/>
        </p:nvSpPr>
        <p:spPr>
          <a:xfrm>
            <a:off x="3143250" y="3688556"/>
            <a:ext cx="1381125" cy="190500"/>
          </a:xfrm>
          <a:prstGeom prst="rect">
            <a:avLst/>
          </a:prstGeom>
          <a:noFill/>
          <a:ln w="0">
            <a:noFill/>
            <a:prstDash val="solid"/>
          </a:ln>
        </p:spPr>
        <p:txBody>
          <a:bodyPr/>
          <a:lstStyle/>
          <a:p>
            <a:pPr algn="ctr">
              <a:defRPr sz="1200" b="1" i="0">
                <a:solidFill>
                  <a:srgbClr val="0B5D7A"/>
                </a:solidFill>
                <a:latin typeface="Aptos"/>
                <a:ea typeface="Aptos"/>
                <a:cs typeface="Aptos"/>
              </a:defRPr>
            </a:pPr>
            <a:r>
              <a:rPr sz="1200" b="1" i="0">
                <a:solidFill>
                  <a:srgbClr val="0B5D7A"/>
                </a:solidFill>
                <a:latin typeface="Aptos"/>
                <a:ea typeface="Aptos"/>
                <a:cs typeface="Aptos"/>
              </a:rPr>
              <a:t>+€13,5</a:t>
            </a:r>
          </a:p>
        </p:txBody>
      </p:sp>
      <p:sp>
        <p:nvSpPr>
          <p:cNvPr id="15" name="Rectangle 14">
            <a:extLst>
              <a:ext uri="{FF2B5EF4-FFF2-40B4-BE49-F238E27FC236}">
                <a16:creationId xmlns:a16="http://schemas.microsoft.com/office/drawing/2014/main" id="{29AC861A-521A-4F74-A330-FA64BCE5C265}"/>
              </a:ext>
            </a:extLst>
          </p:cNvPr>
          <p:cNvSpPr>
            <a:spLocks noGrp="1"/>
          </p:cNvSpPr>
          <p:nvPr/>
        </p:nvSpPr>
        <p:spPr>
          <a:xfrm>
            <a:off x="3143250" y="4762500"/>
            <a:ext cx="1381125" cy="209550"/>
          </a:xfrm>
          <a:prstGeom prst="rect">
            <a:avLst/>
          </a:prstGeom>
          <a:noFill/>
          <a:ln w="0">
            <a:noFill/>
            <a:prstDash val="solid"/>
          </a:ln>
        </p:spPr>
        <p:txBody>
          <a:bodyPr/>
          <a:lstStyle/>
          <a:p>
            <a:pPr algn="ctr">
              <a:defRPr sz="900" b="1" i="0">
                <a:solidFill>
                  <a:srgbClr val="051C2C"/>
                </a:solidFill>
                <a:latin typeface="Aptos"/>
                <a:ea typeface="Aptos"/>
                <a:cs typeface="Aptos"/>
              </a:defRPr>
            </a:pPr>
            <a:r>
              <a:rPr sz="900" b="1" i="0">
                <a:solidFill>
                  <a:srgbClr val="051C2C"/>
                </a:solidFill>
                <a:latin typeface="Aptos"/>
                <a:ea typeface="Aptos"/>
                <a:cs typeface="Aptos"/>
              </a:rPr>
              <a:t>ΔK aus PD</a:t>
            </a:r>
          </a:p>
        </p:txBody>
      </p:sp>
      <p:sp>
        <p:nvSpPr>
          <p:cNvPr id="16" name="Rectangle 15">
            <a:extLst>
              <a:ext uri="{FF2B5EF4-FFF2-40B4-BE49-F238E27FC236}">
                <a16:creationId xmlns:a16="http://schemas.microsoft.com/office/drawing/2014/main" id="{3B46050B-4294-4E60-A8FA-EE28A73B6598}"/>
              </a:ext>
            </a:extLst>
          </p:cNvPr>
          <p:cNvSpPr>
            <a:spLocks noGrp="1"/>
          </p:cNvSpPr>
          <p:nvPr/>
        </p:nvSpPr>
        <p:spPr>
          <a:xfrm>
            <a:off x="4667250" y="3476625"/>
            <a:ext cx="428625" cy="323850"/>
          </a:xfrm>
          <a:prstGeom prst="rect">
            <a:avLst/>
          </a:prstGeom>
          <a:noFill/>
          <a:ln w="0">
            <a:noFill/>
            <a:prstDash val="solid"/>
          </a:ln>
        </p:spPr>
        <p:txBody>
          <a:bodyPr/>
          <a:lstStyle/>
          <a:p>
            <a:pPr algn="ctr">
              <a:defRPr sz="2100" b="1" i="0">
                <a:solidFill>
                  <a:srgbClr val="71858F"/>
                </a:solidFill>
                <a:latin typeface="Aptos"/>
                <a:ea typeface="Aptos"/>
                <a:cs typeface="Aptos"/>
              </a:defRPr>
            </a:pPr>
            <a:r>
              <a:rPr sz="2100" b="1" i="0">
                <a:solidFill>
                  <a:srgbClr val="71858F"/>
                </a:solidFill>
                <a:latin typeface="Aptos"/>
                <a:ea typeface="Aptos"/>
                <a:cs typeface="Aptos"/>
              </a:rPr>
              <a:t>→</a:t>
            </a:r>
          </a:p>
        </p:txBody>
      </p:sp>
      <p:sp>
        <p:nvSpPr>
          <p:cNvPr id="17" name="Rectangle 16">
            <a:extLst>
              <a:ext uri="{FF2B5EF4-FFF2-40B4-BE49-F238E27FC236}">
                <a16:creationId xmlns:a16="http://schemas.microsoft.com/office/drawing/2014/main" id="{620575FF-0CE2-4DE1-AB44-D26301948F29}"/>
              </a:ext>
            </a:extLst>
          </p:cNvPr>
          <p:cNvSpPr>
            <a:spLocks noGrp="1"/>
          </p:cNvSpPr>
          <p:nvPr/>
        </p:nvSpPr>
        <p:spPr>
          <a:xfrm>
            <a:off x="5238750" y="3371374"/>
            <a:ext cx="1381125" cy="1153001"/>
          </a:xfrm>
          <a:prstGeom prst="rect">
            <a:avLst/>
          </a:prstGeom>
          <a:solidFill>
            <a:srgbClr val="A52F4D"/>
          </a:solidFill>
          <a:ln w="0">
            <a:noFill/>
            <a:prstDash val="solid"/>
          </a:ln>
        </p:spPr>
        <p:txBody>
          <a:bodyPr/>
          <a:lstStyle/>
          <a:p>
            <a:endParaRPr lang="en-US"/>
          </a:p>
        </p:txBody>
      </p:sp>
      <p:sp>
        <p:nvSpPr>
          <p:cNvPr id="18" name="Rectangle 17">
            <a:extLst>
              <a:ext uri="{FF2B5EF4-FFF2-40B4-BE49-F238E27FC236}">
                <a16:creationId xmlns:a16="http://schemas.microsoft.com/office/drawing/2014/main" id="{021B7E5F-F381-4A6C-95FF-DD09B7189A42}"/>
              </a:ext>
            </a:extLst>
          </p:cNvPr>
          <p:cNvSpPr>
            <a:spLocks noGrp="1"/>
          </p:cNvSpPr>
          <p:nvPr/>
        </p:nvSpPr>
        <p:spPr>
          <a:xfrm>
            <a:off x="5238750" y="3114199"/>
            <a:ext cx="1381125" cy="190500"/>
          </a:xfrm>
          <a:prstGeom prst="rect">
            <a:avLst/>
          </a:prstGeom>
          <a:noFill/>
          <a:ln w="0">
            <a:noFill/>
            <a:prstDash val="solid"/>
          </a:ln>
        </p:spPr>
        <p:txBody>
          <a:bodyPr/>
          <a:lstStyle/>
          <a:p>
            <a:pPr algn="ctr">
              <a:defRPr sz="1200" b="1" i="0">
                <a:solidFill>
                  <a:srgbClr val="A52F4D"/>
                </a:solidFill>
                <a:latin typeface="Aptos"/>
                <a:ea typeface="Aptos"/>
                <a:cs typeface="Aptos"/>
              </a:defRPr>
            </a:pPr>
            <a:r>
              <a:rPr sz="1200" b="1" i="0">
                <a:solidFill>
                  <a:srgbClr val="A52F4D"/>
                </a:solidFill>
                <a:latin typeface="Aptos"/>
                <a:ea typeface="Aptos"/>
                <a:cs typeface="Aptos"/>
              </a:rPr>
              <a:t>+€26,9</a:t>
            </a:r>
          </a:p>
        </p:txBody>
      </p:sp>
      <p:sp>
        <p:nvSpPr>
          <p:cNvPr id="19" name="Rectangle 18">
            <a:extLst>
              <a:ext uri="{FF2B5EF4-FFF2-40B4-BE49-F238E27FC236}">
                <a16:creationId xmlns:a16="http://schemas.microsoft.com/office/drawing/2014/main" id="{132D2C04-E2DD-4B7A-9B22-54837F4693E5}"/>
              </a:ext>
            </a:extLst>
          </p:cNvPr>
          <p:cNvSpPr>
            <a:spLocks noGrp="1"/>
          </p:cNvSpPr>
          <p:nvPr/>
        </p:nvSpPr>
        <p:spPr>
          <a:xfrm>
            <a:off x="5238750" y="4762500"/>
            <a:ext cx="1381125" cy="209550"/>
          </a:xfrm>
          <a:prstGeom prst="rect">
            <a:avLst/>
          </a:prstGeom>
          <a:noFill/>
          <a:ln w="0">
            <a:noFill/>
            <a:prstDash val="solid"/>
          </a:ln>
        </p:spPr>
        <p:txBody>
          <a:bodyPr/>
          <a:lstStyle/>
          <a:p>
            <a:pPr algn="ctr">
              <a:defRPr sz="900" b="1" i="0">
                <a:solidFill>
                  <a:srgbClr val="051C2C"/>
                </a:solidFill>
                <a:latin typeface="Aptos"/>
                <a:ea typeface="Aptos"/>
                <a:cs typeface="Aptos"/>
              </a:defRPr>
            </a:pPr>
            <a:r>
              <a:rPr sz="900" b="1" i="0">
                <a:solidFill>
                  <a:srgbClr val="051C2C"/>
                </a:solidFill>
                <a:latin typeface="Aptos"/>
                <a:ea typeface="Aptos"/>
                <a:cs typeface="Aptos"/>
              </a:rPr>
              <a:t>ΔK aus LGD</a:t>
            </a:r>
          </a:p>
        </p:txBody>
      </p:sp>
      <p:sp>
        <p:nvSpPr>
          <p:cNvPr id="20" name="Rectangle 19">
            <a:extLst>
              <a:ext uri="{FF2B5EF4-FFF2-40B4-BE49-F238E27FC236}">
                <a16:creationId xmlns:a16="http://schemas.microsoft.com/office/drawing/2014/main" id="{BF332399-5BF9-4073-BD18-5B039E96E85E}"/>
              </a:ext>
            </a:extLst>
          </p:cNvPr>
          <p:cNvSpPr>
            <a:spLocks noGrp="1"/>
          </p:cNvSpPr>
          <p:nvPr/>
        </p:nvSpPr>
        <p:spPr>
          <a:xfrm>
            <a:off x="2190750" y="5048250"/>
            <a:ext cx="3667125" cy="247650"/>
          </a:xfrm>
          <a:prstGeom prst="rect">
            <a:avLst/>
          </a:prstGeom>
          <a:noFill/>
          <a:ln w="0">
            <a:noFill/>
            <a:prstDash val="solid"/>
          </a:ln>
        </p:spPr>
        <p:txBody>
          <a:bodyPr/>
          <a:lstStyle/>
          <a:p>
            <a:pPr algn="ctr">
              <a:defRPr sz="1500" b="1" i="0">
                <a:solidFill>
                  <a:srgbClr val="A52F4D"/>
                </a:solidFill>
                <a:latin typeface="Aptos Display"/>
                <a:ea typeface="Aptos Display"/>
                <a:cs typeface="Aptos Display"/>
              </a:defRPr>
            </a:pPr>
            <a:r>
              <a:rPr sz="1500" b="1" i="0">
                <a:solidFill>
                  <a:srgbClr val="A52F4D"/>
                </a:solidFill>
                <a:latin typeface="Aptos Display"/>
                <a:ea typeface="Aptos Display"/>
                <a:cs typeface="Aptos Display"/>
              </a:rPr>
              <a:t>K Stress = €453,3 Mrd.</a:t>
            </a:r>
          </a:p>
        </p:txBody>
      </p:sp>
      <p:sp>
        <p:nvSpPr>
          <p:cNvPr id="21" name="Rectangle: Rounded Corners 20">
            <a:extLst>
              <a:ext uri="{FF2B5EF4-FFF2-40B4-BE49-F238E27FC236}">
                <a16:creationId xmlns:a16="http://schemas.microsoft.com/office/drawing/2014/main" id="{1A251D23-4298-4464-8425-47B595612AC4}"/>
              </a:ext>
            </a:extLst>
          </p:cNvPr>
          <p:cNvSpPr>
            <a:spLocks noGrp="1"/>
          </p:cNvSpPr>
          <p:nvPr/>
        </p:nvSpPr>
        <p:spPr>
          <a:xfrm>
            <a:off x="7848600" y="1438275"/>
            <a:ext cx="3886200" cy="1104900"/>
          </a:xfrm>
          <a:prstGeom prst="roundRect">
            <a:avLst>
              <a:gd name="adj" fmla="val 10345"/>
            </a:avLst>
          </a:prstGeom>
          <a:solidFill>
            <a:srgbClr val="FFFFFF"/>
          </a:solidFill>
          <a:ln w="9525">
            <a:solidFill>
              <a:srgbClr val="D5E0E5"/>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22" name="Rectangle 21">
            <a:extLst>
              <a:ext uri="{FF2B5EF4-FFF2-40B4-BE49-F238E27FC236}">
                <a16:creationId xmlns:a16="http://schemas.microsoft.com/office/drawing/2014/main" id="{52DD6815-96BD-4489-B57C-25F3636F51ED}"/>
              </a:ext>
            </a:extLst>
          </p:cNvPr>
          <p:cNvSpPr>
            <a:spLocks noGrp="1"/>
          </p:cNvSpPr>
          <p:nvPr/>
        </p:nvSpPr>
        <p:spPr>
          <a:xfrm>
            <a:off x="7848600" y="1438275"/>
            <a:ext cx="3886200" cy="47625"/>
          </a:xfrm>
          <a:prstGeom prst="rect">
            <a:avLst/>
          </a:prstGeom>
          <a:solidFill>
            <a:srgbClr val="A52F4D"/>
          </a:solidFill>
          <a:ln w="0">
            <a:noFill/>
            <a:prstDash val="solid"/>
          </a:ln>
        </p:spPr>
        <p:txBody>
          <a:bodyPr/>
          <a:lstStyle/>
          <a:p>
            <a:endParaRPr lang="en-US"/>
          </a:p>
        </p:txBody>
      </p:sp>
      <p:sp>
        <p:nvSpPr>
          <p:cNvPr id="23" name="Rectangle 22">
            <a:extLst>
              <a:ext uri="{FF2B5EF4-FFF2-40B4-BE49-F238E27FC236}">
                <a16:creationId xmlns:a16="http://schemas.microsoft.com/office/drawing/2014/main" id="{96C21DE7-C8DE-4D44-9FCF-8C39C8BBD7FD}"/>
              </a:ext>
            </a:extLst>
          </p:cNvPr>
          <p:cNvSpPr>
            <a:spLocks noGrp="1"/>
          </p:cNvSpPr>
          <p:nvPr/>
        </p:nvSpPr>
        <p:spPr>
          <a:xfrm>
            <a:off x="7981950" y="1581150"/>
            <a:ext cx="3619500" cy="171450"/>
          </a:xfrm>
          <a:prstGeom prst="rect">
            <a:avLst/>
          </a:prstGeom>
          <a:noFill/>
          <a:ln w="0">
            <a:noFill/>
            <a:prstDash val="solid"/>
          </a:ln>
        </p:spPr>
        <p:txBody>
          <a:bodyPr/>
          <a:lstStyle/>
          <a:p>
            <a:pPr algn="l">
              <a:defRPr sz="788" b="1" i="0">
                <a:solidFill>
                  <a:srgbClr val="71858F"/>
                </a:solidFill>
                <a:latin typeface="Aptos"/>
                <a:ea typeface="Aptos"/>
                <a:cs typeface="Aptos"/>
              </a:defRPr>
            </a:pPr>
            <a:r>
              <a:rPr sz="788" b="1" i="0">
                <a:solidFill>
                  <a:srgbClr val="71858F"/>
                </a:solidFill>
                <a:latin typeface="Aptos"/>
                <a:ea typeface="Aptos"/>
                <a:cs typeface="Aptos"/>
              </a:rPr>
              <a:t>EXPECTED LOSS · VERÄNDERUNG</a:t>
            </a:r>
          </a:p>
        </p:txBody>
      </p:sp>
      <p:sp>
        <p:nvSpPr>
          <p:cNvPr id="24" name="Rectangle 23">
            <a:extLst>
              <a:ext uri="{FF2B5EF4-FFF2-40B4-BE49-F238E27FC236}">
                <a16:creationId xmlns:a16="http://schemas.microsoft.com/office/drawing/2014/main" id="{4DB1B80C-F838-436B-83EB-EA7754929126}"/>
              </a:ext>
            </a:extLst>
          </p:cNvPr>
          <p:cNvSpPr>
            <a:spLocks noGrp="1"/>
          </p:cNvSpPr>
          <p:nvPr/>
        </p:nvSpPr>
        <p:spPr>
          <a:xfrm>
            <a:off x="7981950" y="1790700"/>
            <a:ext cx="3619500" cy="323850"/>
          </a:xfrm>
          <a:prstGeom prst="rect">
            <a:avLst/>
          </a:prstGeom>
          <a:noFill/>
          <a:ln w="0">
            <a:noFill/>
            <a:prstDash val="solid"/>
          </a:ln>
        </p:spPr>
        <p:txBody>
          <a:bodyPr/>
          <a:lstStyle/>
          <a:p>
            <a:pPr algn="l">
              <a:defRPr sz="2175" b="1" i="0">
                <a:solidFill>
                  <a:srgbClr val="051C2C"/>
                </a:solidFill>
                <a:latin typeface="Aptos Display"/>
                <a:ea typeface="Aptos Display"/>
                <a:cs typeface="Aptos Display"/>
              </a:defRPr>
            </a:pPr>
            <a:r>
              <a:rPr sz="2175" b="1" i="0">
                <a:solidFill>
                  <a:srgbClr val="051C2C"/>
                </a:solidFill>
                <a:latin typeface="Aptos Display"/>
                <a:ea typeface="Aptos Display"/>
                <a:cs typeface="Aptos Display"/>
              </a:rPr>
              <a:t>+€21,0 Mrd.</a:t>
            </a:r>
          </a:p>
        </p:txBody>
      </p:sp>
      <p:sp>
        <p:nvSpPr>
          <p:cNvPr id="25" name="Rectangle 24">
            <a:extLst>
              <a:ext uri="{FF2B5EF4-FFF2-40B4-BE49-F238E27FC236}">
                <a16:creationId xmlns:a16="http://schemas.microsoft.com/office/drawing/2014/main" id="{5268AF5C-1CEB-4C32-A86D-A41CF9CBD317}"/>
              </a:ext>
            </a:extLst>
          </p:cNvPr>
          <p:cNvSpPr>
            <a:spLocks noGrp="1"/>
          </p:cNvSpPr>
          <p:nvPr/>
        </p:nvSpPr>
        <p:spPr>
          <a:xfrm>
            <a:off x="7981950" y="2162175"/>
            <a:ext cx="3619500" cy="171450"/>
          </a:xfrm>
          <a:prstGeom prst="rect">
            <a:avLst/>
          </a:prstGeom>
          <a:noFill/>
          <a:ln w="0">
            <a:noFill/>
            <a:prstDash val="solid"/>
          </a:ln>
        </p:spPr>
        <p:txBody>
          <a:bodyPr/>
          <a:lstStyle/>
          <a:p>
            <a:pPr algn="l">
              <a:defRPr sz="788" b="0" i="0">
                <a:solidFill>
                  <a:srgbClr val="4F6875"/>
                </a:solidFill>
                <a:latin typeface="Aptos"/>
                <a:ea typeface="Aptos"/>
                <a:cs typeface="Aptos"/>
              </a:defRPr>
            </a:pPr>
            <a:r>
              <a:rPr sz="788" b="0" i="0">
                <a:solidFill>
                  <a:srgbClr val="4F6875"/>
                </a:solidFill>
                <a:latin typeface="Aptos"/>
                <a:ea typeface="Aptos"/>
                <a:cs typeface="Aptos"/>
              </a:rPr>
              <a:t>zusätzliche Kreditvorsorge</a:t>
            </a:r>
          </a:p>
        </p:txBody>
      </p:sp>
      <p:sp>
        <p:nvSpPr>
          <p:cNvPr id="26" name="Rectangle: Rounded Corners 25">
            <a:extLst>
              <a:ext uri="{FF2B5EF4-FFF2-40B4-BE49-F238E27FC236}">
                <a16:creationId xmlns:a16="http://schemas.microsoft.com/office/drawing/2014/main" id="{A99D7381-310F-4770-88D9-A85944FB1779}"/>
              </a:ext>
            </a:extLst>
          </p:cNvPr>
          <p:cNvSpPr>
            <a:spLocks noGrp="1"/>
          </p:cNvSpPr>
          <p:nvPr/>
        </p:nvSpPr>
        <p:spPr>
          <a:xfrm>
            <a:off x="7848600" y="2714625"/>
            <a:ext cx="3886200" cy="1104900"/>
          </a:xfrm>
          <a:prstGeom prst="roundRect">
            <a:avLst>
              <a:gd name="adj" fmla="val 10345"/>
            </a:avLst>
          </a:prstGeom>
          <a:solidFill>
            <a:srgbClr val="FFFFFF"/>
          </a:solidFill>
          <a:ln w="9525">
            <a:solidFill>
              <a:srgbClr val="D5E0E5"/>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27" name="Rectangle 26">
            <a:extLst>
              <a:ext uri="{FF2B5EF4-FFF2-40B4-BE49-F238E27FC236}">
                <a16:creationId xmlns:a16="http://schemas.microsoft.com/office/drawing/2014/main" id="{92F4EA76-1DC4-4C33-B44E-0913E1FD6C97}"/>
              </a:ext>
            </a:extLst>
          </p:cNvPr>
          <p:cNvSpPr>
            <a:spLocks noGrp="1"/>
          </p:cNvSpPr>
          <p:nvPr/>
        </p:nvSpPr>
        <p:spPr>
          <a:xfrm>
            <a:off x="7848600" y="2714625"/>
            <a:ext cx="3886200" cy="47625"/>
          </a:xfrm>
          <a:prstGeom prst="rect">
            <a:avLst/>
          </a:prstGeom>
          <a:solidFill>
            <a:srgbClr val="0B5D7A"/>
          </a:solidFill>
          <a:ln w="0">
            <a:noFill/>
            <a:prstDash val="solid"/>
          </a:ln>
        </p:spPr>
        <p:txBody>
          <a:bodyPr/>
          <a:lstStyle/>
          <a:p>
            <a:endParaRPr lang="en-US"/>
          </a:p>
        </p:txBody>
      </p:sp>
      <p:sp>
        <p:nvSpPr>
          <p:cNvPr id="28" name="Rectangle 27">
            <a:extLst>
              <a:ext uri="{FF2B5EF4-FFF2-40B4-BE49-F238E27FC236}">
                <a16:creationId xmlns:a16="http://schemas.microsoft.com/office/drawing/2014/main" id="{D75A5E82-C1AD-4401-B2F8-1F359A419D87}"/>
              </a:ext>
            </a:extLst>
          </p:cNvPr>
          <p:cNvSpPr>
            <a:spLocks noGrp="1"/>
          </p:cNvSpPr>
          <p:nvPr/>
        </p:nvSpPr>
        <p:spPr>
          <a:xfrm>
            <a:off x="7981950" y="2857500"/>
            <a:ext cx="3619500" cy="171450"/>
          </a:xfrm>
          <a:prstGeom prst="rect">
            <a:avLst/>
          </a:prstGeom>
          <a:noFill/>
          <a:ln w="0">
            <a:noFill/>
            <a:prstDash val="solid"/>
          </a:ln>
        </p:spPr>
        <p:txBody>
          <a:bodyPr/>
          <a:lstStyle/>
          <a:p>
            <a:pPr algn="l">
              <a:defRPr sz="788" b="1" i="0">
                <a:solidFill>
                  <a:srgbClr val="71858F"/>
                </a:solidFill>
                <a:latin typeface="Aptos"/>
                <a:ea typeface="Aptos"/>
                <a:cs typeface="Aptos"/>
              </a:defRPr>
            </a:pPr>
            <a:r>
              <a:rPr sz="788" b="1" i="0">
                <a:solidFill>
                  <a:srgbClr val="71858F"/>
                </a:solidFill>
                <a:latin typeface="Aptos"/>
                <a:ea typeface="Aptos"/>
                <a:cs typeface="Aptos"/>
              </a:rPr>
              <a:t>CREDIT RWA · VERÄNDERUNG</a:t>
            </a:r>
          </a:p>
        </p:txBody>
      </p:sp>
      <p:sp>
        <p:nvSpPr>
          <p:cNvPr id="29" name="Rectangle 28">
            <a:extLst>
              <a:ext uri="{FF2B5EF4-FFF2-40B4-BE49-F238E27FC236}">
                <a16:creationId xmlns:a16="http://schemas.microsoft.com/office/drawing/2014/main" id="{67DA0B0D-3744-41B2-A33F-9028E54324A3}"/>
              </a:ext>
            </a:extLst>
          </p:cNvPr>
          <p:cNvSpPr>
            <a:spLocks noGrp="1"/>
          </p:cNvSpPr>
          <p:nvPr/>
        </p:nvSpPr>
        <p:spPr>
          <a:xfrm>
            <a:off x="7981950" y="3067050"/>
            <a:ext cx="3619500" cy="323850"/>
          </a:xfrm>
          <a:prstGeom prst="rect">
            <a:avLst/>
          </a:prstGeom>
          <a:noFill/>
          <a:ln w="0">
            <a:noFill/>
            <a:prstDash val="solid"/>
          </a:ln>
        </p:spPr>
        <p:txBody>
          <a:bodyPr/>
          <a:lstStyle/>
          <a:p>
            <a:pPr algn="l">
              <a:defRPr sz="2175" b="1" i="0">
                <a:solidFill>
                  <a:srgbClr val="051C2C"/>
                </a:solidFill>
                <a:latin typeface="Aptos Display"/>
                <a:ea typeface="Aptos Display"/>
                <a:cs typeface="Aptos Display"/>
              </a:defRPr>
            </a:pPr>
            <a:r>
              <a:rPr sz="2175" b="1" i="0">
                <a:solidFill>
                  <a:srgbClr val="051C2C"/>
                </a:solidFill>
                <a:latin typeface="Aptos Display"/>
                <a:ea typeface="Aptos Display"/>
                <a:cs typeface="Aptos Display"/>
              </a:rPr>
              <a:t>+€505,1 Mrd.</a:t>
            </a:r>
          </a:p>
        </p:txBody>
      </p:sp>
      <p:sp>
        <p:nvSpPr>
          <p:cNvPr id="30" name="Rectangle 29">
            <a:extLst>
              <a:ext uri="{FF2B5EF4-FFF2-40B4-BE49-F238E27FC236}">
                <a16:creationId xmlns:a16="http://schemas.microsoft.com/office/drawing/2014/main" id="{7167026C-6E80-4777-B607-F01E88E52076}"/>
              </a:ext>
            </a:extLst>
          </p:cNvPr>
          <p:cNvSpPr>
            <a:spLocks noGrp="1"/>
          </p:cNvSpPr>
          <p:nvPr/>
        </p:nvSpPr>
        <p:spPr>
          <a:xfrm>
            <a:off x="7981950" y="3438525"/>
            <a:ext cx="3619500" cy="171450"/>
          </a:xfrm>
          <a:prstGeom prst="rect">
            <a:avLst/>
          </a:prstGeom>
          <a:noFill/>
          <a:ln w="0">
            <a:noFill/>
            <a:prstDash val="solid"/>
          </a:ln>
        </p:spPr>
        <p:txBody>
          <a:bodyPr/>
          <a:lstStyle/>
          <a:p>
            <a:pPr algn="l">
              <a:defRPr sz="788" b="0" i="0">
                <a:solidFill>
                  <a:srgbClr val="4F6875"/>
                </a:solidFill>
                <a:latin typeface="Aptos"/>
                <a:ea typeface="Aptos"/>
                <a:cs typeface="Aptos"/>
              </a:defRPr>
            </a:pPr>
            <a:r>
              <a:rPr sz="788" b="0" i="0">
                <a:solidFill>
                  <a:srgbClr val="4F6875"/>
                </a:solidFill>
                <a:latin typeface="Aptos"/>
                <a:ea typeface="Aptos"/>
                <a:cs typeface="Aptos"/>
              </a:rPr>
              <a:t>Basel-IRB-Nennerwirkung</a:t>
            </a:r>
          </a:p>
        </p:txBody>
      </p:sp>
      <p:sp>
        <p:nvSpPr>
          <p:cNvPr id="31" name="Rectangle: Rounded Corners 30">
            <a:extLst>
              <a:ext uri="{FF2B5EF4-FFF2-40B4-BE49-F238E27FC236}">
                <a16:creationId xmlns:a16="http://schemas.microsoft.com/office/drawing/2014/main" id="{B8321934-7564-4C03-9924-155AC1ADA5F1}"/>
              </a:ext>
            </a:extLst>
          </p:cNvPr>
          <p:cNvSpPr>
            <a:spLocks noGrp="1"/>
          </p:cNvSpPr>
          <p:nvPr/>
        </p:nvSpPr>
        <p:spPr>
          <a:xfrm>
            <a:off x="7848600" y="3990975"/>
            <a:ext cx="3886200" cy="1104900"/>
          </a:xfrm>
          <a:prstGeom prst="roundRect">
            <a:avLst>
              <a:gd name="adj" fmla="val 10345"/>
            </a:avLst>
          </a:prstGeom>
          <a:solidFill>
            <a:srgbClr val="FFFFFF"/>
          </a:solidFill>
          <a:ln w="9525">
            <a:solidFill>
              <a:srgbClr val="D5E0E5"/>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32" name="Rectangle 31">
            <a:extLst>
              <a:ext uri="{FF2B5EF4-FFF2-40B4-BE49-F238E27FC236}">
                <a16:creationId xmlns:a16="http://schemas.microsoft.com/office/drawing/2014/main" id="{53BBA8E8-B106-4954-AA94-9B8B9B2909A6}"/>
              </a:ext>
            </a:extLst>
          </p:cNvPr>
          <p:cNvSpPr>
            <a:spLocks noGrp="1"/>
          </p:cNvSpPr>
          <p:nvPr/>
        </p:nvSpPr>
        <p:spPr>
          <a:xfrm>
            <a:off x="7848600" y="3990975"/>
            <a:ext cx="3886200" cy="47625"/>
          </a:xfrm>
          <a:prstGeom prst="rect">
            <a:avLst/>
          </a:prstGeom>
          <a:solidFill>
            <a:srgbClr val="D9A124"/>
          </a:solidFill>
          <a:ln w="0">
            <a:noFill/>
            <a:prstDash val="solid"/>
          </a:ln>
        </p:spPr>
        <p:txBody>
          <a:bodyPr/>
          <a:lstStyle/>
          <a:p>
            <a:endParaRPr lang="en-US"/>
          </a:p>
        </p:txBody>
      </p:sp>
      <p:sp>
        <p:nvSpPr>
          <p:cNvPr id="33" name="Rectangle 32">
            <a:extLst>
              <a:ext uri="{FF2B5EF4-FFF2-40B4-BE49-F238E27FC236}">
                <a16:creationId xmlns:a16="http://schemas.microsoft.com/office/drawing/2014/main" id="{A323F796-D220-4EBC-B156-5358BC0DB971}"/>
              </a:ext>
            </a:extLst>
          </p:cNvPr>
          <p:cNvSpPr>
            <a:spLocks noGrp="1"/>
          </p:cNvSpPr>
          <p:nvPr/>
        </p:nvSpPr>
        <p:spPr>
          <a:xfrm>
            <a:off x="7981950" y="4133850"/>
            <a:ext cx="3619500" cy="171450"/>
          </a:xfrm>
          <a:prstGeom prst="rect">
            <a:avLst/>
          </a:prstGeom>
          <a:noFill/>
          <a:ln w="0">
            <a:noFill/>
            <a:prstDash val="solid"/>
          </a:ln>
        </p:spPr>
        <p:txBody>
          <a:bodyPr/>
          <a:lstStyle/>
          <a:p>
            <a:pPr algn="l">
              <a:defRPr sz="788" b="1" i="0">
                <a:solidFill>
                  <a:srgbClr val="71858F"/>
                </a:solidFill>
                <a:latin typeface="Aptos"/>
                <a:ea typeface="Aptos"/>
                <a:cs typeface="Aptos"/>
              </a:defRPr>
            </a:pPr>
            <a:r>
              <a:rPr sz="788" b="1" i="0">
                <a:solidFill>
                  <a:srgbClr val="71858F"/>
                </a:solidFill>
                <a:latin typeface="Aptos"/>
                <a:ea typeface="Aptos"/>
                <a:cs typeface="Aptos"/>
              </a:rPr>
              <a:t>IRB-KAPITAL K · VERÄNDERUNG</a:t>
            </a:r>
          </a:p>
        </p:txBody>
      </p:sp>
      <p:sp>
        <p:nvSpPr>
          <p:cNvPr id="34" name="Rectangle 33">
            <a:extLst>
              <a:ext uri="{FF2B5EF4-FFF2-40B4-BE49-F238E27FC236}">
                <a16:creationId xmlns:a16="http://schemas.microsoft.com/office/drawing/2014/main" id="{25B18C17-9D40-449D-B6AA-C75A5195DE5F}"/>
              </a:ext>
            </a:extLst>
          </p:cNvPr>
          <p:cNvSpPr>
            <a:spLocks noGrp="1"/>
          </p:cNvSpPr>
          <p:nvPr/>
        </p:nvSpPr>
        <p:spPr>
          <a:xfrm>
            <a:off x="7981950" y="4343400"/>
            <a:ext cx="3619500" cy="323850"/>
          </a:xfrm>
          <a:prstGeom prst="rect">
            <a:avLst/>
          </a:prstGeom>
          <a:noFill/>
          <a:ln w="0">
            <a:noFill/>
            <a:prstDash val="solid"/>
          </a:ln>
        </p:spPr>
        <p:txBody>
          <a:bodyPr/>
          <a:lstStyle/>
          <a:p>
            <a:pPr algn="l">
              <a:defRPr sz="2175" b="1" i="0">
                <a:solidFill>
                  <a:srgbClr val="051C2C"/>
                </a:solidFill>
                <a:latin typeface="Aptos Display"/>
                <a:ea typeface="Aptos Display"/>
                <a:cs typeface="Aptos Display"/>
              </a:defRPr>
            </a:pPr>
            <a:r>
              <a:rPr sz="2175" b="1" i="0">
                <a:solidFill>
                  <a:srgbClr val="051C2C"/>
                </a:solidFill>
                <a:latin typeface="Aptos Display"/>
                <a:ea typeface="Aptos Display"/>
                <a:cs typeface="Aptos Display"/>
              </a:rPr>
              <a:t>+€40,4 Mrd.</a:t>
            </a:r>
          </a:p>
        </p:txBody>
      </p:sp>
      <p:sp>
        <p:nvSpPr>
          <p:cNvPr id="35" name="Rectangle 34">
            <a:extLst>
              <a:ext uri="{FF2B5EF4-FFF2-40B4-BE49-F238E27FC236}">
                <a16:creationId xmlns:a16="http://schemas.microsoft.com/office/drawing/2014/main" id="{69FE3739-8B1F-4C74-8DE7-4617D488568E}"/>
              </a:ext>
            </a:extLst>
          </p:cNvPr>
          <p:cNvSpPr>
            <a:spLocks noGrp="1"/>
          </p:cNvSpPr>
          <p:nvPr/>
        </p:nvSpPr>
        <p:spPr>
          <a:xfrm>
            <a:off x="7981950" y="4714875"/>
            <a:ext cx="3619500" cy="171450"/>
          </a:xfrm>
          <a:prstGeom prst="rect">
            <a:avLst/>
          </a:prstGeom>
          <a:noFill/>
          <a:ln w="0">
            <a:noFill/>
            <a:prstDash val="solid"/>
          </a:ln>
        </p:spPr>
        <p:txBody>
          <a:bodyPr/>
          <a:lstStyle/>
          <a:p>
            <a:pPr algn="l">
              <a:defRPr sz="788" b="0" i="0">
                <a:solidFill>
                  <a:srgbClr val="4F6875"/>
                </a:solidFill>
                <a:latin typeface="Aptos"/>
                <a:ea typeface="Aptos"/>
                <a:cs typeface="Aptos"/>
              </a:defRPr>
            </a:pPr>
            <a:r>
              <a:rPr sz="788" b="0" i="0">
                <a:solidFill>
                  <a:srgbClr val="4F6875"/>
                </a:solidFill>
                <a:latin typeface="Aptos"/>
                <a:ea typeface="Aptos"/>
                <a:cs typeface="Aptos"/>
              </a:rPr>
              <a:t>+9,8 % gegenüber Baseline</a:t>
            </a:r>
          </a:p>
        </p:txBody>
      </p:sp>
      <p:sp>
        <p:nvSpPr>
          <p:cNvPr id="36" name="Rectangle: Rounded Corners 35">
            <a:extLst>
              <a:ext uri="{FF2B5EF4-FFF2-40B4-BE49-F238E27FC236}">
                <a16:creationId xmlns:a16="http://schemas.microsoft.com/office/drawing/2014/main" id="{4C588ABF-A6CD-4A61-B4D5-FE4F14D2A080}"/>
              </a:ext>
            </a:extLst>
          </p:cNvPr>
          <p:cNvSpPr>
            <a:spLocks noGrp="1"/>
          </p:cNvSpPr>
          <p:nvPr/>
        </p:nvSpPr>
        <p:spPr>
          <a:xfrm>
            <a:off x="457200" y="5619750"/>
            <a:ext cx="11277600" cy="523875"/>
          </a:xfrm>
          <a:prstGeom prst="roundRect">
            <a:avLst>
              <a:gd name="adj" fmla="val 21818"/>
            </a:avLst>
          </a:prstGeom>
          <a:solidFill>
            <a:srgbClr val="F8EED3"/>
          </a:solidFill>
          <a:ln w="9525">
            <a:solidFill>
              <a:srgbClr val="E4C969"/>
            </a:solidFill>
            <a:prstDash val="solid"/>
          </a:ln>
        </p:spPr>
        <p:txBody>
          <a:bodyPr/>
          <a:lstStyle/>
          <a:p>
            <a:endParaRPr lang="en-US"/>
          </a:p>
        </p:txBody>
      </p:sp>
      <p:sp>
        <p:nvSpPr>
          <p:cNvPr id="37" name="Rectangle 36">
            <a:extLst>
              <a:ext uri="{FF2B5EF4-FFF2-40B4-BE49-F238E27FC236}">
                <a16:creationId xmlns:a16="http://schemas.microsoft.com/office/drawing/2014/main" id="{D4069246-25D1-4621-854C-6C03F1A49EA1}"/>
              </a:ext>
            </a:extLst>
          </p:cNvPr>
          <p:cNvSpPr>
            <a:spLocks noGrp="1"/>
          </p:cNvSpPr>
          <p:nvPr/>
        </p:nvSpPr>
        <p:spPr>
          <a:xfrm>
            <a:off x="638175" y="5781675"/>
            <a:ext cx="10906125" cy="190500"/>
          </a:xfrm>
          <a:prstGeom prst="rect">
            <a:avLst/>
          </a:prstGeom>
          <a:noFill/>
          <a:ln w="0">
            <a:noFill/>
            <a:prstDash val="solid"/>
          </a:ln>
        </p:spPr>
        <p:txBody>
          <a:bodyPr/>
          <a:lstStyle/>
          <a:p>
            <a:pPr algn="ctr">
              <a:defRPr sz="1013" b="1" i="0">
                <a:solidFill>
                  <a:srgbClr val="051C2C"/>
                </a:solidFill>
                <a:latin typeface="Aptos"/>
                <a:ea typeface="Aptos"/>
                <a:cs typeface="Aptos"/>
              </a:defRPr>
            </a:pPr>
            <a:r>
              <a:rPr sz="1013" b="1" i="0">
                <a:solidFill>
                  <a:srgbClr val="051C2C"/>
                </a:solidFill>
                <a:latin typeface="Aptos"/>
                <a:ea typeface="Aptos"/>
                <a:cs typeface="Aptos"/>
              </a:rPr>
              <a:t>Warum LGD dominiert: Der +200-bp-Zinsschock senkt Sicherheitenwerte und erhöht insbesondere die Downturn-LGD.</a:t>
            </a:r>
          </a:p>
        </p:txBody>
      </p:sp>
      <p:sp>
        <p:nvSpPr>
          <p:cNvPr id="38" name="Rectangle 37">
            <a:extLst>
              <a:ext uri="{FF2B5EF4-FFF2-40B4-BE49-F238E27FC236}">
                <a16:creationId xmlns:a16="http://schemas.microsoft.com/office/drawing/2014/main" id="{98BCFAE0-9B21-42D8-9CAF-5FC47EDB63AD}"/>
              </a:ext>
            </a:extLst>
          </p:cNvPr>
          <p:cNvSpPr>
            <a:spLocks noGrp="1"/>
          </p:cNvSpPr>
          <p:nvPr/>
        </p:nvSpPr>
        <p:spPr>
          <a:xfrm>
            <a:off x="457200" y="6486525"/>
            <a:ext cx="10382250" cy="152400"/>
          </a:xfrm>
          <a:prstGeom prst="rect">
            <a:avLst/>
          </a:prstGeom>
          <a:noFill/>
          <a:ln w="0">
            <a:noFill/>
            <a:prstDash val="solid"/>
          </a:ln>
        </p:spPr>
        <p:txBody>
          <a:bodyPr/>
          <a:lstStyle/>
          <a:p>
            <a:pPr algn="l">
              <a:defRPr sz="653" b="0" i="0">
                <a:solidFill>
                  <a:srgbClr val="71858F"/>
                </a:solidFill>
                <a:latin typeface="Aptos"/>
                <a:ea typeface="Aptos"/>
                <a:cs typeface="Aptos"/>
              </a:defRPr>
            </a:pPr>
            <a:r>
              <a:rPr sz="653" b="0" i="0">
                <a:solidFill>
                  <a:srgbClr val="71858F"/>
                </a:solidFill>
                <a:latin typeface="Aptos"/>
                <a:ea typeface="Aptos"/>
                <a:cs typeface="Aptos"/>
              </a:rPr>
              <a:t>Quelle: Basel-III-IRB / CRR Art. 153–155 · konkreter Modelllauf ΔBrent +0,50 / Δr10Y +2,0 pp</a:t>
            </a:r>
          </a:p>
        </p:txBody>
      </p:sp>
      <p:sp>
        <p:nvSpPr>
          <p:cNvPr id="5" name="CodexSlideNumber">
            <a:extLst>
              <a:ext uri="{FF2B5EF4-FFF2-40B4-BE49-F238E27FC236}">
                <a16:creationId xmlns:a16="http://schemas.microsoft.com/office/drawing/2014/main" id="{6A6F7CE5-9C75-C13D-60BD-39B7530D6204}"/>
              </a:ext>
            </a:extLst>
          </p:cNvPr>
          <p:cNvSpPr txBox="1"/>
          <p:nvPr/>
        </p:nvSpPr>
        <p:spPr>
          <a:xfrm>
            <a:off x="11226800" y="6553200"/>
            <a:ext cx="736600" cy="123111"/>
          </a:xfrm>
          <a:prstGeom prst="rect">
            <a:avLst/>
          </a:prstGeom>
          <a:noFill/>
        </p:spPr>
        <p:txBody>
          <a:bodyPr vert="horz" lIns="0" tIns="0" rIns="0" bIns="0" rtlCol="0">
            <a:spAutoFit/>
          </a:bodyPr>
          <a:lstStyle/>
          <a:p>
            <a:pPr algn="r"/>
            <a:r>
              <a:rPr lang="en-US" sz="800">
                <a:solidFill>
                  <a:srgbClr val="525252"/>
                </a:solidFill>
                <a:latin typeface="Arial" panose="020B0604020202020204" pitchFamily="34" charset="0"/>
              </a:rPr>
              <a:t>16 / 64</a:t>
            </a:r>
          </a:p>
        </p:txBody>
      </p:sp>
    </p:spTree>
    <p:extLst>
      <p:ext uri="{BB962C8B-B14F-4D97-AF65-F5344CB8AC3E}">
        <p14:creationId xmlns:p14="http://schemas.microsoft.com/office/powerpoint/2010/main" val="260710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CF25D72-A576-4CA9-8879-25B1B743E7D6}"/>
              </a:ext>
            </a:extLst>
          </p:cNvPr>
          <p:cNvSpPr>
            <a:spLocks noGrp="1"/>
          </p:cNvSpPr>
          <p:nvPr/>
        </p:nvSpPr>
        <p:spPr>
          <a:xfrm>
            <a:off x="457200" y="228600"/>
            <a:ext cx="4572000" cy="171450"/>
          </a:xfrm>
          <a:prstGeom prst="rect">
            <a:avLst/>
          </a:prstGeom>
          <a:noFill/>
          <a:ln w="0">
            <a:noFill/>
            <a:prstDash val="solid"/>
          </a:ln>
        </p:spPr>
        <p:txBody>
          <a:bodyPr/>
          <a:lstStyle/>
          <a:p>
            <a:pPr algn="l">
              <a:defRPr sz="863" b="1" i="0">
                <a:solidFill>
                  <a:srgbClr val="A52F4D"/>
                </a:solidFill>
                <a:latin typeface="Aptos"/>
                <a:ea typeface="Aptos"/>
                <a:cs typeface="Aptos"/>
              </a:defRPr>
            </a:pPr>
            <a:r>
              <a:rPr lang="en-GB" sz="863" b="1" i="0" dirty="0">
                <a:solidFill>
                  <a:schemeClr val="tx2"/>
                </a:solidFill>
                <a:latin typeface="Aptos"/>
                <a:ea typeface="Aptos"/>
                <a:cs typeface="Aptos"/>
              </a:rPr>
              <a:t>CET1-ERGEBNIS</a:t>
            </a:r>
          </a:p>
        </p:txBody>
      </p:sp>
      <p:sp>
        <p:nvSpPr>
          <p:cNvPr id="3" name="Rectangle 2">
            <a:extLst>
              <a:ext uri="{FF2B5EF4-FFF2-40B4-BE49-F238E27FC236}">
                <a16:creationId xmlns:a16="http://schemas.microsoft.com/office/drawing/2014/main" id="{8C587C38-51A6-4838-B90A-E51821F196F2}"/>
              </a:ext>
            </a:extLst>
          </p:cNvPr>
          <p:cNvSpPr>
            <a:spLocks noGrp="1"/>
          </p:cNvSpPr>
          <p:nvPr/>
        </p:nvSpPr>
        <p:spPr>
          <a:xfrm>
            <a:off x="457200" y="457200"/>
            <a:ext cx="11191875" cy="409575"/>
          </a:xfrm>
          <a:prstGeom prst="rect">
            <a:avLst/>
          </a:prstGeom>
          <a:noFill/>
          <a:ln w="0">
            <a:noFill/>
            <a:prstDash val="solid"/>
          </a:ln>
        </p:spPr>
        <p:txBody>
          <a:bodyPr/>
          <a:lstStyle/>
          <a:p>
            <a:pPr algn="l">
              <a:defRPr sz="2475" b="1" i="0">
                <a:solidFill>
                  <a:srgbClr val="051C2C"/>
                </a:solidFill>
                <a:latin typeface="Aptos Display"/>
                <a:ea typeface="Aptos Display"/>
                <a:cs typeface="Aptos Display"/>
              </a:defRPr>
            </a:pPr>
            <a:r>
              <a:rPr sz="2475" b="1" i="0" dirty="0">
                <a:solidFill>
                  <a:srgbClr val="051C2C"/>
                </a:solidFill>
                <a:latin typeface="Aptos Display"/>
                <a:ea typeface="Aptos Display"/>
                <a:cs typeface="Aptos Display"/>
              </a:rPr>
              <a:t>Der </a:t>
            </a:r>
            <a:r>
              <a:rPr sz="2475" b="1" i="0" dirty="0" err="1">
                <a:solidFill>
                  <a:srgbClr val="051C2C"/>
                </a:solidFill>
                <a:latin typeface="Aptos Display"/>
                <a:ea typeface="Aptos Display"/>
                <a:cs typeface="Aptos Display"/>
              </a:rPr>
              <a:t>kombinierte</a:t>
            </a:r>
            <a:r>
              <a:rPr sz="2475" b="1" i="0" dirty="0">
                <a:solidFill>
                  <a:srgbClr val="051C2C"/>
                </a:solidFill>
                <a:latin typeface="Aptos Display"/>
                <a:ea typeface="Aptos Display"/>
                <a:cs typeface="Aptos Display"/>
              </a:rPr>
              <a:t> Schock </a:t>
            </a:r>
            <a:r>
              <a:rPr sz="2475" b="1" i="0" dirty="0" err="1">
                <a:solidFill>
                  <a:srgbClr val="051C2C"/>
                </a:solidFill>
                <a:latin typeface="Aptos Display"/>
                <a:ea typeface="Aptos Display"/>
                <a:cs typeface="Aptos Display"/>
              </a:rPr>
              <a:t>senkt</a:t>
            </a:r>
            <a:r>
              <a:rPr sz="2475" b="1" i="0" dirty="0">
                <a:solidFill>
                  <a:srgbClr val="051C2C"/>
                </a:solidFill>
                <a:latin typeface="Aptos Display"/>
                <a:ea typeface="Aptos Display"/>
                <a:cs typeface="Aptos Display"/>
              </a:rPr>
              <a:t> die </a:t>
            </a:r>
            <a:r>
              <a:rPr sz="2475" b="1" i="0" dirty="0" err="1">
                <a:solidFill>
                  <a:srgbClr val="051C2C"/>
                </a:solidFill>
                <a:latin typeface="Aptos Display"/>
                <a:ea typeface="Aptos Display"/>
                <a:cs typeface="Aptos Display"/>
              </a:rPr>
              <a:t>aggregierte</a:t>
            </a:r>
            <a:r>
              <a:rPr sz="2475" b="1" i="0" dirty="0">
                <a:solidFill>
                  <a:srgbClr val="051C2C"/>
                </a:solidFill>
                <a:latin typeface="Aptos Display"/>
                <a:ea typeface="Aptos Display"/>
                <a:cs typeface="Aptos Display"/>
              </a:rPr>
              <a:t> CET1-Quote um 4,15 </a:t>
            </a:r>
            <a:r>
              <a:rPr sz="2475" b="1" i="0" dirty="0" err="1">
                <a:solidFill>
                  <a:srgbClr val="051C2C"/>
                </a:solidFill>
                <a:latin typeface="Aptos Display"/>
                <a:ea typeface="Aptos Display"/>
                <a:cs typeface="Aptos Display"/>
              </a:rPr>
              <a:t>Prozentpunkte</a:t>
            </a:r>
            <a:endParaRPr sz="2475" b="1" i="0" dirty="0">
              <a:solidFill>
                <a:srgbClr val="051C2C"/>
              </a:solidFill>
              <a:latin typeface="Aptos Display"/>
              <a:ea typeface="Aptos Display"/>
              <a:cs typeface="Aptos Display"/>
            </a:endParaRPr>
          </a:p>
        </p:txBody>
      </p:sp>
      <p:sp>
        <p:nvSpPr>
          <p:cNvPr id="4" name="Rectangle 3">
            <a:extLst>
              <a:ext uri="{FF2B5EF4-FFF2-40B4-BE49-F238E27FC236}">
                <a16:creationId xmlns:a16="http://schemas.microsoft.com/office/drawing/2014/main" id="{B5EB3D53-EDBA-4F6B-8B4F-1B2A52E93F40}"/>
              </a:ext>
            </a:extLst>
          </p:cNvPr>
          <p:cNvSpPr>
            <a:spLocks noGrp="1"/>
          </p:cNvSpPr>
          <p:nvPr/>
        </p:nvSpPr>
        <p:spPr>
          <a:xfrm>
            <a:off x="457200" y="914400"/>
            <a:ext cx="11096625" cy="228600"/>
          </a:xfrm>
          <a:prstGeom prst="rect">
            <a:avLst/>
          </a:prstGeom>
          <a:noFill/>
          <a:ln w="0">
            <a:noFill/>
            <a:prstDash val="solid"/>
          </a:ln>
        </p:spPr>
        <p:txBody>
          <a:bodyPr/>
          <a:lstStyle/>
          <a:p>
            <a:pPr algn="l">
              <a:defRPr sz="1125" b="0" i="0">
                <a:solidFill>
                  <a:srgbClr val="4F6875"/>
                </a:solidFill>
                <a:latin typeface="Aptos"/>
                <a:ea typeface="Aptos"/>
                <a:cs typeface="Aptos"/>
              </a:defRPr>
            </a:pPr>
            <a:r>
              <a:rPr sz="1125" b="0" i="0">
                <a:solidFill>
                  <a:srgbClr val="4F6875"/>
                </a:solidFill>
                <a:latin typeface="Aptos"/>
                <a:ea typeface="Aptos"/>
                <a:cs typeface="Aptos"/>
              </a:rPr>
              <a:t>Der Sovereign-Marktwertkanal dominiert den Zählerverlust; zusätzliche Kredit-RWA verstärken den Nennerdruck.</a:t>
            </a:r>
          </a:p>
        </p:txBody>
      </p:sp>
      <p:sp>
        <p:nvSpPr>
          <p:cNvPr id="6" name="Rectangle: Rounded Corners 5">
            <a:extLst>
              <a:ext uri="{FF2B5EF4-FFF2-40B4-BE49-F238E27FC236}">
                <a16:creationId xmlns:a16="http://schemas.microsoft.com/office/drawing/2014/main" id="{CB4F6828-015A-45A0-A0AB-DA23E3660DD0}"/>
              </a:ext>
            </a:extLst>
          </p:cNvPr>
          <p:cNvSpPr>
            <a:spLocks noGrp="1"/>
          </p:cNvSpPr>
          <p:nvPr/>
        </p:nvSpPr>
        <p:spPr>
          <a:xfrm>
            <a:off x="457200" y="1381125"/>
            <a:ext cx="2505075" cy="990600"/>
          </a:xfrm>
          <a:prstGeom prst="roundRect">
            <a:avLst>
              <a:gd name="adj" fmla="val 11538"/>
            </a:avLst>
          </a:prstGeom>
          <a:solidFill>
            <a:srgbClr val="FFFFFF"/>
          </a:solidFill>
          <a:ln w="9525">
            <a:solidFill>
              <a:srgbClr val="D5E0E5"/>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7" name="Rectangle 6">
            <a:extLst>
              <a:ext uri="{FF2B5EF4-FFF2-40B4-BE49-F238E27FC236}">
                <a16:creationId xmlns:a16="http://schemas.microsoft.com/office/drawing/2014/main" id="{D684A5AC-79A5-4CEB-99DE-0443ABD94E4A}"/>
              </a:ext>
            </a:extLst>
          </p:cNvPr>
          <p:cNvSpPr>
            <a:spLocks noGrp="1"/>
          </p:cNvSpPr>
          <p:nvPr/>
        </p:nvSpPr>
        <p:spPr>
          <a:xfrm>
            <a:off x="457200" y="1381125"/>
            <a:ext cx="2505075" cy="47625"/>
          </a:xfrm>
          <a:prstGeom prst="rect">
            <a:avLst/>
          </a:prstGeom>
          <a:solidFill>
            <a:srgbClr val="051C2C"/>
          </a:solidFill>
          <a:ln w="0">
            <a:noFill/>
            <a:prstDash val="solid"/>
          </a:ln>
        </p:spPr>
        <p:txBody>
          <a:bodyPr/>
          <a:lstStyle/>
          <a:p>
            <a:endParaRPr lang="en-US"/>
          </a:p>
        </p:txBody>
      </p:sp>
      <p:sp>
        <p:nvSpPr>
          <p:cNvPr id="8" name="Rectangle 7">
            <a:extLst>
              <a:ext uri="{FF2B5EF4-FFF2-40B4-BE49-F238E27FC236}">
                <a16:creationId xmlns:a16="http://schemas.microsoft.com/office/drawing/2014/main" id="{4B5CFB2A-FA82-48BD-ADE8-7A76A57EC186}"/>
              </a:ext>
            </a:extLst>
          </p:cNvPr>
          <p:cNvSpPr>
            <a:spLocks noGrp="1"/>
          </p:cNvSpPr>
          <p:nvPr/>
        </p:nvSpPr>
        <p:spPr>
          <a:xfrm>
            <a:off x="590550" y="1524000"/>
            <a:ext cx="2238375" cy="171450"/>
          </a:xfrm>
          <a:prstGeom prst="rect">
            <a:avLst/>
          </a:prstGeom>
          <a:noFill/>
          <a:ln w="0">
            <a:noFill/>
            <a:prstDash val="solid"/>
          </a:ln>
        </p:spPr>
        <p:txBody>
          <a:bodyPr/>
          <a:lstStyle/>
          <a:p>
            <a:pPr algn="l">
              <a:defRPr sz="788" b="1" i="0">
                <a:solidFill>
                  <a:srgbClr val="71858F"/>
                </a:solidFill>
                <a:latin typeface="Aptos"/>
                <a:ea typeface="Aptos"/>
                <a:cs typeface="Aptos"/>
              </a:defRPr>
            </a:pPr>
            <a:r>
              <a:rPr sz="788" b="1" i="0">
                <a:solidFill>
                  <a:srgbClr val="71858F"/>
                </a:solidFill>
                <a:latin typeface="Aptos"/>
                <a:ea typeface="Aptos"/>
                <a:cs typeface="Aptos"/>
              </a:rPr>
              <a:t>CET1-QUOTE · BASELINE</a:t>
            </a:r>
          </a:p>
        </p:txBody>
      </p:sp>
      <p:sp>
        <p:nvSpPr>
          <p:cNvPr id="9" name="Rectangle 8">
            <a:extLst>
              <a:ext uri="{FF2B5EF4-FFF2-40B4-BE49-F238E27FC236}">
                <a16:creationId xmlns:a16="http://schemas.microsoft.com/office/drawing/2014/main" id="{94F46286-B5E1-4BE7-A465-15AF934B2F02}"/>
              </a:ext>
            </a:extLst>
          </p:cNvPr>
          <p:cNvSpPr>
            <a:spLocks noGrp="1"/>
          </p:cNvSpPr>
          <p:nvPr/>
        </p:nvSpPr>
        <p:spPr>
          <a:xfrm>
            <a:off x="590550" y="1733550"/>
            <a:ext cx="2238375" cy="323850"/>
          </a:xfrm>
          <a:prstGeom prst="rect">
            <a:avLst/>
          </a:prstGeom>
          <a:noFill/>
          <a:ln w="0">
            <a:noFill/>
            <a:prstDash val="solid"/>
          </a:ln>
        </p:spPr>
        <p:txBody>
          <a:bodyPr/>
          <a:lstStyle/>
          <a:p>
            <a:pPr algn="l">
              <a:defRPr sz="2250" b="1" i="0">
                <a:solidFill>
                  <a:srgbClr val="051C2C"/>
                </a:solidFill>
                <a:latin typeface="Aptos Display"/>
                <a:ea typeface="Aptos Display"/>
                <a:cs typeface="Aptos Display"/>
              </a:defRPr>
            </a:pPr>
            <a:r>
              <a:rPr sz="2250" b="1" i="0">
                <a:solidFill>
                  <a:srgbClr val="051C2C"/>
                </a:solidFill>
                <a:latin typeface="Aptos Display"/>
                <a:ea typeface="Aptos Display"/>
                <a:cs typeface="Aptos Display"/>
              </a:rPr>
              <a:t>15,17 %</a:t>
            </a:r>
          </a:p>
        </p:txBody>
      </p:sp>
      <p:sp>
        <p:nvSpPr>
          <p:cNvPr id="10" name="Rectangle 9">
            <a:extLst>
              <a:ext uri="{FF2B5EF4-FFF2-40B4-BE49-F238E27FC236}">
                <a16:creationId xmlns:a16="http://schemas.microsoft.com/office/drawing/2014/main" id="{19F9EE76-B841-4F17-98BB-7E831D76560B}"/>
              </a:ext>
            </a:extLst>
          </p:cNvPr>
          <p:cNvSpPr>
            <a:spLocks noGrp="1"/>
          </p:cNvSpPr>
          <p:nvPr/>
        </p:nvSpPr>
        <p:spPr>
          <a:xfrm>
            <a:off x="590550" y="2105025"/>
            <a:ext cx="2238375" cy="171450"/>
          </a:xfrm>
          <a:prstGeom prst="rect">
            <a:avLst/>
          </a:prstGeom>
          <a:noFill/>
          <a:ln w="0">
            <a:noFill/>
            <a:prstDash val="solid"/>
          </a:ln>
        </p:spPr>
        <p:txBody>
          <a:bodyPr/>
          <a:lstStyle/>
          <a:p>
            <a:pPr algn="l">
              <a:defRPr sz="788" b="0" i="0">
                <a:solidFill>
                  <a:srgbClr val="4F6875"/>
                </a:solidFill>
                <a:latin typeface="Aptos"/>
                <a:ea typeface="Aptos"/>
                <a:cs typeface="Aptos"/>
              </a:defRPr>
            </a:pPr>
            <a:r>
              <a:rPr sz="788" b="0" i="0">
                <a:solidFill>
                  <a:srgbClr val="4F6875"/>
                </a:solidFill>
                <a:latin typeface="Aptos"/>
                <a:ea typeface="Aptos"/>
                <a:cs typeface="Aptos"/>
              </a:rPr>
              <a:t>Top-10-Aggregat</a:t>
            </a:r>
          </a:p>
        </p:txBody>
      </p:sp>
      <p:sp>
        <p:nvSpPr>
          <p:cNvPr id="11" name="Rectangle: Rounded Corners 10">
            <a:extLst>
              <a:ext uri="{FF2B5EF4-FFF2-40B4-BE49-F238E27FC236}">
                <a16:creationId xmlns:a16="http://schemas.microsoft.com/office/drawing/2014/main" id="{51F89867-4F3D-4806-8538-CB2034955E8F}"/>
              </a:ext>
            </a:extLst>
          </p:cNvPr>
          <p:cNvSpPr>
            <a:spLocks noGrp="1"/>
          </p:cNvSpPr>
          <p:nvPr/>
        </p:nvSpPr>
        <p:spPr>
          <a:xfrm>
            <a:off x="3133725" y="1381125"/>
            <a:ext cx="2505075" cy="990600"/>
          </a:xfrm>
          <a:prstGeom prst="roundRect">
            <a:avLst>
              <a:gd name="adj" fmla="val 11538"/>
            </a:avLst>
          </a:prstGeom>
          <a:solidFill>
            <a:srgbClr val="FFFFFF"/>
          </a:solidFill>
          <a:ln w="9525">
            <a:solidFill>
              <a:srgbClr val="D5E0E5"/>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12" name="Rectangle 11">
            <a:extLst>
              <a:ext uri="{FF2B5EF4-FFF2-40B4-BE49-F238E27FC236}">
                <a16:creationId xmlns:a16="http://schemas.microsoft.com/office/drawing/2014/main" id="{713254ED-091F-4810-BEA7-E4D7C400AA05}"/>
              </a:ext>
            </a:extLst>
          </p:cNvPr>
          <p:cNvSpPr>
            <a:spLocks noGrp="1"/>
          </p:cNvSpPr>
          <p:nvPr/>
        </p:nvSpPr>
        <p:spPr>
          <a:xfrm>
            <a:off x="3133725" y="1381125"/>
            <a:ext cx="2505075" cy="47625"/>
          </a:xfrm>
          <a:prstGeom prst="rect">
            <a:avLst/>
          </a:prstGeom>
          <a:solidFill>
            <a:srgbClr val="A52F4D"/>
          </a:solidFill>
          <a:ln w="0">
            <a:noFill/>
            <a:prstDash val="solid"/>
          </a:ln>
        </p:spPr>
        <p:txBody>
          <a:bodyPr/>
          <a:lstStyle/>
          <a:p>
            <a:endParaRPr lang="en-US"/>
          </a:p>
        </p:txBody>
      </p:sp>
      <p:sp>
        <p:nvSpPr>
          <p:cNvPr id="13" name="Rectangle 12">
            <a:extLst>
              <a:ext uri="{FF2B5EF4-FFF2-40B4-BE49-F238E27FC236}">
                <a16:creationId xmlns:a16="http://schemas.microsoft.com/office/drawing/2014/main" id="{6757A979-BA8B-44E5-982E-1E1D14F32654}"/>
              </a:ext>
            </a:extLst>
          </p:cNvPr>
          <p:cNvSpPr>
            <a:spLocks noGrp="1"/>
          </p:cNvSpPr>
          <p:nvPr/>
        </p:nvSpPr>
        <p:spPr>
          <a:xfrm>
            <a:off x="3267075" y="1524000"/>
            <a:ext cx="2238375" cy="171450"/>
          </a:xfrm>
          <a:prstGeom prst="rect">
            <a:avLst/>
          </a:prstGeom>
          <a:noFill/>
          <a:ln w="0">
            <a:noFill/>
            <a:prstDash val="solid"/>
          </a:ln>
        </p:spPr>
        <p:txBody>
          <a:bodyPr/>
          <a:lstStyle/>
          <a:p>
            <a:pPr algn="l">
              <a:defRPr sz="788" b="1" i="0">
                <a:solidFill>
                  <a:srgbClr val="71858F"/>
                </a:solidFill>
                <a:latin typeface="Aptos"/>
                <a:ea typeface="Aptos"/>
                <a:cs typeface="Aptos"/>
              </a:defRPr>
            </a:pPr>
            <a:r>
              <a:rPr sz="788" b="1" i="0">
                <a:solidFill>
                  <a:srgbClr val="71858F"/>
                </a:solidFill>
                <a:latin typeface="Aptos"/>
                <a:ea typeface="Aptos"/>
                <a:cs typeface="Aptos"/>
              </a:rPr>
              <a:t>CET1-QUOTE · STRESS</a:t>
            </a:r>
          </a:p>
        </p:txBody>
      </p:sp>
      <p:sp>
        <p:nvSpPr>
          <p:cNvPr id="14" name="Rectangle 13">
            <a:extLst>
              <a:ext uri="{FF2B5EF4-FFF2-40B4-BE49-F238E27FC236}">
                <a16:creationId xmlns:a16="http://schemas.microsoft.com/office/drawing/2014/main" id="{9315A50F-A8FC-4168-9966-C0B84D2E0309}"/>
              </a:ext>
            </a:extLst>
          </p:cNvPr>
          <p:cNvSpPr>
            <a:spLocks noGrp="1"/>
          </p:cNvSpPr>
          <p:nvPr/>
        </p:nvSpPr>
        <p:spPr>
          <a:xfrm>
            <a:off x="3267075" y="1733550"/>
            <a:ext cx="2238375" cy="323850"/>
          </a:xfrm>
          <a:prstGeom prst="rect">
            <a:avLst/>
          </a:prstGeom>
          <a:noFill/>
          <a:ln w="0">
            <a:noFill/>
            <a:prstDash val="solid"/>
          </a:ln>
        </p:spPr>
        <p:txBody>
          <a:bodyPr/>
          <a:lstStyle/>
          <a:p>
            <a:pPr algn="l">
              <a:defRPr sz="2250" b="1" i="0">
                <a:solidFill>
                  <a:srgbClr val="051C2C"/>
                </a:solidFill>
                <a:latin typeface="Aptos Display"/>
                <a:ea typeface="Aptos Display"/>
                <a:cs typeface="Aptos Display"/>
              </a:defRPr>
            </a:pPr>
            <a:r>
              <a:rPr sz="2250" b="1" i="0">
                <a:solidFill>
                  <a:srgbClr val="051C2C"/>
                </a:solidFill>
                <a:latin typeface="Aptos Display"/>
                <a:ea typeface="Aptos Display"/>
                <a:cs typeface="Aptos Display"/>
              </a:rPr>
              <a:t>11,02 %</a:t>
            </a:r>
          </a:p>
        </p:txBody>
      </p:sp>
      <p:sp>
        <p:nvSpPr>
          <p:cNvPr id="15" name="Rectangle 14">
            <a:extLst>
              <a:ext uri="{FF2B5EF4-FFF2-40B4-BE49-F238E27FC236}">
                <a16:creationId xmlns:a16="http://schemas.microsoft.com/office/drawing/2014/main" id="{5F755E4E-3D54-43EC-A63A-74F05B186D9C}"/>
              </a:ext>
            </a:extLst>
          </p:cNvPr>
          <p:cNvSpPr>
            <a:spLocks noGrp="1"/>
          </p:cNvSpPr>
          <p:nvPr/>
        </p:nvSpPr>
        <p:spPr>
          <a:xfrm>
            <a:off x="3267075" y="2105025"/>
            <a:ext cx="2238375" cy="171450"/>
          </a:xfrm>
          <a:prstGeom prst="rect">
            <a:avLst/>
          </a:prstGeom>
          <a:noFill/>
          <a:ln w="0">
            <a:noFill/>
            <a:prstDash val="solid"/>
          </a:ln>
        </p:spPr>
        <p:txBody>
          <a:bodyPr/>
          <a:lstStyle/>
          <a:p>
            <a:pPr algn="l">
              <a:defRPr sz="788" b="0" i="0">
                <a:solidFill>
                  <a:srgbClr val="4F6875"/>
                </a:solidFill>
                <a:latin typeface="Aptos"/>
                <a:ea typeface="Aptos"/>
                <a:cs typeface="Aptos"/>
              </a:defRPr>
            </a:pPr>
            <a:r>
              <a:rPr sz="788" b="0" i="0">
                <a:solidFill>
                  <a:srgbClr val="4F6875"/>
                </a:solidFill>
                <a:latin typeface="Aptos"/>
                <a:ea typeface="Aptos"/>
                <a:cs typeface="Aptos"/>
              </a:rPr>
              <a:t>−4,15 Prozentpunkte</a:t>
            </a:r>
          </a:p>
        </p:txBody>
      </p:sp>
      <p:sp>
        <p:nvSpPr>
          <p:cNvPr id="16" name="Rectangle: Rounded Corners 15">
            <a:extLst>
              <a:ext uri="{FF2B5EF4-FFF2-40B4-BE49-F238E27FC236}">
                <a16:creationId xmlns:a16="http://schemas.microsoft.com/office/drawing/2014/main" id="{F6BD3DA1-E4C2-4B90-A39F-50033EBEAD6D}"/>
              </a:ext>
            </a:extLst>
          </p:cNvPr>
          <p:cNvSpPr>
            <a:spLocks noGrp="1"/>
          </p:cNvSpPr>
          <p:nvPr/>
        </p:nvSpPr>
        <p:spPr>
          <a:xfrm>
            <a:off x="5810250" y="1381125"/>
            <a:ext cx="2505075" cy="990600"/>
          </a:xfrm>
          <a:prstGeom prst="roundRect">
            <a:avLst>
              <a:gd name="adj" fmla="val 11538"/>
            </a:avLst>
          </a:prstGeom>
          <a:solidFill>
            <a:srgbClr val="FFFFFF"/>
          </a:solidFill>
          <a:ln w="9525">
            <a:solidFill>
              <a:srgbClr val="D5E0E5"/>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17" name="Rectangle 16">
            <a:extLst>
              <a:ext uri="{FF2B5EF4-FFF2-40B4-BE49-F238E27FC236}">
                <a16:creationId xmlns:a16="http://schemas.microsoft.com/office/drawing/2014/main" id="{DADF3EC5-5805-487C-A590-4BB4D43E2662}"/>
              </a:ext>
            </a:extLst>
          </p:cNvPr>
          <p:cNvSpPr>
            <a:spLocks noGrp="1"/>
          </p:cNvSpPr>
          <p:nvPr/>
        </p:nvSpPr>
        <p:spPr>
          <a:xfrm>
            <a:off x="5810250" y="1381125"/>
            <a:ext cx="2505075" cy="47625"/>
          </a:xfrm>
          <a:prstGeom prst="rect">
            <a:avLst/>
          </a:prstGeom>
          <a:solidFill>
            <a:srgbClr val="1B777F"/>
          </a:solidFill>
          <a:ln w="0">
            <a:noFill/>
            <a:prstDash val="solid"/>
          </a:ln>
        </p:spPr>
        <p:txBody>
          <a:bodyPr/>
          <a:lstStyle/>
          <a:p>
            <a:endParaRPr lang="en-US"/>
          </a:p>
        </p:txBody>
      </p:sp>
      <p:sp>
        <p:nvSpPr>
          <p:cNvPr id="18" name="Rectangle 17">
            <a:extLst>
              <a:ext uri="{FF2B5EF4-FFF2-40B4-BE49-F238E27FC236}">
                <a16:creationId xmlns:a16="http://schemas.microsoft.com/office/drawing/2014/main" id="{CC1AC39C-7194-422F-B8BC-8B78EBE2F38A}"/>
              </a:ext>
            </a:extLst>
          </p:cNvPr>
          <p:cNvSpPr>
            <a:spLocks noGrp="1"/>
          </p:cNvSpPr>
          <p:nvPr/>
        </p:nvSpPr>
        <p:spPr>
          <a:xfrm>
            <a:off x="5943600" y="1524000"/>
            <a:ext cx="2238375" cy="171450"/>
          </a:xfrm>
          <a:prstGeom prst="rect">
            <a:avLst/>
          </a:prstGeom>
          <a:noFill/>
          <a:ln w="0">
            <a:noFill/>
            <a:prstDash val="solid"/>
          </a:ln>
        </p:spPr>
        <p:txBody>
          <a:bodyPr/>
          <a:lstStyle/>
          <a:p>
            <a:pPr algn="l">
              <a:defRPr sz="788" b="1" i="0">
                <a:solidFill>
                  <a:srgbClr val="71858F"/>
                </a:solidFill>
                <a:latin typeface="Aptos"/>
                <a:ea typeface="Aptos"/>
                <a:cs typeface="Aptos"/>
              </a:defRPr>
            </a:pPr>
            <a:r>
              <a:rPr sz="788" b="1" i="0">
                <a:solidFill>
                  <a:srgbClr val="71858F"/>
                </a:solidFill>
                <a:latin typeface="Aptos"/>
                <a:ea typeface="Aptos"/>
                <a:cs typeface="Aptos"/>
              </a:rPr>
              <a:t>CET1-KAPITAL</a:t>
            </a:r>
          </a:p>
        </p:txBody>
      </p:sp>
      <p:sp>
        <p:nvSpPr>
          <p:cNvPr id="19" name="Rectangle 18">
            <a:extLst>
              <a:ext uri="{FF2B5EF4-FFF2-40B4-BE49-F238E27FC236}">
                <a16:creationId xmlns:a16="http://schemas.microsoft.com/office/drawing/2014/main" id="{6F6E539B-7F74-4254-B1AB-88BFA244A3B1}"/>
              </a:ext>
            </a:extLst>
          </p:cNvPr>
          <p:cNvSpPr>
            <a:spLocks noGrp="1"/>
          </p:cNvSpPr>
          <p:nvPr/>
        </p:nvSpPr>
        <p:spPr>
          <a:xfrm>
            <a:off x="5943600" y="1733550"/>
            <a:ext cx="2238375" cy="323850"/>
          </a:xfrm>
          <a:prstGeom prst="rect">
            <a:avLst/>
          </a:prstGeom>
          <a:noFill/>
          <a:ln w="0">
            <a:noFill/>
            <a:prstDash val="solid"/>
          </a:ln>
        </p:spPr>
        <p:txBody>
          <a:bodyPr/>
          <a:lstStyle/>
          <a:p>
            <a:pPr algn="l">
              <a:defRPr sz="1650" b="1" i="0">
                <a:solidFill>
                  <a:srgbClr val="051C2C"/>
                </a:solidFill>
                <a:latin typeface="Aptos Display"/>
                <a:ea typeface="Aptos Display"/>
                <a:cs typeface="Aptos Display"/>
              </a:defRPr>
            </a:pPr>
            <a:r>
              <a:rPr sz="1650" b="1" i="0">
                <a:solidFill>
                  <a:srgbClr val="051C2C"/>
                </a:solidFill>
                <a:latin typeface="Aptos Display"/>
                <a:ea typeface="Aptos Display"/>
                <a:cs typeface="Aptos Display"/>
              </a:rPr>
              <a:t>€678 → €548 Mrd.</a:t>
            </a:r>
          </a:p>
        </p:txBody>
      </p:sp>
      <p:sp>
        <p:nvSpPr>
          <p:cNvPr id="20" name="Rectangle 19">
            <a:extLst>
              <a:ext uri="{FF2B5EF4-FFF2-40B4-BE49-F238E27FC236}">
                <a16:creationId xmlns:a16="http://schemas.microsoft.com/office/drawing/2014/main" id="{4A5D1B97-D4C0-403D-A254-80AECEA55CD5}"/>
              </a:ext>
            </a:extLst>
          </p:cNvPr>
          <p:cNvSpPr>
            <a:spLocks noGrp="1"/>
          </p:cNvSpPr>
          <p:nvPr/>
        </p:nvSpPr>
        <p:spPr>
          <a:xfrm>
            <a:off x="5943600" y="2105025"/>
            <a:ext cx="2238375" cy="171450"/>
          </a:xfrm>
          <a:prstGeom prst="rect">
            <a:avLst/>
          </a:prstGeom>
          <a:noFill/>
          <a:ln w="0">
            <a:noFill/>
            <a:prstDash val="solid"/>
          </a:ln>
        </p:spPr>
        <p:txBody>
          <a:bodyPr/>
          <a:lstStyle/>
          <a:p>
            <a:pPr algn="l">
              <a:defRPr sz="788" b="0" i="0">
                <a:solidFill>
                  <a:srgbClr val="4F6875"/>
                </a:solidFill>
                <a:latin typeface="Aptos"/>
                <a:ea typeface="Aptos"/>
                <a:cs typeface="Aptos"/>
              </a:defRPr>
            </a:pPr>
            <a:r>
              <a:rPr sz="788" b="0" i="0">
                <a:solidFill>
                  <a:srgbClr val="4F6875"/>
                </a:solidFill>
                <a:latin typeface="Aptos"/>
                <a:ea typeface="Aptos"/>
                <a:cs typeface="Aptos"/>
              </a:rPr>
              <a:t>−€129,7 Mrd.</a:t>
            </a:r>
          </a:p>
        </p:txBody>
      </p:sp>
      <p:sp>
        <p:nvSpPr>
          <p:cNvPr id="21" name="Rectangle: Rounded Corners 20">
            <a:extLst>
              <a:ext uri="{FF2B5EF4-FFF2-40B4-BE49-F238E27FC236}">
                <a16:creationId xmlns:a16="http://schemas.microsoft.com/office/drawing/2014/main" id="{B26B958C-DDCD-40F9-9889-0AA805D1E89D}"/>
              </a:ext>
            </a:extLst>
          </p:cNvPr>
          <p:cNvSpPr>
            <a:spLocks noGrp="1"/>
          </p:cNvSpPr>
          <p:nvPr/>
        </p:nvSpPr>
        <p:spPr>
          <a:xfrm>
            <a:off x="8486775" y="1381125"/>
            <a:ext cx="3248025" cy="990600"/>
          </a:xfrm>
          <a:prstGeom prst="roundRect">
            <a:avLst>
              <a:gd name="adj" fmla="val 11538"/>
            </a:avLst>
          </a:prstGeom>
          <a:solidFill>
            <a:srgbClr val="FFFFFF"/>
          </a:solidFill>
          <a:ln w="9525">
            <a:solidFill>
              <a:srgbClr val="D5E0E5"/>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22" name="Rectangle 21">
            <a:extLst>
              <a:ext uri="{FF2B5EF4-FFF2-40B4-BE49-F238E27FC236}">
                <a16:creationId xmlns:a16="http://schemas.microsoft.com/office/drawing/2014/main" id="{CA81887C-E700-4866-AD07-5E648E8F3CFF}"/>
              </a:ext>
            </a:extLst>
          </p:cNvPr>
          <p:cNvSpPr>
            <a:spLocks noGrp="1"/>
          </p:cNvSpPr>
          <p:nvPr/>
        </p:nvSpPr>
        <p:spPr>
          <a:xfrm>
            <a:off x="8486775" y="1381125"/>
            <a:ext cx="3248025" cy="47625"/>
          </a:xfrm>
          <a:prstGeom prst="rect">
            <a:avLst/>
          </a:prstGeom>
          <a:solidFill>
            <a:srgbClr val="0B5D7A"/>
          </a:solidFill>
          <a:ln w="0">
            <a:noFill/>
            <a:prstDash val="solid"/>
          </a:ln>
        </p:spPr>
        <p:txBody>
          <a:bodyPr/>
          <a:lstStyle/>
          <a:p>
            <a:endParaRPr lang="en-US"/>
          </a:p>
        </p:txBody>
      </p:sp>
      <p:sp>
        <p:nvSpPr>
          <p:cNvPr id="23" name="Rectangle 22">
            <a:extLst>
              <a:ext uri="{FF2B5EF4-FFF2-40B4-BE49-F238E27FC236}">
                <a16:creationId xmlns:a16="http://schemas.microsoft.com/office/drawing/2014/main" id="{7473F7F6-0D5D-4E50-BFC8-DDA0BCE29C70}"/>
              </a:ext>
            </a:extLst>
          </p:cNvPr>
          <p:cNvSpPr>
            <a:spLocks noGrp="1"/>
          </p:cNvSpPr>
          <p:nvPr/>
        </p:nvSpPr>
        <p:spPr>
          <a:xfrm>
            <a:off x="8620125" y="1524000"/>
            <a:ext cx="2981325" cy="171450"/>
          </a:xfrm>
          <a:prstGeom prst="rect">
            <a:avLst/>
          </a:prstGeom>
          <a:noFill/>
          <a:ln w="0">
            <a:noFill/>
            <a:prstDash val="solid"/>
          </a:ln>
        </p:spPr>
        <p:txBody>
          <a:bodyPr/>
          <a:lstStyle/>
          <a:p>
            <a:pPr algn="l">
              <a:defRPr sz="788" b="1" i="0">
                <a:solidFill>
                  <a:srgbClr val="71858F"/>
                </a:solidFill>
                <a:latin typeface="Aptos"/>
                <a:ea typeface="Aptos"/>
                <a:cs typeface="Aptos"/>
              </a:defRPr>
            </a:pPr>
            <a:r>
              <a:rPr sz="788" b="1" i="0">
                <a:solidFill>
                  <a:srgbClr val="71858F"/>
                </a:solidFill>
                <a:latin typeface="Aptos"/>
                <a:ea typeface="Aptos"/>
                <a:cs typeface="Aptos"/>
              </a:rPr>
              <a:t>TOTAL RWA</a:t>
            </a:r>
          </a:p>
        </p:txBody>
      </p:sp>
      <p:sp>
        <p:nvSpPr>
          <p:cNvPr id="24" name="Rectangle 23">
            <a:extLst>
              <a:ext uri="{FF2B5EF4-FFF2-40B4-BE49-F238E27FC236}">
                <a16:creationId xmlns:a16="http://schemas.microsoft.com/office/drawing/2014/main" id="{F976B4CA-E550-480D-981F-0F7E4FFD148E}"/>
              </a:ext>
            </a:extLst>
          </p:cNvPr>
          <p:cNvSpPr>
            <a:spLocks noGrp="1"/>
          </p:cNvSpPr>
          <p:nvPr/>
        </p:nvSpPr>
        <p:spPr>
          <a:xfrm>
            <a:off x="8620125" y="1733550"/>
            <a:ext cx="2981325" cy="323850"/>
          </a:xfrm>
          <a:prstGeom prst="rect">
            <a:avLst/>
          </a:prstGeom>
          <a:noFill/>
          <a:ln w="0">
            <a:noFill/>
            <a:prstDash val="solid"/>
          </a:ln>
        </p:spPr>
        <p:txBody>
          <a:bodyPr/>
          <a:lstStyle/>
          <a:p>
            <a:pPr algn="l">
              <a:defRPr sz="1575" b="1" i="0">
                <a:solidFill>
                  <a:srgbClr val="051C2C"/>
                </a:solidFill>
                <a:latin typeface="Aptos Display"/>
                <a:ea typeface="Aptos Display"/>
                <a:cs typeface="Aptos Display"/>
              </a:defRPr>
            </a:pPr>
            <a:r>
              <a:rPr sz="1575" b="1" i="0">
                <a:solidFill>
                  <a:srgbClr val="051C2C"/>
                </a:solidFill>
                <a:latin typeface="Aptos Display"/>
                <a:ea typeface="Aptos Display"/>
                <a:cs typeface="Aptos Display"/>
              </a:rPr>
              <a:t>€4.468 → €4.974 Mrd.</a:t>
            </a:r>
          </a:p>
        </p:txBody>
      </p:sp>
      <p:sp>
        <p:nvSpPr>
          <p:cNvPr id="25" name="Rectangle 24">
            <a:extLst>
              <a:ext uri="{FF2B5EF4-FFF2-40B4-BE49-F238E27FC236}">
                <a16:creationId xmlns:a16="http://schemas.microsoft.com/office/drawing/2014/main" id="{26D4442C-16E5-4AA2-8613-9A774C064C7F}"/>
              </a:ext>
            </a:extLst>
          </p:cNvPr>
          <p:cNvSpPr>
            <a:spLocks noGrp="1"/>
          </p:cNvSpPr>
          <p:nvPr/>
        </p:nvSpPr>
        <p:spPr>
          <a:xfrm>
            <a:off x="8620125" y="2105025"/>
            <a:ext cx="2981325" cy="171450"/>
          </a:xfrm>
          <a:prstGeom prst="rect">
            <a:avLst/>
          </a:prstGeom>
          <a:noFill/>
          <a:ln w="0">
            <a:noFill/>
            <a:prstDash val="solid"/>
          </a:ln>
        </p:spPr>
        <p:txBody>
          <a:bodyPr/>
          <a:lstStyle/>
          <a:p>
            <a:pPr algn="l">
              <a:defRPr sz="788" b="0" i="0">
                <a:solidFill>
                  <a:srgbClr val="4F6875"/>
                </a:solidFill>
                <a:latin typeface="Aptos"/>
                <a:ea typeface="Aptos"/>
                <a:cs typeface="Aptos"/>
              </a:defRPr>
            </a:pPr>
            <a:r>
              <a:rPr sz="788" b="0" i="0">
                <a:solidFill>
                  <a:srgbClr val="4F6875"/>
                </a:solidFill>
                <a:latin typeface="Aptos"/>
                <a:ea typeface="Aptos"/>
                <a:cs typeface="Aptos"/>
              </a:rPr>
              <a:t>+€505,1 Mrd.</a:t>
            </a:r>
          </a:p>
        </p:txBody>
      </p:sp>
      <p:sp>
        <p:nvSpPr>
          <p:cNvPr id="26" name="Rectangle: Rounded Corners 25">
            <a:extLst>
              <a:ext uri="{FF2B5EF4-FFF2-40B4-BE49-F238E27FC236}">
                <a16:creationId xmlns:a16="http://schemas.microsoft.com/office/drawing/2014/main" id="{1BED2C8F-77D4-4579-9669-00B8EBF3B706}"/>
              </a:ext>
            </a:extLst>
          </p:cNvPr>
          <p:cNvSpPr>
            <a:spLocks noGrp="1"/>
          </p:cNvSpPr>
          <p:nvPr/>
        </p:nvSpPr>
        <p:spPr>
          <a:xfrm>
            <a:off x="457200" y="2638425"/>
            <a:ext cx="6858000" cy="3124200"/>
          </a:xfrm>
          <a:prstGeom prst="roundRect">
            <a:avLst>
              <a:gd name="adj" fmla="val 3659"/>
            </a:avLst>
          </a:prstGeom>
          <a:solidFill>
            <a:srgbClr val="FFFFFF"/>
          </a:solidFill>
          <a:ln w="9525">
            <a:solidFill>
              <a:srgbClr val="D5E0E5"/>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27" name="Rectangle 26">
            <a:extLst>
              <a:ext uri="{FF2B5EF4-FFF2-40B4-BE49-F238E27FC236}">
                <a16:creationId xmlns:a16="http://schemas.microsoft.com/office/drawing/2014/main" id="{71D77A2A-0939-48FA-9389-0688F7B0AF2D}"/>
              </a:ext>
            </a:extLst>
          </p:cNvPr>
          <p:cNvSpPr>
            <a:spLocks noGrp="1"/>
          </p:cNvSpPr>
          <p:nvPr/>
        </p:nvSpPr>
        <p:spPr>
          <a:xfrm>
            <a:off x="647700" y="2828925"/>
            <a:ext cx="3143250" cy="171450"/>
          </a:xfrm>
          <a:prstGeom prst="rect">
            <a:avLst/>
          </a:prstGeom>
          <a:noFill/>
          <a:ln w="0">
            <a:noFill/>
            <a:prstDash val="solid"/>
          </a:ln>
        </p:spPr>
        <p:txBody>
          <a:bodyPr/>
          <a:lstStyle/>
          <a:p>
            <a:pPr algn="l">
              <a:defRPr sz="825" b="1" i="0">
                <a:solidFill>
                  <a:srgbClr val="A52F4D"/>
                </a:solidFill>
                <a:latin typeface="Aptos"/>
                <a:ea typeface="Aptos"/>
                <a:cs typeface="Aptos"/>
              </a:defRPr>
            </a:pPr>
            <a:r>
              <a:rPr sz="825" b="1" i="0">
                <a:solidFill>
                  <a:srgbClr val="A52F4D"/>
                </a:solidFill>
                <a:latin typeface="Aptos"/>
                <a:ea typeface="Aptos"/>
                <a:cs typeface="Aptos"/>
              </a:rPr>
              <a:t>BEITRÄGE ZUM STRESSERGEBNIS</a:t>
            </a:r>
          </a:p>
        </p:txBody>
      </p:sp>
      <p:sp>
        <p:nvSpPr>
          <p:cNvPr id="28" name="Rectangle 27">
            <a:extLst>
              <a:ext uri="{FF2B5EF4-FFF2-40B4-BE49-F238E27FC236}">
                <a16:creationId xmlns:a16="http://schemas.microsoft.com/office/drawing/2014/main" id="{8549A996-E2F9-43AF-AEEB-7CFA4EA1C923}"/>
              </a:ext>
            </a:extLst>
          </p:cNvPr>
          <p:cNvSpPr>
            <a:spLocks noGrp="1"/>
          </p:cNvSpPr>
          <p:nvPr/>
        </p:nvSpPr>
        <p:spPr>
          <a:xfrm>
            <a:off x="714375" y="3276600"/>
            <a:ext cx="1219200" cy="161925"/>
          </a:xfrm>
          <a:prstGeom prst="rect">
            <a:avLst/>
          </a:prstGeom>
          <a:noFill/>
          <a:ln w="0">
            <a:noFill/>
            <a:prstDash val="solid"/>
          </a:ln>
        </p:spPr>
        <p:txBody>
          <a:bodyPr/>
          <a:lstStyle/>
          <a:p>
            <a:pPr algn="l">
              <a:defRPr sz="825" b="1" i="0">
                <a:solidFill>
                  <a:srgbClr val="162E3B"/>
                </a:solidFill>
                <a:latin typeface="Aptos"/>
                <a:ea typeface="Aptos"/>
                <a:cs typeface="Aptos"/>
              </a:defRPr>
            </a:pPr>
            <a:r>
              <a:rPr sz="825" b="1" i="0">
                <a:solidFill>
                  <a:srgbClr val="162E3B"/>
                </a:solidFill>
                <a:latin typeface="Aptos"/>
                <a:ea typeface="Aptos"/>
                <a:cs typeface="Aptos"/>
              </a:rPr>
              <a:t>Kreditvorsorge</a:t>
            </a:r>
          </a:p>
        </p:txBody>
      </p:sp>
      <p:sp>
        <p:nvSpPr>
          <p:cNvPr id="29" name="Rectangle: Rounded Corners 28">
            <a:extLst>
              <a:ext uri="{FF2B5EF4-FFF2-40B4-BE49-F238E27FC236}">
                <a16:creationId xmlns:a16="http://schemas.microsoft.com/office/drawing/2014/main" id="{0F46E92D-7759-43EC-8057-0817206C92D1}"/>
              </a:ext>
            </a:extLst>
          </p:cNvPr>
          <p:cNvSpPr>
            <a:spLocks noGrp="1"/>
          </p:cNvSpPr>
          <p:nvPr/>
        </p:nvSpPr>
        <p:spPr>
          <a:xfrm>
            <a:off x="1971675" y="3295650"/>
            <a:ext cx="4238625" cy="133350"/>
          </a:xfrm>
          <a:prstGeom prst="roundRect">
            <a:avLst>
              <a:gd name="adj" fmla="val 50000"/>
            </a:avLst>
          </a:prstGeom>
          <a:solidFill>
            <a:srgbClr val="E7EEF1"/>
          </a:solidFill>
          <a:ln w="0">
            <a:noFill/>
            <a:prstDash val="solid"/>
          </a:ln>
        </p:spPr>
        <p:txBody>
          <a:bodyPr/>
          <a:lstStyle/>
          <a:p>
            <a:endParaRPr lang="en-US"/>
          </a:p>
        </p:txBody>
      </p:sp>
      <p:sp>
        <p:nvSpPr>
          <p:cNvPr id="30" name="Rectangle: Rounded Corners 29">
            <a:extLst>
              <a:ext uri="{FF2B5EF4-FFF2-40B4-BE49-F238E27FC236}">
                <a16:creationId xmlns:a16="http://schemas.microsoft.com/office/drawing/2014/main" id="{BF09CC9F-2255-41A5-804C-7F203FCA0E85}"/>
              </a:ext>
            </a:extLst>
          </p:cNvPr>
          <p:cNvSpPr>
            <a:spLocks noGrp="1"/>
          </p:cNvSpPr>
          <p:nvPr/>
        </p:nvSpPr>
        <p:spPr>
          <a:xfrm>
            <a:off x="1971675" y="3295650"/>
            <a:ext cx="809192" cy="133350"/>
          </a:xfrm>
          <a:prstGeom prst="roundRect">
            <a:avLst>
              <a:gd name="adj" fmla="val 50000"/>
            </a:avLst>
          </a:prstGeom>
          <a:solidFill>
            <a:srgbClr val="A52F4D"/>
          </a:solidFill>
          <a:ln w="0">
            <a:noFill/>
            <a:prstDash val="solid"/>
          </a:ln>
        </p:spPr>
        <p:txBody>
          <a:bodyPr/>
          <a:lstStyle/>
          <a:p>
            <a:endParaRPr lang="en-US"/>
          </a:p>
        </p:txBody>
      </p:sp>
      <p:sp>
        <p:nvSpPr>
          <p:cNvPr id="31" name="Rectangle 30">
            <a:extLst>
              <a:ext uri="{FF2B5EF4-FFF2-40B4-BE49-F238E27FC236}">
                <a16:creationId xmlns:a16="http://schemas.microsoft.com/office/drawing/2014/main" id="{2C3EB5ED-99CC-4BD4-80CC-4DEE3CC5AE5E}"/>
              </a:ext>
            </a:extLst>
          </p:cNvPr>
          <p:cNvSpPr>
            <a:spLocks noGrp="1"/>
          </p:cNvSpPr>
          <p:nvPr/>
        </p:nvSpPr>
        <p:spPr>
          <a:xfrm>
            <a:off x="6257925" y="3276600"/>
            <a:ext cx="647700" cy="161925"/>
          </a:xfrm>
          <a:prstGeom prst="rect">
            <a:avLst/>
          </a:prstGeom>
          <a:noFill/>
          <a:ln w="0">
            <a:noFill/>
            <a:prstDash val="solid"/>
          </a:ln>
        </p:spPr>
        <p:txBody>
          <a:bodyPr/>
          <a:lstStyle/>
          <a:p>
            <a:pPr algn="r">
              <a:defRPr sz="825" b="1" i="0">
                <a:solidFill>
                  <a:srgbClr val="A52F4D"/>
                </a:solidFill>
                <a:latin typeface="Aptos"/>
                <a:ea typeface="Aptos"/>
                <a:cs typeface="Aptos"/>
              </a:defRPr>
            </a:pPr>
            <a:r>
              <a:rPr sz="825" b="1" i="0">
                <a:solidFill>
                  <a:srgbClr val="A52F4D"/>
                </a:solidFill>
                <a:latin typeface="Aptos"/>
                <a:ea typeface="Aptos"/>
                <a:cs typeface="Aptos"/>
              </a:rPr>
              <a:t>−€21,0 Mrd.</a:t>
            </a:r>
          </a:p>
        </p:txBody>
      </p:sp>
      <p:sp>
        <p:nvSpPr>
          <p:cNvPr id="32" name="Rectangle 31">
            <a:extLst>
              <a:ext uri="{FF2B5EF4-FFF2-40B4-BE49-F238E27FC236}">
                <a16:creationId xmlns:a16="http://schemas.microsoft.com/office/drawing/2014/main" id="{2DDFDEF7-D921-4585-B66A-5AA21A6F525E}"/>
              </a:ext>
            </a:extLst>
          </p:cNvPr>
          <p:cNvSpPr>
            <a:spLocks noGrp="1"/>
          </p:cNvSpPr>
          <p:nvPr/>
        </p:nvSpPr>
        <p:spPr>
          <a:xfrm>
            <a:off x="714375" y="3781425"/>
            <a:ext cx="1219200" cy="161925"/>
          </a:xfrm>
          <a:prstGeom prst="rect">
            <a:avLst/>
          </a:prstGeom>
          <a:noFill/>
          <a:ln w="0">
            <a:noFill/>
            <a:prstDash val="solid"/>
          </a:ln>
        </p:spPr>
        <p:txBody>
          <a:bodyPr/>
          <a:lstStyle/>
          <a:p>
            <a:pPr algn="l">
              <a:defRPr sz="825" b="1" i="0">
                <a:solidFill>
                  <a:srgbClr val="162E3B"/>
                </a:solidFill>
                <a:latin typeface="Aptos"/>
                <a:ea typeface="Aptos"/>
                <a:cs typeface="Aptos"/>
              </a:defRPr>
            </a:pPr>
            <a:r>
              <a:rPr sz="825" b="1" i="0">
                <a:solidFill>
                  <a:srgbClr val="162E3B"/>
                </a:solidFill>
                <a:latin typeface="Aptos"/>
                <a:ea typeface="Aptos"/>
                <a:cs typeface="Aptos"/>
              </a:rPr>
              <a:t>Sovereign-MtM</a:t>
            </a:r>
          </a:p>
        </p:txBody>
      </p:sp>
      <p:sp>
        <p:nvSpPr>
          <p:cNvPr id="33" name="Rectangle: Rounded Corners 32">
            <a:extLst>
              <a:ext uri="{FF2B5EF4-FFF2-40B4-BE49-F238E27FC236}">
                <a16:creationId xmlns:a16="http://schemas.microsoft.com/office/drawing/2014/main" id="{BA3D6AAF-250E-4CF3-A0CE-84A54FF4B07E}"/>
              </a:ext>
            </a:extLst>
          </p:cNvPr>
          <p:cNvSpPr>
            <a:spLocks noGrp="1"/>
          </p:cNvSpPr>
          <p:nvPr/>
        </p:nvSpPr>
        <p:spPr>
          <a:xfrm>
            <a:off x="1971675" y="3800475"/>
            <a:ext cx="4238625" cy="133350"/>
          </a:xfrm>
          <a:prstGeom prst="roundRect">
            <a:avLst>
              <a:gd name="adj" fmla="val 50000"/>
            </a:avLst>
          </a:prstGeom>
          <a:solidFill>
            <a:srgbClr val="E7EEF1"/>
          </a:solidFill>
          <a:ln w="0">
            <a:noFill/>
            <a:prstDash val="solid"/>
          </a:ln>
        </p:spPr>
        <p:txBody>
          <a:bodyPr/>
          <a:lstStyle/>
          <a:p>
            <a:endParaRPr lang="en-US"/>
          </a:p>
        </p:txBody>
      </p:sp>
      <p:sp>
        <p:nvSpPr>
          <p:cNvPr id="34" name="Rectangle: Rounded Corners 33">
            <a:extLst>
              <a:ext uri="{FF2B5EF4-FFF2-40B4-BE49-F238E27FC236}">
                <a16:creationId xmlns:a16="http://schemas.microsoft.com/office/drawing/2014/main" id="{08F33E7D-39EF-4168-A026-8A9580AB1155}"/>
              </a:ext>
            </a:extLst>
          </p:cNvPr>
          <p:cNvSpPr>
            <a:spLocks noGrp="1"/>
          </p:cNvSpPr>
          <p:nvPr/>
        </p:nvSpPr>
        <p:spPr>
          <a:xfrm>
            <a:off x="1971675" y="3800475"/>
            <a:ext cx="4188532" cy="133350"/>
          </a:xfrm>
          <a:prstGeom prst="roundRect">
            <a:avLst>
              <a:gd name="adj" fmla="val 50000"/>
            </a:avLst>
          </a:prstGeom>
          <a:solidFill>
            <a:srgbClr val="D9A124"/>
          </a:solidFill>
          <a:ln w="0">
            <a:noFill/>
            <a:prstDash val="solid"/>
          </a:ln>
        </p:spPr>
        <p:txBody>
          <a:bodyPr/>
          <a:lstStyle/>
          <a:p>
            <a:endParaRPr lang="en-US"/>
          </a:p>
        </p:txBody>
      </p:sp>
      <p:sp>
        <p:nvSpPr>
          <p:cNvPr id="35" name="Rectangle 34">
            <a:extLst>
              <a:ext uri="{FF2B5EF4-FFF2-40B4-BE49-F238E27FC236}">
                <a16:creationId xmlns:a16="http://schemas.microsoft.com/office/drawing/2014/main" id="{5D9E9EEE-DF81-49AB-ABF6-CF73559F82C6}"/>
              </a:ext>
            </a:extLst>
          </p:cNvPr>
          <p:cNvSpPr>
            <a:spLocks noGrp="1"/>
          </p:cNvSpPr>
          <p:nvPr/>
        </p:nvSpPr>
        <p:spPr>
          <a:xfrm>
            <a:off x="6257925" y="3781425"/>
            <a:ext cx="647700" cy="161925"/>
          </a:xfrm>
          <a:prstGeom prst="rect">
            <a:avLst/>
          </a:prstGeom>
          <a:noFill/>
          <a:ln w="0">
            <a:noFill/>
            <a:prstDash val="solid"/>
          </a:ln>
        </p:spPr>
        <p:txBody>
          <a:bodyPr/>
          <a:lstStyle/>
          <a:p>
            <a:pPr algn="r">
              <a:defRPr sz="825" b="1" i="0">
                <a:solidFill>
                  <a:srgbClr val="D9A124"/>
                </a:solidFill>
                <a:latin typeface="Aptos"/>
                <a:ea typeface="Aptos"/>
                <a:cs typeface="Aptos"/>
              </a:defRPr>
            </a:pPr>
            <a:r>
              <a:rPr sz="825" b="1" i="0">
                <a:solidFill>
                  <a:srgbClr val="D9A124"/>
                </a:solidFill>
                <a:latin typeface="Aptos"/>
                <a:ea typeface="Aptos"/>
                <a:cs typeface="Aptos"/>
              </a:rPr>
              <a:t>−€108,7 Mrd.</a:t>
            </a:r>
          </a:p>
        </p:txBody>
      </p:sp>
      <p:sp>
        <p:nvSpPr>
          <p:cNvPr id="36" name="Rectangle 35">
            <a:extLst>
              <a:ext uri="{FF2B5EF4-FFF2-40B4-BE49-F238E27FC236}">
                <a16:creationId xmlns:a16="http://schemas.microsoft.com/office/drawing/2014/main" id="{D5C95A23-6C75-4E57-8DB5-E650EAED7752}"/>
              </a:ext>
            </a:extLst>
          </p:cNvPr>
          <p:cNvSpPr>
            <a:spLocks noGrp="1"/>
          </p:cNvSpPr>
          <p:nvPr/>
        </p:nvSpPr>
        <p:spPr>
          <a:xfrm>
            <a:off x="714375" y="4286250"/>
            <a:ext cx="1219200" cy="161925"/>
          </a:xfrm>
          <a:prstGeom prst="rect">
            <a:avLst/>
          </a:prstGeom>
          <a:noFill/>
          <a:ln w="0">
            <a:noFill/>
            <a:prstDash val="solid"/>
          </a:ln>
        </p:spPr>
        <p:txBody>
          <a:bodyPr/>
          <a:lstStyle/>
          <a:p>
            <a:pPr algn="l">
              <a:defRPr sz="825" b="1" i="0">
                <a:solidFill>
                  <a:srgbClr val="162E3B"/>
                </a:solidFill>
                <a:latin typeface="Aptos"/>
                <a:ea typeface="Aptos"/>
                <a:cs typeface="Aptos"/>
              </a:defRPr>
            </a:pPr>
            <a:r>
              <a:rPr sz="825" b="1" i="0">
                <a:solidFill>
                  <a:srgbClr val="162E3B"/>
                </a:solidFill>
                <a:latin typeface="Aptos"/>
                <a:ea typeface="Aptos"/>
                <a:cs typeface="Aptos"/>
              </a:rPr>
              <a:t>zusätzliche RWA</a:t>
            </a:r>
          </a:p>
        </p:txBody>
      </p:sp>
      <p:sp>
        <p:nvSpPr>
          <p:cNvPr id="37" name="Rectangle: Rounded Corners 36">
            <a:extLst>
              <a:ext uri="{FF2B5EF4-FFF2-40B4-BE49-F238E27FC236}">
                <a16:creationId xmlns:a16="http://schemas.microsoft.com/office/drawing/2014/main" id="{B4BFD78F-3AA3-4BB3-9644-D24FBA07AF74}"/>
              </a:ext>
            </a:extLst>
          </p:cNvPr>
          <p:cNvSpPr>
            <a:spLocks noGrp="1"/>
          </p:cNvSpPr>
          <p:nvPr/>
        </p:nvSpPr>
        <p:spPr>
          <a:xfrm>
            <a:off x="1971675" y="4305300"/>
            <a:ext cx="4238625" cy="133350"/>
          </a:xfrm>
          <a:prstGeom prst="roundRect">
            <a:avLst>
              <a:gd name="adj" fmla="val 50000"/>
            </a:avLst>
          </a:prstGeom>
          <a:solidFill>
            <a:srgbClr val="E7EEF1"/>
          </a:solidFill>
          <a:ln w="0">
            <a:noFill/>
            <a:prstDash val="solid"/>
          </a:ln>
        </p:spPr>
        <p:txBody>
          <a:bodyPr/>
          <a:lstStyle/>
          <a:p>
            <a:endParaRPr lang="en-US"/>
          </a:p>
        </p:txBody>
      </p:sp>
      <p:sp>
        <p:nvSpPr>
          <p:cNvPr id="38" name="Rectangle: Rounded Corners 37">
            <a:extLst>
              <a:ext uri="{FF2B5EF4-FFF2-40B4-BE49-F238E27FC236}">
                <a16:creationId xmlns:a16="http://schemas.microsoft.com/office/drawing/2014/main" id="{AED9D0B1-233D-4BB7-95DC-FEC913C22096}"/>
              </a:ext>
            </a:extLst>
          </p:cNvPr>
          <p:cNvSpPr>
            <a:spLocks noGrp="1"/>
          </p:cNvSpPr>
          <p:nvPr/>
        </p:nvSpPr>
        <p:spPr>
          <a:xfrm>
            <a:off x="1971675" y="4305300"/>
            <a:ext cx="4117172" cy="133350"/>
          </a:xfrm>
          <a:prstGeom prst="roundRect">
            <a:avLst>
              <a:gd name="adj" fmla="val 50000"/>
            </a:avLst>
          </a:prstGeom>
          <a:solidFill>
            <a:srgbClr val="0B5D7A"/>
          </a:solidFill>
          <a:ln w="0">
            <a:noFill/>
            <a:prstDash val="solid"/>
          </a:ln>
        </p:spPr>
        <p:txBody>
          <a:bodyPr/>
          <a:lstStyle/>
          <a:p>
            <a:endParaRPr lang="en-US"/>
          </a:p>
        </p:txBody>
      </p:sp>
      <p:sp>
        <p:nvSpPr>
          <p:cNvPr id="39" name="Rectangle 38">
            <a:extLst>
              <a:ext uri="{FF2B5EF4-FFF2-40B4-BE49-F238E27FC236}">
                <a16:creationId xmlns:a16="http://schemas.microsoft.com/office/drawing/2014/main" id="{7CFD6412-436B-4E06-820E-F3AF881E4A00}"/>
              </a:ext>
            </a:extLst>
          </p:cNvPr>
          <p:cNvSpPr>
            <a:spLocks noGrp="1"/>
          </p:cNvSpPr>
          <p:nvPr/>
        </p:nvSpPr>
        <p:spPr>
          <a:xfrm>
            <a:off x="6257925" y="4286250"/>
            <a:ext cx="647700" cy="161925"/>
          </a:xfrm>
          <a:prstGeom prst="rect">
            <a:avLst/>
          </a:prstGeom>
          <a:noFill/>
          <a:ln w="0">
            <a:noFill/>
            <a:prstDash val="solid"/>
          </a:ln>
        </p:spPr>
        <p:txBody>
          <a:bodyPr/>
          <a:lstStyle/>
          <a:p>
            <a:pPr algn="r">
              <a:defRPr sz="825" b="1" i="0">
                <a:solidFill>
                  <a:srgbClr val="0B5D7A"/>
                </a:solidFill>
                <a:latin typeface="Aptos"/>
                <a:ea typeface="Aptos"/>
                <a:cs typeface="Aptos"/>
              </a:defRPr>
            </a:pPr>
            <a:r>
              <a:rPr sz="825" b="1" i="0">
                <a:solidFill>
                  <a:srgbClr val="0B5D7A"/>
                </a:solidFill>
                <a:latin typeface="Aptos"/>
                <a:ea typeface="Aptos"/>
                <a:cs typeface="Aptos"/>
              </a:rPr>
              <a:t>+€505,1 Mrd.</a:t>
            </a:r>
          </a:p>
        </p:txBody>
      </p:sp>
      <p:sp>
        <p:nvSpPr>
          <p:cNvPr id="40" name="Rectangle: Rounded Corners 39">
            <a:extLst>
              <a:ext uri="{FF2B5EF4-FFF2-40B4-BE49-F238E27FC236}">
                <a16:creationId xmlns:a16="http://schemas.microsoft.com/office/drawing/2014/main" id="{A7F71A99-9492-45C7-BA27-09B6CC55B430}"/>
              </a:ext>
            </a:extLst>
          </p:cNvPr>
          <p:cNvSpPr>
            <a:spLocks noGrp="1"/>
          </p:cNvSpPr>
          <p:nvPr/>
        </p:nvSpPr>
        <p:spPr>
          <a:xfrm>
            <a:off x="714375" y="4810125"/>
            <a:ext cx="6191250" cy="581025"/>
          </a:xfrm>
          <a:prstGeom prst="roundRect">
            <a:avLst>
              <a:gd name="adj" fmla="val 13115"/>
            </a:avLst>
          </a:prstGeom>
          <a:solidFill>
            <a:srgbClr val="051C2C"/>
          </a:solidFill>
          <a:ln w="0">
            <a:noFill/>
            <a:prstDash val="solid"/>
          </a:ln>
        </p:spPr>
        <p:txBody>
          <a:bodyPr/>
          <a:lstStyle/>
          <a:p>
            <a:endParaRPr lang="en-US"/>
          </a:p>
        </p:txBody>
      </p:sp>
      <p:sp>
        <p:nvSpPr>
          <p:cNvPr id="41" name="Rectangle 40">
            <a:extLst>
              <a:ext uri="{FF2B5EF4-FFF2-40B4-BE49-F238E27FC236}">
                <a16:creationId xmlns:a16="http://schemas.microsoft.com/office/drawing/2014/main" id="{571EF46D-9F54-4F26-A86A-346D9E5BAA54}"/>
              </a:ext>
            </a:extLst>
          </p:cNvPr>
          <p:cNvSpPr>
            <a:spLocks noGrp="1"/>
          </p:cNvSpPr>
          <p:nvPr/>
        </p:nvSpPr>
        <p:spPr>
          <a:xfrm>
            <a:off x="876300" y="4914900"/>
            <a:ext cx="762000" cy="152400"/>
          </a:xfrm>
          <a:prstGeom prst="rect">
            <a:avLst/>
          </a:prstGeom>
          <a:noFill/>
          <a:ln w="0">
            <a:noFill/>
            <a:prstDash val="solid"/>
          </a:ln>
        </p:spPr>
        <p:txBody>
          <a:bodyPr/>
          <a:lstStyle/>
          <a:p>
            <a:pPr algn="l">
              <a:defRPr sz="750" b="1" i="0">
                <a:solidFill>
                  <a:srgbClr val="BBD0D9"/>
                </a:solidFill>
                <a:latin typeface="Aptos"/>
                <a:ea typeface="Aptos"/>
                <a:cs typeface="Aptos"/>
              </a:defRPr>
            </a:pPr>
            <a:r>
              <a:rPr sz="750" b="1" i="0">
                <a:solidFill>
                  <a:srgbClr val="BBD0D9"/>
                </a:solidFill>
                <a:latin typeface="Aptos"/>
                <a:ea typeface="Aptos"/>
                <a:cs typeface="Aptos"/>
              </a:rPr>
              <a:t>ZÄHLER</a:t>
            </a:r>
          </a:p>
        </p:txBody>
      </p:sp>
      <p:sp>
        <p:nvSpPr>
          <p:cNvPr id="42" name="Rectangle 41">
            <a:extLst>
              <a:ext uri="{FF2B5EF4-FFF2-40B4-BE49-F238E27FC236}">
                <a16:creationId xmlns:a16="http://schemas.microsoft.com/office/drawing/2014/main" id="{D1C652A6-1640-4BEE-A543-E0412F6C224E}"/>
              </a:ext>
            </a:extLst>
          </p:cNvPr>
          <p:cNvSpPr>
            <a:spLocks noGrp="1"/>
          </p:cNvSpPr>
          <p:nvPr/>
        </p:nvSpPr>
        <p:spPr>
          <a:xfrm>
            <a:off x="1638300" y="4886325"/>
            <a:ext cx="1952625" cy="219075"/>
          </a:xfrm>
          <a:prstGeom prst="rect">
            <a:avLst/>
          </a:prstGeom>
          <a:noFill/>
          <a:ln w="0">
            <a:noFill/>
            <a:prstDash val="solid"/>
          </a:ln>
        </p:spPr>
        <p:txBody>
          <a:bodyPr/>
          <a:lstStyle/>
          <a:p>
            <a:pPr algn="l">
              <a:defRPr sz="1200" b="1" i="0">
                <a:solidFill>
                  <a:srgbClr val="FFFFFF"/>
                </a:solidFill>
                <a:latin typeface="Aptos"/>
                <a:ea typeface="Aptos"/>
                <a:cs typeface="Aptos"/>
              </a:defRPr>
            </a:pPr>
            <a:r>
              <a:rPr sz="1200" b="1" i="0">
                <a:solidFill>
                  <a:srgbClr val="FFFFFF"/>
                </a:solidFill>
                <a:latin typeface="Aptos"/>
                <a:ea typeface="Aptos"/>
                <a:cs typeface="Aptos"/>
              </a:rPr>
              <a:t>CET1 −€129,7 Mrd.</a:t>
            </a:r>
          </a:p>
        </p:txBody>
      </p:sp>
      <p:sp>
        <p:nvSpPr>
          <p:cNvPr id="43" name="Rectangle 42">
            <a:extLst>
              <a:ext uri="{FF2B5EF4-FFF2-40B4-BE49-F238E27FC236}">
                <a16:creationId xmlns:a16="http://schemas.microsoft.com/office/drawing/2014/main" id="{A2A9F1D1-00F5-47B5-9D43-34E47B5C3376}"/>
              </a:ext>
            </a:extLst>
          </p:cNvPr>
          <p:cNvSpPr>
            <a:spLocks noGrp="1"/>
          </p:cNvSpPr>
          <p:nvPr/>
        </p:nvSpPr>
        <p:spPr>
          <a:xfrm>
            <a:off x="3857625" y="4914900"/>
            <a:ext cx="762000" cy="152400"/>
          </a:xfrm>
          <a:prstGeom prst="rect">
            <a:avLst/>
          </a:prstGeom>
          <a:noFill/>
          <a:ln w="0">
            <a:noFill/>
            <a:prstDash val="solid"/>
          </a:ln>
        </p:spPr>
        <p:txBody>
          <a:bodyPr/>
          <a:lstStyle/>
          <a:p>
            <a:pPr algn="l">
              <a:defRPr sz="750" b="1" i="0">
                <a:solidFill>
                  <a:srgbClr val="BBD0D9"/>
                </a:solidFill>
                <a:latin typeface="Aptos"/>
                <a:ea typeface="Aptos"/>
                <a:cs typeface="Aptos"/>
              </a:defRPr>
            </a:pPr>
            <a:r>
              <a:rPr sz="750" b="1" i="0">
                <a:solidFill>
                  <a:srgbClr val="BBD0D9"/>
                </a:solidFill>
                <a:latin typeface="Aptos"/>
                <a:ea typeface="Aptos"/>
                <a:cs typeface="Aptos"/>
              </a:rPr>
              <a:t>NENNER</a:t>
            </a:r>
          </a:p>
        </p:txBody>
      </p:sp>
      <p:sp>
        <p:nvSpPr>
          <p:cNvPr id="44" name="Rectangle 43">
            <a:extLst>
              <a:ext uri="{FF2B5EF4-FFF2-40B4-BE49-F238E27FC236}">
                <a16:creationId xmlns:a16="http://schemas.microsoft.com/office/drawing/2014/main" id="{771114AB-539B-4B53-8985-93EE89CCA1FC}"/>
              </a:ext>
            </a:extLst>
          </p:cNvPr>
          <p:cNvSpPr>
            <a:spLocks noGrp="1"/>
          </p:cNvSpPr>
          <p:nvPr/>
        </p:nvSpPr>
        <p:spPr>
          <a:xfrm>
            <a:off x="4619625" y="4886325"/>
            <a:ext cx="1952625" cy="219075"/>
          </a:xfrm>
          <a:prstGeom prst="rect">
            <a:avLst/>
          </a:prstGeom>
          <a:noFill/>
          <a:ln w="0">
            <a:noFill/>
            <a:prstDash val="solid"/>
          </a:ln>
        </p:spPr>
        <p:txBody>
          <a:bodyPr/>
          <a:lstStyle/>
          <a:p>
            <a:pPr algn="l">
              <a:defRPr sz="1200" b="1" i="0">
                <a:solidFill>
                  <a:srgbClr val="FFFFFF"/>
                </a:solidFill>
                <a:latin typeface="Aptos"/>
                <a:ea typeface="Aptos"/>
                <a:cs typeface="Aptos"/>
              </a:defRPr>
            </a:pPr>
            <a:r>
              <a:rPr sz="1200" b="1" i="0">
                <a:solidFill>
                  <a:srgbClr val="FFFFFF"/>
                </a:solidFill>
                <a:latin typeface="Aptos"/>
                <a:ea typeface="Aptos"/>
                <a:cs typeface="Aptos"/>
              </a:rPr>
              <a:t>RWA +€505,1 Mrd.</a:t>
            </a:r>
          </a:p>
        </p:txBody>
      </p:sp>
      <p:sp>
        <p:nvSpPr>
          <p:cNvPr id="45" name="Rectangle 44">
            <a:extLst>
              <a:ext uri="{FF2B5EF4-FFF2-40B4-BE49-F238E27FC236}">
                <a16:creationId xmlns:a16="http://schemas.microsoft.com/office/drawing/2014/main" id="{D5CA6563-96BF-40EF-B085-1E259DE0E913}"/>
              </a:ext>
            </a:extLst>
          </p:cNvPr>
          <p:cNvSpPr>
            <a:spLocks noGrp="1"/>
          </p:cNvSpPr>
          <p:nvPr/>
        </p:nvSpPr>
        <p:spPr>
          <a:xfrm>
            <a:off x="714375" y="5476875"/>
            <a:ext cx="6191250" cy="190500"/>
          </a:xfrm>
          <a:prstGeom prst="rect">
            <a:avLst/>
          </a:prstGeom>
          <a:noFill/>
          <a:ln w="0">
            <a:noFill/>
            <a:prstDash val="solid"/>
          </a:ln>
        </p:spPr>
        <p:txBody>
          <a:bodyPr/>
          <a:lstStyle/>
          <a:p>
            <a:pPr algn="ctr">
              <a:defRPr sz="863" b="0" i="0">
                <a:solidFill>
                  <a:srgbClr val="4F6875"/>
                </a:solidFill>
                <a:latin typeface="Aptos"/>
                <a:ea typeface="Aptos"/>
                <a:cs typeface="Aptos"/>
              </a:defRPr>
            </a:pPr>
            <a:r>
              <a:rPr sz="863" b="0" i="0">
                <a:solidFill>
                  <a:srgbClr val="4F6875"/>
                </a:solidFill>
                <a:latin typeface="Aptos"/>
                <a:ea typeface="Aptos"/>
                <a:cs typeface="Aptos"/>
              </a:rPr>
              <a:t>Der Marktwertkanal ist im Zähler der größte Einzelbeitrag; die Kredit-RWA wirken zusätzlich über den Nenner.</a:t>
            </a:r>
          </a:p>
        </p:txBody>
      </p:sp>
      <p:sp>
        <p:nvSpPr>
          <p:cNvPr id="46" name="Rectangle: Rounded Corners 45">
            <a:extLst>
              <a:ext uri="{FF2B5EF4-FFF2-40B4-BE49-F238E27FC236}">
                <a16:creationId xmlns:a16="http://schemas.microsoft.com/office/drawing/2014/main" id="{2F4B3F73-2632-4CB9-B2B5-29FA7169F78C}"/>
              </a:ext>
            </a:extLst>
          </p:cNvPr>
          <p:cNvSpPr>
            <a:spLocks noGrp="1"/>
          </p:cNvSpPr>
          <p:nvPr/>
        </p:nvSpPr>
        <p:spPr>
          <a:xfrm>
            <a:off x="7600950" y="2638425"/>
            <a:ext cx="4133850" cy="3124200"/>
          </a:xfrm>
          <a:prstGeom prst="roundRect">
            <a:avLst>
              <a:gd name="adj" fmla="val 3659"/>
            </a:avLst>
          </a:prstGeom>
          <a:solidFill>
            <a:srgbClr val="FFFFFF"/>
          </a:solidFill>
          <a:ln w="9525">
            <a:solidFill>
              <a:srgbClr val="D5E0E5"/>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47" name="Rectangle 46">
            <a:extLst>
              <a:ext uri="{FF2B5EF4-FFF2-40B4-BE49-F238E27FC236}">
                <a16:creationId xmlns:a16="http://schemas.microsoft.com/office/drawing/2014/main" id="{B643F492-030F-4CE7-BB57-DC23C473B9F3}"/>
              </a:ext>
            </a:extLst>
          </p:cNvPr>
          <p:cNvSpPr>
            <a:spLocks noGrp="1"/>
          </p:cNvSpPr>
          <p:nvPr/>
        </p:nvSpPr>
        <p:spPr>
          <a:xfrm>
            <a:off x="7791450" y="2828925"/>
            <a:ext cx="3524250" cy="171450"/>
          </a:xfrm>
          <a:prstGeom prst="rect">
            <a:avLst/>
          </a:prstGeom>
          <a:noFill/>
          <a:ln w="0">
            <a:noFill/>
            <a:prstDash val="solid"/>
          </a:ln>
        </p:spPr>
        <p:txBody>
          <a:bodyPr/>
          <a:lstStyle/>
          <a:p>
            <a:pPr algn="l">
              <a:defRPr sz="825" b="1" i="0">
                <a:solidFill>
                  <a:srgbClr val="A52F4D"/>
                </a:solidFill>
                <a:latin typeface="Aptos"/>
                <a:ea typeface="Aptos"/>
                <a:cs typeface="Aptos"/>
              </a:defRPr>
            </a:pPr>
            <a:r>
              <a:rPr sz="825" b="1" i="0">
                <a:solidFill>
                  <a:srgbClr val="A52F4D"/>
                </a:solidFill>
                <a:latin typeface="Aptos"/>
                <a:ea typeface="Aptos"/>
                <a:cs typeface="Aptos"/>
              </a:rPr>
              <a:t>NIEDRIGSTE CET1-QUOTEN NACH STRESS</a:t>
            </a:r>
          </a:p>
        </p:txBody>
      </p:sp>
      <p:sp>
        <p:nvSpPr>
          <p:cNvPr id="48" name="Rectangle 47">
            <a:extLst>
              <a:ext uri="{FF2B5EF4-FFF2-40B4-BE49-F238E27FC236}">
                <a16:creationId xmlns:a16="http://schemas.microsoft.com/office/drawing/2014/main" id="{2259BCEC-96C9-42DB-8D52-8C70F4A0BC92}"/>
              </a:ext>
            </a:extLst>
          </p:cNvPr>
          <p:cNvSpPr>
            <a:spLocks noGrp="1"/>
          </p:cNvSpPr>
          <p:nvPr/>
        </p:nvSpPr>
        <p:spPr>
          <a:xfrm>
            <a:off x="7810500" y="3219450"/>
            <a:ext cx="1381125" cy="171450"/>
          </a:xfrm>
          <a:prstGeom prst="rect">
            <a:avLst/>
          </a:prstGeom>
          <a:noFill/>
          <a:ln w="0">
            <a:noFill/>
            <a:prstDash val="solid"/>
          </a:ln>
        </p:spPr>
        <p:txBody>
          <a:bodyPr/>
          <a:lstStyle/>
          <a:p>
            <a:pPr algn="l">
              <a:defRPr sz="863" b="1" i="0">
                <a:solidFill>
                  <a:srgbClr val="051C2C"/>
                </a:solidFill>
                <a:latin typeface="Aptos"/>
                <a:ea typeface="Aptos"/>
                <a:cs typeface="Aptos"/>
              </a:defRPr>
            </a:pPr>
            <a:r>
              <a:rPr sz="863" b="1" i="0">
                <a:solidFill>
                  <a:srgbClr val="051C2C"/>
                </a:solidFill>
                <a:latin typeface="Aptos"/>
                <a:ea typeface="Aptos"/>
                <a:cs typeface="Aptos"/>
              </a:rPr>
              <a:t>Société Générale</a:t>
            </a:r>
          </a:p>
        </p:txBody>
      </p:sp>
      <p:sp>
        <p:nvSpPr>
          <p:cNvPr id="49" name="Rectangle: Rounded Corners 48">
            <a:extLst>
              <a:ext uri="{FF2B5EF4-FFF2-40B4-BE49-F238E27FC236}">
                <a16:creationId xmlns:a16="http://schemas.microsoft.com/office/drawing/2014/main" id="{E24E8D01-BCE9-4E07-B797-F50EA5901892}"/>
              </a:ext>
            </a:extLst>
          </p:cNvPr>
          <p:cNvSpPr>
            <a:spLocks noGrp="1"/>
          </p:cNvSpPr>
          <p:nvPr/>
        </p:nvSpPr>
        <p:spPr>
          <a:xfrm>
            <a:off x="9220200" y="3238500"/>
            <a:ext cx="1809750" cy="133350"/>
          </a:xfrm>
          <a:prstGeom prst="roundRect">
            <a:avLst>
              <a:gd name="adj" fmla="val 50000"/>
            </a:avLst>
          </a:prstGeom>
          <a:solidFill>
            <a:srgbClr val="E7EEF1"/>
          </a:solidFill>
          <a:ln w="0">
            <a:noFill/>
            <a:prstDash val="solid"/>
          </a:ln>
        </p:spPr>
        <p:txBody>
          <a:bodyPr/>
          <a:lstStyle/>
          <a:p>
            <a:endParaRPr lang="en-US"/>
          </a:p>
        </p:txBody>
      </p:sp>
      <p:sp>
        <p:nvSpPr>
          <p:cNvPr id="50" name="Rectangle: Rounded Corners 49">
            <a:extLst>
              <a:ext uri="{FF2B5EF4-FFF2-40B4-BE49-F238E27FC236}">
                <a16:creationId xmlns:a16="http://schemas.microsoft.com/office/drawing/2014/main" id="{AA57BA2D-74C0-4C6B-A7D0-4C6D15E72996}"/>
              </a:ext>
            </a:extLst>
          </p:cNvPr>
          <p:cNvSpPr>
            <a:spLocks noGrp="1"/>
          </p:cNvSpPr>
          <p:nvPr/>
        </p:nvSpPr>
        <p:spPr>
          <a:xfrm>
            <a:off x="9220200" y="3238500"/>
            <a:ext cx="716862" cy="133350"/>
          </a:xfrm>
          <a:prstGeom prst="roundRect">
            <a:avLst>
              <a:gd name="adj" fmla="val 50000"/>
            </a:avLst>
          </a:prstGeom>
          <a:solidFill>
            <a:srgbClr val="A52F4D"/>
          </a:solidFill>
          <a:ln w="0">
            <a:noFill/>
            <a:prstDash val="solid"/>
          </a:ln>
        </p:spPr>
        <p:txBody>
          <a:bodyPr/>
          <a:lstStyle/>
          <a:p>
            <a:endParaRPr lang="en-US"/>
          </a:p>
        </p:txBody>
      </p:sp>
      <p:sp>
        <p:nvSpPr>
          <p:cNvPr id="51" name="Rectangle 50">
            <a:extLst>
              <a:ext uri="{FF2B5EF4-FFF2-40B4-BE49-F238E27FC236}">
                <a16:creationId xmlns:a16="http://schemas.microsoft.com/office/drawing/2014/main" id="{9F0F41CE-6341-4BE3-8BB5-D3234EC8138E}"/>
              </a:ext>
            </a:extLst>
          </p:cNvPr>
          <p:cNvSpPr>
            <a:spLocks noGrp="1"/>
          </p:cNvSpPr>
          <p:nvPr/>
        </p:nvSpPr>
        <p:spPr>
          <a:xfrm>
            <a:off x="10877550" y="3209925"/>
            <a:ext cx="666750" cy="171450"/>
          </a:xfrm>
          <a:prstGeom prst="rect">
            <a:avLst/>
          </a:prstGeom>
          <a:noFill/>
          <a:ln w="0">
            <a:noFill/>
            <a:prstDash val="solid"/>
          </a:ln>
        </p:spPr>
        <p:txBody>
          <a:bodyPr/>
          <a:lstStyle/>
          <a:p>
            <a:pPr algn="r">
              <a:defRPr sz="825" b="1" i="0">
                <a:solidFill>
                  <a:srgbClr val="A52F4D"/>
                </a:solidFill>
                <a:latin typeface="Aptos"/>
                <a:ea typeface="Aptos"/>
                <a:cs typeface="Aptos"/>
              </a:defRPr>
            </a:pPr>
            <a:r>
              <a:rPr sz="825" b="1" i="0">
                <a:solidFill>
                  <a:srgbClr val="A52F4D"/>
                </a:solidFill>
                <a:latin typeface="Aptos"/>
                <a:ea typeface="Aptos"/>
                <a:cs typeface="Aptos"/>
              </a:rPr>
              <a:t>7,13 %</a:t>
            </a:r>
          </a:p>
        </p:txBody>
      </p:sp>
      <p:sp>
        <p:nvSpPr>
          <p:cNvPr id="52" name="Rectangle 51">
            <a:extLst>
              <a:ext uri="{FF2B5EF4-FFF2-40B4-BE49-F238E27FC236}">
                <a16:creationId xmlns:a16="http://schemas.microsoft.com/office/drawing/2014/main" id="{9D1FBACC-3444-4C79-BCAA-548F5E70D471}"/>
              </a:ext>
            </a:extLst>
          </p:cNvPr>
          <p:cNvSpPr>
            <a:spLocks noGrp="1"/>
          </p:cNvSpPr>
          <p:nvPr/>
        </p:nvSpPr>
        <p:spPr>
          <a:xfrm>
            <a:off x="7810500" y="3638550"/>
            <a:ext cx="1381125" cy="171450"/>
          </a:xfrm>
          <a:prstGeom prst="rect">
            <a:avLst/>
          </a:prstGeom>
          <a:noFill/>
          <a:ln w="0">
            <a:noFill/>
            <a:prstDash val="solid"/>
          </a:ln>
        </p:spPr>
        <p:txBody>
          <a:bodyPr/>
          <a:lstStyle/>
          <a:p>
            <a:pPr algn="l">
              <a:defRPr sz="863" b="1" i="0">
                <a:solidFill>
                  <a:srgbClr val="051C2C"/>
                </a:solidFill>
                <a:latin typeface="Aptos"/>
                <a:ea typeface="Aptos"/>
                <a:cs typeface="Aptos"/>
              </a:defRPr>
            </a:pPr>
            <a:r>
              <a:rPr sz="863" b="1" i="0">
                <a:solidFill>
                  <a:srgbClr val="051C2C"/>
                </a:solidFill>
                <a:latin typeface="Aptos"/>
                <a:ea typeface="Aptos"/>
                <a:cs typeface="Aptos"/>
              </a:rPr>
              <a:t>Deutsche Bank</a:t>
            </a:r>
          </a:p>
        </p:txBody>
      </p:sp>
      <p:sp>
        <p:nvSpPr>
          <p:cNvPr id="53" name="Rectangle: Rounded Corners 52">
            <a:extLst>
              <a:ext uri="{FF2B5EF4-FFF2-40B4-BE49-F238E27FC236}">
                <a16:creationId xmlns:a16="http://schemas.microsoft.com/office/drawing/2014/main" id="{B380682D-524D-4472-9867-AB0B816F2947}"/>
              </a:ext>
            </a:extLst>
          </p:cNvPr>
          <p:cNvSpPr>
            <a:spLocks noGrp="1"/>
          </p:cNvSpPr>
          <p:nvPr/>
        </p:nvSpPr>
        <p:spPr>
          <a:xfrm>
            <a:off x="9220200" y="3657600"/>
            <a:ext cx="1809750" cy="133350"/>
          </a:xfrm>
          <a:prstGeom prst="roundRect">
            <a:avLst>
              <a:gd name="adj" fmla="val 50000"/>
            </a:avLst>
          </a:prstGeom>
          <a:solidFill>
            <a:srgbClr val="E7EEF1"/>
          </a:solidFill>
          <a:ln w="0">
            <a:noFill/>
            <a:prstDash val="solid"/>
          </a:ln>
        </p:spPr>
        <p:txBody>
          <a:bodyPr/>
          <a:lstStyle/>
          <a:p>
            <a:endParaRPr lang="en-US"/>
          </a:p>
        </p:txBody>
      </p:sp>
      <p:sp>
        <p:nvSpPr>
          <p:cNvPr id="54" name="Rectangle: Rounded Corners 53">
            <a:extLst>
              <a:ext uri="{FF2B5EF4-FFF2-40B4-BE49-F238E27FC236}">
                <a16:creationId xmlns:a16="http://schemas.microsoft.com/office/drawing/2014/main" id="{8C3DA4D0-E939-4CDF-8637-8DD3671A6062}"/>
              </a:ext>
            </a:extLst>
          </p:cNvPr>
          <p:cNvSpPr>
            <a:spLocks noGrp="1"/>
          </p:cNvSpPr>
          <p:nvPr/>
        </p:nvSpPr>
        <p:spPr>
          <a:xfrm>
            <a:off x="9220200" y="3657600"/>
            <a:ext cx="723900" cy="133350"/>
          </a:xfrm>
          <a:prstGeom prst="roundRect">
            <a:avLst>
              <a:gd name="adj" fmla="val 50000"/>
            </a:avLst>
          </a:prstGeom>
          <a:solidFill>
            <a:srgbClr val="A52F4D"/>
          </a:solidFill>
          <a:ln w="0">
            <a:noFill/>
            <a:prstDash val="solid"/>
          </a:ln>
        </p:spPr>
        <p:txBody>
          <a:bodyPr/>
          <a:lstStyle/>
          <a:p>
            <a:endParaRPr lang="en-US"/>
          </a:p>
        </p:txBody>
      </p:sp>
      <p:sp>
        <p:nvSpPr>
          <p:cNvPr id="55" name="Rectangle 54">
            <a:extLst>
              <a:ext uri="{FF2B5EF4-FFF2-40B4-BE49-F238E27FC236}">
                <a16:creationId xmlns:a16="http://schemas.microsoft.com/office/drawing/2014/main" id="{343BF295-DF56-4B09-9C42-DBE0D13BBA50}"/>
              </a:ext>
            </a:extLst>
          </p:cNvPr>
          <p:cNvSpPr>
            <a:spLocks noGrp="1"/>
          </p:cNvSpPr>
          <p:nvPr/>
        </p:nvSpPr>
        <p:spPr>
          <a:xfrm>
            <a:off x="10877550" y="3629025"/>
            <a:ext cx="666750" cy="171450"/>
          </a:xfrm>
          <a:prstGeom prst="rect">
            <a:avLst/>
          </a:prstGeom>
          <a:noFill/>
          <a:ln w="0">
            <a:noFill/>
            <a:prstDash val="solid"/>
          </a:ln>
        </p:spPr>
        <p:txBody>
          <a:bodyPr/>
          <a:lstStyle/>
          <a:p>
            <a:pPr algn="r">
              <a:defRPr sz="825" b="1" i="0">
                <a:solidFill>
                  <a:srgbClr val="A52F4D"/>
                </a:solidFill>
                <a:latin typeface="Aptos"/>
                <a:ea typeface="Aptos"/>
                <a:cs typeface="Aptos"/>
              </a:defRPr>
            </a:pPr>
            <a:r>
              <a:rPr sz="825" b="1" i="0">
                <a:solidFill>
                  <a:srgbClr val="A52F4D"/>
                </a:solidFill>
                <a:latin typeface="Aptos"/>
                <a:ea typeface="Aptos"/>
                <a:cs typeface="Aptos"/>
              </a:rPr>
              <a:t>7,20 %</a:t>
            </a:r>
          </a:p>
        </p:txBody>
      </p:sp>
      <p:sp>
        <p:nvSpPr>
          <p:cNvPr id="56" name="Rectangle 55">
            <a:extLst>
              <a:ext uri="{FF2B5EF4-FFF2-40B4-BE49-F238E27FC236}">
                <a16:creationId xmlns:a16="http://schemas.microsoft.com/office/drawing/2014/main" id="{BA289B21-ABEB-410A-ADC9-A6AE055BCCCE}"/>
              </a:ext>
            </a:extLst>
          </p:cNvPr>
          <p:cNvSpPr>
            <a:spLocks noGrp="1"/>
          </p:cNvSpPr>
          <p:nvPr/>
        </p:nvSpPr>
        <p:spPr>
          <a:xfrm>
            <a:off x="7810500" y="4057650"/>
            <a:ext cx="1381125" cy="171450"/>
          </a:xfrm>
          <a:prstGeom prst="rect">
            <a:avLst/>
          </a:prstGeom>
          <a:noFill/>
          <a:ln w="0">
            <a:noFill/>
            <a:prstDash val="solid"/>
          </a:ln>
        </p:spPr>
        <p:txBody>
          <a:bodyPr/>
          <a:lstStyle/>
          <a:p>
            <a:pPr algn="l">
              <a:defRPr sz="863" b="1" i="0">
                <a:solidFill>
                  <a:srgbClr val="051C2C"/>
                </a:solidFill>
                <a:latin typeface="Aptos"/>
                <a:ea typeface="Aptos"/>
                <a:cs typeface="Aptos"/>
              </a:defRPr>
            </a:pPr>
            <a:r>
              <a:rPr sz="863" b="1" i="0">
                <a:solidFill>
                  <a:srgbClr val="051C2C"/>
                </a:solidFill>
                <a:latin typeface="Aptos"/>
                <a:ea typeface="Aptos"/>
                <a:cs typeface="Aptos"/>
              </a:rPr>
              <a:t>BNP Paribas</a:t>
            </a:r>
          </a:p>
        </p:txBody>
      </p:sp>
      <p:sp>
        <p:nvSpPr>
          <p:cNvPr id="57" name="Rectangle: Rounded Corners 56">
            <a:extLst>
              <a:ext uri="{FF2B5EF4-FFF2-40B4-BE49-F238E27FC236}">
                <a16:creationId xmlns:a16="http://schemas.microsoft.com/office/drawing/2014/main" id="{3DE3E51C-CC06-4F28-9C57-F1FB31C12310}"/>
              </a:ext>
            </a:extLst>
          </p:cNvPr>
          <p:cNvSpPr>
            <a:spLocks noGrp="1"/>
          </p:cNvSpPr>
          <p:nvPr/>
        </p:nvSpPr>
        <p:spPr>
          <a:xfrm>
            <a:off x="9220200" y="4076700"/>
            <a:ext cx="1809750" cy="133350"/>
          </a:xfrm>
          <a:prstGeom prst="roundRect">
            <a:avLst>
              <a:gd name="adj" fmla="val 50000"/>
            </a:avLst>
          </a:prstGeom>
          <a:solidFill>
            <a:srgbClr val="E7EEF1"/>
          </a:solidFill>
          <a:ln w="0">
            <a:noFill/>
            <a:prstDash val="solid"/>
          </a:ln>
        </p:spPr>
        <p:txBody>
          <a:bodyPr/>
          <a:lstStyle/>
          <a:p>
            <a:endParaRPr lang="en-US"/>
          </a:p>
        </p:txBody>
      </p:sp>
      <p:sp>
        <p:nvSpPr>
          <p:cNvPr id="58" name="Rectangle: Rounded Corners 57">
            <a:extLst>
              <a:ext uri="{FF2B5EF4-FFF2-40B4-BE49-F238E27FC236}">
                <a16:creationId xmlns:a16="http://schemas.microsoft.com/office/drawing/2014/main" id="{86C648E6-48EC-4DCB-AFBF-A9C21024DCB4}"/>
              </a:ext>
            </a:extLst>
          </p:cNvPr>
          <p:cNvSpPr>
            <a:spLocks noGrp="1"/>
          </p:cNvSpPr>
          <p:nvPr/>
        </p:nvSpPr>
        <p:spPr>
          <a:xfrm>
            <a:off x="9220200" y="4076700"/>
            <a:ext cx="811371" cy="133350"/>
          </a:xfrm>
          <a:prstGeom prst="roundRect">
            <a:avLst>
              <a:gd name="adj" fmla="val 50000"/>
            </a:avLst>
          </a:prstGeom>
          <a:solidFill>
            <a:srgbClr val="D9A124"/>
          </a:solidFill>
          <a:ln w="0">
            <a:noFill/>
            <a:prstDash val="solid"/>
          </a:ln>
        </p:spPr>
        <p:txBody>
          <a:bodyPr/>
          <a:lstStyle/>
          <a:p>
            <a:endParaRPr lang="en-US"/>
          </a:p>
        </p:txBody>
      </p:sp>
      <p:sp>
        <p:nvSpPr>
          <p:cNvPr id="59" name="Rectangle 58">
            <a:extLst>
              <a:ext uri="{FF2B5EF4-FFF2-40B4-BE49-F238E27FC236}">
                <a16:creationId xmlns:a16="http://schemas.microsoft.com/office/drawing/2014/main" id="{5114BF83-4B6C-45BF-9E71-470B82C07F6F}"/>
              </a:ext>
            </a:extLst>
          </p:cNvPr>
          <p:cNvSpPr>
            <a:spLocks noGrp="1"/>
          </p:cNvSpPr>
          <p:nvPr/>
        </p:nvSpPr>
        <p:spPr>
          <a:xfrm>
            <a:off x="10877550" y="4048125"/>
            <a:ext cx="666750" cy="171450"/>
          </a:xfrm>
          <a:prstGeom prst="rect">
            <a:avLst/>
          </a:prstGeom>
          <a:noFill/>
          <a:ln w="0">
            <a:noFill/>
            <a:prstDash val="solid"/>
          </a:ln>
        </p:spPr>
        <p:txBody>
          <a:bodyPr/>
          <a:lstStyle/>
          <a:p>
            <a:pPr algn="r">
              <a:defRPr sz="825" b="1" i="0">
                <a:solidFill>
                  <a:srgbClr val="D9A124"/>
                </a:solidFill>
                <a:latin typeface="Aptos"/>
                <a:ea typeface="Aptos"/>
                <a:cs typeface="Aptos"/>
              </a:defRPr>
            </a:pPr>
            <a:r>
              <a:rPr sz="825" b="1" i="0">
                <a:solidFill>
                  <a:srgbClr val="D9A124"/>
                </a:solidFill>
                <a:latin typeface="Aptos"/>
                <a:ea typeface="Aptos"/>
                <a:cs typeface="Aptos"/>
              </a:rPr>
              <a:t>8,07 %</a:t>
            </a:r>
          </a:p>
        </p:txBody>
      </p:sp>
      <p:sp>
        <p:nvSpPr>
          <p:cNvPr id="60" name="Rectangle 59">
            <a:extLst>
              <a:ext uri="{FF2B5EF4-FFF2-40B4-BE49-F238E27FC236}">
                <a16:creationId xmlns:a16="http://schemas.microsoft.com/office/drawing/2014/main" id="{5F374F59-2487-4723-B69A-CF37D76AEC6B}"/>
              </a:ext>
            </a:extLst>
          </p:cNvPr>
          <p:cNvSpPr>
            <a:spLocks noGrp="1"/>
          </p:cNvSpPr>
          <p:nvPr/>
        </p:nvSpPr>
        <p:spPr>
          <a:xfrm>
            <a:off x="7810500" y="4476750"/>
            <a:ext cx="1381125" cy="171450"/>
          </a:xfrm>
          <a:prstGeom prst="rect">
            <a:avLst/>
          </a:prstGeom>
          <a:noFill/>
          <a:ln w="0">
            <a:noFill/>
            <a:prstDash val="solid"/>
          </a:ln>
        </p:spPr>
        <p:txBody>
          <a:bodyPr/>
          <a:lstStyle/>
          <a:p>
            <a:pPr algn="l">
              <a:defRPr sz="863" b="1" i="0">
                <a:solidFill>
                  <a:srgbClr val="051C2C"/>
                </a:solidFill>
                <a:latin typeface="Aptos"/>
                <a:ea typeface="Aptos"/>
                <a:cs typeface="Aptos"/>
              </a:defRPr>
            </a:pPr>
            <a:r>
              <a:rPr sz="863" b="1" i="0">
                <a:solidFill>
                  <a:srgbClr val="051C2C"/>
                </a:solidFill>
                <a:latin typeface="Aptos"/>
                <a:ea typeface="Aptos"/>
                <a:cs typeface="Aptos"/>
              </a:rPr>
              <a:t>ING</a:t>
            </a:r>
          </a:p>
        </p:txBody>
      </p:sp>
      <p:sp>
        <p:nvSpPr>
          <p:cNvPr id="61" name="Rectangle: Rounded Corners 60">
            <a:extLst>
              <a:ext uri="{FF2B5EF4-FFF2-40B4-BE49-F238E27FC236}">
                <a16:creationId xmlns:a16="http://schemas.microsoft.com/office/drawing/2014/main" id="{34D570D7-6187-47E0-9338-EAF3BC31A28B}"/>
              </a:ext>
            </a:extLst>
          </p:cNvPr>
          <p:cNvSpPr>
            <a:spLocks noGrp="1"/>
          </p:cNvSpPr>
          <p:nvPr/>
        </p:nvSpPr>
        <p:spPr>
          <a:xfrm>
            <a:off x="9220200" y="4495800"/>
            <a:ext cx="1809750" cy="133350"/>
          </a:xfrm>
          <a:prstGeom prst="roundRect">
            <a:avLst>
              <a:gd name="adj" fmla="val 50000"/>
            </a:avLst>
          </a:prstGeom>
          <a:solidFill>
            <a:srgbClr val="E7EEF1"/>
          </a:solidFill>
          <a:ln w="0">
            <a:noFill/>
            <a:prstDash val="solid"/>
          </a:ln>
        </p:spPr>
        <p:txBody>
          <a:bodyPr/>
          <a:lstStyle/>
          <a:p>
            <a:endParaRPr lang="en-US"/>
          </a:p>
        </p:txBody>
      </p:sp>
      <p:sp>
        <p:nvSpPr>
          <p:cNvPr id="62" name="Rectangle: Rounded Corners 61">
            <a:extLst>
              <a:ext uri="{FF2B5EF4-FFF2-40B4-BE49-F238E27FC236}">
                <a16:creationId xmlns:a16="http://schemas.microsoft.com/office/drawing/2014/main" id="{872AC300-F1A6-4BA6-937B-73F80F9B1560}"/>
              </a:ext>
            </a:extLst>
          </p:cNvPr>
          <p:cNvSpPr>
            <a:spLocks noGrp="1"/>
          </p:cNvSpPr>
          <p:nvPr/>
        </p:nvSpPr>
        <p:spPr>
          <a:xfrm>
            <a:off x="9220200" y="4495800"/>
            <a:ext cx="970227" cy="133350"/>
          </a:xfrm>
          <a:prstGeom prst="roundRect">
            <a:avLst>
              <a:gd name="adj" fmla="val 50000"/>
            </a:avLst>
          </a:prstGeom>
          <a:solidFill>
            <a:srgbClr val="0B5D7A"/>
          </a:solidFill>
          <a:ln w="0">
            <a:noFill/>
            <a:prstDash val="solid"/>
          </a:ln>
        </p:spPr>
        <p:txBody>
          <a:bodyPr/>
          <a:lstStyle/>
          <a:p>
            <a:endParaRPr lang="en-US"/>
          </a:p>
        </p:txBody>
      </p:sp>
      <p:sp>
        <p:nvSpPr>
          <p:cNvPr id="63" name="Rectangle 62">
            <a:extLst>
              <a:ext uri="{FF2B5EF4-FFF2-40B4-BE49-F238E27FC236}">
                <a16:creationId xmlns:a16="http://schemas.microsoft.com/office/drawing/2014/main" id="{12E7DD70-C000-4F29-A67D-3F8EF28CE687}"/>
              </a:ext>
            </a:extLst>
          </p:cNvPr>
          <p:cNvSpPr>
            <a:spLocks noGrp="1"/>
          </p:cNvSpPr>
          <p:nvPr/>
        </p:nvSpPr>
        <p:spPr>
          <a:xfrm>
            <a:off x="10877550" y="4467225"/>
            <a:ext cx="666750" cy="171450"/>
          </a:xfrm>
          <a:prstGeom prst="rect">
            <a:avLst/>
          </a:prstGeom>
          <a:noFill/>
          <a:ln w="0">
            <a:noFill/>
            <a:prstDash val="solid"/>
          </a:ln>
        </p:spPr>
        <p:txBody>
          <a:bodyPr/>
          <a:lstStyle/>
          <a:p>
            <a:pPr algn="r">
              <a:defRPr sz="825" b="1" i="0">
                <a:solidFill>
                  <a:srgbClr val="0B5D7A"/>
                </a:solidFill>
                <a:latin typeface="Aptos"/>
                <a:ea typeface="Aptos"/>
                <a:cs typeface="Aptos"/>
              </a:defRPr>
            </a:pPr>
            <a:r>
              <a:rPr sz="825" b="1" i="0">
                <a:solidFill>
                  <a:srgbClr val="0B5D7A"/>
                </a:solidFill>
                <a:latin typeface="Aptos"/>
                <a:ea typeface="Aptos"/>
                <a:cs typeface="Aptos"/>
              </a:rPr>
              <a:t>9,65 %</a:t>
            </a:r>
          </a:p>
        </p:txBody>
      </p:sp>
      <p:sp>
        <p:nvSpPr>
          <p:cNvPr id="64" name="Rectangle 63">
            <a:extLst>
              <a:ext uri="{FF2B5EF4-FFF2-40B4-BE49-F238E27FC236}">
                <a16:creationId xmlns:a16="http://schemas.microsoft.com/office/drawing/2014/main" id="{2C11617A-18D0-4B3A-96B1-9404D2902995}"/>
              </a:ext>
            </a:extLst>
          </p:cNvPr>
          <p:cNvSpPr>
            <a:spLocks noGrp="1"/>
          </p:cNvSpPr>
          <p:nvPr/>
        </p:nvSpPr>
        <p:spPr>
          <a:xfrm>
            <a:off x="7810500" y="4895850"/>
            <a:ext cx="1381125" cy="171450"/>
          </a:xfrm>
          <a:prstGeom prst="rect">
            <a:avLst/>
          </a:prstGeom>
          <a:noFill/>
          <a:ln w="0">
            <a:noFill/>
            <a:prstDash val="solid"/>
          </a:ln>
        </p:spPr>
        <p:txBody>
          <a:bodyPr/>
          <a:lstStyle/>
          <a:p>
            <a:pPr algn="l">
              <a:defRPr sz="863" b="1" i="0">
                <a:solidFill>
                  <a:srgbClr val="051C2C"/>
                </a:solidFill>
                <a:latin typeface="Aptos"/>
                <a:ea typeface="Aptos"/>
                <a:cs typeface="Aptos"/>
              </a:defRPr>
            </a:pPr>
            <a:r>
              <a:rPr sz="863" b="1" i="0">
                <a:solidFill>
                  <a:srgbClr val="051C2C"/>
                </a:solidFill>
                <a:latin typeface="Aptos"/>
                <a:ea typeface="Aptos"/>
                <a:cs typeface="Aptos"/>
              </a:rPr>
              <a:t>Santander</a:t>
            </a:r>
          </a:p>
        </p:txBody>
      </p:sp>
      <p:sp>
        <p:nvSpPr>
          <p:cNvPr id="65" name="Rectangle: Rounded Corners 64">
            <a:extLst>
              <a:ext uri="{FF2B5EF4-FFF2-40B4-BE49-F238E27FC236}">
                <a16:creationId xmlns:a16="http://schemas.microsoft.com/office/drawing/2014/main" id="{9704CC31-53C5-4ADB-8E33-0D6A8617CAF5}"/>
              </a:ext>
            </a:extLst>
          </p:cNvPr>
          <p:cNvSpPr>
            <a:spLocks noGrp="1"/>
          </p:cNvSpPr>
          <p:nvPr/>
        </p:nvSpPr>
        <p:spPr>
          <a:xfrm>
            <a:off x="9220200" y="4914900"/>
            <a:ext cx="1809750" cy="133350"/>
          </a:xfrm>
          <a:prstGeom prst="roundRect">
            <a:avLst>
              <a:gd name="adj" fmla="val 50000"/>
            </a:avLst>
          </a:prstGeom>
          <a:solidFill>
            <a:srgbClr val="E7EEF1"/>
          </a:solidFill>
          <a:ln w="0">
            <a:noFill/>
            <a:prstDash val="solid"/>
          </a:ln>
        </p:spPr>
        <p:txBody>
          <a:bodyPr/>
          <a:lstStyle/>
          <a:p>
            <a:endParaRPr lang="en-US"/>
          </a:p>
        </p:txBody>
      </p:sp>
      <p:sp>
        <p:nvSpPr>
          <p:cNvPr id="66" name="Rectangle: Rounded Corners 65">
            <a:extLst>
              <a:ext uri="{FF2B5EF4-FFF2-40B4-BE49-F238E27FC236}">
                <a16:creationId xmlns:a16="http://schemas.microsoft.com/office/drawing/2014/main" id="{3A156577-49B6-4F6B-A8F5-D34BA7EE8F97}"/>
              </a:ext>
            </a:extLst>
          </p:cNvPr>
          <p:cNvSpPr>
            <a:spLocks noGrp="1"/>
          </p:cNvSpPr>
          <p:nvPr/>
        </p:nvSpPr>
        <p:spPr>
          <a:xfrm>
            <a:off x="9220200" y="4914900"/>
            <a:ext cx="1055688" cy="133350"/>
          </a:xfrm>
          <a:prstGeom prst="roundRect">
            <a:avLst>
              <a:gd name="adj" fmla="val 50000"/>
            </a:avLst>
          </a:prstGeom>
          <a:solidFill>
            <a:srgbClr val="1B777F"/>
          </a:solidFill>
          <a:ln w="0">
            <a:noFill/>
            <a:prstDash val="solid"/>
          </a:ln>
        </p:spPr>
        <p:txBody>
          <a:bodyPr/>
          <a:lstStyle/>
          <a:p>
            <a:endParaRPr lang="en-US"/>
          </a:p>
        </p:txBody>
      </p:sp>
      <p:sp>
        <p:nvSpPr>
          <p:cNvPr id="67" name="Rectangle 66">
            <a:extLst>
              <a:ext uri="{FF2B5EF4-FFF2-40B4-BE49-F238E27FC236}">
                <a16:creationId xmlns:a16="http://schemas.microsoft.com/office/drawing/2014/main" id="{B9F74915-026E-4D89-9C98-EF710AA2CD18}"/>
              </a:ext>
            </a:extLst>
          </p:cNvPr>
          <p:cNvSpPr>
            <a:spLocks noGrp="1"/>
          </p:cNvSpPr>
          <p:nvPr/>
        </p:nvSpPr>
        <p:spPr>
          <a:xfrm>
            <a:off x="10877550" y="4886325"/>
            <a:ext cx="666750" cy="171450"/>
          </a:xfrm>
          <a:prstGeom prst="rect">
            <a:avLst/>
          </a:prstGeom>
          <a:noFill/>
          <a:ln w="0">
            <a:noFill/>
            <a:prstDash val="solid"/>
          </a:ln>
        </p:spPr>
        <p:txBody>
          <a:bodyPr/>
          <a:lstStyle/>
          <a:p>
            <a:pPr algn="r">
              <a:defRPr sz="825" b="1" i="0">
                <a:solidFill>
                  <a:srgbClr val="1B777F"/>
                </a:solidFill>
                <a:latin typeface="Aptos"/>
                <a:ea typeface="Aptos"/>
                <a:cs typeface="Aptos"/>
              </a:defRPr>
            </a:pPr>
            <a:r>
              <a:rPr sz="825" b="1" i="0">
                <a:solidFill>
                  <a:srgbClr val="1B777F"/>
                </a:solidFill>
                <a:latin typeface="Aptos"/>
                <a:ea typeface="Aptos"/>
                <a:cs typeface="Aptos"/>
              </a:rPr>
              <a:t>10,50 %</a:t>
            </a:r>
          </a:p>
        </p:txBody>
      </p:sp>
      <p:sp>
        <p:nvSpPr>
          <p:cNvPr id="68" name="Rectangle 67">
            <a:extLst>
              <a:ext uri="{FF2B5EF4-FFF2-40B4-BE49-F238E27FC236}">
                <a16:creationId xmlns:a16="http://schemas.microsoft.com/office/drawing/2014/main" id="{768C2627-E0D0-42D1-8409-808518637559}"/>
              </a:ext>
            </a:extLst>
          </p:cNvPr>
          <p:cNvSpPr>
            <a:spLocks noGrp="1"/>
          </p:cNvSpPr>
          <p:nvPr/>
        </p:nvSpPr>
        <p:spPr>
          <a:xfrm>
            <a:off x="7791450" y="5381625"/>
            <a:ext cx="3733800" cy="9525"/>
          </a:xfrm>
          <a:prstGeom prst="rect">
            <a:avLst/>
          </a:prstGeom>
          <a:solidFill>
            <a:srgbClr val="D5E0E5"/>
          </a:solidFill>
          <a:ln w="0">
            <a:noFill/>
            <a:prstDash val="solid"/>
          </a:ln>
        </p:spPr>
        <p:txBody>
          <a:bodyPr/>
          <a:lstStyle/>
          <a:p>
            <a:endParaRPr lang="en-US"/>
          </a:p>
        </p:txBody>
      </p:sp>
      <p:sp>
        <p:nvSpPr>
          <p:cNvPr id="69" name="Rectangle 68">
            <a:extLst>
              <a:ext uri="{FF2B5EF4-FFF2-40B4-BE49-F238E27FC236}">
                <a16:creationId xmlns:a16="http://schemas.microsoft.com/office/drawing/2014/main" id="{F274480E-3B65-4D26-B14A-934AAED45DD5}"/>
              </a:ext>
            </a:extLst>
          </p:cNvPr>
          <p:cNvSpPr>
            <a:spLocks noGrp="1"/>
          </p:cNvSpPr>
          <p:nvPr/>
        </p:nvSpPr>
        <p:spPr>
          <a:xfrm>
            <a:off x="7791450" y="5495925"/>
            <a:ext cx="809625" cy="161925"/>
          </a:xfrm>
          <a:prstGeom prst="rect">
            <a:avLst/>
          </a:prstGeom>
          <a:noFill/>
          <a:ln w="0">
            <a:noFill/>
            <a:prstDash val="solid"/>
          </a:ln>
        </p:spPr>
        <p:txBody>
          <a:bodyPr/>
          <a:lstStyle/>
          <a:p>
            <a:pPr algn="l">
              <a:defRPr sz="788" b="1" i="0">
                <a:solidFill>
                  <a:srgbClr val="A52F4D"/>
                </a:solidFill>
                <a:latin typeface="Aptos"/>
                <a:ea typeface="Aptos"/>
                <a:cs typeface="Aptos"/>
              </a:defRPr>
            </a:pPr>
            <a:r>
              <a:rPr sz="788" b="1" i="0">
                <a:solidFill>
                  <a:srgbClr val="A52F4D"/>
                </a:solidFill>
                <a:latin typeface="Aptos"/>
                <a:ea typeface="Aptos"/>
                <a:cs typeface="Aptos"/>
              </a:rPr>
              <a:t>Einordnung</a:t>
            </a:r>
          </a:p>
        </p:txBody>
      </p:sp>
      <p:sp>
        <p:nvSpPr>
          <p:cNvPr id="70" name="Rectangle 69">
            <a:extLst>
              <a:ext uri="{FF2B5EF4-FFF2-40B4-BE49-F238E27FC236}">
                <a16:creationId xmlns:a16="http://schemas.microsoft.com/office/drawing/2014/main" id="{1BA78E04-E476-422C-8831-CBE8B94E0FCD}"/>
              </a:ext>
            </a:extLst>
          </p:cNvPr>
          <p:cNvSpPr>
            <a:spLocks noGrp="1"/>
          </p:cNvSpPr>
          <p:nvPr/>
        </p:nvSpPr>
        <p:spPr>
          <a:xfrm>
            <a:off x="8648700" y="5467350"/>
            <a:ext cx="2876550" cy="295275"/>
          </a:xfrm>
          <a:prstGeom prst="rect">
            <a:avLst/>
          </a:prstGeom>
          <a:noFill/>
          <a:ln w="0">
            <a:noFill/>
            <a:prstDash val="solid"/>
          </a:ln>
        </p:spPr>
        <p:txBody>
          <a:bodyPr/>
          <a:lstStyle/>
          <a:p>
            <a:pPr algn="l">
              <a:defRPr sz="863" b="0" i="0">
                <a:solidFill>
                  <a:srgbClr val="4F6875"/>
                </a:solidFill>
                <a:latin typeface="Aptos"/>
                <a:ea typeface="Aptos"/>
                <a:cs typeface="Aptos"/>
              </a:defRPr>
            </a:pPr>
            <a:r>
              <a:rPr sz="863" b="0" i="0">
                <a:solidFill>
                  <a:srgbClr val="4F6875"/>
                </a:solidFill>
                <a:latin typeface="Aptos"/>
                <a:ea typeface="Aptos"/>
                <a:cs typeface="Aptos"/>
              </a:rPr>
              <a:t>Alle Banken bleiben über 7,0 %; zwei Institute liegen jedoch nur knapp oberhalb des Pufferniveaus.</a:t>
            </a:r>
          </a:p>
        </p:txBody>
      </p:sp>
      <p:sp>
        <p:nvSpPr>
          <p:cNvPr id="71" name="Rectangle 70">
            <a:extLst>
              <a:ext uri="{FF2B5EF4-FFF2-40B4-BE49-F238E27FC236}">
                <a16:creationId xmlns:a16="http://schemas.microsoft.com/office/drawing/2014/main" id="{EFCDECF4-E796-43FA-91E7-7AAC340D2F9D}"/>
              </a:ext>
            </a:extLst>
          </p:cNvPr>
          <p:cNvSpPr>
            <a:spLocks noGrp="1"/>
          </p:cNvSpPr>
          <p:nvPr/>
        </p:nvSpPr>
        <p:spPr>
          <a:xfrm>
            <a:off x="457200" y="6486525"/>
            <a:ext cx="10382250" cy="152400"/>
          </a:xfrm>
          <a:prstGeom prst="rect">
            <a:avLst/>
          </a:prstGeom>
          <a:noFill/>
          <a:ln w="0">
            <a:noFill/>
            <a:prstDash val="solid"/>
          </a:ln>
        </p:spPr>
        <p:txBody>
          <a:bodyPr/>
          <a:lstStyle/>
          <a:p>
            <a:pPr algn="l">
              <a:defRPr sz="653" b="0" i="0">
                <a:solidFill>
                  <a:srgbClr val="71858F"/>
                </a:solidFill>
                <a:latin typeface="Aptos"/>
                <a:ea typeface="Aptos"/>
                <a:cs typeface="Aptos"/>
              </a:defRPr>
            </a:pPr>
            <a:r>
              <a:rPr sz="653" b="0" i="0">
                <a:solidFill>
                  <a:srgbClr val="71858F"/>
                </a:solidFill>
                <a:latin typeface="Aptos"/>
                <a:ea typeface="Aptos"/>
                <a:cs typeface="Aptos"/>
              </a:rPr>
              <a:t>Illustrativer Modellstress, keine regulatorische Prognose · Werte aus dem lokalen Modelllauf und EBA/Pillar-3-Daten</a:t>
            </a:r>
          </a:p>
        </p:txBody>
      </p:sp>
      <p:sp>
        <p:nvSpPr>
          <p:cNvPr id="5" name="CodexSlideNumber">
            <a:extLst>
              <a:ext uri="{FF2B5EF4-FFF2-40B4-BE49-F238E27FC236}">
                <a16:creationId xmlns:a16="http://schemas.microsoft.com/office/drawing/2014/main" id="{39A6057A-487B-DAF8-5069-20CB2B95F50B}"/>
              </a:ext>
            </a:extLst>
          </p:cNvPr>
          <p:cNvSpPr txBox="1"/>
          <p:nvPr/>
        </p:nvSpPr>
        <p:spPr>
          <a:xfrm>
            <a:off x="11226800" y="6553200"/>
            <a:ext cx="736600" cy="123111"/>
          </a:xfrm>
          <a:prstGeom prst="rect">
            <a:avLst/>
          </a:prstGeom>
          <a:noFill/>
        </p:spPr>
        <p:txBody>
          <a:bodyPr vert="horz" lIns="0" tIns="0" rIns="0" bIns="0" rtlCol="0">
            <a:spAutoFit/>
          </a:bodyPr>
          <a:lstStyle/>
          <a:p>
            <a:pPr algn="r"/>
            <a:r>
              <a:rPr lang="en-US" sz="800">
                <a:solidFill>
                  <a:srgbClr val="525252"/>
                </a:solidFill>
                <a:latin typeface="Arial" panose="020B0604020202020204" pitchFamily="34" charset="0"/>
              </a:rPr>
              <a:t>17 / 64</a:t>
            </a:r>
          </a:p>
        </p:txBody>
      </p:sp>
    </p:spTree>
    <p:extLst>
      <p:ext uri="{BB962C8B-B14F-4D97-AF65-F5344CB8AC3E}">
        <p14:creationId xmlns:p14="http://schemas.microsoft.com/office/powerpoint/2010/main" val="29692153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311FB41B-92D6-4129-91D7-A5AF25CEB5FF}"/>
              </a:ext>
            </a:extLst>
          </p:cNvPr>
          <p:cNvSpPr>
            <a:spLocks noGrp="1"/>
          </p:cNvSpPr>
          <p:nvPr/>
        </p:nvSpPr>
        <p:spPr>
          <a:xfrm>
            <a:off x="609600" y="499872"/>
            <a:ext cx="10096500" cy="438150"/>
          </a:xfrm>
          <a:prstGeom prst="rect">
            <a:avLst/>
          </a:prstGeom>
          <a:noFill/>
          <a:ln w="0">
            <a:noFill/>
            <a:prstDash val="solid"/>
          </a:ln>
        </p:spPr>
        <p:txBody>
          <a:bodyPr wrap="square" lIns="0" tIns="0" rIns="0" bIns="0" anchor="t"/>
          <a:lstStyle/>
          <a:p>
            <a:pPr algn="l">
              <a:defRPr sz="2475" b="1">
                <a:solidFill>
                  <a:srgbClr val="061D2D"/>
                </a:solidFill>
                <a:latin typeface="Aptos"/>
                <a:ea typeface="Aptos"/>
                <a:cs typeface="Aptos"/>
              </a:defRPr>
            </a:pPr>
            <a:r>
              <a:rPr sz="2475" b="1" dirty="0" err="1">
                <a:solidFill>
                  <a:srgbClr val="061D2D"/>
                </a:solidFill>
                <a:latin typeface="Aptos"/>
                <a:ea typeface="Aptos"/>
                <a:cs typeface="Aptos"/>
              </a:rPr>
              <a:t>Fünf</a:t>
            </a:r>
            <a:r>
              <a:rPr sz="2475" b="1" dirty="0">
                <a:solidFill>
                  <a:srgbClr val="061D2D"/>
                </a:solidFill>
                <a:latin typeface="Aptos"/>
                <a:ea typeface="Aptos"/>
                <a:cs typeface="Aptos"/>
              </a:rPr>
              <a:t> </a:t>
            </a:r>
            <a:r>
              <a:rPr sz="2475" b="1" dirty="0" err="1">
                <a:solidFill>
                  <a:srgbClr val="061D2D"/>
                </a:solidFill>
                <a:latin typeface="Aptos"/>
                <a:ea typeface="Aptos"/>
                <a:cs typeface="Aptos"/>
              </a:rPr>
              <a:t>Stufen</a:t>
            </a:r>
            <a:r>
              <a:rPr sz="2475" b="1" dirty="0">
                <a:solidFill>
                  <a:srgbClr val="061D2D"/>
                </a:solidFill>
                <a:latin typeface="Aptos"/>
                <a:ea typeface="Aptos"/>
                <a:cs typeface="Aptos"/>
              </a:rPr>
              <a:t> </a:t>
            </a:r>
            <a:r>
              <a:rPr sz="2475" b="1" dirty="0" err="1">
                <a:solidFill>
                  <a:srgbClr val="061D2D"/>
                </a:solidFill>
                <a:latin typeface="Aptos"/>
                <a:ea typeface="Aptos"/>
                <a:cs typeface="Aptos"/>
              </a:rPr>
              <a:t>übersetzen</a:t>
            </a:r>
            <a:r>
              <a:rPr sz="2475" b="1" dirty="0">
                <a:solidFill>
                  <a:srgbClr val="061D2D"/>
                </a:solidFill>
                <a:latin typeface="Aptos"/>
                <a:ea typeface="Aptos"/>
                <a:cs typeface="Aptos"/>
              </a:rPr>
              <a:t> den Stress in die CET1-Quote</a:t>
            </a:r>
          </a:p>
        </p:txBody>
      </p:sp>
      <p:sp>
        <p:nvSpPr>
          <p:cNvPr id="4" name="subtitle">
            <a:extLst>
              <a:ext uri="{FF2B5EF4-FFF2-40B4-BE49-F238E27FC236}">
                <a16:creationId xmlns:a16="http://schemas.microsoft.com/office/drawing/2014/main" id="{4A8EF409-155D-413F-A380-8F9AC974E77D}"/>
              </a:ext>
            </a:extLst>
          </p:cNvPr>
          <p:cNvSpPr>
            <a:spLocks noGrp="1"/>
          </p:cNvSpPr>
          <p:nvPr/>
        </p:nvSpPr>
        <p:spPr>
          <a:xfrm>
            <a:off x="609600" y="1314450"/>
            <a:ext cx="10287000" cy="304800"/>
          </a:xfrm>
          <a:prstGeom prst="rect">
            <a:avLst/>
          </a:prstGeom>
          <a:noFill/>
          <a:ln w="0">
            <a:noFill/>
            <a:prstDash val="solid"/>
          </a:ln>
        </p:spPr>
        <p:txBody>
          <a:bodyPr wrap="square" lIns="0" tIns="0" rIns="0" bIns="0" anchor="t"/>
          <a:lstStyle/>
          <a:p>
            <a:pPr algn="l">
              <a:defRPr sz="1350" b="0">
                <a:solidFill>
                  <a:srgbClr val="5F7F93"/>
                </a:solidFill>
                <a:latin typeface="Aptos"/>
                <a:ea typeface="Aptos"/>
                <a:cs typeface="Aptos"/>
              </a:defRPr>
            </a:pPr>
            <a:r>
              <a:rPr lang="en-US" sz="1350" b="0" err="1">
                <a:solidFill>
                  <a:srgbClr val="5F7F93"/>
                </a:solidFill>
                <a:latin typeface="Aptos"/>
                <a:ea typeface="Aptos"/>
                <a:cs typeface="Aptos"/>
              </a:rPr>
              <a:t>Szenario</a:t>
            </a:r>
            <a:r>
              <a:rPr sz="1350" b="0">
                <a:solidFill>
                  <a:srgbClr val="5F7F93"/>
                </a:solidFill>
                <a:latin typeface="Aptos"/>
                <a:ea typeface="Aptos"/>
                <a:cs typeface="Aptos"/>
              </a:rPr>
              <a:t>: </a:t>
            </a:r>
            <a:r>
              <a:rPr lang="en-US" sz="1350" b="0" err="1">
                <a:solidFill>
                  <a:srgbClr val="5F7F93"/>
                </a:solidFill>
                <a:latin typeface="Aptos"/>
                <a:ea typeface="Aptos"/>
                <a:cs typeface="Aptos"/>
              </a:rPr>
              <a:t>Ölpreis</a:t>
            </a:r>
            <a:r>
              <a:rPr sz="1350" b="0">
                <a:solidFill>
                  <a:srgbClr val="5F7F93"/>
                </a:solidFill>
                <a:latin typeface="Aptos"/>
                <a:ea typeface="Aptos"/>
                <a:cs typeface="Aptos"/>
              </a:rPr>
              <a:t> +65 % und 10J-Zins +2,00 pp </a:t>
            </a:r>
            <a:r>
              <a:rPr lang="en-US" sz="1350" b="0" err="1">
                <a:solidFill>
                  <a:srgbClr val="5F7F93"/>
                </a:solidFill>
                <a:latin typeface="Aptos"/>
                <a:ea typeface="Aptos"/>
                <a:cs typeface="Aptos"/>
              </a:rPr>
              <a:t>wirken</a:t>
            </a:r>
            <a:r>
              <a:rPr sz="1350" b="0">
                <a:solidFill>
                  <a:srgbClr val="5F7F93"/>
                </a:solidFill>
                <a:latin typeface="Aptos"/>
                <a:ea typeface="Aptos"/>
                <a:cs typeface="Aptos"/>
              </a:rPr>
              <a:t> </a:t>
            </a:r>
            <a:r>
              <a:rPr lang="en-US" sz="1350" b="0" err="1">
                <a:solidFill>
                  <a:srgbClr val="5F7F93"/>
                </a:solidFill>
                <a:latin typeface="Aptos"/>
                <a:ea typeface="Aptos"/>
                <a:cs typeface="Aptos"/>
              </a:rPr>
              <a:t>getrennt</a:t>
            </a:r>
            <a:r>
              <a:rPr sz="1350" b="0">
                <a:solidFill>
                  <a:srgbClr val="5F7F93"/>
                </a:solidFill>
                <a:latin typeface="Aptos"/>
                <a:ea typeface="Aptos"/>
                <a:cs typeface="Aptos"/>
              </a:rPr>
              <a:t>, </a:t>
            </a:r>
            <a:r>
              <a:rPr lang="en-US" sz="1350" b="0" err="1">
                <a:solidFill>
                  <a:srgbClr val="5F7F93"/>
                </a:solidFill>
                <a:latin typeface="Aptos"/>
                <a:ea typeface="Aptos"/>
                <a:cs typeface="Aptos"/>
              </a:rPr>
              <a:t>laufen</a:t>
            </a:r>
            <a:r>
              <a:rPr sz="1350" b="0">
                <a:solidFill>
                  <a:srgbClr val="5F7F93"/>
                </a:solidFill>
                <a:latin typeface="Aptos"/>
                <a:ea typeface="Aptos"/>
                <a:cs typeface="Aptos"/>
              </a:rPr>
              <a:t> </a:t>
            </a:r>
            <a:r>
              <a:rPr lang="en-US" sz="1350" b="0" err="1">
                <a:solidFill>
                  <a:srgbClr val="5F7F93"/>
                </a:solidFill>
                <a:latin typeface="Aptos"/>
                <a:ea typeface="Aptos"/>
                <a:cs typeface="Aptos"/>
              </a:rPr>
              <a:t>aber</a:t>
            </a:r>
            <a:r>
              <a:rPr sz="1350" b="0">
                <a:solidFill>
                  <a:srgbClr val="5F7F93"/>
                </a:solidFill>
                <a:latin typeface="Aptos"/>
                <a:ea typeface="Aptos"/>
                <a:cs typeface="Aptos"/>
              </a:rPr>
              <a:t> in </a:t>
            </a:r>
            <a:r>
              <a:rPr lang="en-US" sz="1350" b="0" err="1">
                <a:solidFill>
                  <a:srgbClr val="5F7F93"/>
                </a:solidFill>
                <a:latin typeface="Aptos"/>
                <a:ea typeface="Aptos"/>
                <a:cs typeface="Aptos"/>
              </a:rPr>
              <a:t>einer</a:t>
            </a:r>
            <a:r>
              <a:rPr sz="1350" b="0">
                <a:solidFill>
                  <a:srgbClr val="5F7F93"/>
                </a:solidFill>
                <a:latin typeface="Aptos"/>
                <a:ea typeface="Aptos"/>
                <a:cs typeface="Aptos"/>
              </a:rPr>
              <a:t> </a:t>
            </a:r>
            <a:r>
              <a:rPr lang="en-US" sz="1350" b="0" err="1">
                <a:solidFill>
                  <a:srgbClr val="5F7F93"/>
                </a:solidFill>
                <a:latin typeface="Aptos"/>
                <a:ea typeface="Aptos"/>
                <a:cs typeface="Aptos"/>
              </a:rPr>
              <a:t>gemeinsamen</a:t>
            </a:r>
            <a:r>
              <a:rPr sz="1350" b="0">
                <a:solidFill>
                  <a:srgbClr val="5F7F93"/>
                </a:solidFill>
                <a:latin typeface="Aptos"/>
                <a:ea typeface="Aptos"/>
                <a:cs typeface="Aptos"/>
              </a:rPr>
              <a:t> </a:t>
            </a:r>
            <a:r>
              <a:rPr lang="en-US" sz="1350" b="0" err="1">
                <a:solidFill>
                  <a:srgbClr val="5F7F93"/>
                </a:solidFill>
                <a:latin typeface="Aptos"/>
                <a:ea typeface="Aptos"/>
                <a:cs typeface="Aptos"/>
              </a:rPr>
              <a:t>Kapitalquote</a:t>
            </a:r>
            <a:r>
              <a:rPr sz="1350" b="0">
                <a:solidFill>
                  <a:srgbClr val="5F7F93"/>
                </a:solidFill>
                <a:latin typeface="Aptos"/>
                <a:ea typeface="Aptos"/>
                <a:cs typeface="Aptos"/>
              </a:rPr>
              <a:t> </a:t>
            </a:r>
            <a:r>
              <a:rPr lang="en-US" sz="1350" b="0" err="1">
                <a:solidFill>
                  <a:srgbClr val="5F7F93"/>
                </a:solidFill>
                <a:latin typeface="Aptos"/>
                <a:ea typeface="Aptos"/>
                <a:cs typeface="Aptos"/>
              </a:rPr>
              <a:t>zusammen</a:t>
            </a:r>
            <a:r>
              <a:rPr sz="1350" b="0">
                <a:solidFill>
                  <a:srgbClr val="5F7F93"/>
                </a:solidFill>
                <a:latin typeface="Aptos"/>
                <a:ea typeface="Aptos"/>
                <a:cs typeface="Aptos"/>
              </a:rPr>
              <a:t>.</a:t>
            </a:r>
          </a:p>
        </p:txBody>
      </p:sp>
      <p:sp>
        <p:nvSpPr>
          <p:cNvPr id="5" name="process-rail">
            <a:extLst>
              <a:ext uri="{FF2B5EF4-FFF2-40B4-BE49-F238E27FC236}">
                <a16:creationId xmlns:a16="http://schemas.microsoft.com/office/drawing/2014/main" id="{738CBAB6-428A-40B0-884A-FBAD2FCCCBF6}"/>
              </a:ext>
            </a:extLst>
          </p:cNvPr>
          <p:cNvSpPr>
            <a:spLocks noGrp="1"/>
          </p:cNvSpPr>
          <p:nvPr/>
        </p:nvSpPr>
        <p:spPr>
          <a:xfrm>
            <a:off x="914400" y="3362325"/>
            <a:ext cx="10353675" cy="57150"/>
          </a:xfrm>
          <a:prstGeom prst="rect">
            <a:avLst/>
          </a:prstGeom>
          <a:solidFill>
            <a:srgbClr val="C9D6DC"/>
          </a:solidFill>
          <a:ln w="9525">
            <a:solidFill>
              <a:srgbClr val="C9D6DC"/>
            </a:solidFill>
            <a:prstDash val="solid"/>
          </a:ln>
        </p:spPr>
        <p:txBody>
          <a:bodyPr/>
          <a:lstStyle/>
          <a:p>
            <a:endParaRPr lang="en-US"/>
          </a:p>
        </p:txBody>
      </p:sp>
      <p:sp>
        <p:nvSpPr>
          <p:cNvPr id="6" name="flow-arrow-1">
            <a:extLst>
              <a:ext uri="{FF2B5EF4-FFF2-40B4-BE49-F238E27FC236}">
                <a16:creationId xmlns:a16="http://schemas.microsoft.com/office/drawing/2014/main" id="{38DB50D3-7D87-4529-B09C-9721DAA468CE}"/>
              </a:ext>
            </a:extLst>
          </p:cNvPr>
          <p:cNvSpPr>
            <a:spLocks noGrp="1"/>
          </p:cNvSpPr>
          <p:nvPr/>
        </p:nvSpPr>
        <p:spPr>
          <a:xfrm>
            <a:off x="2609850" y="3295650"/>
            <a:ext cx="200025" cy="190500"/>
          </a:xfrm>
          <a:prstGeom prst="rightArrow">
            <a:avLst/>
          </a:prstGeom>
          <a:solidFill>
            <a:srgbClr val="5F7F93"/>
          </a:solidFill>
          <a:ln w="9525">
            <a:solidFill>
              <a:srgbClr val="5F7F93"/>
            </a:solidFill>
            <a:prstDash val="solid"/>
          </a:ln>
        </p:spPr>
        <p:txBody>
          <a:bodyPr/>
          <a:lstStyle/>
          <a:p>
            <a:endParaRPr lang="en-US"/>
          </a:p>
        </p:txBody>
      </p:sp>
      <p:sp>
        <p:nvSpPr>
          <p:cNvPr id="7" name="flow-arrow-2">
            <a:extLst>
              <a:ext uri="{FF2B5EF4-FFF2-40B4-BE49-F238E27FC236}">
                <a16:creationId xmlns:a16="http://schemas.microsoft.com/office/drawing/2014/main" id="{B226866C-93AB-4D59-B036-10D58DEF337F}"/>
              </a:ext>
            </a:extLst>
          </p:cNvPr>
          <p:cNvSpPr>
            <a:spLocks noGrp="1"/>
          </p:cNvSpPr>
          <p:nvPr/>
        </p:nvSpPr>
        <p:spPr>
          <a:xfrm>
            <a:off x="4829175" y="3295650"/>
            <a:ext cx="200025" cy="190500"/>
          </a:xfrm>
          <a:prstGeom prst="rightArrow">
            <a:avLst/>
          </a:prstGeom>
          <a:solidFill>
            <a:srgbClr val="5F7F93"/>
          </a:solidFill>
          <a:ln w="9525">
            <a:solidFill>
              <a:srgbClr val="5F7F93"/>
            </a:solidFill>
            <a:prstDash val="solid"/>
          </a:ln>
        </p:spPr>
        <p:txBody>
          <a:bodyPr/>
          <a:lstStyle/>
          <a:p>
            <a:endParaRPr lang="en-US"/>
          </a:p>
        </p:txBody>
      </p:sp>
      <p:sp>
        <p:nvSpPr>
          <p:cNvPr id="8" name="flow-arrow-3">
            <a:extLst>
              <a:ext uri="{FF2B5EF4-FFF2-40B4-BE49-F238E27FC236}">
                <a16:creationId xmlns:a16="http://schemas.microsoft.com/office/drawing/2014/main" id="{196F2A7E-7863-403B-BEAF-8AAB1F048BF1}"/>
              </a:ext>
            </a:extLst>
          </p:cNvPr>
          <p:cNvSpPr>
            <a:spLocks noGrp="1"/>
          </p:cNvSpPr>
          <p:nvPr/>
        </p:nvSpPr>
        <p:spPr>
          <a:xfrm>
            <a:off x="7048500" y="3295650"/>
            <a:ext cx="200025" cy="190500"/>
          </a:xfrm>
          <a:prstGeom prst="rightArrow">
            <a:avLst/>
          </a:prstGeom>
          <a:solidFill>
            <a:srgbClr val="5F7F93"/>
          </a:solidFill>
          <a:ln w="9525">
            <a:solidFill>
              <a:srgbClr val="5F7F93"/>
            </a:solidFill>
            <a:prstDash val="solid"/>
          </a:ln>
        </p:spPr>
        <p:txBody>
          <a:bodyPr/>
          <a:lstStyle/>
          <a:p>
            <a:endParaRPr lang="en-US"/>
          </a:p>
        </p:txBody>
      </p:sp>
      <p:sp>
        <p:nvSpPr>
          <p:cNvPr id="9" name="flow-arrow-4">
            <a:extLst>
              <a:ext uri="{FF2B5EF4-FFF2-40B4-BE49-F238E27FC236}">
                <a16:creationId xmlns:a16="http://schemas.microsoft.com/office/drawing/2014/main" id="{494F0F0B-044F-4B9A-AD2A-283069FEABE1}"/>
              </a:ext>
            </a:extLst>
          </p:cNvPr>
          <p:cNvSpPr>
            <a:spLocks noGrp="1"/>
          </p:cNvSpPr>
          <p:nvPr/>
        </p:nvSpPr>
        <p:spPr>
          <a:xfrm>
            <a:off x="9267825" y="3295650"/>
            <a:ext cx="200025" cy="190500"/>
          </a:xfrm>
          <a:prstGeom prst="rightArrow">
            <a:avLst/>
          </a:prstGeom>
          <a:solidFill>
            <a:srgbClr val="5F7F93"/>
          </a:solidFill>
          <a:ln w="9525">
            <a:solidFill>
              <a:srgbClr val="5F7F93"/>
            </a:solidFill>
            <a:prstDash val="solid"/>
          </a:ln>
        </p:spPr>
        <p:txBody>
          <a:bodyPr/>
          <a:lstStyle/>
          <a:p>
            <a:endParaRPr lang="en-US"/>
          </a:p>
        </p:txBody>
      </p:sp>
      <p:sp>
        <p:nvSpPr>
          <p:cNvPr id="10" name="stage-1-card">
            <a:extLst>
              <a:ext uri="{FF2B5EF4-FFF2-40B4-BE49-F238E27FC236}">
                <a16:creationId xmlns:a16="http://schemas.microsoft.com/office/drawing/2014/main" id="{EFF1C45B-D65C-42C0-B85E-3E207EA8BFFF}"/>
              </a:ext>
            </a:extLst>
          </p:cNvPr>
          <p:cNvSpPr>
            <a:spLocks noGrp="1"/>
          </p:cNvSpPr>
          <p:nvPr/>
        </p:nvSpPr>
        <p:spPr>
          <a:xfrm>
            <a:off x="609600" y="2019300"/>
            <a:ext cx="1981200" cy="2800350"/>
          </a:xfrm>
          <a:prstGeom prst="roundRect">
            <a:avLst>
              <a:gd name="adj" fmla="val 3846"/>
            </a:avLst>
          </a:prstGeom>
          <a:solidFill>
            <a:srgbClr val="FFFFFF"/>
          </a:solidFill>
          <a:ln w="9525">
            <a:solidFill>
              <a:srgbClr val="D9E2E7"/>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11" name="stage-1-accent">
            <a:extLst>
              <a:ext uri="{FF2B5EF4-FFF2-40B4-BE49-F238E27FC236}">
                <a16:creationId xmlns:a16="http://schemas.microsoft.com/office/drawing/2014/main" id="{16602E74-4702-46ED-A2B3-D95ABB831A41}"/>
              </a:ext>
            </a:extLst>
          </p:cNvPr>
          <p:cNvSpPr>
            <a:spLocks noGrp="1"/>
          </p:cNvSpPr>
          <p:nvPr/>
        </p:nvSpPr>
        <p:spPr>
          <a:xfrm>
            <a:off x="609600" y="2019300"/>
            <a:ext cx="1981200" cy="66675"/>
          </a:xfrm>
          <a:prstGeom prst="rect">
            <a:avLst/>
          </a:prstGeom>
          <a:solidFill>
            <a:srgbClr val="D1AC22"/>
          </a:solidFill>
          <a:ln w="9525">
            <a:solidFill>
              <a:srgbClr val="D1AC22"/>
            </a:solidFill>
            <a:prstDash val="solid"/>
          </a:ln>
        </p:spPr>
        <p:txBody>
          <a:bodyPr/>
          <a:lstStyle/>
          <a:p>
            <a:endParaRPr lang="en-US"/>
          </a:p>
        </p:txBody>
      </p:sp>
      <p:sp>
        <p:nvSpPr>
          <p:cNvPr id="12" name="step-1-badge">
            <a:extLst>
              <a:ext uri="{FF2B5EF4-FFF2-40B4-BE49-F238E27FC236}">
                <a16:creationId xmlns:a16="http://schemas.microsoft.com/office/drawing/2014/main" id="{0353A9D3-CC57-4113-B3DA-94977D1D6B24}"/>
              </a:ext>
            </a:extLst>
          </p:cNvPr>
          <p:cNvSpPr>
            <a:spLocks noGrp="1"/>
          </p:cNvSpPr>
          <p:nvPr/>
        </p:nvSpPr>
        <p:spPr>
          <a:xfrm>
            <a:off x="742950" y="2190750"/>
            <a:ext cx="342900" cy="342900"/>
          </a:xfrm>
          <a:prstGeom prst="ellipse">
            <a:avLst/>
          </a:prstGeom>
          <a:solidFill>
            <a:srgbClr val="D1AC22"/>
          </a:solidFill>
          <a:ln w="9525">
            <a:solidFill>
              <a:srgbClr val="D1AC22"/>
            </a:solidFill>
            <a:prstDash val="solid"/>
          </a:ln>
        </p:spPr>
        <p:txBody>
          <a:bodyPr lIns="0" tIns="0" rIns="0" bIns="0" anchor="ctr"/>
          <a:lstStyle/>
          <a:p>
            <a:pPr algn="ctr">
              <a:defRPr sz="1275" b="1">
                <a:solidFill>
                  <a:srgbClr val="FFFFFF"/>
                </a:solidFill>
                <a:latin typeface="Aptos"/>
                <a:ea typeface="Aptos"/>
                <a:cs typeface="Aptos"/>
              </a:defRPr>
            </a:pPr>
            <a:r>
              <a:rPr sz="1275" b="1">
                <a:solidFill>
                  <a:srgbClr val="FFFFFF"/>
                </a:solidFill>
                <a:latin typeface="Aptos"/>
                <a:ea typeface="Aptos"/>
                <a:cs typeface="Aptos"/>
              </a:rPr>
              <a:t>1</a:t>
            </a:r>
          </a:p>
        </p:txBody>
      </p:sp>
      <p:sp>
        <p:nvSpPr>
          <p:cNvPr id="13" name="stage-1-title">
            <a:extLst>
              <a:ext uri="{FF2B5EF4-FFF2-40B4-BE49-F238E27FC236}">
                <a16:creationId xmlns:a16="http://schemas.microsoft.com/office/drawing/2014/main" id="{814F8003-8A19-45DE-A106-EB31436E2184}"/>
              </a:ext>
            </a:extLst>
          </p:cNvPr>
          <p:cNvSpPr>
            <a:spLocks noGrp="1"/>
          </p:cNvSpPr>
          <p:nvPr/>
        </p:nvSpPr>
        <p:spPr>
          <a:xfrm>
            <a:off x="1181100" y="2171700"/>
            <a:ext cx="1257300" cy="514350"/>
          </a:xfrm>
          <a:prstGeom prst="rect">
            <a:avLst/>
          </a:prstGeom>
          <a:noFill/>
          <a:ln w="0">
            <a:noFill/>
            <a:prstDash val="solid"/>
          </a:ln>
        </p:spPr>
        <p:txBody>
          <a:bodyPr wrap="square" lIns="0" tIns="0" rIns="0" bIns="0" anchor="ctr"/>
          <a:lstStyle/>
          <a:p>
            <a:pPr algn="l">
              <a:defRPr sz="1350" b="1">
                <a:solidFill>
                  <a:srgbClr val="061D2D"/>
                </a:solidFill>
                <a:latin typeface="Aptos"/>
                <a:ea typeface="Aptos"/>
                <a:cs typeface="Aptos"/>
              </a:defRPr>
            </a:pPr>
            <a:r>
              <a:rPr sz="1350" b="1">
                <a:solidFill>
                  <a:srgbClr val="061D2D"/>
                </a:solidFill>
                <a:latin typeface="Aptos"/>
                <a:ea typeface="Aptos"/>
                <a:cs typeface="Aptos"/>
              </a:rPr>
              <a:t>Stressimpuls </a:t>
            </a:r>
            <a:r>
              <a:rPr lang="en-US" sz="1350" b="1" err="1">
                <a:solidFill>
                  <a:srgbClr val="061D2D"/>
                </a:solidFill>
                <a:latin typeface="Aptos"/>
                <a:ea typeface="Aptos"/>
                <a:cs typeface="Aptos"/>
              </a:rPr>
              <a:t>setzen</a:t>
            </a:r>
            <a:endParaRPr sz="1350" b="1">
              <a:solidFill>
                <a:srgbClr val="061D2D"/>
              </a:solidFill>
              <a:latin typeface="Aptos"/>
              <a:ea typeface="Aptos"/>
              <a:cs typeface="Aptos"/>
            </a:endParaRPr>
          </a:p>
        </p:txBody>
      </p:sp>
      <p:sp>
        <p:nvSpPr>
          <p:cNvPr id="14" name="oil-shock-pill">
            <a:extLst>
              <a:ext uri="{FF2B5EF4-FFF2-40B4-BE49-F238E27FC236}">
                <a16:creationId xmlns:a16="http://schemas.microsoft.com/office/drawing/2014/main" id="{358B4421-26D7-4A6F-91F7-14E4BC42D1D8}"/>
              </a:ext>
            </a:extLst>
          </p:cNvPr>
          <p:cNvSpPr>
            <a:spLocks noGrp="1"/>
          </p:cNvSpPr>
          <p:nvPr/>
        </p:nvSpPr>
        <p:spPr>
          <a:xfrm>
            <a:off x="781050" y="2914650"/>
            <a:ext cx="1638300" cy="438150"/>
          </a:xfrm>
          <a:prstGeom prst="roundRect">
            <a:avLst>
              <a:gd name="adj" fmla="val 39130"/>
            </a:avLst>
          </a:prstGeom>
          <a:solidFill>
            <a:srgbClr val="D1AC22"/>
          </a:solidFill>
          <a:ln w="9525">
            <a:solidFill>
              <a:srgbClr val="D1AC22"/>
            </a:solidFill>
            <a:prstDash val="solid"/>
          </a:ln>
        </p:spPr>
        <p:txBody>
          <a:bodyPr wrap="square" lIns="76200" tIns="28575" rIns="76200" bIns="28575" anchor="ctr"/>
          <a:lstStyle/>
          <a:p>
            <a:pPr algn="ctr">
              <a:defRPr sz="1425" b="1">
                <a:solidFill>
                  <a:srgbClr val="101010"/>
                </a:solidFill>
                <a:latin typeface="Aptos"/>
                <a:ea typeface="Aptos"/>
                <a:cs typeface="Aptos"/>
              </a:defRPr>
            </a:pPr>
            <a:r>
              <a:rPr sz="1425" b="1">
                <a:solidFill>
                  <a:srgbClr val="101010"/>
                </a:solidFill>
                <a:latin typeface="Aptos"/>
                <a:ea typeface="Aptos"/>
                <a:cs typeface="Aptos"/>
              </a:rPr>
              <a:t>Ölpreis +65 %</a:t>
            </a:r>
          </a:p>
        </p:txBody>
      </p:sp>
      <p:sp>
        <p:nvSpPr>
          <p:cNvPr id="15" name="rate-shock-pill">
            <a:extLst>
              <a:ext uri="{FF2B5EF4-FFF2-40B4-BE49-F238E27FC236}">
                <a16:creationId xmlns:a16="http://schemas.microsoft.com/office/drawing/2014/main" id="{A1CE09F5-F9E1-428D-BC1E-16116BA92672}"/>
              </a:ext>
            </a:extLst>
          </p:cNvPr>
          <p:cNvSpPr>
            <a:spLocks noGrp="1"/>
          </p:cNvSpPr>
          <p:nvPr/>
        </p:nvSpPr>
        <p:spPr>
          <a:xfrm>
            <a:off x="781050" y="3486150"/>
            <a:ext cx="1638300" cy="438150"/>
          </a:xfrm>
          <a:prstGeom prst="roundRect">
            <a:avLst>
              <a:gd name="adj" fmla="val 39130"/>
            </a:avLst>
          </a:prstGeom>
          <a:solidFill>
            <a:srgbClr val="B02A50"/>
          </a:solidFill>
          <a:ln w="9525">
            <a:solidFill>
              <a:srgbClr val="B02A50"/>
            </a:solidFill>
            <a:prstDash val="solid"/>
          </a:ln>
        </p:spPr>
        <p:txBody>
          <a:bodyPr wrap="square" lIns="76200" tIns="28575" rIns="76200" bIns="28575" anchor="ctr"/>
          <a:lstStyle/>
          <a:p>
            <a:pPr algn="ctr">
              <a:defRPr sz="1350" b="1">
                <a:solidFill>
                  <a:srgbClr val="FFFFFF"/>
                </a:solidFill>
                <a:latin typeface="Aptos"/>
                <a:ea typeface="Aptos"/>
                <a:cs typeface="Aptos"/>
              </a:defRPr>
            </a:pPr>
            <a:r>
              <a:rPr sz="1350" b="1">
                <a:solidFill>
                  <a:srgbClr val="FFFFFF"/>
                </a:solidFill>
                <a:latin typeface="Aptos"/>
                <a:ea typeface="Aptos"/>
                <a:cs typeface="Aptos"/>
              </a:rPr>
              <a:t>10J-Zins +2,00 pp</a:t>
            </a:r>
          </a:p>
        </p:txBody>
      </p:sp>
      <p:sp>
        <p:nvSpPr>
          <p:cNvPr id="16" name="shock-caption">
            <a:extLst>
              <a:ext uri="{FF2B5EF4-FFF2-40B4-BE49-F238E27FC236}">
                <a16:creationId xmlns:a16="http://schemas.microsoft.com/office/drawing/2014/main" id="{76F7B9D9-7BFA-4F69-BBE1-9AEF1949D7E6}"/>
              </a:ext>
            </a:extLst>
          </p:cNvPr>
          <p:cNvSpPr>
            <a:spLocks noGrp="1"/>
          </p:cNvSpPr>
          <p:nvPr/>
        </p:nvSpPr>
        <p:spPr>
          <a:xfrm>
            <a:off x="781050" y="4114800"/>
            <a:ext cx="1638300" cy="457200"/>
          </a:xfrm>
          <a:prstGeom prst="rect">
            <a:avLst/>
          </a:prstGeom>
          <a:noFill/>
          <a:ln w="0">
            <a:noFill/>
            <a:prstDash val="solid"/>
          </a:ln>
        </p:spPr>
        <p:txBody>
          <a:bodyPr wrap="square" lIns="0" tIns="0" rIns="0" bIns="0" anchor="t"/>
          <a:lstStyle/>
          <a:p>
            <a:pPr algn="ctr">
              <a:defRPr sz="1050" b="0">
                <a:solidFill>
                  <a:srgbClr val="5F7F93"/>
                </a:solidFill>
                <a:latin typeface="Aptos"/>
                <a:ea typeface="Aptos"/>
                <a:cs typeface="Aptos"/>
              </a:defRPr>
            </a:pPr>
            <a:r>
              <a:rPr sz="1050" b="0">
                <a:solidFill>
                  <a:srgbClr val="5F7F93"/>
                </a:solidFill>
                <a:latin typeface="Aptos"/>
                <a:ea typeface="Aptos"/>
                <a:cs typeface="Aptos"/>
              </a:rPr>
              <a:t>Zwei unabhängige Makrotreiber starten denselben CET1-Prozess.</a:t>
            </a:r>
          </a:p>
        </p:txBody>
      </p:sp>
      <p:sp>
        <p:nvSpPr>
          <p:cNvPr id="17" name="stage-2-card">
            <a:extLst>
              <a:ext uri="{FF2B5EF4-FFF2-40B4-BE49-F238E27FC236}">
                <a16:creationId xmlns:a16="http://schemas.microsoft.com/office/drawing/2014/main" id="{CA6D91A4-5866-4963-A95E-3BE6257EE7CB}"/>
              </a:ext>
            </a:extLst>
          </p:cNvPr>
          <p:cNvSpPr>
            <a:spLocks noGrp="1"/>
          </p:cNvSpPr>
          <p:nvPr/>
        </p:nvSpPr>
        <p:spPr>
          <a:xfrm>
            <a:off x="2828925" y="2019300"/>
            <a:ext cx="1981200" cy="2800350"/>
          </a:xfrm>
          <a:prstGeom prst="roundRect">
            <a:avLst>
              <a:gd name="adj" fmla="val 3846"/>
            </a:avLst>
          </a:prstGeom>
          <a:solidFill>
            <a:srgbClr val="FFFFFF"/>
          </a:solidFill>
          <a:ln w="9525">
            <a:solidFill>
              <a:srgbClr val="D9E2E7"/>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18" name="stage-2-accent">
            <a:extLst>
              <a:ext uri="{FF2B5EF4-FFF2-40B4-BE49-F238E27FC236}">
                <a16:creationId xmlns:a16="http://schemas.microsoft.com/office/drawing/2014/main" id="{ACC33A38-E9CC-4F52-8B9A-7E9F708509EB}"/>
              </a:ext>
            </a:extLst>
          </p:cNvPr>
          <p:cNvSpPr>
            <a:spLocks noGrp="1"/>
          </p:cNvSpPr>
          <p:nvPr/>
        </p:nvSpPr>
        <p:spPr>
          <a:xfrm>
            <a:off x="2828925" y="2019300"/>
            <a:ext cx="1981200" cy="66675"/>
          </a:xfrm>
          <a:prstGeom prst="rect">
            <a:avLst/>
          </a:prstGeom>
          <a:solidFill>
            <a:srgbClr val="005174"/>
          </a:solidFill>
          <a:ln w="9525">
            <a:solidFill>
              <a:srgbClr val="005174"/>
            </a:solidFill>
            <a:prstDash val="solid"/>
          </a:ln>
        </p:spPr>
        <p:txBody>
          <a:bodyPr/>
          <a:lstStyle/>
          <a:p>
            <a:endParaRPr lang="en-US"/>
          </a:p>
        </p:txBody>
      </p:sp>
      <p:sp>
        <p:nvSpPr>
          <p:cNvPr id="19" name="step-2-badge">
            <a:extLst>
              <a:ext uri="{FF2B5EF4-FFF2-40B4-BE49-F238E27FC236}">
                <a16:creationId xmlns:a16="http://schemas.microsoft.com/office/drawing/2014/main" id="{2C436CCF-7631-4BB4-AB40-0B4E2DC5795E}"/>
              </a:ext>
            </a:extLst>
          </p:cNvPr>
          <p:cNvSpPr>
            <a:spLocks noGrp="1"/>
          </p:cNvSpPr>
          <p:nvPr/>
        </p:nvSpPr>
        <p:spPr>
          <a:xfrm>
            <a:off x="2962275" y="2190750"/>
            <a:ext cx="342900" cy="342900"/>
          </a:xfrm>
          <a:prstGeom prst="ellipse">
            <a:avLst/>
          </a:prstGeom>
          <a:solidFill>
            <a:srgbClr val="005174"/>
          </a:solidFill>
          <a:ln w="9525">
            <a:solidFill>
              <a:srgbClr val="005174"/>
            </a:solidFill>
            <a:prstDash val="solid"/>
          </a:ln>
        </p:spPr>
        <p:txBody>
          <a:bodyPr lIns="0" tIns="0" rIns="0" bIns="0" anchor="ctr"/>
          <a:lstStyle/>
          <a:p>
            <a:pPr algn="ctr">
              <a:defRPr sz="1275" b="1">
                <a:solidFill>
                  <a:srgbClr val="FFFFFF"/>
                </a:solidFill>
                <a:latin typeface="Aptos"/>
                <a:ea typeface="Aptos"/>
                <a:cs typeface="Aptos"/>
              </a:defRPr>
            </a:pPr>
            <a:r>
              <a:rPr sz="1275" b="1">
                <a:solidFill>
                  <a:srgbClr val="FFFFFF"/>
                </a:solidFill>
                <a:latin typeface="Aptos"/>
                <a:ea typeface="Aptos"/>
                <a:cs typeface="Aptos"/>
              </a:rPr>
              <a:t>2</a:t>
            </a:r>
          </a:p>
        </p:txBody>
      </p:sp>
      <p:sp>
        <p:nvSpPr>
          <p:cNvPr id="20" name="stage-2-title">
            <a:extLst>
              <a:ext uri="{FF2B5EF4-FFF2-40B4-BE49-F238E27FC236}">
                <a16:creationId xmlns:a16="http://schemas.microsoft.com/office/drawing/2014/main" id="{AB3351D7-4B21-45FA-9C09-D07152762AD1}"/>
              </a:ext>
            </a:extLst>
          </p:cNvPr>
          <p:cNvSpPr>
            <a:spLocks noGrp="1"/>
          </p:cNvSpPr>
          <p:nvPr/>
        </p:nvSpPr>
        <p:spPr>
          <a:xfrm>
            <a:off x="3400425" y="2171700"/>
            <a:ext cx="1257300" cy="514350"/>
          </a:xfrm>
          <a:prstGeom prst="rect">
            <a:avLst/>
          </a:prstGeom>
          <a:noFill/>
          <a:ln w="0">
            <a:noFill/>
            <a:prstDash val="solid"/>
          </a:ln>
        </p:spPr>
        <p:txBody>
          <a:bodyPr wrap="square" lIns="0" tIns="0" rIns="0" bIns="0" anchor="ctr"/>
          <a:lstStyle/>
          <a:p>
            <a:pPr algn="l">
              <a:defRPr sz="1350" b="1">
                <a:solidFill>
                  <a:srgbClr val="061D2D"/>
                </a:solidFill>
                <a:latin typeface="Aptos"/>
                <a:ea typeface="Aptos"/>
                <a:cs typeface="Aptos"/>
              </a:defRPr>
            </a:pPr>
            <a:r>
              <a:rPr sz="1350" b="1">
                <a:solidFill>
                  <a:srgbClr val="061D2D"/>
                </a:solidFill>
                <a:latin typeface="Aptos"/>
                <a:ea typeface="Aptos"/>
                <a:cs typeface="Aptos"/>
              </a:rPr>
              <a:t>Bankdaten fixieren</a:t>
            </a:r>
          </a:p>
        </p:txBody>
      </p:sp>
      <p:sp>
        <p:nvSpPr>
          <p:cNvPr id="21" name="stage-2-body">
            <a:extLst>
              <a:ext uri="{FF2B5EF4-FFF2-40B4-BE49-F238E27FC236}">
                <a16:creationId xmlns:a16="http://schemas.microsoft.com/office/drawing/2014/main" id="{FD580748-7F6B-442C-BFB3-BFA9AE1DA65C}"/>
              </a:ext>
            </a:extLst>
          </p:cNvPr>
          <p:cNvSpPr>
            <a:spLocks noGrp="1"/>
          </p:cNvSpPr>
          <p:nvPr/>
        </p:nvSpPr>
        <p:spPr>
          <a:xfrm>
            <a:off x="3000375" y="3009900"/>
            <a:ext cx="1638300" cy="1352550"/>
          </a:xfrm>
          <a:prstGeom prst="rect">
            <a:avLst/>
          </a:prstGeom>
          <a:noFill/>
          <a:ln w="0">
            <a:noFill/>
            <a:prstDash val="solid"/>
          </a:ln>
        </p:spPr>
        <p:txBody>
          <a:bodyPr wrap="square" lIns="0" tIns="0" rIns="0" bIns="0" anchor="ctr"/>
          <a:lstStyle/>
          <a:p>
            <a:pPr algn="ctr">
              <a:defRPr sz="1125" b="0">
                <a:solidFill>
                  <a:srgbClr val="061D2D"/>
                </a:solidFill>
                <a:latin typeface="Aptos"/>
                <a:ea typeface="Aptos"/>
                <a:cs typeface="Aptos"/>
              </a:defRPr>
            </a:pPr>
            <a:r>
              <a:rPr sz="1125" b="0">
                <a:solidFill>
                  <a:srgbClr val="061D2D"/>
                </a:solidFill>
                <a:latin typeface="Aptos"/>
                <a:ea typeface="Aptos"/>
                <a:cs typeface="Aptos"/>
              </a:rPr>
              <a:t>EAD, PD, LGD und Sovereign-Buckets bilden die Ausgangsbasis je Bank.</a:t>
            </a:r>
          </a:p>
        </p:txBody>
      </p:sp>
      <p:sp>
        <p:nvSpPr>
          <p:cNvPr id="22" name="stage-3-card">
            <a:extLst>
              <a:ext uri="{FF2B5EF4-FFF2-40B4-BE49-F238E27FC236}">
                <a16:creationId xmlns:a16="http://schemas.microsoft.com/office/drawing/2014/main" id="{13A2789D-24B0-4164-9AD1-A57919D3EDD0}"/>
              </a:ext>
            </a:extLst>
          </p:cNvPr>
          <p:cNvSpPr>
            <a:spLocks noGrp="1"/>
          </p:cNvSpPr>
          <p:nvPr/>
        </p:nvSpPr>
        <p:spPr>
          <a:xfrm>
            <a:off x="5048250" y="2019300"/>
            <a:ext cx="1981200" cy="2800350"/>
          </a:xfrm>
          <a:prstGeom prst="roundRect">
            <a:avLst>
              <a:gd name="adj" fmla="val 3846"/>
            </a:avLst>
          </a:prstGeom>
          <a:solidFill>
            <a:srgbClr val="FFFFFF"/>
          </a:solidFill>
          <a:ln w="9525">
            <a:solidFill>
              <a:srgbClr val="D9E2E7"/>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23" name="stage-3-accent">
            <a:extLst>
              <a:ext uri="{FF2B5EF4-FFF2-40B4-BE49-F238E27FC236}">
                <a16:creationId xmlns:a16="http://schemas.microsoft.com/office/drawing/2014/main" id="{A877723F-0BD2-4BCF-8EFE-CB6F6BC21106}"/>
              </a:ext>
            </a:extLst>
          </p:cNvPr>
          <p:cNvSpPr>
            <a:spLocks noGrp="1"/>
          </p:cNvSpPr>
          <p:nvPr/>
        </p:nvSpPr>
        <p:spPr>
          <a:xfrm>
            <a:off x="5048250" y="2019300"/>
            <a:ext cx="1981200" cy="66675"/>
          </a:xfrm>
          <a:prstGeom prst="rect">
            <a:avLst/>
          </a:prstGeom>
          <a:solidFill>
            <a:srgbClr val="08A9A5"/>
          </a:solidFill>
          <a:ln w="9525">
            <a:solidFill>
              <a:srgbClr val="08A9A5"/>
            </a:solidFill>
            <a:prstDash val="solid"/>
          </a:ln>
        </p:spPr>
        <p:txBody>
          <a:bodyPr/>
          <a:lstStyle/>
          <a:p>
            <a:endParaRPr lang="en-US"/>
          </a:p>
        </p:txBody>
      </p:sp>
      <p:sp>
        <p:nvSpPr>
          <p:cNvPr id="24" name="step-3-badge">
            <a:extLst>
              <a:ext uri="{FF2B5EF4-FFF2-40B4-BE49-F238E27FC236}">
                <a16:creationId xmlns:a16="http://schemas.microsoft.com/office/drawing/2014/main" id="{66099C88-5673-4507-BFA3-3B5EF2B35A2E}"/>
              </a:ext>
            </a:extLst>
          </p:cNvPr>
          <p:cNvSpPr>
            <a:spLocks noGrp="1"/>
          </p:cNvSpPr>
          <p:nvPr/>
        </p:nvSpPr>
        <p:spPr>
          <a:xfrm>
            <a:off x="5181600" y="2190750"/>
            <a:ext cx="342900" cy="342900"/>
          </a:xfrm>
          <a:prstGeom prst="ellipse">
            <a:avLst/>
          </a:prstGeom>
          <a:solidFill>
            <a:srgbClr val="08A9A5"/>
          </a:solidFill>
          <a:ln w="9525">
            <a:solidFill>
              <a:srgbClr val="08A9A5"/>
            </a:solidFill>
            <a:prstDash val="solid"/>
          </a:ln>
        </p:spPr>
        <p:txBody>
          <a:bodyPr lIns="0" tIns="0" rIns="0" bIns="0" anchor="ctr"/>
          <a:lstStyle/>
          <a:p>
            <a:pPr algn="ctr">
              <a:defRPr sz="1275" b="1">
                <a:solidFill>
                  <a:srgbClr val="FFFFFF"/>
                </a:solidFill>
                <a:latin typeface="Aptos"/>
                <a:ea typeface="Aptos"/>
                <a:cs typeface="Aptos"/>
              </a:defRPr>
            </a:pPr>
            <a:r>
              <a:rPr sz="1275" b="1">
                <a:solidFill>
                  <a:srgbClr val="FFFFFF"/>
                </a:solidFill>
                <a:latin typeface="Aptos"/>
                <a:ea typeface="Aptos"/>
                <a:cs typeface="Aptos"/>
              </a:rPr>
              <a:t>3</a:t>
            </a:r>
          </a:p>
        </p:txBody>
      </p:sp>
      <p:sp>
        <p:nvSpPr>
          <p:cNvPr id="25" name="stage-3-title">
            <a:extLst>
              <a:ext uri="{FF2B5EF4-FFF2-40B4-BE49-F238E27FC236}">
                <a16:creationId xmlns:a16="http://schemas.microsoft.com/office/drawing/2014/main" id="{A796D15C-9A2D-48AF-9B2A-BCFD5E7FDB3D}"/>
              </a:ext>
            </a:extLst>
          </p:cNvPr>
          <p:cNvSpPr>
            <a:spLocks noGrp="1"/>
          </p:cNvSpPr>
          <p:nvPr/>
        </p:nvSpPr>
        <p:spPr>
          <a:xfrm>
            <a:off x="5619750" y="2171700"/>
            <a:ext cx="1257300" cy="514350"/>
          </a:xfrm>
          <a:prstGeom prst="rect">
            <a:avLst/>
          </a:prstGeom>
          <a:noFill/>
          <a:ln w="0">
            <a:noFill/>
            <a:prstDash val="solid"/>
          </a:ln>
        </p:spPr>
        <p:txBody>
          <a:bodyPr wrap="square" lIns="0" tIns="0" rIns="0" bIns="0" anchor="ctr"/>
          <a:lstStyle/>
          <a:p>
            <a:pPr algn="l">
              <a:defRPr sz="1350" b="1">
                <a:solidFill>
                  <a:srgbClr val="061D2D"/>
                </a:solidFill>
                <a:latin typeface="Aptos"/>
                <a:ea typeface="Aptos"/>
                <a:cs typeface="Aptos"/>
              </a:defRPr>
            </a:pPr>
            <a:r>
              <a:rPr sz="1350" b="1">
                <a:solidFill>
                  <a:srgbClr val="061D2D"/>
                </a:solidFill>
                <a:latin typeface="Aptos"/>
                <a:ea typeface="Aptos"/>
                <a:cs typeface="Aptos"/>
              </a:rPr>
              <a:t>Risiko übertragen</a:t>
            </a:r>
          </a:p>
        </p:txBody>
      </p:sp>
      <p:sp>
        <p:nvSpPr>
          <p:cNvPr id="26" name="credit-channel">
            <a:extLst>
              <a:ext uri="{FF2B5EF4-FFF2-40B4-BE49-F238E27FC236}">
                <a16:creationId xmlns:a16="http://schemas.microsoft.com/office/drawing/2014/main" id="{A330E18A-C445-4037-B534-0718A76E0503}"/>
              </a:ext>
            </a:extLst>
          </p:cNvPr>
          <p:cNvSpPr>
            <a:spLocks noGrp="1"/>
          </p:cNvSpPr>
          <p:nvPr/>
        </p:nvSpPr>
        <p:spPr>
          <a:xfrm>
            <a:off x="5200650" y="2895600"/>
            <a:ext cx="1676400" cy="323850"/>
          </a:xfrm>
          <a:prstGeom prst="roundRect">
            <a:avLst>
              <a:gd name="adj" fmla="val 50000"/>
            </a:avLst>
          </a:prstGeom>
          <a:solidFill>
            <a:srgbClr val="005174"/>
          </a:solidFill>
          <a:ln w="9525">
            <a:solidFill>
              <a:srgbClr val="005174"/>
            </a:solidFill>
            <a:prstDash val="solid"/>
          </a:ln>
        </p:spPr>
        <p:txBody>
          <a:bodyPr wrap="square" lIns="76200" tIns="28575" rIns="76200" bIns="28575" anchor="ctr"/>
          <a:lstStyle/>
          <a:p>
            <a:pPr algn="ctr">
              <a:defRPr sz="1125" b="1">
                <a:solidFill>
                  <a:srgbClr val="FFFFFF"/>
                </a:solidFill>
                <a:latin typeface="Aptos"/>
                <a:ea typeface="Aptos"/>
                <a:cs typeface="Aptos"/>
              </a:defRPr>
            </a:pPr>
            <a:r>
              <a:rPr sz="1125" b="1">
                <a:solidFill>
                  <a:srgbClr val="FFFFFF"/>
                </a:solidFill>
                <a:latin typeface="Aptos"/>
                <a:ea typeface="Aptos"/>
                <a:cs typeface="Aptos"/>
              </a:rPr>
              <a:t>Kreditkanal</a:t>
            </a:r>
          </a:p>
        </p:txBody>
      </p:sp>
      <p:sp>
        <p:nvSpPr>
          <p:cNvPr id="27" name="credit-channel-copy">
            <a:extLst>
              <a:ext uri="{FF2B5EF4-FFF2-40B4-BE49-F238E27FC236}">
                <a16:creationId xmlns:a16="http://schemas.microsoft.com/office/drawing/2014/main" id="{39C1165C-8F6C-43A5-8039-5EE2F431E5EB}"/>
              </a:ext>
            </a:extLst>
          </p:cNvPr>
          <p:cNvSpPr>
            <a:spLocks noGrp="1"/>
          </p:cNvSpPr>
          <p:nvPr/>
        </p:nvSpPr>
        <p:spPr>
          <a:xfrm>
            <a:off x="5257800" y="3314700"/>
            <a:ext cx="1562100" cy="590550"/>
          </a:xfrm>
          <a:prstGeom prst="rect">
            <a:avLst/>
          </a:prstGeom>
          <a:noFill/>
          <a:ln w="0">
            <a:noFill/>
            <a:prstDash val="solid"/>
          </a:ln>
        </p:spPr>
        <p:txBody>
          <a:bodyPr wrap="square" lIns="0" tIns="0" rIns="0" bIns="0" anchor="t"/>
          <a:lstStyle/>
          <a:p>
            <a:pPr algn="ctr">
              <a:defRPr sz="1125" b="0">
                <a:solidFill>
                  <a:srgbClr val="061D2D"/>
                </a:solidFill>
                <a:latin typeface="Aptos"/>
                <a:ea typeface="Aptos"/>
                <a:cs typeface="Aptos"/>
              </a:defRPr>
            </a:pPr>
            <a:r>
              <a:rPr sz="1125" b="0">
                <a:solidFill>
                  <a:srgbClr val="061D2D"/>
                </a:solidFill>
                <a:latin typeface="Aptos"/>
                <a:ea typeface="Aptos"/>
                <a:cs typeface="Aptos"/>
              </a:rPr>
              <a:t>β/γ-Matrix</a:t>
            </a:r>
          </a:p>
          <a:p>
            <a:pPr algn="ctr">
              <a:defRPr sz="1125" b="0">
                <a:solidFill>
                  <a:srgbClr val="061D2D"/>
                </a:solidFill>
                <a:latin typeface="Aptos"/>
                <a:ea typeface="Aptos"/>
                <a:cs typeface="Aptos"/>
              </a:defRPr>
            </a:pPr>
            <a:r>
              <a:rPr sz="1125" b="0">
                <a:solidFill>
                  <a:srgbClr val="061D2D"/>
                </a:solidFill>
                <a:latin typeface="Aptos"/>
                <a:ea typeface="Aptos"/>
                <a:cs typeface="Aptos"/>
              </a:rPr>
              <a:t>→ ΔPD, ΔLGD je Klasse</a:t>
            </a:r>
          </a:p>
        </p:txBody>
      </p:sp>
      <p:sp>
        <p:nvSpPr>
          <p:cNvPr id="28" name="sovereign-channel">
            <a:extLst>
              <a:ext uri="{FF2B5EF4-FFF2-40B4-BE49-F238E27FC236}">
                <a16:creationId xmlns:a16="http://schemas.microsoft.com/office/drawing/2014/main" id="{DC032D8B-718D-47A8-AE85-930BB608596E}"/>
              </a:ext>
            </a:extLst>
          </p:cNvPr>
          <p:cNvSpPr>
            <a:spLocks noGrp="1"/>
          </p:cNvSpPr>
          <p:nvPr/>
        </p:nvSpPr>
        <p:spPr>
          <a:xfrm>
            <a:off x="5200650" y="4038600"/>
            <a:ext cx="1676400" cy="323850"/>
          </a:xfrm>
          <a:prstGeom prst="roundRect">
            <a:avLst>
              <a:gd name="adj" fmla="val 50000"/>
            </a:avLst>
          </a:prstGeom>
          <a:solidFill>
            <a:srgbClr val="08A9A5"/>
          </a:solidFill>
          <a:ln w="9525">
            <a:solidFill>
              <a:srgbClr val="08A9A5"/>
            </a:solidFill>
            <a:prstDash val="solid"/>
          </a:ln>
        </p:spPr>
        <p:txBody>
          <a:bodyPr wrap="square" lIns="76200" tIns="28575" rIns="76200" bIns="28575" anchor="ctr"/>
          <a:lstStyle/>
          <a:p>
            <a:pPr algn="ctr">
              <a:defRPr sz="1125" b="1">
                <a:solidFill>
                  <a:srgbClr val="FFFFFF"/>
                </a:solidFill>
                <a:latin typeface="Aptos"/>
                <a:ea typeface="Aptos"/>
                <a:cs typeface="Aptos"/>
              </a:defRPr>
            </a:pPr>
            <a:r>
              <a:rPr sz="1125" b="1">
                <a:solidFill>
                  <a:srgbClr val="FFFFFF"/>
                </a:solidFill>
                <a:latin typeface="Aptos"/>
                <a:ea typeface="Aptos"/>
                <a:cs typeface="Aptos"/>
              </a:rPr>
              <a:t>Sovereign-Kanal</a:t>
            </a:r>
          </a:p>
        </p:txBody>
      </p:sp>
      <p:sp>
        <p:nvSpPr>
          <p:cNvPr id="29" name="sovereign-channel-copy">
            <a:extLst>
              <a:ext uri="{FF2B5EF4-FFF2-40B4-BE49-F238E27FC236}">
                <a16:creationId xmlns:a16="http://schemas.microsoft.com/office/drawing/2014/main" id="{02CBCA22-59F3-4B68-A101-9888C011460E}"/>
              </a:ext>
            </a:extLst>
          </p:cNvPr>
          <p:cNvSpPr>
            <a:spLocks noGrp="1"/>
          </p:cNvSpPr>
          <p:nvPr/>
        </p:nvSpPr>
        <p:spPr>
          <a:xfrm>
            <a:off x="5257800" y="4438650"/>
            <a:ext cx="1562100" cy="476250"/>
          </a:xfrm>
          <a:prstGeom prst="rect">
            <a:avLst/>
          </a:prstGeom>
          <a:noFill/>
          <a:ln w="0">
            <a:noFill/>
            <a:prstDash val="solid"/>
          </a:ln>
        </p:spPr>
        <p:txBody>
          <a:bodyPr wrap="square" lIns="0" tIns="0" rIns="0" bIns="0" anchor="t"/>
          <a:lstStyle/>
          <a:p>
            <a:pPr algn="ctr">
              <a:defRPr sz="1125" b="0">
                <a:solidFill>
                  <a:srgbClr val="061D2D"/>
                </a:solidFill>
                <a:latin typeface="Aptos"/>
                <a:ea typeface="Aptos"/>
                <a:cs typeface="Aptos"/>
              </a:defRPr>
            </a:pPr>
            <a:r>
              <a:rPr sz="1125" b="0">
                <a:solidFill>
                  <a:srgbClr val="061D2D"/>
                </a:solidFill>
                <a:latin typeface="Aptos"/>
                <a:ea typeface="Aptos"/>
                <a:cs typeface="Aptos"/>
              </a:rPr>
              <a:t>Duration × Δr</a:t>
            </a:r>
          </a:p>
          <a:p>
            <a:pPr algn="ctr">
              <a:defRPr sz="1125" b="0">
                <a:solidFill>
                  <a:srgbClr val="061D2D"/>
                </a:solidFill>
                <a:latin typeface="Aptos"/>
                <a:ea typeface="Aptos"/>
                <a:cs typeface="Aptos"/>
              </a:defRPr>
            </a:pPr>
            <a:r>
              <a:rPr sz="1125" b="0">
                <a:solidFill>
                  <a:srgbClr val="061D2D"/>
                </a:solidFill>
                <a:latin typeface="Aptos"/>
                <a:ea typeface="Aptos"/>
                <a:cs typeface="Aptos"/>
              </a:rPr>
              <a:t>→ ΔFV im Bondbuch</a:t>
            </a:r>
          </a:p>
        </p:txBody>
      </p:sp>
      <p:sp>
        <p:nvSpPr>
          <p:cNvPr id="30" name="stage-4-card">
            <a:extLst>
              <a:ext uri="{FF2B5EF4-FFF2-40B4-BE49-F238E27FC236}">
                <a16:creationId xmlns:a16="http://schemas.microsoft.com/office/drawing/2014/main" id="{239A530F-C6C7-416A-9A94-EBFDB00640BD}"/>
              </a:ext>
            </a:extLst>
          </p:cNvPr>
          <p:cNvSpPr>
            <a:spLocks noGrp="1"/>
          </p:cNvSpPr>
          <p:nvPr/>
        </p:nvSpPr>
        <p:spPr>
          <a:xfrm>
            <a:off x="7267575" y="2019300"/>
            <a:ext cx="1981200" cy="2800350"/>
          </a:xfrm>
          <a:prstGeom prst="roundRect">
            <a:avLst>
              <a:gd name="adj" fmla="val 3846"/>
            </a:avLst>
          </a:prstGeom>
          <a:solidFill>
            <a:srgbClr val="FFFFFF"/>
          </a:solidFill>
          <a:ln w="9525">
            <a:solidFill>
              <a:srgbClr val="D9E2E7"/>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31" name="stage-4-accent">
            <a:extLst>
              <a:ext uri="{FF2B5EF4-FFF2-40B4-BE49-F238E27FC236}">
                <a16:creationId xmlns:a16="http://schemas.microsoft.com/office/drawing/2014/main" id="{F4F6FCDD-2347-4E5D-9141-5487282B08ED}"/>
              </a:ext>
            </a:extLst>
          </p:cNvPr>
          <p:cNvSpPr>
            <a:spLocks noGrp="1"/>
          </p:cNvSpPr>
          <p:nvPr/>
        </p:nvSpPr>
        <p:spPr>
          <a:xfrm>
            <a:off x="7267575" y="2019300"/>
            <a:ext cx="1981200" cy="66675"/>
          </a:xfrm>
          <a:prstGeom prst="rect">
            <a:avLst/>
          </a:prstGeom>
          <a:solidFill>
            <a:srgbClr val="001B2A"/>
          </a:solidFill>
          <a:ln w="9525">
            <a:solidFill>
              <a:srgbClr val="001B2A"/>
            </a:solidFill>
            <a:prstDash val="solid"/>
          </a:ln>
        </p:spPr>
        <p:txBody>
          <a:bodyPr/>
          <a:lstStyle/>
          <a:p>
            <a:endParaRPr lang="en-US"/>
          </a:p>
        </p:txBody>
      </p:sp>
      <p:sp>
        <p:nvSpPr>
          <p:cNvPr id="32" name="step-4-badge">
            <a:extLst>
              <a:ext uri="{FF2B5EF4-FFF2-40B4-BE49-F238E27FC236}">
                <a16:creationId xmlns:a16="http://schemas.microsoft.com/office/drawing/2014/main" id="{2A4D4C92-3A41-42E3-8355-86A583F38F7A}"/>
              </a:ext>
            </a:extLst>
          </p:cNvPr>
          <p:cNvSpPr>
            <a:spLocks noGrp="1"/>
          </p:cNvSpPr>
          <p:nvPr/>
        </p:nvSpPr>
        <p:spPr>
          <a:xfrm>
            <a:off x="7400925" y="2190750"/>
            <a:ext cx="342900" cy="342900"/>
          </a:xfrm>
          <a:prstGeom prst="ellipse">
            <a:avLst/>
          </a:prstGeom>
          <a:solidFill>
            <a:srgbClr val="001B2A"/>
          </a:solidFill>
          <a:ln w="9525">
            <a:solidFill>
              <a:srgbClr val="001B2A"/>
            </a:solidFill>
            <a:prstDash val="solid"/>
          </a:ln>
        </p:spPr>
        <p:txBody>
          <a:bodyPr lIns="0" tIns="0" rIns="0" bIns="0" anchor="ctr"/>
          <a:lstStyle/>
          <a:p>
            <a:pPr algn="ctr">
              <a:defRPr sz="1275" b="1">
                <a:solidFill>
                  <a:srgbClr val="FFFFFF"/>
                </a:solidFill>
                <a:latin typeface="Aptos"/>
                <a:ea typeface="Aptos"/>
                <a:cs typeface="Aptos"/>
              </a:defRPr>
            </a:pPr>
            <a:r>
              <a:rPr sz="1275" b="1">
                <a:solidFill>
                  <a:srgbClr val="FFFFFF"/>
                </a:solidFill>
                <a:latin typeface="Aptos"/>
                <a:ea typeface="Aptos"/>
                <a:cs typeface="Aptos"/>
              </a:rPr>
              <a:t>4</a:t>
            </a:r>
          </a:p>
        </p:txBody>
      </p:sp>
      <p:sp>
        <p:nvSpPr>
          <p:cNvPr id="33" name="stage-4-title">
            <a:extLst>
              <a:ext uri="{FF2B5EF4-FFF2-40B4-BE49-F238E27FC236}">
                <a16:creationId xmlns:a16="http://schemas.microsoft.com/office/drawing/2014/main" id="{2FD40490-D8D3-49D2-9001-D8C7FC5B8057}"/>
              </a:ext>
            </a:extLst>
          </p:cNvPr>
          <p:cNvSpPr>
            <a:spLocks noGrp="1"/>
          </p:cNvSpPr>
          <p:nvPr/>
        </p:nvSpPr>
        <p:spPr>
          <a:xfrm>
            <a:off x="7839075" y="2171700"/>
            <a:ext cx="1257300" cy="514350"/>
          </a:xfrm>
          <a:prstGeom prst="rect">
            <a:avLst/>
          </a:prstGeom>
          <a:noFill/>
          <a:ln w="0">
            <a:noFill/>
            <a:prstDash val="solid"/>
          </a:ln>
        </p:spPr>
        <p:txBody>
          <a:bodyPr wrap="square" lIns="0" tIns="0" rIns="0" bIns="0" anchor="ctr"/>
          <a:lstStyle/>
          <a:p>
            <a:pPr algn="l">
              <a:defRPr sz="1350" b="1">
                <a:solidFill>
                  <a:srgbClr val="061D2D"/>
                </a:solidFill>
                <a:latin typeface="Aptos"/>
                <a:ea typeface="Aptos"/>
                <a:cs typeface="Aptos"/>
              </a:defRPr>
            </a:pPr>
            <a:r>
              <a:rPr lang="en-US" sz="1350" b="1" err="1">
                <a:solidFill>
                  <a:srgbClr val="061D2D"/>
                </a:solidFill>
                <a:latin typeface="Aptos"/>
              </a:rPr>
              <a:t>Kapitalwirkung</a:t>
            </a:r>
            <a:r>
              <a:rPr sz="1350" b="1">
                <a:solidFill>
                  <a:srgbClr val="061D2D"/>
                </a:solidFill>
                <a:latin typeface="Aptos"/>
                <a:ea typeface="Aptos"/>
                <a:cs typeface="Aptos"/>
              </a:rPr>
              <a:t> </a:t>
            </a:r>
            <a:r>
              <a:rPr lang="en-US" sz="1350" b="1" err="1">
                <a:solidFill>
                  <a:srgbClr val="061D2D"/>
                </a:solidFill>
                <a:latin typeface="Aptos"/>
                <a:ea typeface="Aptos"/>
                <a:cs typeface="Aptos"/>
              </a:rPr>
              <a:t>rechnen</a:t>
            </a:r>
            <a:endParaRPr sz="1350" b="1">
              <a:solidFill>
                <a:srgbClr val="061D2D"/>
              </a:solidFill>
              <a:latin typeface="Aptos"/>
              <a:ea typeface="Aptos"/>
              <a:cs typeface="Aptos"/>
            </a:endParaRPr>
          </a:p>
        </p:txBody>
      </p:sp>
      <p:sp>
        <p:nvSpPr>
          <p:cNvPr id="34" name="capital-credit">
            <a:extLst>
              <a:ext uri="{FF2B5EF4-FFF2-40B4-BE49-F238E27FC236}">
                <a16:creationId xmlns:a16="http://schemas.microsoft.com/office/drawing/2014/main" id="{BB500B8B-C8D2-4CC9-B40B-CBF629C85748}"/>
              </a:ext>
            </a:extLst>
          </p:cNvPr>
          <p:cNvSpPr>
            <a:spLocks noGrp="1"/>
          </p:cNvSpPr>
          <p:nvPr/>
        </p:nvSpPr>
        <p:spPr>
          <a:xfrm>
            <a:off x="7439025" y="3009900"/>
            <a:ext cx="1638300" cy="381000"/>
          </a:xfrm>
          <a:prstGeom prst="roundRect">
            <a:avLst>
              <a:gd name="adj" fmla="val 45000"/>
            </a:avLst>
          </a:prstGeom>
          <a:solidFill>
            <a:srgbClr val="005174"/>
          </a:solidFill>
          <a:ln w="9525">
            <a:solidFill>
              <a:srgbClr val="005174"/>
            </a:solidFill>
            <a:prstDash val="solid"/>
          </a:ln>
        </p:spPr>
        <p:txBody>
          <a:bodyPr wrap="square" lIns="76200" tIns="28575" rIns="76200" bIns="28575" anchor="ctr"/>
          <a:lstStyle/>
          <a:p>
            <a:pPr algn="ctr">
              <a:defRPr sz="1275" b="1">
                <a:solidFill>
                  <a:srgbClr val="FFFFFF"/>
                </a:solidFill>
                <a:latin typeface="Aptos"/>
                <a:ea typeface="Aptos"/>
                <a:cs typeface="Aptos"/>
              </a:defRPr>
            </a:pPr>
            <a:r>
              <a:rPr sz="1275" b="1">
                <a:solidFill>
                  <a:srgbClr val="FFFFFF"/>
                </a:solidFill>
                <a:latin typeface="Aptos"/>
                <a:ea typeface="Aptos"/>
                <a:cs typeface="Aptos"/>
              </a:rPr>
              <a:t>ΔEL + ΔRWA</a:t>
            </a:r>
          </a:p>
        </p:txBody>
      </p:sp>
      <p:sp>
        <p:nvSpPr>
          <p:cNvPr id="35" name="capital-credit-copy">
            <a:extLst>
              <a:ext uri="{FF2B5EF4-FFF2-40B4-BE49-F238E27FC236}">
                <a16:creationId xmlns:a16="http://schemas.microsoft.com/office/drawing/2014/main" id="{645DD523-8426-4950-8451-5F24ABA6484D}"/>
              </a:ext>
            </a:extLst>
          </p:cNvPr>
          <p:cNvSpPr>
            <a:spLocks noGrp="1"/>
          </p:cNvSpPr>
          <p:nvPr/>
        </p:nvSpPr>
        <p:spPr>
          <a:xfrm>
            <a:off x="7477125" y="3505200"/>
            <a:ext cx="1562100" cy="552450"/>
          </a:xfrm>
          <a:prstGeom prst="rect">
            <a:avLst/>
          </a:prstGeom>
          <a:noFill/>
          <a:ln w="0">
            <a:noFill/>
            <a:prstDash val="solid"/>
          </a:ln>
        </p:spPr>
        <p:txBody>
          <a:bodyPr wrap="square" lIns="0" tIns="0" rIns="0" bIns="0" anchor="t"/>
          <a:lstStyle/>
          <a:p>
            <a:pPr algn="ctr">
              <a:defRPr sz="1050" b="0">
                <a:solidFill>
                  <a:srgbClr val="061D2D"/>
                </a:solidFill>
                <a:latin typeface="Aptos"/>
                <a:ea typeface="Aptos"/>
                <a:cs typeface="Aptos"/>
              </a:defRPr>
            </a:pPr>
            <a:r>
              <a:rPr sz="1050" b="0">
                <a:solidFill>
                  <a:srgbClr val="061D2D"/>
                </a:solidFill>
                <a:latin typeface="Aptos"/>
                <a:ea typeface="Aptos"/>
                <a:cs typeface="Aptos"/>
              </a:rPr>
              <a:t>Basel-III-IRB übersetzt gestresste PD/LGD/EAD in Kapitalbedarf.</a:t>
            </a:r>
          </a:p>
        </p:txBody>
      </p:sp>
      <p:sp>
        <p:nvSpPr>
          <p:cNvPr id="36" name="capital-mtm">
            <a:extLst>
              <a:ext uri="{FF2B5EF4-FFF2-40B4-BE49-F238E27FC236}">
                <a16:creationId xmlns:a16="http://schemas.microsoft.com/office/drawing/2014/main" id="{872E3FD4-5335-426B-8663-E7F20E7301EF}"/>
              </a:ext>
            </a:extLst>
          </p:cNvPr>
          <p:cNvSpPr>
            <a:spLocks noGrp="1"/>
          </p:cNvSpPr>
          <p:nvPr/>
        </p:nvSpPr>
        <p:spPr>
          <a:xfrm>
            <a:off x="7439025" y="4229100"/>
            <a:ext cx="1638300" cy="381000"/>
          </a:xfrm>
          <a:prstGeom prst="roundRect">
            <a:avLst>
              <a:gd name="adj" fmla="val 45000"/>
            </a:avLst>
          </a:prstGeom>
          <a:solidFill>
            <a:srgbClr val="08A9A5"/>
          </a:solidFill>
          <a:ln w="9525">
            <a:solidFill>
              <a:srgbClr val="08A9A5"/>
            </a:solidFill>
            <a:prstDash val="solid"/>
          </a:ln>
        </p:spPr>
        <p:txBody>
          <a:bodyPr wrap="square" lIns="76200" tIns="28575" rIns="76200" bIns="28575" anchor="ctr"/>
          <a:lstStyle/>
          <a:p>
            <a:pPr algn="ctr">
              <a:defRPr sz="1275" b="1">
                <a:solidFill>
                  <a:srgbClr val="FFFFFF"/>
                </a:solidFill>
                <a:latin typeface="Aptos"/>
                <a:ea typeface="Aptos"/>
                <a:cs typeface="Aptos"/>
              </a:defRPr>
            </a:pPr>
            <a:r>
              <a:rPr sz="1275" b="1">
                <a:solidFill>
                  <a:srgbClr val="FFFFFF"/>
                </a:solidFill>
                <a:latin typeface="Aptos"/>
                <a:ea typeface="Aptos"/>
                <a:cs typeface="Aptos"/>
              </a:rPr>
              <a:t>ΔCET1 aus MtM</a:t>
            </a:r>
          </a:p>
        </p:txBody>
      </p:sp>
      <p:sp>
        <p:nvSpPr>
          <p:cNvPr id="37" name="stage-5-card">
            <a:extLst>
              <a:ext uri="{FF2B5EF4-FFF2-40B4-BE49-F238E27FC236}">
                <a16:creationId xmlns:a16="http://schemas.microsoft.com/office/drawing/2014/main" id="{A336D2C0-91B8-4D33-9390-90EB0A9AF602}"/>
              </a:ext>
            </a:extLst>
          </p:cNvPr>
          <p:cNvSpPr>
            <a:spLocks noGrp="1"/>
          </p:cNvSpPr>
          <p:nvPr/>
        </p:nvSpPr>
        <p:spPr>
          <a:xfrm>
            <a:off x="9486900" y="2019300"/>
            <a:ext cx="1981200" cy="2800350"/>
          </a:xfrm>
          <a:prstGeom prst="roundRect">
            <a:avLst>
              <a:gd name="adj" fmla="val 3846"/>
            </a:avLst>
          </a:prstGeom>
          <a:solidFill>
            <a:srgbClr val="FFFFFF"/>
          </a:solidFill>
          <a:ln w="9525">
            <a:solidFill>
              <a:srgbClr val="D9E2E7"/>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38" name="stage-5-accent">
            <a:extLst>
              <a:ext uri="{FF2B5EF4-FFF2-40B4-BE49-F238E27FC236}">
                <a16:creationId xmlns:a16="http://schemas.microsoft.com/office/drawing/2014/main" id="{36F96B26-1344-4AF6-A158-E926AEFA1CDF}"/>
              </a:ext>
            </a:extLst>
          </p:cNvPr>
          <p:cNvSpPr>
            <a:spLocks noGrp="1"/>
          </p:cNvSpPr>
          <p:nvPr/>
        </p:nvSpPr>
        <p:spPr>
          <a:xfrm>
            <a:off x="9486900" y="2019300"/>
            <a:ext cx="1981200" cy="66675"/>
          </a:xfrm>
          <a:prstGeom prst="rect">
            <a:avLst/>
          </a:prstGeom>
          <a:solidFill>
            <a:srgbClr val="007D7A"/>
          </a:solidFill>
          <a:ln w="9525">
            <a:solidFill>
              <a:srgbClr val="007D7A"/>
            </a:solidFill>
            <a:prstDash val="solid"/>
          </a:ln>
        </p:spPr>
        <p:txBody>
          <a:bodyPr/>
          <a:lstStyle/>
          <a:p>
            <a:endParaRPr lang="en-US"/>
          </a:p>
        </p:txBody>
      </p:sp>
      <p:sp>
        <p:nvSpPr>
          <p:cNvPr id="39" name="step-5-badge">
            <a:extLst>
              <a:ext uri="{FF2B5EF4-FFF2-40B4-BE49-F238E27FC236}">
                <a16:creationId xmlns:a16="http://schemas.microsoft.com/office/drawing/2014/main" id="{C9A7EAD0-C6BE-49F4-8430-B2872EBCE886}"/>
              </a:ext>
            </a:extLst>
          </p:cNvPr>
          <p:cNvSpPr>
            <a:spLocks noGrp="1"/>
          </p:cNvSpPr>
          <p:nvPr/>
        </p:nvSpPr>
        <p:spPr>
          <a:xfrm>
            <a:off x="9620250" y="2190750"/>
            <a:ext cx="342900" cy="342900"/>
          </a:xfrm>
          <a:prstGeom prst="ellipse">
            <a:avLst/>
          </a:prstGeom>
          <a:solidFill>
            <a:srgbClr val="007D7A"/>
          </a:solidFill>
          <a:ln w="9525">
            <a:solidFill>
              <a:srgbClr val="007D7A"/>
            </a:solidFill>
            <a:prstDash val="solid"/>
          </a:ln>
        </p:spPr>
        <p:txBody>
          <a:bodyPr lIns="0" tIns="0" rIns="0" bIns="0" anchor="ctr"/>
          <a:lstStyle/>
          <a:p>
            <a:pPr algn="ctr">
              <a:defRPr sz="1275" b="1">
                <a:solidFill>
                  <a:srgbClr val="FFFFFF"/>
                </a:solidFill>
                <a:latin typeface="Aptos"/>
                <a:ea typeface="Aptos"/>
                <a:cs typeface="Aptos"/>
              </a:defRPr>
            </a:pPr>
            <a:r>
              <a:rPr sz="1275" b="1">
                <a:solidFill>
                  <a:srgbClr val="FFFFFF"/>
                </a:solidFill>
                <a:latin typeface="Aptos"/>
                <a:ea typeface="Aptos"/>
                <a:cs typeface="Aptos"/>
              </a:rPr>
              <a:t>5</a:t>
            </a:r>
          </a:p>
        </p:txBody>
      </p:sp>
      <p:sp>
        <p:nvSpPr>
          <p:cNvPr id="40" name="stage-5-title">
            <a:extLst>
              <a:ext uri="{FF2B5EF4-FFF2-40B4-BE49-F238E27FC236}">
                <a16:creationId xmlns:a16="http://schemas.microsoft.com/office/drawing/2014/main" id="{029A9E4D-EF43-41B0-9968-60FEE90D6F9C}"/>
              </a:ext>
            </a:extLst>
          </p:cNvPr>
          <p:cNvSpPr>
            <a:spLocks noGrp="1"/>
          </p:cNvSpPr>
          <p:nvPr/>
        </p:nvSpPr>
        <p:spPr>
          <a:xfrm>
            <a:off x="10058400" y="2171700"/>
            <a:ext cx="1257300" cy="514350"/>
          </a:xfrm>
          <a:prstGeom prst="rect">
            <a:avLst/>
          </a:prstGeom>
          <a:noFill/>
          <a:ln w="0">
            <a:noFill/>
            <a:prstDash val="solid"/>
          </a:ln>
        </p:spPr>
        <p:txBody>
          <a:bodyPr wrap="square" lIns="0" tIns="0" rIns="0" bIns="0" anchor="ctr"/>
          <a:lstStyle/>
          <a:p>
            <a:pPr algn="l">
              <a:defRPr sz="1350" b="1">
                <a:solidFill>
                  <a:srgbClr val="061D2D"/>
                </a:solidFill>
                <a:latin typeface="Aptos"/>
                <a:ea typeface="Aptos"/>
                <a:cs typeface="Aptos"/>
              </a:defRPr>
            </a:pPr>
            <a:r>
              <a:rPr sz="1350" b="1">
                <a:solidFill>
                  <a:srgbClr val="061D2D"/>
                </a:solidFill>
                <a:latin typeface="Aptos"/>
                <a:ea typeface="Aptos"/>
                <a:cs typeface="Aptos"/>
              </a:rPr>
              <a:t>CET1-Ergebnis lesen</a:t>
            </a:r>
          </a:p>
        </p:txBody>
      </p:sp>
      <p:sp>
        <p:nvSpPr>
          <p:cNvPr id="41" name="result-core">
            <a:extLst>
              <a:ext uri="{FF2B5EF4-FFF2-40B4-BE49-F238E27FC236}">
                <a16:creationId xmlns:a16="http://schemas.microsoft.com/office/drawing/2014/main" id="{CBA4003F-6C68-462E-9410-B3E8D26CE963}"/>
              </a:ext>
            </a:extLst>
          </p:cNvPr>
          <p:cNvSpPr>
            <a:spLocks noGrp="1"/>
          </p:cNvSpPr>
          <p:nvPr/>
        </p:nvSpPr>
        <p:spPr>
          <a:xfrm>
            <a:off x="9658350" y="2914650"/>
            <a:ext cx="1638300" cy="876300"/>
          </a:xfrm>
          <a:prstGeom prst="roundRect">
            <a:avLst>
              <a:gd name="adj" fmla="val 8696"/>
            </a:avLst>
          </a:prstGeom>
          <a:solidFill>
            <a:srgbClr val="001B2A"/>
          </a:solidFill>
          <a:ln w="9525">
            <a:solidFill>
              <a:srgbClr val="001B2A"/>
            </a:solidFill>
            <a:prstDash val="solid"/>
          </a:ln>
        </p:spPr>
        <p:txBody>
          <a:bodyPr/>
          <a:lstStyle/>
          <a:p>
            <a:endParaRPr lang="en-US"/>
          </a:p>
        </p:txBody>
      </p:sp>
      <p:sp>
        <p:nvSpPr>
          <p:cNvPr id="42" name="result-core-text">
            <a:extLst>
              <a:ext uri="{FF2B5EF4-FFF2-40B4-BE49-F238E27FC236}">
                <a16:creationId xmlns:a16="http://schemas.microsoft.com/office/drawing/2014/main" id="{9768AE7B-CB4A-466C-BD89-6D9B2D8F2FD5}"/>
              </a:ext>
            </a:extLst>
          </p:cNvPr>
          <p:cNvSpPr>
            <a:spLocks noGrp="1"/>
          </p:cNvSpPr>
          <p:nvPr/>
        </p:nvSpPr>
        <p:spPr>
          <a:xfrm>
            <a:off x="9772650" y="3105150"/>
            <a:ext cx="1409700" cy="304800"/>
          </a:xfrm>
          <a:prstGeom prst="rect">
            <a:avLst/>
          </a:prstGeom>
          <a:noFill/>
          <a:ln w="0">
            <a:noFill/>
            <a:prstDash val="solid"/>
          </a:ln>
        </p:spPr>
        <p:txBody>
          <a:bodyPr wrap="square" lIns="0" tIns="0" rIns="0" bIns="0" anchor="t"/>
          <a:lstStyle/>
          <a:p>
            <a:pPr algn="ctr">
              <a:defRPr sz="1350" b="1">
                <a:solidFill>
                  <a:srgbClr val="FFFFFF"/>
                </a:solidFill>
                <a:latin typeface="Aptos"/>
                <a:ea typeface="Aptos"/>
                <a:cs typeface="Aptos"/>
              </a:defRPr>
            </a:pPr>
            <a:r>
              <a:rPr sz="1350" b="1">
                <a:solidFill>
                  <a:srgbClr val="FFFFFF"/>
                </a:solidFill>
                <a:latin typeface="Aptos"/>
                <a:ea typeface="Aptos"/>
                <a:cs typeface="Aptos"/>
              </a:rPr>
              <a:t>CET1 unter Stress</a:t>
            </a:r>
          </a:p>
        </p:txBody>
      </p:sp>
      <p:sp>
        <p:nvSpPr>
          <p:cNvPr id="43" name="result-formula-mini">
            <a:extLst>
              <a:ext uri="{FF2B5EF4-FFF2-40B4-BE49-F238E27FC236}">
                <a16:creationId xmlns:a16="http://schemas.microsoft.com/office/drawing/2014/main" id="{8040906B-954D-4B2A-B746-A17869B0F17B}"/>
              </a:ext>
            </a:extLst>
          </p:cNvPr>
          <p:cNvSpPr>
            <a:spLocks noGrp="1"/>
          </p:cNvSpPr>
          <p:nvPr/>
        </p:nvSpPr>
        <p:spPr>
          <a:xfrm>
            <a:off x="9772650" y="3429000"/>
            <a:ext cx="1409700" cy="381000"/>
          </a:xfrm>
          <a:prstGeom prst="rect">
            <a:avLst/>
          </a:prstGeom>
          <a:noFill/>
          <a:ln w="0">
            <a:noFill/>
            <a:prstDash val="solid"/>
          </a:ln>
        </p:spPr>
        <p:txBody>
          <a:bodyPr wrap="square" lIns="0" tIns="0" rIns="0" bIns="0" anchor="t"/>
          <a:lstStyle/>
          <a:p>
            <a:pPr algn="ctr">
              <a:defRPr sz="975" b="0">
                <a:solidFill>
                  <a:srgbClr val="FFFFFF"/>
                </a:solidFill>
                <a:latin typeface="Aptos"/>
                <a:ea typeface="Aptos"/>
                <a:cs typeface="Aptos"/>
              </a:defRPr>
            </a:pPr>
            <a:r>
              <a:rPr sz="975" b="0">
                <a:solidFill>
                  <a:srgbClr val="FFFFFF"/>
                </a:solidFill>
                <a:latin typeface="Aptos"/>
                <a:ea typeface="Aptos"/>
                <a:cs typeface="Aptos"/>
              </a:rPr>
              <a:t>(CET1 − ΔEL + ΔFV)</a:t>
            </a:r>
          </a:p>
          <a:p>
            <a:pPr algn="ctr">
              <a:defRPr sz="975" b="0">
                <a:solidFill>
                  <a:srgbClr val="FFFFFF"/>
                </a:solidFill>
                <a:latin typeface="Aptos"/>
                <a:ea typeface="Aptos"/>
                <a:cs typeface="Aptos"/>
              </a:defRPr>
            </a:pPr>
            <a:r>
              <a:rPr sz="975" b="0">
                <a:solidFill>
                  <a:srgbClr val="FFFFFF"/>
                </a:solidFill>
                <a:latin typeface="Aptos"/>
                <a:ea typeface="Aptos"/>
                <a:cs typeface="Aptos"/>
              </a:rPr>
              <a:t>/ (RWA + ΔRWA)</a:t>
            </a:r>
          </a:p>
        </p:txBody>
      </p:sp>
      <p:sp>
        <p:nvSpPr>
          <p:cNvPr id="44" name="threshold-title">
            <a:extLst>
              <a:ext uri="{FF2B5EF4-FFF2-40B4-BE49-F238E27FC236}">
                <a16:creationId xmlns:a16="http://schemas.microsoft.com/office/drawing/2014/main" id="{1DD9C31C-B8B6-4140-AD6F-D70553135F1E}"/>
              </a:ext>
            </a:extLst>
          </p:cNvPr>
          <p:cNvSpPr>
            <a:spLocks noGrp="1"/>
          </p:cNvSpPr>
          <p:nvPr/>
        </p:nvSpPr>
        <p:spPr>
          <a:xfrm>
            <a:off x="9658350" y="4019550"/>
            <a:ext cx="1638300" cy="209550"/>
          </a:xfrm>
          <a:prstGeom prst="rect">
            <a:avLst/>
          </a:prstGeom>
          <a:noFill/>
          <a:ln w="0">
            <a:noFill/>
            <a:prstDash val="solid"/>
          </a:ln>
        </p:spPr>
        <p:txBody>
          <a:bodyPr wrap="square" lIns="0" tIns="0" rIns="0" bIns="0" anchor="t"/>
          <a:lstStyle/>
          <a:p>
            <a:pPr algn="ctr">
              <a:defRPr sz="975" b="1">
                <a:solidFill>
                  <a:srgbClr val="5F7F93"/>
                </a:solidFill>
                <a:latin typeface="Aptos"/>
                <a:ea typeface="Aptos"/>
                <a:cs typeface="Aptos"/>
              </a:defRPr>
            </a:pPr>
            <a:r>
              <a:rPr sz="975" b="1">
                <a:solidFill>
                  <a:srgbClr val="5F7F93"/>
                </a:solidFill>
                <a:latin typeface="Aptos"/>
                <a:ea typeface="Aptos"/>
                <a:cs typeface="Aptos"/>
              </a:rPr>
              <a:t>Einordnung gegen Schwellen</a:t>
            </a:r>
          </a:p>
        </p:txBody>
      </p:sp>
      <p:sp>
        <p:nvSpPr>
          <p:cNvPr id="45" name="threshold-rail">
            <a:extLst>
              <a:ext uri="{FF2B5EF4-FFF2-40B4-BE49-F238E27FC236}">
                <a16:creationId xmlns:a16="http://schemas.microsoft.com/office/drawing/2014/main" id="{D34A6697-FAAF-4A4E-8058-AFB2AEF58BEE}"/>
              </a:ext>
            </a:extLst>
          </p:cNvPr>
          <p:cNvSpPr>
            <a:spLocks noGrp="1"/>
          </p:cNvSpPr>
          <p:nvPr/>
        </p:nvSpPr>
        <p:spPr>
          <a:xfrm>
            <a:off x="9772650" y="4400550"/>
            <a:ext cx="1409700" cy="47625"/>
          </a:xfrm>
          <a:prstGeom prst="rect">
            <a:avLst/>
          </a:prstGeom>
          <a:solidFill>
            <a:srgbClr val="D9E2E7"/>
          </a:solidFill>
          <a:ln w="9525">
            <a:solidFill>
              <a:srgbClr val="D9E2E7"/>
            </a:solidFill>
            <a:prstDash val="solid"/>
          </a:ln>
        </p:spPr>
        <p:txBody>
          <a:bodyPr/>
          <a:lstStyle/>
          <a:p>
            <a:endParaRPr lang="en-US"/>
          </a:p>
        </p:txBody>
      </p:sp>
      <p:sp>
        <p:nvSpPr>
          <p:cNvPr id="46" name="threshold-4,5">
            <a:extLst>
              <a:ext uri="{FF2B5EF4-FFF2-40B4-BE49-F238E27FC236}">
                <a16:creationId xmlns:a16="http://schemas.microsoft.com/office/drawing/2014/main" id="{467DFDE4-22F4-46C3-B39E-E5E19DCF1DDA}"/>
              </a:ext>
            </a:extLst>
          </p:cNvPr>
          <p:cNvSpPr>
            <a:spLocks noGrp="1"/>
          </p:cNvSpPr>
          <p:nvPr/>
        </p:nvSpPr>
        <p:spPr>
          <a:xfrm>
            <a:off x="9810750" y="4343400"/>
            <a:ext cx="161925" cy="161925"/>
          </a:xfrm>
          <a:prstGeom prst="ellipse">
            <a:avLst/>
          </a:prstGeom>
          <a:solidFill>
            <a:srgbClr val="B02A50"/>
          </a:solidFill>
          <a:ln w="9525">
            <a:solidFill>
              <a:srgbClr val="B02A50"/>
            </a:solidFill>
            <a:prstDash val="solid"/>
          </a:ln>
        </p:spPr>
        <p:txBody>
          <a:bodyPr/>
          <a:lstStyle/>
          <a:p>
            <a:endParaRPr lang="en-US"/>
          </a:p>
        </p:txBody>
      </p:sp>
      <p:sp>
        <p:nvSpPr>
          <p:cNvPr id="47" name="threshold-4,5-label">
            <a:extLst>
              <a:ext uri="{FF2B5EF4-FFF2-40B4-BE49-F238E27FC236}">
                <a16:creationId xmlns:a16="http://schemas.microsoft.com/office/drawing/2014/main" id="{1AB84B3B-C94C-4836-A33A-C8A380ED9214}"/>
              </a:ext>
            </a:extLst>
          </p:cNvPr>
          <p:cNvSpPr>
            <a:spLocks noGrp="1"/>
          </p:cNvSpPr>
          <p:nvPr/>
        </p:nvSpPr>
        <p:spPr>
          <a:xfrm>
            <a:off x="9686925" y="4552950"/>
            <a:ext cx="419100" cy="171450"/>
          </a:xfrm>
          <a:prstGeom prst="rect">
            <a:avLst/>
          </a:prstGeom>
          <a:noFill/>
          <a:ln w="0">
            <a:noFill/>
            <a:prstDash val="solid"/>
          </a:ln>
        </p:spPr>
        <p:txBody>
          <a:bodyPr wrap="square" lIns="0" tIns="0" rIns="0" bIns="0" anchor="t"/>
          <a:lstStyle/>
          <a:p>
            <a:pPr algn="ctr">
              <a:defRPr sz="825" b="1">
                <a:solidFill>
                  <a:srgbClr val="061D2D"/>
                </a:solidFill>
                <a:latin typeface="Aptos"/>
                <a:ea typeface="Aptos"/>
                <a:cs typeface="Aptos"/>
              </a:defRPr>
            </a:pPr>
            <a:r>
              <a:rPr sz="825" b="1">
                <a:solidFill>
                  <a:srgbClr val="061D2D"/>
                </a:solidFill>
                <a:latin typeface="Aptos"/>
                <a:ea typeface="Aptos"/>
                <a:cs typeface="Aptos"/>
              </a:rPr>
              <a:t>4,5%</a:t>
            </a:r>
          </a:p>
        </p:txBody>
      </p:sp>
      <p:sp>
        <p:nvSpPr>
          <p:cNvPr id="48" name="threshold-7,0">
            <a:extLst>
              <a:ext uri="{FF2B5EF4-FFF2-40B4-BE49-F238E27FC236}">
                <a16:creationId xmlns:a16="http://schemas.microsoft.com/office/drawing/2014/main" id="{1F48DCCD-8ED1-4915-9E4E-22C8D067DD0D}"/>
              </a:ext>
            </a:extLst>
          </p:cNvPr>
          <p:cNvSpPr>
            <a:spLocks noGrp="1"/>
          </p:cNvSpPr>
          <p:nvPr/>
        </p:nvSpPr>
        <p:spPr>
          <a:xfrm>
            <a:off x="10363200" y="4343400"/>
            <a:ext cx="161925" cy="161925"/>
          </a:xfrm>
          <a:prstGeom prst="ellipse">
            <a:avLst/>
          </a:prstGeom>
          <a:solidFill>
            <a:srgbClr val="D1AC22"/>
          </a:solidFill>
          <a:ln w="9525">
            <a:solidFill>
              <a:srgbClr val="D1AC22"/>
            </a:solidFill>
            <a:prstDash val="solid"/>
          </a:ln>
        </p:spPr>
        <p:txBody>
          <a:bodyPr/>
          <a:lstStyle/>
          <a:p>
            <a:endParaRPr lang="en-US"/>
          </a:p>
        </p:txBody>
      </p:sp>
      <p:sp>
        <p:nvSpPr>
          <p:cNvPr id="49" name="threshold-7,0-label">
            <a:extLst>
              <a:ext uri="{FF2B5EF4-FFF2-40B4-BE49-F238E27FC236}">
                <a16:creationId xmlns:a16="http://schemas.microsoft.com/office/drawing/2014/main" id="{458F2BD5-7AE5-4069-98CB-8FC629AE0116}"/>
              </a:ext>
            </a:extLst>
          </p:cNvPr>
          <p:cNvSpPr>
            <a:spLocks noGrp="1"/>
          </p:cNvSpPr>
          <p:nvPr/>
        </p:nvSpPr>
        <p:spPr>
          <a:xfrm>
            <a:off x="10239375" y="4552950"/>
            <a:ext cx="419100" cy="171450"/>
          </a:xfrm>
          <a:prstGeom prst="rect">
            <a:avLst/>
          </a:prstGeom>
          <a:noFill/>
          <a:ln w="0">
            <a:noFill/>
            <a:prstDash val="solid"/>
          </a:ln>
        </p:spPr>
        <p:txBody>
          <a:bodyPr wrap="square" lIns="0" tIns="0" rIns="0" bIns="0" anchor="t"/>
          <a:lstStyle/>
          <a:p>
            <a:pPr algn="ctr">
              <a:defRPr sz="825" b="1">
                <a:solidFill>
                  <a:srgbClr val="061D2D"/>
                </a:solidFill>
                <a:latin typeface="Aptos"/>
                <a:ea typeface="Aptos"/>
                <a:cs typeface="Aptos"/>
              </a:defRPr>
            </a:pPr>
            <a:r>
              <a:rPr sz="825" b="1">
                <a:solidFill>
                  <a:srgbClr val="061D2D"/>
                </a:solidFill>
                <a:latin typeface="Aptos"/>
                <a:ea typeface="Aptos"/>
                <a:cs typeface="Aptos"/>
              </a:rPr>
              <a:t>7,0%</a:t>
            </a:r>
          </a:p>
        </p:txBody>
      </p:sp>
      <p:sp>
        <p:nvSpPr>
          <p:cNvPr id="50" name="threshold-8,0">
            <a:extLst>
              <a:ext uri="{FF2B5EF4-FFF2-40B4-BE49-F238E27FC236}">
                <a16:creationId xmlns:a16="http://schemas.microsoft.com/office/drawing/2014/main" id="{8305A9F5-75AD-47C7-BB7B-417FEA186A8B}"/>
              </a:ext>
            </a:extLst>
          </p:cNvPr>
          <p:cNvSpPr>
            <a:spLocks noGrp="1"/>
          </p:cNvSpPr>
          <p:nvPr/>
        </p:nvSpPr>
        <p:spPr>
          <a:xfrm>
            <a:off x="10896600" y="4343400"/>
            <a:ext cx="161925" cy="161925"/>
          </a:xfrm>
          <a:prstGeom prst="ellipse">
            <a:avLst/>
          </a:prstGeom>
          <a:solidFill>
            <a:srgbClr val="08A9A5"/>
          </a:solidFill>
          <a:ln w="9525">
            <a:solidFill>
              <a:srgbClr val="08A9A5"/>
            </a:solidFill>
            <a:prstDash val="solid"/>
          </a:ln>
        </p:spPr>
        <p:txBody>
          <a:bodyPr/>
          <a:lstStyle/>
          <a:p>
            <a:endParaRPr lang="en-US"/>
          </a:p>
        </p:txBody>
      </p:sp>
      <p:sp>
        <p:nvSpPr>
          <p:cNvPr id="51" name="threshold-8,0-label">
            <a:extLst>
              <a:ext uri="{FF2B5EF4-FFF2-40B4-BE49-F238E27FC236}">
                <a16:creationId xmlns:a16="http://schemas.microsoft.com/office/drawing/2014/main" id="{5A6A421D-288B-4A2A-9091-3C969FC8E9C9}"/>
              </a:ext>
            </a:extLst>
          </p:cNvPr>
          <p:cNvSpPr>
            <a:spLocks noGrp="1"/>
          </p:cNvSpPr>
          <p:nvPr/>
        </p:nvSpPr>
        <p:spPr>
          <a:xfrm>
            <a:off x="10772775" y="4552950"/>
            <a:ext cx="419100" cy="171450"/>
          </a:xfrm>
          <a:prstGeom prst="rect">
            <a:avLst/>
          </a:prstGeom>
          <a:noFill/>
          <a:ln w="0">
            <a:noFill/>
            <a:prstDash val="solid"/>
          </a:ln>
        </p:spPr>
        <p:txBody>
          <a:bodyPr wrap="square" lIns="0" tIns="0" rIns="0" bIns="0" anchor="t"/>
          <a:lstStyle/>
          <a:p>
            <a:pPr algn="ctr">
              <a:defRPr sz="825" b="1">
                <a:solidFill>
                  <a:srgbClr val="061D2D"/>
                </a:solidFill>
                <a:latin typeface="Aptos"/>
                <a:ea typeface="Aptos"/>
                <a:cs typeface="Aptos"/>
              </a:defRPr>
            </a:pPr>
            <a:r>
              <a:rPr sz="825" b="1">
                <a:solidFill>
                  <a:srgbClr val="061D2D"/>
                </a:solidFill>
                <a:latin typeface="Aptos"/>
                <a:ea typeface="Aptos"/>
                <a:cs typeface="Aptos"/>
              </a:rPr>
              <a:t>8,0%</a:t>
            </a:r>
          </a:p>
        </p:txBody>
      </p:sp>
      <p:sp>
        <p:nvSpPr>
          <p:cNvPr id="52" name="equation-band">
            <a:extLst>
              <a:ext uri="{FF2B5EF4-FFF2-40B4-BE49-F238E27FC236}">
                <a16:creationId xmlns:a16="http://schemas.microsoft.com/office/drawing/2014/main" id="{EA613A7D-F94A-4F1E-9F91-6AF134C94D7C}"/>
              </a:ext>
            </a:extLst>
          </p:cNvPr>
          <p:cNvSpPr>
            <a:spLocks noGrp="1"/>
          </p:cNvSpPr>
          <p:nvPr/>
        </p:nvSpPr>
        <p:spPr>
          <a:xfrm>
            <a:off x="876300" y="5219700"/>
            <a:ext cx="10439400" cy="742950"/>
          </a:xfrm>
          <a:prstGeom prst="roundRect">
            <a:avLst>
              <a:gd name="adj" fmla="val 10256"/>
            </a:avLst>
          </a:prstGeom>
          <a:solidFill>
            <a:srgbClr val="F4F7F8"/>
          </a:solidFill>
          <a:ln w="9525">
            <a:solidFill>
              <a:srgbClr val="D9E2E7"/>
            </a:solidFill>
            <a:prstDash val="solid"/>
          </a:ln>
        </p:spPr>
        <p:txBody>
          <a:bodyPr/>
          <a:lstStyle/>
          <a:p>
            <a:endParaRPr lang="en-US"/>
          </a:p>
        </p:txBody>
      </p:sp>
      <p:sp>
        <p:nvSpPr>
          <p:cNvPr id="53" name="equation-label">
            <a:extLst>
              <a:ext uri="{FF2B5EF4-FFF2-40B4-BE49-F238E27FC236}">
                <a16:creationId xmlns:a16="http://schemas.microsoft.com/office/drawing/2014/main" id="{64FCF988-A341-4C1B-A073-441998189FEC}"/>
              </a:ext>
            </a:extLst>
          </p:cNvPr>
          <p:cNvSpPr>
            <a:spLocks noGrp="1"/>
          </p:cNvSpPr>
          <p:nvPr/>
        </p:nvSpPr>
        <p:spPr>
          <a:xfrm>
            <a:off x="1143000" y="5381625"/>
            <a:ext cx="2000250" cy="228600"/>
          </a:xfrm>
          <a:prstGeom prst="rect">
            <a:avLst/>
          </a:prstGeom>
          <a:noFill/>
          <a:ln w="0">
            <a:noFill/>
            <a:prstDash val="solid"/>
          </a:ln>
        </p:spPr>
        <p:txBody>
          <a:bodyPr wrap="square" lIns="0" tIns="0" rIns="0" bIns="0" anchor="t"/>
          <a:lstStyle/>
          <a:p>
            <a:pPr algn="l">
              <a:defRPr sz="1200" b="1">
                <a:solidFill>
                  <a:srgbClr val="007D7A"/>
                </a:solidFill>
                <a:latin typeface="Aptos"/>
                <a:ea typeface="Aptos"/>
                <a:cs typeface="Aptos"/>
              </a:defRPr>
            </a:pPr>
            <a:r>
              <a:rPr sz="1200" b="1">
                <a:solidFill>
                  <a:srgbClr val="007D7A"/>
                </a:solidFill>
                <a:latin typeface="Aptos"/>
                <a:ea typeface="Aptos"/>
                <a:cs typeface="Aptos"/>
              </a:rPr>
              <a:t>CET1-Aggregation</a:t>
            </a:r>
          </a:p>
        </p:txBody>
      </p:sp>
      <p:sp>
        <p:nvSpPr>
          <p:cNvPr id="54" name="equation">
            <a:extLst>
              <a:ext uri="{FF2B5EF4-FFF2-40B4-BE49-F238E27FC236}">
                <a16:creationId xmlns:a16="http://schemas.microsoft.com/office/drawing/2014/main" id="{61C0DFA9-A561-4E0C-8984-B26A1028C5C2}"/>
              </a:ext>
            </a:extLst>
          </p:cNvPr>
          <p:cNvSpPr>
            <a:spLocks noGrp="1"/>
          </p:cNvSpPr>
          <p:nvPr/>
        </p:nvSpPr>
        <p:spPr>
          <a:xfrm>
            <a:off x="3143250" y="5353050"/>
            <a:ext cx="7810500" cy="247650"/>
          </a:xfrm>
          <a:prstGeom prst="rect">
            <a:avLst/>
          </a:prstGeom>
          <a:noFill/>
          <a:ln w="0">
            <a:noFill/>
            <a:prstDash val="solid"/>
          </a:ln>
        </p:spPr>
        <p:txBody>
          <a:bodyPr wrap="square" lIns="0" tIns="0" rIns="0" bIns="0" anchor="t"/>
          <a:lstStyle/>
          <a:p>
            <a:pPr algn="ctr">
              <a:defRPr sz="1200" b="1">
                <a:solidFill>
                  <a:srgbClr val="061D2D"/>
                </a:solidFill>
                <a:latin typeface="Aptos"/>
                <a:ea typeface="Aptos"/>
                <a:cs typeface="Aptos"/>
              </a:defRPr>
            </a:pPr>
            <a:r>
              <a:rPr sz="1200" b="1">
                <a:solidFill>
                  <a:srgbClr val="061D2D"/>
                </a:solidFill>
                <a:latin typeface="Aptos"/>
                <a:ea typeface="Aptos"/>
                <a:cs typeface="Aptos"/>
              </a:rPr>
              <a:t>CET1 Stress = (CET1 Basis − ΔEL Kredit + ΔFV Sovereign) / (RWA Basis + ΔRWA Kredit)</a:t>
            </a:r>
          </a:p>
        </p:txBody>
      </p:sp>
      <p:sp>
        <p:nvSpPr>
          <p:cNvPr id="55" name="equation-note">
            <a:extLst>
              <a:ext uri="{FF2B5EF4-FFF2-40B4-BE49-F238E27FC236}">
                <a16:creationId xmlns:a16="http://schemas.microsoft.com/office/drawing/2014/main" id="{8D5F4E03-B0C8-48AF-A04A-E09C5FD08C03}"/>
              </a:ext>
            </a:extLst>
          </p:cNvPr>
          <p:cNvSpPr>
            <a:spLocks noGrp="1"/>
          </p:cNvSpPr>
          <p:nvPr/>
        </p:nvSpPr>
        <p:spPr>
          <a:xfrm>
            <a:off x="3143250" y="5657850"/>
            <a:ext cx="7810500" cy="209550"/>
          </a:xfrm>
          <a:prstGeom prst="rect">
            <a:avLst/>
          </a:prstGeom>
          <a:noFill/>
          <a:ln w="0">
            <a:noFill/>
            <a:prstDash val="solid"/>
          </a:ln>
        </p:spPr>
        <p:txBody>
          <a:bodyPr wrap="square" lIns="0" tIns="0" rIns="0" bIns="0" anchor="t"/>
          <a:lstStyle/>
          <a:p>
            <a:pPr algn="ctr">
              <a:defRPr sz="1050" b="0">
                <a:solidFill>
                  <a:srgbClr val="5F7F93"/>
                </a:solidFill>
                <a:latin typeface="Aptos"/>
                <a:ea typeface="Aptos"/>
                <a:cs typeface="Aptos"/>
              </a:defRPr>
            </a:pPr>
            <a:r>
              <a:rPr sz="1050" b="0">
                <a:solidFill>
                  <a:srgbClr val="5F7F93"/>
                </a:solidFill>
                <a:latin typeface="Aptos"/>
                <a:ea typeface="Aptos"/>
                <a:cs typeface="Aptos"/>
              </a:rPr>
              <a:t>Damit bleibt die Story prozessual sauber: erst Schock, dann Parameter, dann Kapitalmechanik, erst am Ende die Quote.</a:t>
            </a:r>
          </a:p>
        </p:txBody>
      </p:sp>
      <p:sp>
        <p:nvSpPr>
          <p:cNvPr id="56" name="bottom-claim">
            <a:extLst>
              <a:ext uri="{FF2B5EF4-FFF2-40B4-BE49-F238E27FC236}">
                <a16:creationId xmlns:a16="http://schemas.microsoft.com/office/drawing/2014/main" id="{4C85A08C-2FB7-4D6B-A976-0158A9C4269C}"/>
              </a:ext>
            </a:extLst>
          </p:cNvPr>
          <p:cNvSpPr>
            <a:spLocks noGrp="1"/>
          </p:cNvSpPr>
          <p:nvPr/>
        </p:nvSpPr>
        <p:spPr>
          <a:xfrm>
            <a:off x="914400" y="6210300"/>
            <a:ext cx="10363200" cy="266700"/>
          </a:xfrm>
          <a:prstGeom prst="rect">
            <a:avLst/>
          </a:prstGeom>
          <a:noFill/>
          <a:ln w="0">
            <a:noFill/>
            <a:prstDash val="solid"/>
          </a:ln>
        </p:spPr>
        <p:txBody>
          <a:bodyPr wrap="square" lIns="0" tIns="0" rIns="0" bIns="0" anchor="t"/>
          <a:lstStyle/>
          <a:p>
            <a:pPr algn="ctr">
              <a:defRPr sz="1200" b="1">
                <a:solidFill>
                  <a:srgbClr val="061D2D"/>
                </a:solidFill>
                <a:latin typeface="Aptos"/>
                <a:ea typeface="Aptos"/>
                <a:cs typeface="Aptos"/>
              </a:defRPr>
            </a:pPr>
            <a:r>
              <a:rPr lang="en-US" sz="1200" b="1" err="1">
                <a:solidFill>
                  <a:srgbClr val="061D2D"/>
                </a:solidFill>
                <a:latin typeface="Aptos"/>
                <a:ea typeface="Aptos"/>
                <a:cs typeface="Aptos"/>
              </a:rPr>
              <a:t>Kernaussage</a:t>
            </a:r>
            <a:r>
              <a:rPr sz="1200" b="1">
                <a:solidFill>
                  <a:srgbClr val="061D2D"/>
                </a:solidFill>
                <a:latin typeface="Aptos"/>
                <a:ea typeface="Aptos"/>
                <a:cs typeface="Aptos"/>
              </a:rPr>
              <a:t>: Der CET1-Effekt </a:t>
            </a:r>
            <a:r>
              <a:rPr lang="en-US" sz="1200" b="1" err="1">
                <a:solidFill>
                  <a:srgbClr val="061D2D"/>
                </a:solidFill>
                <a:latin typeface="Aptos"/>
                <a:ea typeface="Aptos"/>
                <a:cs typeface="Aptos"/>
              </a:rPr>
              <a:t>entsteht</a:t>
            </a:r>
            <a:r>
              <a:rPr sz="1200" b="1">
                <a:solidFill>
                  <a:srgbClr val="061D2D"/>
                </a:solidFill>
                <a:latin typeface="Aptos"/>
                <a:ea typeface="Aptos"/>
                <a:cs typeface="Aptos"/>
              </a:rPr>
              <a:t> nicht </a:t>
            </a:r>
            <a:r>
              <a:rPr lang="en-US" sz="1200" b="1" err="1">
                <a:solidFill>
                  <a:srgbClr val="061D2D"/>
                </a:solidFill>
                <a:latin typeface="Aptos"/>
                <a:ea typeface="Aptos"/>
                <a:cs typeface="Aptos"/>
              </a:rPr>
              <a:t>direkt</a:t>
            </a:r>
            <a:r>
              <a:rPr sz="1200" b="1">
                <a:solidFill>
                  <a:srgbClr val="061D2D"/>
                </a:solidFill>
                <a:latin typeface="Aptos"/>
                <a:ea typeface="Aptos"/>
                <a:cs typeface="Aptos"/>
              </a:rPr>
              <a:t> </a:t>
            </a:r>
            <a:r>
              <a:rPr lang="en-US" sz="1200" b="1" err="1">
                <a:solidFill>
                  <a:srgbClr val="061D2D"/>
                </a:solidFill>
                <a:latin typeface="Aptos"/>
                <a:ea typeface="Aptos"/>
                <a:cs typeface="Aptos"/>
              </a:rPr>
              <a:t>aus</a:t>
            </a:r>
            <a:r>
              <a:rPr sz="1200" b="1">
                <a:solidFill>
                  <a:srgbClr val="061D2D"/>
                </a:solidFill>
                <a:latin typeface="Aptos"/>
                <a:ea typeface="Aptos"/>
                <a:cs typeface="Aptos"/>
              </a:rPr>
              <a:t> dem Makro-Schock, </a:t>
            </a:r>
            <a:r>
              <a:rPr lang="en-US" sz="1200" b="1" err="1">
                <a:solidFill>
                  <a:srgbClr val="061D2D"/>
                </a:solidFill>
                <a:latin typeface="Aptos"/>
                <a:ea typeface="Aptos"/>
                <a:cs typeface="Aptos"/>
              </a:rPr>
              <a:t>sondern</a:t>
            </a:r>
            <a:r>
              <a:rPr sz="1200" b="1">
                <a:solidFill>
                  <a:srgbClr val="061D2D"/>
                </a:solidFill>
                <a:latin typeface="Aptos"/>
                <a:ea typeface="Aptos"/>
                <a:cs typeface="Aptos"/>
              </a:rPr>
              <a:t> </a:t>
            </a:r>
            <a:r>
              <a:rPr lang="en-US" sz="1200" b="1" err="1">
                <a:solidFill>
                  <a:srgbClr val="061D2D"/>
                </a:solidFill>
                <a:latin typeface="Aptos"/>
                <a:ea typeface="Aptos"/>
                <a:cs typeface="Aptos"/>
              </a:rPr>
              <a:t>aus</a:t>
            </a:r>
            <a:r>
              <a:rPr sz="1200" b="1">
                <a:solidFill>
                  <a:srgbClr val="061D2D"/>
                </a:solidFill>
                <a:latin typeface="Aptos"/>
                <a:ea typeface="Aptos"/>
                <a:cs typeface="Aptos"/>
              </a:rPr>
              <a:t> </a:t>
            </a:r>
            <a:r>
              <a:rPr lang="en-US" sz="1200" b="1" err="1">
                <a:solidFill>
                  <a:srgbClr val="061D2D"/>
                </a:solidFill>
                <a:latin typeface="Aptos"/>
                <a:ea typeface="Aptos"/>
                <a:cs typeface="Aptos"/>
              </a:rPr>
              <a:t>einer</a:t>
            </a:r>
            <a:r>
              <a:rPr sz="1200" b="1">
                <a:solidFill>
                  <a:srgbClr val="061D2D"/>
                </a:solidFill>
                <a:latin typeface="Aptos"/>
                <a:ea typeface="Aptos"/>
                <a:cs typeface="Aptos"/>
              </a:rPr>
              <a:t> </a:t>
            </a:r>
            <a:r>
              <a:rPr lang="en-US" sz="1200" b="1" err="1">
                <a:solidFill>
                  <a:srgbClr val="061D2D"/>
                </a:solidFill>
                <a:latin typeface="Aptos"/>
                <a:ea typeface="Aptos"/>
                <a:cs typeface="Aptos"/>
              </a:rPr>
              <a:t>nachvollziehbaren</a:t>
            </a:r>
            <a:r>
              <a:rPr sz="1200" b="1">
                <a:solidFill>
                  <a:srgbClr val="061D2D"/>
                </a:solidFill>
                <a:latin typeface="Aptos"/>
                <a:ea typeface="Aptos"/>
                <a:cs typeface="Aptos"/>
              </a:rPr>
              <a:t> Transmission </a:t>
            </a:r>
            <a:r>
              <a:rPr lang="en-US" sz="1200" b="1" err="1">
                <a:solidFill>
                  <a:srgbClr val="061D2D"/>
                </a:solidFill>
                <a:latin typeface="Aptos"/>
                <a:ea typeface="Aptos"/>
                <a:cs typeface="Aptos"/>
              </a:rPr>
              <a:t>über</a:t>
            </a:r>
            <a:r>
              <a:rPr sz="1200" b="1">
                <a:solidFill>
                  <a:srgbClr val="061D2D"/>
                </a:solidFill>
                <a:latin typeface="Aptos"/>
                <a:ea typeface="Aptos"/>
                <a:cs typeface="Aptos"/>
              </a:rPr>
              <a:t> </a:t>
            </a:r>
            <a:r>
              <a:rPr lang="en-US" sz="1200" b="1" err="1">
                <a:solidFill>
                  <a:srgbClr val="061D2D"/>
                </a:solidFill>
                <a:latin typeface="Aptos"/>
                <a:ea typeface="Aptos"/>
                <a:cs typeface="Aptos"/>
              </a:rPr>
              <a:t>Kreditbuch</a:t>
            </a:r>
            <a:r>
              <a:rPr sz="1200" b="1">
                <a:solidFill>
                  <a:srgbClr val="061D2D"/>
                </a:solidFill>
                <a:latin typeface="Aptos"/>
                <a:ea typeface="Aptos"/>
                <a:cs typeface="Aptos"/>
              </a:rPr>
              <a:t> und Sovereign-Buch.</a:t>
            </a:r>
          </a:p>
        </p:txBody>
      </p:sp>
      <p:sp>
        <p:nvSpPr>
          <p:cNvPr id="59" name="Rectangle 58">
            <a:extLst>
              <a:ext uri="{FF2B5EF4-FFF2-40B4-BE49-F238E27FC236}">
                <a16:creationId xmlns:a16="http://schemas.microsoft.com/office/drawing/2014/main" id="{A00C52BE-81CB-01C1-D3F9-8D02AA2A777E}"/>
              </a:ext>
            </a:extLst>
          </p:cNvPr>
          <p:cNvSpPr>
            <a:spLocks noGrp="1"/>
          </p:cNvSpPr>
          <p:nvPr/>
        </p:nvSpPr>
        <p:spPr>
          <a:xfrm>
            <a:off x="457200" y="228600"/>
            <a:ext cx="4572000" cy="171450"/>
          </a:xfrm>
          <a:prstGeom prst="rect">
            <a:avLst/>
          </a:prstGeom>
          <a:noFill/>
          <a:ln w="0">
            <a:noFill/>
            <a:prstDash val="solid"/>
          </a:ln>
        </p:spPr>
        <p:txBody>
          <a:bodyPr/>
          <a:lstStyle/>
          <a:p>
            <a:pPr algn="l">
              <a:defRPr sz="863" b="1" i="0">
                <a:solidFill>
                  <a:srgbClr val="A52F4D"/>
                </a:solidFill>
                <a:latin typeface="Aptos"/>
                <a:ea typeface="Aptos"/>
                <a:cs typeface="Aptos"/>
              </a:defRPr>
            </a:pPr>
            <a:r>
              <a:rPr sz="863" b="1" i="0" dirty="0">
                <a:solidFill>
                  <a:schemeClr val="tx2"/>
                </a:solidFill>
                <a:latin typeface="Aptos"/>
                <a:ea typeface="Aptos"/>
                <a:cs typeface="Aptos"/>
              </a:rPr>
              <a:t>CET1-ERGEBNIS</a:t>
            </a:r>
          </a:p>
        </p:txBody>
      </p:sp>
      <p:sp>
        <p:nvSpPr>
          <p:cNvPr id="2" name="CodexSlideNumber">
            <a:extLst>
              <a:ext uri="{FF2B5EF4-FFF2-40B4-BE49-F238E27FC236}">
                <a16:creationId xmlns:a16="http://schemas.microsoft.com/office/drawing/2014/main" id="{3F585F28-8A76-9E92-AD4F-79727BB4043C}"/>
              </a:ext>
            </a:extLst>
          </p:cNvPr>
          <p:cNvSpPr txBox="1"/>
          <p:nvPr/>
        </p:nvSpPr>
        <p:spPr>
          <a:xfrm>
            <a:off x="11226800" y="6553200"/>
            <a:ext cx="736600" cy="123111"/>
          </a:xfrm>
          <a:prstGeom prst="rect">
            <a:avLst/>
          </a:prstGeom>
          <a:noFill/>
        </p:spPr>
        <p:txBody>
          <a:bodyPr vert="horz" lIns="0" tIns="0" rIns="0" bIns="0" rtlCol="0">
            <a:spAutoFit/>
          </a:bodyPr>
          <a:lstStyle/>
          <a:p>
            <a:pPr algn="r"/>
            <a:r>
              <a:rPr lang="en-US" sz="800">
                <a:solidFill>
                  <a:srgbClr val="525252"/>
                </a:solidFill>
                <a:latin typeface="Arial" panose="020B0604020202020204" pitchFamily="34" charset="0"/>
              </a:rPr>
              <a:t>18 / 64</a:t>
            </a:r>
          </a:p>
        </p:txBody>
      </p:sp>
    </p:spTree>
    <p:extLst>
      <p:ext uri="{BB962C8B-B14F-4D97-AF65-F5344CB8AC3E}">
        <p14:creationId xmlns:p14="http://schemas.microsoft.com/office/powerpoint/2010/main" val="5705190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6F8F7EA7-727F-4453-9246-758DA804F0BF}"/>
              </a:ext>
            </a:extLst>
          </p:cNvPr>
          <p:cNvSpPr>
            <a:spLocks noGrp="1"/>
          </p:cNvSpPr>
          <p:nvPr/>
        </p:nvSpPr>
        <p:spPr>
          <a:xfrm>
            <a:off x="0" y="0"/>
            <a:ext cx="12192000" cy="6858000"/>
          </a:xfrm>
          <a:prstGeom prst="rect">
            <a:avLst/>
          </a:prstGeom>
          <a:solidFill>
            <a:srgbClr val="071C2C"/>
          </a:solidFill>
        </p:spPr>
        <p:txBody>
          <a:bodyPr/>
          <a:lstStyle/>
          <a:p>
            <a:endParaRPr lang="en-US"/>
          </a:p>
        </p:txBody>
      </p:sp>
      <p:sp>
        <p:nvSpPr>
          <p:cNvPr id="2" name="kicker-credit-divider-marker">
            <a:extLst>
              <a:ext uri="{FF2B5EF4-FFF2-40B4-BE49-F238E27FC236}">
                <a16:creationId xmlns:a16="http://schemas.microsoft.com/office/drawing/2014/main" id="{8BF9A6C4-615C-4AF8-97E9-FE101DFB5DF9}"/>
              </a:ext>
            </a:extLst>
          </p:cNvPr>
          <p:cNvSpPr>
            <a:spLocks noGrp="1"/>
          </p:cNvSpPr>
          <p:nvPr/>
        </p:nvSpPr>
        <p:spPr>
          <a:xfrm>
            <a:off x="609600" y="676275"/>
            <a:ext cx="76200" cy="76200"/>
          </a:xfrm>
          <a:prstGeom prst="rect">
            <a:avLst/>
          </a:prstGeom>
          <a:solidFill>
            <a:srgbClr val="0B5A7A"/>
          </a:solidFill>
        </p:spPr>
        <p:txBody>
          <a:bodyPr/>
          <a:lstStyle/>
          <a:p>
            <a:endParaRPr lang="en-US"/>
          </a:p>
        </p:txBody>
      </p:sp>
      <p:sp>
        <p:nvSpPr>
          <p:cNvPr id="3" name="kicker-credit-divider-label">
            <a:extLst>
              <a:ext uri="{FF2B5EF4-FFF2-40B4-BE49-F238E27FC236}">
                <a16:creationId xmlns:a16="http://schemas.microsoft.com/office/drawing/2014/main" id="{83BEABC3-0630-4559-81F8-74D9BE2E8B6B}"/>
              </a:ext>
            </a:extLst>
          </p:cNvPr>
          <p:cNvSpPr>
            <a:spLocks noGrp="1"/>
          </p:cNvSpPr>
          <p:nvPr/>
        </p:nvSpPr>
        <p:spPr>
          <a:xfrm>
            <a:off x="800100" y="609600"/>
            <a:ext cx="4000500" cy="209550"/>
          </a:xfrm>
          <a:prstGeom prst="rect">
            <a:avLst/>
          </a:prstGeom>
        </p:spPr>
        <p:txBody>
          <a:bodyPr lIns="0" tIns="0" rIns="0" bIns="0" anchor="ctr"/>
          <a:lstStyle/>
          <a:p>
            <a:pPr algn="l">
              <a:defRPr sz="1050" b="1">
                <a:solidFill>
                  <a:srgbClr val="D7E0E5"/>
                </a:solidFill>
                <a:latin typeface="Aptos"/>
                <a:ea typeface="Aptos"/>
                <a:cs typeface="Aptos"/>
              </a:defRPr>
            </a:pPr>
            <a:r>
              <a:t>KREDITBUCH</a:t>
            </a:r>
          </a:p>
        </p:txBody>
      </p:sp>
      <p:sp>
        <p:nvSpPr>
          <p:cNvPr id="4" name="Rectangle 3">
            <a:extLst>
              <a:ext uri="{FF2B5EF4-FFF2-40B4-BE49-F238E27FC236}">
                <a16:creationId xmlns:a16="http://schemas.microsoft.com/office/drawing/2014/main" id="{61CE99DC-E233-4746-99C9-7EDD8C08C84A}"/>
              </a:ext>
            </a:extLst>
          </p:cNvPr>
          <p:cNvSpPr>
            <a:spLocks noGrp="1"/>
          </p:cNvSpPr>
          <p:nvPr/>
        </p:nvSpPr>
        <p:spPr>
          <a:xfrm>
            <a:off x="9296400" y="622935"/>
            <a:ext cx="2286000" cy="182880"/>
          </a:xfrm>
          <a:prstGeom prst="rect">
            <a:avLst/>
          </a:prstGeom>
        </p:spPr>
        <p:txBody>
          <a:bodyPr lIns="0" tIns="0" rIns="0" bIns="0" anchor="t"/>
          <a:lstStyle/>
          <a:p>
            <a:pPr algn="r">
              <a:defRPr sz="1200" b="1">
                <a:solidFill>
                  <a:srgbClr val="D7E0E5"/>
                </a:solidFill>
                <a:latin typeface="Aptos"/>
                <a:ea typeface="Aptos"/>
                <a:cs typeface="Aptos"/>
              </a:defRPr>
            </a:pPr>
            <a:endParaRPr/>
          </a:p>
        </p:txBody>
      </p:sp>
      <p:sp>
        <p:nvSpPr>
          <p:cNvPr id="5" name="Rectangle 4">
            <a:extLst>
              <a:ext uri="{FF2B5EF4-FFF2-40B4-BE49-F238E27FC236}">
                <a16:creationId xmlns:a16="http://schemas.microsoft.com/office/drawing/2014/main" id="{F65DD1C6-7093-4F34-AD86-E1DEBBEB4BCE}"/>
              </a:ext>
            </a:extLst>
          </p:cNvPr>
          <p:cNvSpPr>
            <a:spLocks noGrp="1"/>
          </p:cNvSpPr>
          <p:nvPr/>
        </p:nvSpPr>
        <p:spPr>
          <a:xfrm>
            <a:off x="609600" y="2152650"/>
            <a:ext cx="857250" cy="76200"/>
          </a:xfrm>
          <a:prstGeom prst="rect">
            <a:avLst/>
          </a:prstGeom>
          <a:solidFill>
            <a:srgbClr val="0B5A7A"/>
          </a:solidFill>
        </p:spPr>
        <p:txBody>
          <a:bodyPr/>
          <a:lstStyle/>
          <a:p>
            <a:endParaRPr lang="en-US"/>
          </a:p>
        </p:txBody>
      </p:sp>
      <p:sp>
        <p:nvSpPr>
          <p:cNvPr id="6" name="Rectangle 5">
            <a:extLst>
              <a:ext uri="{FF2B5EF4-FFF2-40B4-BE49-F238E27FC236}">
                <a16:creationId xmlns:a16="http://schemas.microsoft.com/office/drawing/2014/main" id="{7E7269EC-71A7-4C68-9339-E6954B698A71}"/>
              </a:ext>
            </a:extLst>
          </p:cNvPr>
          <p:cNvSpPr>
            <a:spLocks noGrp="1"/>
          </p:cNvSpPr>
          <p:nvPr/>
        </p:nvSpPr>
        <p:spPr>
          <a:xfrm>
            <a:off x="609600" y="2438400"/>
            <a:ext cx="9715500" cy="1428750"/>
          </a:xfrm>
          <a:prstGeom prst="rect">
            <a:avLst/>
          </a:prstGeom>
        </p:spPr>
        <p:txBody>
          <a:bodyPr lIns="0" tIns="0" rIns="0" bIns="0" anchor="t"/>
          <a:lstStyle/>
          <a:p>
            <a:pPr algn="l">
              <a:defRPr sz="4800" b="1">
                <a:solidFill>
                  <a:srgbClr val="FFFFFF"/>
                </a:solidFill>
                <a:latin typeface="Aptos Display"/>
                <a:ea typeface="Aptos Display"/>
                <a:cs typeface="Aptos Display"/>
              </a:defRPr>
            </a:pPr>
            <a:r>
              <a:t>Kreditbuch</a:t>
            </a:r>
          </a:p>
        </p:txBody>
      </p:sp>
      <p:sp>
        <p:nvSpPr>
          <p:cNvPr id="7" name="Rectangle 6">
            <a:extLst>
              <a:ext uri="{FF2B5EF4-FFF2-40B4-BE49-F238E27FC236}">
                <a16:creationId xmlns:a16="http://schemas.microsoft.com/office/drawing/2014/main" id="{28D22E85-5D4D-48A9-9E9D-1ECCD5D35567}"/>
              </a:ext>
            </a:extLst>
          </p:cNvPr>
          <p:cNvSpPr>
            <a:spLocks noGrp="1"/>
          </p:cNvSpPr>
          <p:nvPr/>
        </p:nvSpPr>
        <p:spPr>
          <a:xfrm>
            <a:off x="609600" y="4076700"/>
            <a:ext cx="8572500" cy="666750"/>
          </a:xfrm>
          <a:prstGeom prst="rect">
            <a:avLst/>
          </a:prstGeom>
        </p:spPr>
        <p:txBody>
          <a:bodyPr lIns="0" tIns="0" rIns="0" bIns="0" anchor="t"/>
          <a:lstStyle/>
          <a:p>
            <a:pPr algn="l">
              <a:defRPr sz="1800" b="0">
                <a:solidFill>
                  <a:srgbClr val="C7D2D9"/>
                </a:solidFill>
                <a:latin typeface="Aptos"/>
                <a:ea typeface="Aptos"/>
                <a:cs typeface="Aptos"/>
              </a:defRPr>
            </a:pPr>
            <a:r>
              <a:t>Von bankindividuellen PD/LGD-Baselines über Expected Loss bis zur Basel-IRB-RWA.</a:t>
            </a:r>
          </a:p>
        </p:txBody>
      </p:sp>
      <p:sp>
        <p:nvSpPr>
          <p:cNvPr id="8" name="CodexSlideNumber">
            <a:extLst>
              <a:ext uri="{FF2B5EF4-FFF2-40B4-BE49-F238E27FC236}">
                <a16:creationId xmlns:a16="http://schemas.microsoft.com/office/drawing/2014/main" id="{96DA83CA-8E81-E1DF-58A7-931F3EA95B65}"/>
              </a:ext>
            </a:extLst>
          </p:cNvPr>
          <p:cNvSpPr txBox="1"/>
          <p:nvPr/>
        </p:nvSpPr>
        <p:spPr>
          <a:xfrm>
            <a:off x="11226800" y="6553200"/>
            <a:ext cx="736600" cy="123111"/>
          </a:xfrm>
          <a:prstGeom prst="rect">
            <a:avLst/>
          </a:prstGeom>
          <a:noFill/>
        </p:spPr>
        <p:txBody>
          <a:bodyPr vert="horz" lIns="0" tIns="0" rIns="0" bIns="0" rtlCol="0">
            <a:spAutoFit/>
          </a:bodyPr>
          <a:lstStyle/>
          <a:p>
            <a:pPr algn="r"/>
            <a:r>
              <a:rPr lang="en-US" sz="800">
                <a:solidFill>
                  <a:srgbClr val="525252"/>
                </a:solidFill>
                <a:latin typeface="Arial" panose="020B0604020202020204" pitchFamily="34" charset="0"/>
              </a:rPr>
              <a:t>19 / 64</a:t>
            </a:r>
          </a:p>
        </p:txBody>
      </p:sp>
    </p:spTree>
    <p:extLst>
      <p:ext uri="{BB962C8B-B14F-4D97-AF65-F5344CB8AC3E}">
        <p14:creationId xmlns:p14="http://schemas.microsoft.com/office/powerpoint/2010/main" val="234078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0058400" cy="320040"/>
          </a:xfrm>
          <a:prstGeom prst="rect">
            <a:avLst/>
          </a:prstGeom>
          <a:noFill/>
          <a:ln/>
        </p:spPr>
        <p:txBody>
          <a:bodyPr wrap="square" lIns="0" tIns="0" rIns="0" bIns="0" rtlCol="0" anchor="ctr"/>
          <a:lstStyle/>
          <a:p>
            <a:pPr marL="0" indent="0">
              <a:buNone/>
            </a:pPr>
            <a:endParaRPr lang="en-US" sz="1200"/>
          </a:p>
          <a:p>
            <a:pPr marL="0" indent="0">
              <a:buNone/>
            </a:pPr>
            <a:endParaRPr lang="en-US" sz="1200" dirty="0"/>
          </a:p>
        </p:txBody>
      </p:sp>
      <p:sp>
        <p:nvSpPr>
          <p:cNvPr id="3" name="Text 1"/>
          <p:cNvSpPr/>
          <p:nvPr/>
        </p:nvSpPr>
        <p:spPr>
          <a:xfrm>
            <a:off x="548640" y="658368"/>
            <a:ext cx="10515600" cy="822960"/>
          </a:xfrm>
          <a:prstGeom prst="rect">
            <a:avLst/>
          </a:prstGeom>
          <a:noFill/>
          <a:ln/>
        </p:spPr>
        <p:txBody>
          <a:bodyPr wrap="square" lIns="0" tIns="0" rIns="0" bIns="0" rtlCol="0" anchor="ctr"/>
          <a:lstStyle/>
          <a:p>
            <a:pPr>
              <a:buNone/>
              <a:defRPr sz="2475" b="1" i="0">
                <a:solidFill>
                  <a:srgbClr val="051C2C"/>
                </a:solidFill>
                <a:latin typeface="Aptos Display"/>
                <a:ea typeface="Aptos Display"/>
                <a:cs typeface="Aptos Display"/>
              </a:defRPr>
            </a:pPr>
            <a:r>
              <a:rPr lang="en-US" sz="2475" b="1" dirty="0" err="1">
                <a:solidFill>
                  <a:srgbClr val="051C2C"/>
                </a:solidFill>
                <a:latin typeface="Aptos Display"/>
              </a:rPr>
              <a:t>Worum</a:t>
            </a:r>
            <a:r>
              <a:rPr lang="en-US" sz="2475" b="1" dirty="0">
                <a:solidFill>
                  <a:srgbClr val="051C2C"/>
                </a:solidFill>
                <a:latin typeface="Aptos Display"/>
              </a:rPr>
              <a:t> </a:t>
            </a:r>
            <a:r>
              <a:rPr lang="en-US" sz="2475" b="1" dirty="0" err="1">
                <a:solidFill>
                  <a:srgbClr val="051C2C"/>
                </a:solidFill>
                <a:latin typeface="Aptos Display"/>
              </a:rPr>
              <a:t>geht</a:t>
            </a:r>
            <a:r>
              <a:rPr lang="en-US" sz="2475" b="1" dirty="0">
                <a:solidFill>
                  <a:srgbClr val="051C2C"/>
                </a:solidFill>
                <a:latin typeface="Aptos Display"/>
              </a:rPr>
              <a:t> es </a:t>
            </a:r>
            <a:r>
              <a:rPr lang="en-US" sz="2475" b="1" dirty="0" err="1">
                <a:solidFill>
                  <a:srgbClr val="051C2C"/>
                </a:solidFill>
                <a:latin typeface="Aptos Display"/>
              </a:rPr>
              <a:t>im</a:t>
            </a:r>
            <a:r>
              <a:rPr lang="en-US" sz="2475" b="1" dirty="0">
                <a:solidFill>
                  <a:srgbClr val="051C2C"/>
                </a:solidFill>
                <a:latin typeface="Aptos Display"/>
              </a:rPr>
              <a:t> </a:t>
            </a:r>
            <a:r>
              <a:rPr lang="en-US" sz="2475" b="1" dirty="0" err="1">
                <a:solidFill>
                  <a:srgbClr val="051C2C"/>
                </a:solidFill>
                <a:latin typeface="Aptos Display"/>
              </a:rPr>
              <a:t>Kreditbuch</a:t>
            </a:r>
            <a:r>
              <a:rPr lang="en-US" sz="2475" b="1" dirty="0">
                <a:solidFill>
                  <a:srgbClr val="051C2C"/>
                </a:solidFill>
                <a:latin typeface="Aptos Display"/>
              </a:rPr>
              <a:t>-Tab?</a:t>
            </a:r>
            <a:endParaRPr lang="en-US" sz="2475" b="1">
              <a:solidFill>
                <a:srgbClr val="051C2C"/>
              </a:solidFill>
              <a:latin typeface="Aptos Display"/>
            </a:endParaRPr>
          </a:p>
        </p:txBody>
      </p:sp>
      <p:sp>
        <p:nvSpPr>
          <p:cNvPr id="4" name="Text 2"/>
          <p:cNvSpPr/>
          <p:nvPr/>
        </p:nvSpPr>
        <p:spPr>
          <a:xfrm>
            <a:off x="548640" y="1691640"/>
            <a:ext cx="6400800" cy="1828800"/>
          </a:xfrm>
          <a:prstGeom prst="rect">
            <a:avLst/>
          </a:prstGeom>
          <a:noFill/>
          <a:ln/>
        </p:spPr>
        <p:txBody>
          <a:bodyPr wrap="square" lIns="0" tIns="0" rIns="0" bIns="0" rtlCol="0" anchor="ctr"/>
          <a:lstStyle/>
          <a:p>
            <a:pPr marL="0" indent="0">
              <a:lnSpc>
                <a:spcPct val="125000"/>
              </a:lnSpc>
              <a:buNone/>
            </a:pPr>
            <a:r>
              <a:rPr lang="en-US" sz="1450">
                <a:solidFill>
                  <a:srgbClr val="1A1A1A"/>
                </a:solidFill>
                <a:latin typeface="Aptos" panose="020B0004020202020204" pitchFamily="34" charset="0"/>
                <a:ea typeface="Calibri" pitchFamily="34" charset="-122"/>
                <a:cs typeface="Calibri" pitchFamily="34" charset="-120"/>
              </a:rPr>
              <a:t>Das </a:t>
            </a:r>
            <a:r>
              <a:rPr lang="en-US" sz="1450" err="1">
                <a:solidFill>
                  <a:srgbClr val="1A1A1A"/>
                </a:solidFill>
                <a:latin typeface="Aptos" panose="020B0004020202020204" pitchFamily="34" charset="0"/>
                <a:ea typeface="Calibri" pitchFamily="34" charset="-122"/>
                <a:cs typeface="Calibri" pitchFamily="34" charset="-120"/>
              </a:rPr>
              <a:t>Kreditbuch</a:t>
            </a:r>
            <a:r>
              <a:rPr lang="en-US" sz="1450">
                <a:solidFill>
                  <a:srgbClr val="1A1A1A"/>
                </a:solidFill>
                <a:latin typeface="Aptos" panose="020B0004020202020204" pitchFamily="34" charset="0"/>
                <a:ea typeface="Calibri" pitchFamily="34" charset="-122"/>
                <a:cs typeface="Calibri" pitchFamily="34" charset="-120"/>
              </a:rPr>
              <a:t> </a:t>
            </a:r>
            <a:r>
              <a:rPr lang="en-US" sz="1450" err="1">
                <a:solidFill>
                  <a:srgbClr val="1A1A1A"/>
                </a:solidFill>
                <a:latin typeface="Aptos" panose="020B0004020202020204" pitchFamily="34" charset="0"/>
                <a:ea typeface="Calibri" pitchFamily="34" charset="-122"/>
                <a:cs typeface="Calibri" pitchFamily="34" charset="-120"/>
              </a:rPr>
              <a:t>ist</a:t>
            </a:r>
            <a:r>
              <a:rPr lang="en-US" sz="1450">
                <a:solidFill>
                  <a:srgbClr val="1A1A1A"/>
                </a:solidFill>
                <a:latin typeface="Aptos" panose="020B0004020202020204" pitchFamily="34" charset="0"/>
                <a:ea typeface="Calibri" pitchFamily="34" charset="-122"/>
                <a:cs typeface="Calibri" pitchFamily="34" charset="-120"/>
              </a:rPr>
              <a:t> die </a:t>
            </a:r>
            <a:r>
              <a:rPr lang="en-US" sz="1450" err="1">
                <a:solidFill>
                  <a:srgbClr val="1A1A1A"/>
                </a:solidFill>
                <a:latin typeface="Aptos" panose="020B0004020202020204" pitchFamily="34" charset="0"/>
                <a:ea typeface="Calibri" pitchFamily="34" charset="-122"/>
                <a:cs typeface="Calibri" pitchFamily="34" charset="-120"/>
              </a:rPr>
              <a:t>größte</a:t>
            </a:r>
            <a:r>
              <a:rPr lang="en-US" sz="1450">
                <a:solidFill>
                  <a:srgbClr val="1A1A1A"/>
                </a:solidFill>
                <a:latin typeface="Aptos" panose="020B0004020202020204" pitchFamily="34" charset="0"/>
                <a:ea typeface="Calibri" pitchFamily="34" charset="-122"/>
                <a:cs typeface="Calibri" pitchFamily="34" charset="-120"/>
              </a:rPr>
              <a:t> </a:t>
            </a:r>
            <a:r>
              <a:rPr lang="en-US" sz="1450" err="1">
                <a:solidFill>
                  <a:srgbClr val="1A1A1A"/>
                </a:solidFill>
                <a:latin typeface="Aptos" panose="020B0004020202020204" pitchFamily="34" charset="0"/>
                <a:ea typeface="Calibri" pitchFamily="34" charset="-122"/>
                <a:cs typeface="Calibri" pitchFamily="34" charset="-120"/>
              </a:rPr>
              <a:t>Bilanzposition</a:t>
            </a:r>
            <a:r>
              <a:rPr lang="en-US" sz="1450">
                <a:solidFill>
                  <a:srgbClr val="1A1A1A"/>
                </a:solidFill>
                <a:latin typeface="Aptos" panose="020B0004020202020204" pitchFamily="34" charset="0"/>
                <a:ea typeface="Calibri" pitchFamily="34" charset="-122"/>
                <a:cs typeface="Calibri" pitchFamily="34" charset="-120"/>
              </a:rPr>
              <a:t> </a:t>
            </a:r>
            <a:r>
              <a:rPr lang="en-US" sz="1450" err="1">
                <a:solidFill>
                  <a:srgbClr val="1A1A1A"/>
                </a:solidFill>
                <a:latin typeface="Aptos" panose="020B0004020202020204" pitchFamily="34" charset="0"/>
                <a:ea typeface="Calibri" pitchFamily="34" charset="-122"/>
                <a:cs typeface="Calibri" pitchFamily="34" charset="-120"/>
              </a:rPr>
              <a:t>jeder</a:t>
            </a:r>
            <a:r>
              <a:rPr lang="en-US" sz="1450">
                <a:solidFill>
                  <a:srgbClr val="1A1A1A"/>
                </a:solidFill>
                <a:latin typeface="Aptos" panose="020B0004020202020204" pitchFamily="34" charset="0"/>
                <a:ea typeface="Calibri" pitchFamily="34" charset="-122"/>
                <a:cs typeface="Calibri" pitchFamily="34" charset="-120"/>
              </a:rPr>
              <a:t> Bank - alle </a:t>
            </a:r>
            <a:r>
              <a:rPr lang="en-US" sz="1450" err="1">
                <a:solidFill>
                  <a:srgbClr val="1A1A1A"/>
                </a:solidFill>
                <a:latin typeface="Aptos" panose="020B0004020202020204" pitchFamily="34" charset="0"/>
                <a:ea typeface="Calibri" pitchFamily="34" charset="-122"/>
                <a:cs typeface="Calibri" pitchFamily="34" charset="-120"/>
              </a:rPr>
              <a:t>Kredite</a:t>
            </a:r>
            <a:r>
              <a:rPr lang="en-US" sz="1450">
                <a:solidFill>
                  <a:srgbClr val="1A1A1A"/>
                </a:solidFill>
                <a:latin typeface="Aptos" panose="020B0004020202020204" pitchFamily="34" charset="0"/>
                <a:ea typeface="Calibri" pitchFamily="34" charset="-122"/>
                <a:cs typeface="Calibri" pitchFamily="34" charset="-120"/>
              </a:rPr>
              <a:t> an </a:t>
            </a:r>
            <a:r>
              <a:rPr lang="en-US" sz="1450" err="1">
                <a:solidFill>
                  <a:srgbClr val="1A1A1A"/>
                </a:solidFill>
                <a:latin typeface="Aptos" panose="020B0004020202020204" pitchFamily="34" charset="0"/>
                <a:ea typeface="Calibri" pitchFamily="34" charset="-122"/>
                <a:cs typeface="Calibri" pitchFamily="34" charset="-120"/>
              </a:rPr>
              <a:t>Unternehmen</a:t>
            </a:r>
            <a:r>
              <a:rPr lang="en-US" sz="1450">
                <a:solidFill>
                  <a:srgbClr val="1A1A1A"/>
                </a:solidFill>
                <a:latin typeface="Aptos" panose="020B0004020202020204" pitchFamily="34" charset="0"/>
                <a:ea typeface="Calibri" pitchFamily="34" charset="-122"/>
                <a:cs typeface="Calibri" pitchFamily="34" charset="-120"/>
              </a:rPr>
              <a:t>, </a:t>
            </a:r>
            <a:r>
              <a:rPr lang="en-US" sz="1450" err="1">
                <a:solidFill>
                  <a:srgbClr val="1A1A1A"/>
                </a:solidFill>
                <a:latin typeface="Aptos" panose="020B0004020202020204" pitchFamily="34" charset="0"/>
                <a:ea typeface="Calibri" pitchFamily="34" charset="-122"/>
                <a:cs typeface="Calibri" pitchFamily="34" charset="-120"/>
              </a:rPr>
              <a:t>Privatkunden</a:t>
            </a:r>
            <a:r>
              <a:rPr lang="en-US" sz="1450">
                <a:solidFill>
                  <a:srgbClr val="1A1A1A"/>
                </a:solidFill>
                <a:latin typeface="Aptos" panose="020B0004020202020204" pitchFamily="34" charset="0"/>
                <a:ea typeface="Calibri" pitchFamily="34" charset="-122"/>
                <a:cs typeface="Calibri" pitchFamily="34" charset="-120"/>
              </a:rPr>
              <a:t> und </a:t>
            </a:r>
            <a:r>
              <a:rPr lang="en-US" sz="1450" err="1">
                <a:solidFill>
                  <a:srgbClr val="1A1A1A"/>
                </a:solidFill>
                <a:latin typeface="Aptos" panose="020B0004020202020204" pitchFamily="34" charset="0"/>
                <a:ea typeface="Calibri" pitchFamily="34" charset="-122"/>
                <a:cs typeface="Calibri" pitchFamily="34" charset="-120"/>
              </a:rPr>
              <a:t>andere</a:t>
            </a:r>
            <a:r>
              <a:rPr lang="en-US" sz="1450">
                <a:solidFill>
                  <a:srgbClr val="1A1A1A"/>
                </a:solidFill>
                <a:latin typeface="Aptos" panose="020B0004020202020204" pitchFamily="34" charset="0"/>
                <a:ea typeface="Calibri" pitchFamily="34" charset="-122"/>
                <a:cs typeface="Calibri" pitchFamily="34" charset="-120"/>
              </a:rPr>
              <a:t> Banken. Wenn </a:t>
            </a:r>
            <a:r>
              <a:rPr lang="en-US" sz="1450" err="1">
                <a:solidFill>
                  <a:srgbClr val="1A1A1A"/>
                </a:solidFill>
                <a:latin typeface="Aptos" panose="020B0004020202020204" pitchFamily="34" charset="0"/>
                <a:ea typeface="Calibri" pitchFamily="34" charset="-122"/>
                <a:cs typeface="Calibri" pitchFamily="34" charset="-120"/>
              </a:rPr>
              <a:t>Ölpreis</a:t>
            </a:r>
            <a:r>
              <a:rPr lang="en-US" sz="1450">
                <a:solidFill>
                  <a:srgbClr val="1A1A1A"/>
                </a:solidFill>
                <a:latin typeface="Aptos" panose="020B0004020202020204" pitchFamily="34" charset="0"/>
                <a:ea typeface="Calibri" pitchFamily="34" charset="-122"/>
                <a:cs typeface="Calibri" pitchFamily="34" charset="-120"/>
              </a:rPr>
              <a:t> </a:t>
            </a:r>
            <a:r>
              <a:rPr lang="en-US" sz="1450" err="1">
                <a:solidFill>
                  <a:srgbClr val="1A1A1A"/>
                </a:solidFill>
                <a:latin typeface="Aptos" panose="020B0004020202020204" pitchFamily="34" charset="0"/>
                <a:ea typeface="Calibri" pitchFamily="34" charset="-122"/>
                <a:cs typeface="Calibri" pitchFamily="34" charset="-120"/>
              </a:rPr>
              <a:t>oder</a:t>
            </a:r>
            <a:r>
              <a:rPr lang="en-US" sz="1450">
                <a:solidFill>
                  <a:srgbClr val="1A1A1A"/>
                </a:solidFill>
                <a:latin typeface="Aptos" panose="020B0004020202020204" pitchFamily="34" charset="0"/>
                <a:ea typeface="Calibri" pitchFamily="34" charset="-122"/>
                <a:cs typeface="Calibri" pitchFamily="34" charset="-120"/>
              </a:rPr>
              <a:t> Zins </a:t>
            </a:r>
            <a:r>
              <a:rPr lang="en-US" sz="1450" err="1">
                <a:solidFill>
                  <a:srgbClr val="1A1A1A"/>
                </a:solidFill>
                <a:latin typeface="Aptos" panose="020B0004020202020204" pitchFamily="34" charset="0"/>
                <a:ea typeface="Calibri" pitchFamily="34" charset="-122"/>
                <a:cs typeface="Calibri" pitchFamily="34" charset="-120"/>
              </a:rPr>
              <a:t>springen</a:t>
            </a:r>
            <a:r>
              <a:rPr lang="en-US" sz="1450">
                <a:solidFill>
                  <a:srgbClr val="1A1A1A"/>
                </a:solidFill>
                <a:latin typeface="Aptos" panose="020B0004020202020204" pitchFamily="34" charset="0"/>
                <a:ea typeface="Calibri" pitchFamily="34" charset="-122"/>
                <a:cs typeface="Calibri" pitchFamily="34" charset="-120"/>
              </a:rPr>
              <a:t>, </a:t>
            </a:r>
            <a:r>
              <a:rPr lang="en-US" sz="1450" err="1">
                <a:solidFill>
                  <a:srgbClr val="1A1A1A"/>
                </a:solidFill>
                <a:latin typeface="Aptos" panose="020B0004020202020204" pitchFamily="34" charset="0"/>
                <a:ea typeface="Calibri" pitchFamily="34" charset="-122"/>
                <a:cs typeface="Calibri" pitchFamily="34" charset="-120"/>
              </a:rPr>
              <a:t>verschlechtert</a:t>
            </a:r>
            <a:r>
              <a:rPr lang="en-US" sz="1450">
                <a:solidFill>
                  <a:srgbClr val="1A1A1A"/>
                </a:solidFill>
                <a:latin typeface="Aptos" panose="020B0004020202020204" pitchFamily="34" charset="0"/>
                <a:ea typeface="Calibri" pitchFamily="34" charset="-122"/>
                <a:cs typeface="Calibri" pitchFamily="34" charset="-120"/>
              </a:rPr>
              <a:t> </a:t>
            </a:r>
            <a:r>
              <a:rPr lang="en-US" sz="1450" err="1">
                <a:solidFill>
                  <a:srgbClr val="1A1A1A"/>
                </a:solidFill>
                <a:latin typeface="Aptos" panose="020B0004020202020204" pitchFamily="34" charset="0"/>
                <a:ea typeface="Calibri" pitchFamily="34" charset="-122"/>
                <a:cs typeface="Calibri" pitchFamily="34" charset="-120"/>
              </a:rPr>
              <a:t>sich</a:t>
            </a:r>
            <a:r>
              <a:rPr lang="en-US" sz="1450">
                <a:solidFill>
                  <a:srgbClr val="1A1A1A"/>
                </a:solidFill>
                <a:latin typeface="Aptos" panose="020B0004020202020204" pitchFamily="34" charset="0"/>
                <a:ea typeface="Calibri" pitchFamily="34" charset="-122"/>
                <a:cs typeface="Calibri" pitchFamily="34" charset="-120"/>
              </a:rPr>
              <a:t> die </a:t>
            </a:r>
            <a:r>
              <a:rPr lang="en-US" sz="1450" err="1">
                <a:solidFill>
                  <a:srgbClr val="1A1A1A"/>
                </a:solidFill>
                <a:latin typeface="Aptos" panose="020B0004020202020204" pitchFamily="34" charset="0"/>
                <a:ea typeface="Calibri" pitchFamily="34" charset="-122"/>
                <a:cs typeface="Calibri" pitchFamily="34" charset="-120"/>
              </a:rPr>
              <a:t>Zahlungsfähigkeit</a:t>
            </a:r>
            <a:r>
              <a:rPr lang="en-US" sz="1450">
                <a:solidFill>
                  <a:srgbClr val="1A1A1A"/>
                </a:solidFill>
                <a:latin typeface="Aptos" panose="020B0004020202020204" pitchFamily="34" charset="0"/>
                <a:ea typeface="Calibri" pitchFamily="34" charset="-122"/>
                <a:cs typeface="Calibri" pitchFamily="34" charset="-120"/>
              </a:rPr>
              <a:t> der </a:t>
            </a:r>
            <a:r>
              <a:rPr lang="en-US" sz="1450" err="1">
                <a:solidFill>
                  <a:srgbClr val="1A1A1A"/>
                </a:solidFill>
                <a:latin typeface="Aptos" panose="020B0004020202020204" pitchFamily="34" charset="0"/>
                <a:ea typeface="Calibri" pitchFamily="34" charset="-122"/>
                <a:cs typeface="Calibri" pitchFamily="34" charset="-120"/>
              </a:rPr>
              <a:t>Schuldner</a:t>
            </a:r>
            <a:r>
              <a:rPr lang="en-US" sz="1450">
                <a:solidFill>
                  <a:srgbClr val="1A1A1A"/>
                </a:solidFill>
                <a:latin typeface="Aptos" panose="020B0004020202020204" pitchFamily="34" charset="0"/>
                <a:ea typeface="Calibri" pitchFamily="34" charset="-122"/>
                <a:cs typeface="Calibri" pitchFamily="34" charset="-120"/>
              </a:rPr>
              <a:t>. Dieser Tab </a:t>
            </a:r>
            <a:r>
              <a:rPr lang="en-US" sz="1450" err="1">
                <a:solidFill>
                  <a:srgbClr val="1A1A1A"/>
                </a:solidFill>
                <a:latin typeface="Aptos" panose="020B0004020202020204" pitchFamily="34" charset="0"/>
                <a:ea typeface="Calibri" pitchFamily="34" charset="-122"/>
                <a:cs typeface="Calibri" pitchFamily="34" charset="-120"/>
              </a:rPr>
              <a:t>zeigt</a:t>
            </a:r>
            <a:r>
              <a:rPr lang="en-US" sz="1450">
                <a:solidFill>
                  <a:srgbClr val="1A1A1A"/>
                </a:solidFill>
                <a:latin typeface="Aptos" panose="020B0004020202020204" pitchFamily="34" charset="0"/>
                <a:ea typeface="Calibri" pitchFamily="34" charset="-122"/>
                <a:cs typeface="Calibri" pitchFamily="34" charset="-120"/>
              </a:rPr>
              <a:t>, </a:t>
            </a:r>
            <a:r>
              <a:rPr lang="en-US" sz="1450" err="1">
                <a:solidFill>
                  <a:srgbClr val="1A1A1A"/>
                </a:solidFill>
                <a:latin typeface="Aptos" panose="020B0004020202020204" pitchFamily="34" charset="0"/>
                <a:ea typeface="Calibri" pitchFamily="34" charset="-122"/>
                <a:cs typeface="Calibri" pitchFamily="34" charset="-120"/>
              </a:rPr>
              <a:t>wie</a:t>
            </a:r>
            <a:r>
              <a:rPr lang="en-US" sz="1450">
                <a:solidFill>
                  <a:srgbClr val="1A1A1A"/>
                </a:solidFill>
                <a:latin typeface="Aptos" panose="020B0004020202020204" pitchFamily="34" charset="0"/>
                <a:ea typeface="Calibri" pitchFamily="34" charset="-122"/>
                <a:cs typeface="Calibri" pitchFamily="34" charset="-120"/>
              </a:rPr>
              <a:t> </a:t>
            </a:r>
            <a:r>
              <a:rPr lang="en-US" sz="1450" err="1">
                <a:solidFill>
                  <a:srgbClr val="1A1A1A"/>
                </a:solidFill>
                <a:latin typeface="Aptos" panose="020B0004020202020204" pitchFamily="34" charset="0"/>
                <a:ea typeface="Calibri" pitchFamily="34" charset="-122"/>
                <a:cs typeface="Calibri" pitchFamily="34" charset="-120"/>
              </a:rPr>
              <a:t>genau</a:t>
            </a:r>
            <a:r>
              <a:rPr lang="en-US" sz="1450">
                <a:solidFill>
                  <a:srgbClr val="1A1A1A"/>
                </a:solidFill>
                <a:latin typeface="Aptos" panose="020B0004020202020204" pitchFamily="34" charset="0"/>
                <a:ea typeface="Calibri" pitchFamily="34" charset="-122"/>
                <a:cs typeface="Calibri" pitchFamily="34" charset="-120"/>
              </a:rPr>
              <a:t> das </a:t>
            </a:r>
            <a:r>
              <a:rPr lang="en-US" sz="1450" err="1">
                <a:solidFill>
                  <a:srgbClr val="1A1A1A"/>
                </a:solidFill>
                <a:latin typeface="Aptos" panose="020B0004020202020204" pitchFamily="34" charset="0"/>
                <a:ea typeface="Calibri" pitchFamily="34" charset="-122"/>
                <a:cs typeface="Calibri" pitchFamily="34" charset="-120"/>
              </a:rPr>
              <a:t>passiert</a:t>
            </a:r>
            <a:r>
              <a:rPr lang="en-US" sz="1450">
                <a:solidFill>
                  <a:srgbClr val="1A1A1A"/>
                </a:solidFill>
                <a:latin typeface="Aptos" panose="020B0004020202020204" pitchFamily="34" charset="0"/>
                <a:ea typeface="Calibri" pitchFamily="34" charset="-122"/>
                <a:cs typeface="Calibri" pitchFamily="34" charset="-120"/>
              </a:rPr>
              <a:t>: PD und LGD </a:t>
            </a:r>
            <a:r>
              <a:rPr lang="en-US" sz="1450" err="1">
                <a:solidFill>
                  <a:srgbClr val="1A1A1A"/>
                </a:solidFill>
                <a:latin typeface="Aptos" panose="020B0004020202020204" pitchFamily="34" charset="0"/>
                <a:ea typeface="Calibri" pitchFamily="34" charset="-122"/>
                <a:cs typeface="Calibri" pitchFamily="34" charset="-120"/>
              </a:rPr>
              <a:t>stammen</a:t>
            </a:r>
            <a:r>
              <a:rPr lang="en-US" sz="1450">
                <a:solidFill>
                  <a:srgbClr val="1A1A1A"/>
                </a:solidFill>
                <a:latin typeface="Aptos" panose="020B0004020202020204" pitchFamily="34" charset="0"/>
                <a:ea typeface="Calibri" pitchFamily="34" charset="-122"/>
                <a:cs typeface="Calibri" pitchFamily="34" charset="-120"/>
              </a:rPr>
              <a:t> bank-</a:t>
            </a:r>
            <a:r>
              <a:rPr lang="en-US" sz="1450" err="1">
                <a:solidFill>
                  <a:srgbClr val="1A1A1A"/>
                </a:solidFill>
                <a:latin typeface="Aptos" panose="020B0004020202020204" pitchFamily="34" charset="0"/>
                <a:ea typeface="Calibri" pitchFamily="34" charset="-122"/>
                <a:cs typeface="Calibri" pitchFamily="34" charset="-120"/>
              </a:rPr>
              <a:t>spezifisch</a:t>
            </a:r>
            <a:r>
              <a:rPr lang="en-US" sz="1450">
                <a:solidFill>
                  <a:srgbClr val="1A1A1A"/>
                </a:solidFill>
                <a:latin typeface="Aptos" panose="020B0004020202020204" pitchFamily="34" charset="0"/>
                <a:ea typeface="Calibri" pitchFamily="34" charset="-122"/>
                <a:cs typeface="Calibri" pitchFamily="34" charset="-120"/>
              </a:rPr>
              <a:t> </a:t>
            </a:r>
            <a:r>
              <a:rPr lang="en-US" sz="1450" err="1">
                <a:solidFill>
                  <a:srgbClr val="1A1A1A"/>
                </a:solidFill>
                <a:latin typeface="Aptos" panose="020B0004020202020204" pitchFamily="34" charset="0"/>
                <a:ea typeface="Calibri" pitchFamily="34" charset="-122"/>
                <a:cs typeface="Calibri" pitchFamily="34" charset="-120"/>
              </a:rPr>
              <a:t>direkt</a:t>
            </a:r>
            <a:r>
              <a:rPr lang="en-US" sz="1450">
                <a:solidFill>
                  <a:srgbClr val="1A1A1A"/>
                </a:solidFill>
                <a:latin typeface="Aptos" panose="020B0004020202020204" pitchFamily="34" charset="0"/>
                <a:ea typeface="Calibri" pitchFamily="34" charset="-122"/>
                <a:cs typeface="Calibri" pitchFamily="34" charset="-120"/>
              </a:rPr>
              <a:t> </a:t>
            </a:r>
            <a:r>
              <a:rPr lang="en-US" sz="1450" err="1">
                <a:solidFill>
                  <a:srgbClr val="1A1A1A"/>
                </a:solidFill>
                <a:latin typeface="Aptos" panose="020B0004020202020204" pitchFamily="34" charset="0"/>
                <a:ea typeface="Calibri" pitchFamily="34" charset="-122"/>
                <a:cs typeface="Calibri" pitchFamily="34" charset="-120"/>
              </a:rPr>
              <a:t>aus</a:t>
            </a:r>
            <a:r>
              <a:rPr lang="en-US" sz="1450">
                <a:solidFill>
                  <a:srgbClr val="1A1A1A"/>
                </a:solidFill>
                <a:latin typeface="Aptos" panose="020B0004020202020204" pitchFamily="34" charset="0"/>
                <a:ea typeface="Calibri" pitchFamily="34" charset="-122"/>
                <a:cs typeface="Calibri" pitchFamily="34" charset="-120"/>
              </a:rPr>
              <a:t> den Pillar-3-Reports der </a:t>
            </a:r>
            <a:r>
              <a:rPr lang="en-US" sz="1450" err="1">
                <a:solidFill>
                  <a:srgbClr val="1A1A1A"/>
                </a:solidFill>
                <a:latin typeface="Aptos" panose="020B0004020202020204" pitchFamily="34" charset="0"/>
                <a:ea typeface="Calibri" pitchFamily="34" charset="-122"/>
                <a:cs typeface="Calibri" pitchFamily="34" charset="-120"/>
              </a:rPr>
              <a:t>jeweiligen</a:t>
            </a:r>
            <a:r>
              <a:rPr lang="en-US" sz="1450">
                <a:solidFill>
                  <a:srgbClr val="1A1A1A"/>
                </a:solidFill>
                <a:latin typeface="Aptos" panose="020B0004020202020204" pitchFamily="34" charset="0"/>
                <a:ea typeface="Calibri" pitchFamily="34" charset="-122"/>
                <a:cs typeface="Calibri" pitchFamily="34" charset="-120"/>
              </a:rPr>
              <a:t> Bank (EU-CR6-Tabelle), nicht </a:t>
            </a:r>
            <a:r>
              <a:rPr lang="en-US" sz="1450" err="1">
                <a:solidFill>
                  <a:srgbClr val="1A1A1A"/>
                </a:solidFill>
                <a:latin typeface="Aptos" panose="020B0004020202020204" pitchFamily="34" charset="0"/>
                <a:ea typeface="Calibri" pitchFamily="34" charset="-122"/>
                <a:cs typeface="Calibri" pitchFamily="34" charset="-120"/>
              </a:rPr>
              <a:t>aus</a:t>
            </a:r>
            <a:r>
              <a:rPr lang="en-US" sz="1450">
                <a:solidFill>
                  <a:srgbClr val="1A1A1A"/>
                </a:solidFill>
                <a:latin typeface="Aptos" panose="020B0004020202020204" pitchFamily="34" charset="0"/>
                <a:ea typeface="Calibri" pitchFamily="34" charset="-122"/>
                <a:cs typeface="Calibri" pitchFamily="34" charset="-120"/>
              </a:rPr>
              <a:t> </a:t>
            </a:r>
            <a:r>
              <a:rPr lang="en-US" sz="1450" err="1">
                <a:solidFill>
                  <a:srgbClr val="1A1A1A"/>
                </a:solidFill>
                <a:latin typeface="Aptos" panose="020B0004020202020204" pitchFamily="34" charset="0"/>
                <a:ea typeface="Calibri" pitchFamily="34" charset="-122"/>
                <a:cs typeface="Calibri" pitchFamily="34" charset="-120"/>
              </a:rPr>
              <a:t>groben</a:t>
            </a:r>
            <a:r>
              <a:rPr lang="en-US" sz="1450">
                <a:solidFill>
                  <a:srgbClr val="1A1A1A"/>
                </a:solidFill>
                <a:latin typeface="Aptos" panose="020B0004020202020204" pitchFamily="34" charset="0"/>
                <a:ea typeface="Calibri" pitchFamily="34" charset="-122"/>
                <a:cs typeface="Calibri" pitchFamily="34" charset="-120"/>
              </a:rPr>
              <a:t> Länder-</a:t>
            </a:r>
            <a:r>
              <a:rPr lang="en-US" sz="1450" err="1">
                <a:solidFill>
                  <a:srgbClr val="1A1A1A"/>
                </a:solidFill>
                <a:latin typeface="Aptos" panose="020B0004020202020204" pitchFamily="34" charset="0"/>
                <a:ea typeface="Calibri" pitchFamily="34" charset="-122"/>
                <a:cs typeface="Calibri" pitchFamily="34" charset="-120"/>
              </a:rPr>
              <a:t>Durchschnitten</a:t>
            </a:r>
            <a:r>
              <a:rPr lang="en-US" sz="1450">
                <a:solidFill>
                  <a:srgbClr val="1A1A1A"/>
                </a:solidFill>
                <a:latin typeface="Aptos" panose="020B0004020202020204" pitchFamily="34" charset="0"/>
                <a:ea typeface="Calibri" pitchFamily="34" charset="-122"/>
                <a:cs typeface="Calibri" pitchFamily="34" charset="-120"/>
              </a:rPr>
              <a:t>.</a:t>
            </a:r>
            <a:endParaRPr lang="en-US" sz="1450">
              <a:latin typeface="Aptos" panose="020B0004020202020204" pitchFamily="34" charset="0"/>
            </a:endParaRPr>
          </a:p>
        </p:txBody>
      </p:sp>
      <p:sp>
        <p:nvSpPr>
          <p:cNvPr id="5" name="Shape 3"/>
          <p:cNvSpPr/>
          <p:nvPr/>
        </p:nvSpPr>
        <p:spPr>
          <a:xfrm>
            <a:off x="548640" y="3794760"/>
            <a:ext cx="1207008" cy="1005840"/>
          </a:xfrm>
          <a:prstGeom prst="roundRect">
            <a:avLst>
              <a:gd name="adj" fmla="val 7273"/>
            </a:avLst>
          </a:prstGeom>
          <a:solidFill>
            <a:srgbClr val="16243F"/>
          </a:solidFill>
          <a:ln/>
          <a:effectLst>
            <a:outerShdw blurRad="101600" dist="38100" dir="2700000" algn="bl" rotWithShape="0">
              <a:srgbClr val="000000">
                <a:alpha val="12000"/>
              </a:srgbClr>
            </a:outerShdw>
          </a:effectLst>
        </p:spPr>
        <p:txBody>
          <a:bodyPr/>
          <a:lstStyle/>
          <a:p>
            <a:endParaRPr lang="de-DE"/>
          </a:p>
        </p:txBody>
      </p:sp>
      <p:sp>
        <p:nvSpPr>
          <p:cNvPr id="6" name="Text 4"/>
          <p:cNvSpPr/>
          <p:nvPr/>
        </p:nvSpPr>
        <p:spPr>
          <a:xfrm>
            <a:off x="548640" y="3794760"/>
            <a:ext cx="1207008" cy="1005840"/>
          </a:xfrm>
          <a:prstGeom prst="rect">
            <a:avLst/>
          </a:prstGeom>
          <a:noFill/>
          <a:ln/>
        </p:spPr>
        <p:txBody>
          <a:bodyPr wrap="square" lIns="38100" tIns="38100" rIns="38100" bIns="38100" rtlCol="0" anchor="ctr"/>
          <a:lstStyle/>
          <a:p>
            <a:pPr marL="0" indent="0" algn="ctr">
              <a:buNone/>
            </a:pPr>
            <a:r>
              <a:rPr lang="en-US" sz="938">
                <a:solidFill>
                  <a:schemeClr val="bg1"/>
                </a:solidFill>
                <a:latin typeface="Aptos"/>
              </a:rPr>
              <a:t>Macro-Schock</a:t>
            </a:r>
          </a:p>
        </p:txBody>
      </p:sp>
      <p:sp>
        <p:nvSpPr>
          <p:cNvPr id="7" name="Text 5"/>
          <p:cNvSpPr/>
          <p:nvPr/>
        </p:nvSpPr>
        <p:spPr>
          <a:xfrm>
            <a:off x="1755648" y="3794760"/>
            <a:ext cx="91440" cy="1005840"/>
          </a:xfrm>
          <a:prstGeom prst="rect">
            <a:avLst/>
          </a:prstGeom>
          <a:noFill/>
          <a:ln/>
        </p:spPr>
        <p:txBody>
          <a:bodyPr wrap="square" lIns="0" tIns="0" rIns="0" bIns="0" rtlCol="0" anchor="ctr"/>
          <a:lstStyle/>
          <a:p>
            <a:pPr marL="0" indent="0" algn="ctr">
              <a:buNone/>
            </a:pPr>
            <a:r>
              <a:rPr lang="en-US" sz="1600">
                <a:solidFill>
                  <a:srgbClr val="5B6478"/>
                </a:solidFill>
                <a:latin typeface="Calibri" pitchFamily="34" charset="0"/>
                <a:ea typeface="Calibri" pitchFamily="34" charset="-122"/>
                <a:cs typeface="Calibri" pitchFamily="34" charset="-120"/>
              </a:rPr>
              <a:t>→</a:t>
            </a:r>
            <a:endParaRPr lang="en-US" sz="1600"/>
          </a:p>
        </p:txBody>
      </p:sp>
      <p:sp>
        <p:nvSpPr>
          <p:cNvPr id="8" name="Shape 6"/>
          <p:cNvSpPr/>
          <p:nvPr/>
        </p:nvSpPr>
        <p:spPr>
          <a:xfrm>
            <a:off x="1847088" y="3794760"/>
            <a:ext cx="1207008" cy="1005840"/>
          </a:xfrm>
          <a:prstGeom prst="roundRect">
            <a:avLst>
              <a:gd name="adj" fmla="val 7273"/>
            </a:avLst>
          </a:prstGeom>
          <a:solidFill>
            <a:srgbClr val="16243F"/>
          </a:solidFill>
          <a:ln/>
          <a:effectLst>
            <a:outerShdw blurRad="101600" dist="38100" dir="2700000" algn="bl" rotWithShape="0">
              <a:srgbClr val="000000">
                <a:alpha val="12000"/>
              </a:srgbClr>
            </a:outerShdw>
          </a:effectLst>
        </p:spPr>
        <p:txBody>
          <a:bodyPr/>
          <a:lstStyle/>
          <a:p>
            <a:endParaRPr lang="de-DE"/>
          </a:p>
        </p:txBody>
      </p:sp>
      <p:sp>
        <p:nvSpPr>
          <p:cNvPr id="9" name="Text 7"/>
          <p:cNvSpPr/>
          <p:nvPr/>
        </p:nvSpPr>
        <p:spPr>
          <a:xfrm>
            <a:off x="1847088" y="3794760"/>
            <a:ext cx="1207008" cy="1005840"/>
          </a:xfrm>
          <a:prstGeom prst="rect">
            <a:avLst/>
          </a:prstGeom>
          <a:noFill/>
          <a:ln/>
        </p:spPr>
        <p:txBody>
          <a:bodyPr wrap="square" lIns="38100" tIns="38100" rIns="38100" bIns="38100" rtlCol="0" anchor="ctr"/>
          <a:lstStyle/>
          <a:p>
            <a:pPr algn="ctr"/>
            <a:r>
              <a:rPr lang="en-US" sz="938">
                <a:solidFill>
                  <a:schemeClr val="bg1"/>
                </a:solidFill>
                <a:latin typeface="Aptos"/>
              </a:rPr>
              <a:t>2-Faktor-Stress</a:t>
            </a:r>
          </a:p>
          <a:p>
            <a:pPr algn="ctr"/>
            <a:r>
              <a:rPr lang="en-US" sz="938">
                <a:solidFill>
                  <a:schemeClr val="bg1"/>
                </a:solidFill>
                <a:latin typeface="Aptos"/>
              </a:rPr>
              <a:t>auf PD &amp; LGD</a:t>
            </a:r>
          </a:p>
        </p:txBody>
      </p:sp>
      <p:sp>
        <p:nvSpPr>
          <p:cNvPr id="10" name="Text 8"/>
          <p:cNvSpPr/>
          <p:nvPr/>
        </p:nvSpPr>
        <p:spPr>
          <a:xfrm>
            <a:off x="3054096" y="3794760"/>
            <a:ext cx="91440" cy="1005840"/>
          </a:xfrm>
          <a:prstGeom prst="rect">
            <a:avLst/>
          </a:prstGeom>
          <a:noFill/>
          <a:ln/>
        </p:spPr>
        <p:txBody>
          <a:bodyPr wrap="square" lIns="0" tIns="0" rIns="0" bIns="0" rtlCol="0" anchor="ctr"/>
          <a:lstStyle/>
          <a:p>
            <a:pPr marL="0" indent="0" algn="ctr">
              <a:buNone/>
            </a:pPr>
            <a:r>
              <a:rPr lang="en-US" sz="1600">
                <a:solidFill>
                  <a:srgbClr val="5B6478"/>
                </a:solidFill>
                <a:latin typeface="Calibri" pitchFamily="34" charset="0"/>
                <a:ea typeface="Calibri" pitchFamily="34" charset="-122"/>
                <a:cs typeface="Calibri" pitchFamily="34" charset="-120"/>
              </a:rPr>
              <a:t>→</a:t>
            </a:r>
            <a:endParaRPr lang="en-US" sz="1600"/>
          </a:p>
        </p:txBody>
      </p:sp>
      <p:sp>
        <p:nvSpPr>
          <p:cNvPr id="11" name="Shape 9"/>
          <p:cNvSpPr/>
          <p:nvPr/>
        </p:nvSpPr>
        <p:spPr>
          <a:xfrm>
            <a:off x="3145536" y="3794760"/>
            <a:ext cx="1207008" cy="1005840"/>
          </a:xfrm>
          <a:prstGeom prst="roundRect">
            <a:avLst>
              <a:gd name="adj" fmla="val 7273"/>
            </a:avLst>
          </a:prstGeom>
          <a:solidFill>
            <a:srgbClr val="0B6E78"/>
          </a:solidFill>
          <a:ln/>
          <a:effectLst>
            <a:outerShdw blurRad="101600" dist="38100" dir="2700000" algn="bl" rotWithShape="0">
              <a:srgbClr val="000000">
                <a:alpha val="12000"/>
              </a:srgbClr>
            </a:outerShdw>
          </a:effectLst>
        </p:spPr>
        <p:txBody>
          <a:bodyPr/>
          <a:lstStyle/>
          <a:p>
            <a:endParaRPr lang="de-DE"/>
          </a:p>
        </p:txBody>
      </p:sp>
      <p:sp>
        <p:nvSpPr>
          <p:cNvPr id="12" name="Text 10"/>
          <p:cNvSpPr/>
          <p:nvPr/>
        </p:nvSpPr>
        <p:spPr>
          <a:xfrm>
            <a:off x="3145536" y="3794760"/>
            <a:ext cx="1207008" cy="1005840"/>
          </a:xfrm>
          <a:prstGeom prst="rect">
            <a:avLst/>
          </a:prstGeom>
          <a:noFill/>
          <a:ln/>
        </p:spPr>
        <p:txBody>
          <a:bodyPr wrap="square" lIns="38100" tIns="38100" rIns="38100" bIns="38100" rtlCol="0" anchor="ctr"/>
          <a:lstStyle/>
          <a:p>
            <a:pPr algn="ctr">
              <a:buNone/>
            </a:pPr>
            <a:r>
              <a:rPr lang="en-US" sz="938">
                <a:solidFill>
                  <a:schemeClr val="bg1"/>
                </a:solidFill>
                <a:latin typeface="Aptos"/>
              </a:rPr>
              <a:t>Expected Loss</a:t>
            </a:r>
          </a:p>
          <a:p>
            <a:pPr algn="ctr">
              <a:buNone/>
            </a:pPr>
            <a:r>
              <a:rPr lang="en-US" sz="938">
                <a:solidFill>
                  <a:schemeClr val="bg1"/>
                </a:solidFill>
                <a:latin typeface="Aptos"/>
              </a:rPr>
              <a:t>(EL)</a:t>
            </a:r>
          </a:p>
        </p:txBody>
      </p:sp>
      <p:sp>
        <p:nvSpPr>
          <p:cNvPr id="13" name="Text 11"/>
          <p:cNvSpPr/>
          <p:nvPr/>
        </p:nvSpPr>
        <p:spPr>
          <a:xfrm>
            <a:off x="4352544" y="3794760"/>
            <a:ext cx="91440" cy="1005840"/>
          </a:xfrm>
          <a:prstGeom prst="rect">
            <a:avLst/>
          </a:prstGeom>
          <a:noFill/>
          <a:ln/>
        </p:spPr>
        <p:txBody>
          <a:bodyPr wrap="square" lIns="0" tIns="0" rIns="0" bIns="0" rtlCol="0" anchor="ctr"/>
          <a:lstStyle/>
          <a:p>
            <a:pPr marL="0" indent="0" algn="ctr">
              <a:buNone/>
            </a:pPr>
            <a:r>
              <a:rPr lang="en-US" sz="1600">
                <a:solidFill>
                  <a:srgbClr val="5B6478"/>
                </a:solidFill>
                <a:latin typeface="Calibri" pitchFamily="34" charset="0"/>
                <a:ea typeface="Calibri" pitchFamily="34" charset="-122"/>
                <a:cs typeface="Calibri" pitchFamily="34" charset="-120"/>
              </a:rPr>
              <a:t>→</a:t>
            </a:r>
            <a:endParaRPr lang="en-US" sz="1600"/>
          </a:p>
        </p:txBody>
      </p:sp>
      <p:sp>
        <p:nvSpPr>
          <p:cNvPr id="14" name="Shape 12"/>
          <p:cNvSpPr/>
          <p:nvPr/>
        </p:nvSpPr>
        <p:spPr>
          <a:xfrm>
            <a:off x="4443984" y="3794760"/>
            <a:ext cx="1207008" cy="1005840"/>
          </a:xfrm>
          <a:prstGeom prst="roundRect">
            <a:avLst>
              <a:gd name="adj" fmla="val 7273"/>
            </a:avLst>
          </a:prstGeom>
          <a:solidFill>
            <a:srgbClr val="0B6E78"/>
          </a:solidFill>
          <a:ln/>
          <a:effectLst>
            <a:outerShdw blurRad="101600" dist="38100" dir="2700000" algn="bl" rotWithShape="0">
              <a:srgbClr val="000000">
                <a:alpha val="12000"/>
              </a:srgbClr>
            </a:outerShdw>
          </a:effectLst>
        </p:spPr>
        <p:txBody>
          <a:bodyPr/>
          <a:lstStyle/>
          <a:p>
            <a:endParaRPr lang="de-DE"/>
          </a:p>
        </p:txBody>
      </p:sp>
      <p:sp>
        <p:nvSpPr>
          <p:cNvPr id="15" name="Text 13"/>
          <p:cNvSpPr/>
          <p:nvPr/>
        </p:nvSpPr>
        <p:spPr>
          <a:xfrm>
            <a:off x="4443984" y="3794760"/>
            <a:ext cx="1207008" cy="1005840"/>
          </a:xfrm>
          <a:prstGeom prst="rect">
            <a:avLst/>
          </a:prstGeom>
          <a:noFill/>
          <a:ln/>
        </p:spPr>
        <p:txBody>
          <a:bodyPr wrap="square" lIns="38100" tIns="38100" rIns="38100" bIns="38100" rtlCol="0" anchor="ctr"/>
          <a:lstStyle/>
          <a:p>
            <a:pPr algn="ctr"/>
            <a:r>
              <a:rPr lang="en-US" sz="938">
                <a:solidFill>
                  <a:schemeClr val="bg1"/>
                </a:solidFill>
                <a:latin typeface="Aptos"/>
              </a:rPr>
              <a:t>IRB-Capital</a:t>
            </a:r>
          </a:p>
          <a:p>
            <a:pPr algn="ctr"/>
            <a:r>
              <a:rPr lang="en-US" sz="938">
                <a:solidFill>
                  <a:schemeClr val="bg1"/>
                </a:solidFill>
                <a:latin typeface="Aptos"/>
              </a:rPr>
              <a:t>(K &amp; RWA)</a:t>
            </a:r>
          </a:p>
        </p:txBody>
      </p:sp>
      <p:sp>
        <p:nvSpPr>
          <p:cNvPr id="16" name="Text 14"/>
          <p:cNvSpPr/>
          <p:nvPr/>
        </p:nvSpPr>
        <p:spPr>
          <a:xfrm>
            <a:off x="5650992" y="3794760"/>
            <a:ext cx="91440" cy="1005840"/>
          </a:xfrm>
          <a:prstGeom prst="rect">
            <a:avLst/>
          </a:prstGeom>
          <a:noFill/>
          <a:ln/>
        </p:spPr>
        <p:txBody>
          <a:bodyPr wrap="square" lIns="0" tIns="0" rIns="0" bIns="0" rtlCol="0" anchor="ctr"/>
          <a:lstStyle/>
          <a:p>
            <a:pPr marL="0" indent="0" algn="ctr">
              <a:buNone/>
            </a:pPr>
            <a:r>
              <a:rPr lang="en-US" sz="1600">
                <a:solidFill>
                  <a:srgbClr val="5B6478"/>
                </a:solidFill>
                <a:latin typeface="Calibri" pitchFamily="34" charset="0"/>
                <a:ea typeface="Calibri" pitchFamily="34" charset="-122"/>
                <a:cs typeface="Calibri" pitchFamily="34" charset="-120"/>
              </a:rPr>
              <a:t>→</a:t>
            </a:r>
            <a:endParaRPr lang="en-US" sz="1600"/>
          </a:p>
        </p:txBody>
      </p:sp>
      <p:sp>
        <p:nvSpPr>
          <p:cNvPr id="17" name="Shape 15"/>
          <p:cNvSpPr/>
          <p:nvPr/>
        </p:nvSpPr>
        <p:spPr>
          <a:xfrm>
            <a:off x="5742432" y="3794760"/>
            <a:ext cx="1207008" cy="1005840"/>
          </a:xfrm>
          <a:prstGeom prst="roundRect">
            <a:avLst>
              <a:gd name="adj" fmla="val 7273"/>
            </a:avLst>
          </a:prstGeom>
          <a:solidFill>
            <a:srgbClr val="9B1B30"/>
          </a:solidFill>
          <a:ln/>
          <a:effectLst>
            <a:outerShdw blurRad="101600" dist="38100" dir="2700000" algn="bl" rotWithShape="0">
              <a:srgbClr val="000000">
                <a:alpha val="12000"/>
              </a:srgbClr>
            </a:outerShdw>
          </a:effectLst>
        </p:spPr>
        <p:txBody>
          <a:bodyPr/>
          <a:lstStyle/>
          <a:p>
            <a:endParaRPr lang="de-DE"/>
          </a:p>
        </p:txBody>
      </p:sp>
      <p:sp>
        <p:nvSpPr>
          <p:cNvPr id="18" name="Text 16"/>
          <p:cNvSpPr/>
          <p:nvPr/>
        </p:nvSpPr>
        <p:spPr>
          <a:xfrm>
            <a:off x="5742432" y="3794760"/>
            <a:ext cx="1207008" cy="1005840"/>
          </a:xfrm>
          <a:prstGeom prst="rect">
            <a:avLst/>
          </a:prstGeom>
          <a:noFill/>
          <a:ln/>
        </p:spPr>
        <p:txBody>
          <a:bodyPr wrap="square" lIns="38100" tIns="38100" rIns="38100" bIns="38100" rtlCol="0" anchor="ctr"/>
          <a:lstStyle/>
          <a:p>
            <a:pPr marL="0" indent="0" algn="ctr">
              <a:buNone/>
            </a:pPr>
            <a:r>
              <a:rPr lang="en-US" sz="940" b="1">
                <a:solidFill>
                  <a:srgbClr val="FFFFFF"/>
                </a:solidFill>
                <a:latin typeface="Aptos" panose="020B0004020202020204" pitchFamily="34" charset="0"/>
                <a:ea typeface="Calibri" pitchFamily="34" charset="-122"/>
                <a:cs typeface="Calibri" pitchFamily="34" charset="-120"/>
              </a:rPr>
              <a:t>CET1-Quote</a:t>
            </a:r>
            <a:endParaRPr lang="en-US" sz="940">
              <a:latin typeface="Aptos" panose="020B0004020202020204" pitchFamily="34" charset="0"/>
            </a:endParaRPr>
          </a:p>
        </p:txBody>
      </p:sp>
      <p:sp>
        <p:nvSpPr>
          <p:cNvPr id="19" name="Text 17"/>
          <p:cNvSpPr/>
          <p:nvPr/>
        </p:nvSpPr>
        <p:spPr>
          <a:xfrm>
            <a:off x="548640" y="4983480"/>
            <a:ext cx="8229600" cy="365760"/>
          </a:xfrm>
          <a:prstGeom prst="rect">
            <a:avLst/>
          </a:prstGeom>
          <a:noFill/>
          <a:ln/>
        </p:spPr>
        <p:txBody>
          <a:bodyPr wrap="square" lIns="0" tIns="0" rIns="0" bIns="0" rtlCol="0" anchor="ctr"/>
          <a:lstStyle/>
          <a:p>
            <a:pPr marL="0" indent="0">
              <a:buNone/>
            </a:pPr>
            <a:r>
              <a:rPr lang="en-US" sz="1200" i="1">
                <a:solidFill>
                  <a:srgbClr val="5B6478"/>
                </a:solidFill>
                <a:latin typeface="Aptos" panose="020B0004020202020204" pitchFamily="34" charset="0"/>
                <a:ea typeface="Calibri" pitchFamily="34" charset="-122"/>
                <a:cs typeface="Calibri" pitchFamily="34" charset="-120"/>
              </a:rPr>
              <a:t>Ende-</a:t>
            </a:r>
            <a:r>
              <a:rPr lang="en-US" sz="1200" i="1" err="1">
                <a:solidFill>
                  <a:srgbClr val="5B6478"/>
                </a:solidFill>
                <a:latin typeface="Aptos" panose="020B0004020202020204" pitchFamily="34" charset="0"/>
                <a:ea typeface="Calibri" pitchFamily="34" charset="-122"/>
                <a:cs typeface="Calibri" pitchFamily="34" charset="-120"/>
              </a:rPr>
              <a:t>zu</a:t>
            </a:r>
            <a:r>
              <a:rPr lang="en-US" sz="1200" i="1">
                <a:solidFill>
                  <a:srgbClr val="5B6478"/>
                </a:solidFill>
                <a:latin typeface="Aptos" panose="020B0004020202020204" pitchFamily="34" charset="0"/>
                <a:ea typeface="Calibri" pitchFamily="34" charset="-122"/>
                <a:cs typeface="Calibri" pitchFamily="34" charset="-120"/>
              </a:rPr>
              <a:t>-Ende-</a:t>
            </a:r>
            <a:r>
              <a:rPr lang="en-US" sz="1200" i="1" err="1">
                <a:solidFill>
                  <a:srgbClr val="5B6478"/>
                </a:solidFill>
                <a:latin typeface="Aptos" panose="020B0004020202020204" pitchFamily="34" charset="0"/>
                <a:ea typeface="Calibri" pitchFamily="34" charset="-122"/>
                <a:cs typeface="Calibri" pitchFamily="34" charset="-120"/>
              </a:rPr>
              <a:t>Transmissionskette</a:t>
            </a:r>
            <a:r>
              <a:rPr lang="en-US" sz="1200" i="1">
                <a:solidFill>
                  <a:srgbClr val="5B6478"/>
                </a:solidFill>
                <a:latin typeface="Aptos" panose="020B0004020202020204" pitchFamily="34" charset="0"/>
                <a:ea typeface="Calibri" pitchFamily="34" charset="-122"/>
                <a:cs typeface="Calibri" pitchFamily="34" charset="-120"/>
              </a:rPr>
              <a:t> · </a:t>
            </a:r>
            <a:r>
              <a:rPr lang="en-US" sz="1200" i="1" err="1">
                <a:solidFill>
                  <a:srgbClr val="5B6478"/>
                </a:solidFill>
                <a:latin typeface="Aptos" panose="020B0004020202020204" pitchFamily="34" charset="0"/>
                <a:ea typeface="Calibri" pitchFamily="34" charset="-122"/>
                <a:cs typeface="Calibri" pitchFamily="34" charset="-120"/>
              </a:rPr>
              <a:t>jeder</a:t>
            </a:r>
            <a:r>
              <a:rPr lang="en-US" sz="1200" i="1">
                <a:solidFill>
                  <a:srgbClr val="5B6478"/>
                </a:solidFill>
                <a:latin typeface="Aptos" panose="020B0004020202020204" pitchFamily="34" charset="0"/>
                <a:ea typeface="Calibri" pitchFamily="34" charset="-122"/>
                <a:cs typeface="Calibri" pitchFamily="34" charset="-120"/>
              </a:rPr>
              <a:t> Pfeil </a:t>
            </a:r>
            <a:r>
              <a:rPr lang="en-US" sz="1200" i="1" err="1">
                <a:solidFill>
                  <a:srgbClr val="5B6478"/>
                </a:solidFill>
                <a:latin typeface="Aptos" panose="020B0004020202020204" pitchFamily="34" charset="0"/>
                <a:ea typeface="Calibri" pitchFamily="34" charset="-122"/>
                <a:cs typeface="Calibri" pitchFamily="34" charset="-120"/>
              </a:rPr>
              <a:t>ist</a:t>
            </a:r>
            <a:r>
              <a:rPr lang="en-US" sz="1200" i="1">
                <a:solidFill>
                  <a:srgbClr val="5B6478"/>
                </a:solidFill>
                <a:latin typeface="Aptos" panose="020B0004020202020204" pitchFamily="34" charset="0"/>
                <a:ea typeface="Calibri" pitchFamily="34" charset="-122"/>
                <a:cs typeface="Calibri" pitchFamily="34" charset="-120"/>
              </a:rPr>
              <a:t> </a:t>
            </a:r>
            <a:r>
              <a:rPr lang="en-US" sz="1200" i="1" err="1">
                <a:solidFill>
                  <a:srgbClr val="5B6478"/>
                </a:solidFill>
                <a:latin typeface="Aptos" panose="020B0004020202020204" pitchFamily="34" charset="0"/>
                <a:ea typeface="Calibri" pitchFamily="34" charset="-122"/>
                <a:cs typeface="Calibri" pitchFamily="34" charset="-120"/>
              </a:rPr>
              <a:t>eine</a:t>
            </a:r>
            <a:r>
              <a:rPr lang="en-US" sz="1200" i="1">
                <a:solidFill>
                  <a:srgbClr val="5B6478"/>
                </a:solidFill>
                <a:latin typeface="Aptos" panose="020B0004020202020204" pitchFamily="34" charset="0"/>
                <a:ea typeface="Calibri" pitchFamily="34" charset="-122"/>
                <a:cs typeface="Calibri" pitchFamily="34" charset="-120"/>
              </a:rPr>
              <a:t> Formel, </a:t>
            </a:r>
            <a:r>
              <a:rPr lang="en-US" sz="1200" i="1" err="1">
                <a:solidFill>
                  <a:srgbClr val="5B6478"/>
                </a:solidFill>
                <a:latin typeface="Aptos" panose="020B0004020202020204" pitchFamily="34" charset="0"/>
                <a:ea typeface="Calibri" pitchFamily="34" charset="-122"/>
                <a:cs typeface="Calibri" pitchFamily="34" charset="-120"/>
              </a:rPr>
              <a:t>keine</a:t>
            </a:r>
            <a:r>
              <a:rPr lang="en-US" sz="1200" i="1">
                <a:solidFill>
                  <a:srgbClr val="5B6478"/>
                </a:solidFill>
                <a:latin typeface="Aptos" panose="020B0004020202020204" pitchFamily="34" charset="0"/>
                <a:ea typeface="Calibri" pitchFamily="34" charset="-122"/>
                <a:cs typeface="Calibri" pitchFamily="34" charset="-120"/>
              </a:rPr>
              <a:t> </a:t>
            </a:r>
            <a:r>
              <a:rPr lang="en-US" sz="1200" i="1" err="1">
                <a:solidFill>
                  <a:srgbClr val="5B6478"/>
                </a:solidFill>
                <a:latin typeface="Aptos" panose="020B0004020202020204" pitchFamily="34" charset="0"/>
                <a:ea typeface="Calibri" pitchFamily="34" charset="-122"/>
                <a:cs typeface="Calibri" pitchFamily="34" charset="-120"/>
              </a:rPr>
              <a:t>Annahme</a:t>
            </a:r>
            <a:endParaRPr lang="en-US" sz="1200">
              <a:latin typeface="Aptos" panose="020B0004020202020204" pitchFamily="34" charset="0"/>
            </a:endParaRPr>
          </a:p>
        </p:txBody>
      </p:sp>
      <p:sp>
        <p:nvSpPr>
          <p:cNvPr id="20" name="Shape 18"/>
          <p:cNvSpPr/>
          <p:nvPr/>
        </p:nvSpPr>
        <p:spPr>
          <a:xfrm>
            <a:off x="7315200" y="1691640"/>
            <a:ext cx="4343400" cy="3657600"/>
          </a:xfrm>
          <a:prstGeom prst="roundRect">
            <a:avLst>
              <a:gd name="adj" fmla="val 1500"/>
            </a:avLst>
          </a:prstGeom>
          <a:solidFill>
            <a:srgbClr val="F4F6FB"/>
          </a:solidFill>
          <a:ln/>
        </p:spPr>
        <p:txBody>
          <a:bodyPr/>
          <a:lstStyle/>
          <a:p>
            <a:endParaRPr lang="de-DE"/>
          </a:p>
        </p:txBody>
      </p:sp>
      <p:sp>
        <p:nvSpPr>
          <p:cNvPr id="21" name="Text 19"/>
          <p:cNvSpPr/>
          <p:nvPr/>
        </p:nvSpPr>
        <p:spPr>
          <a:xfrm>
            <a:off x="7635240" y="1874520"/>
            <a:ext cx="3749040" cy="320040"/>
          </a:xfrm>
          <a:prstGeom prst="rect">
            <a:avLst/>
          </a:prstGeom>
          <a:noFill/>
          <a:ln/>
        </p:spPr>
        <p:txBody>
          <a:bodyPr wrap="square" lIns="0" tIns="0" rIns="0" bIns="0" rtlCol="0" anchor="ctr"/>
          <a:lstStyle/>
          <a:p>
            <a:pPr marL="0" indent="0">
              <a:buNone/>
            </a:pPr>
            <a:r>
              <a:rPr lang="en-US" sz="1350" b="1">
                <a:solidFill>
                  <a:srgbClr val="061D2D"/>
                </a:solidFill>
                <a:latin typeface="Aptos" panose="020B0004020202020204" pitchFamily="34" charset="0"/>
              </a:rPr>
              <a:t>DATENBASIS AUF EINEN BLICK</a:t>
            </a:r>
          </a:p>
        </p:txBody>
      </p:sp>
      <p:sp>
        <p:nvSpPr>
          <p:cNvPr id="22" name="Text 20"/>
          <p:cNvSpPr/>
          <p:nvPr/>
        </p:nvSpPr>
        <p:spPr>
          <a:xfrm>
            <a:off x="7635240" y="2331720"/>
            <a:ext cx="3749040" cy="274320"/>
          </a:xfrm>
          <a:prstGeom prst="rect">
            <a:avLst/>
          </a:prstGeom>
          <a:noFill/>
          <a:ln/>
        </p:spPr>
        <p:txBody>
          <a:bodyPr wrap="square" lIns="0" tIns="0" rIns="0" bIns="0" rtlCol="0" anchor="ctr"/>
          <a:lstStyle/>
          <a:p>
            <a:pPr marL="0" indent="0">
              <a:buNone/>
            </a:pPr>
            <a:r>
              <a:rPr lang="en-US" sz="1250" b="1">
                <a:solidFill>
                  <a:srgbClr val="1A1A1A"/>
                </a:solidFill>
                <a:latin typeface="Aptos" panose="020B0004020202020204" pitchFamily="34" charset="0"/>
                <a:ea typeface="Calibri" pitchFamily="34" charset="-122"/>
                <a:cs typeface="Calibri" pitchFamily="34" charset="-120"/>
              </a:rPr>
              <a:t>10 IRB-Banken</a:t>
            </a:r>
            <a:endParaRPr lang="en-US" sz="1250">
              <a:latin typeface="Aptos" panose="020B0004020202020204" pitchFamily="34" charset="0"/>
            </a:endParaRPr>
          </a:p>
        </p:txBody>
      </p:sp>
      <p:sp>
        <p:nvSpPr>
          <p:cNvPr id="23" name="Text 21"/>
          <p:cNvSpPr/>
          <p:nvPr/>
        </p:nvSpPr>
        <p:spPr>
          <a:xfrm>
            <a:off x="7635240" y="2606040"/>
            <a:ext cx="3749040" cy="457200"/>
          </a:xfrm>
          <a:prstGeom prst="rect">
            <a:avLst/>
          </a:prstGeom>
          <a:noFill/>
          <a:ln/>
        </p:spPr>
        <p:txBody>
          <a:bodyPr wrap="square" lIns="0" tIns="0" rIns="0" bIns="0" rtlCol="0" anchor="ctr"/>
          <a:lstStyle/>
          <a:p>
            <a:pPr marL="0" indent="0">
              <a:buNone/>
            </a:pPr>
            <a:r>
              <a:rPr lang="en-US" sz="1050">
                <a:solidFill>
                  <a:srgbClr val="5B6478"/>
                </a:solidFill>
                <a:latin typeface="Aptos" panose="020B0004020202020204" pitchFamily="34" charset="0"/>
                <a:ea typeface="Calibri" pitchFamily="34" charset="-122"/>
                <a:cs typeface="Calibri" pitchFamily="34" charset="-120"/>
              </a:rPr>
              <a:t>Pillar-3-verifiziert, </a:t>
            </a:r>
            <a:r>
              <a:rPr lang="en-US" sz="1050" err="1">
                <a:solidFill>
                  <a:srgbClr val="5B6478"/>
                </a:solidFill>
                <a:latin typeface="Aptos" panose="020B0004020202020204" pitchFamily="34" charset="0"/>
                <a:ea typeface="Calibri" pitchFamily="34" charset="-122"/>
                <a:cs typeface="Calibri" pitchFamily="34" charset="-120"/>
              </a:rPr>
              <a:t>einheitlicher</a:t>
            </a:r>
            <a:r>
              <a:rPr lang="en-US" sz="1050">
                <a:solidFill>
                  <a:srgbClr val="5B6478"/>
                </a:solidFill>
                <a:latin typeface="Aptos" panose="020B0004020202020204" pitchFamily="34" charset="0"/>
                <a:ea typeface="Calibri" pitchFamily="34" charset="-122"/>
                <a:cs typeface="Calibri" pitchFamily="34" charset="-120"/>
              </a:rPr>
              <a:t> </a:t>
            </a:r>
            <a:r>
              <a:rPr lang="en-US" sz="1050" err="1">
                <a:solidFill>
                  <a:srgbClr val="5B6478"/>
                </a:solidFill>
                <a:latin typeface="Aptos" panose="020B0004020202020204" pitchFamily="34" charset="0"/>
                <a:ea typeface="Calibri" pitchFamily="34" charset="-122"/>
                <a:cs typeface="Calibri" pitchFamily="34" charset="-120"/>
              </a:rPr>
              <a:t>Stichtag</a:t>
            </a:r>
            <a:r>
              <a:rPr lang="en-US" sz="1050">
                <a:solidFill>
                  <a:srgbClr val="5B6478"/>
                </a:solidFill>
                <a:latin typeface="Aptos" panose="020B0004020202020204" pitchFamily="34" charset="0"/>
                <a:ea typeface="Calibri" pitchFamily="34" charset="-122"/>
                <a:cs typeface="Calibri" pitchFamily="34" charset="-120"/>
              </a:rPr>
              <a:t> 31.12.2024</a:t>
            </a:r>
            <a:endParaRPr lang="en-US" sz="1050">
              <a:latin typeface="Aptos" panose="020B0004020202020204" pitchFamily="34" charset="0"/>
            </a:endParaRPr>
          </a:p>
        </p:txBody>
      </p:sp>
      <p:sp>
        <p:nvSpPr>
          <p:cNvPr id="24" name="Text 22"/>
          <p:cNvSpPr/>
          <p:nvPr/>
        </p:nvSpPr>
        <p:spPr>
          <a:xfrm>
            <a:off x="7635240" y="3081528"/>
            <a:ext cx="3749040" cy="274320"/>
          </a:xfrm>
          <a:prstGeom prst="rect">
            <a:avLst/>
          </a:prstGeom>
          <a:noFill/>
          <a:ln/>
        </p:spPr>
        <p:txBody>
          <a:bodyPr wrap="square" lIns="0" tIns="0" rIns="0" bIns="0" rtlCol="0" anchor="ctr"/>
          <a:lstStyle/>
          <a:p>
            <a:pPr marL="0" indent="0">
              <a:buNone/>
            </a:pPr>
            <a:r>
              <a:rPr lang="en-US" sz="1250" b="1">
                <a:solidFill>
                  <a:srgbClr val="1A1A1A"/>
                </a:solidFill>
                <a:latin typeface="Aptos" panose="020B0004020202020204" pitchFamily="34" charset="0"/>
                <a:ea typeface="Calibri" pitchFamily="34" charset="-122"/>
                <a:cs typeface="Calibri" pitchFamily="34" charset="-120"/>
              </a:rPr>
              <a:t>EU-CR6-Tabelle</a:t>
            </a:r>
            <a:endParaRPr lang="en-US" sz="1250">
              <a:latin typeface="Aptos" panose="020B0004020202020204" pitchFamily="34" charset="0"/>
            </a:endParaRPr>
          </a:p>
        </p:txBody>
      </p:sp>
      <p:sp>
        <p:nvSpPr>
          <p:cNvPr id="25" name="Text 23"/>
          <p:cNvSpPr/>
          <p:nvPr/>
        </p:nvSpPr>
        <p:spPr>
          <a:xfrm>
            <a:off x="7635240" y="3355848"/>
            <a:ext cx="3749040" cy="457200"/>
          </a:xfrm>
          <a:prstGeom prst="rect">
            <a:avLst/>
          </a:prstGeom>
          <a:noFill/>
          <a:ln/>
        </p:spPr>
        <p:txBody>
          <a:bodyPr wrap="square" lIns="0" tIns="0" rIns="0" bIns="0" rtlCol="0" anchor="ctr"/>
          <a:lstStyle/>
          <a:p>
            <a:pPr marL="0" indent="0">
              <a:buNone/>
            </a:pPr>
            <a:r>
              <a:rPr lang="en-US" sz="1050">
                <a:solidFill>
                  <a:srgbClr val="5B6478"/>
                </a:solidFill>
                <a:latin typeface="Aptos" panose="020B0004020202020204" pitchFamily="34" charset="0"/>
                <a:ea typeface="Calibri" pitchFamily="34" charset="-122"/>
                <a:cs typeface="Calibri" pitchFamily="34" charset="-120"/>
              </a:rPr>
              <a:t>bank-</a:t>
            </a:r>
            <a:r>
              <a:rPr lang="en-US" sz="1050" err="1">
                <a:solidFill>
                  <a:srgbClr val="5B6478"/>
                </a:solidFill>
                <a:latin typeface="Aptos" panose="020B0004020202020204" pitchFamily="34" charset="0"/>
                <a:ea typeface="Calibri" pitchFamily="34" charset="-122"/>
                <a:cs typeface="Calibri" pitchFamily="34" charset="-120"/>
              </a:rPr>
              <a:t>spezifische</a:t>
            </a:r>
            <a:r>
              <a:rPr lang="en-US" sz="1050">
                <a:solidFill>
                  <a:srgbClr val="5B6478"/>
                </a:solidFill>
                <a:latin typeface="Aptos" panose="020B0004020202020204" pitchFamily="34" charset="0"/>
                <a:ea typeface="Calibri" pitchFamily="34" charset="-122"/>
                <a:cs typeface="Calibri" pitchFamily="34" charset="-120"/>
              </a:rPr>
              <a:t> PD &amp; LGD je Exposure-Klasse</a:t>
            </a:r>
            <a:endParaRPr lang="en-US" sz="1050">
              <a:latin typeface="Aptos" panose="020B0004020202020204" pitchFamily="34" charset="0"/>
            </a:endParaRPr>
          </a:p>
        </p:txBody>
      </p:sp>
      <p:sp>
        <p:nvSpPr>
          <p:cNvPr id="26" name="Text 24"/>
          <p:cNvSpPr/>
          <p:nvPr/>
        </p:nvSpPr>
        <p:spPr>
          <a:xfrm>
            <a:off x="7635240" y="3831336"/>
            <a:ext cx="3749040" cy="274320"/>
          </a:xfrm>
          <a:prstGeom prst="rect">
            <a:avLst/>
          </a:prstGeom>
          <a:noFill/>
          <a:ln/>
        </p:spPr>
        <p:txBody>
          <a:bodyPr wrap="square" lIns="0" tIns="0" rIns="0" bIns="0" rtlCol="0" anchor="ctr"/>
          <a:lstStyle/>
          <a:p>
            <a:pPr marL="0" indent="0">
              <a:buNone/>
            </a:pPr>
            <a:r>
              <a:rPr lang="en-US" sz="1250" b="1">
                <a:solidFill>
                  <a:srgbClr val="1A1A1A"/>
                </a:solidFill>
                <a:latin typeface="Aptos" panose="020B0004020202020204" pitchFamily="34" charset="0"/>
                <a:ea typeface="Calibri" pitchFamily="34" charset="-122"/>
                <a:cs typeface="Calibri" pitchFamily="34" charset="-120"/>
              </a:rPr>
              <a:t>CRR Art. 180 / 431-455</a:t>
            </a:r>
            <a:endParaRPr lang="en-US" sz="1250">
              <a:latin typeface="Aptos" panose="020B0004020202020204" pitchFamily="34" charset="0"/>
            </a:endParaRPr>
          </a:p>
        </p:txBody>
      </p:sp>
      <p:sp>
        <p:nvSpPr>
          <p:cNvPr id="27" name="Text 25"/>
          <p:cNvSpPr/>
          <p:nvPr/>
        </p:nvSpPr>
        <p:spPr>
          <a:xfrm>
            <a:off x="7635240" y="4105656"/>
            <a:ext cx="3749040" cy="457200"/>
          </a:xfrm>
          <a:prstGeom prst="rect">
            <a:avLst/>
          </a:prstGeom>
          <a:noFill/>
          <a:ln/>
        </p:spPr>
        <p:txBody>
          <a:bodyPr wrap="square" lIns="0" tIns="0" rIns="0" bIns="0" rtlCol="0" anchor="ctr"/>
          <a:lstStyle/>
          <a:p>
            <a:pPr marL="0" indent="0">
              <a:buNone/>
            </a:pPr>
            <a:r>
              <a:rPr lang="en-US" sz="1050" err="1">
                <a:solidFill>
                  <a:srgbClr val="5B6478"/>
                </a:solidFill>
                <a:latin typeface="Aptos" panose="020B0004020202020204" pitchFamily="34" charset="0"/>
                <a:ea typeface="Calibri" pitchFamily="34" charset="-122"/>
                <a:cs typeface="Calibri" pitchFamily="34" charset="-120"/>
              </a:rPr>
              <a:t>regulatorische</a:t>
            </a:r>
            <a:r>
              <a:rPr lang="en-US" sz="1050">
                <a:solidFill>
                  <a:srgbClr val="5B6478"/>
                </a:solidFill>
                <a:latin typeface="Aptos" panose="020B0004020202020204" pitchFamily="34" charset="0"/>
                <a:ea typeface="Calibri" pitchFamily="34" charset="-122"/>
                <a:cs typeface="Calibri" pitchFamily="34" charset="-120"/>
              </a:rPr>
              <a:t> </a:t>
            </a:r>
            <a:r>
              <a:rPr lang="en-US" sz="1050" err="1">
                <a:solidFill>
                  <a:srgbClr val="5B6478"/>
                </a:solidFill>
                <a:latin typeface="Aptos" panose="020B0004020202020204" pitchFamily="34" charset="0"/>
                <a:ea typeface="Calibri" pitchFamily="34" charset="-122"/>
                <a:cs typeface="Calibri" pitchFamily="34" charset="-120"/>
              </a:rPr>
              <a:t>Publikationspflicht</a:t>
            </a:r>
            <a:r>
              <a:rPr lang="en-US" sz="1050">
                <a:solidFill>
                  <a:srgbClr val="5B6478"/>
                </a:solidFill>
                <a:latin typeface="Aptos" panose="020B0004020202020204" pitchFamily="34" charset="0"/>
                <a:ea typeface="Calibri" pitchFamily="34" charset="-122"/>
                <a:cs typeface="Calibri" pitchFamily="34" charset="-120"/>
              </a:rPr>
              <a:t> (EBA ITS/2020/04)</a:t>
            </a:r>
            <a:endParaRPr lang="en-US" sz="1050">
              <a:latin typeface="Aptos" panose="020B0004020202020204" pitchFamily="34" charset="0"/>
            </a:endParaRPr>
          </a:p>
        </p:txBody>
      </p:sp>
      <p:sp>
        <p:nvSpPr>
          <p:cNvPr id="28" name="Text 26"/>
          <p:cNvSpPr/>
          <p:nvPr/>
        </p:nvSpPr>
        <p:spPr>
          <a:xfrm>
            <a:off x="7635240" y="4581144"/>
            <a:ext cx="3749040" cy="274320"/>
          </a:xfrm>
          <a:prstGeom prst="rect">
            <a:avLst/>
          </a:prstGeom>
          <a:noFill/>
          <a:ln/>
        </p:spPr>
        <p:txBody>
          <a:bodyPr wrap="square" lIns="0" tIns="0" rIns="0" bIns="0" rtlCol="0" anchor="ctr"/>
          <a:lstStyle/>
          <a:p>
            <a:pPr marL="0" indent="0">
              <a:buNone/>
            </a:pPr>
            <a:r>
              <a:rPr lang="en-US" sz="1250" b="1">
                <a:solidFill>
                  <a:srgbClr val="1A1A1A"/>
                </a:solidFill>
                <a:latin typeface="Aptos" panose="020B0004020202020204" pitchFamily="34" charset="0"/>
                <a:ea typeface="Calibri" pitchFamily="34" charset="-122"/>
                <a:cs typeface="Calibri" pitchFamily="34" charset="-120"/>
              </a:rPr>
              <a:t>7 Exposure-Klassen</a:t>
            </a:r>
            <a:endParaRPr lang="en-US" sz="1250">
              <a:latin typeface="Aptos" panose="020B0004020202020204" pitchFamily="34" charset="0"/>
            </a:endParaRPr>
          </a:p>
        </p:txBody>
      </p:sp>
      <p:sp>
        <p:nvSpPr>
          <p:cNvPr id="29" name="Text 27"/>
          <p:cNvSpPr/>
          <p:nvPr/>
        </p:nvSpPr>
        <p:spPr>
          <a:xfrm>
            <a:off x="7635240" y="4855464"/>
            <a:ext cx="3749040" cy="457200"/>
          </a:xfrm>
          <a:prstGeom prst="rect">
            <a:avLst/>
          </a:prstGeom>
          <a:noFill/>
          <a:ln/>
        </p:spPr>
        <p:txBody>
          <a:bodyPr wrap="square" lIns="0" tIns="0" rIns="0" bIns="0" rtlCol="0" anchor="ctr"/>
          <a:lstStyle/>
          <a:p>
            <a:pPr marL="0" indent="0">
              <a:buNone/>
            </a:pPr>
            <a:r>
              <a:rPr lang="en-US" sz="1050">
                <a:solidFill>
                  <a:srgbClr val="5B6478"/>
                </a:solidFill>
                <a:latin typeface="Aptos" panose="020B0004020202020204" pitchFamily="34" charset="0"/>
                <a:ea typeface="Calibri" pitchFamily="34" charset="-122"/>
                <a:cs typeface="Calibri" pitchFamily="34" charset="-120"/>
              </a:rPr>
              <a:t>Corporate, SME, Mortgage, QRRE, Other Retail, Bank, Sovereign</a:t>
            </a:r>
          </a:p>
        </p:txBody>
      </p:sp>
      <p:sp>
        <p:nvSpPr>
          <p:cNvPr id="30" name="Text 28"/>
          <p:cNvSpPr/>
          <p:nvPr/>
        </p:nvSpPr>
        <p:spPr>
          <a:xfrm>
            <a:off x="457200" y="6519672"/>
            <a:ext cx="7315200" cy="274320"/>
          </a:xfrm>
          <a:prstGeom prst="rect">
            <a:avLst/>
          </a:prstGeom>
          <a:noFill/>
          <a:ln/>
        </p:spPr>
        <p:txBody>
          <a:bodyPr wrap="square" lIns="0" tIns="0" rIns="0" bIns="0" rtlCol="0" anchor="ctr"/>
          <a:lstStyle/>
          <a:p>
            <a:pPr>
              <a:buNone/>
              <a:defRPr sz="653" b="0" i="0">
                <a:solidFill>
                  <a:srgbClr val="71858F"/>
                </a:solidFill>
                <a:latin typeface="Aptos"/>
                <a:ea typeface="Aptos"/>
                <a:cs typeface="Aptos"/>
              </a:defRPr>
            </a:pPr>
            <a:r>
              <a:rPr lang="en-US" sz="653" err="1">
                <a:solidFill>
                  <a:srgbClr val="71858F"/>
                </a:solidFill>
                <a:latin typeface="Aptos"/>
              </a:rPr>
              <a:t>Kreditbuch</a:t>
            </a:r>
            <a:r>
              <a:rPr lang="en-US" sz="653">
                <a:solidFill>
                  <a:srgbClr val="71858F"/>
                </a:solidFill>
                <a:latin typeface="Aptos"/>
              </a:rPr>
              <a:t> · Loan Book Channel</a:t>
            </a:r>
          </a:p>
        </p:txBody>
      </p:sp>
      <p:sp>
        <p:nvSpPr>
          <p:cNvPr id="33" name="Rectangle 32">
            <a:extLst>
              <a:ext uri="{FF2B5EF4-FFF2-40B4-BE49-F238E27FC236}">
                <a16:creationId xmlns:a16="http://schemas.microsoft.com/office/drawing/2014/main" id="{30CB95FF-FB42-3875-2316-1A76DEBC1BE3}"/>
              </a:ext>
            </a:extLst>
          </p:cNvPr>
          <p:cNvSpPr>
            <a:spLocks noGrp="1"/>
          </p:cNvSpPr>
          <p:nvPr/>
        </p:nvSpPr>
        <p:spPr>
          <a:xfrm>
            <a:off x="457200" y="228600"/>
            <a:ext cx="4572000" cy="171450"/>
          </a:xfrm>
          <a:prstGeom prst="rect">
            <a:avLst/>
          </a:prstGeom>
          <a:noFill/>
          <a:ln w="0">
            <a:noFill/>
            <a:prstDash val="solid"/>
          </a:ln>
        </p:spPr>
        <p:txBody>
          <a:bodyPr/>
          <a:lstStyle/>
          <a:p>
            <a:pPr>
              <a:defRPr sz="863" b="1" i="0">
                <a:solidFill>
                  <a:srgbClr val="A52F4D"/>
                </a:solidFill>
                <a:latin typeface="Aptos"/>
                <a:ea typeface="Aptos"/>
                <a:cs typeface="Aptos"/>
              </a:defRPr>
            </a:pPr>
            <a:r>
              <a:rPr lang="en-US" sz="863" b="1" dirty="0" err="1">
                <a:solidFill>
                  <a:schemeClr val="tx2"/>
                </a:solidFill>
                <a:latin typeface="Aptos"/>
              </a:rPr>
              <a:t>Kreditbuch</a:t>
            </a:r>
            <a:endParaRPr lang="en-US" sz="863" b="1" dirty="0">
              <a:solidFill>
                <a:schemeClr val="tx2"/>
              </a:solidFill>
              <a:latin typeface="Aptos"/>
            </a:endParaRPr>
          </a:p>
        </p:txBody>
      </p:sp>
      <p:sp>
        <p:nvSpPr>
          <p:cNvPr id="31" name="CodexSlideNumber">
            <a:extLst>
              <a:ext uri="{FF2B5EF4-FFF2-40B4-BE49-F238E27FC236}">
                <a16:creationId xmlns:a16="http://schemas.microsoft.com/office/drawing/2014/main" id="{426E6D3C-E528-D3C7-31D4-A63C5047CFEC}"/>
              </a:ext>
            </a:extLst>
          </p:cNvPr>
          <p:cNvSpPr txBox="1"/>
          <p:nvPr/>
        </p:nvSpPr>
        <p:spPr>
          <a:xfrm>
            <a:off x="11226800" y="6553200"/>
            <a:ext cx="736600" cy="123111"/>
          </a:xfrm>
          <a:prstGeom prst="rect">
            <a:avLst/>
          </a:prstGeom>
          <a:noFill/>
        </p:spPr>
        <p:txBody>
          <a:bodyPr vert="horz" lIns="0" tIns="0" rIns="0" bIns="0" rtlCol="0">
            <a:spAutoFit/>
          </a:bodyPr>
          <a:lstStyle/>
          <a:p>
            <a:pPr algn="r"/>
            <a:r>
              <a:rPr lang="en-US" sz="800">
                <a:solidFill>
                  <a:srgbClr val="525252"/>
                </a:solidFill>
                <a:latin typeface="Arial" panose="020B0604020202020204" pitchFamily="34" charset="0"/>
              </a:rPr>
              <a:t>20 / 64</a:t>
            </a:r>
          </a:p>
        </p:txBody>
      </p:sp>
    </p:spTree>
    <p:extLst>
      <p:ext uri="{BB962C8B-B14F-4D97-AF65-F5344CB8AC3E}">
        <p14:creationId xmlns:p14="http://schemas.microsoft.com/office/powerpoint/2010/main" val="37725021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0058400" cy="320040"/>
          </a:xfrm>
          <a:prstGeom prst="rect">
            <a:avLst/>
          </a:prstGeom>
          <a:noFill/>
          <a:ln/>
        </p:spPr>
        <p:txBody>
          <a:bodyPr wrap="square" lIns="0" tIns="0" rIns="0" bIns="0" rtlCol="0" anchor="ctr"/>
          <a:lstStyle/>
          <a:p>
            <a:pPr marL="0" indent="0">
              <a:buNone/>
            </a:pPr>
            <a:r>
              <a:rPr lang="en-US" sz="1200" b="1" kern="0" spc="200">
                <a:solidFill>
                  <a:srgbClr val="C9A24B"/>
                </a:solidFill>
                <a:latin typeface="Calibri" pitchFamily="34" charset="0"/>
                <a:ea typeface="Calibri" pitchFamily="34" charset="-122"/>
                <a:cs typeface="Calibri" pitchFamily="34" charset="-120"/>
              </a:rPr>
              <a:t>MODELL-BAUSTEINE</a:t>
            </a:r>
            <a:endParaRPr lang="en-US" sz="1200"/>
          </a:p>
        </p:txBody>
      </p:sp>
      <p:sp>
        <p:nvSpPr>
          <p:cNvPr id="3" name="Text 1"/>
          <p:cNvSpPr/>
          <p:nvPr/>
        </p:nvSpPr>
        <p:spPr>
          <a:xfrm>
            <a:off x="548640" y="658368"/>
            <a:ext cx="10515600" cy="822960"/>
          </a:xfrm>
          <a:prstGeom prst="rect">
            <a:avLst/>
          </a:prstGeom>
          <a:noFill/>
          <a:ln/>
        </p:spPr>
        <p:txBody>
          <a:bodyPr wrap="square" lIns="0" tIns="0" rIns="0" bIns="0" rtlCol="0" anchor="ctr"/>
          <a:lstStyle/>
          <a:p>
            <a:pPr marL="0" indent="0">
              <a:buNone/>
            </a:pPr>
            <a:r>
              <a:rPr lang="en-US" sz="3200" b="1">
                <a:solidFill>
                  <a:srgbClr val="1A1A1A"/>
                </a:solidFill>
                <a:latin typeface="Cambria" pitchFamily="34" charset="0"/>
                <a:ea typeface="Cambria" pitchFamily="34" charset="-122"/>
                <a:cs typeface="Cambria" pitchFamily="34" charset="-120"/>
              </a:rPr>
              <a:t>Vier Größen beschreiben jeden Kredit</a:t>
            </a:r>
            <a:endParaRPr lang="en-US" sz="3200"/>
          </a:p>
        </p:txBody>
      </p:sp>
      <p:sp>
        <p:nvSpPr>
          <p:cNvPr id="4" name="Text 2"/>
          <p:cNvSpPr/>
          <p:nvPr/>
        </p:nvSpPr>
        <p:spPr>
          <a:xfrm>
            <a:off x="548640" y="1508760"/>
            <a:ext cx="10515600" cy="411480"/>
          </a:xfrm>
          <a:prstGeom prst="rect">
            <a:avLst/>
          </a:prstGeom>
          <a:noFill/>
          <a:ln/>
        </p:spPr>
        <p:txBody>
          <a:bodyPr wrap="square" lIns="0" tIns="0" rIns="0" bIns="0" rtlCol="0" anchor="ctr"/>
          <a:lstStyle/>
          <a:p>
            <a:pPr marL="0" indent="0">
              <a:buNone/>
            </a:pPr>
            <a:r>
              <a:rPr lang="en-US" sz="1400" i="1">
                <a:solidFill>
                  <a:srgbClr val="5B6478"/>
                </a:solidFill>
                <a:latin typeface="Calibri" pitchFamily="34" charset="0"/>
                <a:ea typeface="Calibri" pitchFamily="34" charset="-122"/>
                <a:cs typeface="Calibri" pitchFamily="34" charset="-120"/>
              </a:rPr>
              <a:t>Jeder Kredit wird im Modell durch vier Bausteine beschrieben. Ihr Produkt ergibt den erwarteten Verlust EL.</a:t>
            </a:r>
            <a:endParaRPr lang="en-US" sz="1400"/>
          </a:p>
        </p:txBody>
      </p:sp>
      <p:sp>
        <p:nvSpPr>
          <p:cNvPr id="5" name="Shape 3"/>
          <p:cNvSpPr/>
          <p:nvPr/>
        </p:nvSpPr>
        <p:spPr>
          <a:xfrm>
            <a:off x="548640" y="2103120"/>
            <a:ext cx="2679192" cy="3840480"/>
          </a:xfrm>
          <a:prstGeom prst="roundRect">
            <a:avLst>
              <a:gd name="adj" fmla="val 2389"/>
            </a:avLst>
          </a:prstGeom>
          <a:solidFill>
            <a:srgbClr val="F4F6FB"/>
          </a:solidFill>
          <a:ln/>
          <a:effectLst>
            <a:outerShdw blurRad="101600" dist="38100" dir="2700000" algn="bl" rotWithShape="0">
              <a:srgbClr val="000000">
                <a:alpha val="12000"/>
              </a:srgbClr>
            </a:outerShdw>
          </a:effectLst>
        </p:spPr>
        <p:txBody>
          <a:bodyPr/>
          <a:lstStyle/>
          <a:p>
            <a:endParaRPr lang="de-DE"/>
          </a:p>
        </p:txBody>
      </p:sp>
      <p:sp>
        <p:nvSpPr>
          <p:cNvPr id="6" name="Shape 4"/>
          <p:cNvSpPr/>
          <p:nvPr/>
        </p:nvSpPr>
        <p:spPr>
          <a:xfrm>
            <a:off x="777240" y="2331720"/>
            <a:ext cx="777240" cy="777240"/>
          </a:xfrm>
          <a:prstGeom prst="ellipse">
            <a:avLst/>
          </a:prstGeom>
          <a:solidFill>
            <a:srgbClr val="16243F"/>
          </a:solidFill>
          <a:ln/>
        </p:spPr>
        <p:txBody>
          <a:bodyPr/>
          <a:lstStyle/>
          <a:p>
            <a:endParaRPr lang="de-DE"/>
          </a:p>
        </p:txBody>
      </p:sp>
      <p:sp>
        <p:nvSpPr>
          <p:cNvPr id="7" name="Text 5"/>
          <p:cNvSpPr/>
          <p:nvPr/>
        </p:nvSpPr>
        <p:spPr>
          <a:xfrm>
            <a:off x="777240" y="2331720"/>
            <a:ext cx="777240" cy="777240"/>
          </a:xfrm>
          <a:prstGeom prst="rect">
            <a:avLst/>
          </a:prstGeom>
          <a:noFill/>
          <a:ln/>
        </p:spPr>
        <p:txBody>
          <a:bodyPr wrap="square" lIns="0" tIns="0" rIns="0" bIns="0" rtlCol="0" anchor="ctr"/>
          <a:lstStyle/>
          <a:p>
            <a:pPr marL="0" indent="0" algn="ctr">
              <a:buNone/>
            </a:pPr>
            <a:r>
              <a:rPr lang="en-US" sz="1800" b="1">
                <a:solidFill>
                  <a:srgbClr val="FFFFFF"/>
                </a:solidFill>
                <a:latin typeface="Cambria" pitchFamily="34" charset="0"/>
                <a:ea typeface="Cambria" pitchFamily="34" charset="-122"/>
                <a:cs typeface="Cambria" pitchFamily="34" charset="-120"/>
              </a:rPr>
              <a:t>PD</a:t>
            </a:r>
            <a:endParaRPr lang="en-US" sz="1800"/>
          </a:p>
        </p:txBody>
      </p:sp>
      <p:sp>
        <p:nvSpPr>
          <p:cNvPr id="8" name="Text 6"/>
          <p:cNvSpPr/>
          <p:nvPr/>
        </p:nvSpPr>
        <p:spPr>
          <a:xfrm>
            <a:off x="731520" y="3246120"/>
            <a:ext cx="2313432" cy="502920"/>
          </a:xfrm>
          <a:prstGeom prst="rect">
            <a:avLst/>
          </a:prstGeom>
          <a:noFill/>
          <a:ln/>
        </p:spPr>
        <p:txBody>
          <a:bodyPr wrap="square" lIns="0" tIns="0" rIns="0" bIns="0" rtlCol="0" anchor="ctr"/>
          <a:lstStyle/>
          <a:p>
            <a:pPr marL="0" indent="0">
              <a:buNone/>
            </a:pPr>
            <a:r>
              <a:rPr lang="en-US" sz="1300" b="1">
                <a:solidFill>
                  <a:srgbClr val="1A1A1A"/>
                </a:solidFill>
                <a:latin typeface="Calibri" pitchFamily="34" charset="0"/>
                <a:ea typeface="Calibri" pitchFamily="34" charset="-122"/>
                <a:cs typeface="Calibri" pitchFamily="34" charset="-120"/>
              </a:rPr>
              <a:t>Probability of Default</a:t>
            </a:r>
            <a:endParaRPr lang="en-US" sz="1300"/>
          </a:p>
        </p:txBody>
      </p:sp>
      <p:sp>
        <p:nvSpPr>
          <p:cNvPr id="9" name="Text 7"/>
          <p:cNvSpPr/>
          <p:nvPr/>
        </p:nvSpPr>
        <p:spPr>
          <a:xfrm>
            <a:off x="731520" y="3749040"/>
            <a:ext cx="2313432" cy="2011680"/>
          </a:xfrm>
          <a:prstGeom prst="rect">
            <a:avLst/>
          </a:prstGeom>
          <a:noFill/>
          <a:ln/>
        </p:spPr>
        <p:txBody>
          <a:bodyPr wrap="square" lIns="0" tIns="0" rIns="0" bIns="0" rtlCol="0" anchor="ctr"/>
          <a:lstStyle/>
          <a:p>
            <a:pPr marL="0" indent="0">
              <a:lnSpc>
                <a:spcPct val="118000"/>
              </a:lnSpc>
              <a:buNone/>
            </a:pPr>
            <a:r>
              <a:rPr lang="en-US" sz="1050" err="1">
                <a:latin typeface="Calibri"/>
                <a:ea typeface="Calibri"/>
                <a:cs typeface="Calibri"/>
              </a:rPr>
              <a:t>Ausfallwahrscheinlichkeit</a:t>
            </a:r>
            <a:r>
              <a:rPr lang="en-US" sz="1050">
                <a:latin typeface="Calibri"/>
                <a:ea typeface="Calibri"/>
                <a:cs typeface="Calibri"/>
              </a:rPr>
              <a:t> </a:t>
            </a:r>
            <a:r>
              <a:rPr lang="en-US" sz="1050" err="1">
                <a:latin typeface="Calibri"/>
                <a:ea typeface="Calibri"/>
                <a:cs typeface="Calibri"/>
              </a:rPr>
              <a:t>eines</a:t>
            </a:r>
            <a:r>
              <a:rPr lang="en-US" sz="1050">
                <a:latin typeface="Calibri"/>
                <a:ea typeface="Calibri"/>
                <a:cs typeface="Calibri"/>
              </a:rPr>
              <a:t> </a:t>
            </a:r>
            <a:r>
              <a:rPr lang="en-US" sz="1050" err="1">
                <a:latin typeface="Calibri"/>
                <a:ea typeface="Calibri"/>
                <a:cs typeface="Calibri"/>
              </a:rPr>
              <a:t>Schuldners</a:t>
            </a:r>
            <a:r>
              <a:rPr lang="en-US" sz="1050">
                <a:latin typeface="Calibri"/>
                <a:ea typeface="Calibri"/>
                <a:cs typeface="Calibri"/>
              </a:rPr>
              <a:t> in den </a:t>
            </a:r>
            <a:r>
              <a:rPr lang="en-US" sz="1050" err="1">
                <a:latin typeface="Calibri"/>
                <a:ea typeface="Calibri"/>
                <a:cs typeface="Calibri"/>
              </a:rPr>
              <a:t>nächsten</a:t>
            </a:r>
            <a:r>
              <a:rPr lang="en-US" sz="1050">
                <a:latin typeface="Calibri"/>
                <a:ea typeface="Calibri"/>
                <a:cs typeface="Calibri"/>
              </a:rPr>
              <a:t> 12 </a:t>
            </a:r>
            <a:r>
              <a:rPr lang="en-US" sz="1050" err="1">
                <a:latin typeface="Calibri"/>
                <a:ea typeface="Calibri"/>
                <a:cs typeface="Calibri"/>
              </a:rPr>
              <a:t>Monaten</a:t>
            </a:r>
            <a:r>
              <a:rPr lang="en-US" sz="1050">
                <a:latin typeface="Calibri"/>
                <a:ea typeface="Calibri"/>
                <a:cs typeface="Calibri"/>
              </a:rPr>
              <a:t> (CRR Art. 178: 90+ Tage </a:t>
            </a:r>
            <a:r>
              <a:rPr lang="en-US" sz="1050" err="1">
                <a:latin typeface="Calibri"/>
                <a:ea typeface="Calibri"/>
                <a:cs typeface="Calibri"/>
              </a:rPr>
              <a:t>überfällig</a:t>
            </a:r>
            <a:r>
              <a:rPr lang="en-US" sz="1050">
                <a:latin typeface="Calibri"/>
                <a:ea typeface="Calibri"/>
                <a:cs typeface="Calibri"/>
              </a:rPr>
              <a:t> </a:t>
            </a:r>
            <a:r>
              <a:rPr lang="en-US" sz="1050" err="1">
                <a:latin typeface="Calibri"/>
                <a:ea typeface="Calibri"/>
                <a:cs typeface="Calibri"/>
              </a:rPr>
              <a:t>oder</a:t>
            </a:r>
            <a:r>
              <a:rPr lang="en-US" sz="1050">
                <a:latin typeface="Calibri"/>
                <a:ea typeface="Calibri"/>
                <a:cs typeface="Calibri"/>
              </a:rPr>
              <a:t> „unlikely to pay“). Bank-</a:t>
            </a:r>
            <a:r>
              <a:rPr lang="en-US" sz="1050" err="1">
                <a:latin typeface="Calibri"/>
                <a:ea typeface="Calibri"/>
                <a:cs typeface="Calibri"/>
              </a:rPr>
              <a:t>spezifische</a:t>
            </a:r>
            <a:r>
              <a:rPr lang="en-US" sz="1050">
                <a:latin typeface="Calibri"/>
                <a:ea typeface="Calibri"/>
                <a:cs typeface="Calibri"/>
              </a:rPr>
              <a:t> 1-Jahres-Average-PD </a:t>
            </a:r>
            <a:r>
              <a:rPr lang="en-US" sz="1050" err="1">
                <a:latin typeface="Calibri"/>
                <a:ea typeface="Calibri"/>
                <a:cs typeface="Calibri"/>
              </a:rPr>
              <a:t>aus</a:t>
            </a:r>
            <a:r>
              <a:rPr lang="en-US" sz="1050">
                <a:latin typeface="Calibri"/>
                <a:ea typeface="Calibri"/>
                <a:cs typeface="Calibri"/>
              </a:rPr>
              <a:t> der EU-CR6-Tabelle.</a:t>
            </a:r>
          </a:p>
        </p:txBody>
      </p:sp>
      <p:sp>
        <p:nvSpPr>
          <p:cNvPr id="10" name="Shape 8"/>
          <p:cNvSpPr/>
          <p:nvPr/>
        </p:nvSpPr>
        <p:spPr>
          <a:xfrm>
            <a:off x="3392424" y="2103120"/>
            <a:ext cx="2679192" cy="3840480"/>
          </a:xfrm>
          <a:prstGeom prst="roundRect">
            <a:avLst>
              <a:gd name="adj" fmla="val 2389"/>
            </a:avLst>
          </a:prstGeom>
          <a:solidFill>
            <a:srgbClr val="F4F6FB"/>
          </a:solidFill>
          <a:ln/>
          <a:effectLst>
            <a:outerShdw blurRad="101600" dist="38100" dir="2700000" algn="bl" rotWithShape="0">
              <a:srgbClr val="000000">
                <a:alpha val="12000"/>
              </a:srgbClr>
            </a:outerShdw>
          </a:effectLst>
        </p:spPr>
        <p:txBody>
          <a:bodyPr/>
          <a:lstStyle/>
          <a:p>
            <a:endParaRPr lang="de-DE"/>
          </a:p>
        </p:txBody>
      </p:sp>
      <p:sp>
        <p:nvSpPr>
          <p:cNvPr id="11" name="Shape 9"/>
          <p:cNvSpPr/>
          <p:nvPr/>
        </p:nvSpPr>
        <p:spPr>
          <a:xfrm>
            <a:off x="3621024" y="2331720"/>
            <a:ext cx="777240" cy="777240"/>
          </a:xfrm>
          <a:prstGeom prst="ellipse">
            <a:avLst/>
          </a:prstGeom>
          <a:solidFill>
            <a:srgbClr val="0B6E78"/>
          </a:solidFill>
          <a:ln/>
        </p:spPr>
        <p:txBody>
          <a:bodyPr/>
          <a:lstStyle/>
          <a:p>
            <a:endParaRPr lang="de-DE"/>
          </a:p>
        </p:txBody>
      </p:sp>
      <p:sp>
        <p:nvSpPr>
          <p:cNvPr id="12" name="Text 10"/>
          <p:cNvSpPr/>
          <p:nvPr/>
        </p:nvSpPr>
        <p:spPr>
          <a:xfrm>
            <a:off x="3621024" y="2331720"/>
            <a:ext cx="777240" cy="777240"/>
          </a:xfrm>
          <a:prstGeom prst="rect">
            <a:avLst/>
          </a:prstGeom>
          <a:noFill/>
          <a:ln/>
        </p:spPr>
        <p:txBody>
          <a:bodyPr wrap="square" lIns="0" tIns="0" rIns="0" bIns="0" rtlCol="0" anchor="ctr"/>
          <a:lstStyle/>
          <a:p>
            <a:pPr marL="0" indent="0" algn="ctr">
              <a:buNone/>
            </a:pPr>
            <a:r>
              <a:rPr lang="en-US" sz="1800" b="1">
                <a:solidFill>
                  <a:srgbClr val="FFFFFF"/>
                </a:solidFill>
                <a:latin typeface="Cambria" pitchFamily="34" charset="0"/>
                <a:ea typeface="Cambria" pitchFamily="34" charset="-122"/>
                <a:cs typeface="Cambria" pitchFamily="34" charset="-120"/>
              </a:rPr>
              <a:t>LGD</a:t>
            </a:r>
            <a:endParaRPr lang="en-US" sz="1800"/>
          </a:p>
        </p:txBody>
      </p:sp>
      <p:sp>
        <p:nvSpPr>
          <p:cNvPr id="13" name="Text 11"/>
          <p:cNvSpPr/>
          <p:nvPr/>
        </p:nvSpPr>
        <p:spPr>
          <a:xfrm>
            <a:off x="3575304" y="3246120"/>
            <a:ext cx="2313432" cy="502920"/>
          </a:xfrm>
          <a:prstGeom prst="rect">
            <a:avLst/>
          </a:prstGeom>
          <a:noFill/>
          <a:ln/>
        </p:spPr>
        <p:txBody>
          <a:bodyPr wrap="square" lIns="0" tIns="0" rIns="0" bIns="0" rtlCol="0" anchor="ctr"/>
          <a:lstStyle/>
          <a:p>
            <a:pPr marL="0" indent="0">
              <a:buNone/>
            </a:pPr>
            <a:r>
              <a:rPr lang="en-US" sz="1300" b="1">
                <a:solidFill>
                  <a:srgbClr val="1A1A1A"/>
                </a:solidFill>
                <a:latin typeface="Calibri" pitchFamily="34" charset="0"/>
                <a:ea typeface="Calibri" pitchFamily="34" charset="-122"/>
                <a:cs typeface="Calibri" pitchFamily="34" charset="-120"/>
              </a:rPr>
              <a:t>Loss Given Default</a:t>
            </a:r>
            <a:endParaRPr lang="en-US" sz="1300"/>
          </a:p>
        </p:txBody>
      </p:sp>
      <p:sp>
        <p:nvSpPr>
          <p:cNvPr id="14" name="Text 12"/>
          <p:cNvSpPr/>
          <p:nvPr/>
        </p:nvSpPr>
        <p:spPr>
          <a:xfrm>
            <a:off x="3575304" y="3749040"/>
            <a:ext cx="2313432" cy="2011680"/>
          </a:xfrm>
          <a:prstGeom prst="rect">
            <a:avLst/>
          </a:prstGeom>
          <a:noFill/>
          <a:ln/>
        </p:spPr>
        <p:txBody>
          <a:bodyPr wrap="square" lIns="0" tIns="0" rIns="0" bIns="0" rtlCol="0" anchor="ctr"/>
          <a:lstStyle/>
          <a:p>
            <a:pPr marL="0" indent="0">
              <a:lnSpc>
                <a:spcPct val="118000"/>
              </a:lnSpc>
              <a:buNone/>
            </a:pPr>
            <a:r>
              <a:rPr lang="en-US" sz="1050" err="1">
                <a:latin typeface="Calibri"/>
                <a:ea typeface="Calibri"/>
                <a:cs typeface="Calibri"/>
              </a:rPr>
              <a:t>Anteil</a:t>
            </a:r>
            <a:r>
              <a:rPr lang="en-US" sz="1050">
                <a:latin typeface="Calibri"/>
                <a:ea typeface="Calibri"/>
                <a:cs typeface="Calibri"/>
              </a:rPr>
              <a:t> der </a:t>
            </a:r>
            <a:r>
              <a:rPr lang="en-US" sz="1050" err="1">
                <a:latin typeface="Calibri"/>
                <a:ea typeface="Calibri"/>
                <a:cs typeface="Calibri"/>
              </a:rPr>
              <a:t>Forderung</a:t>
            </a:r>
            <a:r>
              <a:rPr lang="en-US" sz="1050">
                <a:latin typeface="Calibri"/>
                <a:ea typeface="Calibri"/>
                <a:cs typeface="Calibri"/>
              </a:rPr>
              <a:t>, der </a:t>
            </a:r>
            <a:r>
              <a:rPr lang="en-US" sz="1050" err="1">
                <a:latin typeface="Calibri"/>
                <a:ea typeface="Calibri"/>
                <a:cs typeface="Calibri"/>
              </a:rPr>
              <a:t>bei</a:t>
            </a:r>
            <a:r>
              <a:rPr lang="en-US" sz="1050">
                <a:latin typeface="Calibri"/>
                <a:ea typeface="Calibri"/>
                <a:cs typeface="Calibri"/>
              </a:rPr>
              <a:t> </a:t>
            </a:r>
            <a:r>
              <a:rPr lang="en-US" sz="1050" err="1">
                <a:latin typeface="Calibri"/>
                <a:ea typeface="Calibri"/>
                <a:cs typeface="Calibri"/>
              </a:rPr>
              <a:t>Ausfall</a:t>
            </a:r>
            <a:r>
              <a:rPr lang="en-US" sz="1050">
                <a:latin typeface="Calibri"/>
                <a:ea typeface="Calibri"/>
                <a:cs typeface="Calibri"/>
              </a:rPr>
              <a:t> NICHT </a:t>
            </a:r>
            <a:r>
              <a:rPr lang="en-US" sz="1050" err="1">
                <a:latin typeface="Calibri"/>
                <a:ea typeface="Calibri"/>
                <a:cs typeface="Calibri"/>
              </a:rPr>
              <a:t>zurückkommt</a:t>
            </a:r>
            <a:r>
              <a:rPr lang="en-US" sz="1050">
                <a:latin typeface="Calibri"/>
                <a:ea typeface="Calibri"/>
                <a:cs typeface="Calibri"/>
              </a:rPr>
              <a:t> - </a:t>
            </a:r>
            <a:r>
              <a:rPr lang="en-US" sz="1050" err="1">
                <a:latin typeface="Calibri"/>
                <a:ea typeface="Calibri"/>
                <a:cs typeface="Calibri"/>
              </a:rPr>
              <a:t>nach</a:t>
            </a:r>
            <a:r>
              <a:rPr lang="en-US" sz="1050">
                <a:latin typeface="Calibri"/>
                <a:ea typeface="Calibri"/>
                <a:cs typeface="Calibri"/>
              </a:rPr>
              <a:t> Recovery, </a:t>
            </a:r>
            <a:r>
              <a:rPr lang="en-US" sz="1050" err="1">
                <a:latin typeface="Calibri"/>
                <a:ea typeface="Calibri"/>
                <a:cs typeface="Calibri"/>
              </a:rPr>
              <a:t>Sicherheiten-Verwertung</a:t>
            </a:r>
            <a:r>
              <a:rPr lang="en-US" sz="1050">
                <a:latin typeface="Calibri"/>
                <a:ea typeface="Calibri"/>
                <a:cs typeface="Calibri"/>
              </a:rPr>
              <a:t>, </a:t>
            </a:r>
            <a:r>
              <a:rPr lang="en-US" sz="1050" err="1">
                <a:latin typeface="Calibri"/>
                <a:ea typeface="Calibri"/>
                <a:cs typeface="Calibri"/>
              </a:rPr>
              <a:t>Insolvenzverfahren</a:t>
            </a:r>
            <a:r>
              <a:rPr lang="en-US" sz="1050">
                <a:latin typeface="Calibri"/>
                <a:ea typeface="Calibri"/>
                <a:cs typeface="Calibri"/>
              </a:rPr>
              <a:t> (CRR Art. 181, Downturn-LGD).</a:t>
            </a:r>
          </a:p>
        </p:txBody>
      </p:sp>
      <p:sp>
        <p:nvSpPr>
          <p:cNvPr id="15" name="Shape 13"/>
          <p:cNvSpPr/>
          <p:nvPr/>
        </p:nvSpPr>
        <p:spPr>
          <a:xfrm>
            <a:off x="6236208" y="2103120"/>
            <a:ext cx="2679192" cy="3840480"/>
          </a:xfrm>
          <a:prstGeom prst="roundRect">
            <a:avLst>
              <a:gd name="adj" fmla="val 2389"/>
            </a:avLst>
          </a:prstGeom>
          <a:solidFill>
            <a:srgbClr val="F4F6FB"/>
          </a:solidFill>
          <a:ln/>
          <a:effectLst>
            <a:outerShdw blurRad="101600" dist="38100" dir="2700000" algn="bl" rotWithShape="0">
              <a:srgbClr val="000000">
                <a:alpha val="12000"/>
              </a:srgbClr>
            </a:outerShdw>
          </a:effectLst>
        </p:spPr>
        <p:txBody>
          <a:bodyPr/>
          <a:lstStyle/>
          <a:p>
            <a:endParaRPr lang="de-DE"/>
          </a:p>
        </p:txBody>
      </p:sp>
      <p:sp>
        <p:nvSpPr>
          <p:cNvPr id="16" name="Shape 14"/>
          <p:cNvSpPr/>
          <p:nvPr/>
        </p:nvSpPr>
        <p:spPr>
          <a:xfrm>
            <a:off x="6464808" y="2331720"/>
            <a:ext cx="777240" cy="777240"/>
          </a:xfrm>
          <a:prstGeom prst="ellipse">
            <a:avLst/>
          </a:prstGeom>
          <a:solidFill>
            <a:srgbClr val="C9A24B"/>
          </a:solidFill>
          <a:ln/>
        </p:spPr>
        <p:txBody>
          <a:bodyPr/>
          <a:lstStyle/>
          <a:p>
            <a:endParaRPr lang="de-DE"/>
          </a:p>
        </p:txBody>
      </p:sp>
      <p:sp>
        <p:nvSpPr>
          <p:cNvPr id="17" name="Text 15"/>
          <p:cNvSpPr/>
          <p:nvPr/>
        </p:nvSpPr>
        <p:spPr>
          <a:xfrm>
            <a:off x="6464808" y="2331720"/>
            <a:ext cx="777240" cy="777240"/>
          </a:xfrm>
          <a:prstGeom prst="rect">
            <a:avLst/>
          </a:prstGeom>
          <a:noFill/>
          <a:ln/>
        </p:spPr>
        <p:txBody>
          <a:bodyPr wrap="square" lIns="0" tIns="0" rIns="0" bIns="0" rtlCol="0" anchor="ctr"/>
          <a:lstStyle/>
          <a:p>
            <a:pPr marL="0" indent="0" algn="ctr">
              <a:buNone/>
            </a:pPr>
            <a:r>
              <a:rPr lang="en-US" sz="1800" b="1">
                <a:solidFill>
                  <a:srgbClr val="FFFFFF"/>
                </a:solidFill>
                <a:latin typeface="Cambria" pitchFamily="34" charset="0"/>
                <a:ea typeface="Cambria" pitchFamily="34" charset="-122"/>
                <a:cs typeface="Cambria" pitchFamily="34" charset="-120"/>
              </a:rPr>
              <a:t>EAD</a:t>
            </a:r>
            <a:endParaRPr lang="en-US" sz="1800"/>
          </a:p>
        </p:txBody>
      </p:sp>
      <p:sp>
        <p:nvSpPr>
          <p:cNvPr id="18" name="Text 16"/>
          <p:cNvSpPr/>
          <p:nvPr/>
        </p:nvSpPr>
        <p:spPr>
          <a:xfrm>
            <a:off x="6419088" y="3246120"/>
            <a:ext cx="2313432" cy="502920"/>
          </a:xfrm>
          <a:prstGeom prst="rect">
            <a:avLst/>
          </a:prstGeom>
          <a:noFill/>
          <a:ln/>
        </p:spPr>
        <p:txBody>
          <a:bodyPr wrap="square" lIns="0" tIns="0" rIns="0" bIns="0" rtlCol="0" anchor="ctr"/>
          <a:lstStyle/>
          <a:p>
            <a:pPr marL="0" indent="0">
              <a:buNone/>
            </a:pPr>
            <a:r>
              <a:rPr lang="en-US" sz="1300" b="1">
                <a:solidFill>
                  <a:srgbClr val="1A1A1A"/>
                </a:solidFill>
                <a:latin typeface="Calibri" pitchFamily="34" charset="0"/>
                <a:ea typeface="Calibri" pitchFamily="34" charset="-122"/>
                <a:cs typeface="Calibri" pitchFamily="34" charset="-120"/>
              </a:rPr>
              <a:t>Exposure at Default</a:t>
            </a:r>
            <a:endParaRPr lang="en-US" sz="1300"/>
          </a:p>
        </p:txBody>
      </p:sp>
      <p:sp>
        <p:nvSpPr>
          <p:cNvPr id="19" name="Text 17"/>
          <p:cNvSpPr/>
          <p:nvPr/>
        </p:nvSpPr>
        <p:spPr>
          <a:xfrm>
            <a:off x="6419088" y="3749040"/>
            <a:ext cx="2313432" cy="2011680"/>
          </a:xfrm>
          <a:prstGeom prst="rect">
            <a:avLst/>
          </a:prstGeom>
          <a:noFill/>
          <a:ln/>
        </p:spPr>
        <p:txBody>
          <a:bodyPr wrap="square" lIns="0" tIns="0" rIns="0" bIns="0" rtlCol="0" anchor="ctr"/>
          <a:lstStyle/>
          <a:p>
            <a:pPr marL="0" indent="0">
              <a:lnSpc>
                <a:spcPct val="118000"/>
              </a:lnSpc>
              <a:buNone/>
            </a:pPr>
            <a:r>
              <a:rPr lang="en-US" sz="1050" err="1">
                <a:latin typeface="Calibri"/>
                <a:ea typeface="Calibri"/>
                <a:cs typeface="Calibri"/>
              </a:rPr>
              <a:t>Ausstehender</a:t>
            </a:r>
            <a:r>
              <a:rPr lang="en-US" sz="1050">
                <a:latin typeface="Calibri"/>
                <a:ea typeface="Calibri"/>
                <a:cs typeface="Calibri"/>
              </a:rPr>
              <a:t> </a:t>
            </a:r>
            <a:r>
              <a:rPr lang="en-US" sz="1050" err="1">
                <a:latin typeface="Calibri"/>
                <a:ea typeface="Calibri"/>
                <a:cs typeface="Calibri"/>
              </a:rPr>
              <a:t>Forderungsbetrag</a:t>
            </a:r>
            <a:r>
              <a:rPr lang="en-US" sz="1050">
                <a:latin typeface="Calibri"/>
                <a:ea typeface="Calibri"/>
                <a:cs typeface="Calibri"/>
              </a:rPr>
              <a:t> </a:t>
            </a:r>
            <a:r>
              <a:rPr lang="en-US" sz="1050" err="1">
                <a:latin typeface="Calibri"/>
                <a:ea typeface="Calibri"/>
                <a:cs typeface="Calibri"/>
              </a:rPr>
              <a:t>im</a:t>
            </a:r>
            <a:r>
              <a:rPr lang="en-US" sz="1050">
                <a:latin typeface="Calibri"/>
                <a:ea typeface="Calibri"/>
                <a:cs typeface="Calibri"/>
              </a:rPr>
              <a:t> Moment des </a:t>
            </a:r>
            <a:r>
              <a:rPr lang="en-US" sz="1050" err="1">
                <a:latin typeface="Calibri"/>
                <a:ea typeface="Calibri"/>
                <a:cs typeface="Calibri"/>
              </a:rPr>
              <a:t>Ausfalls</a:t>
            </a:r>
            <a:r>
              <a:rPr lang="en-US" sz="1050">
                <a:latin typeface="Calibri"/>
                <a:ea typeface="Calibri"/>
                <a:cs typeface="Calibri"/>
              </a:rPr>
              <a:t>. Direkt </a:t>
            </a:r>
            <a:r>
              <a:rPr lang="en-US" sz="1050" err="1">
                <a:latin typeface="Calibri"/>
                <a:ea typeface="Calibri"/>
                <a:cs typeface="Calibri"/>
              </a:rPr>
              <a:t>aus</a:t>
            </a:r>
            <a:r>
              <a:rPr lang="en-US" sz="1050">
                <a:latin typeface="Calibri"/>
                <a:ea typeface="Calibri"/>
                <a:cs typeface="Calibri"/>
              </a:rPr>
              <a:t> EBA Item 2520522 - </a:t>
            </a:r>
            <a:r>
              <a:rPr lang="en-US" sz="1050" err="1">
                <a:latin typeface="Calibri"/>
                <a:ea typeface="Calibri"/>
                <a:cs typeface="Calibri"/>
              </a:rPr>
              <a:t>bereits</a:t>
            </a:r>
            <a:r>
              <a:rPr lang="en-US" sz="1050">
                <a:latin typeface="Calibri"/>
                <a:ea typeface="Calibri"/>
                <a:cs typeface="Calibri"/>
              </a:rPr>
              <a:t> CCF-</a:t>
            </a:r>
            <a:r>
              <a:rPr lang="en-US" sz="1050" err="1">
                <a:latin typeface="Calibri"/>
                <a:ea typeface="Calibri"/>
                <a:cs typeface="Calibri"/>
              </a:rPr>
              <a:t>adjustiert</a:t>
            </a:r>
            <a:r>
              <a:rPr lang="en-US" sz="1050">
                <a:latin typeface="Calibri"/>
                <a:ea typeface="Calibri"/>
                <a:cs typeface="Calibri"/>
              </a:rPr>
              <a:t> für </a:t>
            </a:r>
            <a:r>
              <a:rPr lang="en-US" sz="1050" err="1">
                <a:latin typeface="Calibri"/>
                <a:ea typeface="Calibri"/>
                <a:cs typeface="Calibri"/>
              </a:rPr>
              <a:t>Kreditlinien</a:t>
            </a:r>
            <a:r>
              <a:rPr lang="en-US" sz="1050">
                <a:latin typeface="Calibri"/>
                <a:ea typeface="Calibri"/>
                <a:cs typeface="Calibri"/>
              </a:rPr>
              <a:t>.</a:t>
            </a:r>
          </a:p>
        </p:txBody>
      </p:sp>
      <p:sp>
        <p:nvSpPr>
          <p:cNvPr id="20" name="Shape 18"/>
          <p:cNvSpPr/>
          <p:nvPr/>
        </p:nvSpPr>
        <p:spPr>
          <a:xfrm>
            <a:off x="9079992" y="2103120"/>
            <a:ext cx="2679192" cy="3840480"/>
          </a:xfrm>
          <a:prstGeom prst="roundRect">
            <a:avLst>
              <a:gd name="adj" fmla="val 2389"/>
            </a:avLst>
          </a:prstGeom>
          <a:solidFill>
            <a:srgbClr val="F4F6FB"/>
          </a:solidFill>
          <a:ln/>
          <a:effectLst>
            <a:outerShdw blurRad="101600" dist="38100" dir="2700000" algn="bl" rotWithShape="0">
              <a:srgbClr val="000000">
                <a:alpha val="12000"/>
              </a:srgbClr>
            </a:outerShdw>
          </a:effectLst>
        </p:spPr>
        <p:txBody>
          <a:bodyPr/>
          <a:lstStyle/>
          <a:p>
            <a:endParaRPr lang="de-DE"/>
          </a:p>
        </p:txBody>
      </p:sp>
      <p:sp>
        <p:nvSpPr>
          <p:cNvPr id="21" name="Shape 19"/>
          <p:cNvSpPr/>
          <p:nvPr/>
        </p:nvSpPr>
        <p:spPr>
          <a:xfrm>
            <a:off x="9308592" y="2331720"/>
            <a:ext cx="777240" cy="777240"/>
          </a:xfrm>
          <a:prstGeom prst="ellipse">
            <a:avLst/>
          </a:prstGeom>
          <a:solidFill>
            <a:srgbClr val="9B1B30"/>
          </a:solidFill>
          <a:ln/>
        </p:spPr>
        <p:txBody>
          <a:bodyPr/>
          <a:lstStyle/>
          <a:p>
            <a:endParaRPr lang="de-DE"/>
          </a:p>
        </p:txBody>
      </p:sp>
      <p:sp>
        <p:nvSpPr>
          <p:cNvPr id="22" name="Text 20"/>
          <p:cNvSpPr/>
          <p:nvPr/>
        </p:nvSpPr>
        <p:spPr>
          <a:xfrm>
            <a:off x="9308592" y="2331720"/>
            <a:ext cx="777240" cy="777240"/>
          </a:xfrm>
          <a:prstGeom prst="rect">
            <a:avLst/>
          </a:prstGeom>
          <a:noFill/>
          <a:ln/>
        </p:spPr>
        <p:txBody>
          <a:bodyPr wrap="square" lIns="0" tIns="0" rIns="0" bIns="0" rtlCol="0" anchor="ctr"/>
          <a:lstStyle/>
          <a:p>
            <a:pPr marL="0" indent="0" algn="ctr">
              <a:buNone/>
            </a:pPr>
            <a:r>
              <a:rPr lang="en-US" sz="1800" b="1">
                <a:solidFill>
                  <a:srgbClr val="FFFFFF"/>
                </a:solidFill>
                <a:latin typeface="Cambria" pitchFamily="34" charset="0"/>
                <a:ea typeface="Cambria" pitchFamily="34" charset="-122"/>
                <a:cs typeface="Cambria" pitchFamily="34" charset="-120"/>
              </a:rPr>
              <a:t>EL</a:t>
            </a:r>
            <a:endParaRPr lang="en-US" sz="1800"/>
          </a:p>
        </p:txBody>
      </p:sp>
      <p:sp>
        <p:nvSpPr>
          <p:cNvPr id="23" name="Text 21"/>
          <p:cNvSpPr/>
          <p:nvPr/>
        </p:nvSpPr>
        <p:spPr>
          <a:xfrm>
            <a:off x="9262872" y="3246120"/>
            <a:ext cx="2313432" cy="502920"/>
          </a:xfrm>
          <a:prstGeom prst="rect">
            <a:avLst/>
          </a:prstGeom>
          <a:noFill/>
          <a:ln/>
        </p:spPr>
        <p:txBody>
          <a:bodyPr wrap="square" lIns="0" tIns="0" rIns="0" bIns="0" rtlCol="0" anchor="ctr"/>
          <a:lstStyle/>
          <a:p>
            <a:pPr marL="0" indent="0">
              <a:buNone/>
            </a:pPr>
            <a:r>
              <a:rPr lang="en-US" sz="1300" b="1">
                <a:solidFill>
                  <a:srgbClr val="1A1A1A"/>
                </a:solidFill>
                <a:latin typeface="Calibri" pitchFamily="34" charset="0"/>
                <a:ea typeface="Calibri" pitchFamily="34" charset="-122"/>
                <a:cs typeface="Calibri" pitchFamily="34" charset="-120"/>
              </a:rPr>
              <a:t>Expected Loss</a:t>
            </a:r>
            <a:endParaRPr lang="en-US" sz="1300"/>
          </a:p>
        </p:txBody>
      </p:sp>
      <p:sp>
        <p:nvSpPr>
          <p:cNvPr id="24" name="Text 22"/>
          <p:cNvSpPr/>
          <p:nvPr/>
        </p:nvSpPr>
        <p:spPr>
          <a:xfrm>
            <a:off x="9262872" y="3749040"/>
            <a:ext cx="2313432" cy="2011680"/>
          </a:xfrm>
          <a:prstGeom prst="rect">
            <a:avLst/>
          </a:prstGeom>
          <a:noFill/>
          <a:ln/>
        </p:spPr>
        <p:txBody>
          <a:bodyPr wrap="square" lIns="0" tIns="0" rIns="0" bIns="0" rtlCol="0" anchor="ctr"/>
          <a:lstStyle/>
          <a:p>
            <a:pPr marL="0" indent="0">
              <a:lnSpc>
                <a:spcPct val="118000"/>
              </a:lnSpc>
              <a:buNone/>
            </a:pPr>
            <a:r>
              <a:rPr lang="en-US" sz="1050" err="1">
                <a:latin typeface="Calibri"/>
                <a:ea typeface="Calibri"/>
                <a:cs typeface="Calibri"/>
              </a:rPr>
              <a:t>Erwarteter</a:t>
            </a:r>
            <a:r>
              <a:rPr lang="en-US" sz="1050">
                <a:latin typeface="Calibri"/>
                <a:ea typeface="Calibri"/>
                <a:cs typeface="Calibri"/>
              </a:rPr>
              <a:t> </a:t>
            </a:r>
            <a:r>
              <a:rPr lang="en-US" sz="1050" err="1">
                <a:latin typeface="Calibri"/>
                <a:ea typeface="Calibri"/>
                <a:cs typeface="Calibri"/>
              </a:rPr>
              <a:t>Verlust</a:t>
            </a:r>
            <a:r>
              <a:rPr lang="en-US" sz="1050">
                <a:latin typeface="Calibri"/>
                <a:ea typeface="Calibri"/>
                <a:cs typeface="Calibri"/>
              </a:rPr>
              <a:t> = PD × LGD × EAD. Bilanziell relevant </a:t>
            </a:r>
            <a:r>
              <a:rPr lang="en-US" sz="1050" err="1">
                <a:latin typeface="Calibri"/>
                <a:ea typeface="Calibri"/>
                <a:cs typeface="Calibri"/>
              </a:rPr>
              <a:t>als</a:t>
            </a:r>
            <a:r>
              <a:rPr lang="en-US" sz="1050">
                <a:latin typeface="Calibri"/>
                <a:ea typeface="Calibri"/>
                <a:cs typeface="Calibri"/>
              </a:rPr>
              <a:t> </a:t>
            </a:r>
            <a:r>
              <a:rPr lang="en-US" sz="1050" err="1">
                <a:latin typeface="Calibri"/>
                <a:ea typeface="Calibri"/>
                <a:cs typeface="Calibri"/>
              </a:rPr>
              <a:t>Risikovorsorge</a:t>
            </a:r>
            <a:r>
              <a:rPr lang="en-US" sz="1050">
                <a:latin typeface="Calibri"/>
                <a:ea typeface="Calibri"/>
                <a:cs typeface="Calibri"/>
              </a:rPr>
              <a:t> (Provisions), die </a:t>
            </a:r>
            <a:r>
              <a:rPr lang="en-US" sz="1050" err="1">
                <a:latin typeface="Calibri"/>
                <a:ea typeface="Calibri"/>
                <a:cs typeface="Calibri"/>
              </a:rPr>
              <a:t>direkt</a:t>
            </a:r>
            <a:r>
              <a:rPr lang="en-US" sz="1050">
                <a:latin typeface="Calibri"/>
                <a:ea typeface="Calibri"/>
                <a:cs typeface="Calibri"/>
              </a:rPr>
              <a:t> das </a:t>
            </a:r>
            <a:r>
              <a:rPr lang="en-US" sz="1050" err="1">
                <a:latin typeface="Calibri"/>
                <a:ea typeface="Calibri"/>
                <a:cs typeface="Calibri"/>
              </a:rPr>
              <a:t>Eigenkapital</a:t>
            </a:r>
            <a:r>
              <a:rPr lang="en-US" sz="1050">
                <a:latin typeface="Calibri"/>
                <a:ea typeface="Calibri"/>
                <a:cs typeface="Calibri"/>
              </a:rPr>
              <a:t> </a:t>
            </a:r>
            <a:r>
              <a:rPr lang="en-US" sz="1050" err="1">
                <a:latin typeface="Calibri"/>
                <a:ea typeface="Calibri"/>
                <a:cs typeface="Calibri"/>
              </a:rPr>
              <a:t>mindert</a:t>
            </a:r>
            <a:r>
              <a:rPr lang="en-US" sz="1050">
                <a:latin typeface="Calibri"/>
                <a:ea typeface="Calibri"/>
                <a:cs typeface="Calibri"/>
              </a:rPr>
              <a:t>.</a:t>
            </a:r>
          </a:p>
        </p:txBody>
      </p:sp>
      <p:sp>
        <p:nvSpPr>
          <p:cNvPr id="25" name="Text 23"/>
          <p:cNvSpPr/>
          <p:nvPr/>
        </p:nvSpPr>
        <p:spPr>
          <a:xfrm>
            <a:off x="457200" y="6519672"/>
            <a:ext cx="7315200" cy="274320"/>
          </a:xfrm>
          <a:prstGeom prst="rect">
            <a:avLst/>
          </a:prstGeom>
          <a:noFill/>
          <a:ln/>
        </p:spPr>
        <p:txBody>
          <a:bodyPr wrap="square" lIns="0" tIns="0" rIns="0" bIns="0" rtlCol="0" anchor="ctr"/>
          <a:lstStyle/>
          <a:p>
            <a:pPr marL="0" indent="0" algn="l">
              <a:buNone/>
            </a:pPr>
            <a:r>
              <a:rPr lang="en-US" sz="900">
                <a:solidFill>
                  <a:srgbClr val="5B6478"/>
                </a:solidFill>
                <a:latin typeface="Calibri" pitchFamily="34" charset="0"/>
                <a:ea typeface="Calibri" pitchFamily="34" charset="-122"/>
                <a:cs typeface="Calibri" pitchFamily="34" charset="-120"/>
              </a:rPr>
              <a:t>Kreditbuch · Loan Book Channel</a:t>
            </a:r>
            <a:endParaRPr lang="en-US" sz="900"/>
          </a:p>
        </p:txBody>
      </p:sp>
      <p:sp>
        <p:nvSpPr>
          <p:cNvPr id="26" name="CodexSlideNumber">
            <a:extLst>
              <a:ext uri="{FF2B5EF4-FFF2-40B4-BE49-F238E27FC236}">
                <a16:creationId xmlns:a16="http://schemas.microsoft.com/office/drawing/2014/main" id="{C418900D-2DC8-33F6-C00C-AFF7BF0DB228}"/>
              </a:ext>
            </a:extLst>
          </p:cNvPr>
          <p:cNvSpPr txBox="1"/>
          <p:nvPr/>
        </p:nvSpPr>
        <p:spPr>
          <a:xfrm>
            <a:off x="11226800" y="6553200"/>
            <a:ext cx="736600" cy="123111"/>
          </a:xfrm>
          <a:prstGeom prst="rect">
            <a:avLst/>
          </a:prstGeom>
          <a:noFill/>
        </p:spPr>
        <p:txBody>
          <a:bodyPr vert="horz" lIns="0" tIns="0" rIns="0" bIns="0" rtlCol="0">
            <a:spAutoFit/>
          </a:bodyPr>
          <a:lstStyle/>
          <a:p>
            <a:pPr algn="r"/>
            <a:r>
              <a:rPr lang="en-US" sz="800">
                <a:solidFill>
                  <a:srgbClr val="525252"/>
                </a:solidFill>
                <a:latin typeface="Arial" panose="020B0604020202020204" pitchFamily="34" charset="0"/>
              </a:rPr>
              <a:t>21 / 64</a:t>
            </a:r>
          </a:p>
        </p:txBody>
      </p:sp>
    </p:spTree>
    <p:extLst>
      <p:ext uri="{BB962C8B-B14F-4D97-AF65-F5344CB8AC3E}">
        <p14:creationId xmlns:p14="http://schemas.microsoft.com/office/powerpoint/2010/main" val="23429979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0058400" cy="320040"/>
          </a:xfrm>
          <a:prstGeom prst="rect">
            <a:avLst/>
          </a:prstGeom>
          <a:noFill/>
          <a:ln/>
        </p:spPr>
        <p:txBody>
          <a:bodyPr wrap="square" lIns="0" tIns="0" rIns="0" bIns="0" rtlCol="0" anchor="ctr"/>
          <a:lstStyle/>
          <a:p>
            <a:pPr>
              <a:buNone/>
              <a:defRPr sz="863" b="1" i="0">
                <a:solidFill>
                  <a:srgbClr val="A52F4D"/>
                </a:solidFill>
                <a:latin typeface="Aptos"/>
                <a:ea typeface="Aptos"/>
                <a:cs typeface="Aptos"/>
              </a:defRPr>
            </a:pPr>
            <a:r>
              <a:rPr lang="en-US" sz="863" b="1">
                <a:solidFill>
                  <a:schemeClr val="tx2"/>
                </a:solidFill>
                <a:latin typeface="Aptos"/>
              </a:rPr>
              <a:t>STRESS-TRANSMISSION</a:t>
            </a:r>
          </a:p>
        </p:txBody>
      </p:sp>
      <p:sp>
        <p:nvSpPr>
          <p:cNvPr id="3" name="Text 1"/>
          <p:cNvSpPr/>
          <p:nvPr/>
        </p:nvSpPr>
        <p:spPr>
          <a:xfrm>
            <a:off x="548640" y="658368"/>
            <a:ext cx="10515600" cy="822960"/>
          </a:xfrm>
          <a:prstGeom prst="rect">
            <a:avLst/>
          </a:prstGeom>
          <a:noFill/>
          <a:ln/>
        </p:spPr>
        <p:txBody>
          <a:bodyPr wrap="square" lIns="0" tIns="0" rIns="0" bIns="0" rtlCol="0" anchor="ctr"/>
          <a:lstStyle/>
          <a:p>
            <a:pPr>
              <a:defRPr sz="2475" b="1" i="0">
                <a:solidFill>
                  <a:srgbClr val="051C2C"/>
                </a:solidFill>
                <a:latin typeface="Aptos Display"/>
                <a:ea typeface="Aptos Display"/>
                <a:cs typeface="Aptos Display"/>
              </a:defRPr>
            </a:pPr>
            <a:r>
              <a:rPr lang="en-US" sz="2475" b="1">
                <a:solidFill>
                  <a:srgbClr val="051C2C"/>
                </a:solidFill>
                <a:latin typeface="Aptos Display"/>
              </a:rPr>
              <a:t>Wie PD und LGD </a:t>
            </a:r>
            <a:r>
              <a:rPr lang="en-US" sz="2475" b="1" err="1">
                <a:solidFill>
                  <a:srgbClr val="051C2C"/>
                </a:solidFill>
                <a:latin typeface="Aptos Display"/>
              </a:rPr>
              <a:t>unter</a:t>
            </a:r>
            <a:r>
              <a:rPr lang="en-US" sz="2475" b="1">
                <a:solidFill>
                  <a:srgbClr val="051C2C"/>
                </a:solidFill>
                <a:latin typeface="Aptos Display"/>
              </a:rPr>
              <a:t> Stress </a:t>
            </a:r>
            <a:r>
              <a:rPr lang="en-US" sz="2475" b="1" err="1">
                <a:solidFill>
                  <a:srgbClr val="051C2C"/>
                </a:solidFill>
                <a:latin typeface="Aptos Display"/>
              </a:rPr>
              <a:t>reagieren</a:t>
            </a:r>
            <a:endParaRPr lang="en-US" sz="2475" b="1">
              <a:solidFill>
                <a:srgbClr val="051C2C"/>
              </a:solidFill>
              <a:latin typeface="Aptos Display"/>
            </a:endParaRPr>
          </a:p>
        </p:txBody>
      </p:sp>
      <p:sp>
        <p:nvSpPr>
          <p:cNvPr id="4" name="Text 2"/>
          <p:cNvSpPr/>
          <p:nvPr/>
        </p:nvSpPr>
        <p:spPr>
          <a:xfrm>
            <a:off x="548640" y="1508760"/>
            <a:ext cx="10698480" cy="457200"/>
          </a:xfrm>
          <a:prstGeom prst="rect">
            <a:avLst/>
          </a:prstGeom>
          <a:noFill/>
          <a:ln/>
        </p:spPr>
        <p:txBody>
          <a:bodyPr wrap="square" lIns="0" tIns="0" rIns="0" bIns="0" rtlCol="0" anchor="ctr"/>
          <a:lstStyle/>
          <a:p>
            <a:pPr>
              <a:buNone/>
              <a:defRPr sz="1125" b="0" i="0">
                <a:solidFill>
                  <a:srgbClr val="4F6875"/>
                </a:solidFill>
                <a:latin typeface="Aptos"/>
                <a:ea typeface="Aptos"/>
                <a:cs typeface="Aptos"/>
              </a:defRPr>
            </a:pPr>
            <a:r>
              <a:rPr lang="en-US" sz="1125" err="1">
                <a:solidFill>
                  <a:srgbClr val="4F6875"/>
                </a:solidFill>
                <a:latin typeface="Aptos"/>
              </a:rPr>
              <a:t>Beide</a:t>
            </a:r>
            <a:r>
              <a:rPr lang="en-US" sz="1125">
                <a:solidFill>
                  <a:srgbClr val="4F6875"/>
                </a:solidFill>
                <a:latin typeface="Aptos"/>
              </a:rPr>
              <a:t> </a:t>
            </a:r>
            <a:r>
              <a:rPr lang="en-US" sz="1125" err="1">
                <a:solidFill>
                  <a:srgbClr val="4F6875"/>
                </a:solidFill>
                <a:latin typeface="Aptos"/>
              </a:rPr>
              <a:t>Größen</a:t>
            </a:r>
            <a:r>
              <a:rPr lang="en-US" sz="1125">
                <a:solidFill>
                  <a:srgbClr val="4F6875"/>
                </a:solidFill>
                <a:latin typeface="Aptos"/>
              </a:rPr>
              <a:t> </a:t>
            </a:r>
            <a:r>
              <a:rPr lang="en-US" sz="1125" err="1">
                <a:solidFill>
                  <a:srgbClr val="4F6875"/>
                </a:solidFill>
                <a:latin typeface="Aptos"/>
              </a:rPr>
              <a:t>werden</a:t>
            </a:r>
            <a:r>
              <a:rPr lang="en-US" sz="1125">
                <a:solidFill>
                  <a:srgbClr val="4F6875"/>
                </a:solidFill>
                <a:latin typeface="Aptos"/>
              </a:rPr>
              <a:t> </a:t>
            </a:r>
            <a:r>
              <a:rPr lang="en-US" sz="1125" err="1">
                <a:solidFill>
                  <a:srgbClr val="4F6875"/>
                </a:solidFill>
                <a:latin typeface="Aptos"/>
              </a:rPr>
              <a:t>über</a:t>
            </a:r>
            <a:r>
              <a:rPr lang="en-US" sz="1125">
                <a:solidFill>
                  <a:srgbClr val="4F6875"/>
                </a:solidFill>
                <a:latin typeface="Aptos"/>
              </a:rPr>
              <a:t> </a:t>
            </a:r>
            <a:r>
              <a:rPr lang="en-US" sz="1125" err="1">
                <a:solidFill>
                  <a:srgbClr val="4F6875"/>
                </a:solidFill>
                <a:latin typeface="Aptos"/>
              </a:rPr>
              <a:t>dieselbe</a:t>
            </a:r>
            <a:r>
              <a:rPr lang="en-US" sz="1125">
                <a:solidFill>
                  <a:srgbClr val="4F6875"/>
                </a:solidFill>
                <a:latin typeface="Aptos"/>
              </a:rPr>
              <a:t> 2-Faktor-Formel </a:t>
            </a:r>
            <a:r>
              <a:rPr lang="en-US" sz="1125" err="1">
                <a:solidFill>
                  <a:srgbClr val="4F6875"/>
                </a:solidFill>
                <a:latin typeface="Aptos"/>
              </a:rPr>
              <a:t>sektor-differenziert</a:t>
            </a:r>
            <a:r>
              <a:rPr lang="en-US" sz="1125">
                <a:solidFill>
                  <a:srgbClr val="4F6875"/>
                </a:solidFill>
                <a:latin typeface="Aptos"/>
              </a:rPr>
              <a:t> </a:t>
            </a:r>
            <a:r>
              <a:rPr lang="en-US" sz="1125" err="1">
                <a:solidFill>
                  <a:srgbClr val="4F6875"/>
                </a:solidFill>
                <a:latin typeface="Aptos"/>
              </a:rPr>
              <a:t>verändert</a:t>
            </a:r>
            <a:r>
              <a:rPr lang="en-US" sz="1125">
                <a:solidFill>
                  <a:srgbClr val="4F6875"/>
                </a:solidFill>
                <a:latin typeface="Aptos"/>
              </a:rPr>
              <a:t> - </a:t>
            </a:r>
            <a:r>
              <a:rPr lang="en-US" sz="1125" err="1">
                <a:solidFill>
                  <a:srgbClr val="4F6875"/>
                </a:solidFill>
                <a:latin typeface="Aptos"/>
              </a:rPr>
              <a:t>jede</a:t>
            </a:r>
            <a:r>
              <a:rPr lang="en-US" sz="1125">
                <a:solidFill>
                  <a:srgbClr val="4F6875"/>
                </a:solidFill>
                <a:latin typeface="Aptos"/>
              </a:rPr>
              <a:t> Exposure-Klasse hat </a:t>
            </a:r>
            <a:r>
              <a:rPr lang="en-US" sz="1125" err="1">
                <a:solidFill>
                  <a:srgbClr val="4F6875"/>
                </a:solidFill>
                <a:latin typeface="Aptos"/>
              </a:rPr>
              <a:t>eigene</a:t>
            </a:r>
            <a:r>
              <a:rPr lang="en-US" sz="1125">
                <a:solidFill>
                  <a:srgbClr val="4F6875"/>
                </a:solidFill>
                <a:latin typeface="Aptos"/>
              </a:rPr>
              <a:t> </a:t>
            </a:r>
            <a:r>
              <a:rPr lang="en-US" sz="1125" err="1">
                <a:solidFill>
                  <a:srgbClr val="4F6875"/>
                </a:solidFill>
                <a:latin typeface="Aptos"/>
              </a:rPr>
              <a:t>Sensitivitäten</a:t>
            </a:r>
            <a:r>
              <a:rPr lang="en-US" sz="1125">
                <a:solidFill>
                  <a:srgbClr val="4F6875"/>
                </a:solidFill>
                <a:latin typeface="Aptos"/>
              </a:rPr>
              <a:t>.</a:t>
            </a:r>
          </a:p>
        </p:txBody>
      </p:sp>
      <p:sp>
        <p:nvSpPr>
          <p:cNvPr id="5" name="Shape 3"/>
          <p:cNvSpPr/>
          <p:nvPr/>
        </p:nvSpPr>
        <p:spPr>
          <a:xfrm>
            <a:off x="548640" y="2103120"/>
            <a:ext cx="5394960" cy="1417320"/>
          </a:xfrm>
          <a:prstGeom prst="roundRect">
            <a:avLst>
              <a:gd name="adj" fmla="val 4516"/>
            </a:avLst>
          </a:prstGeom>
          <a:solidFill>
            <a:srgbClr val="16243F"/>
          </a:solidFill>
          <a:ln/>
          <a:effectLst>
            <a:outerShdw blurRad="101600" dist="38100" dir="2700000" algn="bl" rotWithShape="0">
              <a:srgbClr val="000000">
                <a:alpha val="12000"/>
              </a:srgbClr>
            </a:outerShdw>
          </a:effectLst>
        </p:spPr>
        <p:txBody>
          <a:bodyPr/>
          <a:lstStyle/>
          <a:p>
            <a:endParaRPr lang="de-DE"/>
          </a:p>
        </p:txBody>
      </p:sp>
      <p:sp>
        <p:nvSpPr>
          <p:cNvPr id="6" name="Text 4"/>
          <p:cNvSpPr/>
          <p:nvPr/>
        </p:nvSpPr>
        <p:spPr>
          <a:xfrm>
            <a:off x="777240" y="2240280"/>
            <a:ext cx="4937760" cy="685800"/>
          </a:xfrm>
          <a:prstGeom prst="rect">
            <a:avLst/>
          </a:prstGeom>
          <a:noFill/>
          <a:ln/>
        </p:spPr>
        <p:txBody>
          <a:bodyPr wrap="square" lIns="0" tIns="0" rIns="0" bIns="0" rtlCol="0" anchor="ctr"/>
          <a:lstStyle/>
          <a:p>
            <a:pPr marL="0" indent="0">
              <a:buNone/>
            </a:pPr>
            <a:r>
              <a:rPr lang="en-US" sz="1600" b="1" err="1">
                <a:solidFill>
                  <a:srgbClr val="FFFFFF"/>
                </a:solidFill>
                <a:latin typeface="Aptos" panose="020B0004020202020204" pitchFamily="34" charset="0"/>
                <a:ea typeface="Cambria Math" pitchFamily="34" charset="-122"/>
                <a:cs typeface="Cambria Math" pitchFamily="34" charset="-120"/>
              </a:rPr>
              <a:t>ΔPD_class</a:t>
            </a:r>
            <a:r>
              <a:rPr lang="en-US" sz="1600" b="1">
                <a:solidFill>
                  <a:srgbClr val="FFFFFF"/>
                </a:solidFill>
                <a:latin typeface="Aptos" panose="020B0004020202020204" pitchFamily="34" charset="0"/>
                <a:ea typeface="Cambria Math" pitchFamily="34" charset="-122"/>
                <a:cs typeface="Cambria Math" pitchFamily="34" charset="-120"/>
              </a:rPr>
              <a:t> = β_</a:t>
            </a:r>
            <a:r>
              <a:rPr lang="en-US" sz="1600" b="1" err="1">
                <a:solidFill>
                  <a:srgbClr val="FFFFFF"/>
                </a:solidFill>
                <a:latin typeface="Aptos" panose="020B0004020202020204" pitchFamily="34" charset="0"/>
                <a:ea typeface="Cambria Math" pitchFamily="34" charset="-122"/>
                <a:cs typeface="Cambria Math" pitchFamily="34" charset="-120"/>
              </a:rPr>
              <a:t>oil,class</a:t>
            </a:r>
            <a:r>
              <a:rPr lang="en-US" sz="1600" b="1">
                <a:solidFill>
                  <a:srgbClr val="FFFFFF"/>
                </a:solidFill>
                <a:latin typeface="Aptos" panose="020B0004020202020204" pitchFamily="34" charset="0"/>
                <a:ea typeface="Cambria Math" pitchFamily="34" charset="-122"/>
                <a:cs typeface="Cambria Math" pitchFamily="34" charset="-120"/>
              </a:rPr>
              <a:t> · </a:t>
            </a:r>
            <a:r>
              <a:rPr lang="en-US" sz="1600" b="1" err="1">
                <a:solidFill>
                  <a:srgbClr val="FFFFFF"/>
                </a:solidFill>
                <a:latin typeface="Aptos" panose="020B0004020202020204" pitchFamily="34" charset="0"/>
                <a:ea typeface="Cambria Math" pitchFamily="34" charset="-122"/>
                <a:cs typeface="Cambria Math" pitchFamily="34" charset="-120"/>
              </a:rPr>
              <a:t>ΔBrent_log</a:t>
            </a:r>
            <a:r>
              <a:rPr lang="en-US" sz="1600" b="1">
                <a:solidFill>
                  <a:srgbClr val="FFFFFF"/>
                </a:solidFill>
                <a:latin typeface="Aptos" panose="020B0004020202020204" pitchFamily="34" charset="0"/>
                <a:ea typeface="Cambria Math" pitchFamily="34" charset="-122"/>
                <a:cs typeface="Cambria Math" pitchFamily="34" charset="-120"/>
              </a:rPr>
              <a:t> + β_</a:t>
            </a:r>
            <a:r>
              <a:rPr lang="en-US" sz="1600" b="1" err="1">
                <a:solidFill>
                  <a:srgbClr val="FFFFFF"/>
                </a:solidFill>
                <a:latin typeface="Aptos" panose="020B0004020202020204" pitchFamily="34" charset="0"/>
                <a:ea typeface="Cambria Math" pitchFamily="34" charset="-122"/>
                <a:cs typeface="Cambria Math" pitchFamily="34" charset="-120"/>
              </a:rPr>
              <a:t>rate,class</a:t>
            </a:r>
            <a:r>
              <a:rPr lang="en-US" sz="1600" b="1">
                <a:solidFill>
                  <a:srgbClr val="FFFFFF"/>
                </a:solidFill>
                <a:latin typeface="Aptos" panose="020B0004020202020204" pitchFamily="34" charset="0"/>
                <a:ea typeface="Cambria Math" pitchFamily="34" charset="-122"/>
                <a:cs typeface="Cambria Math" pitchFamily="34" charset="-120"/>
              </a:rPr>
              <a:t> · Δr_10y,pp</a:t>
            </a:r>
            <a:endParaRPr lang="en-US" sz="1600">
              <a:latin typeface="Aptos" panose="020B0004020202020204" pitchFamily="34" charset="0"/>
            </a:endParaRPr>
          </a:p>
        </p:txBody>
      </p:sp>
      <p:sp>
        <p:nvSpPr>
          <p:cNvPr id="7" name="Text 5"/>
          <p:cNvSpPr/>
          <p:nvPr/>
        </p:nvSpPr>
        <p:spPr>
          <a:xfrm>
            <a:off x="777240" y="2926080"/>
            <a:ext cx="4937760" cy="502920"/>
          </a:xfrm>
          <a:prstGeom prst="rect">
            <a:avLst/>
          </a:prstGeom>
          <a:noFill/>
          <a:ln/>
        </p:spPr>
        <p:txBody>
          <a:bodyPr wrap="square" lIns="0" tIns="0" rIns="0" bIns="0" rtlCol="0" anchor="ctr"/>
          <a:lstStyle/>
          <a:p>
            <a:pPr marL="0" indent="0">
              <a:buNone/>
            </a:pPr>
            <a:r>
              <a:rPr lang="en-US" sz="1100" i="1" err="1">
                <a:solidFill>
                  <a:srgbClr val="D9E2F3"/>
                </a:solidFill>
                <a:latin typeface="Aptos" panose="020B0004020202020204" pitchFamily="34" charset="0"/>
                <a:ea typeface="Calibri" pitchFamily="34" charset="-122"/>
                <a:cs typeface="Calibri" pitchFamily="34" charset="-120"/>
              </a:rPr>
              <a:t>z.B.</a:t>
            </a:r>
            <a:r>
              <a:rPr lang="en-US" sz="1100" i="1">
                <a:solidFill>
                  <a:srgbClr val="D9E2F3"/>
                </a:solidFill>
                <a:latin typeface="Aptos" panose="020B0004020202020204" pitchFamily="34" charset="0"/>
                <a:ea typeface="Calibri" pitchFamily="34" charset="-122"/>
                <a:cs typeface="Calibri" pitchFamily="34" charset="-120"/>
              </a:rPr>
              <a:t> Mortgage </a:t>
            </a:r>
            <a:r>
              <a:rPr lang="en-US" sz="1100" i="1" err="1">
                <a:solidFill>
                  <a:srgbClr val="D9E2F3"/>
                </a:solidFill>
                <a:latin typeface="Aptos" panose="020B0004020202020204" pitchFamily="34" charset="0"/>
                <a:ea typeface="Calibri" pitchFamily="34" charset="-122"/>
                <a:cs typeface="Calibri" pitchFamily="34" charset="-120"/>
              </a:rPr>
              <a:t>reagiert</a:t>
            </a:r>
            <a:r>
              <a:rPr lang="en-US" sz="1100" i="1">
                <a:solidFill>
                  <a:srgbClr val="D9E2F3"/>
                </a:solidFill>
                <a:latin typeface="Aptos" panose="020B0004020202020204" pitchFamily="34" charset="0"/>
                <a:ea typeface="Calibri" pitchFamily="34" charset="-122"/>
                <a:cs typeface="Calibri" pitchFamily="34" charset="-120"/>
              </a:rPr>
              <a:t> stark auf </a:t>
            </a:r>
            <a:r>
              <a:rPr lang="en-US" sz="1100" i="1" err="1">
                <a:solidFill>
                  <a:srgbClr val="D9E2F3"/>
                </a:solidFill>
                <a:latin typeface="Aptos" panose="020B0004020202020204" pitchFamily="34" charset="0"/>
                <a:ea typeface="Calibri" pitchFamily="34" charset="-122"/>
                <a:cs typeface="Calibri" pitchFamily="34" charset="-120"/>
              </a:rPr>
              <a:t>Zinsen</a:t>
            </a:r>
            <a:r>
              <a:rPr lang="en-US" sz="1100" i="1">
                <a:solidFill>
                  <a:srgbClr val="D9E2F3"/>
                </a:solidFill>
                <a:latin typeface="Aptos" panose="020B0004020202020204" pitchFamily="34" charset="0"/>
                <a:ea typeface="Calibri" pitchFamily="34" charset="-122"/>
                <a:cs typeface="Calibri" pitchFamily="34" charset="-120"/>
              </a:rPr>
              <a:t>, Corporate auf </a:t>
            </a:r>
            <a:r>
              <a:rPr lang="en-US" sz="1100" i="1" err="1">
                <a:solidFill>
                  <a:srgbClr val="D9E2F3"/>
                </a:solidFill>
                <a:latin typeface="Aptos" panose="020B0004020202020204" pitchFamily="34" charset="0"/>
                <a:ea typeface="Calibri" pitchFamily="34" charset="-122"/>
                <a:cs typeface="Calibri" pitchFamily="34" charset="-120"/>
              </a:rPr>
              <a:t>beide</a:t>
            </a:r>
            <a:r>
              <a:rPr lang="en-US" sz="1100" i="1">
                <a:solidFill>
                  <a:srgbClr val="D9E2F3"/>
                </a:solidFill>
                <a:latin typeface="Aptos" panose="020B0004020202020204" pitchFamily="34" charset="0"/>
                <a:ea typeface="Calibri" pitchFamily="34" charset="-122"/>
                <a:cs typeface="Calibri" pitchFamily="34" charset="-120"/>
              </a:rPr>
              <a:t> Faktoren</a:t>
            </a:r>
            <a:endParaRPr lang="en-US" sz="1100">
              <a:latin typeface="Aptos" panose="020B0004020202020204" pitchFamily="34" charset="0"/>
            </a:endParaRPr>
          </a:p>
        </p:txBody>
      </p:sp>
      <p:sp>
        <p:nvSpPr>
          <p:cNvPr id="8" name="Shape 6"/>
          <p:cNvSpPr/>
          <p:nvPr/>
        </p:nvSpPr>
        <p:spPr>
          <a:xfrm>
            <a:off x="6172200" y="2103120"/>
            <a:ext cx="5394960" cy="1417320"/>
          </a:xfrm>
          <a:prstGeom prst="roundRect">
            <a:avLst>
              <a:gd name="adj" fmla="val 4516"/>
            </a:avLst>
          </a:prstGeom>
          <a:solidFill>
            <a:srgbClr val="0B6E78"/>
          </a:solidFill>
          <a:ln/>
          <a:effectLst>
            <a:outerShdw blurRad="101600" dist="38100" dir="2700000" algn="bl" rotWithShape="0">
              <a:srgbClr val="000000">
                <a:alpha val="12000"/>
              </a:srgbClr>
            </a:outerShdw>
          </a:effectLst>
        </p:spPr>
        <p:txBody>
          <a:bodyPr/>
          <a:lstStyle/>
          <a:p>
            <a:endParaRPr lang="de-DE"/>
          </a:p>
        </p:txBody>
      </p:sp>
      <p:sp>
        <p:nvSpPr>
          <p:cNvPr id="9" name="Text 7"/>
          <p:cNvSpPr/>
          <p:nvPr/>
        </p:nvSpPr>
        <p:spPr>
          <a:xfrm>
            <a:off x="6400800" y="2240280"/>
            <a:ext cx="4937760" cy="685800"/>
          </a:xfrm>
          <a:prstGeom prst="rect">
            <a:avLst/>
          </a:prstGeom>
          <a:noFill/>
          <a:ln/>
        </p:spPr>
        <p:txBody>
          <a:bodyPr wrap="square" lIns="0" tIns="0" rIns="0" bIns="0" rtlCol="0" anchor="ctr"/>
          <a:lstStyle/>
          <a:p>
            <a:pPr marL="0" indent="0">
              <a:buNone/>
            </a:pPr>
            <a:r>
              <a:rPr lang="en-US" sz="1600" b="1" err="1">
                <a:solidFill>
                  <a:srgbClr val="FFFFFF"/>
                </a:solidFill>
                <a:latin typeface="Aptos" panose="020B0004020202020204" pitchFamily="34" charset="0"/>
                <a:ea typeface="Cambria Math" pitchFamily="34" charset="-122"/>
                <a:cs typeface="Cambria Math" pitchFamily="34" charset="-120"/>
              </a:rPr>
              <a:t>ΔLGD_class</a:t>
            </a:r>
            <a:r>
              <a:rPr lang="en-US" sz="1600" b="1">
                <a:solidFill>
                  <a:srgbClr val="FFFFFF"/>
                </a:solidFill>
                <a:latin typeface="Aptos" panose="020B0004020202020204" pitchFamily="34" charset="0"/>
                <a:ea typeface="Cambria Math" pitchFamily="34" charset="-122"/>
                <a:cs typeface="Cambria Math" pitchFamily="34" charset="-120"/>
              </a:rPr>
              <a:t> = </a:t>
            </a:r>
            <a:r>
              <a:rPr lang="en-US" sz="1600" b="1" err="1">
                <a:solidFill>
                  <a:srgbClr val="FFFFFF"/>
                </a:solidFill>
                <a:latin typeface="Aptos" panose="020B0004020202020204" pitchFamily="34" charset="0"/>
                <a:ea typeface="Cambria Math" pitchFamily="34" charset="-122"/>
                <a:cs typeface="Cambria Math" pitchFamily="34" charset="-120"/>
              </a:rPr>
              <a:t>γ_oil,class</a:t>
            </a:r>
            <a:r>
              <a:rPr lang="en-US" sz="1600" b="1">
                <a:solidFill>
                  <a:srgbClr val="FFFFFF"/>
                </a:solidFill>
                <a:latin typeface="Aptos" panose="020B0004020202020204" pitchFamily="34" charset="0"/>
                <a:ea typeface="Cambria Math" pitchFamily="34" charset="-122"/>
                <a:cs typeface="Cambria Math" pitchFamily="34" charset="-120"/>
              </a:rPr>
              <a:t> · </a:t>
            </a:r>
            <a:r>
              <a:rPr lang="en-US" sz="1600" b="1" err="1">
                <a:solidFill>
                  <a:srgbClr val="FFFFFF"/>
                </a:solidFill>
                <a:latin typeface="Aptos" panose="020B0004020202020204" pitchFamily="34" charset="0"/>
                <a:ea typeface="Cambria Math" pitchFamily="34" charset="-122"/>
                <a:cs typeface="Cambria Math" pitchFamily="34" charset="-120"/>
              </a:rPr>
              <a:t>ΔBrent_log</a:t>
            </a:r>
            <a:r>
              <a:rPr lang="en-US" sz="1600" b="1">
                <a:solidFill>
                  <a:srgbClr val="FFFFFF"/>
                </a:solidFill>
                <a:latin typeface="Aptos" panose="020B0004020202020204" pitchFamily="34" charset="0"/>
                <a:ea typeface="Cambria Math" pitchFamily="34" charset="-122"/>
                <a:cs typeface="Cambria Math" pitchFamily="34" charset="-120"/>
              </a:rPr>
              <a:t> + </a:t>
            </a:r>
            <a:r>
              <a:rPr lang="en-US" sz="1600" b="1" err="1">
                <a:solidFill>
                  <a:srgbClr val="FFFFFF"/>
                </a:solidFill>
                <a:latin typeface="Aptos" panose="020B0004020202020204" pitchFamily="34" charset="0"/>
                <a:ea typeface="Cambria Math" pitchFamily="34" charset="-122"/>
                <a:cs typeface="Cambria Math" pitchFamily="34" charset="-120"/>
              </a:rPr>
              <a:t>γ_rate,class</a:t>
            </a:r>
            <a:r>
              <a:rPr lang="en-US" sz="1600" b="1">
                <a:solidFill>
                  <a:srgbClr val="FFFFFF"/>
                </a:solidFill>
                <a:latin typeface="Aptos" panose="020B0004020202020204" pitchFamily="34" charset="0"/>
                <a:ea typeface="Cambria Math" pitchFamily="34" charset="-122"/>
                <a:cs typeface="Cambria Math" pitchFamily="34" charset="-120"/>
              </a:rPr>
              <a:t> · Δr_10y,pp</a:t>
            </a:r>
            <a:endParaRPr lang="en-US" sz="1600">
              <a:latin typeface="Aptos" panose="020B0004020202020204" pitchFamily="34" charset="0"/>
            </a:endParaRPr>
          </a:p>
        </p:txBody>
      </p:sp>
      <p:sp>
        <p:nvSpPr>
          <p:cNvPr id="10" name="Text 8"/>
          <p:cNvSpPr/>
          <p:nvPr/>
        </p:nvSpPr>
        <p:spPr>
          <a:xfrm>
            <a:off x="6400800" y="2926080"/>
            <a:ext cx="4937760" cy="502920"/>
          </a:xfrm>
          <a:prstGeom prst="rect">
            <a:avLst/>
          </a:prstGeom>
          <a:noFill/>
          <a:ln/>
        </p:spPr>
        <p:txBody>
          <a:bodyPr wrap="square" lIns="0" tIns="0" rIns="0" bIns="0" rtlCol="0" anchor="ctr"/>
          <a:lstStyle/>
          <a:p>
            <a:pPr marL="0" indent="0">
              <a:buNone/>
            </a:pPr>
            <a:r>
              <a:rPr lang="en-US" sz="1100" i="1" err="1">
                <a:solidFill>
                  <a:srgbClr val="D9E2F3"/>
                </a:solidFill>
                <a:latin typeface="Aptos" panose="020B0004020202020204" pitchFamily="34" charset="0"/>
                <a:ea typeface="Calibri" pitchFamily="34" charset="-122"/>
                <a:cs typeface="Calibri" pitchFamily="34" charset="-120"/>
              </a:rPr>
              <a:t>z.B.</a:t>
            </a:r>
            <a:r>
              <a:rPr lang="en-US" sz="1100" i="1">
                <a:solidFill>
                  <a:srgbClr val="D9E2F3"/>
                </a:solidFill>
                <a:latin typeface="Aptos" panose="020B0004020202020204" pitchFamily="34" charset="0"/>
                <a:ea typeface="Calibri" pitchFamily="34" charset="-122"/>
                <a:cs typeface="Calibri" pitchFamily="34" charset="-120"/>
              </a:rPr>
              <a:t> Mortgage </a:t>
            </a:r>
            <a:r>
              <a:rPr lang="en-US" sz="1100" i="1" err="1">
                <a:solidFill>
                  <a:srgbClr val="D9E2F3"/>
                </a:solidFill>
                <a:latin typeface="Aptos" panose="020B0004020202020204" pitchFamily="34" charset="0"/>
                <a:ea typeface="Calibri" pitchFamily="34" charset="-122"/>
                <a:cs typeface="Calibri" pitchFamily="34" charset="-120"/>
              </a:rPr>
              <a:t>γ_rate</a:t>
            </a:r>
            <a:r>
              <a:rPr lang="en-US" sz="1100" i="1">
                <a:solidFill>
                  <a:srgbClr val="D9E2F3"/>
                </a:solidFill>
                <a:latin typeface="Aptos" panose="020B0004020202020204" pitchFamily="34" charset="0"/>
                <a:ea typeface="Calibri" pitchFamily="34" charset="-122"/>
                <a:cs typeface="Calibri" pitchFamily="34" charset="-120"/>
              </a:rPr>
              <a:t> = +1,50pp (Property-Value-Haircut via Duration)</a:t>
            </a:r>
            <a:endParaRPr lang="en-US" sz="1100">
              <a:latin typeface="Aptos" panose="020B0004020202020204" pitchFamily="34" charset="0"/>
            </a:endParaRPr>
          </a:p>
        </p:txBody>
      </p:sp>
      <p:sp>
        <p:nvSpPr>
          <p:cNvPr id="11" name="Shape 9"/>
          <p:cNvSpPr/>
          <p:nvPr/>
        </p:nvSpPr>
        <p:spPr>
          <a:xfrm>
            <a:off x="548640" y="3794760"/>
            <a:ext cx="5394960" cy="1783080"/>
          </a:xfrm>
          <a:prstGeom prst="roundRect">
            <a:avLst>
              <a:gd name="adj" fmla="val 3077"/>
            </a:avLst>
          </a:prstGeom>
          <a:solidFill>
            <a:srgbClr val="F4F6FB"/>
          </a:solidFill>
          <a:ln/>
        </p:spPr>
        <p:txBody>
          <a:bodyPr/>
          <a:lstStyle/>
          <a:p>
            <a:endParaRPr lang="de-DE"/>
          </a:p>
        </p:txBody>
      </p:sp>
      <p:sp>
        <p:nvSpPr>
          <p:cNvPr id="12" name="Text 10"/>
          <p:cNvSpPr/>
          <p:nvPr/>
        </p:nvSpPr>
        <p:spPr>
          <a:xfrm>
            <a:off x="777240" y="3950208"/>
            <a:ext cx="4937760" cy="274320"/>
          </a:xfrm>
          <a:prstGeom prst="rect">
            <a:avLst/>
          </a:prstGeom>
          <a:noFill/>
          <a:ln/>
        </p:spPr>
        <p:txBody>
          <a:bodyPr wrap="square" lIns="0" tIns="0" rIns="0" bIns="0" rtlCol="0" anchor="ctr"/>
          <a:lstStyle/>
          <a:p>
            <a:pPr marL="0" indent="0">
              <a:buNone/>
            </a:pPr>
            <a:r>
              <a:rPr lang="en-US" sz="1050" b="1" kern="0" spc="100">
                <a:solidFill>
                  <a:srgbClr val="16243F"/>
                </a:solidFill>
                <a:latin typeface="Aptos" panose="020B0004020202020204" pitchFamily="34" charset="0"/>
                <a:ea typeface="Calibri" pitchFamily="34" charset="-122"/>
                <a:cs typeface="Calibri" pitchFamily="34" charset="-120"/>
              </a:rPr>
              <a:t>FLOOR / CAP FÜR NUMERISCHE STABILITÄT</a:t>
            </a:r>
            <a:endParaRPr lang="en-US" sz="1050">
              <a:latin typeface="Aptos" panose="020B0004020202020204" pitchFamily="34" charset="0"/>
            </a:endParaRPr>
          </a:p>
        </p:txBody>
      </p:sp>
      <p:sp>
        <p:nvSpPr>
          <p:cNvPr id="13" name="Text 11"/>
          <p:cNvSpPr/>
          <p:nvPr/>
        </p:nvSpPr>
        <p:spPr>
          <a:xfrm>
            <a:off x="777240" y="4251960"/>
            <a:ext cx="4937760" cy="731520"/>
          </a:xfrm>
          <a:prstGeom prst="rect">
            <a:avLst/>
          </a:prstGeom>
          <a:noFill/>
          <a:ln/>
        </p:spPr>
        <p:txBody>
          <a:bodyPr wrap="square" lIns="0" tIns="0" rIns="0" bIns="0" rtlCol="0" anchor="ctr"/>
          <a:lstStyle/>
          <a:p>
            <a:pPr marL="0" indent="0">
              <a:lnSpc>
                <a:spcPct val="130000"/>
              </a:lnSpc>
              <a:buNone/>
            </a:pPr>
            <a:r>
              <a:rPr lang="en-US" sz="1200" b="1">
                <a:solidFill>
                  <a:srgbClr val="1A1A1A"/>
                </a:solidFill>
                <a:latin typeface="Aptos" panose="020B0004020202020204" pitchFamily="34" charset="0"/>
                <a:ea typeface="Calibri" pitchFamily="34" charset="-122"/>
                <a:cs typeface="Calibri" pitchFamily="34" charset="-120"/>
              </a:rPr>
              <a:t>PD: </a:t>
            </a:r>
            <a:r>
              <a:rPr lang="en-US" sz="1200">
                <a:solidFill>
                  <a:srgbClr val="5B6478"/>
                </a:solidFill>
                <a:latin typeface="Aptos" panose="020B0004020202020204" pitchFamily="34" charset="0"/>
                <a:ea typeface="Calibri" pitchFamily="34" charset="-122"/>
                <a:cs typeface="Calibri" pitchFamily="34" charset="-120"/>
              </a:rPr>
              <a:t>Floor 3 bp (Basel-Sovereign), Cap 50 %</a:t>
            </a:r>
            <a:endParaRPr lang="en-US" sz="1200">
              <a:latin typeface="Aptos" panose="020B0004020202020204" pitchFamily="34" charset="0"/>
            </a:endParaRPr>
          </a:p>
          <a:p>
            <a:pPr marL="0" indent="0">
              <a:lnSpc>
                <a:spcPct val="130000"/>
              </a:lnSpc>
              <a:buNone/>
            </a:pPr>
            <a:r>
              <a:rPr lang="en-US" sz="1200" b="1">
                <a:solidFill>
                  <a:srgbClr val="1A1A1A"/>
                </a:solidFill>
                <a:latin typeface="Aptos" panose="020B0004020202020204" pitchFamily="34" charset="0"/>
                <a:ea typeface="Calibri" pitchFamily="34" charset="-122"/>
                <a:cs typeface="Calibri" pitchFamily="34" charset="-120"/>
              </a:rPr>
              <a:t>LGD: </a:t>
            </a:r>
            <a:r>
              <a:rPr lang="en-US" sz="1200">
                <a:solidFill>
                  <a:srgbClr val="5B6478"/>
                </a:solidFill>
                <a:latin typeface="Aptos" panose="020B0004020202020204" pitchFamily="34" charset="0"/>
                <a:ea typeface="Calibri" pitchFamily="34" charset="-122"/>
                <a:cs typeface="Calibri" pitchFamily="34" charset="-120"/>
              </a:rPr>
              <a:t>Floor 5 %, Cap 100 %</a:t>
            </a:r>
            <a:endParaRPr lang="en-US" sz="1200">
              <a:latin typeface="Aptos" panose="020B0004020202020204" pitchFamily="34" charset="0"/>
            </a:endParaRPr>
          </a:p>
        </p:txBody>
      </p:sp>
      <p:sp>
        <p:nvSpPr>
          <p:cNvPr id="14" name="Text 12"/>
          <p:cNvSpPr/>
          <p:nvPr/>
        </p:nvSpPr>
        <p:spPr>
          <a:xfrm>
            <a:off x="777240" y="5029200"/>
            <a:ext cx="4937760" cy="502920"/>
          </a:xfrm>
          <a:prstGeom prst="rect">
            <a:avLst/>
          </a:prstGeom>
          <a:noFill/>
          <a:ln/>
        </p:spPr>
        <p:txBody>
          <a:bodyPr wrap="square" lIns="0" tIns="0" rIns="0" bIns="0" rtlCol="0" anchor="ctr"/>
          <a:lstStyle/>
          <a:p>
            <a:pPr marL="0" indent="0">
              <a:buNone/>
            </a:pPr>
            <a:r>
              <a:rPr lang="en-US" sz="863">
                <a:solidFill>
                  <a:srgbClr val="4F6875"/>
                </a:solidFill>
                <a:latin typeface="Aptos"/>
              </a:rPr>
              <a:t>Brent und Zins korrelieren über 5 Jahre nahezu unabhängig (ρ ≈ +0,07) - deshalb werden sie als separate Faktoren </a:t>
            </a:r>
            <a:r>
              <a:rPr lang="en-US" sz="863" err="1">
                <a:solidFill>
                  <a:srgbClr val="4F6875"/>
                </a:solidFill>
                <a:latin typeface="Aptos"/>
              </a:rPr>
              <a:t>modelliert</a:t>
            </a:r>
            <a:r>
              <a:rPr lang="en-US" sz="1000" i="1">
                <a:solidFill>
                  <a:srgbClr val="5B6478"/>
                </a:solidFill>
                <a:latin typeface="Calibri" pitchFamily="34" charset="0"/>
                <a:ea typeface="Calibri" pitchFamily="34" charset="-122"/>
                <a:cs typeface="Calibri" pitchFamily="34" charset="-120"/>
              </a:rPr>
              <a:t>.</a:t>
            </a:r>
            <a:endParaRPr lang="en-US" sz="1000"/>
          </a:p>
        </p:txBody>
      </p:sp>
      <p:sp>
        <p:nvSpPr>
          <p:cNvPr id="15" name="Shape 13"/>
          <p:cNvSpPr/>
          <p:nvPr/>
        </p:nvSpPr>
        <p:spPr>
          <a:xfrm>
            <a:off x="6172200" y="3794760"/>
            <a:ext cx="5394960" cy="1783080"/>
          </a:xfrm>
          <a:prstGeom prst="roundRect">
            <a:avLst>
              <a:gd name="adj" fmla="val 3077"/>
            </a:avLst>
          </a:prstGeom>
          <a:solidFill>
            <a:srgbClr val="F4F6FB"/>
          </a:solidFill>
          <a:ln/>
        </p:spPr>
        <p:txBody>
          <a:bodyPr/>
          <a:lstStyle/>
          <a:p>
            <a:endParaRPr lang="de-DE"/>
          </a:p>
        </p:txBody>
      </p:sp>
      <p:sp>
        <p:nvSpPr>
          <p:cNvPr id="16" name="Text 14"/>
          <p:cNvSpPr/>
          <p:nvPr/>
        </p:nvSpPr>
        <p:spPr>
          <a:xfrm>
            <a:off x="6400800" y="3950208"/>
            <a:ext cx="4937760" cy="274320"/>
          </a:xfrm>
          <a:prstGeom prst="rect">
            <a:avLst/>
          </a:prstGeom>
          <a:noFill/>
          <a:ln/>
        </p:spPr>
        <p:txBody>
          <a:bodyPr wrap="square" lIns="0" tIns="0" rIns="0" bIns="0" rtlCol="0" anchor="ctr"/>
          <a:lstStyle/>
          <a:p>
            <a:pPr marL="0" indent="0">
              <a:buNone/>
            </a:pPr>
            <a:r>
              <a:rPr lang="en-US" sz="1050" b="1" kern="0" spc="100">
                <a:solidFill>
                  <a:srgbClr val="16243F"/>
                </a:solidFill>
                <a:latin typeface="Aptos" panose="020B0004020202020204" pitchFamily="34" charset="0"/>
                <a:ea typeface="Calibri" pitchFamily="34" charset="-122"/>
                <a:cs typeface="Calibri" pitchFamily="34" charset="-120"/>
              </a:rPr>
              <a:t>WOHER KOMMEN DIE SENSITIVITÄTEN?</a:t>
            </a:r>
            <a:endParaRPr lang="en-US" sz="1050">
              <a:latin typeface="Aptos" panose="020B0004020202020204" pitchFamily="34" charset="0"/>
            </a:endParaRPr>
          </a:p>
        </p:txBody>
      </p:sp>
      <p:sp>
        <p:nvSpPr>
          <p:cNvPr id="17" name="Text 15"/>
          <p:cNvSpPr/>
          <p:nvPr/>
        </p:nvSpPr>
        <p:spPr>
          <a:xfrm>
            <a:off x="6400800" y="4251960"/>
            <a:ext cx="4937760" cy="1280160"/>
          </a:xfrm>
          <a:prstGeom prst="rect">
            <a:avLst/>
          </a:prstGeom>
          <a:noFill/>
          <a:ln/>
        </p:spPr>
        <p:txBody>
          <a:bodyPr wrap="square" lIns="0" tIns="0" rIns="0" bIns="0" rtlCol="0" anchor="ctr"/>
          <a:lstStyle/>
          <a:p>
            <a:pPr marL="0" indent="0">
              <a:lnSpc>
                <a:spcPct val="125000"/>
              </a:lnSpc>
              <a:buNone/>
            </a:pPr>
            <a:r>
              <a:rPr lang="en-US" sz="1100">
                <a:solidFill>
                  <a:srgbClr val="1A1A1A"/>
                </a:solidFill>
                <a:latin typeface="Aptos" panose="020B0004020202020204" pitchFamily="34" charset="0"/>
                <a:ea typeface="Calibri" pitchFamily="34" charset="-122"/>
                <a:cs typeface="Calibri" pitchFamily="34" charset="-120"/>
              </a:rPr>
              <a:t>β- und γ-</a:t>
            </a:r>
            <a:r>
              <a:rPr lang="en-US" sz="1100" err="1">
                <a:solidFill>
                  <a:srgbClr val="1A1A1A"/>
                </a:solidFill>
                <a:latin typeface="Aptos" panose="020B0004020202020204" pitchFamily="34" charset="0"/>
                <a:ea typeface="Calibri" pitchFamily="34" charset="-122"/>
                <a:cs typeface="Calibri" pitchFamily="34" charset="-120"/>
              </a:rPr>
              <a:t>Werte</a:t>
            </a:r>
            <a:r>
              <a:rPr lang="en-US" sz="1100">
                <a:solidFill>
                  <a:srgbClr val="1A1A1A"/>
                </a:solidFill>
                <a:latin typeface="Aptos" panose="020B0004020202020204" pitchFamily="34" charset="0"/>
                <a:ea typeface="Calibri" pitchFamily="34" charset="-122"/>
                <a:cs typeface="Calibri" pitchFamily="34" charset="-120"/>
              </a:rPr>
              <a:t> </a:t>
            </a:r>
            <a:r>
              <a:rPr lang="en-US" sz="1100" err="1">
                <a:solidFill>
                  <a:srgbClr val="1A1A1A"/>
                </a:solidFill>
                <a:latin typeface="Aptos" panose="020B0004020202020204" pitchFamily="34" charset="0"/>
                <a:ea typeface="Calibri" pitchFamily="34" charset="-122"/>
                <a:cs typeface="Calibri" pitchFamily="34" charset="-120"/>
              </a:rPr>
              <a:t>sind</a:t>
            </a:r>
            <a:r>
              <a:rPr lang="en-US" sz="1100">
                <a:solidFill>
                  <a:srgbClr val="1A1A1A"/>
                </a:solidFill>
                <a:latin typeface="Aptos" panose="020B0004020202020204" pitchFamily="34" charset="0"/>
                <a:ea typeface="Calibri" pitchFamily="34" charset="-122"/>
                <a:cs typeface="Calibri" pitchFamily="34" charset="-120"/>
              </a:rPr>
              <a:t> </a:t>
            </a:r>
            <a:r>
              <a:rPr lang="en-US" sz="1100" err="1">
                <a:solidFill>
                  <a:srgbClr val="1A1A1A"/>
                </a:solidFill>
                <a:latin typeface="Aptos" panose="020B0004020202020204" pitchFamily="34" charset="0"/>
                <a:ea typeface="Calibri" pitchFamily="34" charset="-122"/>
                <a:cs typeface="Calibri" pitchFamily="34" charset="-120"/>
              </a:rPr>
              <a:t>aus</a:t>
            </a:r>
            <a:r>
              <a:rPr lang="en-US" sz="1100">
                <a:solidFill>
                  <a:srgbClr val="1A1A1A"/>
                </a:solidFill>
                <a:latin typeface="Aptos" panose="020B0004020202020204" pitchFamily="34" charset="0"/>
                <a:ea typeface="Calibri" pitchFamily="34" charset="-122"/>
                <a:cs typeface="Calibri" pitchFamily="34" charset="-120"/>
              </a:rPr>
              <a:t> der </a:t>
            </a:r>
            <a:r>
              <a:rPr lang="en-US" sz="1100" err="1">
                <a:solidFill>
                  <a:srgbClr val="1A1A1A"/>
                </a:solidFill>
                <a:latin typeface="Aptos" panose="020B0004020202020204" pitchFamily="34" charset="0"/>
                <a:ea typeface="Calibri" pitchFamily="34" charset="-122"/>
                <a:cs typeface="Calibri" pitchFamily="34" charset="-120"/>
              </a:rPr>
              <a:t>Literatur</a:t>
            </a:r>
            <a:r>
              <a:rPr lang="en-US" sz="1100">
                <a:solidFill>
                  <a:srgbClr val="1A1A1A"/>
                </a:solidFill>
                <a:latin typeface="Aptos" panose="020B0004020202020204" pitchFamily="34" charset="0"/>
                <a:ea typeface="Calibri" pitchFamily="34" charset="-122"/>
                <a:cs typeface="Calibri" pitchFamily="34" charset="-120"/>
              </a:rPr>
              <a:t> </a:t>
            </a:r>
            <a:r>
              <a:rPr lang="en-US" sz="1100" err="1">
                <a:solidFill>
                  <a:srgbClr val="1A1A1A"/>
                </a:solidFill>
                <a:latin typeface="Aptos" panose="020B0004020202020204" pitchFamily="34" charset="0"/>
                <a:ea typeface="Calibri" pitchFamily="34" charset="-122"/>
                <a:cs typeface="Calibri" pitchFamily="34" charset="-120"/>
              </a:rPr>
              <a:t>abgeleitet</a:t>
            </a:r>
            <a:r>
              <a:rPr lang="en-US" sz="1100">
                <a:solidFill>
                  <a:srgbClr val="1A1A1A"/>
                </a:solidFill>
                <a:latin typeface="Aptos" panose="020B0004020202020204" pitchFamily="34" charset="0"/>
                <a:ea typeface="Calibri" pitchFamily="34" charset="-122"/>
                <a:cs typeface="Calibri" pitchFamily="34" charset="-120"/>
              </a:rPr>
              <a:t>, nicht </a:t>
            </a:r>
            <a:r>
              <a:rPr lang="en-US" sz="1100" err="1">
                <a:solidFill>
                  <a:srgbClr val="1A1A1A"/>
                </a:solidFill>
                <a:latin typeface="Aptos" panose="020B0004020202020204" pitchFamily="34" charset="0"/>
                <a:ea typeface="Calibri" pitchFamily="34" charset="-122"/>
                <a:cs typeface="Calibri" pitchFamily="34" charset="-120"/>
              </a:rPr>
              <a:t>aus</a:t>
            </a:r>
            <a:r>
              <a:rPr lang="en-US" sz="1100">
                <a:solidFill>
                  <a:srgbClr val="1A1A1A"/>
                </a:solidFill>
                <a:latin typeface="Aptos" panose="020B0004020202020204" pitchFamily="34" charset="0"/>
                <a:ea typeface="Calibri" pitchFamily="34" charset="-122"/>
                <a:cs typeface="Calibri" pitchFamily="34" charset="-120"/>
              </a:rPr>
              <a:t> dem Modell </a:t>
            </a:r>
            <a:r>
              <a:rPr lang="en-US" sz="1100" err="1">
                <a:solidFill>
                  <a:srgbClr val="1A1A1A"/>
                </a:solidFill>
                <a:latin typeface="Aptos" panose="020B0004020202020204" pitchFamily="34" charset="0"/>
                <a:ea typeface="Calibri" pitchFamily="34" charset="-122"/>
                <a:cs typeface="Calibri" pitchFamily="34" charset="-120"/>
              </a:rPr>
              <a:t>geschätzt</a:t>
            </a:r>
            <a:r>
              <a:rPr lang="en-US" sz="1100">
                <a:solidFill>
                  <a:srgbClr val="1A1A1A"/>
                </a:solidFill>
                <a:latin typeface="Aptos" panose="020B0004020202020204" pitchFamily="34" charset="0"/>
                <a:ea typeface="Calibri" pitchFamily="34" charset="-122"/>
                <a:cs typeface="Calibri" pitchFamily="34" charset="-120"/>
              </a:rPr>
              <a:t> - </a:t>
            </a:r>
            <a:r>
              <a:rPr lang="en-US" sz="1100" err="1">
                <a:solidFill>
                  <a:srgbClr val="1A1A1A"/>
                </a:solidFill>
                <a:latin typeface="Aptos" panose="020B0004020202020204" pitchFamily="34" charset="0"/>
                <a:ea typeface="Calibri" pitchFamily="34" charset="-122"/>
                <a:cs typeface="Calibri" pitchFamily="34" charset="-120"/>
              </a:rPr>
              <a:t>aufsichtsrechtlich</a:t>
            </a:r>
            <a:r>
              <a:rPr lang="en-US" sz="1100">
                <a:solidFill>
                  <a:srgbClr val="1A1A1A"/>
                </a:solidFill>
                <a:latin typeface="Aptos" panose="020B0004020202020204" pitchFamily="34" charset="0"/>
                <a:ea typeface="Calibri" pitchFamily="34" charset="-122"/>
                <a:cs typeface="Calibri" pitchFamily="34" charset="-120"/>
              </a:rPr>
              <a:t> </a:t>
            </a:r>
            <a:r>
              <a:rPr lang="en-US" sz="1100" err="1">
                <a:solidFill>
                  <a:srgbClr val="1A1A1A"/>
                </a:solidFill>
                <a:latin typeface="Aptos" panose="020B0004020202020204" pitchFamily="34" charset="0"/>
                <a:ea typeface="Calibri" pitchFamily="34" charset="-122"/>
                <a:cs typeface="Calibri" pitchFamily="34" charset="-120"/>
              </a:rPr>
              <a:t>plausibilisiert</a:t>
            </a:r>
            <a:r>
              <a:rPr lang="en-US" sz="1100">
                <a:solidFill>
                  <a:srgbClr val="1A1A1A"/>
                </a:solidFill>
                <a:latin typeface="Aptos" panose="020B0004020202020204" pitchFamily="34" charset="0"/>
                <a:ea typeface="Calibri" pitchFamily="34" charset="-122"/>
                <a:cs typeface="Calibri" pitchFamily="34" charset="-120"/>
              </a:rPr>
              <a:t>, nicht data-</a:t>
            </a:r>
            <a:r>
              <a:rPr lang="en-US" sz="1100" err="1">
                <a:solidFill>
                  <a:srgbClr val="1A1A1A"/>
                </a:solidFill>
                <a:latin typeface="Aptos" panose="020B0004020202020204" pitchFamily="34" charset="0"/>
                <a:ea typeface="Calibri" pitchFamily="34" charset="-122"/>
                <a:cs typeface="Calibri" pitchFamily="34" charset="-120"/>
              </a:rPr>
              <a:t>gefittet</a:t>
            </a:r>
            <a:r>
              <a:rPr lang="en-US" sz="1100">
                <a:solidFill>
                  <a:srgbClr val="1A1A1A"/>
                </a:solidFill>
                <a:latin typeface="Aptos" panose="020B0004020202020204" pitchFamily="34" charset="0"/>
                <a:ea typeface="Calibri" pitchFamily="34" charset="-122"/>
                <a:cs typeface="Calibri" pitchFamily="34" charset="-120"/>
              </a:rPr>
              <a:t>: EBA Stress Test 2025 Methodology Note, </a:t>
            </a:r>
            <a:r>
              <a:rPr lang="en-US" sz="1100" err="1">
                <a:solidFill>
                  <a:srgbClr val="1A1A1A"/>
                </a:solidFill>
                <a:latin typeface="Aptos" panose="020B0004020202020204" pitchFamily="34" charset="0"/>
                <a:ea typeface="Calibri" pitchFamily="34" charset="-122"/>
                <a:cs typeface="Calibri" pitchFamily="34" charset="-120"/>
              </a:rPr>
              <a:t>Drehmann</a:t>
            </a:r>
            <a:r>
              <a:rPr lang="en-US" sz="1100">
                <a:solidFill>
                  <a:srgbClr val="1A1A1A"/>
                </a:solidFill>
                <a:latin typeface="Aptos" panose="020B0004020202020204" pitchFamily="34" charset="0"/>
                <a:ea typeface="Calibri" pitchFamily="34" charset="-122"/>
                <a:cs typeface="Calibri" pitchFamily="34" charset="-120"/>
              </a:rPr>
              <a:t>/</a:t>
            </a:r>
            <a:r>
              <a:rPr lang="en-US" sz="1100" err="1">
                <a:solidFill>
                  <a:srgbClr val="1A1A1A"/>
                </a:solidFill>
                <a:latin typeface="Aptos" panose="020B0004020202020204" pitchFamily="34" charset="0"/>
                <a:ea typeface="Calibri" pitchFamily="34" charset="-122"/>
                <a:cs typeface="Calibri" pitchFamily="34" charset="-120"/>
              </a:rPr>
              <a:t>Juselius</a:t>
            </a:r>
            <a:r>
              <a:rPr lang="en-US" sz="1100">
                <a:solidFill>
                  <a:srgbClr val="1A1A1A"/>
                </a:solidFill>
                <a:latin typeface="Aptos" panose="020B0004020202020204" pitchFamily="34" charset="0"/>
                <a:ea typeface="Calibri" pitchFamily="34" charset="-122"/>
                <a:cs typeface="Calibri" pitchFamily="34" charset="-120"/>
              </a:rPr>
              <a:t> (BIS WP 421), Hosszú/Király (MNB WP 2018), Castro (2013).</a:t>
            </a:r>
            <a:endParaRPr lang="en-US" sz="1100">
              <a:latin typeface="Aptos" panose="020B0004020202020204" pitchFamily="34" charset="0"/>
            </a:endParaRPr>
          </a:p>
        </p:txBody>
      </p:sp>
      <p:sp>
        <p:nvSpPr>
          <p:cNvPr id="18" name="Text 16"/>
          <p:cNvSpPr/>
          <p:nvPr/>
        </p:nvSpPr>
        <p:spPr>
          <a:xfrm>
            <a:off x="457200" y="6519672"/>
            <a:ext cx="7315200" cy="274320"/>
          </a:xfrm>
          <a:prstGeom prst="rect">
            <a:avLst/>
          </a:prstGeom>
          <a:noFill/>
          <a:ln/>
        </p:spPr>
        <p:txBody>
          <a:bodyPr wrap="square" lIns="0" tIns="0" rIns="0" bIns="0" rtlCol="0" anchor="ctr"/>
          <a:lstStyle/>
          <a:p>
            <a:pPr marL="0" indent="0" algn="l">
              <a:buNone/>
            </a:pPr>
            <a:r>
              <a:rPr lang="en-US" sz="900">
                <a:solidFill>
                  <a:srgbClr val="5B6478"/>
                </a:solidFill>
                <a:latin typeface="Calibri" pitchFamily="34" charset="0"/>
                <a:ea typeface="Calibri" pitchFamily="34" charset="-122"/>
                <a:cs typeface="Calibri" pitchFamily="34" charset="-120"/>
              </a:rPr>
              <a:t>Kreditbuch · Loan Book Channel</a:t>
            </a:r>
            <a:endParaRPr lang="en-US" sz="900"/>
          </a:p>
        </p:txBody>
      </p:sp>
      <p:sp>
        <p:nvSpPr>
          <p:cNvPr id="19" name="CodexSlideNumber">
            <a:extLst>
              <a:ext uri="{FF2B5EF4-FFF2-40B4-BE49-F238E27FC236}">
                <a16:creationId xmlns:a16="http://schemas.microsoft.com/office/drawing/2014/main" id="{42FBAB3C-3602-6B49-8DD2-4F52F8FBB942}"/>
              </a:ext>
            </a:extLst>
          </p:cNvPr>
          <p:cNvSpPr txBox="1"/>
          <p:nvPr/>
        </p:nvSpPr>
        <p:spPr>
          <a:xfrm>
            <a:off x="11226800" y="6553200"/>
            <a:ext cx="736600" cy="123111"/>
          </a:xfrm>
          <a:prstGeom prst="rect">
            <a:avLst/>
          </a:prstGeom>
          <a:noFill/>
        </p:spPr>
        <p:txBody>
          <a:bodyPr vert="horz" lIns="0" tIns="0" rIns="0" bIns="0" rtlCol="0">
            <a:spAutoFit/>
          </a:bodyPr>
          <a:lstStyle/>
          <a:p>
            <a:pPr algn="r"/>
            <a:r>
              <a:rPr lang="en-US" sz="800">
                <a:solidFill>
                  <a:srgbClr val="525252"/>
                </a:solidFill>
                <a:latin typeface="Arial" panose="020B0604020202020204" pitchFamily="34" charset="0"/>
              </a:rPr>
              <a:t>22 / 64</a:t>
            </a:r>
          </a:p>
        </p:txBody>
      </p:sp>
    </p:spTree>
    <p:extLst>
      <p:ext uri="{BB962C8B-B14F-4D97-AF65-F5344CB8AC3E}">
        <p14:creationId xmlns:p14="http://schemas.microsoft.com/office/powerpoint/2010/main" val="7254775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0058400" cy="320040"/>
          </a:xfrm>
          <a:prstGeom prst="rect">
            <a:avLst/>
          </a:prstGeom>
          <a:noFill/>
          <a:ln/>
        </p:spPr>
        <p:txBody>
          <a:bodyPr wrap="square" lIns="0" tIns="0" rIns="0" bIns="0" rtlCol="0" anchor="ctr"/>
          <a:lstStyle/>
          <a:p>
            <a:pPr>
              <a:defRPr sz="863" b="1" i="0">
                <a:solidFill>
                  <a:srgbClr val="A52F4D"/>
                </a:solidFill>
                <a:latin typeface="Aptos"/>
                <a:ea typeface="Aptos"/>
                <a:cs typeface="Aptos"/>
              </a:defRPr>
            </a:pPr>
            <a:r>
              <a:rPr lang="en-US" sz="863" b="1">
                <a:solidFill>
                  <a:schemeClr val="tx2"/>
                </a:solidFill>
                <a:latin typeface="Aptos"/>
              </a:rPr>
              <a:t>WORKED EXAMPLE</a:t>
            </a:r>
          </a:p>
        </p:txBody>
      </p:sp>
      <p:sp>
        <p:nvSpPr>
          <p:cNvPr id="3" name="Text 1"/>
          <p:cNvSpPr/>
          <p:nvPr/>
        </p:nvSpPr>
        <p:spPr>
          <a:xfrm>
            <a:off x="548640" y="658368"/>
            <a:ext cx="10515600" cy="822960"/>
          </a:xfrm>
          <a:prstGeom prst="rect">
            <a:avLst/>
          </a:prstGeom>
          <a:noFill/>
          <a:ln/>
        </p:spPr>
        <p:txBody>
          <a:bodyPr wrap="square" lIns="0" tIns="0" rIns="0" bIns="0" rtlCol="0" anchor="ctr"/>
          <a:lstStyle/>
          <a:p>
            <a:pPr>
              <a:buNone/>
              <a:defRPr sz="2475" b="1" i="0">
                <a:solidFill>
                  <a:srgbClr val="051C2C"/>
                </a:solidFill>
                <a:latin typeface="Aptos Display"/>
                <a:ea typeface="Aptos Display"/>
                <a:cs typeface="Aptos Display"/>
              </a:defRPr>
            </a:pPr>
            <a:r>
              <a:rPr lang="en-US" sz="2475" b="1">
                <a:solidFill>
                  <a:srgbClr val="051C2C"/>
                </a:solidFill>
                <a:latin typeface="Aptos Display"/>
              </a:rPr>
              <a:t>Ein Schock von +50% Brent / +200bp Zins</a:t>
            </a:r>
          </a:p>
        </p:txBody>
      </p:sp>
      <p:sp>
        <p:nvSpPr>
          <p:cNvPr id="4" name="Text 2"/>
          <p:cNvSpPr/>
          <p:nvPr/>
        </p:nvSpPr>
        <p:spPr>
          <a:xfrm>
            <a:off x="548640" y="1417320"/>
            <a:ext cx="10972800" cy="411480"/>
          </a:xfrm>
          <a:prstGeom prst="rect">
            <a:avLst/>
          </a:prstGeom>
          <a:noFill/>
          <a:ln/>
        </p:spPr>
        <p:txBody>
          <a:bodyPr wrap="square" lIns="0" tIns="0" rIns="0" bIns="0" rtlCol="0" anchor="ctr"/>
          <a:lstStyle/>
          <a:p>
            <a:pPr marL="0" indent="0">
              <a:buNone/>
            </a:pPr>
            <a:r>
              <a:rPr lang="en-US" sz="1125">
                <a:solidFill>
                  <a:srgbClr val="4F6875"/>
                </a:solidFill>
                <a:latin typeface="Aptos"/>
              </a:rPr>
              <a:t>ΔPD = β_oil · </a:t>
            </a:r>
            <a:r>
              <a:rPr lang="en-US" sz="1125" err="1">
                <a:solidFill>
                  <a:srgbClr val="4F6875"/>
                </a:solidFill>
                <a:latin typeface="Aptos"/>
              </a:rPr>
              <a:t>ΔBrent</a:t>
            </a:r>
            <a:r>
              <a:rPr lang="en-US" sz="1125">
                <a:solidFill>
                  <a:srgbClr val="4F6875"/>
                </a:solidFill>
                <a:latin typeface="Aptos"/>
              </a:rPr>
              <a:t> + β_rate · Δr_10y - vier Bank-Klasse-</a:t>
            </a:r>
            <a:r>
              <a:rPr lang="en-US" sz="1125" err="1">
                <a:solidFill>
                  <a:srgbClr val="4F6875"/>
                </a:solidFill>
                <a:latin typeface="Aptos"/>
              </a:rPr>
              <a:t>Kombinationen</a:t>
            </a:r>
            <a:r>
              <a:rPr lang="en-US" sz="1125">
                <a:solidFill>
                  <a:srgbClr val="4F6875"/>
                </a:solidFill>
                <a:latin typeface="Aptos"/>
              </a:rPr>
              <a:t> </a:t>
            </a:r>
            <a:r>
              <a:rPr lang="en-US" sz="1125" err="1">
                <a:solidFill>
                  <a:srgbClr val="4F6875"/>
                </a:solidFill>
                <a:latin typeface="Aptos"/>
              </a:rPr>
              <a:t>zeigen</a:t>
            </a:r>
            <a:r>
              <a:rPr lang="en-US" sz="1125">
                <a:solidFill>
                  <a:srgbClr val="4F6875"/>
                </a:solidFill>
                <a:latin typeface="Aptos"/>
              </a:rPr>
              <a:t>, </a:t>
            </a:r>
            <a:r>
              <a:rPr lang="en-US" sz="1125" err="1">
                <a:solidFill>
                  <a:srgbClr val="4F6875"/>
                </a:solidFill>
                <a:latin typeface="Aptos"/>
              </a:rPr>
              <a:t>wie</a:t>
            </a:r>
            <a:r>
              <a:rPr lang="en-US" sz="1125">
                <a:solidFill>
                  <a:srgbClr val="4F6875"/>
                </a:solidFill>
                <a:latin typeface="Aptos"/>
              </a:rPr>
              <a:t> </a:t>
            </a:r>
            <a:r>
              <a:rPr lang="en-US" sz="1125" err="1">
                <a:solidFill>
                  <a:srgbClr val="4F6875"/>
                </a:solidFill>
                <a:latin typeface="Aptos"/>
              </a:rPr>
              <a:t>unterschiedlich</a:t>
            </a:r>
            <a:r>
              <a:rPr lang="en-US" sz="1125">
                <a:solidFill>
                  <a:srgbClr val="4F6875"/>
                </a:solidFill>
                <a:latin typeface="Aptos"/>
              </a:rPr>
              <a:t> </a:t>
            </a:r>
            <a:r>
              <a:rPr lang="en-US" sz="1125" err="1">
                <a:solidFill>
                  <a:srgbClr val="4F6875"/>
                </a:solidFill>
                <a:latin typeface="Aptos"/>
              </a:rPr>
              <a:t>derselbe</a:t>
            </a:r>
            <a:r>
              <a:rPr lang="en-US" sz="1125">
                <a:solidFill>
                  <a:srgbClr val="4F6875"/>
                </a:solidFill>
                <a:latin typeface="Aptos"/>
              </a:rPr>
              <a:t> Schock </a:t>
            </a:r>
            <a:r>
              <a:rPr lang="en-US" sz="1125" err="1">
                <a:solidFill>
                  <a:srgbClr val="4F6875"/>
                </a:solidFill>
                <a:latin typeface="Aptos"/>
              </a:rPr>
              <a:t>wirkt</a:t>
            </a:r>
            <a:r>
              <a:rPr lang="en-US" sz="1300" i="1">
                <a:solidFill>
                  <a:srgbClr val="5B6478"/>
                </a:solidFill>
                <a:latin typeface="Calibri" pitchFamily="34" charset="0"/>
                <a:ea typeface="Calibri" pitchFamily="34" charset="-122"/>
                <a:cs typeface="Calibri" pitchFamily="34" charset="-120"/>
              </a:rPr>
              <a:t>.</a:t>
            </a:r>
            <a:endParaRPr lang="en-US" sz="1300"/>
          </a:p>
        </p:txBody>
      </p:sp>
      <p:graphicFrame>
        <p:nvGraphicFramePr>
          <p:cNvPr id="7" name="Table 0"/>
          <p:cNvGraphicFramePr>
            <a:graphicFrameLocks noGrp="1"/>
          </p:cNvGraphicFramePr>
          <p:nvPr>
            <p:extLst>
              <p:ext uri="{D42A27DB-BD31-4B8C-83A1-F6EECF244321}">
                <p14:modId xmlns:p14="http://schemas.microsoft.com/office/powerpoint/2010/main" val="1355094045"/>
              </p:ext>
            </p:extLst>
          </p:nvPr>
        </p:nvGraphicFramePr>
        <p:xfrm>
          <a:off x="548640" y="2011680"/>
          <a:ext cx="11064240" cy="1737360"/>
        </p:xfrm>
        <a:graphic>
          <a:graphicData uri="http://schemas.openxmlformats.org/drawingml/2006/table">
            <a:tbl>
              <a:tblPr/>
              <a:tblGrid>
                <a:gridCol w="237744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3017520">
                  <a:extLst>
                    <a:ext uri="{9D8B030D-6E8A-4147-A177-3AD203B41FA5}">
                      <a16:colId xmlns:a16="http://schemas.microsoft.com/office/drawing/2014/main" val="20003"/>
                    </a:ext>
                  </a:extLst>
                </a:gridCol>
                <a:gridCol w="2011680">
                  <a:extLst>
                    <a:ext uri="{9D8B030D-6E8A-4147-A177-3AD203B41FA5}">
                      <a16:colId xmlns:a16="http://schemas.microsoft.com/office/drawing/2014/main" val="20004"/>
                    </a:ext>
                  </a:extLst>
                </a:gridCol>
                <a:gridCol w="1645920">
                  <a:extLst>
                    <a:ext uri="{9D8B030D-6E8A-4147-A177-3AD203B41FA5}">
                      <a16:colId xmlns:a16="http://schemas.microsoft.com/office/drawing/2014/main" val="20005"/>
                    </a:ext>
                  </a:extLst>
                </a:gridCol>
              </a:tblGrid>
              <a:tr h="347472">
                <a:tc>
                  <a:txBody>
                    <a:bodyPr/>
                    <a:lstStyle/>
                    <a:p>
                      <a:pPr marL="0" indent="0">
                        <a:buNone/>
                      </a:pPr>
                      <a:r>
                        <a:rPr lang="en-US" sz="1050" b="1">
                          <a:solidFill>
                            <a:srgbClr val="FFFFFF"/>
                          </a:solidFill>
                          <a:latin typeface="Aptos" panose="020B0004020202020204" pitchFamily="34" charset="0"/>
                          <a:ea typeface="Calibri" pitchFamily="34" charset="-122"/>
                          <a:cs typeface="Calibri" pitchFamily="34" charset="-120"/>
                        </a:rPr>
                        <a:t>Bank · Klasse</a:t>
                      </a:r>
                      <a:endParaRPr lang="en-US" sz="1050">
                        <a:latin typeface="Aptos" panose="020B0004020202020204" pitchFamily="34" charset="0"/>
                        <a:ea typeface="Calibri" charset="0"/>
                        <a:cs typeface="Calibri" charset="0"/>
                      </a:endParaRPr>
                    </a:p>
                  </a:txBody>
                  <a:tcP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16243F"/>
                    </a:solidFill>
                  </a:tcPr>
                </a:tc>
                <a:tc>
                  <a:txBody>
                    <a:bodyPr/>
                    <a:lstStyle/>
                    <a:p>
                      <a:pPr marL="0" indent="0" algn="ctr">
                        <a:buNone/>
                      </a:pPr>
                      <a:r>
                        <a:rPr lang="en-US" sz="1050" b="1">
                          <a:solidFill>
                            <a:srgbClr val="FFFFFF"/>
                          </a:solidFill>
                          <a:latin typeface="Aptos" panose="020B0004020202020204" pitchFamily="34" charset="0"/>
                          <a:ea typeface="Calibri" pitchFamily="34" charset="-122"/>
                          <a:cs typeface="Calibri" pitchFamily="34" charset="-120"/>
                        </a:rPr>
                        <a:t>β_oil</a:t>
                      </a:r>
                      <a:endParaRPr lang="en-US" sz="1050">
                        <a:latin typeface="Aptos" panose="020B0004020202020204" pitchFamily="34" charset="0"/>
                        <a:ea typeface="Calibri" charset="0"/>
                        <a:cs typeface="Calibri" charset="0"/>
                      </a:endParaRPr>
                    </a:p>
                  </a:txBody>
                  <a:tcP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16243F"/>
                    </a:solidFill>
                  </a:tcPr>
                </a:tc>
                <a:tc>
                  <a:txBody>
                    <a:bodyPr/>
                    <a:lstStyle/>
                    <a:p>
                      <a:pPr marL="0" indent="0" algn="ctr">
                        <a:buNone/>
                      </a:pPr>
                      <a:r>
                        <a:rPr lang="en-US" sz="1050" b="1">
                          <a:solidFill>
                            <a:srgbClr val="FFFFFF"/>
                          </a:solidFill>
                          <a:latin typeface="Aptos" panose="020B0004020202020204" pitchFamily="34" charset="0"/>
                          <a:ea typeface="Calibri" pitchFamily="34" charset="-122"/>
                          <a:cs typeface="Calibri" pitchFamily="34" charset="-120"/>
                        </a:rPr>
                        <a:t>β_rate</a:t>
                      </a:r>
                      <a:endParaRPr lang="en-US" sz="1050">
                        <a:latin typeface="Aptos" panose="020B0004020202020204" pitchFamily="34" charset="0"/>
                        <a:ea typeface="Calibri" charset="0"/>
                        <a:cs typeface="Calibri" charset="0"/>
                      </a:endParaRPr>
                    </a:p>
                  </a:txBody>
                  <a:tcP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16243F"/>
                    </a:solidFill>
                  </a:tcPr>
                </a:tc>
                <a:tc>
                  <a:txBody>
                    <a:bodyPr/>
                    <a:lstStyle/>
                    <a:p>
                      <a:pPr marL="0" indent="0">
                        <a:buNone/>
                      </a:pPr>
                      <a:r>
                        <a:rPr lang="en-US" sz="1050" b="1">
                          <a:solidFill>
                            <a:srgbClr val="FFFFFF"/>
                          </a:solidFill>
                          <a:latin typeface="Aptos" panose="020B0004020202020204" pitchFamily="34" charset="0"/>
                          <a:ea typeface="Calibri" pitchFamily="34" charset="-122"/>
                          <a:cs typeface="Calibri" pitchFamily="34" charset="-120"/>
                        </a:rPr>
                        <a:t>Rechnung ΔPD</a:t>
                      </a:r>
                      <a:endParaRPr lang="en-US" sz="1050">
                        <a:latin typeface="Aptos" panose="020B0004020202020204" pitchFamily="34" charset="0"/>
                        <a:ea typeface="Calibri" charset="0"/>
                        <a:cs typeface="Calibri" charset="0"/>
                      </a:endParaRPr>
                    </a:p>
                  </a:txBody>
                  <a:tcP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16243F"/>
                    </a:solidFill>
                  </a:tcPr>
                </a:tc>
                <a:tc>
                  <a:txBody>
                    <a:bodyPr/>
                    <a:lstStyle/>
                    <a:p>
                      <a:pPr marL="0" indent="0">
                        <a:buNone/>
                      </a:pPr>
                      <a:r>
                        <a:rPr lang="en-US" sz="1050" b="1">
                          <a:solidFill>
                            <a:srgbClr val="FFFFFF"/>
                          </a:solidFill>
                          <a:latin typeface="Aptos" panose="020B0004020202020204" pitchFamily="34" charset="0"/>
                          <a:ea typeface="Calibri" pitchFamily="34" charset="-122"/>
                          <a:cs typeface="Calibri" pitchFamily="34" charset="-120"/>
                        </a:rPr>
                        <a:t>PD baseline → stress</a:t>
                      </a:r>
                      <a:endParaRPr lang="en-US" sz="1050">
                        <a:latin typeface="Aptos" panose="020B0004020202020204" pitchFamily="34" charset="0"/>
                        <a:ea typeface="Calibri" charset="0"/>
                        <a:cs typeface="Calibri" charset="0"/>
                      </a:endParaRPr>
                    </a:p>
                  </a:txBody>
                  <a:tcP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16243F"/>
                    </a:solidFill>
                  </a:tcPr>
                </a:tc>
                <a:tc>
                  <a:txBody>
                    <a:bodyPr/>
                    <a:lstStyle/>
                    <a:p>
                      <a:pPr marL="0" indent="0" algn="ctr">
                        <a:buNone/>
                      </a:pPr>
                      <a:r>
                        <a:rPr lang="en-US" sz="1050" b="1">
                          <a:solidFill>
                            <a:srgbClr val="FFFFFF"/>
                          </a:solidFill>
                          <a:latin typeface="Aptos" panose="020B0004020202020204" pitchFamily="34" charset="0"/>
                          <a:ea typeface="Calibri" pitchFamily="34" charset="-122"/>
                          <a:cs typeface="Calibri" pitchFamily="34" charset="-120"/>
                        </a:rPr>
                        <a:t>ΔLGD</a:t>
                      </a:r>
                      <a:endParaRPr lang="en-US" sz="1050">
                        <a:latin typeface="Aptos" panose="020B0004020202020204" pitchFamily="34" charset="0"/>
                        <a:ea typeface="Calibri" charset="0"/>
                        <a:cs typeface="Calibri" charset="0"/>
                      </a:endParaRPr>
                    </a:p>
                  </a:txBody>
                  <a:tcP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16243F"/>
                    </a:solidFill>
                  </a:tcPr>
                </a:tc>
                <a:extLst>
                  <a:ext uri="{0D108BD9-81ED-4DB2-BD59-A6C34878D82A}">
                    <a16:rowId xmlns:a16="http://schemas.microsoft.com/office/drawing/2014/main" val="10000"/>
                  </a:ext>
                </a:extLst>
              </a:tr>
              <a:tr h="347472">
                <a:tc>
                  <a:txBody>
                    <a:bodyPr/>
                    <a:lstStyle/>
                    <a:p>
                      <a:pPr marL="0" indent="0" algn="l">
                        <a:buNone/>
                      </a:pPr>
                      <a:r>
                        <a:rPr lang="en-US" sz="1050">
                          <a:solidFill>
                            <a:srgbClr val="1A1A1A"/>
                          </a:solidFill>
                          <a:latin typeface="Aptos" panose="020B0004020202020204" pitchFamily="34" charset="0"/>
                          <a:ea typeface="Calibri" pitchFamily="34" charset="-122"/>
                          <a:cs typeface="Calibri" pitchFamily="34" charset="-120"/>
                        </a:rPr>
                        <a:t>UniCredit (IT) · Corporate</a:t>
                      </a:r>
                      <a:endParaRPr lang="en-US" sz="1050">
                        <a:latin typeface="Aptos" panose="020B0004020202020204" pitchFamily="34" charset="0"/>
                        <a:ea typeface="Calibri" charset="0"/>
                        <a:cs typeface="Calibri" charset="0"/>
                      </a:endParaRPr>
                    </a:p>
                  </a:txBody>
                  <a:tcP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FFFFFF"/>
                    </a:solidFill>
                  </a:tcPr>
                </a:tc>
                <a:tc>
                  <a:txBody>
                    <a:bodyPr/>
                    <a:lstStyle/>
                    <a:p>
                      <a:pPr marL="0" indent="0" algn="ctr">
                        <a:buNone/>
                      </a:pPr>
                      <a:r>
                        <a:rPr lang="en-US" sz="1050">
                          <a:solidFill>
                            <a:srgbClr val="1A1A1A"/>
                          </a:solidFill>
                          <a:latin typeface="Aptos" panose="020B0004020202020204" pitchFamily="34" charset="0"/>
                          <a:ea typeface="Calibri" pitchFamily="34" charset="-122"/>
                          <a:cs typeface="Calibri" pitchFamily="34" charset="-120"/>
                        </a:rPr>
                        <a:t>+0.30</a:t>
                      </a:r>
                      <a:endParaRPr lang="en-US" sz="1050">
                        <a:latin typeface="Aptos" panose="020B0004020202020204" pitchFamily="34" charset="0"/>
                        <a:ea typeface="Calibri" charset="0"/>
                        <a:cs typeface="Calibri" charset="0"/>
                      </a:endParaRPr>
                    </a:p>
                  </a:txBody>
                  <a:tcP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FFFFFF"/>
                    </a:solidFill>
                  </a:tcPr>
                </a:tc>
                <a:tc>
                  <a:txBody>
                    <a:bodyPr/>
                    <a:lstStyle/>
                    <a:p>
                      <a:pPr marL="0" indent="0" algn="ctr">
                        <a:buNone/>
                      </a:pPr>
                      <a:r>
                        <a:rPr lang="en-US" sz="1050">
                          <a:solidFill>
                            <a:srgbClr val="1A1A1A"/>
                          </a:solidFill>
                          <a:latin typeface="Aptos" panose="020B0004020202020204" pitchFamily="34" charset="0"/>
                          <a:ea typeface="Calibri" pitchFamily="34" charset="-122"/>
                          <a:cs typeface="Calibri" pitchFamily="34" charset="-120"/>
                        </a:rPr>
                        <a:t>+0.20</a:t>
                      </a:r>
                      <a:endParaRPr lang="en-US" sz="1050">
                        <a:latin typeface="Aptos" panose="020B0004020202020204" pitchFamily="34" charset="0"/>
                        <a:ea typeface="Calibri" charset="0"/>
                        <a:cs typeface="Calibri" charset="0"/>
                      </a:endParaRPr>
                    </a:p>
                  </a:txBody>
                  <a:tcP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FFFFFF"/>
                    </a:solidFill>
                  </a:tcPr>
                </a:tc>
                <a:tc>
                  <a:txBody>
                    <a:bodyPr/>
                    <a:lstStyle/>
                    <a:p>
                      <a:pPr marL="0" indent="0" algn="l">
                        <a:buNone/>
                      </a:pPr>
                      <a:r>
                        <a:rPr lang="en-US" sz="1050">
                          <a:solidFill>
                            <a:srgbClr val="1A1A1A"/>
                          </a:solidFill>
                          <a:latin typeface="Aptos" panose="020B0004020202020204" pitchFamily="34" charset="0"/>
                          <a:ea typeface="Calibri" pitchFamily="34" charset="-122"/>
                          <a:cs typeface="Calibri" pitchFamily="34" charset="-120"/>
                        </a:rPr>
                        <a:t>+0,30·0,50+0,20·2,00 = +0,55 pp</a:t>
                      </a:r>
                      <a:endParaRPr lang="en-US" sz="1050">
                        <a:latin typeface="Aptos" panose="020B0004020202020204" pitchFamily="34" charset="0"/>
                        <a:ea typeface="Calibri" charset="0"/>
                        <a:cs typeface="Calibri" charset="0"/>
                      </a:endParaRPr>
                    </a:p>
                  </a:txBody>
                  <a:tcP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FFFFFF"/>
                    </a:solidFill>
                  </a:tcPr>
                </a:tc>
                <a:tc>
                  <a:txBody>
                    <a:bodyPr/>
                    <a:lstStyle/>
                    <a:p>
                      <a:pPr marL="0" indent="0" algn="l">
                        <a:buNone/>
                      </a:pPr>
                      <a:r>
                        <a:rPr lang="en-US" sz="1050">
                          <a:solidFill>
                            <a:srgbClr val="1A1A1A"/>
                          </a:solidFill>
                          <a:latin typeface="Aptos" panose="020B0004020202020204" pitchFamily="34" charset="0"/>
                          <a:ea typeface="Calibri" pitchFamily="34" charset="-122"/>
                          <a:cs typeface="Calibri" pitchFamily="34" charset="-120"/>
                        </a:rPr>
                        <a:t>2,42 % → 2,97 %</a:t>
                      </a:r>
                      <a:endParaRPr lang="en-US" sz="1050">
                        <a:latin typeface="Aptos" panose="020B0004020202020204" pitchFamily="34" charset="0"/>
                        <a:ea typeface="Calibri" charset="0"/>
                        <a:cs typeface="Calibri" charset="0"/>
                      </a:endParaRPr>
                    </a:p>
                  </a:txBody>
                  <a:tcP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FFFFFF"/>
                    </a:solidFill>
                  </a:tcPr>
                </a:tc>
                <a:tc>
                  <a:txBody>
                    <a:bodyPr/>
                    <a:lstStyle/>
                    <a:p>
                      <a:pPr marL="0" indent="0" algn="l">
                        <a:buNone/>
                      </a:pPr>
                      <a:r>
                        <a:rPr lang="en-US" sz="1050">
                          <a:solidFill>
                            <a:srgbClr val="1A1A1A"/>
                          </a:solidFill>
                          <a:latin typeface="Aptos" panose="020B0004020202020204" pitchFamily="34" charset="0"/>
                          <a:ea typeface="Calibri" pitchFamily="34" charset="-122"/>
                          <a:cs typeface="Calibri" pitchFamily="34" charset="-120"/>
                        </a:rPr>
                        <a:t>+2,25 pp</a:t>
                      </a:r>
                      <a:endParaRPr lang="en-US" sz="1050">
                        <a:latin typeface="Aptos" panose="020B0004020202020204" pitchFamily="34" charset="0"/>
                        <a:ea typeface="Calibri" charset="0"/>
                        <a:cs typeface="Calibri" charset="0"/>
                      </a:endParaRPr>
                    </a:p>
                  </a:txBody>
                  <a:tcP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47472">
                <a:tc>
                  <a:txBody>
                    <a:bodyPr/>
                    <a:lstStyle/>
                    <a:p>
                      <a:pPr marL="0" indent="0" algn="l">
                        <a:buNone/>
                      </a:pPr>
                      <a:r>
                        <a:rPr lang="en-US" sz="1050">
                          <a:solidFill>
                            <a:srgbClr val="1A1A1A"/>
                          </a:solidFill>
                          <a:latin typeface="Aptos" panose="020B0004020202020204" pitchFamily="34" charset="0"/>
                          <a:ea typeface="Calibri" pitchFamily="34" charset="-122"/>
                          <a:cs typeface="Calibri" pitchFamily="34" charset="-120"/>
                        </a:rPr>
                        <a:t>Deutsche Bank (DE) · Mortgage</a:t>
                      </a:r>
                      <a:endParaRPr lang="en-US" sz="1050">
                        <a:latin typeface="Aptos" panose="020B0004020202020204" pitchFamily="34" charset="0"/>
                        <a:ea typeface="Calibri" charset="0"/>
                        <a:cs typeface="Calibri" charset="0"/>
                      </a:endParaRPr>
                    </a:p>
                  </a:txBody>
                  <a:tcP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F4F6FB"/>
                    </a:solidFill>
                  </a:tcPr>
                </a:tc>
                <a:tc>
                  <a:txBody>
                    <a:bodyPr/>
                    <a:lstStyle/>
                    <a:p>
                      <a:pPr marL="0" indent="0" algn="ctr">
                        <a:buNone/>
                      </a:pPr>
                      <a:r>
                        <a:rPr lang="en-US" sz="1050">
                          <a:solidFill>
                            <a:srgbClr val="1A1A1A"/>
                          </a:solidFill>
                          <a:latin typeface="Aptos" panose="020B0004020202020204" pitchFamily="34" charset="0"/>
                          <a:ea typeface="Calibri" pitchFamily="34" charset="-122"/>
                          <a:cs typeface="Calibri" pitchFamily="34" charset="-120"/>
                        </a:rPr>
                        <a:t>+0.05</a:t>
                      </a:r>
                      <a:endParaRPr lang="en-US" sz="1050">
                        <a:latin typeface="Aptos" panose="020B0004020202020204" pitchFamily="34" charset="0"/>
                        <a:ea typeface="Calibri" charset="0"/>
                        <a:cs typeface="Calibri" charset="0"/>
                      </a:endParaRPr>
                    </a:p>
                  </a:txBody>
                  <a:tcP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F4F6FB"/>
                    </a:solidFill>
                  </a:tcPr>
                </a:tc>
                <a:tc>
                  <a:txBody>
                    <a:bodyPr/>
                    <a:lstStyle/>
                    <a:p>
                      <a:pPr marL="0" indent="0" algn="ctr">
                        <a:buNone/>
                      </a:pPr>
                      <a:r>
                        <a:rPr lang="en-US" sz="1050">
                          <a:solidFill>
                            <a:srgbClr val="1A1A1A"/>
                          </a:solidFill>
                          <a:latin typeface="Aptos" panose="020B0004020202020204" pitchFamily="34" charset="0"/>
                          <a:ea typeface="Calibri" pitchFamily="34" charset="-122"/>
                          <a:cs typeface="Calibri" pitchFamily="34" charset="-120"/>
                        </a:rPr>
                        <a:t>+0.30</a:t>
                      </a:r>
                      <a:endParaRPr lang="en-US" sz="1050">
                        <a:latin typeface="Aptos" panose="020B0004020202020204" pitchFamily="34" charset="0"/>
                        <a:ea typeface="Calibri" charset="0"/>
                        <a:cs typeface="Calibri" charset="0"/>
                      </a:endParaRPr>
                    </a:p>
                  </a:txBody>
                  <a:tcP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F4F6FB"/>
                    </a:solidFill>
                  </a:tcPr>
                </a:tc>
                <a:tc>
                  <a:txBody>
                    <a:bodyPr/>
                    <a:lstStyle/>
                    <a:p>
                      <a:pPr marL="0" indent="0" algn="l">
                        <a:buNone/>
                      </a:pPr>
                      <a:r>
                        <a:rPr lang="en-US" sz="1050">
                          <a:solidFill>
                            <a:srgbClr val="1A1A1A"/>
                          </a:solidFill>
                          <a:latin typeface="Aptos" panose="020B0004020202020204" pitchFamily="34" charset="0"/>
                          <a:ea typeface="Calibri" pitchFamily="34" charset="-122"/>
                          <a:cs typeface="Calibri" pitchFamily="34" charset="-120"/>
                        </a:rPr>
                        <a:t>+0,05·0,50+0,30·2,00 = +0,63 pp</a:t>
                      </a:r>
                      <a:endParaRPr lang="en-US" sz="1050">
                        <a:latin typeface="Aptos" panose="020B0004020202020204" pitchFamily="34" charset="0"/>
                        <a:ea typeface="Calibri" charset="0"/>
                        <a:cs typeface="Calibri" charset="0"/>
                      </a:endParaRPr>
                    </a:p>
                  </a:txBody>
                  <a:tcP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F4F6FB"/>
                    </a:solidFill>
                  </a:tcPr>
                </a:tc>
                <a:tc>
                  <a:txBody>
                    <a:bodyPr/>
                    <a:lstStyle/>
                    <a:p>
                      <a:pPr marL="0" indent="0" algn="l">
                        <a:buNone/>
                      </a:pPr>
                      <a:r>
                        <a:rPr lang="en-US" sz="1050">
                          <a:solidFill>
                            <a:srgbClr val="1A1A1A"/>
                          </a:solidFill>
                          <a:latin typeface="Aptos" panose="020B0004020202020204" pitchFamily="34" charset="0"/>
                          <a:ea typeface="Calibri" pitchFamily="34" charset="-122"/>
                          <a:cs typeface="Calibri" pitchFamily="34" charset="-120"/>
                        </a:rPr>
                        <a:t>2,63 % → 3,26 %</a:t>
                      </a:r>
                      <a:endParaRPr lang="en-US" sz="1050">
                        <a:latin typeface="Aptos" panose="020B0004020202020204" pitchFamily="34" charset="0"/>
                        <a:ea typeface="Calibri" charset="0"/>
                        <a:cs typeface="Calibri" charset="0"/>
                      </a:endParaRPr>
                    </a:p>
                  </a:txBody>
                  <a:tcP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F4F6FB"/>
                    </a:solidFill>
                  </a:tcPr>
                </a:tc>
                <a:tc>
                  <a:txBody>
                    <a:bodyPr/>
                    <a:lstStyle/>
                    <a:p>
                      <a:pPr marL="0" indent="0" algn="l">
                        <a:buNone/>
                      </a:pPr>
                      <a:r>
                        <a:rPr lang="en-US" sz="1050">
                          <a:solidFill>
                            <a:srgbClr val="1A1A1A"/>
                          </a:solidFill>
                          <a:latin typeface="Aptos" panose="020B0004020202020204" pitchFamily="34" charset="0"/>
                          <a:ea typeface="Calibri" pitchFamily="34" charset="-122"/>
                          <a:cs typeface="Calibri" pitchFamily="34" charset="-120"/>
                        </a:rPr>
                        <a:t>+3,05 pp</a:t>
                      </a:r>
                      <a:endParaRPr lang="en-US" sz="1050">
                        <a:latin typeface="Aptos" panose="020B0004020202020204" pitchFamily="34" charset="0"/>
                        <a:ea typeface="Calibri" charset="0"/>
                        <a:cs typeface="Calibri" charset="0"/>
                      </a:endParaRPr>
                    </a:p>
                  </a:txBody>
                  <a:tcP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F4F6FB"/>
                    </a:solidFill>
                  </a:tcPr>
                </a:tc>
                <a:extLst>
                  <a:ext uri="{0D108BD9-81ED-4DB2-BD59-A6C34878D82A}">
                    <a16:rowId xmlns:a16="http://schemas.microsoft.com/office/drawing/2014/main" val="10002"/>
                  </a:ext>
                </a:extLst>
              </a:tr>
              <a:tr h="347472">
                <a:tc>
                  <a:txBody>
                    <a:bodyPr/>
                    <a:lstStyle/>
                    <a:p>
                      <a:pPr marL="0" indent="0" algn="l">
                        <a:buNone/>
                      </a:pPr>
                      <a:r>
                        <a:rPr lang="en-US" sz="1050">
                          <a:solidFill>
                            <a:srgbClr val="1A1A1A"/>
                          </a:solidFill>
                          <a:latin typeface="Aptos" panose="020B0004020202020204" pitchFamily="34" charset="0"/>
                          <a:ea typeface="Calibri" pitchFamily="34" charset="-122"/>
                          <a:cs typeface="Calibri" pitchFamily="34" charset="-120"/>
                        </a:rPr>
                        <a:t>BNP Paribas (FR) · QRRE</a:t>
                      </a:r>
                      <a:endParaRPr lang="en-US" sz="1050">
                        <a:latin typeface="Aptos" panose="020B0004020202020204" pitchFamily="34" charset="0"/>
                        <a:ea typeface="Calibri" charset="0"/>
                        <a:cs typeface="Calibri" charset="0"/>
                      </a:endParaRPr>
                    </a:p>
                  </a:txBody>
                  <a:tcP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FFFFFF"/>
                    </a:solidFill>
                  </a:tcPr>
                </a:tc>
                <a:tc>
                  <a:txBody>
                    <a:bodyPr/>
                    <a:lstStyle/>
                    <a:p>
                      <a:pPr marL="0" indent="0" algn="ctr">
                        <a:buNone/>
                      </a:pPr>
                      <a:r>
                        <a:rPr lang="en-US" sz="1050">
                          <a:solidFill>
                            <a:srgbClr val="1A1A1A"/>
                          </a:solidFill>
                          <a:latin typeface="Aptos" panose="020B0004020202020204" pitchFamily="34" charset="0"/>
                          <a:ea typeface="Calibri" pitchFamily="34" charset="-122"/>
                          <a:cs typeface="Calibri" pitchFamily="34" charset="-120"/>
                        </a:rPr>
                        <a:t>+0.40</a:t>
                      </a:r>
                      <a:endParaRPr lang="en-US" sz="1050">
                        <a:latin typeface="Aptos" panose="020B0004020202020204" pitchFamily="34" charset="0"/>
                        <a:ea typeface="Calibri" charset="0"/>
                        <a:cs typeface="Calibri" charset="0"/>
                      </a:endParaRPr>
                    </a:p>
                  </a:txBody>
                  <a:tcP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FFFFFF"/>
                    </a:solidFill>
                  </a:tcPr>
                </a:tc>
                <a:tc>
                  <a:txBody>
                    <a:bodyPr/>
                    <a:lstStyle/>
                    <a:p>
                      <a:pPr marL="0" indent="0" algn="ctr">
                        <a:buNone/>
                      </a:pPr>
                      <a:r>
                        <a:rPr lang="en-US" sz="1050">
                          <a:solidFill>
                            <a:srgbClr val="1A1A1A"/>
                          </a:solidFill>
                          <a:latin typeface="Aptos" panose="020B0004020202020204" pitchFamily="34" charset="0"/>
                          <a:ea typeface="Calibri" pitchFamily="34" charset="-122"/>
                          <a:cs typeface="Calibri" pitchFamily="34" charset="-120"/>
                        </a:rPr>
                        <a:t>+0.15</a:t>
                      </a:r>
                      <a:endParaRPr lang="en-US" sz="1050">
                        <a:latin typeface="Aptos" panose="020B0004020202020204" pitchFamily="34" charset="0"/>
                        <a:ea typeface="Calibri" charset="0"/>
                        <a:cs typeface="Calibri" charset="0"/>
                      </a:endParaRPr>
                    </a:p>
                  </a:txBody>
                  <a:tcP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FFFFFF"/>
                    </a:solidFill>
                  </a:tcPr>
                </a:tc>
                <a:tc>
                  <a:txBody>
                    <a:bodyPr/>
                    <a:lstStyle/>
                    <a:p>
                      <a:pPr marL="0" indent="0" algn="l">
                        <a:buNone/>
                      </a:pPr>
                      <a:r>
                        <a:rPr lang="en-US" sz="1050">
                          <a:solidFill>
                            <a:srgbClr val="1A1A1A"/>
                          </a:solidFill>
                          <a:latin typeface="Aptos" panose="020B0004020202020204" pitchFamily="34" charset="0"/>
                          <a:ea typeface="Calibri" pitchFamily="34" charset="-122"/>
                          <a:cs typeface="Calibri" pitchFamily="34" charset="-120"/>
                        </a:rPr>
                        <a:t>+0,40·0,50+0,15·2,00 = +0,50 pp</a:t>
                      </a:r>
                      <a:endParaRPr lang="en-US" sz="1050">
                        <a:latin typeface="Aptos" panose="020B0004020202020204" pitchFamily="34" charset="0"/>
                        <a:ea typeface="Calibri" charset="0"/>
                        <a:cs typeface="Calibri" charset="0"/>
                      </a:endParaRPr>
                    </a:p>
                  </a:txBody>
                  <a:tcP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FFFFFF"/>
                    </a:solidFill>
                  </a:tcPr>
                </a:tc>
                <a:tc>
                  <a:txBody>
                    <a:bodyPr/>
                    <a:lstStyle/>
                    <a:p>
                      <a:pPr marL="0" indent="0" algn="l">
                        <a:buNone/>
                      </a:pPr>
                      <a:r>
                        <a:rPr lang="en-US" sz="1050">
                          <a:solidFill>
                            <a:srgbClr val="1A1A1A"/>
                          </a:solidFill>
                          <a:latin typeface="Aptos" panose="020B0004020202020204" pitchFamily="34" charset="0"/>
                          <a:ea typeface="Calibri" pitchFamily="34" charset="-122"/>
                          <a:cs typeface="Calibri" pitchFamily="34" charset="-120"/>
                        </a:rPr>
                        <a:t>8,91 % → 9,41 %</a:t>
                      </a:r>
                      <a:endParaRPr lang="en-US" sz="1050">
                        <a:latin typeface="Aptos" panose="020B0004020202020204" pitchFamily="34" charset="0"/>
                        <a:ea typeface="Calibri" charset="0"/>
                        <a:cs typeface="Calibri" charset="0"/>
                      </a:endParaRPr>
                    </a:p>
                  </a:txBody>
                  <a:tcP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FFFFFF"/>
                    </a:solidFill>
                  </a:tcPr>
                </a:tc>
                <a:tc>
                  <a:txBody>
                    <a:bodyPr/>
                    <a:lstStyle/>
                    <a:p>
                      <a:pPr marL="0" indent="0" algn="l">
                        <a:buNone/>
                      </a:pPr>
                      <a:r>
                        <a:rPr lang="en-US" sz="1050">
                          <a:solidFill>
                            <a:srgbClr val="1A1A1A"/>
                          </a:solidFill>
                          <a:latin typeface="Aptos" panose="020B0004020202020204" pitchFamily="34" charset="0"/>
                          <a:ea typeface="Calibri" pitchFamily="34" charset="-122"/>
                          <a:cs typeface="Calibri" pitchFamily="34" charset="-120"/>
                        </a:rPr>
                        <a:t>+1,15 pp</a:t>
                      </a:r>
                      <a:endParaRPr lang="en-US" sz="1050">
                        <a:latin typeface="Aptos" panose="020B0004020202020204" pitchFamily="34" charset="0"/>
                        <a:ea typeface="Calibri" charset="0"/>
                        <a:cs typeface="Calibri" charset="0"/>
                      </a:endParaRPr>
                    </a:p>
                  </a:txBody>
                  <a:tcP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47472">
                <a:tc>
                  <a:txBody>
                    <a:bodyPr/>
                    <a:lstStyle/>
                    <a:p>
                      <a:pPr marL="0" indent="0" algn="l">
                        <a:buNone/>
                      </a:pPr>
                      <a:r>
                        <a:rPr lang="en-US" sz="1050">
                          <a:solidFill>
                            <a:srgbClr val="1A1A1A"/>
                          </a:solidFill>
                          <a:latin typeface="Aptos" panose="020B0004020202020204" pitchFamily="34" charset="0"/>
                          <a:ea typeface="Calibri" pitchFamily="34" charset="-122"/>
                          <a:cs typeface="Calibri" pitchFamily="34" charset="-120"/>
                        </a:rPr>
                        <a:t>Banco Santander (ES) · Bank</a:t>
                      </a:r>
                      <a:endParaRPr lang="en-US" sz="1050">
                        <a:latin typeface="Aptos" panose="020B0004020202020204" pitchFamily="34" charset="0"/>
                        <a:ea typeface="Calibri" charset="0"/>
                        <a:cs typeface="Calibri" charset="0"/>
                      </a:endParaRPr>
                    </a:p>
                  </a:txBody>
                  <a:tcP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F4F6FB"/>
                    </a:solidFill>
                  </a:tcPr>
                </a:tc>
                <a:tc>
                  <a:txBody>
                    <a:bodyPr/>
                    <a:lstStyle/>
                    <a:p>
                      <a:pPr marL="0" indent="0" algn="ctr">
                        <a:buNone/>
                      </a:pPr>
                      <a:r>
                        <a:rPr lang="en-US" sz="1050">
                          <a:solidFill>
                            <a:srgbClr val="1A1A1A"/>
                          </a:solidFill>
                          <a:latin typeface="Aptos" panose="020B0004020202020204" pitchFamily="34" charset="0"/>
                          <a:ea typeface="Calibri" pitchFamily="34" charset="-122"/>
                          <a:cs typeface="Calibri" pitchFamily="34" charset="-120"/>
                        </a:rPr>
                        <a:t>+0.05</a:t>
                      </a:r>
                      <a:endParaRPr lang="en-US" sz="1050">
                        <a:latin typeface="Aptos" panose="020B0004020202020204" pitchFamily="34" charset="0"/>
                        <a:ea typeface="Calibri" charset="0"/>
                        <a:cs typeface="Calibri" charset="0"/>
                      </a:endParaRPr>
                    </a:p>
                  </a:txBody>
                  <a:tcP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F4F6FB"/>
                    </a:solidFill>
                  </a:tcPr>
                </a:tc>
                <a:tc>
                  <a:txBody>
                    <a:bodyPr/>
                    <a:lstStyle/>
                    <a:p>
                      <a:pPr marL="0" indent="0" algn="ctr">
                        <a:buNone/>
                      </a:pPr>
                      <a:r>
                        <a:rPr lang="en-US" sz="1050">
                          <a:solidFill>
                            <a:srgbClr val="1A1A1A"/>
                          </a:solidFill>
                          <a:latin typeface="Aptos" panose="020B0004020202020204" pitchFamily="34" charset="0"/>
                          <a:ea typeface="Calibri" pitchFamily="34" charset="-122"/>
                          <a:cs typeface="Calibri" pitchFamily="34" charset="-120"/>
                        </a:rPr>
                        <a:t>−0.05</a:t>
                      </a:r>
                      <a:endParaRPr lang="en-US" sz="1050">
                        <a:latin typeface="Aptos" panose="020B0004020202020204" pitchFamily="34" charset="0"/>
                        <a:ea typeface="Calibri" charset="0"/>
                        <a:cs typeface="Calibri" charset="0"/>
                      </a:endParaRPr>
                    </a:p>
                  </a:txBody>
                  <a:tcP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F4F6FB"/>
                    </a:solidFill>
                  </a:tcPr>
                </a:tc>
                <a:tc>
                  <a:txBody>
                    <a:bodyPr/>
                    <a:lstStyle/>
                    <a:p>
                      <a:pPr marL="0" indent="0" algn="l">
                        <a:buNone/>
                      </a:pPr>
                      <a:r>
                        <a:rPr lang="en-US" sz="1050">
                          <a:solidFill>
                            <a:srgbClr val="1A1A1A"/>
                          </a:solidFill>
                          <a:latin typeface="Aptos" panose="020B0004020202020204" pitchFamily="34" charset="0"/>
                          <a:ea typeface="Calibri" pitchFamily="34" charset="-122"/>
                          <a:cs typeface="Calibri" pitchFamily="34" charset="-120"/>
                        </a:rPr>
                        <a:t>+0,05·0,50−0,05·2,00 = −0,075 pp</a:t>
                      </a:r>
                      <a:endParaRPr lang="en-US" sz="1050">
                        <a:latin typeface="Aptos" panose="020B0004020202020204" pitchFamily="34" charset="0"/>
                        <a:ea typeface="Calibri" charset="0"/>
                        <a:cs typeface="Calibri" charset="0"/>
                      </a:endParaRPr>
                    </a:p>
                  </a:txBody>
                  <a:tcP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F4F6FB"/>
                    </a:solidFill>
                  </a:tcPr>
                </a:tc>
                <a:tc>
                  <a:txBody>
                    <a:bodyPr/>
                    <a:lstStyle/>
                    <a:p>
                      <a:pPr marL="0" indent="0" algn="l">
                        <a:buNone/>
                      </a:pPr>
                      <a:r>
                        <a:rPr lang="en-US" sz="1050">
                          <a:solidFill>
                            <a:srgbClr val="1A1A1A"/>
                          </a:solidFill>
                          <a:latin typeface="Aptos" panose="020B0004020202020204" pitchFamily="34" charset="0"/>
                          <a:ea typeface="Calibri" pitchFamily="34" charset="-122"/>
                          <a:cs typeface="Calibri" pitchFamily="34" charset="-120"/>
                        </a:rPr>
                        <a:t>1,02 % → 0,95 %</a:t>
                      </a:r>
                      <a:endParaRPr lang="en-US" sz="1050">
                        <a:latin typeface="Aptos" panose="020B0004020202020204" pitchFamily="34" charset="0"/>
                        <a:ea typeface="Calibri" charset="0"/>
                        <a:cs typeface="Calibri" charset="0"/>
                      </a:endParaRPr>
                    </a:p>
                  </a:txBody>
                  <a:tcP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F4F6FB"/>
                    </a:solidFill>
                  </a:tcPr>
                </a:tc>
                <a:tc>
                  <a:txBody>
                    <a:bodyPr/>
                    <a:lstStyle/>
                    <a:p>
                      <a:pPr marL="0" indent="0" algn="l">
                        <a:buNone/>
                      </a:pPr>
                      <a:r>
                        <a:rPr lang="en-US" sz="1050">
                          <a:solidFill>
                            <a:srgbClr val="1A1A1A"/>
                          </a:solidFill>
                          <a:latin typeface="Aptos" panose="020B0004020202020204" pitchFamily="34" charset="0"/>
                          <a:ea typeface="Calibri" pitchFamily="34" charset="-122"/>
                          <a:cs typeface="Calibri" pitchFamily="34" charset="-120"/>
                        </a:rPr>
                        <a:t>+1,05 pp</a:t>
                      </a:r>
                      <a:endParaRPr lang="en-US" sz="1050">
                        <a:latin typeface="Aptos" panose="020B0004020202020204" pitchFamily="34" charset="0"/>
                        <a:ea typeface="Calibri" charset="0"/>
                        <a:cs typeface="Calibri" charset="0"/>
                      </a:endParaRPr>
                    </a:p>
                  </a:txBody>
                  <a:tcP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F4F6FB"/>
                    </a:solidFill>
                  </a:tcPr>
                </a:tc>
                <a:extLst>
                  <a:ext uri="{0D108BD9-81ED-4DB2-BD59-A6C34878D82A}">
                    <a16:rowId xmlns:a16="http://schemas.microsoft.com/office/drawing/2014/main" val="10004"/>
                  </a:ext>
                </a:extLst>
              </a:tr>
            </a:tbl>
          </a:graphicData>
        </a:graphic>
      </p:graphicFrame>
      <p:sp>
        <p:nvSpPr>
          <p:cNvPr id="6" name="Shape 3"/>
          <p:cNvSpPr/>
          <p:nvPr/>
        </p:nvSpPr>
        <p:spPr>
          <a:xfrm>
            <a:off x="548640" y="4023360"/>
            <a:ext cx="11064240" cy="2103120"/>
          </a:xfrm>
          <a:prstGeom prst="roundRect">
            <a:avLst>
              <a:gd name="adj" fmla="val 2609"/>
            </a:avLst>
          </a:prstGeom>
          <a:solidFill>
            <a:srgbClr val="F4F6FB"/>
          </a:solidFill>
          <a:ln/>
        </p:spPr>
        <p:txBody>
          <a:bodyPr/>
          <a:lstStyle/>
          <a:p>
            <a:endParaRPr lang="de-DE">
              <a:latin typeface="Aptos" panose="020B0004020202020204" pitchFamily="34" charset="0"/>
            </a:endParaRPr>
          </a:p>
        </p:txBody>
      </p:sp>
      <p:sp>
        <p:nvSpPr>
          <p:cNvPr id="5" name="Text 4"/>
          <p:cNvSpPr/>
          <p:nvPr/>
        </p:nvSpPr>
        <p:spPr>
          <a:xfrm>
            <a:off x="822960" y="4187952"/>
            <a:ext cx="10515600" cy="274320"/>
          </a:xfrm>
          <a:prstGeom prst="rect">
            <a:avLst/>
          </a:prstGeom>
          <a:noFill/>
          <a:ln/>
        </p:spPr>
        <p:txBody>
          <a:bodyPr wrap="square" lIns="0" tIns="0" rIns="0" bIns="0" rtlCol="0" anchor="ctr"/>
          <a:lstStyle/>
          <a:p>
            <a:pPr marL="0" indent="0">
              <a:buNone/>
            </a:pPr>
            <a:r>
              <a:rPr lang="en-US" sz="1100" b="1" kern="0" spc="100">
                <a:solidFill>
                  <a:srgbClr val="16243F"/>
                </a:solidFill>
                <a:latin typeface="Aptos" panose="020B0004020202020204" pitchFamily="34" charset="0"/>
                <a:ea typeface="Calibri" pitchFamily="34" charset="-122"/>
                <a:cs typeface="Calibri" pitchFamily="34" charset="-120"/>
              </a:rPr>
              <a:t>DREI LEHREN AUS DEM WORKED EXAMPLE</a:t>
            </a:r>
            <a:endParaRPr lang="en-US" sz="1100">
              <a:latin typeface="Aptos" panose="020B0004020202020204" pitchFamily="34" charset="0"/>
            </a:endParaRPr>
          </a:p>
        </p:txBody>
      </p:sp>
      <p:sp>
        <p:nvSpPr>
          <p:cNvPr id="8" name="Text 5"/>
          <p:cNvSpPr/>
          <p:nvPr/>
        </p:nvSpPr>
        <p:spPr>
          <a:xfrm>
            <a:off x="822960" y="4526280"/>
            <a:ext cx="10515600" cy="1691640"/>
          </a:xfrm>
          <a:prstGeom prst="rect">
            <a:avLst/>
          </a:prstGeom>
          <a:noFill/>
          <a:ln/>
        </p:spPr>
        <p:txBody>
          <a:bodyPr wrap="square" lIns="0" tIns="0" rIns="0" bIns="0" rtlCol="0" anchor="ctr"/>
          <a:lstStyle/>
          <a:p>
            <a:pPr marL="342900" indent="-342900">
              <a:lnSpc>
                <a:spcPct val="115000"/>
              </a:lnSpc>
              <a:spcAft>
                <a:spcPts val="600"/>
              </a:spcAft>
              <a:buSzPct val="100000"/>
              <a:buChar char="•"/>
            </a:pPr>
            <a:r>
              <a:rPr lang="en-US" sz="1150" b="1">
                <a:solidFill>
                  <a:srgbClr val="1A1A1A"/>
                </a:solidFill>
                <a:latin typeface="Aptos" panose="020B0004020202020204" pitchFamily="34" charset="0"/>
                <a:ea typeface="Calibri" pitchFamily="34" charset="-122"/>
                <a:cs typeface="Calibri" pitchFamily="34" charset="-120"/>
              </a:rPr>
              <a:t>UniCredit Corporate </a:t>
            </a:r>
            <a:r>
              <a:rPr lang="en-US" sz="1150" b="1" err="1">
                <a:solidFill>
                  <a:srgbClr val="1A1A1A"/>
                </a:solidFill>
                <a:latin typeface="Aptos" panose="020B0004020202020204" pitchFamily="34" charset="0"/>
                <a:ea typeface="Calibri" pitchFamily="34" charset="-122"/>
                <a:cs typeface="Calibri" pitchFamily="34" charset="-120"/>
              </a:rPr>
              <a:t>reagiert</a:t>
            </a:r>
            <a:r>
              <a:rPr lang="en-US" sz="1150" b="1">
                <a:solidFill>
                  <a:srgbClr val="1A1A1A"/>
                </a:solidFill>
                <a:latin typeface="Aptos" panose="020B0004020202020204" pitchFamily="34" charset="0"/>
                <a:ea typeface="Calibri" pitchFamily="34" charset="-122"/>
                <a:cs typeface="Calibri" pitchFamily="34" charset="-120"/>
              </a:rPr>
              <a:t> auf </a:t>
            </a:r>
            <a:r>
              <a:rPr lang="en-US" sz="1150" b="1" err="1">
                <a:solidFill>
                  <a:srgbClr val="1A1A1A"/>
                </a:solidFill>
                <a:latin typeface="Aptos" panose="020B0004020202020204" pitchFamily="34" charset="0"/>
                <a:ea typeface="Calibri" pitchFamily="34" charset="-122"/>
                <a:cs typeface="Calibri" pitchFamily="34" charset="-120"/>
              </a:rPr>
              <a:t>beide</a:t>
            </a:r>
            <a:r>
              <a:rPr lang="en-US" sz="1150" b="1">
                <a:solidFill>
                  <a:srgbClr val="1A1A1A"/>
                </a:solidFill>
                <a:latin typeface="Aptos" panose="020B0004020202020204" pitchFamily="34" charset="0"/>
                <a:ea typeface="Calibri" pitchFamily="34" charset="-122"/>
                <a:cs typeface="Calibri" pitchFamily="34" charset="-120"/>
              </a:rPr>
              <a:t> Faktoren </a:t>
            </a:r>
            <a:r>
              <a:rPr lang="en-US" sz="1150">
                <a:solidFill>
                  <a:srgbClr val="1A1A1A"/>
                </a:solidFill>
                <a:latin typeface="Aptos" panose="020B0004020202020204" pitchFamily="34" charset="0"/>
                <a:ea typeface="Calibri" pitchFamily="34" charset="-122"/>
                <a:cs typeface="Calibri" pitchFamily="34" charset="-120"/>
              </a:rPr>
              <a:t>(β_oil und β_rate </a:t>
            </a:r>
            <a:r>
              <a:rPr lang="en-US" sz="1150" err="1">
                <a:solidFill>
                  <a:srgbClr val="1A1A1A"/>
                </a:solidFill>
                <a:latin typeface="Aptos" panose="020B0004020202020204" pitchFamily="34" charset="0"/>
                <a:ea typeface="Calibri" pitchFamily="34" charset="-122"/>
                <a:cs typeface="Calibri" pitchFamily="34" charset="-120"/>
              </a:rPr>
              <a:t>beide</a:t>
            </a:r>
            <a:r>
              <a:rPr lang="en-US" sz="1150">
                <a:solidFill>
                  <a:srgbClr val="1A1A1A"/>
                </a:solidFill>
                <a:latin typeface="Aptos" panose="020B0004020202020204" pitchFamily="34" charset="0"/>
                <a:ea typeface="Calibri" pitchFamily="34" charset="-122"/>
                <a:cs typeface="Calibri" pitchFamily="34" charset="-120"/>
              </a:rPr>
              <a:t> </a:t>
            </a:r>
            <a:r>
              <a:rPr lang="en-US" sz="1150" err="1">
                <a:solidFill>
                  <a:srgbClr val="1A1A1A"/>
                </a:solidFill>
                <a:latin typeface="Aptos" panose="020B0004020202020204" pitchFamily="34" charset="0"/>
                <a:ea typeface="Calibri" pitchFamily="34" charset="-122"/>
                <a:cs typeface="Calibri" pitchFamily="34" charset="-120"/>
              </a:rPr>
              <a:t>positiv</a:t>
            </a:r>
            <a:r>
              <a:rPr lang="en-US" sz="1150">
                <a:solidFill>
                  <a:srgbClr val="1A1A1A"/>
                </a:solidFill>
                <a:latin typeface="Aptos" panose="020B0004020202020204" pitchFamily="34" charset="0"/>
                <a:ea typeface="Calibri" pitchFamily="34" charset="-122"/>
                <a:cs typeface="Calibri" pitchFamily="34" charset="-120"/>
              </a:rPr>
              <a:t>) - </a:t>
            </a:r>
            <a:r>
              <a:rPr lang="en-US" sz="1150" err="1">
                <a:solidFill>
                  <a:srgbClr val="1A1A1A"/>
                </a:solidFill>
                <a:latin typeface="Aptos" panose="020B0004020202020204" pitchFamily="34" charset="0"/>
                <a:ea typeface="Calibri" pitchFamily="34" charset="-122"/>
                <a:cs typeface="Calibri" pitchFamily="34" charset="-120"/>
              </a:rPr>
              <a:t>Italien</a:t>
            </a:r>
            <a:r>
              <a:rPr lang="en-US" sz="1150">
                <a:solidFill>
                  <a:srgbClr val="1A1A1A"/>
                </a:solidFill>
                <a:latin typeface="Aptos" panose="020B0004020202020204" pitchFamily="34" charset="0"/>
                <a:ea typeface="Calibri" pitchFamily="34" charset="-122"/>
                <a:cs typeface="Calibri" pitchFamily="34" charset="-120"/>
              </a:rPr>
              <a:t>-Corporate-PD </a:t>
            </a:r>
            <a:r>
              <a:rPr lang="en-US" sz="1150" err="1">
                <a:solidFill>
                  <a:srgbClr val="1A1A1A"/>
                </a:solidFill>
                <a:latin typeface="Aptos" panose="020B0004020202020204" pitchFamily="34" charset="0"/>
                <a:ea typeface="Calibri" pitchFamily="34" charset="-122"/>
                <a:cs typeface="Calibri" pitchFamily="34" charset="-120"/>
              </a:rPr>
              <a:t>steigt</a:t>
            </a:r>
            <a:r>
              <a:rPr lang="en-US" sz="1150">
                <a:solidFill>
                  <a:srgbClr val="1A1A1A"/>
                </a:solidFill>
                <a:latin typeface="Aptos" panose="020B0004020202020204" pitchFamily="34" charset="0"/>
                <a:ea typeface="Calibri" pitchFamily="34" charset="-122"/>
                <a:cs typeface="Calibri" pitchFamily="34" charset="-120"/>
              </a:rPr>
              <a:t> um 0,55 pp.</a:t>
            </a:r>
            <a:endParaRPr lang="en-US" sz="1150">
              <a:latin typeface="Aptos" panose="020B0004020202020204" pitchFamily="34" charset="0"/>
            </a:endParaRPr>
          </a:p>
          <a:p>
            <a:pPr marL="342900" indent="-342900">
              <a:lnSpc>
                <a:spcPct val="115000"/>
              </a:lnSpc>
              <a:spcAft>
                <a:spcPts val="600"/>
              </a:spcAft>
              <a:buSzPct val="100000"/>
              <a:buChar char="•"/>
            </a:pPr>
            <a:r>
              <a:rPr lang="en-US" sz="1150" b="1">
                <a:solidFill>
                  <a:srgbClr val="1A1A1A"/>
                </a:solidFill>
                <a:latin typeface="Aptos" panose="020B0004020202020204" pitchFamily="34" charset="0"/>
                <a:ea typeface="Calibri" pitchFamily="34" charset="-122"/>
                <a:cs typeface="Calibri" pitchFamily="34" charset="-120"/>
              </a:rPr>
              <a:t>Deutsche Bank Mortgage </a:t>
            </a:r>
            <a:r>
              <a:rPr lang="en-US" sz="1150" b="1" err="1">
                <a:solidFill>
                  <a:srgbClr val="1A1A1A"/>
                </a:solidFill>
                <a:latin typeface="Aptos" panose="020B0004020202020204" pitchFamily="34" charset="0"/>
                <a:ea typeface="Calibri" pitchFamily="34" charset="-122"/>
                <a:cs typeface="Calibri" pitchFamily="34" charset="-120"/>
              </a:rPr>
              <a:t>wird</a:t>
            </a:r>
            <a:r>
              <a:rPr lang="en-US" sz="1150" b="1">
                <a:solidFill>
                  <a:srgbClr val="1A1A1A"/>
                </a:solidFill>
                <a:latin typeface="Aptos" panose="020B0004020202020204" pitchFamily="34" charset="0"/>
                <a:ea typeface="Calibri" pitchFamily="34" charset="-122"/>
                <a:cs typeface="Calibri" pitchFamily="34" charset="-120"/>
              </a:rPr>
              <a:t> </a:t>
            </a:r>
            <a:r>
              <a:rPr lang="en-US" sz="1150" b="1" err="1">
                <a:solidFill>
                  <a:srgbClr val="1A1A1A"/>
                </a:solidFill>
                <a:latin typeface="Aptos" panose="020B0004020202020204" pitchFamily="34" charset="0"/>
                <a:ea typeface="Calibri" pitchFamily="34" charset="-122"/>
                <a:cs typeface="Calibri" pitchFamily="34" charset="-120"/>
              </a:rPr>
              <a:t>primär</a:t>
            </a:r>
            <a:r>
              <a:rPr lang="en-US" sz="1150" b="1">
                <a:solidFill>
                  <a:srgbClr val="1A1A1A"/>
                </a:solidFill>
                <a:latin typeface="Aptos" panose="020B0004020202020204" pitchFamily="34" charset="0"/>
                <a:ea typeface="Calibri" pitchFamily="34" charset="-122"/>
                <a:cs typeface="Calibri" pitchFamily="34" charset="-120"/>
              </a:rPr>
              <a:t> </a:t>
            </a:r>
            <a:r>
              <a:rPr lang="en-US" sz="1150" b="1" err="1">
                <a:solidFill>
                  <a:srgbClr val="1A1A1A"/>
                </a:solidFill>
                <a:latin typeface="Aptos" panose="020B0004020202020204" pitchFamily="34" charset="0"/>
                <a:ea typeface="Calibri" pitchFamily="34" charset="-122"/>
                <a:cs typeface="Calibri" pitchFamily="34" charset="-120"/>
              </a:rPr>
              <a:t>vom</a:t>
            </a:r>
            <a:r>
              <a:rPr lang="en-US" sz="1150" b="1">
                <a:solidFill>
                  <a:srgbClr val="1A1A1A"/>
                </a:solidFill>
                <a:latin typeface="Aptos" panose="020B0004020202020204" pitchFamily="34" charset="0"/>
                <a:ea typeface="Calibri" pitchFamily="34" charset="-122"/>
                <a:cs typeface="Calibri" pitchFamily="34" charset="-120"/>
              </a:rPr>
              <a:t> </a:t>
            </a:r>
            <a:r>
              <a:rPr lang="en-US" sz="1150" b="1" err="1">
                <a:solidFill>
                  <a:srgbClr val="1A1A1A"/>
                </a:solidFill>
                <a:latin typeface="Aptos" panose="020B0004020202020204" pitchFamily="34" charset="0"/>
                <a:ea typeface="Calibri" pitchFamily="34" charset="-122"/>
                <a:cs typeface="Calibri" pitchFamily="34" charset="-120"/>
              </a:rPr>
              <a:t>Zinsschock</a:t>
            </a:r>
            <a:r>
              <a:rPr lang="en-US" sz="1150" b="1">
                <a:solidFill>
                  <a:srgbClr val="1A1A1A"/>
                </a:solidFill>
                <a:latin typeface="Aptos" panose="020B0004020202020204" pitchFamily="34" charset="0"/>
                <a:ea typeface="Calibri" pitchFamily="34" charset="-122"/>
                <a:cs typeface="Calibri" pitchFamily="34" charset="-120"/>
              </a:rPr>
              <a:t> </a:t>
            </a:r>
            <a:r>
              <a:rPr lang="en-US" sz="1150" b="1" err="1">
                <a:solidFill>
                  <a:srgbClr val="1A1A1A"/>
                </a:solidFill>
                <a:latin typeface="Aptos" panose="020B0004020202020204" pitchFamily="34" charset="0"/>
                <a:ea typeface="Calibri" pitchFamily="34" charset="-122"/>
                <a:cs typeface="Calibri" pitchFamily="34" charset="-120"/>
              </a:rPr>
              <a:t>getrieben</a:t>
            </a:r>
            <a:r>
              <a:rPr lang="en-US" sz="1150" b="1">
                <a:solidFill>
                  <a:srgbClr val="1A1A1A"/>
                </a:solidFill>
                <a:latin typeface="Aptos" panose="020B0004020202020204" pitchFamily="34" charset="0"/>
                <a:ea typeface="Calibri" pitchFamily="34" charset="-122"/>
                <a:cs typeface="Calibri" pitchFamily="34" charset="-120"/>
              </a:rPr>
              <a:t> </a:t>
            </a:r>
            <a:r>
              <a:rPr lang="en-US" sz="1150">
                <a:solidFill>
                  <a:srgbClr val="1A1A1A"/>
                </a:solidFill>
                <a:latin typeface="Aptos" panose="020B0004020202020204" pitchFamily="34" charset="0"/>
                <a:ea typeface="Calibri" pitchFamily="34" charset="-122"/>
                <a:cs typeface="Calibri" pitchFamily="34" charset="-120"/>
              </a:rPr>
              <a:t>(β_rate ≫ β_oil) - </a:t>
            </a:r>
            <a:r>
              <a:rPr lang="en-US" sz="1150" err="1">
                <a:solidFill>
                  <a:srgbClr val="1A1A1A"/>
                </a:solidFill>
                <a:latin typeface="Aptos" panose="020B0004020202020204" pitchFamily="34" charset="0"/>
                <a:ea typeface="Calibri" pitchFamily="34" charset="-122"/>
                <a:cs typeface="Calibri" pitchFamily="34" charset="-120"/>
              </a:rPr>
              <a:t>typische</a:t>
            </a:r>
            <a:r>
              <a:rPr lang="en-US" sz="1150">
                <a:solidFill>
                  <a:srgbClr val="1A1A1A"/>
                </a:solidFill>
                <a:latin typeface="Aptos" panose="020B0004020202020204" pitchFamily="34" charset="0"/>
                <a:ea typeface="Calibri" pitchFamily="34" charset="-122"/>
                <a:cs typeface="Calibri" pitchFamily="34" charset="-120"/>
              </a:rPr>
              <a:t> Floating-Rate-</a:t>
            </a:r>
            <a:r>
              <a:rPr lang="en-US" sz="1150" err="1">
                <a:solidFill>
                  <a:srgbClr val="1A1A1A"/>
                </a:solidFill>
                <a:latin typeface="Aptos" panose="020B0004020202020204" pitchFamily="34" charset="0"/>
                <a:ea typeface="Calibri" pitchFamily="34" charset="-122"/>
                <a:cs typeface="Calibri" pitchFamily="34" charset="-120"/>
              </a:rPr>
              <a:t>Hypotheken</a:t>
            </a:r>
            <a:r>
              <a:rPr lang="en-US" sz="1150">
                <a:solidFill>
                  <a:srgbClr val="1A1A1A"/>
                </a:solidFill>
                <a:latin typeface="Aptos" panose="020B0004020202020204" pitchFamily="34" charset="0"/>
                <a:ea typeface="Calibri" pitchFamily="34" charset="-122"/>
                <a:cs typeface="Calibri" pitchFamily="34" charset="-120"/>
              </a:rPr>
              <a:t>-Dynamik.</a:t>
            </a:r>
            <a:endParaRPr lang="en-US" sz="1150">
              <a:latin typeface="Aptos" panose="020B0004020202020204" pitchFamily="34" charset="0"/>
            </a:endParaRPr>
          </a:p>
          <a:p>
            <a:pPr marL="342900" indent="-342900">
              <a:lnSpc>
                <a:spcPct val="115000"/>
              </a:lnSpc>
              <a:spcAft>
                <a:spcPts val="600"/>
              </a:spcAft>
              <a:buSzPct val="100000"/>
              <a:buChar char="•"/>
            </a:pPr>
            <a:r>
              <a:rPr lang="en-US" sz="1150" b="1">
                <a:solidFill>
                  <a:srgbClr val="1A1A1A"/>
                </a:solidFill>
                <a:latin typeface="Aptos" panose="020B0004020202020204" pitchFamily="34" charset="0"/>
                <a:ea typeface="Calibri" pitchFamily="34" charset="-122"/>
                <a:cs typeface="Calibri" pitchFamily="34" charset="-120"/>
              </a:rPr>
              <a:t>BNP Paribas QRRE </a:t>
            </a:r>
            <a:r>
              <a:rPr lang="en-US" sz="1150" b="1" err="1">
                <a:solidFill>
                  <a:srgbClr val="1A1A1A"/>
                </a:solidFill>
                <a:latin typeface="Aptos" panose="020B0004020202020204" pitchFamily="34" charset="0"/>
                <a:ea typeface="Calibri" pitchFamily="34" charset="-122"/>
                <a:cs typeface="Calibri" pitchFamily="34" charset="-120"/>
              </a:rPr>
              <a:t>reagiert</a:t>
            </a:r>
            <a:r>
              <a:rPr lang="en-US" sz="1150" b="1">
                <a:solidFill>
                  <a:srgbClr val="1A1A1A"/>
                </a:solidFill>
                <a:latin typeface="Aptos" panose="020B0004020202020204" pitchFamily="34" charset="0"/>
                <a:ea typeface="Calibri" pitchFamily="34" charset="-122"/>
                <a:cs typeface="Calibri" pitchFamily="34" charset="-120"/>
              </a:rPr>
              <a:t> </a:t>
            </a:r>
            <a:r>
              <a:rPr lang="en-US" sz="1150" b="1" err="1">
                <a:solidFill>
                  <a:srgbClr val="1A1A1A"/>
                </a:solidFill>
                <a:latin typeface="Aptos" panose="020B0004020202020204" pitchFamily="34" charset="0"/>
                <a:ea typeface="Calibri" pitchFamily="34" charset="-122"/>
                <a:cs typeface="Calibri" pitchFamily="34" charset="-120"/>
              </a:rPr>
              <a:t>primär</a:t>
            </a:r>
            <a:r>
              <a:rPr lang="en-US" sz="1150" b="1">
                <a:solidFill>
                  <a:srgbClr val="1A1A1A"/>
                </a:solidFill>
                <a:latin typeface="Aptos" panose="020B0004020202020204" pitchFamily="34" charset="0"/>
                <a:ea typeface="Calibri" pitchFamily="34" charset="-122"/>
                <a:cs typeface="Calibri" pitchFamily="34" charset="-120"/>
              </a:rPr>
              <a:t> auf Brent </a:t>
            </a:r>
            <a:r>
              <a:rPr lang="en-US" sz="1150">
                <a:solidFill>
                  <a:srgbClr val="1A1A1A"/>
                </a:solidFill>
                <a:latin typeface="Aptos" panose="020B0004020202020204" pitchFamily="34" charset="0"/>
                <a:ea typeface="Calibri" pitchFamily="34" charset="-122"/>
                <a:cs typeface="Calibri" pitchFamily="34" charset="-120"/>
              </a:rPr>
              <a:t>(β_oil = +0,40) - </a:t>
            </a:r>
            <a:r>
              <a:rPr lang="en-US" sz="1150" err="1">
                <a:solidFill>
                  <a:srgbClr val="1A1A1A"/>
                </a:solidFill>
                <a:latin typeface="Aptos" panose="020B0004020202020204" pitchFamily="34" charset="0"/>
                <a:ea typeface="Calibri" pitchFamily="34" charset="-122"/>
                <a:cs typeface="Calibri" pitchFamily="34" charset="-120"/>
              </a:rPr>
              <a:t>Konsumkredite</a:t>
            </a:r>
            <a:r>
              <a:rPr lang="en-US" sz="1150">
                <a:solidFill>
                  <a:srgbClr val="1A1A1A"/>
                </a:solidFill>
                <a:latin typeface="Aptos" panose="020B0004020202020204" pitchFamily="34" charset="0"/>
                <a:ea typeface="Calibri" pitchFamily="34" charset="-122"/>
                <a:cs typeface="Calibri" pitchFamily="34" charset="-120"/>
              </a:rPr>
              <a:t> vs. Energie-Inflation.</a:t>
            </a:r>
            <a:endParaRPr lang="en-US" sz="1150">
              <a:latin typeface="Aptos" panose="020B0004020202020204" pitchFamily="34" charset="0"/>
            </a:endParaRPr>
          </a:p>
          <a:p>
            <a:pPr marL="342900" indent="-342900">
              <a:lnSpc>
                <a:spcPct val="115000"/>
              </a:lnSpc>
              <a:spcAft>
                <a:spcPts val="600"/>
              </a:spcAft>
              <a:buSzPct val="100000"/>
              <a:buChar char="•"/>
            </a:pPr>
            <a:r>
              <a:rPr lang="en-US" sz="1150" b="1">
                <a:solidFill>
                  <a:srgbClr val="1A1A1A"/>
                </a:solidFill>
                <a:latin typeface="Aptos" panose="020B0004020202020204" pitchFamily="34" charset="0"/>
                <a:ea typeface="Calibri" pitchFamily="34" charset="-122"/>
                <a:cs typeface="Calibri" pitchFamily="34" charset="-120"/>
              </a:rPr>
              <a:t>Banco Santander Bank-Klasse </a:t>
            </a:r>
            <a:r>
              <a:rPr lang="en-US" sz="1150" b="1" err="1">
                <a:solidFill>
                  <a:srgbClr val="1A1A1A"/>
                </a:solidFill>
                <a:latin typeface="Aptos" panose="020B0004020202020204" pitchFamily="34" charset="0"/>
                <a:ea typeface="Calibri" pitchFamily="34" charset="-122"/>
                <a:cs typeface="Calibri" pitchFamily="34" charset="-120"/>
              </a:rPr>
              <a:t>erlebt</a:t>
            </a:r>
            <a:r>
              <a:rPr lang="en-US" sz="1150" b="1">
                <a:solidFill>
                  <a:srgbClr val="1A1A1A"/>
                </a:solidFill>
                <a:latin typeface="Aptos" panose="020B0004020202020204" pitchFamily="34" charset="0"/>
                <a:ea typeface="Calibri" pitchFamily="34" charset="-122"/>
                <a:cs typeface="Calibri" pitchFamily="34" charset="-120"/>
              </a:rPr>
              <a:t> </a:t>
            </a:r>
            <a:r>
              <a:rPr lang="en-US" sz="1150" b="1" err="1">
                <a:solidFill>
                  <a:srgbClr val="1A1A1A"/>
                </a:solidFill>
                <a:latin typeface="Aptos" panose="020B0004020202020204" pitchFamily="34" charset="0"/>
                <a:ea typeface="Calibri" pitchFamily="34" charset="-122"/>
                <a:cs typeface="Calibri" pitchFamily="34" charset="-120"/>
              </a:rPr>
              <a:t>eine</a:t>
            </a:r>
            <a:r>
              <a:rPr lang="en-US" sz="1150" b="1">
                <a:solidFill>
                  <a:srgbClr val="1A1A1A"/>
                </a:solidFill>
                <a:latin typeface="Aptos" panose="020B0004020202020204" pitchFamily="34" charset="0"/>
                <a:ea typeface="Calibri" pitchFamily="34" charset="-122"/>
                <a:cs typeface="Calibri" pitchFamily="34" charset="-120"/>
              </a:rPr>
              <a:t> </a:t>
            </a:r>
            <a:r>
              <a:rPr lang="en-US" sz="1150" b="1" err="1">
                <a:solidFill>
                  <a:srgbClr val="1A1A1A"/>
                </a:solidFill>
                <a:latin typeface="Aptos" panose="020B0004020202020204" pitchFamily="34" charset="0"/>
                <a:ea typeface="Calibri" pitchFamily="34" charset="-122"/>
                <a:cs typeface="Calibri" pitchFamily="34" charset="-120"/>
              </a:rPr>
              <a:t>Reduktion</a:t>
            </a:r>
            <a:r>
              <a:rPr lang="en-US" sz="1150" b="1">
                <a:solidFill>
                  <a:srgbClr val="1A1A1A"/>
                </a:solidFill>
                <a:latin typeface="Aptos" panose="020B0004020202020204" pitchFamily="34" charset="0"/>
                <a:ea typeface="Calibri" pitchFamily="34" charset="-122"/>
                <a:cs typeface="Calibri" pitchFamily="34" charset="-120"/>
              </a:rPr>
              <a:t> der PD um 0,075 pp </a:t>
            </a:r>
            <a:r>
              <a:rPr lang="en-US" sz="1150">
                <a:solidFill>
                  <a:srgbClr val="1A1A1A"/>
                </a:solidFill>
                <a:latin typeface="Aptos" panose="020B0004020202020204" pitchFamily="34" charset="0"/>
                <a:ea typeface="Calibri" pitchFamily="34" charset="-122"/>
                <a:cs typeface="Calibri" pitchFamily="34" charset="-120"/>
              </a:rPr>
              <a:t>- NIM-Uplift </a:t>
            </a:r>
            <a:r>
              <a:rPr lang="en-US" sz="1150" err="1">
                <a:solidFill>
                  <a:srgbClr val="1A1A1A"/>
                </a:solidFill>
                <a:latin typeface="Aptos" panose="020B0004020202020204" pitchFamily="34" charset="0"/>
                <a:ea typeface="Calibri" pitchFamily="34" charset="-122"/>
                <a:cs typeface="Calibri" pitchFamily="34" charset="-120"/>
              </a:rPr>
              <a:t>kompensiert</a:t>
            </a:r>
            <a:r>
              <a:rPr lang="en-US" sz="1150">
                <a:solidFill>
                  <a:srgbClr val="1A1A1A"/>
                </a:solidFill>
                <a:latin typeface="Aptos" panose="020B0004020202020204" pitchFamily="34" charset="0"/>
                <a:ea typeface="Calibri" pitchFamily="34" charset="-122"/>
                <a:cs typeface="Calibri" pitchFamily="34" charset="-120"/>
              </a:rPr>
              <a:t> Credit-Risk-Up. </a:t>
            </a:r>
            <a:r>
              <a:rPr lang="en-US" sz="1150" err="1">
                <a:solidFill>
                  <a:srgbClr val="1A1A1A"/>
                </a:solidFill>
                <a:latin typeface="Aptos" panose="020B0004020202020204" pitchFamily="34" charset="0"/>
                <a:ea typeface="Calibri" pitchFamily="34" charset="-122"/>
                <a:cs typeface="Calibri" pitchFamily="34" charset="-120"/>
              </a:rPr>
              <a:t>Adressiert</a:t>
            </a:r>
            <a:r>
              <a:rPr lang="en-US" sz="1150">
                <a:solidFill>
                  <a:srgbClr val="1A1A1A"/>
                </a:solidFill>
                <a:latin typeface="Aptos" panose="020B0004020202020204" pitchFamily="34" charset="0"/>
                <a:ea typeface="Calibri" pitchFamily="34" charset="-122"/>
                <a:cs typeface="Calibri" pitchFamily="34" charset="-120"/>
              </a:rPr>
              <a:t> </a:t>
            </a:r>
            <a:r>
              <a:rPr lang="en-US" sz="1150" err="1">
                <a:solidFill>
                  <a:srgbClr val="1A1A1A"/>
                </a:solidFill>
                <a:latin typeface="Aptos" panose="020B0004020202020204" pitchFamily="34" charset="0"/>
                <a:ea typeface="Calibri" pitchFamily="34" charset="-122"/>
                <a:cs typeface="Calibri" pitchFamily="34" charset="-120"/>
              </a:rPr>
              <a:t>direkt</a:t>
            </a:r>
            <a:r>
              <a:rPr lang="en-US" sz="1150">
                <a:solidFill>
                  <a:srgbClr val="1A1A1A"/>
                </a:solidFill>
                <a:latin typeface="Aptos" panose="020B0004020202020204" pitchFamily="34" charset="0"/>
                <a:ea typeface="Calibri" pitchFamily="34" charset="-122"/>
                <a:cs typeface="Calibri" pitchFamily="34" charset="-120"/>
              </a:rPr>
              <a:t>: „</a:t>
            </a:r>
            <a:r>
              <a:rPr lang="en-US" sz="1150" err="1">
                <a:solidFill>
                  <a:srgbClr val="1A1A1A"/>
                </a:solidFill>
                <a:latin typeface="Aptos" panose="020B0004020202020204" pitchFamily="34" charset="0"/>
                <a:ea typeface="Calibri" pitchFamily="34" charset="-122"/>
                <a:cs typeface="Calibri" pitchFamily="34" charset="-120"/>
              </a:rPr>
              <a:t>steigende</a:t>
            </a:r>
            <a:r>
              <a:rPr lang="en-US" sz="1150">
                <a:solidFill>
                  <a:srgbClr val="1A1A1A"/>
                </a:solidFill>
                <a:latin typeface="Aptos" panose="020B0004020202020204" pitchFamily="34" charset="0"/>
                <a:ea typeface="Calibri" pitchFamily="34" charset="-122"/>
                <a:cs typeface="Calibri" pitchFamily="34" charset="-120"/>
              </a:rPr>
              <a:t> </a:t>
            </a:r>
            <a:r>
              <a:rPr lang="en-US" sz="1150" err="1">
                <a:solidFill>
                  <a:srgbClr val="1A1A1A"/>
                </a:solidFill>
                <a:latin typeface="Aptos" panose="020B0004020202020204" pitchFamily="34" charset="0"/>
                <a:ea typeface="Calibri" pitchFamily="34" charset="-122"/>
                <a:cs typeface="Calibri" pitchFamily="34" charset="-120"/>
              </a:rPr>
              <a:t>Zinsen</a:t>
            </a:r>
            <a:r>
              <a:rPr lang="en-US" sz="1150">
                <a:solidFill>
                  <a:srgbClr val="1A1A1A"/>
                </a:solidFill>
                <a:latin typeface="Aptos" panose="020B0004020202020204" pitchFamily="34" charset="0"/>
                <a:ea typeface="Calibri" pitchFamily="34" charset="-122"/>
                <a:cs typeface="Calibri" pitchFamily="34" charset="-120"/>
              </a:rPr>
              <a:t> ≠ </a:t>
            </a:r>
            <a:r>
              <a:rPr lang="en-US" sz="1150" err="1">
                <a:solidFill>
                  <a:srgbClr val="1A1A1A"/>
                </a:solidFill>
                <a:latin typeface="Aptos" panose="020B0004020202020204" pitchFamily="34" charset="0"/>
                <a:ea typeface="Calibri" pitchFamily="34" charset="-122"/>
                <a:cs typeface="Calibri" pitchFamily="34" charset="-120"/>
              </a:rPr>
              <a:t>allgemein</a:t>
            </a:r>
            <a:r>
              <a:rPr lang="en-US" sz="1150">
                <a:solidFill>
                  <a:srgbClr val="1A1A1A"/>
                </a:solidFill>
                <a:latin typeface="Aptos" panose="020B0004020202020204" pitchFamily="34" charset="0"/>
                <a:ea typeface="Calibri" pitchFamily="34" charset="-122"/>
                <a:cs typeface="Calibri" pitchFamily="34" charset="-120"/>
              </a:rPr>
              <a:t> </a:t>
            </a:r>
            <a:r>
              <a:rPr lang="en-US" sz="1150" err="1">
                <a:solidFill>
                  <a:srgbClr val="1A1A1A"/>
                </a:solidFill>
                <a:latin typeface="Aptos" panose="020B0004020202020204" pitchFamily="34" charset="0"/>
                <a:ea typeface="Calibri" pitchFamily="34" charset="-122"/>
                <a:cs typeface="Calibri" pitchFamily="34" charset="-120"/>
              </a:rPr>
              <a:t>schlecht</a:t>
            </a:r>
            <a:r>
              <a:rPr lang="en-US" sz="1150">
                <a:solidFill>
                  <a:srgbClr val="1A1A1A"/>
                </a:solidFill>
                <a:latin typeface="Aptos" panose="020B0004020202020204" pitchFamily="34" charset="0"/>
                <a:ea typeface="Calibri" pitchFamily="34" charset="-122"/>
                <a:cs typeface="Calibri" pitchFamily="34" charset="-120"/>
              </a:rPr>
              <a:t>“.</a:t>
            </a:r>
            <a:endParaRPr lang="en-US" sz="1150">
              <a:latin typeface="Aptos" panose="020B0004020202020204" pitchFamily="34" charset="0"/>
            </a:endParaRPr>
          </a:p>
        </p:txBody>
      </p:sp>
      <p:sp>
        <p:nvSpPr>
          <p:cNvPr id="9" name="Text 6"/>
          <p:cNvSpPr/>
          <p:nvPr/>
        </p:nvSpPr>
        <p:spPr>
          <a:xfrm>
            <a:off x="457200" y="6519672"/>
            <a:ext cx="7315200" cy="274320"/>
          </a:xfrm>
          <a:prstGeom prst="rect">
            <a:avLst/>
          </a:prstGeom>
          <a:noFill/>
          <a:ln/>
        </p:spPr>
        <p:txBody>
          <a:bodyPr wrap="square" lIns="0" tIns="0" rIns="0" bIns="0" rtlCol="0" anchor="ctr"/>
          <a:lstStyle/>
          <a:p>
            <a:pPr marL="0" indent="0" algn="l">
              <a:buNone/>
            </a:pPr>
            <a:r>
              <a:rPr lang="en-US" sz="900">
                <a:solidFill>
                  <a:srgbClr val="5B6478"/>
                </a:solidFill>
                <a:latin typeface="Calibri" pitchFamily="34" charset="0"/>
                <a:ea typeface="Calibri" pitchFamily="34" charset="-122"/>
                <a:cs typeface="Calibri" pitchFamily="34" charset="-120"/>
              </a:rPr>
              <a:t>Kreditbuch · Loan Book Channel</a:t>
            </a:r>
            <a:endParaRPr lang="en-US" sz="900"/>
          </a:p>
        </p:txBody>
      </p:sp>
      <p:sp>
        <p:nvSpPr>
          <p:cNvPr id="10" name="CodexSlideNumber">
            <a:extLst>
              <a:ext uri="{FF2B5EF4-FFF2-40B4-BE49-F238E27FC236}">
                <a16:creationId xmlns:a16="http://schemas.microsoft.com/office/drawing/2014/main" id="{0EC10E90-8F75-99C8-78AB-35670729B8E2}"/>
              </a:ext>
            </a:extLst>
          </p:cNvPr>
          <p:cNvSpPr txBox="1"/>
          <p:nvPr/>
        </p:nvSpPr>
        <p:spPr>
          <a:xfrm>
            <a:off x="11226800" y="6553200"/>
            <a:ext cx="736600" cy="123111"/>
          </a:xfrm>
          <a:prstGeom prst="rect">
            <a:avLst/>
          </a:prstGeom>
          <a:noFill/>
        </p:spPr>
        <p:txBody>
          <a:bodyPr vert="horz" lIns="0" tIns="0" rIns="0" bIns="0" rtlCol="0">
            <a:spAutoFit/>
          </a:bodyPr>
          <a:lstStyle/>
          <a:p>
            <a:pPr algn="r"/>
            <a:r>
              <a:rPr lang="en-US" sz="800">
                <a:solidFill>
                  <a:srgbClr val="525252"/>
                </a:solidFill>
                <a:latin typeface="Arial" panose="020B0604020202020204" pitchFamily="34" charset="0"/>
              </a:rPr>
              <a:t>23 / 64</a:t>
            </a:r>
          </a:p>
        </p:txBody>
      </p:sp>
    </p:spTree>
    <p:extLst>
      <p:ext uri="{BB962C8B-B14F-4D97-AF65-F5344CB8AC3E}">
        <p14:creationId xmlns:p14="http://schemas.microsoft.com/office/powerpoint/2010/main" val="199343253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0058400" cy="320040"/>
          </a:xfrm>
          <a:prstGeom prst="rect">
            <a:avLst/>
          </a:prstGeom>
          <a:noFill/>
          <a:ln/>
        </p:spPr>
        <p:txBody>
          <a:bodyPr wrap="square" lIns="0" tIns="0" rIns="0" bIns="0" rtlCol="0" anchor="ctr"/>
          <a:lstStyle/>
          <a:p>
            <a:pPr>
              <a:buNone/>
              <a:defRPr sz="863" b="1" i="0">
                <a:solidFill>
                  <a:srgbClr val="A52F4D"/>
                </a:solidFill>
                <a:latin typeface="Aptos"/>
                <a:ea typeface="Aptos"/>
                <a:cs typeface="Aptos"/>
              </a:defRPr>
            </a:pPr>
            <a:r>
              <a:rPr lang="en-US" sz="850" b="1">
                <a:solidFill>
                  <a:schemeClr val="tx2"/>
                </a:solidFill>
                <a:latin typeface="Aptos"/>
              </a:rPr>
              <a:t>EU TOP-10 AGGREGATE · SCHOCK: +65% ÖL / +200BP ZINS</a:t>
            </a:r>
          </a:p>
        </p:txBody>
      </p:sp>
      <p:sp>
        <p:nvSpPr>
          <p:cNvPr id="3" name="Text 1"/>
          <p:cNvSpPr/>
          <p:nvPr/>
        </p:nvSpPr>
        <p:spPr>
          <a:xfrm>
            <a:off x="548640" y="658368"/>
            <a:ext cx="10515600" cy="822960"/>
          </a:xfrm>
          <a:prstGeom prst="rect">
            <a:avLst/>
          </a:prstGeom>
          <a:noFill/>
          <a:ln/>
        </p:spPr>
        <p:txBody>
          <a:bodyPr wrap="square" lIns="0" tIns="0" rIns="0" bIns="0" rtlCol="0" anchor="ctr"/>
          <a:lstStyle/>
          <a:p>
            <a:pPr>
              <a:defRPr sz="2475" b="1" i="0">
                <a:solidFill>
                  <a:srgbClr val="051C2C"/>
                </a:solidFill>
                <a:latin typeface="Aptos Display"/>
                <a:ea typeface="Aptos Display"/>
                <a:cs typeface="Aptos Display"/>
              </a:defRPr>
            </a:pPr>
            <a:r>
              <a:rPr lang="en-US" sz="2475" b="1">
                <a:solidFill>
                  <a:srgbClr val="051C2C"/>
                </a:solidFill>
                <a:latin typeface="Aptos Display"/>
              </a:rPr>
              <a:t>Die </a:t>
            </a:r>
            <a:r>
              <a:rPr lang="en-US" sz="2475" b="1" err="1">
                <a:solidFill>
                  <a:srgbClr val="051C2C"/>
                </a:solidFill>
                <a:latin typeface="Aptos Display"/>
              </a:rPr>
              <a:t>Gesamtwirkung</a:t>
            </a:r>
            <a:r>
              <a:rPr lang="en-US" sz="2475" b="1">
                <a:solidFill>
                  <a:srgbClr val="051C2C"/>
                </a:solidFill>
                <a:latin typeface="Aptos Display"/>
              </a:rPr>
              <a:t> </a:t>
            </a:r>
            <a:r>
              <a:rPr lang="en-US" sz="2475" b="1" err="1">
                <a:solidFill>
                  <a:srgbClr val="051C2C"/>
                </a:solidFill>
                <a:latin typeface="Aptos Display"/>
              </a:rPr>
              <a:t>über</a:t>
            </a:r>
            <a:r>
              <a:rPr lang="en-US" sz="2475" b="1">
                <a:solidFill>
                  <a:srgbClr val="051C2C"/>
                </a:solidFill>
                <a:latin typeface="Aptos Display"/>
              </a:rPr>
              <a:t> alle 10 Banken</a:t>
            </a:r>
          </a:p>
        </p:txBody>
      </p:sp>
      <p:sp>
        <p:nvSpPr>
          <p:cNvPr id="4" name="Shape 2"/>
          <p:cNvSpPr/>
          <p:nvPr/>
        </p:nvSpPr>
        <p:spPr>
          <a:xfrm>
            <a:off x="548640" y="1783080"/>
            <a:ext cx="1810512" cy="1417320"/>
          </a:xfrm>
          <a:prstGeom prst="roundRect">
            <a:avLst>
              <a:gd name="adj" fmla="val 4516"/>
            </a:avLst>
          </a:prstGeom>
          <a:solidFill>
            <a:srgbClr val="F4F6FB"/>
          </a:solidFill>
          <a:ln/>
          <a:effectLst>
            <a:outerShdw blurRad="101600" dist="38100" dir="2700000" algn="bl" rotWithShape="0">
              <a:srgbClr val="000000">
                <a:alpha val="12000"/>
              </a:srgbClr>
            </a:outerShdw>
          </a:effectLst>
        </p:spPr>
        <p:txBody>
          <a:bodyPr/>
          <a:lstStyle/>
          <a:p>
            <a:endParaRPr lang="de-DE"/>
          </a:p>
        </p:txBody>
      </p:sp>
      <p:sp>
        <p:nvSpPr>
          <p:cNvPr id="5" name="Shape 3"/>
          <p:cNvSpPr/>
          <p:nvPr/>
        </p:nvSpPr>
        <p:spPr>
          <a:xfrm>
            <a:off x="548640" y="1783080"/>
            <a:ext cx="1810512" cy="54864"/>
          </a:xfrm>
          <a:prstGeom prst="rect">
            <a:avLst/>
          </a:prstGeom>
          <a:solidFill>
            <a:srgbClr val="16243F"/>
          </a:solidFill>
          <a:ln/>
        </p:spPr>
        <p:txBody>
          <a:bodyPr/>
          <a:lstStyle/>
          <a:p>
            <a:endParaRPr lang="de-DE"/>
          </a:p>
        </p:txBody>
      </p:sp>
      <p:sp>
        <p:nvSpPr>
          <p:cNvPr id="6" name="Text 4"/>
          <p:cNvSpPr/>
          <p:nvPr/>
        </p:nvSpPr>
        <p:spPr>
          <a:xfrm>
            <a:off x="658368" y="1947672"/>
            <a:ext cx="1591056" cy="320040"/>
          </a:xfrm>
          <a:prstGeom prst="rect">
            <a:avLst/>
          </a:prstGeom>
          <a:noFill/>
          <a:ln/>
        </p:spPr>
        <p:txBody>
          <a:bodyPr wrap="square" lIns="0" tIns="0" rIns="0" bIns="0" rtlCol="0" anchor="ctr"/>
          <a:lstStyle/>
          <a:p>
            <a:pPr marL="0" indent="0">
              <a:buNone/>
            </a:pPr>
            <a:r>
              <a:rPr lang="en-US" sz="900" b="1" kern="0" spc="50">
                <a:solidFill>
                  <a:srgbClr val="5B6478"/>
                </a:solidFill>
                <a:latin typeface="Calibri" pitchFamily="34" charset="0"/>
                <a:ea typeface="Calibri" pitchFamily="34" charset="-122"/>
                <a:cs typeface="Calibri" pitchFamily="34" charset="-120"/>
              </a:rPr>
              <a:t>Σ </a:t>
            </a:r>
            <a:r>
              <a:rPr lang="en-US" sz="900" b="1" kern="0" spc="50">
                <a:solidFill>
                  <a:srgbClr val="5B6478"/>
                </a:solidFill>
                <a:latin typeface="Aptos" panose="020B0004020202020204" pitchFamily="34" charset="0"/>
                <a:ea typeface="Calibri" pitchFamily="34" charset="-122"/>
                <a:cs typeface="Calibri" pitchFamily="34" charset="-120"/>
              </a:rPr>
              <a:t>EAD</a:t>
            </a:r>
            <a:endParaRPr lang="en-US" sz="900">
              <a:latin typeface="Aptos" panose="020B0004020202020204" pitchFamily="34" charset="0"/>
            </a:endParaRPr>
          </a:p>
        </p:txBody>
      </p:sp>
      <p:sp>
        <p:nvSpPr>
          <p:cNvPr id="7" name="Text 5"/>
          <p:cNvSpPr/>
          <p:nvPr/>
        </p:nvSpPr>
        <p:spPr>
          <a:xfrm>
            <a:off x="658368" y="2240280"/>
            <a:ext cx="1591056" cy="548640"/>
          </a:xfrm>
          <a:prstGeom prst="rect">
            <a:avLst/>
          </a:prstGeom>
          <a:noFill/>
          <a:ln/>
        </p:spPr>
        <p:txBody>
          <a:bodyPr wrap="square" lIns="0" tIns="0" rIns="0" bIns="0" rtlCol="0" anchor="ctr"/>
          <a:lstStyle/>
          <a:p>
            <a:pPr marL="0" indent="0">
              <a:buNone/>
            </a:pPr>
            <a:r>
              <a:rPr lang="en-US" sz="1900" b="1">
                <a:solidFill>
                  <a:srgbClr val="1A1A1A"/>
                </a:solidFill>
                <a:latin typeface="Aptos" panose="020B0004020202020204" pitchFamily="34" charset="0"/>
                <a:ea typeface="Cambria" pitchFamily="34" charset="-122"/>
                <a:cs typeface="Cambria" pitchFamily="34" charset="-120"/>
              </a:rPr>
              <a:t>€8,5 Bio.</a:t>
            </a:r>
            <a:endParaRPr lang="en-US" sz="1900">
              <a:latin typeface="Aptos" panose="020B0004020202020204" pitchFamily="34" charset="0"/>
            </a:endParaRPr>
          </a:p>
        </p:txBody>
      </p:sp>
      <p:sp>
        <p:nvSpPr>
          <p:cNvPr id="8" name="Text 6"/>
          <p:cNvSpPr/>
          <p:nvPr/>
        </p:nvSpPr>
        <p:spPr>
          <a:xfrm>
            <a:off x="658368" y="2807208"/>
            <a:ext cx="1591056" cy="320040"/>
          </a:xfrm>
          <a:prstGeom prst="rect">
            <a:avLst/>
          </a:prstGeom>
          <a:noFill/>
          <a:ln/>
        </p:spPr>
        <p:txBody>
          <a:bodyPr wrap="square" lIns="0" tIns="0" rIns="0" bIns="0" rtlCol="0" anchor="ctr"/>
          <a:lstStyle/>
          <a:p>
            <a:pPr marL="0" indent="0">
              <a:buNone/>
            </a:pPr>
            <a:r>
              <a:rPr lang="en-US" sz="950">
                <a:solidFill>
                  <a:srgbClr val="5B6478"/>
                </a:solidFill>
                <a:latin typeface="Aptos"/>
                <a:ea typeface="Calibri"/>
                <a:cs typeface="Calibri"/>
              </a:rPr>
              <a:t>10 Banken</a:t>
            </a:r>
            <a:endParaRPr lang="en-US" sz="950">
              <a:latin typeface="Aptos"/>
              <a:ea typeface="Calibri"/>
              <a:cs typeface="Calibri"/>
            </a:endParaRPr>
          </a:p>
        </p:txBody>
      </p:sp>
      <p:sp>
        <p:nvSpPr>
          <p:cNvPr id="9" name="Shape 7"/>
          <p:cNvSpPr/>
          <p:nvPr/>
        </p:nvSpPr>
        <p:spPr>
          <a:xfrm>
            <a:off x="2478024" y="1783080"/>
            <a:ext cx="1810512" cy="1417320"/>
          </a:xfrm>
          <a:prstGeom prst="roundRect">
            <a:avLst>
              <a:gd name="adj" fmla="val 4516"/>
            </a:avLst>
          </a:prstGeom>
          <a:solidFill>
            <a:srgbClr val="F4F6FB"/>
          </a:solidFill>
          <a:ln/>
          <a:effectLst>
            <a:outerShdw blurRad="101600" dist="38100" dir="2700000" algn="bl" rotWithShape="0">
              <a:srgbClr val="000000">
                <a:alpha val="12000"/>
              </a:srgbClr>
            </a:outerShdw>
          </a:effectLst>
        </p:spPr>
        <p:txBody>
          <a:bodyPr/>
          <a:lstStyle/>
          <a:p>
            <a:endParaRPr lang="de-DE"/>
          </a:p>
        </p:txBody>
      </p:sp>
      <p:sp>
        <p:nvSpPr>
          <p:cNvPr id="10" name="Shape 8"/>
          <p:cNvSpPr/>
          <p:nvPr/>
        </p:nvSpPr>
        <p:spPr>
          <a:xfrm>
            <a:off x="2478024" y="1783080"/>
            <a:ext cx="1810512" cy="54864"/>
          </a:xfrm>
          <a:prstGeom prst="rect">
            <a:avLst/>
          </a:prstGeom>
          <a:solidFill>
            <a:srgbClr val="0B6E78"/>
          </a:solidFill>
          <a:ln/>
        </p:spPr>
        <p:txBody>
          <a:bodyPr/>
          <a:lstStyle/>
          <a:p>
            <a:endParaRPr lang="de-DE"/>
          </a:p>
        </p:txBody>
      </p:sp>
      <p:sp>
        <p:nvSpPr>
          <p:cNvPr id="11" name="Text 9"/>
          <p:cNvSpPr/>
          <p:nvPr/>
        </p:nvSpPr>
        <p:spPr>
          <a:xfrm>
            <a:off x="2587752" y="1947672"/>
            <a:ext cx="1591056" cy="320040"/>
          </a:xfrm>
          <a:prstGeom prst="rect">
            <a:avLst/>
          </a:prstGeom>
          <a:noFill/>
          <a:ln/>
        </p:spPr>
        <p:txBody>
          <a:bodyPr wrap="square" lIns="0" tIns="0" rIns="0" bIns="0" rtlCol="0" anchor="ctr"/>
          <a:lstStyle/>
          <a:p>
            <a:pPr marL="0" indent="0">
              <a:buNone/>
            </a:pPr>
            <a:r>
              <a:rPr lang="en-US" sz="900" b="1" kern="0" spc="50">
                <a:solidFill>
                  <a:srgbClr val="5B6478"/>
                </a:solidFill>
                <a:latin typeface="Aptos" panose="020B0004020202020204" pitchFamily="34" charset="0"/>
                <a:ea typeface="Calibri" pitchFamily="34" charset="-122"/>
                <a:cs typeface="Calibri" pitchFamily="34" charset="-120"/>
              </a:rPr>
              <a:t>EL BASELINE</a:t>
            </a:r>
            <a:endParaRPr lang="en-US" sz="900">
              <a:latin typeface="Aptos" panose="020B0004020202020204" pitchFamily="34" charset="0"/>
            </a:endParaRPr>
          </a:p>
        </p:txBody>
      </p:sp>
      <p:sp>
        <p:nvSpPr>
          <p:cNvPr id="12" name="Text 10"/>
          <p:cNvSpPr/>
          <p:nvPr/>
        </p:nvSpPr>
        <p:spPr>
          <a:xfrm>
            <a:off x="2587752" y="2240280"/>
            <a:ext cx="1591056" cy="548640"/>
          </a:xfrm>
          <a:prstGeom prst="rect">
            <a:avLst/>
          </a:prstGeom>
          <a:noFill/>
          <a:ln/>
        </p:spPr>
        <p:txBody>
          <a:bodyPr wrap="square" lIns="0" tIns="0" rIns="0" bIns="0" rtlCol="0" anchor="ctr"/>
          <a:lstStyle/>
          <a:p>
            <a:pPr marL="0" indent="0">
              <a:buNone/>
            </a:pPr>
            <a:r>
              <a:rPr lang="en-US" sz="1900" b="1">
                <a:solidFill>
                  <a:srgbClr val="1A1A1A"/>
                </a:solidFill>
                <a:latin typeface="Aptos" panose="020B0004020202020204" pitchFamily="34" charset="0"/>
                <a:ea typeface="Cambria" pitchFamily="34" charset="-122"/>
                <a:cs typeface="Cambria" pitchFamily="34" charset="-120"/>
              </a:rPr>
              <a:t>€133 </a:t>
            </a:r>
            <a:r>
              <a:rPr lang="en-US" sz="1900" b="1" err="1">
                <a:solidFill>
                  <a:srgbClr val="1A1A1A"/>
                </a:solidFill>
                <a:latin typeface="Aptos" panose="020B0004020202020204" pitchFamily="34" charset="0"/>
                <a:ea typeface="Cambria" pitchFamily="34" charset="-122"/>
                <a:cs typeface="Cambria" pitchFamily="34" charset="-120"/>
              </a:rPr>
              <a:t>Mrd</a:t>
            </a:r>
            <a:r>
              <a:rPr lang="en-US" sz="1900" b="1">
                <a:solidFill>
                  <a:srgbClr val="1A1A1A"/>
                </a:solidFill>
                <a:latin typeface="Aptos" panose="020B0004020202020204" pitchFamily="34" charset="0"/>
                <a:ea typeface="Cambria" pitchFamily="34" charset="-122"/>
                <a:cs typeface="Cambria" pitchFamily="34" charset="-120"/>
              </a:rPr>
              <a:t>.</a:t>
            </a:r>
            <a:endParaRPr lang="en-US" sz="1900">
              <a:latin typeface="Aptos" panose="020B0004020202020204" pitchFamily="34" charset="0"/>
            </a:endParaRPr>
          </a:p>
        </p:txBody>
      </p:sp>
      <p:sp>
        <p:nvSpPr>
          <p:cNvPr id="13" name="Text 11"/>
          <p:cNvSpPr/>
          <p:nvPr/>
        </p:nvSpPr>
        <p:spPr>
          <a:xfrm>
            <a:off x="2587752" y="2807208"/>
            <a:ext cx="1591056" cy="320040"/>
          </a:xfrm>
          <a:prstGeom prst="rect">
            <a:avLst/>
          </a:prstGeom>
          <a:noFill/>
          <a:ln/>
        </p:spPr>
        <p:txBody>
          <a:bodyPr wrap="square" lIns="0" tIns="0" rIns="0" bIns="0" rtlCol="0" anchor="ctr"/>
          <a:lstStyle/>
          <a:p>
            <a:pPr marL="0" indent="0">
              <a:buNone/>
            </a:pPr>
            <a:r>
              <a:rPr lang="en-US" sz="950">
                <a:solidFill>
                  <a:srgbClr val="5B6478"/>
                </a:solidFill>
                <a:latin typeface="Aptos" panose="020B0004020202020204" pitchFamily="34" charset="0"/>
                <a:ea typeface="Calibri" pitchFamily="34" charset="-122"/>
                <a:cs typeface="Calibri" pitchFamily="34" charset="-120"/>
              </a:rPr>
              <a:t>1,56 % der EAD</a:t>
            </a:r>
            <a:endParaRPr lang="en-US" sz="950">
              <a:latin typeface="Aptos" panose="020B0004020202020204" pitchFamily="34" charset="0"/>
            </a:endParaRPr>
          </a:p>
        </p:txBody>
      </p:sp>
      <p:sp>
        <p:nvSpPr>
          <p:cNvPr id="14" name="Shape 12"/>
          <p:cNvSpPr/>
          <p:nvPr/>
        </p:nvSpPr>
        <p:spPr>
          <a:xfrm>
            <a:off x="4407408" y="1783080"/>
            <a:ext cx="1810512" cy="1417320"/>
          </a:xfrm>
          <a:prstGeom prst="roundRect">
            <a:avLst>
              <a:gd name="adj" fmla="val 4516"/>
            </a:avLst>
          </a:prstGeom>
          <a:solidFill>
            <a:srgbClr val="F4F6FB"/>
          </a:solidFill>
          <a:ln/>
          <a:effectLst>
            <a:outerShdw blurRad="101600" dist="38100" dir="2700000" algn="bl" rotWithShape="0">
              <a:srgbClr val="000000">
                <a:alpha val="12000"/>
              </a:srgbClr>
            </a:outerShdw>
          </a:effectLst>
        </p:spPr>
        <p:txBody>
          <a:bodyPr/>
          <a:lstStyle/>
          <a:p>
            <a:endParaRPr lang="de-DE"/>
          </a:p>
        </p:txBody>
      </p:sp>
      <p:sp>
        <p:nvSpPr>
          <p:cNvPr id="15" name="Shape 13"/>
          <p:cNvSpPr/>
          <p:nvPr/>
        </p:nvSpPr>
        <p:spPr>
          <a:xfrm>
            <a:off x="4407408" y="1783080"/>
            <a:ext cx="1810512" cy="54864"/>
          </a:xfrm>
          <a:prstGeom prst="rect">
            <a:avLst/>
          </a:prstGeom>
          <a:solidFill>
            <a:srgbClr val="9B1B30"/>
          </a:solidFill>
          <a:ln/>
        </p:spPr>
        <p:txBody>
          <a:bodyPr/>
          <a:lstStyle/>
          <a:p>
            <a:endParaRPr lang="de-DE"/>
          </a:p>
        </p:txBody>
      </p:sp>
      <p:sp>
        <p:nvSpPr>
          <p:cNvPr id="16" name="Text 14"/>
          <p:cNvSpPr/>
          <p:nvPr/>
        </p:nvSpPr>
        <p:spPr>
          <a:xfrm>
            <a:off x="4517136" y="1947672"/>
            <a:ext cx="1591056" cy="320040"/>
          </a:xfrm>
          <a:prstGeom prst="rect">
            <a:avLst/>
          </a:prstGeom>
          <a:noFill/>
          <a:ln/>
        </p:spPr>
        <p:txBody>
          <a:bodyPr wrap="square" lIns="0" tIns="0" rIns="0" bIns="0" rtlCol="0" anchor="ctr"/>
          <a:lstStyle/>
          <a:p>
            <a:pPr marL="0" indent="0">
              <a:buNone/>
            </a:pPr>
            <a:r>
              <a:rPr lang="en-US" sz="900" b="1" kern="0" spc="50">
                <a:solidFill>
                  <a:srgbClr val="5B6478"/>
                </a:solidFill>
                <a:latin typeface="Aptos" panose="020B0004020202020204" pitchFamily="34" charset="0"/>
                <a:ea typeface="Calibri" pitchFamily="34" charset="-122"/>
                <a:cs typeface="Calibri" pitchFamily="34" charset="-120"/>
              </a:rPr>
              <a:t>EL STRESS</a:t>
            </a:r>
          </a:p>
        </p:txBody>
      </p:sp>
      <p:sp>
        <p:nvSpPr>
          <p:cNvPr id="17" name="Text 15"/>
          <p:cNvSpPr/>
          <p:nvPr/>
        </p:nvSpPr>
        <p:spPr>
          <a:xfrm>
            <a:off x="4517136" y="2240280"/>
            <a:ext cx="1591056" cy="548640"/>
          </a:xfrm>
          <a:prstGeom prst="rect">
            <a:avLst/>
          </a:prstGeom>
          <a:noFill/>
          <a:ln/>
        </p:spPr>
        <p:txBody>
          <a:bodyPr wrap="square" lIns="0" tIns="0" rIns="0" bIns="0" rtlCol="0" anchor="ctr"/>
          <a:lstStyle/>
          <a:p>
            <a:pPr marL="0" indent="0">
              <a:buNone/>
            </a:pPr>
            <a:r>
              <a:rPr lang="en-US" sz="1900" b="1">
                <a:solidFill>
                  <a:srgbClr val="1A1A1A"/>
                </a:solidFill>
                <a:latin typeface="Aptos" panose="020B0004020202020204" pitchFamily="34" charset="0"/>
                <a:ea typeface="Cambria" pitchFamily="34" charset="-122"/>
                <a:cs typeface="Cambria" pitchFamily="34" charset="-120"/>
              </a:rPr>
              <a:t>€155 </a:t>
            </a:r>
            <a:r>
              <a:rPr lang="en-US" sz="1900" b="1" err="1">
                <a:solidFill>
                  <a:srgbClr val="1A1A1A"/>
                </a:solidFill>
                <a:latin typeface="Aptos" panose="020B0004020202020204" pitchFamily="34" charset="0"/>
                <a:ea typeface="Cambria" pitchFamily="34" charset="-122"/>
                <a:cs typeface="Cambria" pitchFamily="34" charset="-120"/>
              </a:rPr>
              <a:t>Mrd</a:t>
            </a:r>
            <a:r>
              <a:rPr lang="en-US" sz="1900" b="1">
                <a:solidFill>
                  <a:srgbClr val="1A1A1A"/>
                </a:solidFill>
                <a:latin typeface="Aptos" panose="020B0004020202020204" pitchFamily="34" charset="0"/>
                <a:ea typeface="Cambria" pitchFamily="34" charset="-122"/>
                <a:cs typeface="Cambria" pitchFamily="34" charset="-120"/>
              </a:rPr>
              <a:t>.</a:t>
            </a:r>
            <a:endParaRPr lang="en-US" sz="1900">
              <a:latin typeface="Aptos" panose="020B0004020202020204" pitchFamily="34" charset="0"/>
            </a:endParaRPr>
          </a:p>
        </p:txBody>
      </p:sp>
      <p:sp>
        <p:nvSpPr>
          <p:cNvPr id="18" name="Text 16"/>
          <p:cNvSpPr/>
          <p:nvPr/>
        </p:nvSpPr>
        <p:spPr>
          <a:xfrm>
            <a:off x="4517136" y="2807208"/>
            <a:ext cx="1591056" cy="320040"/>
          </a:xfrm>
          <a:prstGeom prst="rect">
            <a:avLst/>
          </a:prstGeom>
          <a:noFill/>
          <a:ln/>
        </p:spPr>
        <p:txBody>
          <a:bodyPr wrap="square" lIns="0" tIns="0" rIns="0" bIns="0" rtlCol="0" anchor="ctr"/>
          <a:lstStyle/>
          <a:p>
            <a:pPr marL="0" indent="0">
              <a:buNone/>
            </a:pPr>
            <a:r>
              <a:rPr lang="en-US" sz="950">
                <a:solidFill>
                  <a:srgbClr val="5B6478"/>
                </a:solidFill>
                <a:latin typeface="Calibri" pitchFamily="34" charset="0"/>
                <a:ea typeface="Calibri" pitchFamily="34" charset="-122"/>
                <a:cs typeface="Calibri" pitchFamily="34" charset="-120"/>
              </a:rPr>
              <a:t>+</a:t>
            </a:r>
            <a:r>
              <a:rPr lang="en-US" sz="950">
                <a:solidFill>
                  <a:srgbClr val="5B6478"/>
                </a:solidFill>
                <a:latin typeface="Aptos" panose="020B0004020202020204" pitchFamily="34" charset="0"/>
                <a:ea typeface="Calibri" pitchFamily="34" charset="-122"/>
                <a:cs typeface="Calibri" pitchFamily="34" charset="-120"/>
              </a:rPr>
              <a:t>21,5 </a:t>
            </a:r>
            <a:r>
              <a:rPr lang="en-US" sz="950" err="1">
                <a:solidFill>
                  <a:srgbClr val="5B6478"/>
                </a:solidFill>
                <a:latin typeface="Aptos" panose="020B0004020202020204" pitchFamily="34" charset="0"/>
                <a:ea typeface="Calibri" pitchFamily="34" charset="-122"/>
                <a:cs typeface="Calibri" pitchFamily="34" charset="-120"/>
              </a:rPr>
              <a:t>Mrd</a:t>
            </a:r>
            <a:r>
              <a:rPr lang="en-US" sz="950">
                <a:solidFill>
                  <a:srgbClr val="5B6478"/>
                </a:solidFill>
                <a:latin typeface="Aptos" panose="020B0004020202020204" pitchFamily="34" charset="0"/>
                <a:ea typeface="Calibri" pitchFamily="34" charset="-122"/>
                <a:cs typeface="Calibri" pitchFamily="34" charset="-120"/>
              </a:rPr>
              <a:t>.</a:t>
            </a:r>
            <a:endParaRPr lang="en-US" sz="950">
              <a:latin typeface="Aptos" panose="020B0004020202020204" pitchFamily="34" charset="0"/>
            </a:endParaRPr>
          </a:p>
        </p:txBody>
      </p:sp>
      <p:sp>
        <p:nvSpPr>
          <p:cNvPr id="19" name="Shape 17"/>
          <p:cNvSpPr/>
          <p:nvPr/>
        </p:nvSpPr>
        <p:spPr>
          <a:xfrm>
            <a:off x="6336792" y="1783080"/>
            <a:ext cx="1810512" cy="1417320"/>
          </a:xfrm>
          <a:prstGeom prst="roundRect">
            <a:avLst>
              <a:gd name="adj" fmla="val 4516"/>
            </a:avLst>
          </a:prstGeom>
          <a:solidFill>
            <a:srgbClr val="F4F6FB"/>
          </a:solidFill>
          <a:ln/>
          <a:effectLst>
            <a:outerShdw blurRad="101600" dist="38100" dir="2700000" algn="bl" rotWithShape="0">
              <a:srgbClr val="000000">
                <a:alpha val="12000"/>
              </a:srgbClr>
            </a:outerShdw>
          </a:effectLst>
        </p:spPr>
        <p:txBody>
          <a:bodyPr/>
          <a:lstStyle/>
          <a:p>
            <a:endParaRPr lang="de-DE"/>
          </a:p>
        </p:txBody>
      </p:sp>
      <p:sp>
        <p:nvSpPr>
          <p:cNvPr id="20" name="Shape 18"/>
          <p:cNvSpPr/>
          <p:nvPr/>
        </p:nvSpPr>
        <p:spPr>
          <a:xfrm>
            <a:off x="6336792" y="1783080"/>
            <a:ext cx="1810512" cy="54864"/>
          </a:xfrm>
          <a:prstGeom prst="rect">
            <a:avLst/>
          </a:prstGeom>
          <a:solidFill>
            <a:srgbClr val="1F3358"/>
          </a:solidFill>
          <a:ln/>
        </p:spPr>
        <p:txBody>
          <a:bodyPr/>
          <a:lstStyle/>
          <a:p>
            <a:endParaRPr lang="de-DE"/>
          </a:p>
        </p:txBody>
      </p:sp>
      <p:sp>
        <p:nvSpPr>
          <p:cNvPr id="21" name="Text 19"/>
          <p:cNvSpPr/>
          <p:nvPr/>
        </p:nvSpPr>
        <p:spPr>
          <a:xfrm>
            <a:off x="6446520" y="1947672"/>
            <a:ext cx="1591056" cy="320040"/>
          </a:xfrm>
          <a:prstGeom prst="rect">
            <a:avLst/>
          </a:prstGeom>
          <a:noFill/>
          <a:ln/>
        </p:spPr>
        <p:txBody>
          <a:bodyPr wrap="square" lIns="0" tIns="0" rIns="0" bIns="0" rtlCol="0" anchor="ctr"/>
          <a:lstStyle/>
          <a:p>
            <a:pPr marL="0" indent="0">
              <a:buNone/>
            </a:pPr>
            <a:r>
              <a:rPr lang="en-US" sz="900" b="1" kern="0" spc="50">
                <a:solidFill>
                  <a:srgbClr val="5B6478"/>
                </a:solidFill>
                <a:latin typeface="Aptos" panose="020B0004020202020204" pitchFamily="34" charset="0"/>
                <a:ea typeface="Calibri" pitchFamily="34" charset="-122"/>
                <a:cs typeface="Calibri" pitchFamily="34" charset="-120"/>
              </a:rPr>
              <a:t>UL (BASEL)</a:t>
            </a:r>
            <a:endParaRPr lang="en-US" sz="900">
              <a:latin typeface="Aptos" panose="020B0004020202020204" pitchFamily="34" charset="0"/>
            </a:endParaRPr>
          </a:p>
        </p:txBody>
      </p:sp>
      <p:sp>
        <p:nvSpPr>
          <p:cNvPr id="22" name="Text 20"/>
          <p:cNvSpPr/>
          <p:nvPr/>
        </p:nvSpPr>
        <p:spPr>
          <a:xfrm>
            <a:off x="6446520" y="2240280"/>
            <a:ext cx="1591056" cy="548640"/>
          </a:xfrm>
          <a:prstGeom prst="rect">
            <a:avLst/>
          </a:prstGeom>
          <a:noFill/>
          <a:ln/>
        </p:spPr>
        <p:txBody>
          <a:bodyPr wrap="square" lIns="0" tIns="0" rIns="0" bIns="0" rtlCol="0" anchor="ctr"/>
          <a:lstStyle/>
          <a:p>
            <a:pPr marL="0" indent="0">
              <a:buNone/>
            </a:pPr>
            <a:r>
              <a:rPr lang="en-US" sz="1900" b="1">
                <a:solidFill>
                  <a:srgbClr val="1A1A1A"/>
                </a:solidFill>
                <a:latin typeface="Aptos" panose="020B0004020202020204" pitchFamily="34" charset="0"/>
                <a:ea typeface="Cambria" pitchFamily="34" charset="-122"/>
                <a:cs typeface="Cambria" pitchFamily="34" charset="-120"/>
              </a:rPr>
              <a:t>€42 </a:t>
            </a:r>
            <a:r>
              <a:rPr lang="en-US" sz="1900" b="1" err="1">
                <a:solidFill>
                  <a:srgbClr val="1A1A1A"/>
                </a:solidFill>
                <a:latin typeface="Aptos" panose="020B0004020202020204" pitchFamily="34" charset="0"/>
                <a:ea typeface="Cambria" pitchFamily="34" charset="-122"/>
                <a:cs typeface="Cambria" pitchFamily="34" charset="-120"/>
              </a:rPr>
              <a:t>Mrd</a:t>
            </a:r>
            <a:r>
              <a:rPr lang="en-US" sz="1900" b="1">
                <a:solidFill>
                  <a:srgbClr val="1A1A1A"/>
                </a:solidFill>
                <a:latin typeface="Aptos" panose="020B0004020202020204" pitchFamily="34" charset="0"/>
                <a:ea typeface="Cambria" pitchFamily="34" charset="-122"/>
                <a:cs typeface="Cambria" pitchFamily="34" charset="-120"/>
              </a:rPr>
              <a:t>.</a:t>
            </a:r>
            <a:endParaRPr lang="en-US" sz="1900">
              <a:latin typeface="Aptos" panose="020B0004020202020204" pitchFamily="34" charset="0"/>
            </a:endParaRPr>
          </a:p>
        </p:txBody>
      </p:sp>
      <p:sp>
        <p:nvSpPr>
          <p:cNvPr id="23" name="Text 21"/>
          <p:cNvSpPr/>
          <p:nvPr/>
        </p:nvSpPr>
        <p:spPr>
          <a:xfrm>
            <a:off x="6446520" y="2807208"/>
            <a:ext cx="1591056" cy="320040"/>
          </a:xfrm>
          <a:prstGeom prst="rect">
            <a:avLst/>
          </a:prstGeom>
          <a:noFill/>
          <a:ln/>
        </p:spPr>
        <p:txBody>
          <a:bodyPr wrap="square" lIns="0" tIns="0" rIns="0" bIns="0" rtlCol="0" anchor="ctr"/>
          <a:lstStyle/>
          <a:p>
            <a:pPr marL="0" indent="0">
              <a:buNone/>
            </a:pPr>
            <a:r>
              <a:rPr lang="en-US" sz="950">
                <a:solidFill>
                  <a:srgbClr val="5B6478"/>
                </a:solidFill>
                <a:latin typeface="Aptos" panose="020B0004020202020204" pitchFamily="34" charset="0"/>
                <a:ea typeface="Calibri" pitchFamily="34" charset="-122"/>
                <a:cs typeface="Calibri" pitchFamily="34" charset="-120"/>
              </a:rPr>
              <a:t>4,93 % der EAD</a:t>
            </a:r>
            <a:endParaRPr lang="en-US" sz="950">
              <a:latin typeface="Aptos" panose="020B0004020202020204" pitchFamily="34" charset="0"/>
            </a:endParaRPr>
          </a:p>
        </p:txBody>
      </p:sp>
      <p:sp>
        <p:nvSpPr>
          <p:cNvPr id="24" name="Shape 22"/>
          <p:cNvSpPr/>
          <p:nvPr/>
        </p:nvSpPr>
        <p:spPr>
          <a:xfrm>
            <a:off x="8266176" y="1783080"/>
            <a:ext cx="1810512" cy="1417320"/>
          </a:xfrm>
          <a:prstGeom prst="roundRect">
            <a:avLst>
              <a:gd name="adj" fmla="val 4516"/>
            </a:avLst>
          </a:prstGeom>
          <a:solidFill>
            <a:srgbClr val="F4F6FB"/>
          </a:solidFill>
          <a:ln/>
          <a:effectLst>
            <a:outerShdw blurRad="101600" dist="38100" dir="2700000" algn="bl" rotWithShape="0">
              <a:srgbClr val="000000">
                <a:alpha val="12000"/>
              </a:srgbClr>
            </a:outerShdw>
          </a:effectLst>
        </p:spPr>
        <p:txBody>
          <a:bodyPr/>
          <a:lstStyle/>
          <a:p>
            <a:endParaRPr lang="de-DE"/>
          </a:p>
        </p:txBody>
      </p:sp>
      <p:sp>
        <p:nvSpPr>
          <p:cNvPr id="25" name="Shape 23"/>
          <p:cNvSpPr/>
          <p:nvPr/>
        </p:nvSpPr>
        <p:spPr>
          <a:xfrm>
            <a:off x="8266176" y="1783080"/>
            <a:ext cx="1810512" cy="54864"/>
          </a:xfrm>
          <a:prstGeom prst="rect">
            <a:avLst/>
          </a:prstGeom>
          <a:solidFill>
            <a:srgbClr val="0B6E78"/>
          </a:solidFill>
          <a:ln/>
        </p:spPr>
        <p:txBody>
          <a:bodyPr/>
          <a:lstStyle/>
          <a:p>
            <a:endParaRPr lang="de-DE"/>
          </a:p>
        </p:txBody>
      </p:sp>
      <p:sp>
        <p:nvSpPr>
          <p:cNvPr id="26" name="Text 24"/>
          <p:cNvSpPr/>
          <p:nvPr/>
        </p:nvSpPr>
        <p:spPr>
          <a:xfrm>
            <a:off x="8375904" y="1947672"/>
            <a:ext cx="1591056" cy="320040"/>
          </a:xfrm>
          <a:prstGeom prst="rect">
            <a:avLst/>
          </a:prstGeom>
          <a:noFill/>
          <a:ln/>
        </p:spPr>
        <p:txBody>
          <a:bodyPr wrap="square" lIns="0" tIns="0" rIns="0" bIns="0" rtlCol="0" anchor="ctr"/>
          <a:lstStyle/>
          <a:p>
            <a:pPr marL="0" indent="0">
              <a:buNone/>
            </a:pPr>
            <a:r>
              <a:rPr lang="en-US" sz="900" b="1" kern="0" spc="50">
                <a:solidFill>
                  <a:srgbClr val="5B6478"/>
                </a:solidFill>
                <a:latin typeface="Aptos" panose="020B0004020202020204" pitchFamily="34" charset="0"/>
                <a:ea typeface="Calibri" pitchFamily="34" charset="-122"/>
                <a:cs typeface="Calibri" pitchFamily="34" charset="-120"/>
              </a:rPr>
              <a:t>RWA-DICHTE</a:t>
            </a:r>
            <a:endParaRPr lang="en-US" sz="900">
              <a:latin typeface="Aptos" panose="020B0004020202020204" pitchFamily="34" charset="0"/>
            </a:endParaRPr>
          </a:p>
        </p:txBody>
      </p:sp>
      <p:sp>
        <p:nvSpPr>
          <p:cNvPr id="27" name="Text 25"/>
          <p:cNvSpPr/>
          <p:nvPr/>
        </p:nvSpPr>
        <p:spPr>
          <a:xfrm>
            <a:off x="8375904" y="2240280"/>
            <a:ext cx="1591056" cy="548640"/>
          </a:xfrm>
          <a:prstGeom prst="rect">
            <a:avLst/>
          </a:prstGeom>
          <a:noFill/>
          <a:ln/>
        </p:spPr>
        <p:txBody>
          <a:bodyPr wrap="square" lIns="0" tIns="0" rIns="0" bIns="0" rtlCol="0" anchor="ctr"/>
          <a:lstStyle/>
          <a:p>
            <a:pPr marL="0" indent="0">
              <a:buNone/>
            </a:pPr>
            <a:r>
              <a:rPr lang="en-US" sz="1900" b="1">
                <a:solidFill>
                  <a:srgbClr val="1A1A1A"/>
                </a:solidFill>
                <a:latin typeface="Aptos" panose="020B0004020202020204" pitchFamily="34" charset="0"/>
                <a:ea typeface="Cambria" pitchFamily="34" charset="-122"/>
                <a:cs typeface="Cambria" pitchFamily="34" charset="-120"/>
              </a:rPr>
              <a:t>62 %</a:t>
            </a:r>
            <a:endParaRPr lang="en-US" sz="1900">
              <a:latin typeface="Aptos" panose="020B0004020202020204" pitchFamily="34" charset="0"/>
            </a:endParaRPr>
          </a:p>
        </p:txBody>
      </p:sp>
      <p:sp>
        <p:nvSpPr>
          <p:cNvPr id="28" name="Text 26"/>
          <p:cNvSpPr/>
          <p:nvPr/>
        </p:nvSpPr>
        <p:spPr>
          <a:xfrm>
            <a:off x="8375904" y="2807208"/>
            <a:ext cx="1591056" cy="320040"/>
          </a:xfrm>
          <a:prstGeom prst="rect">
            <a:avLst/>
          </a:prstGeom>
          <a:noFill/>
          <a:ln/>
        </p:spPr>
        <p:txBody>
          <a:bodyPr wrap="square" lIns="0" tIns="0" rIns="0" bIns="0" rtlCol="0" anchor="ctr"/>
          <a:lstStyle/>
          <a:p>
            <a:pPr marL="0" indent="0">
              <a:buNone/>
            </a:pPr>
            <a:r>
              <a:rPr lang="en-US" sz="950">
                <a:solidFill>
                  <a:srgbClr val="5B6478"/>
                </a:solidFill>
                <a:latin typeface="Aptos" panose="020B0004020202020204" pitchFamily="34" charset="0"/>
                <a:ea typeface="Calibri" pitchFamily="34" charset="-122"/>
                <a:cs typeface="Calibri" pitchFamily="34" charset="-120"/>
              </a:rPr>
              <a:t>Baseline-</a:t>
            </a:r>
            <a:r>
              <a:rPr lang="en-US" sz="950" err="1">
                <a:solidFill>
                  <a:srgbClr val="5B6478"/>
                </a:solidFill>
                <a:latin typeface="Aptos" panose="020B0004020202020204" pitchFamily="34" charset="0"/>
                <a:ea typeface="Calibri" pitchFamily="34" charset="-122"/>
                <a:cs typeface="Calibri" pitchFamily="34" charset="-120"/>
              </a:rPr>
              <a:t>Niveau</a:t>
            </a:r>
            <a:endParaRPr lang="en-US" sz="950">
              <a:latin typeface="Aptos" panose="020B0004020202020204" pitchFamily="34" charset="0"/>
            </a:endParaRPr>
          </a:p>
        </p:txBody>
      </p:sp>
      <p:sp>
        <p:nvSpPr>
          <p:cNvPr id="29" name="Shape 27"/>
          <p:cNvSpPr/>
          <p:nvPr/>
        </p:nvSpPr>
        <p:spPr>
          <a:xfrm>
            <a:off x="10195560" y="1783080"/>
            <a:ext cx="1810512" cy="1417320"/>
          </a:xfrm>
          <a:prstGeom prst="roundRect">
            <a:avLst>
              <a:gd name="adj" fmla="val 4516"/>
            </a:avLst>
          </a:prstGeom>
          <a:solidFill>
            <a:srgbClr val="F4F6FB"/>
          </a:solidFill>
          <a:ln/>
          <a:effectLst>
            <a:outerShdw blurRad="101600" dist="38100" dir="2700000" algn="bl" rotWithShape="0">
              <a:srgbClr val="000000">
                <a:alpha val="12000"/>
              </a:srgbClr>
            </a:outerShdw>
          </a:effectLst>
        </p:spPr>
        <p:txBody>
          <a:bodyPr/>
          <a:lstStyle/>
          <a:p>
            <a:endParaRPr lang="de-DE"/>
          </a:p>
        </p:txBody>
      </p:sp>
      <p:sp>
        <p:nvSpPr>
          <p:cNvPr id="30" name="Shape 28"/>
          <p:cNvSpPr/>
          <p:nvPr/>
        </p:nvSpPr>
        <p:spPr>
          <a:xfrm>
            <a:off x="10195560" y="1783080"/>
            <a:ext cx="1810512" cy="54864"/>
          </a:xfrm>
          <a:prstGeom prst="rect">
            <a:avLst/>
          </a:prstGeom>
          <a:solidFill>
            <a:srgbClr val="9B1B30"/>
          </a:solidFill>
          <a:ln/>
        </p:spPr>
        <p:txBody>
          <a:bodyPr/>
          <a:lstStyle/>
          <a:p>
            <a:endParaRPr lang="de-DE"/>
          </a:p>
        </p:txBody>
      </p:sp>
      <p:sp>
        <p:nvSpPr>
          <p:cNvPr id="31" name="Text 29"/>
          <p:cNvSpPr/>
          <p:nvPr/>
        </p:nvSpPr>
        <p:spPr>
          <a:xfrm>
            <a:off x="10305288" y="1947672"/>
            <a:ext cx="1591056" cy="320040"/>
          </a:xfrm>
          <a:prstGeom prst="rect">
            <a:avLst/>
          </a:prstGeom>
          <a:noFill/>
          <a:ln/>
        </p:spPr>
        <p:txBody>
          <a:bodyPr wrap="square" lIns="0" tIns="0" rIns="0" bIns="0" rtlCol="0" anchor="ctr"/>
          <a:lstStyle/>
          <a:p>
            <a:pPr marL="0" indent="0">
              <a:buNone/>
            </a:pPr>
            <a:r>
              <a:rPr lang="en-US" sz="900" b="1" kern="0" spc="50">
                <a:solidFill>
                  <a:srgbClr val="5B6478"/>
                </a:solidFill>
                <a:latin typeface="Aptos" panose="020B0004020202020204" pitchFamily="34" charset="0"/>
                <a:ea typeface="Calibri" pitchFamily="34" charset="-122"/>
                <a:cs typeface="Calibri" pitchFamily="34" charset="-120"/>
              </a:rPr>
              <a:t>RWA-ANSTIEG</a:t>
            </a:r>
            <a:endParaRPr lang="en-US" sz="900">
              <a:latin typeface="Aptos" panose="020B0004020202020204" pitchFamily="34" charset="0"/>
            </a:endParaRPr>
          </a:p>
        </p:txBody>
      </p:sp>
      <p:sp>
        <p:nvSpPr>
          <p:cNvPr id="32" name="Text 30"/>
          <p:cNvSpPr/>
          <p:nvPr/>
        </p:nvSpPr>
        <p:spPr>
          <a:xfrm>
            <a:off x="10305288" y="2240280"/>
            <a:ext cx="1591056" cy="548640"/>
          </a:xfrm>
          <a:prstGeom prst="rect">
            <a:avLst/>
          </a:prstGeom>
          <a:noFill/>
          <a:ln/>
        </p:spPr>
        <p:txBody>
          <a:bodyPr wrap="square" lIns="0" tIns="0" rIns="0" bIns="0" rtlCol="0" anchor="ctr"/>
          <a:lstStyle/>
          <a:p>
            <a:pPr marL="0" indent="0">
              <a:buNone/>
            </a:pPr>
            <a:r>
              <a:rPr lang="en-US" sz="1900" b="1">
                <a:solidFill>
                  <a:srgbClr val="1A1A1A"/>
                </a:solidFill>
                <a:latin typeface="Aptos" panose="020B0004020202020204" pitchFamily="34" charset="0"/>
                <a:ea typeface="Cambria" pitchFamily="34" charset="-122"/>
                <a:cs typeface="Cambria" pitchFamily="34" charset="-120"/>
              </a:rPr>
              <a:t>+€519 </a:t>
            </a:r>
            <a:r>
              <a:rPr lang="en-US" sz="1900" b="1" err="1">
                <a:solidFill>
                  <a:srgbClr val="1A1A1A"/>
                </a:solidFill>
                <a:latin typeface="Aptos" panose="020B0004020202020204" pitchFamily="34" charset="0"/>
                <a:ea typeface="Cambria" pitchFamily="34" charset="-122"/>
                <a:cs typeface="Cambria" pitchFamily="34" charset="-120"/>
              </a:rPr>
              <a:t>Mrd</a:t>
            </a:r>
            <a:r>
              <a:rPr lang="en-US" sz="1900" b="1">
                <a:solidFill>
                  <a:srgbClr val="1A1A1A"/>
                </a:solidFill>
                <a:latin typeface="Aptos" panose="020B0004020202020204" pitchFamily="34" charset="0"/>
                <a:ea typeface="Cambria" pitchFamily="34" charset="-122"/>
                <a:cs typeface="Cambria" pitchFamily="34" charset="-120"/>
              </a:rPr>
              <a:t>.</a:t>
            </a:r>
            <a:endParaRPr lang="en-US" sz="1900">
              <a:latin typeface="Aptos" panose="020B0004020202020204" pitchFamily="34" charset="0"/>
            </a:endParaRPr>
          </a:p>
        </p:txBody>
      </p:sp>
      <p:sp>
        <p:nvSpPr>
          <p:cNvPr id="33" name="Text 31"/>
          <p:cNvSpPr/>
          <p:nvPr/>
        </p:nvSpPr>
        <p:spPr>
          <a:xfrm>
            <a:off x="10305288" y="2807208"/>
            <a:ext cx="1591056" cy="320040"/>
          </a:xfrm>
          <a:prstGeom prst="rect">
            <a:avLst/>
          </a:prstGeom>
          <a:noFill/>
          <a:ln/>
        </p:spPr>
        <p:txBody>
          <a:bodyPr wrap="square" lIns="0" tIns="0" rIns="0" bIns="0" rtlCol="0" anchor="ctr"/>
          <a:lstStyle/>
          <a:p>
            <a:pPr marL="0" indent="0">
              <a:buNone/>
            </a:pPr>
            <a:r>
              <a:rPr lang="en-US" sz="950" err="1">
                <a:solidFill>
                  <a:srgbClr val="5B6478"/>
                </a:solidFill>
                <a:latin typeface="Aptos" panose="020B0004020202020204" pitchFamily="34" charset="0"/>
                <a:ea typeface="Calibri" pitchFamily="34" charset="-122"/>
                <a:cs typeface="Calibri" pitchFamily="34" charset="-120"/>
              </a:rPr>
              <a:t>durch</a:t>
            </a:r>
            <a:r>
              <a:rPr lang="en-US" sz="950">
                <a:solidFill>
                  <a:srgbClr val="5B6478"/>
                </a:solidFill>
                <a:latin typeface="Aptos" panose="020B0004020202020204" pitchFamily="34" charset="0"/>
                <a:ea typeface="Calibri" pitchFamily="34" charset="-122"/>
                <a:cs typeface="Calibri" pitchFamily="34" charset="-120"/>
              </a:rPr>
              <a:t> den Schock</a:t>
            </a:r>
            <a:endParaRPr lang="en-US" sz="950">
              <a:latin typeface="Aptos" panose="020B0004020202020204" pitchFamily="34" charset="0"/>
            </a:endParaRPr>
          </a:p>
        </p:txBody>
      </p:sp>
      <p:sp>
        <p:nvSpPr>
          <p:cNvPr id="34" name="Text 32"/>
          <p:cNvSpPr/>
          <p:nvPr/>
        </p:nvSpPr>
        <p:spPr>
          <a:xfrm>
            <a:off x="548640" y="3520440"/>
            <a:ext cx="5486400" cy="274320"/>
          </a:xfrm>
          <a:prstGeom prst="rect">
            <a:avLst/>
          </a:prstGeom>
          <a:noFill/>
          <a:ln/>
        </p:spPr>
        <p:txBody>
          <a:bodyPr wrap="square" lIns="0" tIns="0" rIns="0" bIns="0" rtlCol="0" anchor="ctr"/>
          <a:lstStyle/>
          <a:p>
            <a:pPr marL="0" indent="0">
              <a:buNone/>
            </a:pPr>
            <a:r>
              <a:rPr lang="en-US" sz="1100" b="1" kern="0" spc="100">
                <a:solidFill>
                  <a:srgbClr val="16243F"/>
                </a:solidFill>
                <a:latin typeface="Aptos" panose="020B0004020202020204" pitchFamily="34" charset="0"/>
                <a:ea typeface="Calibri" pitchFamily="34" charset="-122"/>
                <a:cs typeface="Calibri" pitchFamily="34" charset="-120"/>
              </a:rPr>
              <a:t>LEAGUE TABLE · TOP-8 NACH EAD</a:t>
            </a:r>
            <a:endParaRPr lang="en-US" sz="1100">
              <a:latin typeface="Aptos" panose="020B0004020202020204" pitchFamily="34" charset="0"/>
            </a:endParaRPr>
          </a:p>
        </p:txBody>
      </p:sp>
      <p:graphicFrame>
        <p:nvGraphicFramePr>
          <p:cNvPr id="35" name="Table 0"/>
          <p:cNvGraphicFramePr>
            <a:graphicFrameLocks noGrp="1"/>
          </p:cNvGraphicFramePr>
          <p:nvPr>
            <p:extLst>
              <p:ext uri="{D42A27DB-BD31-4B8C-83A1-F6EECF244321}">
                <p14:modId xmlns:p14="http://schemas.microsoft.com/office/powerpoint/2010/main" val="714295795"/>
              </p:ext>
            </p:extLst>
          </p:nvPr>
        </p:nvGraphicFramePr>
        <p:xfrm>
          <a:off x="548640" y="3840480"/>
          <a:ext cx="6400800" cy="2596896"/>
        </p:xfrm>
        <a:graphic>
          <a:graphicData uri="http://schemas.openxmlformats.org/drawingml/2006/table">
            <a:tbl>
              <a:tblPr/>
              <a:tblGrid>
                <a:gridCol w="265176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tblGrid>
              <a:tr h="324612">
                <a:tc>
                  <a:txBody>
                    <a:bodyPr/>
                    <a:lstStyle/>
                    <a:p>
                      <a:pPr marL="0" indent="0">
                        <a:buNone/>
                      </a:pPr>
                      <a:r>
                        <a:rPr lang="en-US" sz="1000" b="1">
                          <a:solidFill>
                            <a:srgbClr val="FFFFFF"/>
                          </a:solidFill>
                          <a:latin typeface="Aptos" panose="020B0004020202020204" pitchFamily="34" charset="0"/>
                          <a:ea typeface="Calibri" pitchFamily="34" charset="-122"/>
                          <a:cs typeface="Calibri" pitchFamily="34" charset="-120"/>
                        </a:rPr>
                        <a:t>Bank</a:t>
                      </a:r>
                      <a:endParaRPr lang="en-US" sz="1000">
                        <a:latin typeface="Aptos" panose="020B0004020202020204" pitchFamily="34" charset="0"/>
                        <a:ea typeface="Calibri" charset="0"/>
                        <a:cs typeface="Calibri" charset="0"/>
                      </a:endParaRPr>
                    </a:p>
                  </a:txBody>
                  <a:tcP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16243F"/>
                    </a:solidFill>
                  </a:tcPr>
                </a:tc>
                <a:tc>
                  <a:txBody>
                    <a:bodyPr/>
                    <a:lstStyle/>
                    <a:p>
                      <a:pPr marL="0" indent="0">
                        <a:buNone/>
                      </a:pPr>
                      <a:r>
                        <a:rPr lang="en-US" sz="1000" b="1">
                          <a:solidFill>
                            <a:srgbClr val="FFFFFF"/>
                          </a:solidFill>
                          <a:latin typeface="Aptos" panose="020B0004020202020204" pitchFamily="34" charset="0"/>
                          <a:ea typeface="Calibri" pitchFamily="34" charset="-122"/>
                          <a:cs typeface="Calibri" pitchFamily="34" charset="-120"/>
                        </a:rPr>
                        <a:t>EAD Mrd. €</a:t>
                      </a:r>
                      <a:endParaRPr lang="en-US" sz="1000">
                        <a:latin typeface="Aptos" panose="020B0004020202020204" pitchFamily="34" charset="0"/>
                        <a:ea typeface="Calibri" charset="0"/>
                        <a:cs typeface="Calibri" charset="0"/>
                      </a:endParaRPr>
                    </a:p>
                  </a:txBody>
                  <a:tcP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16243F"/>
                    </a:solidFill>
                  </a:tcPr>
                </a:tc>
                <a:tc>
                  <a:txBody>
                    <a:bodyPr/>
                    <a:lstStyle/>
                    <a:p>
                      <a:pPr marL="0" indent="0">
                        <a:buNone/>
                      </a:pPr>
                      <a:r>
                        <a:rPr lang="en-US" sz="1000" b="1">
                          <a:solidFill>
                            <a:srgbClr val="FFFFFF"/>
                          </a:solidFill>
                          <a:latin typeface="Aptos" panose="020B0004020202020204" pitchFamily="34" charset="0"/>
                          <a:ea typeface="Calibri" pitchFamily="34" charset="-122"/>
                          <a:cs typeface="Calibri" pitchFamily="34" charset="-120"/>
                        </a:rPr>
                        <a:t>EL stress Mio. €</a:t>
                      </a:r>
                      <a:endParaRPr lang="en-US" sz="1000">
                        <a:latin typeface="Aptos" panose="020B0004020202020204" pitchFamily="34" charset="0"/>
                        <a:ea typeface="Calibri" charset="0"/>
                        <a:cs typeface="Calibri" charset="0"/>
                      </a:endParaRPr>
                    </a:p>
                  </a:txBody>
                  <a:tcP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16243F"/>
                    </a:solidFill>
                  </a:tcPr>
                </a:tc>
                <a:tc>
                  <a:txBody>
                    <a:bodyPr/>
                    <a:lstStyle/>
                    <a:p>
                      <a:pPr marL="0" indent="0">
                        <a:buNone/>
                      </a:pPr>
                      <a:r>
                        <a:rPr lang="en-US" sz="1000" b="1">
                          <a:solidFill>
                            <a:srgbClr val="FFFFFF"/>
                          </a:solidFill>
                          <a:latin typeface="Aptos" panose="020B0004020202020204" pitchFamily="34" charset="0"/>
                          <a:ea typeface="Calibri" pitchFamily="34" charset="-122"/>
                          <a:cs typeface="Calibri" pitchFamily="34" charset="-120"/>
                        </a:rPr>
                        <a:t>Δ EL Mio. €</a:t>
                      </a:r>
                      <a:endParaRPr lang="en-US" sz="1000">
                        <a:latin typeface="Aptos" panose="020B0004020202020204" pitchFamily="34" charset="0"/>
                        <a:ea typeface="Calibri" charset="0"/>
                        <a:cs typeface="Calibri" charset="0"/>
                      </a:endParaRPr>
                    </a:p>
                  </a:txBody>
                  <a:tcP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16243F"/>
                    </a:solidFill>
                  </a:tcPr>
                </a:tc>
                <a:extLst>
                  <a:ext uri="{0D108BD9-81ED-4DB2-BD59-A6C34878D82A}">
                    <a16:rowId xmlns:a16="http://schemas.microsoft.com/office/drawing/2014/main" val="10000"/>
                  </a:ext>
                </a:extLst>
              </a:tr>
              <a:tr h="324612">
                <a:tc>
                  <a:txBody>
                    <a:bodyPr/>
                    <a:lstStyle/>
                    <a:p>
                      <a:pPr marL="0" indent="0" algn="l">
                        <a:buNone/>
                      </a:pPr>
                      <a:r>
                        <a:rPr lang="en-US" sz="1000">
                          <a:solidFill>
                            <a:srgbClr val="1A1A1A"/>
                          </a:solidFill>
                          <a:latin typeface="Aptos" panose="020B0004020202020204" pitchFamily="34" charset="0"/>
                          <a:ea typeface="Calibri" pitchFamily="34" charset="-122"/>
                          <a:cs typeface="Calibri" pitchFamily="34" charset="-120"/>
                        </a:rPr>
                        <a:t>Groupe Crédit Agricole</a:t>
                      </a:r>
                      <a:endParaRPr lang="en-US" sz="1000">
                        <a:latin typeface="Aptos" panose="020B0004020202020204" pitchFamily="34" charset="0"/>
                        <a:ea typeface="Calibri" charset="0"/>
                        <a:cs typeface="Calibri" charset="0"/>
                      </a:endParaRPr>
                    </a:p>
                  </a:txBody>
                  <a:tcP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FFFFFF"/>
                    </a:solidFill>
                  </a:tcPr>
                </a:tc>
                <a:tc>
                  <a:txBody>
                    <a:bodyPr/>
                    <a:lstStyle/>
                    <a:p>
                      <a:pPr marL="0" indent="0" algn="r">
                        <a:buNone/>
                      </a:pPr>
                      <a:r>
                        <a:rPr lang="en-US" sz="1000">
                          <a:solidFill>
                            <a:srgbClr val="1A1A1A"/>
                          </a:solidFill>
                          <a:latin typeface="Aptos" panose="020B0004020202020204" pitchFamily="34" charset="0"/>
                          <a:ea typeface="Calibri" pitchFamily="34" charset="-122"/>
                          <a:cs typeface="Calibri" pitchFamily="34" charset="-120"/>
                        </a:rPr>
                        <a:t>1.645,8</a:t>
                      </a:r>
                      <a:endParaRPr lang="en-US" sz="1000">
                        <a:latin typeface="Aptos" panose="020B0004020202020204" pitchFamily="34" charset="0"/>
                        <a:ea typeface="Calibri" charset="0"/>
                        <a:cs typeface="Calibri" charset="0"/>
                      </a:endParaRPr>
                    </a:p>
                  </a:txBody>
                  <a:tcP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FFFFFF"/>
                    </a:solidFill>
                  </a:tcPr>
                </a:tc>
                <a:tc>
                  <a:txBody>
                    <a:bodyPr/>
                    <a:lstStyle/>
                    <a:p>
                      <a:pPr marL="0" indent="0" algn="r">
                        <a:buNone/>
                      </a:pPr>
                      <a:r>
                        <a:rPr lang="en-US" sz="1000">
                          <a:solidFill>
                            <a:srgbClr val="1A1A1A"/>
                          </a:solidFill>
                          <a:latin typeface="Aptos" panose="020B0004020202020204" pitchFamily="34" charset="0"/>
                          <a:ea typeface="Calibri" pitchFamily="34" charset="-122"/>
                          <a:cs typeface="Calibri" pitchFamily="34" charset="-120"/>
                        </a:rPr>
                        <a:t>20.274</a:t>
                      </a:r>
                      <a:endParaRPr lang="en-US" sz="1000">
                        <a:latin typeface="Aptos" panose="020B0004020202020204" pitchFamily="34" charset="0"/>
                        <a:ea typeface="Calibri" charset="0"/>
                        <a:cs typeface="Calibri" charset="0"/>
                      </a:endParaRPr>
                    </a:p>
                  </a:txBody>
                  <a:tcP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FFFFFF"/>
                    </a:solidFill>
                  </a:tcPr>
                </a:tc>
                <a:tc>
                  <a:txBody>
                    <a:bodyPr/>
                    <a:lstStyle/>
                    <a:p>
                      <a:pPr marL="0" indent="0" algn="r">
                        <a:buNone/>
                      </a:pPr>
                      <a:r>
                        <a:rPr lang="en-US" sz="1000">
                          <a:solidFill>
                            <a:srgbClr val="1A1A1A"/>
                          </a:solidFill>
                          <a:latin typeface="Aptos" panose="020B0004020202020204" pitchFamily="34" charset="0"/>
                          <a:ea typeface="Calibri" pitchFamily="34" charset="-122"/>
                          <a:cs typeface="Calibri" pitchFamily="34" charset="-120"/>
                        </a:rPr>
                        <a:t>3.442</a:t>
                      </a:r>
                      <a:endParaRPr lang="en-US" sz="1000">
                        <a:latin typeface="Aptos" panose="020B0004020202020204" pitchFamily="34" charset="0"/>
                        <a:ea typeface="Calibri" charset="0"/>
                        <a:cs typeface="Calibri" charset="0"/>
                      </a:endParaRPr>
                    </a:p>
                  </a:txBody>
                  <a:tcP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4612">
                <a:tc>
                  <a:txBody>
                    <a:bodyPr/>
                    <a:lstStyle/>
                    <a:p>
                      <a:pPr marL="0" indent="0" algn="l">
                        <a:buNone/>
                      </a:pPr>
                      <a:r>
                        <a:rPr lang="en-US" sz="1000">
                          <a:solidFill>
                            <a:srgbClr val="1A1A1A"/>
                          </a:solidFill>
                          <a:latin typeface="Aptos" panose="020B0004020202020204" pitchFamily="34" charset="0"/>
                          <a:ea typeface="Calibri" pitchFamily="34" charset="-122"/>
                          <a:cs typeface="Calibri" pitchFamily="34" charset="-120"/>
                        </a:rPr>
                        <a:t>BNP Paribas</a:t>
                      </a:r>
                      <a:endParaRPr lang="en-US" sz="1000">
                        <a:latin typeface="Aptos" panose="020B0004020202020204" pitchFamily="34" charset="0"/>
                        <a:ea typeface="Calibri" charset="0"/>
                        <a:cs typeface="Calibri" charset="0"/>
                      </a:endParaRPr>
                    </a:p>
                  </a:txBody>
                  <a:tcP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F4F6FB"/>
                    </a:solidFill>
                  </a:tcPr>
                </a:tc>
                <a:tc>
                  <a:txBody>
                    <a:bodyPr/>
                    <a:lstStyle/>
                    <a:p>
                      <a:pPr marL="0" indent="0" algn="r">
                        <a:buNone/>
                      </a:pPr>
                      <a:r>
                        <a:rPr lang="en-US" sz="1000">
                          <a:solidFill>
                            <a:srgbClr val="1A1A1A"/>
                          </a:solidFill>
                          <a:latin typeface="Aptos" panose="020B0004020202020204" pitchFamily="34" charset="0"/>
                          <a:ea typeface="Calibri" pitchFamily="34" charset="-122"/>
                          <a:cs typeface="Calibri" pitchFamily="34" charset="-120"/>
                        </a:rPr>
                        <a:t>1.301,5</a:t>
                      </a:r>
                      <a:endParaRPr lang="en-US" sz="1000">
                        <a:latin typeface="Aptos" panose="020B0004020202020204" pitchFamily="34" charset="0"/>
                        <a:ea typeface="Calibri" charset="0"/>
                        <a:cs typeface="Calibri" charset="0"/>
                      </a:endParaRPr>
                    </a:p>
                  </a:txBody>
                  <a:tcP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F4F6FB"/>
                    </a:solidFill>
                  </a:tcPr>
                </a:tc>
                <a:tc>
                  <a:txBody>
                    <a:bodyPr/>
                    <a:lstStyle/>
                    <a:p>
                      <a:pPr marL="0" indent="0" algn="r">
                        <a:buNone/>
                      </a:pPr>
                      <a:r>
                        <a:rPr lang="en-US" sz="1000">
                          <a:solidFill>
                            <a:srgbClr val="1A1A1A"/>
                          </a:solidFill>
                          <a:latin typeface="Aptos" panose="020B0004020202020204" pitchFamily="34" charset="0"/>
                          <a:ea typeface="Calibri" pitchFamily="34" charset="-122"/>
                          <a:cs typeface="Calibri" pitchFamily="34" charset="-120"/>
                        </a:rPr>
                        <a:t>14.762</a:t>
                      </a:r>
                      <a:endParaRPr lang="en-US" sz="1000">
                        <a:latin typeface="Aptos" panose="020B0004020202020204" pitchFamily="34" charset="0"/>
                        <a:ea typeface="Calibri" charset="0"/>
                        <a:cs typeface="Calibri" charset="0"/>
                      </a:endParaRPr>
                    </a:p>
                  </a:txBody>
                  <a:tcP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F4F6FB"/>
                    </a:solidFill>
                  </a:tcPr>
                </a:tc>
                <a:tc>
                  <a:txBody>
                    <a:bodyPr/>
                    <a:lstStyle/>
                    <a:p>
                      <a:pPr marL="0" indent="0" algn="r">
                        <a:buNone/>
                      </a:pPr>
                      <a:r>
                        <a:rPr lang="en-US" sz="1000">
                          <a:solidFill>
                            <a:srgbClr val="1A1A1A"/>
                          </a:solidFill>
                          <a:latin typeface="Aptos" panose="020B0004020202020204" pitchFamily="34" charset="0"/>
                          <a:ea typeface="Calibri" pitchFamily="34" charset="-122"/>
                          <a:cs typeface="Calibri" pitchFamily="34" charset="-120"/>
                        </a:rPr>
                        <a:t>2.467</a:t>
                      </a:r>
                      <a:endParaRPr lang="en-US" sz="1000">
                        <a:latin typeface="Aptos" panose="020B0004020202020204" pitchFamily="34" charset="0"/>
                        <a:ea typeface="Calibri" charset="0"/>
                        <a:cs typeface="Calibri" charset="0"/>
                      </a:endParaRPr>
                    </a:p>
                  </a:txBody>
                  <a:tcP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F4F6FB"/>
                    </a:solidFill>
                  </a:tcPr>
                </a:tc>
                <a:extLst>
                  <a:ext uri="{0D108BD9-81ED-4DB2-BD59-A6C34878D82A}">
                    <a16:rowId xmlns:a16="http://schemas.microsoft.com/office/drawing/2014/main" val="10002"/>
                  </a:ext>
                </a:extLst>
              </a:tr>
              <a:tr h="324612">
                <a:tc>
                  <a:txBody>
                    <a:bodyPr/>
                    <a:lstStyle/>
                    <a:p>
                      <a:pPr marL="0" indent="0" algn="l">
                        <a:buNone/>
                      </a:pPr>
                      <a:r>
                        <a:rPr lang="en-US" sz="1000">
                          <a:solidFill>
                            <a:srgbClr val="1A1A1A"/>
                          </a:solidFill>
                          <a:latin typeface="Aptos" panose="020B0004020202020204" pitchFamily="34" charset="0"/>
                          <a:ea typeface="Calibri" pitchFamily="34" charset="-122"/>
                          <a:cs typeface="Calibri" pitchFamily="34" charset="-120"/>
                        </a:rPr>
                        <a:t>ING Groep N.V.</a:t>
                      </a:r>
                      <a:endParaRPr lang="en-US" sz="1000">
                        <a:latin typeface="Aptos" panose="020B0004020202020204" pitchFamily="34" charset="0"/>
                        <a:ea typeface="Calibri" charset="0"/>
                        <a:cs typeface="Calibri" charset="0"/>
                      </a:endParaRPr>
                    </a:p>
                  </a:txBody>
                  <a:tcP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FFFFFF"/>
                    </a:solidFill>
                  </a:tcPr>
                </a:tc>
                <a:tc>
                  <a:txBody>
                    <a:bodyPr/>
                    <a:lstStyle/>
                    <a:p>
                      <a:pPr marL="0" indent="0" algn="r">
                        <a:buNone/>
                      </a:pPr>
                      <a:r>
                        <a:rPr lang="en-US" sz="1000">
                          <a:solidFill>
                            <a:srgbClr val="1A1A1A"/>
                          </a:solidFill>
                          <a:latin typeface="Aptos" panose="020B0004020202020204" pitchFamily="34" charset="0"/>
                          <a:ea typeface="Calibri" pitchFamily="34" charset="-122"/>
                          <a:cs typeface="Calibri" pitchFamily="34" charset="-120"/>
                        </a:rPr>
                        <a:t>928,0</a:t>
                      </a:r>
                      <a:endParaRPr lang="en-US" sz="1000">
                        <a:latin typeface="Aptos" panose="020B0004020202020204" pitchFamily="34" charset="0"/>
                        <a:ea typeface="Calibri" charset="0"/>
                        <a:cs typeface="Calibri" charset="0"/>
                      </a:endParaRPr>
                    </a:p>
                  </a:txBody>
                  <a:tcP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FFFFFF"/>
                    </a:solidFill>
                  </a:tcPr>
                </a:tc>
                <a:tc>
                  <a:txBody>
                    <a:bodyPr/>
                    <a:lstStyle/>
                    <a:p>
                      <a:pPr marL="0" indent="0" algn="r">
                        <a:buNone/>
                      </a:pPr>
                      <a:r>
                        <a:rPr lang="en-US" sz="1000">
                          <a:solidFill>
                            <a:srgbClr val="1A1A1A"/>
                          </a:solidFill>
                          <a:latin typeface="Aptos" panose="020B0004020202020204" pitchFamily="34" charset="0"/>
                          <a:ea typeface="Calibri" pitchFamily="34" charset="-122"/>
                          <a:cs typeface="Calibri" pitchFamily="34" charset="-120"/>
                        </a:rPr>
                        <a:t>12.983</a:t>
                      </a:r>
                      <a:endParaRPr lang="en-US" sz="1000">
                        <a:latin typeface="Aptos" panose="020B0004020202020204" pitchFamily="34" charset="0"/>
                        <a:ea typeface="Calibri" charset="0"/>
                        <a:cs typeface="Calibri" charset="0"/>
                      </a:endParaRPr>
                    </a:p>
                  </a:txBody>
                  <a:tcP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FFFFFF"/>
                    </a:solidFill>
                  </a:tcPr>
                </a:tc>
                <a:tc>
                  <a:txBody>
                    <a:bodyPr/>
                    <a:lstStyle/>
                    <a:p>
                      <a:pPr marL="0" indent="0" algn="r">
                        <a:buNone/>
                      </a:pPr>
                      <a:r>
                        <a:rPr lang="en-US" sz="1000">
                          <a:solidFill>
                            <a:srgbClr val="1A1A1A"/>
                          </a:solidFill>
                          <a:latin typeface="Aptos" panose="020B0004020202020204" pitchFamily="34" charset="0"/>
                          <a:ea typeface="Calibri" pitchFamily="34" charset="-122"/>
                          <a:cs typeface="Calibri" pitchFamily="34" charset="-120"/>
                        </a:rPr>
                        <a:t>2.064</a:t>
                      </a:r>
                      <a:endParaRPr lang="en-US" sz="1000">
                        <a:latin typeface="Aptos" panose="020B0004020202020204" pitchFamily="34" charset="0"/>
                        <a:ea typeface="Calibri" charset="0"/>
                        <a:cs typeface="Calibri" charset="0"/>
                      </a:endParaRPr>
                    </a:p>
                  </a:txBody>
                  <a:tcP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24612">
                <a:tc>
                  <a:txBody>
                    <a:bodyPr/>
                    <a:lstStyle/>
                    <a:p>
                      <a:pPr marL="0" indent="0" algn="l">
                        <a:buNone/>
                      </a:pPr>
                      <a:r>
                        <a:rPr lang="en-US" sz="1000">
                          <a:solidFill>
                            <a:srgbClr val="1A1A1A"/>
                          </a:solidFill>
                          <a:latin typeface="Aptos" panose="020B0004020202020204" pitchFamily="34" charset="0"/>
                          <a:ea typeface="Calibri" pitchFamily="34" charset="-122"/>
                          <a:cs typeface="Calibri" pitchFamily="34" charset="-120"/>
                        </a:rPr>
                        <a:t>Société Générale S.A.</a:t>
                      </a:r>
                      <a:endParaRPr lang="en-US" sz="1000">
                        <a:latin typeface="Aptos" panose="020B0004020202020204" pitchFamily="34" charset="0"/>
                        <a:ea typeface="Calibri" charset="0"/>
                        <a:cs typeface="Calibri" charset="0"/>
                      </a:endParaRPr>
                    </a:p>
                  </a:txBody>
                  <a:tcP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F4F6FB"/>
                    </a:solidFill>
                  </a:tcPr>
                </a:tc>
                <a:tc>
                  <a:txBody>
                    <a:bodyPr/>
                    <a:lstStyle/>
                    <a:p>
                      <a:pPr marL="0" indent="0" algn="r">
                        <a:buNone/>
                      </a:pPr>
                      <a:r>
                        <a:rPr lang="en-US" sz="1000">
                          <a:solidFill>
                            <a:srgbClr val="1A1A1A"/>
                          </a:solidFill>
                          <a:latin typeface="Aptos" panose="020B0004020202020204" pitchFamily="34" charset="0"/>
                          <a:ea typeface="Calibri" pitchFamily="34" charset="-122"/>
                          <a:cs typeface="Calibri" pitchFamily="34" charset="-120"/>
                        </a:rPr>
                        <a:t>791,4</a:t>
                      </a:r>
                      <a:endParaRPr lang="en-US" sz="1000">
                        <a:latin typeface="Aptos" panose="020B0004020202020204" pitchFamily="34" charset="0"/>
                        <a:ea typeface="Calibri" charset="0"/>
                        <a:cs typeface="Calibri" charset="0"/>
                      </a:endParaRPr>
                    </a:p>
                  </a:txBody>
                  <a:tcP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F4F6FB"/>
                    </a:solidFill>
                  </a:tcPr>
                </a:tc>
                <a:tc>
                  <a:txBody>
                    <a:bodyPr/>
                    <a:lstStyle/>
                    <a:p>
                      <a:pPr marL="0" indent="0" algn="r">
                        <a:buNone/>
                      </a:pPr>
                      <a:r>
                        <a:rPr lang="en-US" sz="1000">
                          <a:solidFill>
                            <a:srgbClr val="1A1A1A"/>
                          </a:solidFill>
                          <a:latin typeface="Aptos" panose="020B0004020202020204" pitchFamily="34" charset="0"/>
                          <a:ea typeface="Calibri" pitchFamily="34" charset="-122"/>
                          <a:cs typeface="Calibri" pitchFamily="34" charset="-120"/>
                        </a:rPr>
                        <a:t>7.615</a:t>
                      </a:r>
                      <a:endParaRPr lang="en-US" sz="1000">
                        <a:latin typeface="Aptos" panose="020B0004020202020204" pitchFamily="34" charset="0"/>
                        <a:ea typeface="Calibri" charset="0"/>
                        <a:cs typeface="Calibri" charset="0"/>
                      </a:endParaRPr>
                    </a:p>
                  </a:txBody>
                  <a:tcP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F4F6FB"/>
                    </a:solidFill>
                  </a:tcPr>
                </a:tc>
                <a:tc>
                  <a:txBody>
                    <a:bodyPr/>
                    <a:lstStyle/>
                    <a:p>
                      <a:pPr marL="0" indent="0" algn="r">
                        <a:buNone/>
                      </a:pPr>
                      <a:r>
                        <a:rPr lang="en-US" sz="1000">
                          <a:solidFill>
                            <a:srgbClr val="1A1A1A"/>
                          </a:solidFill>
                          <a:latin typeface="Aptos" panose="020B0004020202020204" pitchFamily="34" charset="0"/>
                          <a:ea typeface="Calibri" pitchFamily="34" charset="-122"/>
                          <a:cs typeface="Calibri" pitchFamily="34" charset="-120"/>
                        </a:rPr>
                        <a:t>1.250</a:t>
                      </a:r>
                      <a:endParaRPr lang="en-US" sz="1000">
                        <a:latin typeface="Aptos" panose="020B0004020202020204" pitchFamily="34" charset="0"/>
                        <a:ea typeface="Calibri" charset="0"/>
                        <a:cs typeface="Calibri" charset="0"/>
                      </a:endParaRPr>
                    </a:p>
                  </a:txBody>
                  <a:tcP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F4F6FB"/>
                    </a:solidFill>
                  </a:tcPr>
                </a:tc>
                <a:extLst>
                  <a:ext uri="{0D108BD9-81ED-4DB2-BD59-A6C34878D82A}">
                    <a16:rowId xmlns:a16="http://schemas.microsoft.com/office/drawing/2014/main" val="10004"/>
                  </a:ext>
                </a:extLst>
              </a:tr>
              <a:tr h="324612">
                <a:tc>
                  <a:txBody>
                    <a:bodyPr/>
                    <a:lstStyle/>
                    <a:p>
                      <a:pPr marL="0" indent="0" algn="l">
                        <a:buNone/>
                      </a:pPr>
                      <a:r>
                        <a:rPr lang="en-US" sz="1000">
                          <a:solidFill>
                            <a:srgbClr val="1A1A1A"/>
                          </a:solidFill>
                          <a:latin typeface="Aptos" panose="020B0004020202020204" pitchFamily="34" charset="0"/>
                          <a:ea typeface="Calibri" pitchFamily="34" charset="-122"/>
                          <a:cs typeface="Calibri" pitchFamily="34" charset="-120"/>
                        </a:rPr>
                        <a:t>Groupe BPCE</a:t>
                      </a:r>
                      <a:endParaRPr lang="en-US" sz="1000">
                        <a:latin typeface="Aptos" panose="020B0004020202020204" pitchFamily="34" charset="0"/>
                        <a:ea typeface="Calibri" charset="0"/>
                        <a:cs typeface="Calibri" charset="0"/>
                      </a:endParaRPr>
                    </a:p>
                  </a:txBody>
                  <a:tcP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FFFFFF"/>
                    </a:solidFill>
                  </a:tcPr>
                </a:tc>
                <a:tc>
                  <a:txBody>
                    <a:bodyPr/>
                    <a:lstStyle/>
                    <a:p>
                      <a:pPr marL="0" indent="0" algn="r">
                        <a:buNone/>
                      </a:pPr>
                      <a:r>
                        <a:rPr lang="en-US" sz="1000">
                          <a:solidFill>
                            <a:srgbClr val="1A1A1A"/>
                          </a:solidFill>
                          <a:latin typeface="Aptos" panose="020B0004020202020204" pitchFamily="34" charset="0"/>
                          <a:ea typeface="Calibri" pitchFamily="34" charset="-122"/>
                          <a:cs typeface="Calibri" pitchFamily="34" charset="-120"/>
                        </a:rPr>
                        <a:t>777,3</a:t>
                      </a:r>
                      <a:endParaRPr lang="en-US" sz="1000">
                        <a:latin typeface="Aptos" panose="020B0004020202020204" pitchFamily="34" charset="0"/>
                        <a:ea typeface="Calibri" charset="0"/>
                        <a:cs typeface="Calibri" charset="0"/>
                      </a:endParaRPr>
                    </a:p>
                  </a:txBody>
                  <a:tcP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FFFFFF"/>
                    </a:solidFill>
                  </a:tcPr>
                </a:tc>
                <a:tc>
                  <a:txBody>
                    <a:bodyPr/>
                    <a:lstStyle/>
                    <a:p>
                      <a:pPr marL="0" indent="0" algn="r">
                        <a:buNone/>
                      </a:pPr>
                      <a:r>
                        <a:rPr lang="en-US" sz="1000">
                          <a:solidFill>
                            <a:srgbClr val="1A1A1A"/>
                          </a:solidFill>
                          <a:latin typeface="Aptos" panose="020B0004020202020204" pitchFamily="34" charset="0"/>
                          <a:ea typeface="Calibri" pitchFamily="34" charset="-122"/>
                          <a:cs typeface="Calibri" pitchFamily="34" charset="-120"/>
                        </a:rPr>
                        <a:t>39.925</a:t>
                      </a:r>
                      <a:endParaRPr lang="en-US" sz="1000">
                        <a:latin typeface="Aptos" panose="020B0004020202020204" pitchFamily="34" charset="0"/>
                        <a:ea typeface="Calibri" charset="0"/>
                        <a:cs typeface="Calibri" charset="0"/>
                      </a:endParaRPr>
                    </a:p>
                  </a:txBody>
                  <a:tcP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FFFFFF"/>
                    </a:solidFill>
                  </a:tcPr>
                </a:tc>
                <a:tc>
                  <a:txBody>
                    <a:bodyPr/>
                    <a:lstStyle/>
                    <a:p>
                      <a:pPr marL="0" indent="0" algn="r">
                        <a:buNone/>
                      </a:pPr>
                      <a:r>
                        <a:rPr lang="en-US" sz="1000">
                          <a:solidFill>
                            <a:srgbClr val="1A1A1A"/>
                          </a:solidFill>
                          <a:latin typeface="Aptos" panose="020B0004020202020204" pitchFamily="34" charset="0"/>
                          <a:ea typeface="Calibri" pitchFamily="34" charset="-122"/>
                          <a:cs typeface="Calibri" pitchFamily="34" charset="-120"/>
                        </a:rPr>
                        <a:t>3.660</a:t>
                      </a:r>
                      <a:endParaRPr lang="en-US" sz="1000">
                        <a:latin typeface="Aptos" panose="020B0004020202020204" pitchFamily="34" charset="0"/>
                        <a:ea typeface="Calibri" charset="0"/>
                        <a:cs typeface="Calibri" charset="0"/>
                      </a:endParaRPr>
                    </a:p>
                  </a:txBody>
                  <a:tcP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24612">
                <a:tc>
                  <a:txBody>
                    <a:bodyPr/>
                    <a:lstStyle/>
                    <a:p>
                      <a:pPr marL="0" indent="0" algn="l">
                        <a:buNone/>
                      </a:pPr>
                      <a:r>
                        <a:rPr lang="en-US" sz="1000" b="1">
                          <a:solidFill>
                            <a:srgbClr val="1A1A1A"/>
                          </a:solidFill>
                          <a:latin typeface="Aptos" panose="020B0004020202020204" pitchFamily="34" charset="0"/>
                          <a:ea typeface="Calibri" pitchFamily="34" charset="-122"/>
                          <a:cs typeface="Calibri" pitchFamily="34" charset="-120"/>
                        </a:rPr>
                        <a:t>Deutsche Bank AG</a:t>
                      </a:r>
                      <a:endParaRPr lang="en-US" sz="1000">
                        <a:latin typeface="Aptos" panose="020B0004020202020204" pitchFamily="34" charset="0"/>
                        <a:ea typeface="Calibri" charset="0"/>
                        <a:cs typeface="Calibri" charset="0"/>
                      </a:endParaRPr>
                    </a:p>
                  </a:txBody>
                  <a:tcP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FFF3CD"/>
                    </a:solidFill>
                  </a:tcPr>
                </a:tc>
                <a:tc>
                  <a:txBody>
                    <a:bodyPr/>
                    <a:lstStyle/>
                    <a:p>
                      <a:pPr marL="0" indent="0" algn="r">
                        <a:buNone/>
                      </a:pPr>
                      <a:r>
                        <a:rPr lang="en-US" sz="1000" b="1">
                          <a:solidFill>
                            <a:srgbClr val="1A1A1A"/>
                          </a:solidFill>
                          <a:latin typeface="Aptos" panose="020B0004020202020204" pitchFamily="34" charset="0"/>
                          <a:ea typeface="Calibri" pitchFamily="34" charset="-122"/>
                          <a:cs typeface="Calibri" pitchFamily="34" charset="-120"/>
                        </a:rPr>
                        <a:t>738,6</a:t>
                      </a:r>
                      <a:endParaRPr lang="en-US" sz="1000">
                        <a:latin typeface="Aptos" panose="020B0004020202020204" pitchFamily="34" charset="0"/>
                        <a:ea typeface="Calibri" charset="0"/>
                        <a:cs typeface="Calibri" charset="0"/>
                      </a:endParaRPr>
                    </a:p>
                  </a:txBody>
                  <a:tcP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FFF3CD"/>
                    </a:solidFill>
                  </a:tcPr>
                </a:tc>
                <a:tc>
                  <a:txBody>
                    <a:bodyPr/>
                    <a:lstStyle/>
                    <a:p>
                      <a:pPr marL="0" indent="0" algn="r">
                        <a:buNone/>
                      </a:pPr>
                      <a:r>
                        <a:rPr lang="en-US" sz="1000" b="1">
                          <a:solidFill>
                            <a:srgbClr val="1A1A1A"/>
                          </a:solidFill>
                          <a:latin typeface="Aptos" panose="020B0004020202020204" pitchFamily="34" charset="0"/>
                          <a:ea typeface="Calibri" pitchFamily="34" charset="-122"/>
                          <a:cs typeface="Calibri" pitchFamily="34" charset="-120"/>
                        </a:rPr>
                        <a:t>18.272</a:t>
                      </a:r>
                      <a:endParaRPr lang="en-US" sz="1000">
                        <a:latin typeface="Aptos" panose="020B0004020202020204" pitchFamily="34" charset="0"/>
                        <a:ea typeface="Calibri" charset="0"/>
                        <a:cs typeface="Calibri" charset="0"/>
                      </a:endParaRPr>
                    </a:p>
                  </a:txBody>
                  <a:tcP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FFF3CD"/>
                    </a:solidFill>
                  </a:tcPr>
                </a:tc>
                <a:tc>
                  <a:txBody>
                    <a:bodyPr/>
                    <a:lstStyle/>
                    <a:p>
                      <a:pPr marL="0" indent="0" algn="r">
                        <a:buNone/>
                      </a:pPr>
                      <a:r>
                        <a:rPr lang="en-US" sz="1000" b="1">
                          <a:solidFill>
                            <a:srgbClr val="1A1A1A"/>
                          </a:solidFill>
                          <a:latin typeface="Aptos" panose="020B0004020202020204" pitchFamily="34" charset="0"/>
                          <a:ea typeface="Calibri" pitchFamily="34" charset="-122"/>
                          <a:cs typeface="Calibri" pitchFamily="34" charset="-120"/>
                        </a:rPr>
                        <a:t>2.101</a:t>
                      </a:r>
                      <a:endParaRPr lang="en-US" sz="1000">
                        <a:latin typeface="Aptos" panose="020B0004020202020204" pitchFamily="34" charset="0"/>
                        <a:ea typeface="Calibri" charset="0"/>
                        <a:cs typeface="Calibri" charset="0"/>
                      </a:endParaRPr>
                    </a:p>
                  </a:txBody>
                  <a:tcP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FFF3CD"/>
                    </a:solidFill>
                  </a:tcPr>
                </a:tc>
                <a:extLst>
                  <a:ext uri="{0D108BD9-81ED-4DB2-BD59-A6C34878D82A}">
                    <a16:rowId xmlns:a16="http://schemas.microsoft.com/office/drawing/2014/main" val="10006"/>
                  </a:ext>
                </a:extLst>
              </a:tr>
              <a:tr h="324612">
                <a:tc>
                  <a:txBody>
                    <a:bodyPr/>
                    <a:lstStyle/>
                    <a:p>
                      <a:pPr marL="0" indent="0" algn="l">
                        <a:buNone/>
                      </a:pPr>
                      <a:r>
                        <a:rPr lang="en-US" sz="1000">
                          <a:solidFill>
                            <a:srgbClr val="1A1A1A"/>
                          </a:solidFill>
                          <a:latin typeface="Aptos" panose="020B0004020202020204" pitchFamily="34" charset="0"/>
                          <a:ea typeface="Calibri" pitchFamily="34" charset="-122"/>
                          <a:cs typeface="Calibri" pitchFamily="34" charset="-120"/>
                        </a:rPr>
                        <a:t>Banco Santander S.A.</a:t>
                      </a:r>
                      <a:endParaRPr lang="en-US" sz="1000">
                        <a:latin typeface="Aptos" panose="020B0004020202020204" pitchFamily="34" charset="0"/>
                        <a:ea typeface="Calibri" charset="0"/>
                        <a:cs typeface="Calibri" charset="0"/>
                      </a:endParaRPr>
                    </a:p>
                  </a:txBody>
                  <a:tcP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FFFFFF"/>
                    </a:solidFill>
                  </a:tcPr>
                </a:tc>
                <a:tc>
                  <a:txBody>
                    <a:bodyPr/>
                    <a:lstStyle/>
                    <a:p>
                      <a:pPr marL="0" indent="0" algn="r">
                        <a:buNone/>
                      </a:pPr>
                      <a:r>
                        <a:rPr lang="en-US" sz="1000">
                          <a:solidFill>
                            <a:srgbClr val="1A1A1A"/>
                          </a:solidFill>
                          <a:latin typeface="Aptos" panose="020B0004020202020204" pitchFamily="34" charset="0"/>
                          <a:ea typeface="Calibri" pitchFamily="34" charset="-122"/>
                          <a:cs typeface="Calibri" pitchFamily="34" charset="-120"/>
                        </a:rPr>
                        <a:t>594,6</a:t>
                      </a:r>
                      <a:endParaRPr lang="en-US" sz="1000">
                        <a:latin typeface="Aptos" panose="020B0004020202020204" pitchFamily="34" charset="0"/>
                        <a:ea typeface="Calibri" charset="0"/>
                        <a:cs typeface="Calibri" charset="0"/>
                      </a:endParaRPr>
                    </a:p>
                  </a:txBody>
                  <a:tcP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FFFFFF"/>
                    </a:solidFill>
                  </a:tcPr>
                </a:tc>
                <a:tc>
                  <a:txBody>
                    <a:bodyPr/>
                    <a:lstStyle/>
                    <a:p>
                      <a:pPr marL="0" indent="0" algn="r">
                        <a:buNone/>
                      </a:pPr>
                      <a:r>
                        <a:rPr lang="en-US" sz="1000">
                          <a:solidFill>
                            <a:srgbClr val="1A1A1A"/>
                          </a:solidFill>
                          <a:latin typeface="Aptos" panose="020B0004020202020204" pitchFamily="34" charset="0"/>
                          <a:ea typeface="Calibri" pitchFamily="34" charset="-122"/>
                          <a:cs typeface="Calibri" pitchFamily="34" charset="-120"/>
                        </a:rPr>
                        <a:t>16.315</a:t>
                      </a:r>
                      <a:endParaRPr lang="en-US" sz="1000">
                        <a:latin typeface="Aptos" panose="020B0004020202020204" pitchFamily="34" charset="0"/>
                        <a:ea typeface="Calibri" charset="0"/>
                        <a:cs typeface="Calibri" charset="0"/>
                      </a:endParaRPr>
                    </a:p>
                  </a:txBody>
                  <a:tcP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FFFFFF"/>
                    </a:solidFill>
                  </a:tcPr>
                </a:tc>
                <a:tc>
                  <a:txBody>
                    <a:bodyPr/>
                    <a:lstStyle/>
                    <a:p>
                      <a:pPr marL="0" indent="0" algn="r">
                        <a:buNone/>
                      </a:pPr>
                      <a:r>
                        <a:rPr lang="en-US" sz="1000">
                          <a:solidFill>
                            <a:srgbClr val="1A1A1A"/>
                          </a:solidFill>
                          <a:latin typeface="Aptos" panose="020B0004020202020204" pitchFamily="34" charset="0"/>
                          <a:ea typeface="Calibri" pitchFamily="34" charset="-122"/>
                          <a:cs typeface="Calibri" pitchFamily="34" charset="-120"/>
                        </a:rPr>
                        <a:t>2.188</a:t>
                      </a:r>
                      <a:endParaRPr lang="en-US" sz="1000">
                        <a:latin typeface="Aptos" panose="020B0004020202020204" pitchFamily="34" charset="0"/>
                        <a:ea typeface="Calibri" charset="0"/>
                        <a:cs typeface="Calibri" charset="0"/>
                      </a:endParaRPr>
                    </a:p>
                  </a:txBody>
                  <a:tcP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36" name="Shape 33"/>
          <p:cNvSpPr/>
          <p:nvPr/>
        </p:nvSpPr>
        <p:spPr>
          <a:xfrm>
            <a:off x="7178040" y="3520440"/>
            <a:ext cx="4434840" cy="2926080"/>
          </a:xfrm>
          <a:prstGeom prst="roundRect">
            <a:avLst>
              <a:gd name="adj" fmla="val 1875"/>
            </a:avLst>
          </a:prstGeom>
          <a:solidFill>
            <a:srgbClr val="16243F"/>
          </a:solidFill>
          <a:ln/>
        </p:spPr>
        <p:txBody>
          <a:bodyPr/>
          <a:lstStyle/>
          <a:p>
            <a:endParaRPr lang="de-DE"/>
          </a:p>
        </p:txBody>
      </p:sp>
      <p:sp>
        <p:nvSpPr>
          <p:cNvPr id="37" name="Text 34"/>
          <p:cNvSpPr/>
          <p:nvPr/>
        </p:nvSpPr>
        <p:spPr>
          <a:xfrm>
            <a:off x="7406640" y="3657600"/>
            <a:ext cx="3931920" cy="274320"/>
          </a:xfrm>
          <a:prstGeom prst="rect">
            <a:avLst/>
          </a:prstGeom>
          <a:noFill/>
          <a:ln/>
        </p:spPr>
        <p:txBody>
          <a:bodyPr wrap="square" lIns="0" tIns="0" rIns="0" bIns="0" rtlCol="0" anchor="ctr"/>
          <a:lstStyle/>
          <a:p>
            <a:pPr marL="0" indent="0">
              <a:buNone/>
            </a:pPr>
            <a:r>
              <a:rPr lang="en-US" sz="1050" b="1" kern="0" spc="100">
                <a:solidFill>
                  <a:srgbClr val="C9A24B"/>
                </a:solidFill>
                <a:latin typeface="Aptos" panose="020B0004020202020204" pitchFamily="34" charset="0"/>
                <a:ea typeface="Calibri" pitchFamily="34" charset="-122"/>
                <a:cs typeface="Calibri" pitchFamily="34" charset="-120"/>
              </a:rPr>
              <a:t>EINORDNUNG</a:t>
            </a:r>
            <a:endParaRPr lang="en-US" sz="1050">
              <a:latin typeface="Aptos" panose="020B0004020202020204" pitchFamily="34" charset="0"/>
            </a:endParaRPr>
          </a:p>
        </p:txBody>
      </p:sp>
      <p:sp>
        <p:nvSpPr>
          <p:cNvPr id="38" name="Text 35"/>
          <p:cNvSpPr/>
          <p:nvPr/>
        </p:nvSpPr>
        <p:spPr>
          <a:xfrm>
            <a:off x="7406640" y="3977640"/>
            <a:ext cx="3931920" cy="2331720"/>
          </a:xfrm>
          <a:prstGeom prst="rect">
            <a:avLst/>
          </a:prstGeom>
          <a:noFill/>
          <a:ln/>
        </p:spPr>
        <p:txBody>
          <a:bodyPr wrap="square" lIns="0" tIns="0" rIns="0" bIns="0" rtlCol="0" anchor="ctr"/>
          <a:lstStyle/>
          <a:p>
            <a:pPr marL="0" indent="0">
              <a:lnSpc>
                <a:spcPct val="128000"/>
              </a:lnSpc>
              <a:buNone/>
            </a:pPr>
            <a:r>
              <a:rPr lang="en-US" sz="1150" err="1">
                <a:solidFill>
                  <a:srgbClr val="D9E2F3"/>
                </a:solidFill>
                <a:latin typeface="Aptos" panose="020B0004020202020204" pitchFamily="34" charset="0"/>
                <a:ea typeface="Calibri"/>
                <a:cs typeface="Calibri"/>
              </a:rPr>
              <a:t>Über</a:t>
            </a:r>
            <a:r>
              <a:rPr lang="en-US" sz="1150">
                <a:solidFill>
                  <a:srgbClr val="D9E2F3"/>
                </a:solidFill>
                <a:latin typeface="Aptos" panose="020B0004020202020204" pitchFamily="34" charset="0"/>
                <a:ea typeface="Calibri"/>
                <a:cs typeface="Calibri"/>
              </a:rPr>
              <a:t> alle 10 Banken </a:t>
            </a:r>
            <a:r>
              <a:rPr lang="en-US" sz="1150" err="1">
                <a:solidFill>
                  <a:srgbClr val="D9E2F3"/>
                </a:solidFill>
                <a:latin typeface="Aptos" panose="020B0004020202020204" pitchFamily="34" charset="0"/>
                <a:ea typeface="Calibri"/>
                <a:cs typeface="Calibri"/>
              </a:rPr>
              <a:t>steigt</a:t>
            </a:r>
            <a:r>
              <a:rPr lang="en-US" sz="1150">
                <a:solidFill>
                  <a:srgbClr val="D9E2F3"/>
                </a:solidFill>
                <a:latin typeface="Aptos" panose="020B0004020202020204" pitchFamily="34" charset="0"/>
                <a:ea typeface="Calibri"/>
                <a:cs typeface="Calibri"/>
              </a:rPr>
              <a:t> der </a:t>
            </a:r>
            <a:r>
              <a:rPr lang="en-US" sz="1150" err="1">
                <a:solidFill>
                  <a:srgbClr val="D9E2F3"/>
                </a:solidFill>
                <a:latin typeface="Aptos" panose="020B0004020202020204" pitchFamily="34" charset="0"/>
                <a:ea typeface="Calibri"/>
                <a:cs typeface="Calibri"/>
              </a:rPr>
              <a:t>erwartete</a:t>
            </a:r>
            <a:r>
              <a:rPr lang="en-US" sz="1150">
                <a:solidFill>
                  <a:srgbClr val="D9E2F3"/>
                </a:solidFill>
                <a:latin typeface="Aptos" panose="020B0004020202020204" pitchFamily="34" charset="0"/>
                <a:ea typeface="Calibri"/>
                <a:cs typeface="Calibri"/>
              </a:rPr>
              <a:t> </a:t>
            </a:r>
            <a:r>
              <a:rPr lang="en-US" sz="1150" err="1">
                <a:solidFill>
                  <a:srgbClr val="D9E2F3"/>
                </a:solidFill>
                <a:latin typeface="Aptos" panose="020B0004020202020204" pitchFamily="34" charset="0"/>
                <a:ea typeface="Calibri"/>
                <a:cs typeface="Calibri"/>
              </a:rPr>
              <a:t>Verlust</a:t>
            </a:r>
            <a:r>
              <a:rPr lang="en-US" sz="1150">
                <a:solidFill>
                  <a:srgbClr val="D9E2F3"/>
                </a:solidFill>
                <a:latin typeface="Aptos" panose="020B0004020202020204" pitchFamily="34" charset="0"/>
                <a:ea typeface="Calibri"/>
                <a:cs typeface="Calibri"/>
              </a:rPr>
              <a:t> von €133 auf €155 </a:t>
            </a:r>
            <a:r>
              <a:rPr lang="en-US" sz="1150" err="1">
                <a:solidFill>
                  <a:srgbClr val="D9E2F3"/>
                </a:solidFill>
                <a:latin typeface="Aptos" panose="020B0004020202020204" pitchFamily="34" charset="0"/>
                <a:ea typeface="Calibri"/>
                <a:cs typeface="Calibri"/>
              </a:rPr>
              <a:t>Mrd</a:t>
            </a:r>
            <a:r>
              <a:rPr lang="en-US" sz="1150">
                <a:solidFill>
                  <a:srgbClr val="D9E2F3"/>
                </a:solidFill>
                <a:latin typeface="Aptos" panose="020B0004020202020204" pitchFamily="34" charset="0"/>
                <a:ea typeface="Calibri"/>
                <a:cs typeface="Calibri"/>
              </a:rPr>
              <a:t>. (+16 %). Die RWA </a:t>
            </a:r>
            <a:r>
              <a:rPr lang="en-US" sz="1150" err="1">
                <a:solidFill>
                  <a:srgbClr val="D9E2F3"/>
                </a:solidFill>
                <a:latin typeface="Aptos" panose="020B0004020202020204" pitchFamily="34" charset="0"/>
                <a:ea typeface="Calibri"/>
                <a:cs typeface="Calibri"/>
              </a:rPr>
              <a:t>wachsen</a:t>
            </a:r>
            <a:r>
              <a:rPr lang="en-US" sz="1150">
                <a:solidFill>
                  <a:srgbClr val="D9E2F3"/>
                </a:solidFill>
                <a:latin typeface="Aptos" panose="020B0004020202020204" pitchFamily="34" charset="0"/>
                <a:ea typeface="Calibri"/>
                <a:cs typeface="Calibri"/>
              </a:rPr>
              <a:t> um €519 </a:t>
            </a:r>
            <a:r>
              <a:rPr lang="en-US" sz="1150" err="1">
                <a:solidFill>
                  <a:srgbClr val="D9E2F3"/>
                </a:solidFill>
                <a:latin typeface="Aptos" panose="020B0004020202020204" pitchFamily="34" charset="0"/>
                <a:ea typeface="Calibri"/>
                <a:cs typeface="Calibri"/>
              </a:rPr>
              <a:t>Mrd</a:t>
            </a:r>
            <a:r>
              <a:rPr lang="en-US" sz="1150">
                <a:solidFill>
                  <a:srgbClr val="D9E2F3"/>
                </a:solidFill>
                <a:latin typeface="Aptos" panose="020B0004020202020204" pitchFamily="34" charset="0"/>
                <a:ea typeface="Calibri"/>
                <a:cs typeface="Calibri"/>
              </a:rPr>
              <a:t>. </a:t>
            </a:r>
            <a:r>
              <a:rPr lang="en-US" sz="1150" err="1">
                <a:solidFill>
                  <a:srgbClr val="D9E2F3"/>
                </a:solidFill>
                <a:latin typeface="Aptos" panose="020B0004020202020204" pitchFamily="34" charset="0"/>
                <a:ea typeface="Calibri"/>
                <a:cs typeface="Calibri"/>
              </a:rPr>
              <a:t>Beide</a:t>
            </a:r>
            <a:r>
              <a:rPr lang="en-US" sz="1150">
                <a:solidFill>
                  <a:srgbClr val="D9E2F3"/>
                </a:solidFill>
                <a:latin typeface="Aptos" panose="020B0004020202020204" pitchFamily="34" charset="0"/>
                <a:ea typeface="Calibri"/>
                <a:cs typeface="Calibri"/>
              </a:rPr>
              <a:t> </a:t>
            </a:r>
            <a:r>
              <a:rPr lang="en-US" sz="1150" err="1">
                <a:solidFill>
                  <a:srgbClr val="D9E2F3"/>
                </a:solidFill>
                <a:latin typeface="Aptos" panose="020B0004020202020204" pitchFamily="34" charset="0"/>
                <a:ea typeface="Calibri"/>
                <a:cs typeface="Calibri"/>
              </a:rPr>
              <a:t>Effekte</a:t>
            </a:r>
            <a:r>
              <a:rPr lang="en-US" sz="1150">
                <a:solidFill>
                  <a:srgbClr val="D9E2F3"/>
                </a:solidFill>
                <a:latin typeface="Aptos" panose="020B0004020202020204" pitchFamily="34" charset="0"/>
                <a:ea typeface="Calibri"/>
                <a:cs typeface="Calibri"/>
              </a:rPr>
              <a:t> </a:t>
            </a:r>
            <a:r>
              <a:rPr lang="en-US" sz="1150" err="1">
                <a:solidFill>
                  <a:srgbClr val="D9E2F3"/>
                </a:solidFill>
                <a:latin typeface="Aptos" panose="020B0004020202020204" pitchFamily="34" charset="0"/>
                <a:ea typeface="Calibri"/>
                <a:cs typeface="Calibri"/>
              </a:rPr>
              <a:t>verdünnen</a:t>
            </a:r>
            <a:r>
              <a:rPr lang="en-US" sz="1150">
                <a:solidFill>
                  <a:srgbClr val="D9E2F3"/>
                </a:solidFill>
                <a:latin typeface="Aptos" panose="020B0004020202020204" pitchFamily="34" charset="0"/>
                <a:ea typeface="Calibri"/>
                <a:cs typeface="Calibri"/>
              </a:rPr>
              <a:t> die CET1-Quote. Deutsche Bank </a:t>
            </a:r>
            <a:r>
              <a:rPr lang="en-US" sz="1150" err="1">
                <a:solidFill>
                  <a:srgbClr val="D9E2F3"/>
                </a:solidFill>
                <a:latin typeface="Aptos" panose="020B0004020202020204" pitchFamily="34" charset="0"/>
                <a:ea typeface="Calibri"/>
                <a:cs typeface="Calibri"/>
              </a:rPr>
              <a:t>liegt</a:t>
            </a:r>
            <a:r>
              <a:rPr lang="en-US" sz="1150">
                <a:solidFill>
                  <a:srgbClr val="D9E2F3"/>
                </a:solidFill>
                <a:latin typeface="Aptos" panose="020B0004020202020204" pitchFamily="34" charset="0"/>
                <a:ea typeface="Calibri"/>
                <a:cs typeface="Calibri"/>
              </a:rPr>
              <a:t> auf Rang 6 </a:t>
            </a:r>
            <a:r>
              <a:rPr lang="en-US" sz="1150" err="1">
                <a:solidFill>
                  <a:srgbClr val="D9E2F3"/>
                </a:solidFill>
                <a:latin typeface="Aptos" panose="020B0004020202020204" pitchFamily="34" charset="0"/>
                <a:ea typeface="Calibri"/>
                <a:cs typeface="Calibri"/>
              </a:rPr>
              <a:t>nach</a:t>
            </a:r>
            <a:r>
              <a:rPr lang="en-US" sz="1150">
                <a:solidFill>
                  <a:srgbClr val="D9E2F3"/>
                </a:solidFill>
                <a:latin typeface="Aptos" panose="020B0004020202020204" pitchFamily="34" charset="0"/>
                <a:ea typeface="Calibri"/>
                <a:cs typeface="Calibri"/>
              </a:rPr>
              <a:t> EAD </a:t>
            </a:r>
            <a:r>
              <a:rPr lang="en-US" sz="1150" err="1">
                <a:solidFill>
                  <a:srgbClr val="D9E2F3"/>
                </a:solidFill>
                <a:latin typeface="Aptos" panose="020B0004020202020204" pitchFamily="34" charset="0"/>
                <a:ea typeface="Calibri"/>
                <a:cs typeface="Calibri"/>
              </a:rPr>
              <a:t>mit</a:t>
            </a:r>
            <a:r>
              <a:rPr lang="en-US" sz="1150">
                <a:solidFill>
                  <a:srgbClr val="D9E2F3"/>
                </a:solidFill>
                <a:latin typeface="Aptos" panose="020B0004020202020204" pitchFamily="34" charset="0"/>
                <a:ea typeface="Calibri"/>
                <a:cs typeface="Calibri"/>
              </a:rPr>
              <a:t> </a:t>
            </a:r>
            <a:r>
              <a:rPr lang="en-US" sz="1150" err="1">
                <a:solidFill>
                  <a:srgbClr val="D9E2F3"/>
                </a:solidFill>
                <a:latin typeface="Aptos" panose="020B0004020202020204" pitchFamily="34" charset="0"/>
                <a:ea typeface="Calibri"/>
                <a:cs typeface="Calibri"/>
              </a:rPr>
              <a:t>einem</a:t>
            </a:r>
            <a:r>
              <a:rPr lang="en-US" sz="1150">
                <a:solidFill>
                  <a:srgbClr val="D9E2F3"/>
                </a:solidFill>
                <a:latin typeface="Aptos" panose="020B0004020202020204" pitchFamily="34" charset="0"/>
                <a:ea typeface="Calibri"/>
                <a:cs typeface="Calibri"/>
              </a:rPr>
              <a:t> EL-</a:t>
            </a:r>
            <a:r>
              <a:rPr lang="en-US" sz="1150" err="1">
                <a:solidFill>
                  <a:srgbClr val="D9E2F3"/>
                </a:solidFill>
                <a:latin typeface="Aptos" panose="020B0004020202020204" pitchFamily="34" charset="0"/>
                <a:ea typeface="Calibri"/>
                <a:cs typeface="Calibri"/>
              </a:rPr>
              <a:t>Anstieg</a:t>
            </a:r>
            <a:r>
              <a:rPr lang="en-US" sz="1150">
                <a:solidFill>
                  <a:srgbClr val="D9E2F3"/>
                </a:solidFill>
                <a:latin typeface="Aptos" panose="020B0004020202020204" pitchFamily="34" charset="0"/>
                <a:ea typeface="Calibri"/>
                <a:cs typeface="Calibri"/>
              </a:rPr>
              <a:t> von €2,1 </a:t>
            </a:r>
            <a:r>
              <a:rPr lang="en-US" sz="1150" err="1">
                <a:solidFill>
                  <a:srgbClr val="D9E2F3"/>
                </a:solidFill>
                <a:latin typeface="Aptos" panose="020B0004020202020204" pitchFamily="34" charset="0"/>
                <a:ea typeface="Calibri"/>
                <a:cs typeface="Calibri"/>
              </a:rPr>
              <a:t>Mrd</a:t>
            </a:r>
            <a:r>
              <a:rPr lang="en-US" sz="1150">
                <a:solidFill>
                  <a:srgbClr val="D9E2F3"/>
                </a:solidFill>
                <a:latin typeface="Aptos" panose="020B0004020202020204" pitchFamily="34" charset="0"/>
                <a:ea typeface="Calibri"/>
                <a:cs typeface="Calibri"/>
              </a:rPr>
              <a:t>. - </a:t>
            </a:r>
            <a:r>
              <a:rPr lang="en-US" sz="1150" err="1">
                <a:solidFill>
                  <a:srgbClr val="D9E2F3"/>
                </a:solidFill>
                <a:latin typeface="Aptos" panose="020B0004020202020204" pitchFamily="34" charset="0"/>
                <a:ea typeface="Calibri"/>
                <a:cs typeface="Calibri"/>
              </a:rPr>
              <a:t>unser</a:t>
            </a:r>
            <a:r>
              <a:rPr lang="en-US" sz="1150">
                <a:solidFill>
                  <a:srgbClr val="D9E2F3"/>
                </a:solidFill>
                <a:latin typeface="Aptos" panose="020B0004020202020204" pitchFamily="34" charset="0"/>
                <a:ea typeface="Calibri"/>
                <a:cs typeface="Calibri"/>
              </a:rPr>
              <a:t> </a:t>
            </a:r>
            <a:r>
              <a:rPr lang="en-US" sz="1150" err="1">
                <a:solidFill>
                  <a:srgbClr val="D9E2F3"/>
                </a:solidFill>
                <a:latin typeface="Aptos" panose="020B0004020202020204" pitchFamily="34" charset="0"/>
                <a:ea typeface="Calibri"/>
                <a:cs typeface="Calibri"/>
              </a:rPr>
              <a:t>Fokus</a:t>
            </a:r>
            <a:r>
              <a:rPr lang="en-US" sz="1150">
                <a:solidFill>
                  <a:srgbClr val="D9E2F3"/>
                </a:solidFill>
                <a:latin typeface="Aptos" panose="020B0004020202020204" pitchFamily="34" charset="0"/>
                <a:ea typeface="Calibri"/>
                <a:cs typeface="Calibri"/>
              </a:rPr>
              <a:t> </a:t>
            </a:r>
            <a:r>
              <a:rPr lang="en-US" sz="1150" err="1">
                <a:solidFill>
                  <a:srgbClr val="D9E2F3"/>
                </a:solidFill>
                <a:latin typeface="Aptos" panose="020B0004020202020204" pitchFamily="34" charset="0"/>
                <a:ea typeface="Calibri"/>
                <a:cs typeface="Calibri"/>
              </a:rPr>
              <a:t>im</a:t>
            </a:r>
            <a:r>
              <a:rPr lang="en-US" sz="1150">
                <a:solidFill>
                  <a:srgbClr val="D9E2F3"/>
                </a:solidFill>
                <a:latin typeface="Aptos" panose="020B0004020202020204" pitchFamily="34" charset="0"/>
                <a:ea typeface="Calibri"/>
                <a:cs typeface="Calibri"/>
              </a:rPr>
              <a:t> Drilldown.</a:t>
            </a:r>
            <a:endParaRPr lang="en-US" sz="1150">
              <a:latin typeface="Aptos" panose="020B0004020202020204" pitchFamily="34" charset="0"/>
              <a:ea typeface="Calibri"/>
              <a:cs typeface="Calibri"/>
            </a:endParaRPr>
          </a:p>
        </p:txBody>
      </p:sp>
      <p:sp>
        <p:nvSpPr>
          <p:cNvPr id="39" name="Text 36"/>
          <p:cNvSpPr/>
          <p:nvPr/>
        </p:nvSpPr>
        <p:spPr>
          <a:xfrm>
            <a:off x="457200" y="6519672"/>
            <a:ext cx="7315200" cy="274320"/>
          </a:xfrm>
          <a:prstGeom prst="rect">
            <a:avLst/>
          </a:prstGeom>
          <a:noFill/>
          <a:ln/>
        </p:spPr>
        <p:txBody>
          <a:bodyPr wrap="square" lIns="0" tIns="0" rIns="0" bIns="0" rtlCol="0" anchor="ctr"/>
          <a:lstStyle/>
          <a:p>
            <a:pPr marL="0" indent="0" algn="l">
              <a:buNone/>
            </a:pPr>
            <a:r>
              <a:rPr lang="en-US" sz="900">
                <a:solidFill>
                  <a:srgbClr val="5B6478"/>
                </a:solidFill>
                <a:latin typeface="Calibri" pitchFamily="34" charset="0"/>
                <a:ea typeface="Calibri" pitchFamily="34" charset="-122"/>
                <a:cs typeface="Calibri" pitchFamily="34" charset="-120"/>
              </a:rPr>
              <a:t>Kreditbuch · Loan Book Channel</a:t>
            </a:r>
            <a:endParaRPr lang="en-US" sz="900"/>
          </a:p>
        </p:txBody>
      </p:sp>
      <p:sp>
        <p:nvSpPr>
          <p:cNvPr id="40" name="CodexSlideNumber">
            <a:extLst>
              <a:ext uri="{FF2B5EF4-FFF2-40B4-BE49-F238E27FC236}">
                <a16:creationId xmlns:a16="http://schemas.microsoft.com/office/drawing/2014/main" id="{387165F0-D5B9-A9B1-D56E-1BD13382E092}"/>
              </a:ext>
            </a:extLst>
          </p:cNvPr>
          <p:cNvSpPr txBox="1"/>
          <p:nvPr/>
        </p:nvSpPr>
        <p:spPr>
          <a:xfrm>
            <a:off x="11226800" y="6553200"/>
            <a:ext cx="736600" cy="123111"/>
          </a:xfrm>
          <a:prstGeom prst="rect">
            <a:avLst/>
          </a:prstGeom>
          <a:noFill/>
        </p:spPr>
        <p:txBody>
          <a:bodyPr vert="horz" lIns="0" tIns="0" rIns="0" bIns="0" rtlCol="0">
            <a:spAutoFit/>
          </a:bodyPr>
          <a:lstStyle/>
          <a:p>
            <a:pPr algn="r"/>
            <a:r>
              <a:rPr lang="en-US" sz="800">
                <a:solidFill>
                  <a:srgbClr val="525252"/>
                </a:solidFill>
                <a:latin typeface="Arial" panose="020B0604020202020204" pitchFamily="34" charset="0"/>
              </a:rPr>
              <a:t>24 / 64</a:t>
            </a:r>
          </a:p>
        </p:txBody>
      </p:sp>
    </p:spTree>
    <p:extLst>
      <p:ext uri="{BB962C8B-B14F-4D97-AF65-F5344CB8AC3E}">
        <p14:creationId xmlns:p14="http://schemas.microsoft.com/office/powerpoint/2010/main" val="16738775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0058400" cy="320040"/>
          </a:xfrm>
          <a:prstGeom prst="rect">
            <a:avLst/>
          </a:prstGeom>
          <a:noFill/>
          <a:ln/>
        </p:spPr>
        <p:txBody>
          <a:bodyPr wrap="square" lIns="0" tIns="0" rIns="0" bIns="0" rtlCol="0" anchor="ctr"/>
          <a:lstStyle/>
          <a:p>
            <a:pPr>
              <a:defRPr sz="863" b="1" i="0">
                <a:solidFill>
                  <a:srgbClr val="A52F4D"/>
                </a:solidFill>
                <a:latin typeface="Aptos"/>
                <a:ea typeface="Aptos"/>
                <a:cs typeface="Aptos"/>
              </a:defRPr>
            </a:pPr>
            <a:r>
              <a:rPr lang="en-US" sz="863" b="1">
                <a:solidFill>
                  <a:schemeClr val="tx2"/>
                </a:solidFill>
                <a:latin typeface="Aptos"/>
              </a:rPr>
              <a:t>EXPECTED LOSS · TOP 10 BANKEN</a:t>
            </a:r>
          </a:p>
        </p:txBody>
      </p:sp>
      <p:sp>
        <p:nvSpPr>
          <p:cNvPr id="3" name="Text 1"/>
          <p:cNvSpPr/>
          <p:nvPr/>
        </p:nvSpPr>
        <p:spPr>
          <a:xfrm>
            <a:off x="548640" y="658368"/>
            <a:ext cx="10515600" cy="822960"/>
          </a:xfrm>
          <a:prstGeom prst="rect">
            <a:avLst/>
          </a:prstGeom>
          <a:noFill/>
          <a:ln/>
        </p:spPr>
        <p:txBody>
          <a:bodyPr wrap="square" lIns="0" tIns="0" rIns="0" bIns="0" rtlCol="0" anchor="ctr"/>
          <a:lstStyle/>
          <a:p>
            <a:pPr>
              <a:buNone/>
              <a:defRPr sz="2475" b="1" i="0">
                <a:solidFill>
                  <a:srgbClr val="051C2C"/>
                </a:solidFill>
                <a:latin typeface="Aptos Display"/>
                <a:ea typeface="Aptos Display"/>
                <a:cs typeface="Aptos Display"/>
              </a:defRPr>
            </a:pPr>
            <a:r>
              <a:rPr lang="en-US" sz="2475" b="1" err="1">
                <a:solidFill>
                  <a:srgbClr val="051C2C"/>
                </a:solidFill>
                <a:latin typeface="Aptos Display"/>
              </a:rPr>
              <a:t>Welche</a:t>
            </a:r>
            <a:r>
              <a:rPr lang="en-US" sz="2475" b="1">
                <a:solidFill>
                  <a:srgbClr val="051C2C"/>
                </a:solidFill>
                <a:latin typeface="Aptos Display"/>
              </a:rPr>
              <a:t> Banken </a:t>
            </a:r>
            <a:r>
              <a:rPr lang="en-US" sz="2475" b="1" err="1">
                <a:solidFill>
                  <a:srgbClr val="051C2C"/>
                </a:solidFill>
                <a:latin typeface="Aptos Display"/>
              </a:rPr>
              <a:t>trägt</a:t>
            </a:r>
            <a:r>
              <a:rPr lang="en-US" sz="2475" b="1">
                <a:solidFill>
                  <a:srgbClr val="051C2C"/>
                </a:solidFill>
                <a:latin typeface="Aptos Display"/>
              </a:rPr>
              <a:t> der </a:t>
            </a:r>
            <a:r>
              <a:rPr lang="en-US" sz="2475" b="1" err="1">
                <a:solidFill>
                  <a:srgbClr val="051C2C"/>
                </a:solidFill>
                <a:latin typeface="Aptos Display"/>
              </a:rPr>
              <a:t>größte</a:t>
            </a:r>
            <a:r>
              <a:rPr lang="en-US" sz="2475" b="1">
                <a:solidFill>
                  <a:srgbClr val="051C2C"/>
                </a:solidFill>
                <a:latin typeface="Aptos Display"/>
              </a:rPr>
              <a:t> </a:t>
            </a:r>
            <a:r>
              <a:rPr lang="en-US" sz="2475" b="1" err="1">
                <a:solidFill>
                  <a:srgbClr val="051C2C"/>
                </a:solidFill>
                <a:latin typeface="Aptos Display"/>
              </a:rPr>
              <a:t>Verlustanstieg</a:t>
            </a:r>
            <a:r>
              <a:rPr lang="en-US" sz="2475" b="1">
                <a:solidFill>
                  <a:srgbClr val="051C2C"/>
                </a:solidFill>
                <a:latin typeface="Aptos Display"/>
              </a:rPr>
              <a:t>?</a:t>
            </a:r>
          </a:p>
        </p:txBody>
      </p:sp>
      <p:sp>
        <p:nvSpPr>
          <p:cNvPr id="4" name="Text 2"/>
          <p:cNvSpPr/>
          <p:nvPr/>
        </p:nvSpPr>
        <p:spPr>
          <a:xfrm>
            <a:off x="548640" y="1463040"/>
            <a:ext cx="10972800" cy="365760"/>
          </a:xfrm>
          <a:prstGeom prst="rect">
            <a:avLst/>
          </a:prstGeom>
          <a:noFill/>
          <a:ln/>
        </p:spPr>
        <p:txBody>
          <a:bodyPr wrap="square" lIns="0" tIns="0" rIns="0" bIns="0" rtlCol="0" anchor="ctr"/>
          <a:lstStyle/>
          <a:p>
            <a:r>
              <a:rPr lang="en-US" sz="1125">
                <a:solidFill>
                  <a:srgbClr val="4F6875"/>
                </a:solidFill>
                <a:latin typeface="Aptos"/>
              </a:rPr>
              <a:t>Baseline (</a:t>
            </a:r>
            <a:r>
              <a:rPr lang="en-US" sz="1125" err="1">
                <a:solidFill>
                  <a:srgbClr val="4F6875"/>
                </a:solidFill>
                <a:latin typeface="Aptos"/>
              </a:rPr>
              <a:t>vor</a:t>
            </a:r>
            <a:r>
              <a:rPr lang="en-US" sz="1125">
                <a:solidFill>
                  <a:srgbClr val="4F6875"/>
                </a:solidFill>
                <a:latin typeface="Aptos"/>
              </a:rPr>
              <a:t> Stress) vs. Stress (</a:t>
            </a:r>
            <a:r>
              <a:rPr lang="en-US" sz="1125" err="1">
                <a:solidFill>
                  <a:srgbClr val="4F6875"/>
                </a:solidFill>
                <a:latin typeface="Aptos"/>
              </a:rPr>
              <a:t>nach</a:t>
            </a:r>
            <a:r>
              <a:rPr lang="en-US" sz="1125">
                <a:solidFill>
                  <a:srgbClr val="4F6875"/>
                </a:solidFill>
                <a:latin typeface="Aptos"/>
              </a:rPr>
              <a:t> Schock) · </a:t>
            </a:r>
            <a:r>
              <a:rPr lang="en-US" sz="1125" err="1">
                <a:solidFill>
                  <a:srgbClr val="4F6875"/>
                </a:solidFill>
                <a:latin typeface="Aptos"/>
              </a:rPr>
              <a:t>ΔBrent</a:t>
            </a:r>
            <a:r>
              <a:rPr lang="en-US" sz="1125">
                <a:solidFill>
                  <a:srgbClr val="4F6875"/>
                </a:solidFill>
                <a:latin typeface="Aptos"/>
              </a:rPr>
              <a:t> = +0,50 (+65%) · Δr_10y = +2,0 pp (+200bp)</a:t>
            </a:r>
          </a:p>
        </p:txBody>
      </p:sp>
      <p:graphicFrame>
        <p:nvGraphicFramePr>
          <p:cNvPr id="5" name="Chart 0"/>
          <p:cNvGraphicFramePr/>
          <p:nvPr>
            <p:extLst>
              <p:ext uri="{D42A27DB-BD31-4B8C-83A1-F6EECF244321}">
                <p14:modId xmlns:p14="http://schemas.microsoft.com/office/powerpoint/2010/main" val="2812849030"/>
              </p:ext>
            </p:extLst>
          </p:nvPr>
        </p:nvGraphicFramePr>
        <p:xfrm>
          <a:off x="457200" y="1874520"/>
          <a:ext cx="11247120" cy="457200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p:nvPr/>
        </p:nvSpPr>
        <p:spPr>
          <a:xfrm>
            <a:off x="457200" y="6519672"/>
            <a:ext cx="7315200" cy="274320"/>
          </a:xfrm>
          <a:prstGeom prst="rect">
            <a:avLst/>
          </a:prstGeom>
          <a:noFill/>
          <a:ln/>
        </p:spPr>
        <p:txBody>
          <a:bodyPr wrap="square" lIns="0" tIns="0" rIns="0" bIns="0" rtlCol="0" anchor="ctr"/>
          <a:lstStyle/>
          <a:p>
            <a:pPr marL="0" indent="0" algn="l">
              <a:buNone/>
            </a:pPr>
            <a:r>
              <a:rPr lang="en-US" sz="900">
                <a:solidFill>
                  <a:srgbClr val="5B6478"/>
                </a:solidFill>
                <a:latin typeface="Calibri" pitchFamily="34" charset="0"/>
                <a:ea typeface="Calibri" pitchFamily="34" charset="-122"/>
                <a:cs typeface="Calibri" pitchFamily="34" charset="-120"/>
              </a:rPr>
              <a:t>Kreditbuch · Loan Book Channel</a:t>
            </a:r>
            <a:endParaRPr lang="en-US" sz="900"/>
          </a:p>
        </p:txBody>
      </p:sp>
      <p:sp>
        <p:nvSpPr>
          <p:cNvPr id="7" name="CodexSlideNumber">
            <a:extLst>
              <a:ext uri="{FF2B5EF4-FFF2-40B4-BE49-F238E27FC236}">
                <a16:creationId xmlns:a16="http://schemas.microsoft.com/office/drawing/2014/main" id="{32C8F070-FBD1-CC51-9DB7-94190C975F06}"/>
              </a:ext>
            </a:extLst>
          </p:cNvPr>
          <p:cNvSpPr txBox="1"/>
          <p:nvPr/>
        </p:nvSpPr>
        <p:spPr>
          <a:xfrm>
            <a:off x="11226800" y="6553200"/>
            <a:ext cx="736600" cy="123111"/>
          </a:xfrm>
          <a:prstGeom prst="rect">
            <a:avLst/>
          </a:prstGeom>
          <a:noFill/>
        </p:spPr>
        <p:txBody>
          <a:bodyPr vert="horz" lIns="0" tIns="0" rIns="0" bIns="0" rtlCol="0">
            <a:spAutoFit/>
          </a:bodyPr>
          <a:lstStyle/>
          <a:p>
            <a:pPr algn="r"/>
            <a:r>
              <a:rPr lang="en-US" sz="800">
                <a:solidFill>
                  <a:srgbClr val="525252"/>
                </a:solidFill>
                <a:latin typeface="Arial" panose="020B0604020202020204" pitchFamily="34" charset="0"/>
              </a:rPr>
              <a:t>25 / 64</a:t>
            </a:r>
          </a:p>
        </p:txBody>
      </p:sp>
    </p:spTree>
    <p:extLst>
      <p:ext uri="{BB962C8B-B14F-4D97-AF65-F5344CB8AC3E}">
        <p14:creationId xmlns:p14="http://schemas.microsoft.com/office/powerpoint/2010/main" val="235589774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0058400" cy="320040"/>
          </a:xfrm>
          <a:prstGeom prst="rect">
            <a:avLst/>
          </a:prstGeom>
          <a:noFill/>
          <a:ln/>
        </p:spPr>
        <p:txBody>
          <a:bodyPr wrap="square" lIns="0" tIns="0" rIns="0" bIns="0" rtlCol="0" anchor="ctr"/>
          <a:lstStyle/>
          <a:p>
            <a:pPr>
              <a:buNone/>
              <a:defRPr sz="863" b="1" i="0">
                <a:solidFill>
                  <a:srgbClr val="A52F4D"/>
                </a:solidFill>
                <a:latin typeface="Aptos"/>
                <a:ea typeface="Aptos"/>
                <a:cs typeface="Aptos"/>
              </a:defRPr>
            </a:pPr>
            <a:r>
              <a:rPr lang="en-US" sz="863" b="1">
                <a:solidFill>
                  <a:schemeClr val="tx2"/>
                </a:solidFill>
                <a:latin typeface="Aptos"/>
              </a:rPr>
              <a:t>CAPITAL BRIDGE · DEUTSCHE BANK AG · EAD €738,6 MRD.</a:t>
            </a:r>
          </a:p>
        </p:txBody>
      </p:sp>
      <p:sp>
        <p:nvSpPr>
          <p:cNvPr id="3" name="Text 1"/>
          <p:cNvSpPr/>
          <p:nvPr/>
        </p:nvSpPr>
        <p:spPr>
          <a:xfrm>
            <a:off x="548640" y="658368"/>
            <a:ext cx="10515600" cy="822960"/>
          </a:xfrm>
          <a:prstGeom prst="rect">
            <a:avLst/>
          </a:prstGeom>
          <a:noFill/>
          <a:ln/>
        </p:spPr>
        <p:txBody>
          <a:bodyPr wrap="square" lIns="0" tIns="0" rIns="0" bIns="0" rtlCol="0" anchor="ctr"/>
          <a:lstStyle/>
          <a:p>
            <a:pPr>
              <a:defRPr sz="2475" b="1" i="0">
                <a:solidFill>
                  <a:srgbClr val="051C2C"/>
                </a:solidFill>
                <a:latin typeface="Aptos Display"/>
                <a:ea typeface="Aptos Display"/>
                <a:cs typeface="Aptos Display"/>
              </a:defRPr>
            </a:pPr>
            <a:r>
              <a:rPr lang="en-US" sz="2475" b="1">
                <a:solidFill>
                  <a:srgbClr val="051C2C"/>
                </a:solidFill>
                <a:latin typeface="Aptos Display"/>
              </a:rPr>
              <a:t>Von PD-Stress </a:t>
            </a:r>
            <a:r>
              <a:rPr lang="en-US" sz="2475" b="1" err="1">
                <a:solidFill>
                  <a:srgbClr val="051C2C"/>
                </a:solidFill>
                <a:latin typeface="Aptos Display"/>
              </a:rPr>
              <a:t>zur</a:t>
            </a:r>
            <a:r>
              <a:rPr lang="en-US" sz="2475" b="1">
                <a:solidFill>
                  <a:srgbClr val="051C2C"/>
                </a:solidFill>
                <a:latin typeface="Aptos Display"/>
              </a:rPr>
              <a:t> </a:t>
            </a:r>
            <a:r>
              <a:rPr lang="en-US" sz="2475" b="1" err="1">
                <a:solidFill>
                  <a:srgbClr val="051C2C"/>
                </a:solidFill>
                <a:latin typeface="Aptos Display"/>
              </a:rPr>
              <a:t>Eigenkapitalanforderung</a:t>
            </a:r>
            <a:r>
              <a:rPr lang="en-US" sz="2475" b="1">
                <a:solidFill>
                  <a:srgbClr val="051C2C"/>
                </a:solidFill>
                <a:latin typeface="Aptos Display"/>
              </a:rPr>
              <a:t> K</a:t>
            </a:r>
          </a:p>
        </p:txBody>
      </p:sp>
      <p:sp>
        <p:nvSpPr>
          <p:cNvPr id="4" name="Text 2"/>
          <p:cNvSpPr/>
          <p:nvPr/>
        </p:nvSpPr>
        <p:spPr>
          <a:xfrm>
            <a:off x="548640" y="1463040"/>
            <a:ext cx="10972800" cy="457200"/>
          </a:xfrm>
          <a:prstGeom prst="rect">
            <a:avLst/>
          </a:prstGeom>
          <a:noFill/>
          <a:ln/>
        </p:spPr>
        <p:txBody>
          <a:bodyPr wrap="square" lIns="0" tIns="0" rIns="0" bIns="0" rtlCol="0" anchor="ctr"/>
          <a:lstStyle/>
          <a:p>
            <a:pPr>
              <a:buNone/>
            </a:pPr>
            <a:r>
              <a:rPr lang="en-US" sz="1125" err="1">
                <a:solidFill>
                  <a:srgbClr val="4F6875"/>
                </a:solidFill>
                <a:latin typeface="Aptos"/>
              </a:rPr>
              <a:t>Sequentielle</a:t>
            </a:r>
            <a:r>
              <a:rPr lang="en-US" sz="1125">
                <a:solidFill>
                  <a:srgbClr val="4F6875"/>
                </a:solidFill>
                <a:latin typeface="Aptos"/>
              </a:rPr>
              <a:t> </a:t>
            </a:r>
            <a:r>
              <a:rPr lang="en-US" sz="1125" err="1">
                <a:solidFill>
                  <a:srgbClr val="4F6875"/>
                </a:solidFill>
                <a:latin typeface="Aptos"/>
              </a:rPr>
              <a:t>Aktivierung</a:t>
            </a:r>
            <a:r>
              <a:rPr lang="en-US" sz="1125">
                <a:solidFill>
                  <a:srgbClr val="4F6875"/>
                </a:solidFill>
                <a:latin typeface="Aptos"/>
              </a:rPr>
              <a:t>: erst der PD-Shift (LGD </a:t>
            </a:r>
            <a:r>
              <a:rPr lang="en-US" sz="1125" err="1">
                <a:solidFill>
                  <a:srgbClr val="4F6875"/>
                </a:solidFill>
                <a:latin typeface="Aptos"/>
              </a:rPr>
              <a:t>bleibt</a:t>
            </a:r>
            <a:r>
              <a:rPr lang="en-US" sz="1125">
                <a:solidFill>
                  <a:srgbClr val="4F6875"/>
                </a:solidFill>
                <a:latin typeface="Aptos"/>
              </a:rPr>
              <a:t> auf Baseline), </a:t>
            </a:r>
            <a:r>
              <a:rPr lang="en-US" sz="1125" err="1">
                <a:solidFill>
                  <a:srgbClr val="4F6875"/>
                </a:solidFill>
                <a:latin typeface="Aptos"/>
              </a:rPr>
              <a:t>dann</a:t>
            </a:r>
            <a:r>
              <a:rPr lang="en-US" sz="1125">
                <a:solidFill>
                  <a:srgbClr val="4F6875"/>
                </a:solidFill>
                <a:latin typeface="Aptos"/>
              </a:rPr>
              <a:t> der LGD-Shift (PD </a:t>
            </a:r>
            <a:r>
              <a:rPr lang="en-US" sz="1125" err="1">
                <a:solidFill>
                  <a:srgbClr val="4F6875"/>
                </a:solidFill>
                <a:latin typeface="Aptos"/>
              </a:rPr>
              <a:t>bereits</a:t>
            </a:r>
            <a:r>
              <a:rPr lang="en-US" sz="1125">
                <a:solidFill>
                  <a:srgbClr val="4F6875"/>
                </a:solidFill>
                <a:latin typeface="Aptos"/>
              </a:rPr>
              <a:t> </a:t>
            </a:r>
            <a:r>
              <a:rPr lang="en-US" sz="1125" err="1">
                <a:solidFill>
                  <a:srgbClr val="4F6875"/>
                </a:solidFill>
                <a:latin typeface="Aptos"/>
              </a:rPr>
              <a:t>gestresst</a:t>
            </a:r>
            <a:r>
              <a:rPr lang="en-US" sz="1125">
                <a:solidFill>
                  <a:srgbClr val="4F6875"/>
                </a:solidFill>
                <a:latin typeface="Aptos"/>
              </a:rPr>
              <a:t>). </a:t>
            </a:r>
            <a:r>
              <a:rPr lang="en-US" sz="1125" err="1">
                <a:solidFill>
                  <a:srgbClr val="4F6875"/>
                </a:solidFill>
                <a:latin typeface="Aptos"/>
              </a:rPr>
              <a:t>Beide</a:t>
            </a:r>
            <a:r>
              <a:rPr lang="en-US" sz="1125">
                <a:solidFill>
                  <a:srgbClr val="4F6875"/>
                </a:solidFill>
                <a:latin typeface="Aptos"/>
              </a:rPr>
              <a:t> </a:t>
            </a:r>
            <a:r>
              <a:rPr lang="en-US" sz="1125" err="1">
                <a:solidFill>
                  <a:srgbClr val="4F6875"/>
                </a:solidFill>
                <a:latin typeface="Aptos"/>
              </a:rPr>
              <a:t>Beiträge</a:t>
            </a:r>
            <a:r>
              <a:rPr lang="en-US" sz="1125">
                <a:solidFill>
                  <a:srgbClr val="4F6875"/>
                </a:solidFill>
                <a:latin typeface="Aptos"/>
              </a:rPr>
              <a:t> </a:t>
            </a:r>
            <a:r>
              <a:rPr lang="en-US" sz="1125" err="1">
                <a:solidFill>
                  <a:srgbClr val="4F6875"/>
                </a:solidFill>
                <a:latin typeface="Aptos"/>
              </a:rPr>
              <a:t>summieren</a:t>
            </a:r>
            <a:r>
              <a:rPr lang="en-US" sz="1125">
                <a:solidFill>
                  <a:srgbClr val="4F6875"/>
                </a:solidFill>
                <a:latin typeface="Aptos"/>
              </a:rPr>
              <a:t> </a:t>
            </a:r>
            <a:r>
              <a:rPr lang="en-US" sz="1125" err="1">
                <a:solidFill>
                  <a:srgbClr val="4F6875"/>
                </a:solidFill>
                <a:latin typeface="Aptos"/>
              </a:rPr>
              <a:t>sich</a:t>
            </a:r>
            <a:r>
              <a:rPr lang="en-US" sz="1125">
                <a:solidFill>
                  <a:srgbClr val="4F6875"/>
                </a:solidFill>
                <a:latin typeface="Aptos"/>
              </a:rPr>
              <a:t> </a:t>
            </a:r>
            <a:r>
              <a:rPr lang="en-US" sz="1125" err="1">
                <a:solidFill>
                  <a:srgbClr val="4F6875"/>
                </a:solidFill>
                <a:latin typeface="Aptos"/>
              </a:rPr>
              <a:t>exakt</a:t>
            </a:r>
            <a:r>
              <a:rPr lang="en-US" sz="1125">
                <a:solidFill>
                  <a:srgbClr val="4F6875"/>
                </a:solidFill>
                <a:latin typeface="Aptos"/>
              </a:rPr>
              <a:t> </a:t>
            </a:r>
            <a:r>
              <a:rPr lang="en-US" sz="1125" err="1">
                <a:solidFill>
                  <a:srgbClr val="4F6875"/>
                </a:solidFill>
                <a:latin typeface="Aptos"/>
              </a:rPr>
              <a:t>zu</a:t>
            </a:r>
            <a:r>
              <a:rPr lang="en-US" sz="1125">
                <a:solidFill>
                  <a:srgbClr val="4F6875"/>
                </a:solidFill>
                <a:latin typeface="Aptos"/>
              </a:rPr>
              <a:t> ΔK. Modell-</a:t>
            </a:r>
            <a:r>
              <a:rPr lang="en-US" sz="1125" err="1">
                <a:solidFill>
                  <a:srgbClr val="4F6875"/>
                </a:solidFill>
                <a:latin typeface="Aptos"/>
              </a:rPr>
              <a:t>berechnete</a:t>
            </a:r>
            <a:r>
              <a:rPr lang="en-US" sz="1125">
                <a:solidFill>
                  <a:srgbClr val="4F6875"/>
                </a:solidFill>
                <a:latin typeface="Aptos"/>
              </a:rPr>
              <a:t> </a:t>
            </a:r>
            <a:r>
              <a:rPr lang="en-US" sz="1125" err="1">
                <a:solidFill>
                  <a:srgbClr val="4F6875"/>
                </a:solidFill>
                <a:latin typeface="Aptos"/>
              </a:rPr>
              <a:t>Werte</a:t>
            </a:r>
            <a:r>
              <a:rPr lang="en-US" sz="1125">
                <a:solidFill>
                  <a:srgbClr val="4F6875"/>
                </a:solidFill>
                <a:latin typeface="Aptos"/>
              </a:rPr>
              <a:t> auf Basis IRB-Vasicek-Formel.</a:t>
            </a:r>
          </a:p>
        </p:txBody>
      </p:sp>
      <p:graphicFrame>
        <p:nvGraphicFramePr>
          <p:cNvPr id="5" name="Chart 0"/>
          <p:cNvGraphicFramePr/>
          <p:nvPr>
            <p:extLst>
              <p:ext uri="{D42A27DB-BD31-4B8C-83A1-F6EECF244321}">
                <p14:modId xmlns:p14="http://schemas.microsoft.com/office/powerpoint/2010/main" val="989907199"/>
              </p:ext>
            </p:extLst>
          </p:nvPr>
        </p:nvGraphicFramePr>
        <p:xfrm>
          <a:off x="457200" y="1965960"/>
          <a:ext cx="6583680" cy="411480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7269480" y="1965960"/>
            <a:ext cx="4343400" cy="4114800"/>
          </a:xfrm>
          <a:prstGeom prst="roundRect">
            <a:avLst>
              <a:gd name="adj" fmla="val 1333"/>
            </a:avLst>
          </a:prstGeom>
          <a:solidFill>
            <a:srgbClr val="F4F6FB"/>
          </a:solidFill>
          <a:ln/>
        </p:spPr>
        <p:txBody>
          <a:bodyPr/>
          <a:lstStyle/>
          <a:p>
            <a:endParaRPr lang="de-DE"/>
          </a:p>
        </p:txBody>
      </p:sp>
      <p:sp>
        <p:nvSpPr>
          <p:cNvPr id="7" name="Text 4"/>
          <p:cNvSpPr/>
          <p:nvPr/>
        </p:nvSpPr>
        <p:spPr>
          <a:xfrm>
            <a:off x="7498080" y="2121408"/>
            <a:ext cx="3886200" cy="274320"/>
          </a:xfrm>
          <a:prstGeom prst="rect">
            <a:avLst/>
          </a:prstGeom>
          <a:noFill/>
          <a:ln/>
        </p:spPr>
        <p:txBody>
          <a:bodyPr wrap="square" lIns="0" tIns="0" rIns="0" bIns="0" rtlCol="0" anchor="ctr"/>
          <a:lstStyle/>
          <a:p>
            <a:pPr marL="0" indent="0">
              <a:buNone/>
            </a:pPr>
            <a:r>
              <a:rPr lang="en-US" sz="1100" b="1" kern="0" spc="100">
                <a:solidFill>
                  <a:srgbClr val="16243F"/>
                </a:solidFill>
                <a:latin typeface="Calibri" pitchFamily="34" charset="0"/>
                <a:ea typeface="Calibri" pitchFamily="34" charset="-122"/>
                <a:cs typeface="Calibri" pitchFamily="34" charset="-120"/>
              </a:rPr>
              <a:t>K · CAPITAL REQUIREMENT</a:t>
            </a:r>
            <a:endParaRPr lang="en-US" sz="1100"/>
          </a:p>
        </p:txBody>
      </p:sp>
      <p:sp>
        <p:nvSpPr>
          <p:cNvPr id="8" name="Text 5"/>
          <p:cNvSpPr/>
          <p:nvPr/>
        </p:nvSpPr>
        <p:spPr>
          <a:xfrm>
            <a:off x="7498080" y="2423160"/>
            <a:ext cx="3886200" cy="640080"/>
          </a:xfrm>
          <a:prstGeom prst="rect">
            <a:avLst/>
          </a:prstGeom>
          <a:noFill/>
          <a:ln/>
        </p:spPr>
        <p:txBody>
          <a:bodyPr wrap="square" lIns="0" tIns="0" rIns="0" bIns="0" rtlCol="0" anchor="ctr"/>
          <a:lstStyle/>
          <a:p>
            <a:pPr marL="0" indent="0">
              <a:lnSpc>
                <a:spcPct val="120000"/>
              </a:lnSpc>
              <a:buNone/>
            </a:pPr>
            <a:r>
              <a:rPr lang="en-US" sz="1100">
                <a:solidFill>
                  <a:srgbClr val="1A1A1A"/>
                </a:solidFill>
                <a:latin typeface="Calibri" pitchFamily="34" charset="0"/>
                <a:ea typeface="Calibri" pitchFamily="34" charset="-122"/>
                <a:cs typeface="Calibri" pitchFamily="34" charset="-120"/>
              </a:rPr>
              <a:t>Die regulatorische Eigenkapital-Anforderung deckt die Unexpected-Loss-Komponente ab - den Verlust oberhalb des durchschnittlich erwarteten EL.</a:t>
            </a:r>
            <a:endParaRPr lang="en-US" sz="1100"/>
          </a:p>
        </p:txBody>
      </p:sp>
      <p:sp>
        <p:nvSpPr>
          <p:cNvPr id="9" name="Text 6"/>
          <p:cNvSpPr/>
          <p:nvPr/>
        </p:nvSpPr>
        <p:spPr>
          <a:xfrm>
            <a:off x="7498080" y="3154680"/>
            <a:ext cx="3886200" cy="274320"/>
          </a:xfrm>
          <a:prstGeom prst="rect">
            <a:avLst/>
          </a:prstGeom>
          <a:noFill/>
          <a:ln/>
        </p:spPr>
        <p:txBody>
          <a:bodyPr wrap="square" lIns="0" tIns="0" rIns="0" bIns="0" rtlCol="0" anchor="ctr"/>
          <a:lstStyle/>
          <a:p>
            <a:pPr marL="0" indent="0">
              <a:buNone/>
            </a:pPr>
            <a:r>
              <a:rPr lang="en-US" sz="1000" b="1" kern="0" spc="100">
                <a:solidFill>
                  <a:srgbClr val="5B6478"/>
                </a:solidFill>
                <a:latin typeface="Calibri" pitchFamily="34" charset="0"/>
                <a:ea typeface="Calibri" pitchFamily="34" charset="-122"/>
                <a:cs typeface="Calibri" pitchFamily="34" charset="-120"/>
              </a:rPr>
              <a:t>FORMEL</a:t>
            </a:r>
            <a:endParaRPr lang="en-US" sz="1000"/>
          </a:p>
        </p:txBody>
      </p:sp>
      <p:sp>
        <p:nvSpPr>
          <p:cNvPr id="10" name="Text 7"/>
          <p:cNvSpPr/>
          <p:nvPr/>
        </p:nvSpPr>
        <p:spPr>
          <a:xfrm>
            <a:off x="7498080" y="3401568"/>
            <a:ext cx="3886200" cy="502920"/>
          </a:xfrm>
          <a:prstGeom prst="rect">
            <a:avLst/>
          </a:prstGeom>
          <a:noFill/>
          <a:ln/>
        </p:spPr>
        <p:txBody>
          <a:bodyPr wrap="square" lIns="0" tIns="0" rIns="0" bIns="0" rtlCol="0" anchor="ctr"/>
          <a:lstStyle/>
          <a:p>
            <a:pPr marL="0" indent="0">
              <a:buNone/>
            </a:pPr>
            <a:r>
              <a:rPr lang="en-US" sz="1450" b="1">
                <a:solidFill>
                  <a:srgbClr val="16243F"/>
                </a:solidFill>
                <a:latin typeface="Cambria Math" pitchFamily="34" charset="0"/>
                <a:ea typeface="Cambria Math" pitchFamily="34" charset="-122"/>
                <a:cs typeface="Cambria Math" pitchFamily="34" charset="-120"/>
              </a:rPr>
              <a:t>K = (L₀.₉₉₉ − PD · LGD) · MA(M)</a:t>
            </a:r>
            <a:endParaRPr lang="en-US" sz="1450"/>
          </a:p>
        </p:txBody>
      </p:sp>
      <p:sp>
        <p:nvSpPr>
          <p:cNvPr id="11" name="Text 8"/>
          <p:cNvSpPr/>
          <p:nvPr/>
        </p:nvSpPr>
        <p:spPr>
          <a:xfrm>
            <a:off x="7498080" y="3931920"/>
            <a:ext cx="3886200" cy="594360"/>
          </a:xfrm>
          <a:prstGeom prst="rect">
            <a:avLst/>
          </a:prstGeom>
          <a:noFill/>
          <a:ln/>
        </p:spPr>
        <p:txBody>
          <a:bodyPr wrap="square" lIns="0" tIns="0" rIns="0" bIns="0" rtlCol="0" anchor="ctr"/>
          <a:lstStyle/>
          <a:p>
            <a:pPr marL="0" indent="0">
              <a:lnSpc>
                <a:spcPct val="120000"/>
              </a:lnSpc>
              <a:buNone/>
            </a:pPr>
            <a:r>
              <a:rPr lang="en-US" sz="1000" i="1">
                <a:solidFill>
                  <a:srgbClr val="5B6478"/>
                </a:solidFill>
                <a:latin typeface="Calibri" pitchFamily="34" charset="0"/>
                <a:ea typeface="Calibri" pitchFamily="34" charset="-122"/>
                <a:cs typeface="Calibri" pitchFamily="34" charset="-120"/>
              </a:rPr>
              <a:t>L₀.₉₉₉ = 99,9%-Verlust-Quantil aus der Basel-IRB-Vasicek-Formel. MA = Maturity-Adjustment (Basel BCBS 2017).</a:t>
            </a:r>
            <a:endParaRPr lang="en-US" sz="1000"/>
          </a:p>
        </p:txBody>
      </p:sp>
      <p:sp>
        <p:nvSpPr>
          <p:cNvPr id="12" name="Text 9"/>
          <p:cNvSpPr/>
          <p:nvPr/>
        </p:nvSpPr>
        <p:spPr>
          <a:xfrm>
            <a:off x="7498080" y="4617720"/>
            <a:ext cx="3886200" cy="1280160"/>
          </a:xfrm>
          <a:prstGeom prst="rect">
            <a:avLst/>
          </a:prstGeom>
          <a:noFill/>
          <a:ln/>
        </p:spPr>
        <p:txBody>
          <a:bodyPr wrap="square" lIns="0" tIns="0" rIns="0" bIns="0" rtlCol="0" anchor="ctr"/>
          <a:lstStyle/>
          <a:p>
            <a:pPr marL="0" indent="0">
              <a:lnSpc>
                <a:spcPct val="125000"/>
              </a:lnSpc>
              <a:buNone/>
            </a:pPr>
            <a:r>
              <a:rPr lang="en-US" sz="1150" b="1">
                <a:solidFill>
                  <a:srgbClr val="1A1A1A"/>
                </a:solidFill>
                <a:latin typeface="Calibri" pitchFamily="34" charset="0"/>
                <a:ea typeface="Calibri" pitchFamily="34" charset="-122"/>
                <a:cs typeface="Calibri" pitchFamily="34" charset="-120"/>
              </a:rPr>
              <a:t>Ergebnis: Deutsche Bank benötigt unter diesem Schock €3,0 Mrd. mehr Eigenkapital - dominiert durch das Hypotheken-Portfolio (hohe Zinssensitivität β_rate = +0,30).</a:t>
            </a:r>
            <a:endParaRPr lang="en-US" sz="1150"/>
          </a:p>
        </p:txBody>
      </p:sp>
      <p:sp>
        <p:nvSpPr>
          <p:cNvPr id="13" name="Text 10"/>
          <p:cNvSpPr/>
          <p:nvPr/>
        </p:nvSpPr>
        <p:spPr>
          <a:xfrm>
            <a:off x="457200" y="6519672"/>
            <a:ext cx="7315200" cy="274320"/>
          </a:xfrm>
          <a:prstGeom prst="rect">
            <a:avLst/>
          </a:prstGeom>
          <a:noFill/>
          <a:ln/>
        </p:spPr>
        <p:txBody>
          <a:bodyPr wrap="square" lIns="0" tIns="0" rIns="0" bIns="0" rtlCol="0" anchor="ctr"/>
          <a:lstStyle/>
          <a:p>
            <a:pPr marL="0" indent="0" algn="l">
              <a:buNone/>
            </a:pPr>
            <a:r>
              <a:rPr lang="en-US" sz="900">
                <a:solidFill>
                  <a:srgbClr val="5B6478"/>
                </a:solidFill>
                <a:latin typeface="Calibri" pitchFamily="34" charset="0"/>
                <a:ea typeface="Calibri" pitchFamily="34" charset="-122"/>
                <a:cs typeface="Calibri" pitchFamily="34" charset="-120"/>
              </a:rPr>
              <a:t>Kreditbuch · Loan Book Channel</a:t>
            </a:r>
            <a:endParaRPr lang="en-US" sz="900"/>
          </a:p>
        </p:txBody>
      </p:sp>
      <p:sp>
        <p:nvSpPr>
          <p:cNvPr id="14" name="CodexSlideNumber">
            <a:extLst>
              <a:ext uri="{FF2B5EF4-FFF2-40B4-BE49-F238E27FC236}">
                <a16:creationId xmlns:a16="http://schemas.microsoft.com/office/drawing/2014/main" id="{1E93F857-3296-2B87-8E16-D9E619CCA871}"/>
              </a:ext>
            </a:extLst>
          </p:cNvPr>
          <p:cNvSpPr txBox="1"/>
          <p:nvPr/>
        </p:nvSpPr>
        <p:spPr>
          <a:xfrm>
            <a:off x="11226800" y="6553200"/>
            <a:ext cx="736600" cy="123111"/>
          </a:xfrm>
          <a:prstGeom prst="rect">
            <a:avLst/>
          </a:prstGeom>
          <a:noFill/>
        </p:spPr>
        <p:txBody>
          <a:bodyPr vert="horz" lIns="0" tIns="0" rIns="0" bIns="0" rtlCol="0">
            <a:spAutoFit/>
          </a:bodyPr>
          <a:lstStyle/>
          <a:p>
            <a:pPr algn="r"/>
            <a:r>
              <a:rPr lang="en-US" sz="800">
                <a:solidFill>
                  <a:srgbClr val="525252"/>
                </a:solidFill>
                <a:latin typeface="Arial" panose="020B0604020202020204" pitchFamily="34" charset="0"/>
              </a:rPr>
              <a:t>26 / 64</a:t>
            </a:r>
          </a:p>
        </p:txBody>
      </p:sp>
    </p:spTree>
    <p:extLst>
      <p:ext uri="{BB962C8B-B14F-4D97-AF65-F5344CB8AC3E}">
        <p14:creationId xmlns:p14="http://schemas.microsoft.com/office/powerpoint/2010/main" val="16329253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0058400" cy="320040"/>
          </a:xfrm>
          <a:prstGeom prst="rect">
            <a:avLst/>
          </a:prstGeom>
          <a:noFill/>
          <a:ln/>
        </p:spPr>
        <p:txBody>
          <a:bodyPr wrap="square" lIns="0" tIns="0" rIns="0" bIns="0" rtlCol="0" anchor="ctr"/>
          <a:lstStyle/>
          <a:p>
            <a:pPr marL="0" indent="0">
              <a:buNone/>
            </a:pPr>
            <a:r>
              <a:rPr lang="en-US" sz="863" b="1">
                <a:solidFill>
                  <a:schemeClr val="tx2"/>
                </a:solidFill>
                <a:latin typeface="Aptos"/>
              </a:rPr>
              <a:t>CAPITAL BRIDGE · DEUTSCHE BANK AG</a:t>
            </a:r>
          </a:p>
        </p:txBody>
      </p:sp>
      <p:sp>
        <p:nvSpPr>
          <p:cNvPr id="3" name="Text 1"/>
          <p:cNvSpPr/>
          <p:nvPr/>
        </p:nvSpPr>
        <p:spPr>
          <a:xfrm>
            <a:off x="548640" y="658368"/>
            <a:ext cx="10515600" cy="822960"/>
          </a:xfrm>
          <a:prstGeom prst="rect">
            <a:avLst/>
          </a:prstGeom>
          <a:noFill/>
          <a:ln/>
        </p:spPr>
        <p:txBody>
          <a:bodyPr wrap="square" lIns="0" tIns="0" rIns="0" bIns="0" rtlCol="0" anchor="ctr"/>
          <a:lstStyle/>
          <a:p>
            <a:pPr>
              <a:buNone/>
              <a:defRPr sz="2475" b="1" i="0">
                <a:solidFill>
                  <a:srgbClr val="051C2C"/>
                </a:solidFill>
                <a:latin typeface="Aptos Display"/>
                <a:ea typeface="Aptos Display"/>
                <a:cs typeface="Aptos Display"/>
              </a:defRPr>
            </a:pPr>
            <a:r>
              <a:rPr lang="en-US" sz="2475" b="1">
                <a:solidFill>
                  <a:srgbClr val="051C2C"/>
                </a:solidFill>
                <a:latin typeface="Aptos Display"/>
              </a:rPr>
              <a:t>RWA und Expected Loss </a:t>
            </a:r>
            <a:r>
              <a:rPr lang="en-US" sz="2475" b="1" err="1">
                <a:solidFill>
                  <a:srgbClr val="051C2C"/>
                </a:solidFill>
                <a:latin typeface="Aptos Display"/>
              </a:rPr>
              <a:t>folgen</a:t>
            </a:r>
            <a:r>
              <a:rPr lang="en-US" sz="2475" b="1">
                <a:solidFill>
                  <a:srgbClr val="051C2C"/>
                </a:solidFill>
                <a:latin typeface="Aptos Display"/>
              </a:rPr>
              <a:t> </a:t>
            </a:r>
            <a:r>
              <a:rPr lang="en-US" sz="2475" b="1" err="1">
                <a:solidFill>
                  <a:srgbClr val="051C2C"/>
                </a:solidFill>
                <a:latin typeface="Aptos Display"/>
              </a:rPr>
              <a:t>derselben</a:t>
            </a:r>
            <a:r>
              <a:rPr lang="en-US" sz="2475" b="1">
                <a:solidFill>
                  <a:srgbClr val="051C2C"/>
                </a:solidFill>
                <a:latin typeface="Aptos Display"/>
              </a:rPr>
              <a:t> Logik</a:t>
            </a:r>
          </a:p>
        </p:txBody>
      </p:sp>
      <p:sp>
        <p:nvSpPr>
          <p:cNvPr id="4" name="Text 2"/>
          <p:cNvSpPr/>
          <p:nvPr/>
        </p:nvSpPr>
        <p:spPr>
          <a:xfrm>
            <a:off x="548640" y="1508760"/>
            <a:ext cx="5303520" cy="274320"/>
          </a:xfrm>
          <a:prstGeom prst="rect">
            <a:avLst/>
          </a:prstGeom>
          <a:noFill/>
          <a:ln/>
        </p:spPr>
        <p:txBody>
          <a:bodyPr wrap="square" lIns="0" tIns="0" rIns="0" bIns="0" rtlCol="0" anchor="ctr"/>
          <a:lstStyle/>
          <a:p>
            <a:pPr marL="0" indent="0">
              <a:buNone/>
            </a:pPr>
            <a:r>
              <a:rPr lang="en-US" sz="1150" b="1" kern="0" spc="100">
                <a:solidFill>
                  <a:srgbClr val="16243F"/>
                </a:solidFill>
                <a:latin typeface="Calibri" pitchFamily="34" charset="0"/>
                <a:ea typeface="Calibri" pitchFamily="34" charset="-122"/>
                <a:cs typeface="Calibri" pitchFamily="34" charset="-120"/>
              </a:rPr>
              <a:t>RWA DECOMPOSITION</a:t>
            </a:r>
            <a:endParaRPr lang="en-US" sz="1150"/>
          </a:p>
        </p:txBody>
      </p:sp>
      <p:graphicFrame>
        <p:nvGraphicFramePr>
          <p:cNvPr id="5" name="Chart 0"/>
          <p:cNvGraphicFramePr/>
          <p:nvPr/>
        </p:nvGraphicFramePr>
        <p:xfrm>
          <a:off x="457200" y="1783080"/>
          <a:ext cx="5486400" cy="320040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p:nvPr/>
        </p:nvSpPr>
        <p:spPr>
          <a:xfrm>
            <a:off x="457200" y="5074920"/>
            <a:ext cx="5486400" cy="548640"/>
          </a:xfrm>
          <a:prstGeom prst="rect">
            <a:avLst/>
          </a:prstGeom>
          <a:noFill/>
          <a:ln/>
        </p:spPr>
        <p:txBody>
          <a:bodyPr wrap="square" lIns="0" tIns="0" rIns="0" bIns="0" rtlCol="0" anchor="ctr"/>
          <a:lstStyle/>
          <a:p>
            <a:pPr marL="0" indent="0">
              <a:lnSpc>
                <a:spcPct val="120000"/>
              </a:lnSpc>
              <a:buNone/>
            </a:pPr>
            <a:r>
              <a:rPr lang="en-US" sz="1000" i="1">
                <a:solidFill>
                  <a:srgbClr val="5B6478"/>
                </a:solidFill>
                <a:latin typeface="Calibri" pitchFamily="34" charset="0"/>
                <a:ea typeface="Calibri" pitchFamily="34" charset="-122"/>
                <a:cs typeface="Calibri" pitchFamily="34" charset="-120"/>
              </a:rPr>
              <a:t>RWA = K × 12.5 × EAD. Steht im Nenner der CET1-Quote - je höher die RWA, desto stärker verdünnt die Quote.</a:t>
            </a:r>
            <a:endParaRPr lang="en-US" sz="1000"/>
          </a:p>
        </p:txBody>
      </p:sp>
      <p:sp>
        <p:nvSpPr>
          <p:cNvPr id="7" name="Text 4"/>
          <p:cNvSpPr/>
          <p:nvPr/>
        </p:nvSpPr>
        <p:spPr>
          <a:xfrm>
            <a:off x="6263640" y="1508760"/>
            <a:ext cx="5349240" cy="274320"/>
          </a:xfrm>
          <a:prstGeom prst="rect">
            <a:avLst/>
          </a:prstGeom>
          <a:noFill/>
          <a:ln/>
        </p:spPr>
        <p:txBody>
          <a:bodyPr wrap="square" lIns="0" tIns="0" rIns="0" bIns="0" rtlCol="0" anchor="ctr"/>
          <a:lstStyle/>
          <a:p>
            <a:pPr marL="0" indent="0">
              <a:buNone/>
            </a:pPr>
            <a:r>
              <a:rPr lang="en-US" sz="1150" b="1" kern="0" spc="100">
                <a:solidFill>
                  <a:srgbClr val="9B1B30"/>
                </a:solidFill>
                <a:latin typeface="Calibri" pitchFamily="34" charset="0"/>
                <a:ea typeface="Calibri" pitchFamily="34" charset="-122"/>
                <a:cs typeface="Calibri" pitchFamily="34" charset="-120"/>
              </a:rPr>
              <a:t>EXPECTED LOSS DECOMPOSITION</a:t>
            </a:r>
            <a:endParaRPr lang="en-US" sz="1150"/>
          </a:p>
        </p:txBody>
      </p:sp>
      <p:graphicFrame>
        <p:nvGraphicFramePr>
          <p:cNvPr id="8" name="Chart 1"/>
          <p:cNvGraphicFramePr/>
          <p:nvPr/>
        </p:nvGraphicFramePr>
        <p:xfrm>
          <a:off x="6172200" y="1783080"/>
          <a:ext cx="5486400" cy="3200400"/>
        </p:xfrm>
        <a:graphic>
          <a:graphicData uri="http://schemas.openxmlformats.org/drawingml/2006/chart">
            <c:chart xmlns:c="http://schemas.openxmlformats.org/drawingml/2006/chart" xmlns:r="http://schemas.openxmlformats.org/officeDocument/2006/relationships" r:id="rId4"/>
          </a:graphicData>
        </a:graphic>
      </p:graphicFrame>
      <p:sp>
        <p:nvSpPr>
          <p:cNvPr id="9" name="Text 5"/>
          <p:cNvSpPr/>
          <p:nvPr/>
        </p:nvSpPr>
        <p:spPr>
          <a:xfrm>
            <a:off x="6172200" y="5074920"/>
            <a:ext cx="5486400" cy="548640"/>
          </a:xfrm>
          <a:prstGeom prst="rect">
            <a:avLst/>
          </a:prstGeom>
          <a:noFill/>
          <a:ln/>
        </p:spPr>
        <p:txBody>
          <a:bodyPr wrap="square" lIns="0" tIns="0" rIns="0" bIns="0" rtlCol="0" anchor="ctr"/>
          <a:lstStyle/>
          <a:p>
            <a:pPr marL="0" indent="0">
              <a:lnSpc>
                <a:spcPct val="120000"/>
              </a:lnSpc>
              <a:buNone/>
            </a:pPr>
            <a:r>
              <a:rPr lang="en-US" sz="1000" i="1">
                <a:solidFill>
                  <a:srgbClr val="5B6478"/>
                </a:solidFill>
                <a:latin typeface="Calibri" pitchFamily="34" charset="0"/>
                <a:ea typeface="Calibri" pitchFamily="34" charset="-122"/>
                <a:cs typeface="Calibri" pitchFamily="34" charset="-120"/>
              </a:rPr>
              <a:t>EL = PD × LGD × EAD. ΔEL = +€2,10 Mrd. - 68% aus PD-Kanal (€1,43 Mrd.), 32% aus LGD-Kanal (€0,67 Mrd.).</a:t>
            </a:r>
            <a:endParaRPr lang="en-US" sz="1000"/>
          </a:p>
        </p:txBody>
      </p:sp>
      <p:sp>
        <p:nvSpPr>
          <p:cNvPr id="10" name="Shape 6"/>
          <p:cNvSpPr/>
          <p:nvPr/>
        </p:nvSpPr>
        <p:spPr>
          <a:xfrm>
            <a:off x="548640" y="5760720"/>
            <a:ext cx="11064240" cy="685800"/>
          </a:xfrm>
          <a:prstGeom prst="roundRect">
            <a:avLst>
              <a:gd name="adj" fmla="val 6667"/>
            </a:avLst>
          </a:prstGeom>
          <a:solidFill>
            <a:srgbClr val="16243F"/>
          </a:solidFill>
          <a:ln/>
        </p:spPr>
        <p:txBody>
          <a:bodyPr/>
          <a:lstStyle/>
          <a:p>
            <a:endParaRPr lang="de-DE"/>
          </a:p>
        </p:txBody>
      </p:sp>
      <p:sp>
        <p:nvSpPr>
          <p:cNvPr id="11" name="Text 7"/>
          <p:cNvSpPr/>
          <p:nvPr/>
        </p:nvSpPr>
        <p:spPr>
          <a:xfrm>
            <a:off x="777240" y="5760720"/>
            <a:ext cx="10607040" cy="685800"/>
          </a:xfrm>
          <a:prstGeom prst="rect">
            <a:avLst/>
          </a:prstGeom>
          <a:noFill/>
          <a:ln/>
        </p:spPr>
        <p:txBody>
          <a:bodyPr wrap="square" lIns="0" tIns="0" rIns="0" bIns="0" rtlCol="0" anchor="ctr"/>
          <a:lstStyle/>
          <a:p>
            <a:pPr marL="0" indent="0">
              <a:buNone/>
            </a:pPr>
            <a:r>
              <a:rPr lang="en-US" sz="1100">
                <a:solidFill>
                  <a:srgbClr val="FFFFFF"/>
                </a:solidFill>
                <a:latin typeface="Calibri" pitchFamily="34" charset="0"/>
                <a:ea typeface="Calibri" pitchFamily="34" charset="-122"/>
                <a:cs typeface="Calibri" pitchFamily="34" charset="-120"/>
              </a:rPr>
              <a:t>EL belastet die GuV direkt (Risikovorsorge). RWA stehen im Nenner der CET1-Quote. Beide zusammen verdünnen die CET1-Quote - EL über den Zähler (weniger Kapital), RWA über den Nenner (mehr Risikogewicht).</a:t>
            </a:r>
            <a:endParaRPr lang="en-US" sz="1100"/>
          </a:p>
        </p:txBody>
      </p:sp>
      <p:sp>
        <p:nvSpPr>
          <p:cNvPr id="12" name="Text 8"/>
          <p:cNvSpPr/>
          <p:nvPr/>
        </p:nvSpPr>
        <p:spPr>
          <a:xfrm>
            <a:off x="457200" y="6519672"/>
            <a:ext cx="7315200" cy="274320"/>
          </a:xfrm>
          <a:prstGeom prst="rect">
            <a:avLst/>
          </a:prstGeom>
          <a:noFill/>
          <a:ln/>
        </p:spPr>
        <p:txBody>
          <a:bodyPr wrap="square" lIns="0" tIns="0" rIns="0" bIns="0" rtlCol="0" anchor="ctr"/>
          <a:lstStyle/>
          <a:p>
            <a:pPr marL="0" indent="0" algn="l">
              <a:buNone/>
            </a:pPr>
            <a:r>
              <a:rPr lang="en-US" sz="900">
                <a:solidFill>
                  <a:srgbClr val="5B6478"/>
                </a:solidFill>
                <a:latin typeface="Calibri" pitchFamily="34" charset="0"/>
                <a:ea typeface="Calibri" pitchFamily="34" charset="-122"/>
                <a:cs typeface="Calibri" pitchFamily="34" charset="-120"/>
              </a:rPr>
              <a:t>Kreditbuch · Loan Book Channel</a:t>
            </a:r>
            <a:endParaRPr lang="en-US" sz="900"/>
          </a:p>
        </p:txBody>
      </p:sp>
      <p:sp>
        <p:nvSpPr>
          <p:cNvPr id="13" name="CodexSlideNumber">
            <a:extLst>
              <a:ext uri="{FF2B5EF4-FFF2-40B4-BE49-F238E27FC236}">
                <a16:creationId xmlns:a16="http://schemas.microsoft.com/office/drawing/2014/main" id="{06ADBC41-C701-9172-4780-98A3120807F5}"/>
              </a:ext>
            </a:extLst>
          </p:cNvPr>
          <p:cNvSpPr txBox="1"/>
          <p:nvPr/>
        </p:nvSpPr>
        <p:spPr>
          <a:xfrm>
            <a:off x="11226800" y="6553200"/>
            <a:ext cx="736600" cy="123111"/>
          </a:xfrm>
          <a:prstGeom prst="rect">
            <a:avLst/>
          </a:prstGeom>
          <a:noFill/>
        </p:spPr>
        <p:txBody>
          <a:bodyPr vert="horz" lIns="0" tIns="0" rIns="0" bIns="0" rtlCol="0">
            <a:spAutoFit/>
          </a:bodyPr>
          <a:lstStyle/>
          <a:p>
            <a:pPr algn="r"/>
            <a:r>
              <a:rPr lang="en-US" sz="800">
                <a:solidFill>
                  <a:srgbClr val="525252"/>
                </a:solidFill>
                <a:latin typeface="Arial" panose="020B0604020202020204" pitchFamily="34" charset="0"/>
              </a:rPr>
              <a:t>27 / 64</a:t>
            </a:r>
          </a:p>
        </p:txBody>
      </p:sp>
    </p:spTree>
    <p:extLst>
      <p:ext uri="{BB962C8B-B14F-4D97-AF65-F5344CB8AC3E}">
        <p14:creationId xmlns:p14="http://schemas.microsoft.com/office/powerpoint/2010/main" val="264305525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0058400" cy="320040"/>
          </a:xfrm>
          <a:prstGeom prst="rect">
            <a:avLst/>
          </a:prstGeom>
          <a:noFill/>
          <a:ln/>
        </p:spPr>
        <p:txBody>
          <a:bodyPr wrap="square" lIns="0" tIns="0" rIns="0" bIns="0" rtlCol="0" anchor="ctr"/>
          <a:lstStyle/>
          <a:p>
            <a:r>
              <a:rPr lang="en-US" sz="863" b="1" dirty="0">
                <a:solidFill>
                  <a:schemeClr val="tx2"/>
                </a:solidFill>
                <a:latin typeface="Aptos"/>
              </a:rPr>
              <a:t>BANK-DRILLDOWN · DEUTSCHE BANK AG · EXPOSURE-CLASS-BREAKDOWN</a:t>
            </a:r>
          </a:p>
        </p:txBody>
      </p:sp>
      <p:sp>
        <p:nvSpPr>
          <p:cNvPr id="3" name="Text 1"/>
          <p:cNvSpPr/>
          <p:nvPr/>
        </p:nvSpPr>
        <p:spPr>
          <a:xfrm>
            <a:off x="548640" y="658368"/>
            <a:ext cx="10515600" cy="822960"/>
          </a:xfrm>
          <a:prstGeom prst="rect">
            <a:avLst/>
          </a:prstGeom>
          <a:noFill/>
          <a:ln/>
        </p:spPr>
        <p:txBody>
          <a:bodyPr wrap="square" lIns="0" tIns="0" rIns="0" bIns="0" rtlCol="0" anchor="ctr"/>
          <a:lstStyle/>
          <a:p>
            <a:pPr>
              <a:defRPr sz="2475" b="1" i="0">
                <a:solidFill>
                  <a:srgbClr val="051C2C"/>
                </a:solidFill>
                <a:latin typeface="Aptos Display"/>
                <a:ea typeface="Aptos Display"/>
                <a:cs typeface="Aptos Display"/>
              </a:defRPr>
            </a:pPr>
            <a:r>
              <a:rPr lang="en-US" sz="2475" b="1">
                <a:solidFill>
                  <a:srgbClr val="051C2C"/>
                </a:solidFill>
                <a:latin typeface="Aptos Display"/>
              </a:rPr>
              <a:t>Welches Segment </a:t>
            </a:r>
            <a:r>
              <a:rPr lang="en-US" sz="2475" b="1" err="1">
                <a:solidFill>
                  <a:srgbClr val="051C2C"/>
                </a:solidFill>
                <a:latin typeface="Aptos Display"/>
              </a:rPr>
              <a:t>treibt</a:t>
            </a:r>
            <a:r>
              <a:rPr lang="en-US" sz="2475" b="1">
                <a:solidFill>
                  <a:srgbClr val="051C2C"/>
                </a:solidFill>
                <a:latin typeface="Aptos Display"/>
              </a:rPr>
              <a:t> das Risiko der Bank?</a:t>
            </a:r>
          </a:p>
        </p:txBody>
      </p:sp>
      <p:sp>
        <p:nvSpPr>
          <p:cNvPr id="4" name="Text 2"/>
          <p:cNvSpPr/>
          <p:nvPr/>
        </p:nvSpPr>
        <p:spPr>
          <a:xfrm>
            <a:off x="548640" y="1508760"/>
            <a:ext cx="6126480" cy="274320"/>
          </a:xfrm>
          <a:prstGeom prst="rect">
            <a:avLst/>
          </a:prstGeom>
          <a:noFill/>
          <a:ln/>
        </p:spPr>
        <p:txBody>
          <a:bodyPr wrap="square" lIns="0" tIns="0" rIns="0" bIns="0" rtlCol="0" anchor="ctr"/>
          <a:lstStyle/>
          <a:p>
            <a:pPr marL="0" indent="0">
              <a:buNone/>
            </a:pPr>
            <a:r>
              <a:rPr lang="en-US" sz="1000" b="1" kern="0" spc="50">
                <a:solidFill>
                  <a:srgbClr val="16243F"/>
                </a:solidFill>
                <a:latin typeface="Calibri" pitchFamily="34" charset="0"/>
                <a:ea typeface="Calibri" pitchFamily="34" charset="-122"/>
                <a:cs typeface="Calibri" pitchFamily="34" charset="-120"/>
              </a:rPr>
              <a:t>SEGMENT METRICS (MODELL-SCHÄTZWERTE AUF BASIS PILLAR-3-PDs)</a:t>
            </a:r>
            <a:endParaRPr lang="en-US" sz="1000"/>
          </a:p>
        </p:txBody>
      </p:sp>
      <p:graphicFrame>
        <p:nvGraphicFramePr>
          <p:cNvPr id="12" name="Table 0"/>
          <p:cNvGraphicFramePr>
            <a:graphicFrameLocks noGrp="1"/>
          </p:cNvGraphicFramePr>
          <p:nvPr/>
        </p:nvGraphicFramePr>
        <p:xfrm>
          <a:off x="548640" y="1828800"/>
          <a:ext cx="6126480" cy="2011680"/>
        </p:xfrm>
        <a:graphic>
          <a:graphicData uri="http://schemas.openxmlformats.org/drawingml/2006/table">
            <a:tbl>
              <a:tblPr/>
              <a:tblGrid>
                <a:gridCol w="146304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gridCol w="82296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822960">
                  <a:extLst>
                    <a:ext uri="{9D8B030D-6E8A-4147-A177-3AD203B41FA5}">
                      <a16:colId xmlns:a16="http://schemas.microsoft.com/office/drawing/2014/main" val="20004"/>
                    </a:ext>
                  </a:extLst>
                </a:gridCol>
                <a:gridCol w="1280160">
                  <a:extLst>
                    <a:ext uri="{9D8B030D-6E8A-4147-A177-3AD203B41FA5}">
                      <a16:colId xmlns:a16="http://schemas.microsoft.com/office/drawing/2014/main" val="20005"/>
                    </a:ext>
                  </a:extLst>
                </a:gridCol>
              </a:tblGrid>
              <a:tr h="402336">
                <a:tc>
                  <a:txBody>
                    <a:bodyPr/>
                    <a:lstStyle/>
                    <a:p>
                      <a:pPr marL="0" indent="0">
                        <a:buNone/>
                      </a:pPr>
                      <a:r>
                        <a:rPr lang="en-US" sz="1050" b="1">
                          <a:solidFill>
                            <a:srgbClr val="FFFFFF"/>
                          </a:solidFill>
                          <a:latin typeface="Calibri" pitchFamily="34" charset="0"/>
                          <a:ea typeface="Calibri" pitchFamily="34" charset="-122"/>
                          <a:cs typeface="Calibri" pitchFamily="34" charset="-120"/>
                        </a:rPr>
                        <a:t>Segment</a:t>
                      </a:r>
                      <a:endParaRPr lang="en-US" sz="1050">
                        <a:latin typeface="Calibri" charset="0"/>
                        <a:ea typeface="Calibri" charset="0"/>
                        <a:cs typeface="Calibri" charset="0"/>
                      </a:endParaRPr>
                    </a:p>
                  </a:txBody>
                  <a:tcP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16243F"/>
                    </a:solidFill>
                  </a:tcPr>
                </a:tc>
                <a:tc>
                  <a:txBody>
                    <a:bodyPr/>
                    <a:lstStyle/>
                    <a:p>
                      <a:pPr marL="0" indent="0">
                        <a:buNone/>
                      </a:pPr>
                      <a:r>
                        <a:rPr lang="en-US" sz="1050" b="1">
                          <a:solidFill>
                            <a:srgbClr val="FFFFFF"/>
                          </a:solidFill>
                          <a:latin typeface="Calibri" pitchFamily="34" charset="0"/>
                          <a:ea typeface="Calibri" pitchFamily="34" charset="-122"/>
                          <a:cs typeface="Calibri" pitchFamily="34" charset="-120"/>
                        </a:rPr>
                        <a:t>EAD Mrd.</a:t>
                      </a:r>
                      <a:endParaRPr lang="en-US" sz="1050">
                        <a:latin typeface="Calibri" charset="0"/>
                        <a:ea typeface="Calibri" charset="0"/>
                        <a:cs typeface="Calibri" charset="0"/>
                      </a:endParaRPr>
                    </a:p>
                  </a:txBody>
                  <a:tcP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16243F"/>
                    </a:solidFill>
                  </a:tcPr>
                </a:tc>
                <a:tc>
                  <a:txBody>
                    <a:bodyPr/>
                    <a:lstStyle/>
                    <a:p>
                      <a:pPr marL="0" indent="0">
                        <a:buNone/>
                      </a:pPr>
                      <a:r>
                        <a:rPr lang="en-US" sz="1050" b="1">
                          <a:solidFill>
                            <a:srgbClr val="FFFFFF"/>
                          </a:solidFill>
                          <a:latin typeface="Calibri" pitchFamily="34" charset="0"/>
                          <a:ea typeface="Calibri" pitchFamily="34" charset="-122"/>
                          <a:cs typeface="Calibri" pitchFamily="34" charset="-120"/>
                        </a:rPr>
                        <a:t>PD base</a:t>
                      </a:r>
                      <a:endParaRPr lang="en-US" sz="1050">
                        <a:latin typeface="Calibri" charset="0"/>
                        <a:ea typeface="Calibri" charset="0"/>
                        <a:cs typeface="Calibri" charset="0"/>
                      </a:endParaRPr>
                    </a:p>
                  </a:txBody>
                  <a:tcP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16243F"/>
                    </a:solidFill>
                  </a:tcPr>
                </a:tc>
                <a:tc>
                  <a:txBody>
                    <a:bodyPr/>
                    <a:lstStyle/>
                    <a:p>
                      <a:pPr marL="0" indent="0">
                        <a:buNone/>
                      </a:pPr>
                      <a:r>
                        <a:rPr lang="en-US" sz="1050" b="1">
                          <a:solidFill>
                            <a:srgbClr val="FFFFFF"/>
                          </a:solidFill>
                          <a:latin typeface="Calibri" pitchFamily="34" charset="0"/>
                          <a:ea typeface="Calibri" pitchFamily="34" charset="-122"/>
                          <a:cs typeface="Calibri" pitchFamily="34" charset="-120"/>
                        </a:rPr>
                        <a:t>PD stress</a:t>
                      </a:r>
                      <a:endParaRPr lang="en-US" sz="1050">
                        <a:latin typeface="Calibri" charset="0"/>
                        <a:ea typeface="Calibri" charset="0"/>
                        <a:cs typeface="Calibri" charset="0"/>
                      </a:endParaRPr>
                    </a:p>
                  </a:txBody>
                  <a:tcP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16243F"/>
                    </a:solidFill>
                  </a:tcPr>
                </a:tc>
                <a:tc>
                  <a:txBody>
                    <a:bodyPr/>
                    <a:lstStyle/>
                    <a:p>
                      <a:pPr marL="0" indent="0">
                        <a:buNone/>
                      </a:pPr>
                      <a:r>
                        <a:rPr lang="en-US" sz="1050" b="1">
                          <a:solidFill>
                            <a:srgbClr val="FFFFFF"/>
                          </a:solidFill>
                          <a:latin typeface="Calibri" pitchFamily="34" charset="0"/>
                          <a:ea typeface="Calibri" pitchFamily="34" charset="-122"/>
                          <a:cs typeface="Calibri" pitchFamily="34" charset="-120"/>
                        </a:rPr>
                        <a:t>Δ PD</a:t>
                      </a:r>
                      <a:endParaRPr lang="en-US" sz="1050">
                        <a:latin typeface="Calibri" charset="0"/>
                        <a:ea typeface="Calibri" charset="0"/>
                        <a:cs typeface="Calibri" charset="0"/>
                      </a:endParaRPr>
                    </a:p>
                  </a:txBody>
                  <a:tcP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16243F"/>
                    </a:solidFill>
                  </a:tcPr>
                </a:tc>
                <a:tc>
                  <a:txBody>
                    <a:bodyPr/>
                    <a:lstStyle/>
                    <a:p>
                      <a:pPr marL="0" indent="0">
                        <a:buNone/>
                      </a:pPr>
                      <a:r>
                        <a:rPr lang="en-US" sz="1050" b="1">
                          <a:solidFill>
                            <a:srgbClr val="FFFFFF"/>
                          </a:solidFill>
                          <a:latin typeface="Calibri" pitchFamily="34" charset="0"/>
                          <a:ea typeface="Calibri" pitchFamily="34" charset="-122"/>
                          <a:cs typeface="Calibri" pitchFamily="34" charset="-120"/>
                        </a:rPr>
                        <a:t>EL stress Mio.</a:t>
                      </a:r>
                      <a:endParaRPr lang="en-US" sz="1050">
                        <a:latin typeface="Calibri" charset="0"/>
                        <a:ea typeface="Calibri" charset="0"/>
                        <a:cs typeface="Calibri" charset="0"/>
                      </a:endParaRPr>
                    </a:p>
                  </a:txBody>
                  <a:tcP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16243F"/>
                    </a:solidFill>
                  </a:tcPr>
                </a:tc>
                <a:extLst>
                  <a:ext uri="{0D108BD9-81ED-4DB2-BD59-A6C34878D82A}">
                    <a16:rowId xmlns:a16="http://schemas.microsoft.com/office/drawing/2014/main" val="10000"/>
                  </a:ext>
                </a:extLst>
              </a:tr>
              <a:tr h="402336">
                <a:tc>
                  <a:txBody>
                    <a:bodyPr/>
                    <a:lstStyle/>
                    <a:p>
                      <a:pPr marL="0" indent="0" algn="l">
                        <a:buNone/>
                      </a:pPr>
                      <a:r>
                        <a:rPr lang="en-US" sz="1050" b="1">
                          <a:solidFill>
                            <a:srgbClr val="1A1A1A"/>
                          </a:solidFill>
                          <a:latin typeface="Calibri" pitchFamily="34" charset="0"/>
                          <a:ea typeface="Calibri" pitchFamily="34" charset="-122"/>
                          <a:cs typeface="Calibri" pitchFamily="34" charset="-120"/>
                        </a:rPr>
                        <a:t>Mortgage</a:t>
                      </a:r>
                      <a:endParaRPr lang="en-US" sz="1050">
                        <a:latin typeface="Calibri" charset="0"/>
                        <a:ea typeface="Calibri" charset="0"/>
                        <a:cs typeface="Calibri" charset="0"/>
                      </a:endParaRPr>
                    </a:p>
                  </a:txBody>
                  <a:tcP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FFFFFF"/>
                    </a:solidFill>
                  </a:tcPr>
                </a:tc>
                <a:tc>
                  <a:txBody>
                    <a:bodyPr/>
                    <a:lstStyle/>
                    <a:p>
                      <a:pPr marL="0" indent="0" algn="r">
                        <a:buNone/>
                      </a:pPr>
                      <a:r>
                        <a:rPr lang="en-US" sz="1050">
                          <a:solidFill>
                            <a:srgbClr val="1A1A1A"/>
                          </a:solidFill>
                          <a:latin typeface="Calibri" pitchFamily="34" charset="0"/>
                          <a:ea typeface="Calibri" pitchFamily="34" charset="-122"/>
                          <a:cs typeface="Calibri" pitchFamily="34" charset="-120"/>
                        </a:rPr>
                        <a:t>~200</a:t>
                      </a:r>
                      <a:endParaRPr lang="en-US" sz="1050">
                        <a:latin typeface="Calibri" charset="0"/>
                        <a:ea typeface="Calibri" charset="0"/>
                        <a:cs typeface="Calibri" charset="0"/>
                      </a:endParaRPr>
                    </a:p>
                  </a:txBody>
                  <a:tcP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FFFFFF"/>
                    </a:solidFill>
                  </a:tcPr>
                </a:tc>
                <a:tc>
                  <a:txBody>
                    <a:bodyPr/>
                    <a:lstStyle/>
                    <a:p>
                      <a:pPr marL="0" indent="0" algn="r">
                        <a:buNone/>
                      </a:pPr>
                      <a:r>
                        <a:rPr lang="en-US" sz="1050">
                          <a:solidFill>
                            <a:srgbClr val="1A1A1A"/>
                          </a:solidFill>
                          <a:latin typeface="Calibri" pitchFamily="34" charset="0"/>
                          <a:ea typeface="Calibri" pitchFamily="34" charset="-122"/>
                          <a:cs typeface="Calibri" pitchFamily="34" charset="-120"/>
                        </a:rPr>
                        <a:t>2,63%</a:t>
                      </a:r>
                      <a:endParaRPr lang="en-US" sz="1050">
                        <a:latin typeface="Calibri" charset="0"/>
                        <a:ea typeface="Calibri" charset="0"/>
                        <a:cs typeface="Calibri" charset="0"/>
                      </a:endParaRPr>
                    </a:p>
                  </a:txBody>
                  <a:tcP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FFFFFF"/>
                    </a:solidFill>
                  </a:tcPr>
                </a:tc>
                <a:tc>
                  <a:txBody>
                    <a:bodyPr/>
                    <a:lstStyle/>
                    <a:p>
                      <a:pPr marL="0" indent="0" algn="r">
                        <a:buNone/>
                      </a:pPr>
                      <a:r>
                        <a:rPr lang="en-US" sz="1050">
                          <a:solidFill>
                            <a:srgbClr val="1A1A1A"/>
                          </a:solidFill>
                          <a:latin typeface="Calibri" pitchFamily="34" charset="0"/>
                          <a:ea typeface="Calibri" pitchFamily="34" charset="-122"/>
                          <a:cs typeface="Calibri" pitchFamily="34" charset="-120"/>
                        </a:rPr>
                        <a:t>3,26%</a:t>
                      </a:r>
                      <a:endParaRPr lang="en-US" sz="1050">
                        <a:latin typeface="Calibri" charset="0"/>
                        <a:ea typeface="Calibri" charset="0"/>
                        <a:cs typeface="Calibri" charset="0"/>
                      </a:endParaRPr>
                    </a:p>
                  </a:txBody>
                  <a:tcP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FFFFFF"/>
                    </a:solidFill>
                  </a:tcPr>
                </a:tc>
                <a:tc>
                  <a:txBody>
                    <a:bodyPr/>
                    <a:lstStyle/>
                    <a:p>
                      <a:pPr marL="0" indent="0" algn="r">
                        <a:buNone/>
                      </a:pPr>
                      <a:r>
                        <a:rPr lang="en-US" sz="1050">
                          <a:solidFill>
                            <a:srgbClr val="1A1A1A"/>
                          </a:solidFill>
                          <a:latin typeface="Calibri" pitchFamily="34" charset="0"/>
                          <a:ea typeface="Calibri" pitchFamily="34" charset="-122"/>
                          <a:cs typeface="Calibri" pitchFamily="34" charset="-120"/>
                        </a:rPr>
                        <a:t>+0,63 pp</a:t>
                      </a:r>
                      <a:endParaRPr lang="en-US" sz="1050">
                        <a:latin typeface="Calibri" charset="0"/>
                        <a:ea typeface="Calibri" charset="0"/>
                        <a:cs typeface="Calibri" charset="0"/>
                      </a:endParaRPr>
                    </a:p>
                  </a:txBody>
                  <a:tcP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FFFFFF"/>
                    </a:solidFill>
                  </a:tcPr>
                </a:tc>
                <a:tc>
                  <a:txBody>
                    <a:bodyPr/>
                    <a:lstStyle/>
                    <a:p>
                      <a:pPr marL="0" indent="0" algn="r">
                        <a:buNone/>
                      </a:pPr>
                      <a:r>
                        <a:rPr lang="en-US" sz="1050">
                          <a:solidFill>
                            <a:srgbClr val="1A1A1A"/>
                          </a:solidFill>
                          <a:latin typeface="Calibri" pitchFamily="34" charset="0"/>
                          <a:ea typeface="Calibri" pitchFamily="34" charset="-122"/>
                          <a:cs typeface="Calibri" pitchFamily="34" charset="-120"/>
                        </a:rPr>
                        <a:t>~850</a:t>
                      </a:r>
                      <a:endParaRPr lang="en-US" sz="1050">
                        <a:latin typeface="Calibri" charset="0"/>
                        <a:ea typeface="Calibri" charset="0"/>
                        <a:cs typeface="Calibri" charset="0"/>
                      </a:endParaRPr>
                    </a:p>
                  </a:txBody>
                  <a:tcP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02336">
                <a:tc>
                  <a:txBody>
                    <a:bodyPr/>
                    <a:lstStyle/>
                    <a:p>
                      <a:pPr marL="0" indent="0" algn="l">
                        <a:buNone/>
                      </a:pPr>
                      <a:r>
                        <a:rPr lang="en-US" sz="1050" b="1">
                          <a:solidFill>
                            <a:srgbClr val="1A1A1A"/>
                          </a:solidFill>
                          <a:latin typeface="Calibri" pitchFamily="34" charset="0"/>
                          <a:ea typeface="Calibri" pitchFamily="34" charset="-122"/>
                          <a:cs typeface="Calibri" pitchFamily="34" charset="-120"/>
                        </a:rPr>
                        <a:t>Corporate</a:t>
                      </a:r>
                      <a:endParaRPr lang="en-US" sz="1050">
                        <a:latin typeface="Calibri" charset="0"/>
                        <a:ea typeface="Calibri" charset="0"/>
                        <a:cs typeface="Calibri" charset="0"/>
                      </a:endParaRPr>
                    </a:p>
                  </a:txBody>
                  <a:tcP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F4F6FB"/>
                    </a:solidFill>
                  </a:tcPr>
                </a:tc>
                <a:tc>
                  <a:txBody>
                    <a:bodyPr/>
                    <a:lstStyle/>
                    <a:p>
                      <a:pPr marL="0" indent="0" algn="r">
                        <a:buNone/>
                      </a:pPr>
                      <a:r>
                        <a:rPr lang="en-US" sz="1050">
                          <a:solidFill>
                            <a:srgbClr val="1A1A1A"/>
                          </a:solidFill>
                          <a:latin typeface="Calibri" pitchFamily="34" charset="0"/>
                          <a:ea typeface="Calibri" pitchFamily="34" charset="-122"/>
                          <a:cs typeface="Calibri" pitchFamily="34" charset="-120"/>
                        </a:rPr>
                        <a:t>~250</a:t>
                      </a:r>
                      <a:endParaRPr lang="en-US" sz="1050">
                        <a:latin typeface="Calibri" charset="0"/>
                        <a:ea typeface="Calibri" charset="0"/>
                        <a:cs typeface="Calibri" charset="0"/>
                      </a:endParaRPr>
                    </a:p>
                  </a:txBody>
                  <a:tcP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F4F6FB"/>
                    </a:solidFill>
                  </a:tcPr>
                </a:tc>
                <a:tc>
                  <a:txBody>
                    <a:bodyPr/>
                    <a:lstStyle/>
                    <a:p>
                      <a:pPr marL="0" indent="0" algn="r">
                        <a:buNone/>
                      </a:pPr>
                      <a:r>
                        <a:rPr lang="en-US" sz="1050">
                          <a:solidFill>
                            <a:srgbClr val="1A1A1A"/>
                          </a:solidFill>
                          <a:latin typeface="Calibri" pitchFamily="34" charset="0"/>
                          <a:ea typeface="Calibri" pitchFamily="34" charset="-122"/>
                          <a:cs typeface="Calibri" pitchFamily="34" charset="-120"/>
                        </a:rPr>
                        <a:t>4,12%</a:t>
                      </a:r>
                      <a:endParaRPr lang="en-US" sz="1050">
                        <a:latin typeface="Calibri" charset="0"/>
                        <a:ea typeface="Calibri" charset="0"/>
                        <a:cs typeface="Calibri" charset="0"/>
                      </a:endParaRPr>
                    </a:p>
                  </a:txBody>
                  <a:tcP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F4F6FB"/>
                    </a:solidFill>
                  </a:tcPr>
                </a:tc>
                <a:tc>
                  <a:txBody>
                    <a:bodyPr/>
                    <a:lstStyle/>
                    <a:p>
                      <a:pPr marL="0" indent="0" algn="r">
                        <a:buNone/>
                      </a:pPr>
                      <a:r>
                        <a:rPr lang="en-US" sz="1050">
                          <a:solidFill>
                            <a:srgbClr val="1A1A1A"/>
                          </a:solidFill>
                          <a:latin typeface="Calibri" pitchFamily="34" charset="0"/>
                          <a:ea typeface="Calibri" pitchFamily="34" charset="-122"/>
                          <a:cs typeface="Calibri" pitchFamily="34" charset="-120"/>
                        </a:rPr>
                        <a:t>4,67%</a:t>
                      </a:r>
                      <a:endParaRPr lang="en-US" sz="1050">
                        <a:latin typeface="Calibri" charset="0"/>
                        <a:ea typeface="Calibri" charset="0"/>
                        <a:cs typeface="Calibri" charset="0"/>
                      </a:endParaRPr>
                    </a:p>
                  </a:txBody>
                  <a:tcP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F4F6FB"/>
                    </a:solidFill>
                  </a:tcPr>
                </a:tc>
                <a:tc>
                  <a:txBody>
                    <a:bodyPr/>
                    <a:lstStyle/>
                    <a:p>
                      <a:pPr marL="0" indent="0" algn="r">
                        <a:buNone/>
                      </a:pPr>
                      <a:r>
                        <a:rPr lang="en-US" sz="1050">
                          <a:solidFill>
                            <a:srgbClr val="1A1A1A"/>
                          </a:solidFill>
                          <a:latin typeface="Calibri" pitchFamily="34" charset="0"/>
                          <a:ea typeface="Calibri" pitchFamily="34" charset="-122"/>
                          <a:cs typeface="Calibri" pitchFamily="34" charset="-120"/>
                        </a:rPr>
                        <a:t>+0,55 pp</a:t>
                      </a:r>
                      <a:endParaRPr lang="en-US" sz="1050">
                        <a:latin typeface="Calibri" charset="0"/>
                        <a:ea typeface="Calibri" charset="0"/>
                        <a:cs typeface="Calibri" charset="0"/>
                      </a:endParaRPr>
                    </a:p>
                  </a:txBody>
                  <a:tcP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F4F6FB"/>
                    </a:solidFill>
                  </a:tcPr>
                </a:tc>
                <a:tc>
                  <a:txBody>
                    <a:bodyPr/>
                    <a:lstStyle/>
                    <a:p>
                      <a:pPr marL="0" indent="0" algn="r">
                        <a:buNone/>
                      </a:pPr>
                      <a:r>
                        <a:rPr lang="en-US" sz="1050">
                          <a:solidFill>
                            <a:srgbClr val="1A1A1A"/>
                          </a:solidFill>
                          <a:latin typeface="Calibri" pitchFamily="34" charset="0"/>
                          <a:ea typeface="Calibri" pitchFamily="34" charset="-122"/>
                          <a:cs typeface="Calibri" pitchFamily="34" charset="-120"/>
                        </a:rPr>
                        <a:t>~980</a:t>
                      </a:r>
                      <a:endParaRPr lang="en-US" sz="1050">
                        <a:latin typeface="Calibri" charset="0"/>
                        <a:ea typeface="Calibri" charset="0"/>
                        <a:cs typeface="Calibri" charset="0"/>
                      </a:endParaRPr>
                    </a:p>
                  </a:txBody>
                  <a:tcP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F4F6FB"/>
                    </a:solidFill>
                  </a:tcPr>
                </a:tc>
                <a:extLst>
                  <a:ext uri="{0D108BD9-81ED-4DB2-BD59-A6C34878D82A}">
                    <a16:rowId xmlns:a16="http://schemas.microsoft.com/office/drawing/2014/main" val="10002"/>
                  </a:ext>
                </a:extLst>
              </a:tr>
              <a:tr h="402336">
                <a:tc>
                  <a:txBody>
                    <a:bodyPr/>
                    <a:lstStyle/>
                    <a:p>
                      <a:pPr marL="0" indent="0" algn="l">
                        <a:buNone/>
                      </a:pPr>
                      <a:r>
                        <a:rPr lang="en-US" sz="1050" b="1">
                          <a:solidFill>
                            <a:srgbClr val="1A1A1A"/>
                          </a:solidFill>
                          <a:latin typeface="Calibri" pitchFamily="34" charset="0"/>
                          <a:ea typeface="Calibri" pitchFamily="34" charset="-122"/>
                          <a:cs typeface="Calibri" pitchFamily="34" charset="-120"/>
                        </a:rPr>
                        <a:t>SME Corporate</a:t>
                      </a:r>
                      <a:endParaRPr lang="en-US" sz="1050">
                        <a:latin typeface="Calibri" charset="0"/>
                        <a:ea typeface="Calibri" charset="0"/>
                        <a:cs typeface="Calibri" charset="0"/>
                      </a:endParaRPr>
                    </a:p>
                  </a:txBody>
                  <a:tcP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FFFFFF"/>
                    </a:solidFill>
                  </a:tcPr>
                </a:tc>
                <a:tc>
                  <a:txBody>
                    <a:bodyPr/>
                    <a:lstStyle/>
                    <a:p>
                      <a:pPr marL="0" indent="0" algn="r">
                        <a:buNone/>
                      </a:pPr>
                      <a:r>
                        <a:rPr lang="en-US" sz="1050">
                          <a:solidFill>
                            <a:srgbClr val="1A1A1A"/>
                          </a:solidFill>
                          <a:latin typeface="Calibri" pitchFamily="34" charset="0"/>
                          <a:ea typeface="Calibri" pitchFamily="34" charset="-122"/>
                          <a:cs typeface="Calibri" pitchFamily="34" charset="-120"/>
                        </a:rPr>
                        <a:t>~150</a:t>
                      </a:r>
                      <a:endParaRPr lang="en-US" sz="1050">
                        <a:latin typeface="Calibri" charset="0"/>
                        <a:ea typeface="Calibri" charset="0"/>
                        <a:cs typeface="Calibri" charset="0"/>
                      </a:endParaRPr>
                    </a:p>
                  </a:txBody>
                  <a:tcP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FFFFFF"/>
                    </a:solidFill>
                  </a:tcPr>
                </a:tc>
                <a:tc>
                  <a:txBody>
                    <a:bodyPr/>
                    <a:lstStyle/>
                    <a:p>
                      <a:pPr marL="0" indent="0" algn="r">
                        <a:buNone/>
                      </a:pPr>
                      <a:r>
                        <a:rPr lang="en-US" sz="1050">
                          <a:solidFill>
                            <a:srgbClr val="1A1A1A"/>
                          </a:solidFill>
                          <a:latin typeface="Calibri" pitchFamily="34" charset="0"/>
                          <a:ea typeface="Calibri" pitchFamily="34" charset="-122"/>
                          <a:cs typeface="Calibri" pitchFamily="34" charset="-120"/>
                        </a:rPr>
                        <a:t>6,77%</a:t>
                      </a:r>
                      <a:endParaRPr lang="en-US" sz="1050">
                        <a:latin typeface="Calibri" charset="0"/>
                        <a:ea typeface="Calibri" charset="0"/>
                        <a:cs typeface="Calibri" charset="0"/>
                      </a:endParaRPr>
                    </a:p>
                  </a:txBody>
                  <a:tcP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FFFFFF"/>
                    </a:solidFill>
                  </a:tcPr>
                </a:tc>
                <a:tc>
                  <a:txBody>
                    <a:bodyPr/>
                    <a:lstStyle/>
                    <a:p>
                      <a:pPr marL="0" indent="0" algn="r">
                        <a:buNone/>
                      </a:pPr>
                      <a:r>
                        <a:rPr lang="en-US" sz="1050">
                          <a:solidFill>
                            <a:srgbClr val="1A1A1A"/>
                          </a:solidFill>
                          <a:latin typeface="Calibri" pitchFamily="34" charset="0"/>
                          <a:ea typeface="Calibri" pitchFamily="34" charset="-122"/>
                          <a:cs typeface="Calibri" pitchFamily="34" charset="-120"/>
                        </a:rPr>
                        <a:t>7,70%</a:t>
                      </a:r>
                      <a:endParaRPr lang="en-US" sz="1050">
                        <a:latin typeface="Calibri" charset="0"/>
                        <a:ea typeface="Calibri" charset="0"/>
                        <a:cs typeface="Calibri" charset="0"/>
                      </a:endParaRPr>
                    </a:p>
                  </a:txBody>
                  <a:tcP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FFFFFF"/>
                    </a:solidFill>
                  </a:tcPr>
                </a:tc>
                <a:tc>
                  <a:txBody>
                    <a:bodyPr/>
                    <a:lstStyle/>
                    <a:p>
                      <a:pPr marL="0" indent="0" algn="r">
                        <a:buNone/>
                      </a:pPr>
                      <a:r>
                        <a:rPr lang="en-US" sz="1050">
                          <a:solidFill>
                            <a:srgbClr val="1A1A1A"/>
                          </a:solidFill>
                          <a:latin typeface="Calibri" pitchFamily="34" charset="0"/>
                          <a:ea typeface="Calibri" pitchFamily="34" charset="-122"/>
                          <a:cs typeface="Calibri" pitchFamily="34" charset="-120"/>
                        </a:rPr>
                        <a:t>+0,93 pp</a:t>
                      </a:r>
                      <a:endParaRPr lang="en-US" sz="1050">
                        <a:latin typeface="Calibri" charset="0"/>
                        <a:ea typeface="Calibri" charset="0"/>
                        <a:cs typeface="Calibri" charset="0"/>
                      </a:endParaRPr>
                    </a:p>
                  </a:txBody>
                  <a:tcP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FFFFFF"/>
                    </a:solidFill>
                  </a:tcPr>
                </a:tc>
                <a:tc>
                  <a:txBody>
                    <a:bodyPr/>
                    <a:lstStyle/>
                    <a:p>
                      <a:pPr marL="0" indent="0" algn="r">
                        <a:buNone/>
                      </a:pPr>
                      <a:r>
                        <a:rPr lang="en-US" sz="1050">
                          <a:solidFill>
                            <a:srgbClr val="1A1A1A"/>
                          </a:solidFill>
                          <a:latin typeface="Calibri" pitchFamily="34" charset="0"/>
                          <a:ea typeface="Calibri" pitchFamily="34" charset="-122"/>
                          <a:cs typeface="Calibri" pitchFamily="34" charset="-120"/>
                        </a:rPr>
                        <a:t>~220</a:t>
                      </a:r>
                      <a:endParaRPr lang="en-US" sz="1050">
                        <a:latin typeface="Calibri" charset="0"/>
                        <a:ea typeface="Calibri" charset="0"/>
                        <a:cs typeface="Calibri" charset="0"/>
                      </a:endParaRPr>
                    </a:p>
                  </a:txBody>
                  <a:tcP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02336">
                <a:tc>
                  <a:txBody>
                    <a:bodyPr/>
                    <a:lstStyle/>
                    <a:p>
                      <a:pPr marL="0" indent="0" algn="l">
                        <a:buNone/>
                      </a:pPr>
                      <a:r>
                        <a:rPr lang="en-US" sz="1050" b="1">
                          <a:solidFill>
                            <a:srgbClr val="1A1A1A"/>
                          </a:solidFill>
                          <a:latin typeface="Calibri" pitchFamily="34" charset="0"/>
                          <a:ea typeface="Calibri" pitchFamily="34" charset="-122"/>
                          <a:cs typeface="Calibri" pitchFamily="34" charset="-120"/>
                        </a:rPr>
                        <a:t>Bank / Sovereign</a:t>
                      </a:r>
                      <a:endParaRPr lang="en-US" sz="1050">
                        <a:latin typeface="Calibri" charset="0"/>
                        <a:ea typeface="Calibri" charset="0"/>
                        <a:cs typeface="Calibri" charset="0"/>
                      </a:endParaRPr>
                    </a:p>
                  </a:txBody>
                  <a:tcP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F4F6FB"/>
                    </a:solidFill>
                  </a:tcPr>
                </a:tc>
                <a:tc>
                  <a:txBody>
                    <a:bodyPr/>
                    <a:lstStyle/>
                    <a:p>
                      <a:pPr marL="0" indent="0" algn="r">
                        <a:buNone/>
                      </a:pPr>
                      <a:r>
                        <a:rPr lang="en-US" sz="1050">
                          <a:solidFill>
                            <a:srgbClr val="1A1A1A"/>
                          </a:solidFill>
                          <a:latin typeface="Calibri" pitchFamily="34" charset="0"/>
                          <a:ea typeface="Calibri" pitchFamily="34" charset="-122"/>
                          <a:cs typeface="Calibri" pitchFamily="34" charset="-120"/>
                        </a:rPr>
                        <a:t>~138</a:t>
                      </a:r>
                      <a:endParaRPr lang="en-US" sz="1050">
                        <a:latin typeface="Calibri" charset="0"/>
                        <a:ea typeface="Calibri" charset="0"/>
                        <a:cs typeface="Calibri" charset="0"/>
                      </a:endParaRPr>
                    </a:p>
                  </a:txBody>
                  <a:tcP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F4F6FB"/>
                    </a:solidFill>
                  </a:tcPr>
                </a:tc>
                <a:tc>
                  <a:txBody>
                    <a:bodyPr/>
                    <a:lstStyle/>
                    <a:p>
                      <a:pPr marL="0" indent="0" algn="r">
                        <a:buNone/>
                      </a:pPr>
                      <a:r>
                        <a:rPr lang="en-US" sz="1050">
                          <a:solidFill>
                            <a:srgbClr val="1A1A1A"/>
                          </a:solidFill>
                          <a:latin typeface="Calibri" pitchFamily="34" charset="0"/>
                          <a:ea typeface="Calibri" pitchFamily="34" charset="-122"/>
                          <a:cs typeface="Calibri" pitchFamily="34" charset="-120"/>
                        </a:rPr>
                        <a:t>variabel</a:t>
                      </a:r>
                      <a:endParaRPr lang="en-US" sz="1050">
                        <a:latin typeface="Calibri" charset="0"/>
                        <a:ea typeface="Calibri" charset="0"/>
                        <a:cs typeface="Calibri" charset="0"/>
                      </a:endParaRPr>
                    </a:p>
                  </a:txBody>
                  <a:tcP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F4F6FB"/>
                    </a:solidFill>
                  </a:tcPr>
                </a:tc>
                <a:tc>
                  <a:txBody>
                    <a:bodyPr/>
                    <a:lstStyle/>
                    <a:p>
                      <a:pPr marL="0" indent="0" algn="r">
                        <a:buNone/>
                      </a:pPr>
                      <a:r>
                        <a:rPr lang="en-US" sz="1050">
                          <a:solidFill>
                            <a:srgbClr val="1A1A1A"/>
                          </a:solidFill>
                          <a:latin typeface="Calibri" pitchFamily="34" charset="0"/>
                          <a:ea typeface="Calibri" pitchFamily="34" charset="-122"/>
                          <a:cs typeface="Calibri" pitchFamily="34" charset="-120"/>
                        </a:rPr>
                        <a:t>variabel</a:t>
                      </a:r>
                      <a:endParaRPr lang="en-US" sz="1050">
                        <a:latin typeface="Calibri" charset="0"/>
                        <a:ea typeface="Calibri" charset="0"/>
                        <a:cs typeface="Calibri" charset="0"/>
                      </a:endParaRPr>
                    </a:p>
                  </a:txBody>
                  <a:tcP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F4F6FB"/>
                    </a:solidFill>
                  </a:tcPr>
                </a:tc>
                <a:tc>
                  <a:txBody>
                    <a:bodyPr/>
                    <a:lstStyle/>
                    <a:p>
                      <a:pPr marL="0" indent="0" algn="r">
                        <a:buNone/>
                      </a:pPr>
                      <a:r>
                        <a:rPr lang="en-US" sz="1050">
                          <a:solidFill>
                            <a:srgbClr val="1A1A1A"/>
                          </a:solidFill>
                          <a:latin typeface="Calibri" pitchFamily="34" charset="0"/>
                          <a:ea typeface="Calibri" pitchFamily="34" charset="-122"/>
                          <a:cs typeface="Calibri" pitchFamily="34" charset="-120"/>
                        </a:rPr>
                        <a:t>n.a.</a:t>
                      </a:r>
                      <a:endParaRPr lang="en-US" sz="1050">
                        <a:latin typeface="Calibri" charset="0"/>
                        <a:ea typeface="Calibri" charset="0"/>
                        <a:cs typeface="Calibri" charset="0"/>
                      </a:endParaRPr>
                    </a:p>
                  </a:txBody>
                  <a:tcP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F4F6FB"/>
                    </a:solidFill>
                  </a:tcPr>
                </a:tc>
                <a:tc>
                  <a:txBody>
                    <a:bodyPr/>
                    <a:lstStyle/>
                    <a:p>
                      <a:pPr marL="0" indent="0" algn="r">
                        <a:buNone/>
                      </a:pPr>
                      <a:r>
                        <a:rPr lang="en-US" sz="1050">
                          <a:solidFill>
                            <a:srgbClr val="1A1A1A"/>
                          </a:solidFill>
                          <a:latin typeface="Calibri" pitchFamily="34" charset="0"/>
                          <a:ea typeface="Calibri" pitchFamily="34" charset="-122"/>
                          <a:cs typeface="Calibri" pitchFamily="34" charset="-120"/>
                        </a:rPr>
                        <a:t>~51</a:t>
                      </a:r>
                      <a:endParaRPr lang="en-US" sz="1050">
                        <a:latin typeface="Calibri" charset="0"/>
                        <a:ea typeface="Calibri" charset="0"/>
                        <a:cs typeface="Calibri" charset="0"/>
                      </a:endParaRPr>
                    </a:p>
                  </a:txBody>
                  <a:tcP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F4F6FB"/>
                    </a:solidFill>
                  </a:tcPr>
                </a:tc>
                <a:extLst>
                  <a:ext uri="{0D108BD9-81ED-4DB2-BD59-A6C34878D82A}">
                    <a16:rowId xmlns:a16="http://schemas.microsoft.com/office/drawing/2014/main" val="10004"/>
                  </a:ext>
                </a:extLst>
              </a:tr>
            </a:tbl>
          </a:graphicData>
        </a:graphic>
      </p:graphicFrame>
      <p:sp>
        <p:nvSpPr>
          <p:cNvPr id="6" name="Text 3"/>
          <p:cNvSpPr/>
          <p:nvPr/>
        </p:nvSpPr>
        <p:spPr>
          <a:xfrm>
            <a:off x="548640" y="4005072"/>
            <a:ext cx="6126480" cy="868680"/>
          </a:xfrm>
          <a:prstGeom prst="rect">
            <a:avLst/>
          </a:prstGeom>
          <a:noFill/>
          <a:ln/>
        </p:spPr>
        <p:txBody>
          <a:bodyPr wrap="square" lIns="0" tIns="0" rIns="0" bIns="0" rtlCol="0" anchor="ctr"/>
          <a:lstStyle/>
          <a:p>
            <a:pPr marL="0" indent="0">
              <a:lnSpc>
                <a:spcPct val="125000"/>
              </a:lnSpc>
              <a:buNone/>
            </a:pPr>
            <a:r>
              <a:rPr lang="en-US" sz="1150" i="1">
                <a:solidFill>
                  <a:srgbClr val="5B6478"/>
                </a:solidFill>
                <a:latin typeface="Calibri" pitchFamily="34" charset="0"/>
                <a:ea typeface="Calibri" pitchFamily="34" charset="-122"/>
                <a:cs typeface="Calibri" pitchFamily="34" charset="-120"/>
              </a:rPr>
              <a:t>Deutsche Bank ist primär eine Corporate- und Hypotheken-Bank. Das Mortgage-Segment reagiert besonders stark auf Zinsen (β_rate = +0,30 - höchster Wert aller Klassen). Corporate wird durch beide Faktoren getroffen.</a:t>
            </a:r>
            <a:endParaRPr lang="en-US" sz="1150"/>
          </a:p>
        </p:txBody>
      </p:sp>
      <p:sp>
        <p:nvSpPr>
          <p:cNvPr id="7" name="Text 4"/>
          <p:cNvSpPr/>
          <p:nvPr/>
        </p:nvSpPr>
        <p:spPr>
          <a:xfrm>
            <a:off x="7040880" y="1508760"/>
            <a:ext cx="4572000" cy="274320"/>
          </a:xfrm>
          <a:prstGeom prst="rect">
            <a:avLst/>
          </a:prstGeom>
          <a:noFill/>
          <a:ln/>
        </p:spPr>
        <p:txBody>
          <a:bodyPr wrap="square" lIns="0" tIns="0" rIns="0" bIns="0" rtlCol="0" anchor="ctr"/>
          <a:lstStyle/>
          <a:p>
            <a:pPr marL="0" indent="0">
              <a:buNone/>
            </a:pPr>
            <a:r>
              <a:rPr lang="en-US" sz="1150" b="1" kern="0" spc="100">
                <a:solidFill>
                  <a:srgbClr val="16243F"/>
                </a:solidFill>
                <a:latin typeface="Calibri" pitchFamily="34" charset="0"/>
                <a:ea typeface="Calibri" pitchFamily="34" charset="-122"/>
                <a:cs typeface="Calibri" pitchFamily="34" charset="-120"/>
              </a:rPr>
              <a:t>EAD ZUSAMMENSETZUNG</a:t>
            </a:r>
            <a:endParaRPr lang="en-US" sz="1150"/>
          </a:p>
        </p:txBody>
      </p:sp>
      <p:graphicFrame>
        <p:nvGraphicFramePr>
          <p:cNvPr id="8" name="Chart 0"/>
          <p:cNvGraphicFramePr/>
          <p:nvPr/>
        </p:nvGraphicFramePr>
        <p:xfrm>
          <a:off x="6858000" y="1828800"/>
          <a:ext cx="4754880" cy="3383280"/>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 5"/>
          <p:cNvSpPr/>
          <p:nvPr/>
        </p:nvSpPr>
        <p:spPr>
          <a:xfrm>
            <a:off x="8229600" y="2788920"/>
            <a:ext cx="2011680" cy="822960"/>
          </a:xfrm>
          <a:prstGeom prst="rect">
            <a:avLst/>
          </a:prstGeom>
          <a:noFill/>
          <a:ln/>
        </p:spPr>
        <p:txBody>
          <a:bodyPr wrap="square" lIns="0" tIns="0" rIns="0" bIns="0" rtlCol="0" anchor="ctr"/>
          <a:lstStyle/>
          <a:p>
            <a:pPr marL="0" indent="0" algn="ctr">
              <a:buNone/>
            </a:pPr>
            <a:r>
              <a:rPr lang="en-US" sz="1300" b="1">
                <a:solidFill>
                  <a:srgbClr val="1A1A1A"/>
                </a:solidFill>
                <a:latin typeface="Cambria" pitchFamily="34" charset="0"/>
                <a:ea typeface="Cambria" pitchFamily="34" charset="-122"/>
                <a:cs typeface="Cambria" pitchFamily="34" charset="-120"/>
              </a:rPr>
              <a:t>€738,6 Mrd.</a:t>
            </a:r>
            <a:endParaRPr lang="en-US" sz="1300"/>
          </a:p>
          <a:p>
            <a:pPr marL="0" indent="0" algn="ctr">
              <a:buNone/>
            </a:pPr>
            <a:r>
              <a:rPr lang="en-US" sz="1300" b="1">
                <a:solidFill>
                  <a:srgbClr val="1A1A1A"/>
                </a:solidFill>
                <a:latin typeface="Cambria" pitchFamily="34" charset="0"/>
                <a:ea typeface="Cambria" pitchFamily="34" charset="-122"/>
                <a:cs typeface="Cambria" pitchFamily="34" charset="-120"/>
              </a:rPr>
              <a:t>Gesamt-EAD</a:t>
            </a:r>
            <a:endParaRPr lang="en-US" sz="1300"/>
          </a:p>
        </p:txBody>
      </p:sp>
      <p:sp>
        <p:nvSpPr>
          <p:cNvPr id="10" name="Shape 6"/>
          <p:cNvSpPr/>
          <p:nvPr/>
        </p:nvSpPr>
        <p:spPr>
          <a:xfrm>
            <a:off x="548640" y="5210629"/>
            <a:ext cx="11064240" cy="640080"/>
          </a:xfrm>
          <a:prstGeom prst="roundRect">
            <a:avLst>
              <a:gd name="adj" fmla="val 5714"/>
            </a:avLst>
          </a:prstGeom>
          <a:solidFill>
            <a:srgbClr val="F4F6FB"/>
          </a:solidFill>
          <a:ln/>
        </p:spPr>
        <p:txBody>
          <a:bodyPr/>
          <a:lstStyle/>
          <a:p>
            <a:endParaRPr lang="de-DE"/>
          </a:p>
        </p:txBody>
      </p:sp>
      <p:sp>
        <p:nvSpPr>
          <p:cNvPr id="11" name="Text 7"/>
          <p:cNvSpPr/>
          <p:nvPr/>
        </p:nvSpPr>
        <p:spPr>
          <a:xfrm>
            <a:off x="777240" y="5029200"/>
            <a:ext cx="10607040" cy="640080"/>
          </a:xfrm>
          <a:prstGeom prst="rect">
            <a:avLst/>
          </a:prstGeom>
          <a:noFill/>
          <a:ln/>
        </p:spPr>
        <p:txBody>
          <a:bodyPr wrap="square" lIns="0" tIns="0" rIns="0" bIns="0" rtlCol="0" anchor="ctr"/>
          <a:lstStyle/>
          <a:p>
            <a:pPr marL="0" indent="0">
              <a:buNone/>
            </a:pPr>
            <a:r>
              <a:rPr lang="en-US" sz="950" i="1">
                <a:solidFill>
                  <a:srgbClr val="5B6478"/>
                </a:solidFill>
                <a:latin typeface="Calibri" pitchFamily="34" charset="0"/>
                <a:ea typeface="Calibri" pitchFamily="34" charset="-122"/>
                <a:cs typeface="Calibri" pitchFamily="34" charset="-120"/>
              </a:rPr>
              <a:t>Hinweis: Segment-EAD-Aufteilung ist eine modell-konsistente Schätzung auf Basis der bekannten Gesamtexposure und Pillar-3-PDs. Exakte Segment-EADs wären im Cockpit per Bank-Drilldown einsehbar.</a:t>
            </a:r>
            <a:endParaRPr lang="en-US" sz="950"/>
          </a:p>
        </p:txBody>
      </p:sp>
      <p:sp>
        <p:nvSpPr>
          <p:cNvPr id="5" name="Text 8"/>
          <p:cNvSpPr/>
          <p:nvPr/>
        </p:nvSpPr>
        <p:spPr>
          <a:xfrm>
            <a:off x="457200" y="6519672"/>
            <a:ext cx="7315200" cy="274320"/>
          </a:xfrm>
          <a:prstGeom prst="rect">
            <a:avLst/>
          </a:prstGeom>
          <a:noFill/>
          <a:ln/>
        </p:spPr>
        <p:txBody>
          <a:bodyPr wrap="square" lIns="0" tIns="0" rIns="0" bIns="0" rtlCol="0" anchor="ctr"/>
          <a:lstStyle/>
          <a:p>
            <a:pPr marL="0" indent="0" algn="l">
              <a:buNone/>
            </a:pPr>
            <a:r>
              <a:rPr lang="en-US" sz="900">
                <a:solidFill>
                  <a:srgbClr val="5B6478"/>
                </a:solidFill>
                <a:latin typeface="Calibri" pitchFamily="34" charset="0"/>
                <a:ea typeface="Calibri" pitchFamily="34" charset="-122"/>
                <a:cs typeface="Calibri" pitchFamily="34" charset="-120"/>
              </a:rPr>
              <a:t>Kreditbuch · Loan Book Channel</a:t>
            </a:r>
            <a:endParaRPr lang="en-US" sz="900"/>
          </a:p>
        </p:txBody>
      </p:sp>
      <p:sp>
        <p:nvSpPr>
          <p:cNvPr id="13" name="CodexSlideNumber">
            <a:extLst>
              <a:ext uri="{FF2B5EF4-FFF2-40B4-BE49-F238E27FC236}">
                <a16:creationId xmlns:a16="http://schemas.microsoft.com/office/drawing/2014/main" id="{9FB5BCF3-7F4F-2ABA-4815-56417B2EBDE2}"/>
              </a:ext>
            </a:extLst>
          </p:cNvPr>
          <p:cNvSpPr txBox="1"/>
          <p:nvPr/>
        </p:nvSpPr>
        <p:spPr>
          <a:xfrm>
            <a:off x="11226800" y="6553200"/>
            <a:ext cx="736600" cy="123111"/>
          </a:xfrm>
          <a:prstGeom prst="rect">
            <a:avLst/>
          </a:prstGeom>
          <a:noFill/>
        </p:spPr>
        <p:txBody>
          <a:bodyPr vert="horz" lIns="0" tIns="0" rIns="0" bIns="0" rtlCol="0">
            <a:spAutoFit/>
          </a:bodyPr>
          <a:lstStyle/>
          <a:p>
            <a:pPr algn="r"/>
            <a:r>
              <a:rPr lang="en-US" sz="800">
                <a:solidFill>
                  <a:srgbClr val="525252"/>
                </a:solidFill>
                <a:latin typeface="Arial" panose="020B0604020202020204" pitchFamily="34" charset="0"/>
              </a:rPr>
              <a:t>28 / 64</a:t>
            </a:r>
          </a:p>
        </p:txBody>
      </p:sp>
    </p:spTree>
    <p:extLst>
      <p:ext uri="{BB962C8B-B14F-4D97-AF65-F5344CB8AC3E}">
        <p14:creationId xmlns:p14="http://schemas.microsoft.com/office/powerpoint/2010/main" val="177593508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0058400" cy="320040"/>
          </a:xfrm>
          <a:prstGeom prst="rect">
            <a:avLst/>
          </a:prstGeom>
          <a:noFill/>
          <a:ln/>
        </p:spPr>
        <p:txBody>
          <a:bodyPr wrap="square" lIns="0" tIns="0" rIns="0" bIns="0" rtlCol="0" anchor="ctr"/>
          <a:lstStyle/>
          <a:p>
            <a:pPr>
              <a:buNone/>
            </a:pPr>
            <a:r>
              <a:rPr lang="en-US" sz="863" b="1">
                <a:solidFill>
                  <a:schemeClr val="tx2"/>
                </a:solidFill>
                <a:latin typeface="Aptos"/>
              </a:rPr>
              <a:t>EL-DECOMPOSITION · DEUTSCHE BANK AG</a:t>
            </a:r>
          </a:p>
        </p:txBody>
      </p:sp>
      <p:sp>
        <p:nvSpPr>
          <p:cNvPr id="3" name="Text 1"/>
          <p:cNvSpPr/>
          <p:nvPr/>
        </p:nvSpPr>
        <p:spPr>
          <a:xfrm>
            <a:off x="548640" y="658368"/>
            <a:ext cx="10515600" cy="822960"/>
          </a:xfrm>
          <a:prstGeom prst="rect">
            <a:avLst/>
          </a:prstGeom>
          <a:noFill/>
          <a:ln/>
        </p:spPr>
        <p:txBody>
          <a:bodyPr wrap="square" lIns="0" tIns="0" rIns="0" bIns="0" rtlCol="0" anchor="ctr"/>
          <a:lstStyle/>
          <a:p>
            <a:pPr>
              <a:buNone/>
              <a:defRPr sz="2475" b="1" i="0">
                <a:solidFill>
                  <a:srgbClr val="051C2C"/>
                </a:solidFill>
                <a:latin typeface="Aptos Display"/>
                <a:ea typeface="Aptos Display"/>
                <a:cs typeface="Aptos Display"/>
              </a:defRPr>
            </a:pPr>
            <a:r>
              <a:rPr lang="en-US" sz="2475" b="1" err="1">
                <a:solidFill>
                  <a:srgbClr val="051C2C"/>
                </a:solidFill>
                <a:latin typeface="Aptos Display"/>
              </a:rPr>
              <a:t>Wer</a:t>
            </a:r>
            <a:r>
              <a:rPr lang="en-US" sz="2475" b="1">
                <a:solidFill>
                  <a:srgbClr val="051C2C"/>
                </a:solidFill>
                <a:latin typeface="Aptos Display"/>
              </a:rPr>
              <a:t> </a:t>
            </a:r>
            <a:r>
              <a:rPr lang="en-US" sz="2475" b="1" err="1">
                <a:solidFill>
                  <a:srgbClr val="051C2C"/>
                </a:solidFill>
                <a:latin typeface="Aptos Display"/>
              </a:rPr>
              <a:t>liefert</a:t>
            </a:r>
            <a:r>
              <a:rPr lang="en-US" sz="2475" b="1">
                <a:solidFill>
                  <a:srgbClr val="051C2C"/>
                </a:solidFill>
                <a:latin typeface="Aptos Display"/>
              </a:rPr>
              <a:t> den </a:t>
            </a:r>
            <a:r>
              <a:rPr lang="en-US" sz="2475" b="1" err="1">
                <a:solidFill>
                  <a:srgbClr val="051C2C"/>
                </a:solidFill>
                <a:latin typeface="Aptos Display"/>
              </a:rPr>
              <a:t>Großteil</a:t>
            </a:r>
            <a:r>
              <a:rPr lang="en-US" sz="2475" b="1">
                <a:solidFill>
                  <a:srgbClr val="051C2C"/>
                </a:solidFill>
                <a:latin typeface="Aptos Display"/>
              </a:rPr>
              <a:t> der EL-</a:t>
            </a:r>
            <a:r>
              <a:rPr lang="en-US" sz="2475" b="1" err="1">
                <a:solidFill>
                  <a:srgbClr val="051C2C"/>
                </a:solidFill>
                <a:latin typeface="Aptos Display"/>
              </a:rPr>
              <a:t>Verschlechterung</a:t>
            </a:r>
            <a:r>
              <a:rPr lang="en-US" sz="2475" b="1">
                <a:solidFill>
                  <a:srgbClr val="051C2C"/>
                </a:solidFill>
                <a:latin typeface="Aptos Display"/>
              </a:rPr>
              <a:t>?</a:t>
            </a:r>
          </a:p>
        </p:txBody>
      </p:sp>
      <p:sp>
        <p:nvSpPr>
          <p:cNvPr id="4" name="Text 2"/>
          <p:cNvSpPr/>
          <p:nvPr/>
        </p:nvSpPr>
        <p:spPr>
          <a:xfrm>
            <a:off x="548640" y="1463040"/>
            <a:ext cx="10058400" cy="365760"/>
          </a:xfrm>
          <a:prstGeom prst="rect">
            <a:avLst/>
          </a:prstGeom>
          <a:noFill/>
          <a:ln/>
        </p:spPr>
        <p:txBody>
          <a:bodyPr wrap="square" lIns="0" tIns="0" rIns="0" bIns="0" rtlCol="0" anchor="ctr"/>
          <a:lstStyle/>
          <a:p>
            <a:pPr marL="0" indent="0">
              <a:buNone/>
            </a:pPr>
            <a:r>
              <a:rPr lang="en-US" sz="1125">
                <a:solidFill>
                  <a:srgbClr val="4F6875"/>
                </a:solidFill>
                <a:latin typeface="Aptos"/>
              </a:rPr>
              <a:t>Σ ΔEL = +€2.101 Mio. · </a:t>
            </a:r>
            <a:r>
              <a:rPr lang="en-US" sz="1125" err="1">
                <a:solidFill>
                  <a:srgbClr val="4F6875"/>
                </a:solidFill>
                <a:latin typeface="Aptos"/>
              </a:rPr>
              <a:t>ΔBrent</a:t>
            </a:r>
            <a:r>
              <a:rPr lang="en-US" sz="1125">
                <a:solidFill>
                  <a:srgbClr val="4F6875"/>
                </a:solidFill>
                <a:latin typeface="Aptos"/>
              </a:rPr>
              <a:t> = +0,50 (+65%) · Δr_10y = +2,0 pp (+200bp)</a:t>
            </a:r>
          </a:p>
        </p:txBody>
      </p:sp>
      <p:graphicFrame>
        <p:nvGraphicFramePr>
          <p:cNvPr id="5" name="Chart 0"/>
          <p:cNvGraphicFramePr/>
          <p:nvPr/>
        </p:nvGraphicFramePr>
        <p:xfrm>
          <a:off x="548640" y="1920240"/>
          <a:ext cx="6583680" cy="402336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7406640" y="1920240"/>
            <a:ext cx="4206240" cy="4023360"/>
          </a:xfrm>
          <a:prstGeom prst="roundRect">
            <a:avLst>
              <a:gd name="adj" fmla="val 1364"/>
            </a:avLst>
          </a:prstGeom>
          <a:solidFill>
            <a:srgbClr val="16243F"/>
          </a:solidFill>
          <a:ln/>
        </p:spPr>
        <p:txBody>
          <a:bodyPr/>
          <a:lstStyle/>
          <a:p>
            <a:endParaRPr lang="de-DE"/>
          </a:p>
        </p:txBody>
      </p:sp>
      <p:sp>
        <p:nvSpPr>
          <p:cNvPr id="7" name="Text 4"/>
          <p:cNvSpPr/>
          <p:nvPr/>
        </p:nvSpPr>
        <p:spPr>
          <a:xfrm>
            <a:off x="7680960" y="2103120"/>
            <a:ext cx="3657600" cy="274320"/>
          </a:xfrm>
          <a:prstGeom prst="rect">
            <a:avLst/>
          </a:prstGeom>
          <a:noFill/>
          <a:ln/>
        </p:spPr>
        <p:txBody>
          <a:bodyPr wrap="square" lIns="0" tIns="0" rIns="0" bIns="0" rtlCol="0" anchor="ctr"/>
          <a:lstStyle/>
          <a:p>
            <a:pPr marL="0" indent="0">
              <a:buNone/>
            </a:pPr>
            <a:r>
              <a:rPr lang="en-US" sz="1100" b="1" kern="0" spc="100">
                <a:solidFill>
                  <a:srgbClr val="C9A24B"/>
                </a:solidFill>
                <a:latin typeface="Calibri" pitchFamily="34" charset="0"/>
                <a:ea typeface="Calibri" pitchFamily="34" charset="-122"/>
                <a:cs typeface="Calibri" pitchFamily="34" charset="-120"/>
              </a:rPr>
              <a:t>HAUPTTREIBER: ZINS</a:t>
            </a:r>
            <a:endParaRPr lang="en-US" sz="1100"/>
          </a:p>
        </p:txBody>
      </p:sp>
      <p:sp>
        <p:nvSpPr>
          <p:cNvPr id="8" name="Text 5"/>
          <p:cNvSpPr/>
          <p:nvPr/>
        </p:nvSpPr>
        <p:spPr>
          <a:xfrm>
            <a:off x="7680960" y="2423160"/>
            <a:ext cx="3657600" cy="1371600"/>
          </a:xfrm>
          <a:prstGeom prst="rect">
            <a:avLst/>
          </a:prstGeom>
          <a:noFill/>
          <a:ln/>
        </p:spPr>
        <p:txBody>
          <a:bodyPr wrap="square" lIns="0" tIns="0" rIns="0" bIns="0" rtlCol="0" anchor="ctr"/>
          <a:lstStyle/>
          <a:p>
            <a:pPr marL="0" indent="0">
              <a:lnSpc>
                <a:spcPct val="120000"/>
              </a:lnSpc>
              <a:buNone/>
            </a:pPr>
            <a:r>
              <a:rPr lang="en-US" sz="3400" b="1">
                <a:solidFill>
                  <a:srgbClr val="FFFFFF"/>
                </a:solidFill>
                <a:latin typeface="Calibri" pitchFamily="34" charset="0"/>
                <a:ea typeface="Calibri" pitchFamily="34" charset="-122"/>
                <a:cs typeface="Calibri" pitchFamily="34" charset="-120"/>
              </a:rPr>
              <a:t>47 %</a:t>
            </a:r>
            <a:endParaRPr lang="en-US" sz="3400"/>
          </a:p>
          <a:p>
            <a:pPr marL="0" indent="0">
              <a:lnSpc>
                <a:spcPct val="120000"/>
              </a:lnSpc>
              <a:buNone/>
            </a:pPr>
            <a:r>
              <a:rPr lang="en-US" sz="1200">
                <a:solidFill>
                  <a:srgbClr val="D9E2F3"/>
                </a:solidFill>
                <a:latin typeface="Calibri" pitchFamily="34" charset="0"/>
                <a:ea typeface="Calibri" pitchFamily="34" charset="-122"/>
                <a:cs typeface="Calibri" pitchFamily="34" charset="-120"/>
              </a:rPr>
              <a:t>Mortgage - getrieben durch hohe Zinssensitivität (β_rate = +0,30)</a:t>
            </a:r>
            <a:endParaRPr lang="en-US" sz="3400"/>
          </a:p>
        </p:txBody>
      </p:sp>
      <p:sp>
        <p:nvSpPr>
          <p:cNvPr id="9" name="Text 6"/>
          <p:cNvSpPr/>
          <p:nvPr/>
        </p:nvSpPr>
        <p:spPr>
          <a:xfrm>
            <a:off x="7680960" y="3886200"/>
            <a:ext cx="3657600" cy="1188720"/>
          </a:xfrm>
          <a:prstGeom prst="rect">
            <a:avLst/>
          </a:prstGeom>
          <a:noFill/>
          <a:ln/>
        </p:spPr>
        <p:txBody>
          <a:bodyPr wrap="square" lIns="0" tIns="0" rIns="0" bIns="0" rtlCol="0" anchor="ctr"/>
          <a:lstStyle/>
          <a:p>
            <a:pPr marL="0" indent="0">
              <a:lnSpc>
                <a:spcPct val="120000"/>
              </a:lnSpc>
              <a:buNone/>
            </a:pPr>
            <a:r>
              <a:rPr lang="en-US" sz="2800" b="1">
                <a:solidFill>
                  <a:srgbClr val="FFFFFF"/>
                </a:solidFill>
                <a:latin typeface="Calibri" pitchFamily="34" charset="0"/>
                <a:ea typeface="Calibri" pitchFamily="34" charset="-122"/>
                <a:cs typeface="Calibri" pitchFamily="34" charset="-120"/>
              </a:rPr>
              <a:t>39 %</a:t>
            </a:r>
            <a:endParaRPr lang="en-US" sz="2800"/>
          </a:p>
          <a:p>
            <a:pPr marL="0" indent="0">
              <a:lnSpc>
                <a:spcPct val="120000"/>
              </a:lnSpc>
              <a:buNone/>
            </a:pPr>
            <a:r>
              <a:rPr lang="en-US" sz="1200">
                <a:solidFill>
                  <a:srgbClr val="D9E2F3"/>
                </a:solidFill>
                <a:latin typeface="Calibri" pitchFamily="34" charset="0"/>
                <a:ea typeface="Calibri" pitchFamily="34" charset="-122"/>
                <a:cs typeface="Calibri" pitchFamily="34" charset="-120"/>
              </a:rPr>
              <a:t>Corporate - reagiert auf Öl &amp; Zins (β_oil = +0,30, β_rate = +0,20)</a:t>
            </a:r>
            <a:endParaRPr lang="en-US" sz="2800"/>
          </a:p>
        </p:txBody>
      </p:sp>
      <p:sp>
        <p:nvSpPr>
          <p:cNvPr id="10" name="Text 7"/>
          <p:cNvSpPr/>
          <p:nvPr/>
        </p:nvSpPr>
        <p:spPr>
          <a:xfrm>
            <a:off x="7680960" y="5120640"/>
            <a:ext cx="3657600" cy="594360"/>
          </a:xfrm>
          <a:prstGeom prst="rect">
            <a:avLst/>
          </a:prstGeom>
          <a:noFill/>
          <a:ln/>
        </p:spPr>
        <p:txBody>
          <a:bodyPr wrap="square" lIns="0" tIns="0" rIns="0" bIns="0" rtlCol="0" anchor="ctr"/>
          <a:lstStyle/>
          <a:p>
            <a:pPr marL="0" indent="0">
              <a:lnSpc>
                <a:spcPct val="120000"/>
              </a:lnSpc>
              <a:buNone/>
            </a:pPr>
            <a:r>
              <a:rPr lang="en-US" sz="1050" i="1">
                <a:solidFill>
                  <a:srgbClr val="8FA3C8"/>
                </a:solidFill>
                <a:latin typeface="Calibri" pitchFamily="34" charset="0"/>
                <a:ea typeface="Calibri" pitchFamily="34" charset="-122"/>
                <a:cs typeface="Calibri" pitchFamily="34" charset="-120"/>
              </a:rPr>
              <a:t>Unterschied zu Crédit Agricole: bei DB dominiert Zins (Mortgage-Fokus), nicht Öl-Konsum (Retail-Fokus).</a:t>
            </a:r>
            <a:endParaRPr lang="en-US" sz="1050"/>
          </a:p>
        </p:txBody>
      </p:sp>
      <p:sp>
        <p:nvSpPr>
          <p:cNvPr id="11" name="Text 8"/>
          <p:cNvSpPr/>
          <p:nvPr/>
        </p:nvSpPr>
        <p:spPr>
          <a:xfrm>
            <a:off x="457200" y="6519672"/>
            <a:ext cx="7315200" cy="274320"/>
          </a:xfrm>
          <a:prstGeom prst="rect">
            <a:avLst/>
          </a:prstGeom>
          <a:noFill/>
          <a:ln/>
        </p:spPr>
        <p:txBody>
          <a:bodyPr wrap="square" lIns="0" tIns="0" rIns="0" bIns="0" rtlCol="0" anchor="ctr"/>
          <a:lstStyle/>
          <a:p>
            <a:pPr marL="0" indent="0" algn="l">
              <a:buNone/>
            </a:pPr>
            <a:r>
              <a:rPr lang="en-US" sz="900">
                <a:solidFill>
                  <a:srgbClr val="5B6478"/>
                </a:solidFill>
                <a:latin typeface="Calibri" pitchFamily="34" charset="0"/>
                <a:ea typeface="Calibri" pitchFamily="34" charset="-122"/>
                <a:cs typeface="Calibri" pitchFamily="34" charset="-120"/>
              </a:rPr>
              <a:t>Kreditbuch · Loan Book Channel</a:t>
            </a:r>
            <a:endParaRPr lang="en-US" sz="900"/>
          </a:p>
        </p:txBody>
      </p:sp>
      <p:sp>
        <p:nvSpPr>
          <p:cNvPr id="12" name="CodexSlideNumber">
            <a:extLst>
              <a:ext uri="{FF2B5EF4-FFF2-40B4-BE49-F238E27FC236}">
                <a16:creationId xmlns:a16="http://schemas.microsoft.com/office/drawing/2014/main" id="{13861C05-E99A-48BB-F2AC-321372F7F2C5}"/>
              </a:ext>
            </a:extLst>
          </p:cNvPr>
          <p:cNvSpPr txBox="1"/>
          <p:nvPr/>
        </p:nvSpPr>
        <p:spPr>
          <a:xfrm>
            <a:off x="11226800" y="6553200"/>
            <a:ext cx="736600" cy="123111"/>
          </a:xfrm>
          <a:prstGeom prst="rect">
            <a:avLst/>
          </a:prstGeom>
          <a:noFill/>
        </p:spPr>
        <p:txBody>
          <a:bodyPr vert="horz" lIns="0" tIns="0" rIns="0" bIns="0" rtlCol="0">
            <a:spAutoFit/>
          </a:bodyPr>
          <a:lstStyle/>
          <a:p>
            <a:pPr algn="r"/>
            <a:r>
              <a:rPr lang="en-US" sz="800">
                <a:solidFill>
                  <a:srgbClr val="525252"/>
                </a:solidFill>
                <a:latin typeface="Arial" panose="020B0604020202020204" pitchFamily="34" charset="0"/>
              </a:rPr>
              <a:t>29 / 64</a:t>
            </a:r>
          </a:p>
        </p:txBody>
      </p:sp>
    </p:spTree>
    <p:extLst>
      <p:ext uri="{BB962C8B-B14F-4D97-AF65-F5344CB8AC3E}">
        <p14:creationId xmlns:p14="http://schemas.microsoft.com/office/powerpoint/2010/main" val="287626170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7B171D-9B55-F455-5A9C-DC606984A1E0}"/>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73204AE6-2CE7-75D7-D5F8-AFED0A2E49D9}"/>
              </a:ext>
            </a:extLst>
          </p:cNvPr>
          <p:cNvSpPr>
            <a:spLocks noGrp="1"/>
          </p:cNvSpPr>
          <p:nvPr/>
        </p:nvSpPr>
        <p:spPr>
          <a:xfrm>
            <a:off x="457200" y="228600"/>
            <a:ext cx="4572000" cy="171450"/>
          </a:xfrm>
          <a:prstGeom prst="rect">
            <a:avLst/>
          </a:prstGeom>
          <a:noFill/>
          <a:ln w="0">
            <a:noFill/>
            <a:prstDash val="solid"/>
          </a:ln>
        </p:spPr>
        <p:txBody>
          <a:bodyPr/>
          <a:lstStyle/>
          <a:p>
            <a:pPr>
              <a:defRPr sz="863" b="1" i="0">
                <a:solidFill>
                  <a:srgbClr val="A52F4D"/>
                </a:solidFill>
                <a:latin typeface="Aptos"/>
                <a:ea typeface="Aptos"/>
                <a:cs typeface="Aptos"/>
              </a:defRPr>
            </a:pPr>
            <a:endParaRPr lang="en-US" sz="863" b="1">
              <a:solidFill>
                <a:schemeClr val="tx2"/>
              </a:solidFill>
              <a:latin typeface="Aptos"/>
            </a:endParaRPr>
          </a:p>
        </p:txBody>
      </p:sp>
      <p:sp>
        <p:nvSpPr>
          <p:cNvPr id="3" name="Rectangle 2">
            <a:extLst>
              <a:ext uri="{FF2B5EF4-FFF2-40B4-BE49-F238E27FC236}">
                <a16:creationId xmlns:a16="http://schemas.microsoft.com/office/drawing/2014/main" id="{34AA7C32-4BC6-53AF-B3D0-30B08F8F2434}"/>
              </a:ext>
            </a:extLst>
          </p:cNvPr>
          <p:cNvSpPr>
            <a:spLocks noGrp="1"/>
          </p:cNvSpPr>
          <p:nvPr/>
        </p:nvSpPr>
        <p:spPr>
          <a:xfrm>
            <a:off x="457200" y="457200"/>
            <a:ext cx="11191875" cy="409575"/>
          </a:xfrm>
          <a:prstGeom prst="rect">
            <a:avLst/>
          </a:prstGeom>
          <a:noFill/>
          <a:ln w="0">
            <a:noFill/>
            <a:prstDash val="solid"/>
          </a:ln>
        </p:spPr>
        <p:txBody>
          <a:bodyPr/>
          <a:lstStyle/>
          <a:p>
            <a:pPr>
              <a:defRPr sz="2475" b="1" i="0">
                <a:solidFill>
                  <a:srgbClr val="051C2C"/>
                </a:solidFill>
                <a:latin typeface="Aptos Display"/>
                <a:ea typeface="Aptos Display"/>
                <a:cs typeface="Aptos Display"/>
              </a:defRPr>
            </a:pPr>
            <a:r>
              <a:rPr lang="de-DE" sz="2475" b="1">
                <a:solidFill>
                  <a:srgbClr val="051C2C"/>
                </a:solidFill>
                <a:latin typeface="Aptos Display"/>
              </a:rPr>
              <a:t>CET1 </a:t>
            </a:r>
            <a:r>
              <a:rPr lang="de-DE" sz="2475" b="1" err="1">
                <a:solidFill>
                  <a:srgbClr val="051C2C"/>
                </a:solidFill>
                <a:latin typeface="Aptos Display"/>
              </a:rPr>
              <a:t>fällt</a:t>
            </a:r>
            <a:r>
              <a:rPr lang="de-DE" sz="2475" b="1">
                <a:solidFill>
                  <a:srgbClr val="051C2C"/>
                </a:solidFill>
                <a:latin typeface="Aptos Display"/>
              </a:rPr>
              <a:t> </a:t>
            </a:r>
            <a:r>
              <a:rPr lang="de-DE" sz="2475" b="1" err="1">
                <a:solidFill>
                  <a:srgbClr val="051C2C"/>
                </a:solidFill>
                <a:latin typeface="Aptos Display"/>
              </a:rPr>
              <a:t>gleichzeitig</a:t>
            </a:r>
            <a:r>
              <a:rPr lang="de-DE" sz="2475" b="1">
                <a:solidFill>
                  <a:srgbClr val="051C2C"/>
                </a:solidFill>
                <a:latin typeface="Aptos Display"/>
              </a:rPr>
              <a:t> </a:t>
            </a:r>
            <a:r>
              <a:rPr lang="de-DE" sz="2475" b="1" err="1">
                <a:solidFill>
                  <a:srgbClr val="051C2C"/>
                </a:solidFill>
                <a:latin typeface="Aptos Display"/>
              </a:rPr>
              <a:t>über</a:t>
            </a:r>
            <a:r>
              <a:rPr lang="de-DE" sz="2475" b="1">
                <a:solidFill>
                  <a:srgbClr val="051C2C"/>
                </a:solidFill>
                <a:latin typeface="Aptos Display"/>
              </a:rPr>
              <a:t> den </a:t>
            </a:r>
            <a:r>
              <a:rPr lang="de-DE" sz="2475" b="1" err="1">
                <a:solidFill>
                  <a:srgbClr val="051C2C"/>
                </a:solidFill>
                <a:latin typeface="Aptos Display"/>
              </a:rPr>
              <a:t>Zähler</a:t>
            </a:r>
            <a:r>
              <a:rPr lang="de-DE" sz="2475" b="1">
                <a:solidFill>
                  <a:srgbClr val="051C2C"/>
                </a:solidFill>
                <a:latin typeface="Aptos Display"/>
              </a:rPr>
              <a:t> und den RWA-Nenner</a:t>
            </a:r>
          </a:p>
        </p:txBody>
      </p:sp>
      <p:sp>
        <p:nvSpPr>
          <p:cNvPr id="4" name="Rectangle 3">
            <a:extLst>
              <a:ext uri="{FF2B5EF4-FFF2-40B4-BE49-F238E27FC236}">
                <a16:creationId xmlns:a16="http://schemas.microsoft.com/office/drawing/2014/main" id="{38100D4E-1472-64BD-5A7F-A6ECEBDB0B54}"/>
              </a:ext>
            </a:extLst>
          </p:cNvPr>
          <p:cNvSpPr>
            <a:spLocks noGrp="1"/>
          </p:cNvSpPr>
          <p:nvPr/>
        </p:nvSpPr>
        <p:spPr>
          <a:xfrm>
            <a:off x="457200" y="914400"/>
            <a:ext cx="11096625" cy="228600"/>
          </a:xfrm>
          <a:prstGeom prst="rect">
            <a:avLst/>
          </a:prstGeom>
          <a:noFill/>
          <a:ln w="0">
            <a:noFill/>
            <a:prstDash val="solid"/>
          </a:ln>
        </p:spPr>
        <p:txBody>
          <a:bodyPr/>
          <a:lstStyle/>
          <a:p>
            <a:pPr>
              <a:defRPr sz="1125" b="0" i="0">
                <a:solidFill>
                  <a:srgbClr val="4F6875"/>
                </a:solidFill>
                <a:latin typeface="Aptos"/>
                <a:ea typeface="Aptos"/>
                <a:cs typeface="Aptos"/>
              </a:defRPr>
            </a:pPr>
            <a:r>
              <a:rPr lang="de-DE" sz="1125">
                <a:solidFill>
                  <a:srgbClr val="4F6875"/>
                </a:solidFill>
                <a:latin typeface="Aptos"/>
              </a:rPr>
              <a:t>Das Modell </a:t>
            </a:r>
            <a:r>
              <a:rPr lang="de-DE" sz="1125" err="1">
                <a:solidFill>
                  <a:srgbClr val="4F6875"/>
                </a:solidFill>
                <a:latin typeface="Aptos"/>
              </a:rPr>
              <a:t>verbindet</a:t>
            </a:r>
            <a:r>
              <a:rPr lang="de-DE" sz="1125">
                <a:solidFill>
                  <a:srgbClr val="4F6875"/>
                </a:solidFill>
                <a:latin typeface="Aptos"/>
              </a:rPr>
              <a:t> </a:t>
            </a:r>
            <a:r>
              <a:rPr lang="de-DE" sz="1125" err="1">
                <a:solidFill>
                  <a:srgbClr val="4F6875"/>
                </a:solidFill>
                <a:latin typeface="Aptos"/>
              </a:rPr>
              <a:t>Kreditvorsorge</a:t>
            </a:r>
            <a:r>
              <a:rPr lang="de-DE" sz="1125">
                <a:solidFill>
                  <a:srgbClr val="4F6875"/>
                </a:solidFill>
                <a:latin typeface="Aptos"/>
              </a:rPr>
              <a:t>, </a:t>
            </a:r>
            <a:r>
              <a:rPr lang="de-DE" sz="1125" err="1">
                <a:solidFill>
                  <a:srgbClr val="4F6875"/>
                </a:solidFill>
                <a:latin typeface="Aptos"/>
              </a:rPr>
              <a:t>Marktwertverluste</a:t>
            </a:r>
            <a:r>
              <a:rPr lang="de-DE" sz="1125">
                <a:solidFill>
                  <a:srgbClr val="4F6875"/>
                </a:solidFill>
                <a:latin typeface="Aptos"/>
              </a:rPr>
              <a:t> und </a:t>
            </a:r>
            <a:r>
              <a:rPr lang="de-DE" sz="1125" err="1">
                <a:solidFill>
                  <a:srgbClr val="4F6875"/>
                </a:solidFill>
                <a:latin typeface="Aptos"/>
              </a:rPr>
              <a:t>zusätzliche</a:t>
            </a:r>
            <a:r>
              <a:rPr lang="de-DE" sz="1125">
                <a:solidFill>
                  <a:srgbClr val="4F6875"/>
                </a:solidFill>
                <a:latin typeface="Aptos"/>
              </a:rPr>
              <a:t> RWA in </a:t>
            </a:r>
            <a:r>
              <a:rPr lang="de-DE" sz="1125" err="1">
                <a:solidFill>
                  <a:srgbClr val="4F6875"/>
                </a:solidFill>
                <a:latin typeface="Aptos"/>
              </a:rPr>
              <a:t>einer</a:t>
            </a:r>
            <a:r>
              <a:rPr lang="de-DE" sz="1125">
                <a:solidFill>
                  <a:srgbClr val="4F6875"/>
                </a:solidFill>
                <a:latin typeface="Aptos"/>
              </a:rPr>
              <a:t> </a:t>
            </a:r>
            <a:r>
              <a:rPr lang="de-DE" sz="1125" err="1">
                <a:solidFill>
                  <a:srgbClr val="4F6875"/>
                </a:solidFill>
                <a:latin typeface="Aptos"/>
              </a:rPr>
              <a:t>konsistenten</a:t>
            </a:r>
            <a:r>
              <a:rPr lang="de-DE" sz="1125">
                <a:solidFill>
                  <a:srgbClr val="4F6875"/>
                </a:solidFill>
                <a:latin typeface="Aptos"/>
              </a:rPr>
              <a:t> </a:t>
            </a:r>
            <a:r>
              <a:rPr lang="de-DE" sz="1125" err="1">
                <a:solidFill>
                  <a:srgbClr val="4F6875"/>
                </a:solidFill>
                <a:latin typeface="Aptos"/>
              </a:rPr>
              <a:t>Kapitalgleichung</a:t>
            </a:r>
            <a:r>
              <a:rPr lang="de-DE" sz="1125">
                <a:solidFill>
                  <a:srgbClr val="4F6875"/>
                </a:solidFill>
                <a:latin typeface="Aptos"/>
              </a:rPr>
              <a:t>.</a:t>
            </a:r>
          </a:p>
        </p:txBody>
      </p:sp>
      <p:sp>
        <p:nvSpPr>
          <p:cNvPr id="6" name="Rectangle: Rounded Corners 5">
            <a:extLst>
              <a:ext uri="{FF2B5EF4-FFF2-40B4-BE49-F238E27FC236}">
                <a16:creationId xmlns:a16="http://schemas.microsoft.com/office/drawing/2014/main" id="{C505EF47-86EA-33ED-B15B-BCB94EDB17A8}"/>
              </a:ext>
            </a:extLst>
          </p:cNvPr>
          <p:cNvSpPr>
            <a:spLocks noGrp="1"/>
          </p:cNvSpPr>
          <p:nvPr/>
        </p:nvSpPr>
        <p:spPr>
          <a:xfrm>
            <a:off x="457200" y="1438275"/>
            <a:ext cx="6953250" cy="2428875"/>
          </a:xfrm>
          <a:prstGeom prst="roundRect">
            <a:avLst>
              <a:gd name="adj" fmla="val 4706"/>
            </a:avLst>
          </a:prstGeom>
          <a:solidFill>
            <a:srgbClr val="051C2C"/>
          </a:solidFill>
          <a:ln w="9525">
            <a:solidFill>
              <a:srgbClr val="051C2C"/>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7" name="Rectangle 6">
            <a:extLst>
              <a:ext uri="{FF2B5EF4-FFF2-40B4-BE49-F238E27FC236}">
                <a16:creationId xmlns:a16="http://schemas.microsoft.com/office/drawing/2014/main" id="{399F4CD5-B971-11FD-DC86-368F8842D305}"/>
              </a:ext>
            </a:extLst>
          </p:cNvPr>
          <p:cNvSpPr>
            <a:spLocks noGrp="1"/>
          </p:cNvSpPr>
          <p:nvPr/>
        </p:nvSpPr>
        <p:spPr>
          <a:xfrm>
            <a:off x="704850" y="1657350"/>
            <a:ext cx="2381250" cy="171450"/>
          </a:xfrm>
          <a:prstGeom prst="rect">
            <a:avLst/>
          </a:prstGeom>
          <a:noFill/>
          <a:ln w="0">
            <a:noFill/>
            <a:prstDash val="solid"/>
          </a:ln>
        </p:spPr>
        <p:txBody>
          <a:bodyPr/>
          <a:lstStyle/>
          <a:p>
            <a:pPr algn="l">
              <a:defRPr sz="825" b="1" i="0">
                <a:solidFill>
                  <a:srgbClr val="BCD0D9"/>
                </a:solidFill>
                <a:latin typeface="Aptos"/>
                <a:ea typeface="Aptos"/>
                <a:cs typeface="Aptos"/>
              </a:defRPr>
            </a:pPr>
            <a:r>
              <a:rPr sz="825" b="1" i="0">
                <a:solidFill>
                  <a:srgbClr val="BCD0D9"/>
                </a:solidFill>
                <a:latin typeface="Aptos"/>
                <a:ea typeface="Aptos"/>
                <a:cs typeface="Aptos"/>
              </a:rPr>
              <a:t>GESTRESSTE CET1-QUOTE</a:t>
            </a:r>
          </a:p>
        </p:txBody>
      </p:sp>
      <p:sp>
        <p:nvSpPr>
          <p:cNvPr id="8" name="Rectangle 7">
            <a:extLst>
              <a:ext uri="{FF2B5EF4-FFF2-40B4-BE49-F238E27FC236}">
                <a16:creationId xmlns:a16="http://schemas.microsoft.com/office/drawing/2014/main" id="{2EC4ABF3-DA7E-473C-E215-0800F564CA7C}"/>
              </a:ext>
            </a:extLst>
          </p:cNvPr>
          <p:cNvSpPr>
            <a:spLocks noGrp="1"/>
          </p:cNvSpPr>
          <p:nvPr/>
        </p:nvSpPr>
        <p:spPr>
          <a:xfrm>
            <a:off x="904875" y="2124075"/>
            <a:ext cx="6048375" cy="342900"/>
          </a:xfrm>
          <a:prstGeom prst="rect">
            <a:avLst/>
          </a:prstGeom>
          <a:noFill/>
          <a:ln w="0">
            <a:noFill/>
            <a:prstDash val="solid"/>
          </a:ln>
        </p:spPr>
        <p:txBody>
          <a:bodyPr lIns="91440" tIns="45720" rIns="91440" bIns="45720" anchor="t"/>
          <a:lstStyle/>
          <a:p>
            <a:pPr algn="ctr">
              <a:defRPr sz="1875" b="1" i="0">
                <a:solidFill>
                  <a:srgbClr val="FFFFFF"/>
                </a:solidFill>
                <a:latin typeface="Aptos Display"/>
                <a:ea typeface="Aptos Display"/>
                <a:cs typeface="Aptos Display"/>
              </a:defRPr>
            </a:pPr>
            <a:r>
              <a:rPr sz="1850" b="1" i="0">
                <a:solidFill>
                  <a:srgbClr val="FFFFFF"/>
                </a:solidFill>
                <a:latin typeface="Aptos Display"/>
                <a:ea typeface="Aptos Display"/>
                <a:cs typeface="Aptos Display"/>
              </a:rPr>
              <a:t>CET1₀  −</a:t>
            </a:r>
            <a:r>
              <a:rPr sz="1850" b="1" i="0">
                <a:solidFill>
                  <a:srgbClr val="FF0000"/>
                </a:solidFill>
                <a:latin typeface="Aptos Display"/>
                <a:ea typeface="Aptos Display"/>
                <a:cs typeface="Aptos Display"/>
              </a:rPr>
              <a:t>  ΔEL </a:t>
            </a:r>
            <a:r>
              <a:rPr sz="1850" b="1" i="0" err="1">
                <a:solidFill>
                  <a:srgbClr val="FF0000"/>
                </a:solidFill>
                <a:latin typeface="Aptos Display"/>
                <a:ea typeface="Aptos Display"/>
                <a:cs typeface="Aptos Display"/>
              </a:rPr>
              <a:t>Kreditbuch</a:t>
            </a:r>
            <a:r>
              <a:rPr sz="1850" b="1" i="0">
                <a:solidFill>
                  <a:srgbClr val="FF0000"/>
                </a:solidFill>
                <a:latin typeface="Aptos Display"/>
                <a:ea typeface="Aptos Display"/>
                <a:cs typeface="Aptos Display"/>
              </a:rPr>
              <a:t> </a:t>
            </a:r>
            <a:r>
              <a:rPr sz="1850" b="1" i="0">
                <a:solidFill>
                  <a:srgbClr val="FFFFFF"/>
                </a:solidFill>
                <a:latin typeface="Aptos Display"/>
                <a:ea typeface="Aptos Display"/>
                <a:cs typeface="Aptos Display"/>
              </a:rPr>
              <a:t> +  ΔFV Sovereigns</a:t>
            </a:r>
          </a:p>
        </p:txBody>
      </p:sp>
      <p:sp>
        <p:nvSpPr>
          <p:cNvPr id="9" name="Rectangle 8">
            <a:extLst>
              <a:ext uri="{FF2B5EF4-FFF2-40B4-BE49-F238E27FC236}">
                <a16:creationId xmlns:a16="http://schemas.microsoft.com/office/drawing/2014/main" id="{57970A2B-101D-0E1A-286E-DAC2455AC201}"/>
              </a:ext>
            </a:extLst>
          </p:cNvPr>
          <p:cNvSpPr>
            <a:spLocks noGrp="1"/>
          </p:cNvSpPr>
          <p:nvPr/>
        </p:nvSpPr>
        <p:spPr>
          <a:xfrm>
            <a:off x="1123950" y="2609850"/>
            <a:ext cx="5619750" cy="19050"/>
          </a:xfrm>
          <a:prstGeom prst="rect">
            <a:avLst/>
          </a:prstGeom>
          <a:solidFill>
            <a:srgbClr val="8299A5"/>
          </a:solidFill>
          <a:ln w="0">
            <a:noFill/>
            <a:prstDash val="solid"/>
          </a:ln>
        </p:spPr>
        <p:txBody>
          <a:bodyPr/>
          <a:lstStyle/>
          <a:p>
            <a:endParaRPr lang="en-US"/>
          </a:p>
        </p:txBody>
      </p:sp>
      <p:sp>
        <p:nvSpPr>
          <p:cNvPr id="10" name="Rectangle 9">
            <a:extLst>
              <a:ext uri="{FF2B5EF4-FFF2-40B4-BE49-F238E27FC236}">
                <a16:creationId xmlns:a16="http://schemas.microsoft.com/office/drawing/2014/main" id="{4D1707A7-5A27-BA27-E363-15A269540E6B}"/>
              </a:ext>
            </a:extLst>
          </p:cNvPr>
          <p:cNvSpPr>
            <a:spLocks noGrp="1"/>
          </p:cNvSpPr>
          <p:nvPr/>
        </p:nvSpPr>
        <p:spPr>
          <a:xfrm>
            <a:off x="1619250" y="2800350"/>
            <a:ext cx="4619625" cy="342900"/>
          </a:xfrm>
          <a:prstGeom prst="rect">
            <a:avLst/>
          </a:prstGeom>
          <a:noFill/>
          <a:ln w="0">
            <a:noFill/>
            <a:prstDash val="solid"/>
          </a:ln>
        </p:spPr>
        <p:txBody>
          <a:bodyPr lIns="91440" tIns="45720" rIns="91440" bIns="45720" anchor="t"/>
          <a:lstStyle/>
          <a:p>
            <a:pPr algn="ctr">
              <a:defRPr sz="1875" b="1" i="0">
                <a:solidFill>
                  <a:srgbClr val="FFFFFF"/>
                </a:solidFill>
                <a:latin typeface="Aptos Display"/>
                <a:ea typeface="Aptos Display"/>
                <a:cs typeface="Aptos Display"/>
              </a:defRPr>
            </a:pPr>
            <a:r>
              <a:rPr sz="1850" b="1" i="0">
                <a:solidFill>
                  <a:srgbClr val="FF0000"/>
                </a:solidFill>
                <a:latin typeface="Aptos Display"/>
                <a:ea typeface="Aptos Display"/>
                <a:cs typeface="Aptos Display"/>
              </a:rPr>
              <a:t>RWA₀  +  ΔRWA </a:t>
            </a:r>
            <a:r>
              <a:rPr sz="1850" b="1" i="0" err="1">
                <a:solidFill>
                  <a:srgbClr val="FF0000"/>
                </a:solidFill>
                <a:latin typeface="Aptos Display"/>
                <a:ea typeface="Aptos Display"/>
                <a:cs typeface="Aptos Display"/>
              </a:rPr>
              <a:t>Kreditbuch</a:t>
            </a:r>
            <a:endParaRPr lang="en-US" sz="1850" b="1" i="0">
              <a:solidFill>
                <a:srgbClr val="FF0000"/>
              </a:solidFill>
              <a:latin typeface="Aptos Display"/>
              <a:ea typeface="Aptos Display"/>
              <a:cs typeface="Aptos Display"/>
            </a:endParaRPr>
          </a:p>
        </p:txBody>
      </p:sp>
      <p:sp>
        <p:nvSpPr>
          <p:cNvPr id="11" name="Rectangle 10">
            <a:extLst>
              <a:ext uri="{FF2B5EF4-FFF2-40B4-BE49-F238E27FC236}">
                <a16:creationId xmlns:a16="http://schemas.microsoft.com/office/drawing/2014/main" id="{1757F14C-6DA5-F43A-26B1-434F34340009}"/>
              </a:ext>
            </a:extLst>
          </p:cNvPr>
          <p:cNvSpPr>
            <a:spLocks noGrp="1"/>
          </p:cNvSpPr>
          <p:nvPr/>
        </p:nvSpPr>
        <p:spPr>
          <a:xfrm>
            <a:off x="800100" y="3400425"/>
            <a:ext cx="1333500" cy="171450"/>
          </a:xfrm>
          <a:prstGeom prst="rect">
            <a:avLst/>
          </a:prstGeom>
          <a:noFill/>
          <a:ln w="0">
            <a:noFill/>
            <a:prstDash val="solid"/>
          </a:ln>
        </p:spPr>
        <p:txBody>
          <a:bodyPr/>
          <a:lstStyle/>
          <a:p>
            <a:pPr algn="l">
              <a:defRPr sz="825" b="1" i="0">
                <a:solidFill>
                  <a:srgbClr val="E8B6C2"/>
                </a:solidFill>
                <a:latin typeface="Aptos"/>
                <a:ea typeface="Aptos"/>
                <a:cs typeface="Aptos"/>
              </a:defRPr>
            </a:pPr>
            <a:r>
              <a:rPr sz="825" b="1" i="0">
                <a:solidFill>
                  <a:srgbClr val="E8B6C2"/>
                </a:solidFill>
                <a:latin typeface="Aptos"/>
                <a:ea typeface="Aptos"/>
                <a:cs typeface="Aptos"/>
              </a:rPr>
              <a:t>Zählerwirkung</a:t>
            </a:r>
          </a:p>
        </p:txBody>
      </p:sp>
      <p:sp>
        <p:nvSpPr>
          <p:cNvPr id="12" name="Rectangle 11">
            <a:extLst>
              <a:ext uri="{FF2B5EF4-FFF2-40B4-BE49-F238E27FC236}">
                <a16:creationId xmlns:a16="http://schemas.microsoft.com/office/drawing/2014/main" id="{79A24A37-00ED-529F-F01A-4A1905769FC3}"/>
              </a:ext>
            </a:extLst>
          </p:cNvPr>
          <p:cNvSpPr>
            <a:spLocks noGrp="1"/>
          </p:cNvSpPr>
          <p:nvPr/>
        </p:nvSpPr>
        <p:spPr>
          <a:xfrm>
            <a:off x="2000250" y="3390900"/>
            <a:ext cx="4667250" cy="180975"/>
          </a:xfrm>
          <a:prstGeom prst="rect">
            <a:avLst/>
          </a:prstGeom>
          <a:noFill/>
          <a:ln w="0">
            <a:noFill/>
            <a:prstDash val="solid"/>
          </a:ln>
        </p:spPr>
        <p:txBody>
          <a:bodyPr/>
          <a:lstStyle/>
          <a:p>
            <a:pPr algn="l">
              <a:defRPr sz="938" b="0" i="0">
                <a:solidFill>
                  <a:srgbClr val="E4EEF2"/>
                </a:solidFill>
                <a:latin typeface="Aptos"/>
                <a:ea typeface="Aptos"/>
                <a:cs typeface="Aptos"/>
              </a:defRPr>
            </a:pPr>
            <a:r>
              <a:rPr lang="en-US" sz="938" b="0" i="0" err="1">
                <a:solidFill>
                  <a:srgbClr val="E4EEF2"/>
                </a:solidFill>
                <a:latin typeface="Aptos"/>
                <a:ea typeface="Aptos"/>
                <a:cs typeface="Aptos"/>
              </a:rPr>
              <a:t>Vorsorge</a:t>
            </a:r>
            <a:r>
              <a:rPr sz="938" b="0" i="0">
                <a:solidFill>
                  <a:srgbClr val="E4EEF2"/>
                </a:solidFill>
                <a:latin typeface="Aptos"/>
                <a:ea typeface="Aptos"/>
                <a:cs typeface="Aptos"/>
              </a:rPr>
              <a:t> und Sovereign-</a:t>
            </a:r>
            <a:r>
              <a:rPr lang="en-US" sz="938" b="0" i="0" err="1">
                <a:solidFill>
                  <a:srgbClr val="E4EEF2"/>
                </a:solidFill>
                <a:latin typeface="Aptos"/>
                <a:ea typeface="Aptos"/>
                <a:cs typeface="Aptos"/>
              </a:rPr>
              <a:t>MtM</a:t>
            </a:r>
            <a:r>
              <a:rPr sz="938" b="0" i="0">
                <a:solidFill>
                  <a:srgbClr val="E4EEF2"/>
                </a:solidFill>
                <a:latin typeface="Aptos"/>
                <a:ea typeface="Aptos"/>
                <a:cs typeface="Aptos"/>
              </a:rPr>
              <a:t> </a:t>
            </a:r>
            <a:r>
              <a:rPr lang="en-US" sz="938" b="0" i="0" err="1">
                <a:solidFill>
                  <a:srgbClr val="E4EEF2"/>
                </a:solidFill>
                <a:latin typeface="Aptos"/>
                <a:ea typeface="Aptos"/>
                <a:cs typeface="Aptos"/>
              </a:rPr>
              <a:t>reduzieren</a:t>
            </a:r>
            <a:r>
              <a:rPr sz="938" b="0" i="0">
                <a:solidFill>
                  <a:srgbClr val="E4EEF2"/>
                </a:solidFill>
                <a:latin typeface="Aptos"/>
                <a:ea typeface="Aptos"/>
                <a:cs typeface="Aptos"/>
              </a:rPr>
              <a:t> </a:t>
            </a:r>
            <a:r>
              <a:rPr lang="en-US" sz="938" b="0" i="0" err="1">
                <a:solidFill>
                  <a:srgbClr val="E4EEF2"/>
                </a:solidFill>
                <a:latin typeface="Aptos"/>
                <a:ea typeface="Aptos"/>
                <a:cs typeface="Aptos"/>
              </a:rPr>
              <a:t>hartes</a:t>
            </a:r>
            <a:r>
              <a:rPr sz="938" b="0" i="0">
                <a:solidFill>
                  <a:srgbClr val="E4EEF2"/>
                </a:solidFill>
                <a:latin typeface="Aptos"/>
                <a:ea typeface="Aptos"/>
                <a:cs typeface="Aptos"/>
              </a:rPr>
              <a:t> </a:t>
            </a:r>
            <a:r>
              <a:rPr lang="en-US" sz="938" b="0" i="0" err="1">
                <a:solidFill>
                  <a:srgbClr val="E4EEF2"/>
                </a:solidFill>
                <a:latin typeface="Aptos"/>
                <a:ea typeface="Aptos"/>
                <a:cs typeface="Aptos"/>
              </a:rPr>
              <a:t>Kernkapital</a:t>
            </a:r>
            <a:endParaRPr sz="938" b="0" i="0">
              <a:solidFill>
                <a:srgbClr val="E4EEF2"/>
              </a:solidFill>
              <a:latin typeface="Aptos"/>
              <a:ea typeface="Aptos"/>
              <a:cs typeface="Aptos"/>
            </a:endParaRPr>
          </a:p>
        </p:txBody>
      </p:sp>
      <p:sp>
        <p:nvSpPr>
          <p:cNvPr id="13" name="Rectangle: Rounded Corners 12">
            <a:extLst>
              <a:ext uri="{FF2B5EF4-FFF2-40B4-BE49-F238E27FC236}">
                <a16:creationId xmlns:a16="http://schemas.microsoft.com/office/drawing/2014/main" id="{9B2270D3-F43A-82ED-0CB7-41F9C8F3BA43}"/>
              </a:ext>
            </a:extLst>
          </p:cNvPr>
          <p:cNvSpPr>
            <a:spLocks noGrp="1"/>
          </p:cNvSpPr>
          <p:nvPr/>
        </p:nvSpPr>
        <p:spPr>
          <a:xfrm>
            <a:off x="7715250" y="1438275"/>
            <a:ext cx="4019550" cy="2428875"/>
          </a:xfrm>
          <a:prstGeom prst="roundRect">
            <a:avLst>
              <a:gd name="adj" fmla="val 4706"/>
            </a:avLst>
          </a:prstGeom>
          <a:solidFill>
            <a:srgbClr val="FFFFFF"/>
          </a:solidFill>
          <a:ln w="9525">
            <a:solidFill>
              <a:srgbClr val="D5E0E5"/>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14" name="Rectangle 13">
            <a:extLst>
              <a:ext uri="{FF2B5EF4-FFF2-40B4-BE49-F238E27FC236}">
                <a16:creationId xmlns:a16="http://schemas.microsoft.com/office/drawing/2014/main" id="{FE2F54EE-03B2-B46A-68E1-E68F722D2465}"/>
              </a:ext>
            </a:extLst>
          </p:cNvPr>
          <p:cNvSpPr>
            <a:spLocks noGrp="1"/>
          </p:cNvSpPr>
          <p:nvPr/>
        </p:nvSpPr>
        <p:spPr>
          <a:xfrm>
            <a:off x="7715250" y="1438275"/>
            <a:ext cx="57150" cy="2428875"/>
          </a:xfrm>
          <a:prstGeom prst="rect">
            <a:avLst/>
          </a:prstGeom>
          <a:solidFill>
            <a:srgbClr val="A52F4D"/>
          </a:solidFill>
          <a:ln w="0">
            <a:noFill/>
            <a:prstDash val="solid"/>
          </a:ln>
        </p:spPr>
        <p:txBody>
          <a:bodyPr/>
          <a:lstStyle/>
          <a:p>
            <a:endParaRPr lang="en-US"/>
          </a:p>
        </p:txBody>
      </p:sp>
      <p:sp>
        <p:nvSpPr>
          <p:cNvPr id="15" name="Rectangle: Rounded Corners 14">
            <a:extLst>
              <a:ext uri="{FF2B5EF4-FFF2-40B4-BE49-F238E27FC236}">
                <a16:creationId xmlns:a16="http://schemas.microsoft.com/office/drawing/2014/main" id="{A9A25296-ED58-AB25-722E-98C3165BF131}"/>
              </a:ext>
            </a:extLst>
          </p:cNvPr>
          <p:cNvSpPr>
            <a:spLocks noGrp="1"/>
          </p:cNvSpPr>
          <p:nvPr/>
        </p:nvSpPr>
        <p:spPr>
          <a:xfrm>
            <a:off x="7867650" y="1562100"/>
            <a:ext cx="790575" cy="219075"/>
          </a:xfrm>
          <a:prstGeom prst="roundRect">
            <a:avLst>
              <a:gd name="adj" fmla="val 50000"/>
            </a:avLst>
          </a:prstGeom>
          <a:solidFill>
            <a:srgbClr val="A52F4D"/>
          </a:solidFill>
          <a:ln w="0">
            <a:noFill/>
            <a:prstDash val="solid"/>
          </a:ln>
        </p:spPr>
        <p:txBody>
          <a:bodyPr/>
          <a:lstStyle/>
          <a:p>
            <a:endParaRPr lang="en-US"/>
          </a:p>
        </p:txBody>
      </p:sp>
      <p:sp>
        <p:nvSpPr>
          <p:cNvPr id="16" name="Rectangle 15">
            <a:extLst>
              <a:ext uri="{FF2B5EF4-FFF2-40B4-BE49-F238E27FC236}">
                <a16:creationId xmlns:a16="http://schemas.microsoft.com/office/drawing/2014/main" id="{642DA25F-CE92-5DE1-1431-A9277233C27C}"/>
              </a:ext>
            </a:extLst>
          </p:cNvPr>
          <p:cNvSpPr>
            <a:spLocks noGrp="1"/>
          </p:cNvSpPr>
          <p:nvPr/>
        </p:nvSpPr>
        <p:spPr>
          <a:xfrm>
            <a:off x="7905750" y="1600200"/>
            <a:ext cx="714375" cy="142875"/>
          </a:xfrm>
          <a:prstGeom prst="rect">
            <a:avLst/>
          </a:prstGeom>
          <a:noFill/>
          <a:ln w="0">
            <a:noFill/>
            <a:prstDash val="solid"/>
          </a:ln>
        </p:spPr>
        <p:txBody>
          <a:bodyPr/>
          <a:lstStyle/>
          <a:p>
            <a:pPr algn="ctr">
              <a:defRPr sz="713" b="1" i="0">
                <a:solidFill>
                  <a:srgbClr val="FFFFFF"/>
                </a:solidFill>
                <a:latin typeface="Aptos"/>
                <a:ea typeface="Aptos"/>
                <a:cs typeface="Aptos"/>
              </a:defRPr>
            </a:pPr>
            <a:r>
              <a:rPr sz="713" b="1" i="0">
                <a:solidFill>
                  <a:srgbClr val="FFFFFF"/>
                </a:solidFill>
                <a:latin typeface="Aptos"/>
                <a:ea typeface="Aptos"/>
                <a:cs typeface="Aptos"/>
              </a:rPr>
              <a:t>MECHANIK</a:t>
            </a:r>
          </a:p>
        </p:txBody>
      </p:sp>
      <p:sp>
        <p:nvSpPr>
          <p:cNvPr id="17" name="Rectangle 16">
            <a:extLst>
              <a:ext uri="{FF2B5EF4-FFF2-40B4-BE49-F238E27FC236}">
                <a16:creationId xmlns:a16="http://schemas.microsoft.com/office/drawing/2014/main" id="{34179262-83CF-5E24-3C7C-4813FB356374}"/>
              </a:ext>
            </a:extLst>
          </p:cNvPr>
          <p:cNvSpPr>
            <a:spLocks noGrp="1"/>
          </p:cNvSpPr>
          <p:nvPr/>
        </p:nvSpPr>
        <p:spPr>
          <a:xfrm>
            <a:off x="7877175" y="1885950"/>
            <a:ext cx="3695700" cy="266700"/>
          </a:xfrm>
          <a:prstGeom prst="rect">
            <a:avLst/>
          </a:prstGeom>
          <a:noFill/>
          <a:ln w="0">
            <a:noFill/>
            <a:prstDash val="solid"/>
          </a:ln>
        </p:spPr>
        <p:txBody>
          <a:bodyPr/>
          <a:lstStyle/>
          <a:p>
            <a:pPr algn="l">
              <a:defRPr sz="1425" b="1" i="0">
                <a:solidFill>
                  <a:srgbClr val="051C2C"/>
                </a:solidFill>
                <a:latin typeface="Aptos Display"/>
                <a:ea typeface="Aptos Display"/>
                <a:cs typeface="Aptos Display"/>
              </a:defRPr>
            </a:pPr>
            <a:r>
              <a:rPr sz="1425" b="1" i="0">
                <a:solidFill>
                  <a:srgbClr val="051C2C"/>
                </a:solidFill>
                <a:latin typeface="Aptos Display"/>
                <a:ea typeface="Aptos Display"/>
                <a:cs typeface="Aptos Display"/>
              </a:rPr>
              <a:t>Warum beide Seiten zählen</a:t>
            </a:r>
          </a:p>
        </p:txBody>
      </p:sp>
      <p:sp>
        <p:nvSpPr>
          <p:cNvPr id="18" name="Rectangle 17">
            <a:extLst>
              <a:ext uri="{FF2B5EF4-FFF2-40B4-BE49-F238E27FC236}">
                <a16:creationId xmlns:a16="http://schemas.microsoft.com/office/drawing/2014/main" id="{CF4B41B7-BD6F-7330-60B9-4AD17E2965F7}"/>
              </a:ext>
            </a:extLst>
          </p:cNvPr>
          <p:cNvSpPr>
            <a:spLocks noGrp="1"/>
          </p:cNvSpPr>
          <p:nvPr/>
        </p:nvSpPr>
        <p:spPr>
          <a:xfrm>
            <a:off x="7877175" y="2209800"/>
            <a:ext cx="3695700" cy="1571625"/>
          </a:xfrm>
          <a:prstGeom prst="rect">
            <a:avLst/>
          </a:prstGeom>
          <a:noFill/>
          <a:ln w="0">
            <a:noFill/>
            <a:prstDash val="solid"/>
          </a:ln>
        </p:spPr>
        <p:txBody>
          <a:bodyPr/>
          <a:lstStyle/>
          <a:p>
            <a:pPr algn="l">
              <a:defRPr sz="998" b="0" i="0">
                <a:solidFill>
                  <a:srgbClr val="4F6875"/>
                </a:solidFill>
                <a:latin typeface="Aptos"/>
                <a:ea typeface="Aptos"/>
                <a:cs typeface="Aptos"/>
              </a:defRPr>
            </a:pPr>
            <a:r>
              <a:rPr sz="998" b="0" i="0">
                <a:solidFill>
                  <a:srgbClr val="4F6875"/>
                </a:solidFill>
                <a:latin typeface="Aptos"/>
                <a:ea typeface="Aptos"/>
                <a:cs typeface="Aptos"/>
              </a:rPr>
              <a:t>• </a:t>
            </a:r>
            <a:r>
              <a:rPr sz="998" b="0" i="0" err="1">
                <a:solidFill>
                  <a:srgbClr val="4F6875"/>
                </a:solidFill>
                <a:latin typeface="Aptos"/>
                <a:ea typeface="Aptos"/>
                <a:cs typeface="Aptos"/>
              </a:rPr>
              <a:t>Höhere</a:t>
            </a:r>
            <a:r>
              <a:rPr sz="998" b="0" i="0">
                <a:solidFill>
                  <a:srgbClr val="4F6875"/>
                </a:solidFill>
                <a:latin typeface="Aptos"/>
                <a:ea typeface="Aptos"/>
                <a:cs typeface="Aptos"/>
              </a:rPr>
              <a:t> PD/LGD </a:t>
            </a:r>
            <a:r>
              <a:rPr sz="998" b="0" i="0" err="1">
                <a:solidFill>
                  <a:srgbClr val="4F6875"/>
                </a:solidFill>
                <a:latin typeface="Aptos"/>
                <a:ea typeface="Aptos"/>
                <a:cs typeface="Aptos"/>
              </a:rPr>
              <a:t>erhöhen</a:t>
            </a:r>
            <a:r>
              <a:rPr sz="998" b="0" i="0">
                <a:solidFill>
                  <a:srgbClr val="4F6875"/>
                </a:solidFill>
                <a:latin typeface="Aptos"/>
                <a:ea typeface="Aptos"/>
                <a:cs typeface="Aptos"/>
              </a:rPr>
              <a:t> den Expected Loss</a:t>
            </a:r>
          </a:p>
          <a:p>
            <a:endParaRPr sz="998" b="0" i="0">
              <a:solidFill>
                <a:srgbClr val="4F6875"/>
              </a:solidFill>
              <a:latin typeface="Aptos"/>
              <a:ea typeface="Aptos"/>
              <a:cs typeface="Aptos"/>
            </a:endParaRPr>
          </a:p>
          <a:p>
            <a:pPr algn="l">
              <a:defRPr sz="998" b="0" i="0">
                <a:solidFill>
                  <a:srgbClr val="4F6875"/>
                </a:solidFill>
                <a:latin typeface="Aptos"/>
                <a:ea typeface="Aptos"/>
                <a:cs typeface="Aptos"/>
              </a:defRPr>
            </a:pPr>
            <a:r>
              <a:rPr sz="998" b="0" i="0">
                <a:solidFill>
                  <a:srgbClr val="4F6875"/>
                </a:solidFill>
                <a:latin typeface="Aptos"/>
                <a:ea typeface="Aptos"/>
                <a:cs typeface="Aptos"/>
              </a:rPr>
              <a:t>• Die Basel-IRB-Formel </a:t>
            </a:r>
            <a:r>
              <a:rPr sz="998" b="0" i="0" err="1">
                <a:solidFill>
                  <a:srgbClr val="4F6875"/>
                </a:solidFill>
                <a:latin typeface="Aptos"/>
                <a:ea typeface="Aptos"/>
                <a:cs typeface="Aptos"/>
              </a:rPr>
              <a:t>erhöht</a:t>
            </a:r>
            <a:r>
              <a:rPr sz="998" b="0" i="0">
                <a:solidFill>
                  <a:srgbClr val="4F6875"/>
                </a:solidFill>
                <a:latin typeface="Aptos"/>
                <a:ea typeface="Aptos"/>
                <a:cs typeface="Aptos"/>
              </a:rPr>
              <a:t> den </a:t>
            </a:r>
            <a:r>
              <a:rPr sz="998" b="0" i="0" err="1">
                <a:solidFill>
                  <a:srgbClr val="4F6875"/>
                </a:solidFill>
                <a:latin typeface="Aptos"/>
                <a:ea typeface="Aptos"/>
                <a:cs typeface="Aptos"/>
              </a:rPr>
              <a:t>Kapitalbedarf</a:t>
            </a:r>
            <a:r>
              <a:rPr sz="998" b="0" i="0">
                <a:solidFill>
                  <a:srgbClr val="4F6875"/>
                </a:solidFill>
                <a:latin typeface="Aptos"/>
                <a:ea typeface="Aptos"/>
                <a:cs typeface="Aptos"/>
              </a:rPr>
              <a:t> und die RWA</a:t>
            </a:r>
          </a:p>
          <a:p>
            <a:endParaRPr sz="998" b="0" i="0">
              <a:solidFill>
                <a:srgbClr val="4F6875"/>
              </a:solidFill>
              <a:latin typeface="Aptos"/>
              <a:ea typeface="Aptos"/>
              <a:cs typeface="Aptos"/>
            </a:endParaRPr>
          </a:p>
          <a:p>
            <a:pPr algn="l">
              <a:defRPr sz="998" b="0" i="0">
                <a:solidFill>
                  <a:srgbClr val="4F6875"/>
                </a:solidFill>
                <a:latin typeface="Aptos"/>
                <a:ea typeface="Aptos"/>
                <a:cs typeface="Aptos"/>
              </a:defRPr>
            </a:pPr>
            <a:r>
              <a:rPr sz="998" b="0" i="0">
                <a:solidFill>
                  <a:srgbClr val="4F6875"/>
                </a:solidFill>
                <a:latin typeface="Aptos"/>
                <a:ea typeface="Aptos"/>
                <a:cs typeface="Aptos"/>
              </a:rPr>
              <a:t>• Steigende Zinsen </a:t>
            </a:r>
            <a:r>
              <a:rPr sz="998" b="0" i="0" err="1">
                <a:solidFill>
                  <a:srgbClr val="4F6875"/>
                </a:solidFill>
                <a:latin typeface="Aptos"/>
                <a:ea typeface="Aptos"/>
                <a:cs typeface="Aptos"/>
              </a:rPr>
              <a:t>senken</a:t>
            </a:r>
            <a:r>
              <a:rPr sz="998" b="0" i="0">
                <a:solidFill>
                  <a:srgbClr val="4F6875"/>
                </a:solidFill>
                <a:latin typeface="Aptos"/>
                <a:ea typeface="Aptos"/>
                <a:cs typeface="Aptos"/>
              </a:rPr>
              <a:t> den Fair Value </a:t>
            </a:r>
            <a:r>
              <a:rPr sz="998" b="0" i="0" err="1">
                <a:solidFill>
                  <a:srgbClr val="4F6875"/>
                </a:solidFill>
                <a:latin typeface="Aptos"/>
                <a:ea typeface="Aptos"/>
                <a:cs typeface="Aptos"/>
              </a:rPr>
              <a:t>marktwertbewerteter</a:t>
            </a:r>
            <a:r>
              <a:rPr sz="998" b="0" i="0">
                <a:solidFill>
                  <a:srgbClr val="4F6875"/>
                </a:solidFill>
                <a:latin typeface="Aptos"/>
                <a:ea typeface="Aptos"/>
                <a:cs typeface="Aptos"/>
              </a:rPr>
              <a:t> </a:t>
            </a:r>
            <a:r>
              <a:rPr sz="998" b="0" i="0" err="1">
                <a:solidFill>
                  <a:srgbClr val="4F6875"/>
                </a:solidFill>
                <a:latin typeface="Aptos"/>
                <a:ea typeface="Aptos"/>
                <a:cs typeface="Aptos"/>
              </a:rPr>
              <a:t>Staatsanleihen</a:t>
            </a:r>
            <a:endParaRPr sz="998" b="0" i="0">
              <a:solidFill>
                <a:srgbClr val="4F6875"/>
              </a:solidFill>
              <a:latin typeface="Aptos"/>
              <a:ea typeface="Aptos"/>
              <a:cs typeface="Aptos"/>
            </a:endParaRPr>
          </a:p>
          <a:p>
            <a:endParaRPr sz="998" b="0" i="0">
              <a:solidFill>
                <a:srgbClr val="4F6875"/>
              </a:solidFill>
              <a:latin typeface="Aptos"/>
              <a:ea typeface="Aptos"/>
              <a:cs typeface="Aptos"/>
            </a:endParaRPr>
          </a:p>
          <a:p>
            <a:pPr algn="l">
              <a:defRPr sz="998" b="0" i="0">
                <a:solidFill>
                  <a:srgbClr val="4F6875"/>
                </a:solidFill>
                <a:latin typeface="Aptos"/>
                <a:ea typeface="Aptos"/>
                <a:cs typeface="Aptos"/>
              </a:defRPr>
            </a:pPr>
            <a:r>
              <a:rPr sz="998" b="0" i="0">
                <a:solidFill>
                  <a:srgbClr val="4F6875"/>
                </a:solidFill>
                <a:latin typeface="Aptos"/>
                <a:ea typeface="Aptos"/>
                <a:cs typeface="Aptos"/>
              </a:rPr>
              <a:t>• Alle </a:t>
            </a:r>
            <a:r>
              <a:rPr sz="998" b="0" i="0" err="1">
                <a:solidFill>
                  <a:srgbClr val="4F6875"/>
                </a:solidFill>
                <a:latin typeface="Aptos"/>
                <a:ea typeface="Aptos"/>
                <a:cs typeface="Aptos"/>
              </a:rPr>
              <a:t>Effekte</a:t>
            </a:r>
            <a:r>
              <a:rPr sz="998" b="0" i="0">
                <a:solidFill>
                  <a:srgbClr val="4F6875"/>
                </a:solidFill>
                <a:latin typeface="Aptos"/>
                <a:ea typeface="Aptos"/>
                <a:cs typeface="Aptos"/>
              </a:rPr>
              <a:t> </a:t>
            </a:r>
            <a:r>
              <a:rPr sz="998" b="0" i="0" err="1">
                <a:solidFill>
                  <a:srgbClr val="4F6875"/>
                </a:solidFill>
                <a:latin typeface="Aptos"/>
                <a:ea typeface="Aptos"/>
                <a:cs typeface="Aptos"/>
              </a:rPr>
              <a:t>wirken</a:t>
            </a:r>
            <a:r>
              <a:rPr sz="998" b="0" i="0">
                <a:solidFill>
                  <a:srgbClr val="4F6875"/>
                </a:solidFill>
                <a:latin typeface="Aptos"/>
                <a:ea typeface="Aptos"/>
                <a:cs typeface="Aptos"/>
              </a:rPr>
              <a:t> </a:t>
            </a:r>
            <a:r>
              <a:rPr sz="998" b="0" i="0" err="1">
                <a:solidFill>
                  <a:srgbClr val="4F6875"/>
                </a:solidFill>
                <a:latin typeface="Aptos"/>
                <a:ea typeface="Aptos"/>
                <a:cs typeface="Aptos"/>
              </a:rPr>
              <a:t>gemeinsam</a:t>
            </a:r>
            <a:r>
              <a:rPr sz="998" b="0" i="0">
                <a:solidFill>
                  <a:srgbClr val="4F6875"/>
                </a:solidFill>
                <a:latin typeface="Aptos"/>
                <a:ea typeface="Aptos"/>
                <a:cs typeface="Aptos"/>
              </a:rPr>
              <a:t> auf die Quote</a:t>
            </a:r>
          </a:p>
        </p:txBody>
      </p:sp>
      <p:sp>
        <p:nvSpPr>
          <p:cNvPr id="19" name="Rectangle 18">
            <a:extLst>
              <a:ext uri="{FF2B5EF4-FFF2-40B4-BE49-F238E27FC236}">
                <a16:creationId xmlns:a16="http://schemas.microsoft.com/office/drawing/2014/main" id="{0FBB5EFD-6A20-24DA-3FDF-49C7D06B53FF}"/>
              </a:ext>
            </a:extLst>
          </p:cNvPr>
          <p:cNvSpPr>
            <a:spLocks noGrp="1"/>
          </p:cNvSpPr>
          <p:nvPr/>
        </p:nvSpPr>
        <p:spPr>
          <a:xfrm>
            <a:off x="457200" y="4238625"/>
            <a:ext cx="3238500" cy="171450"/>
          </a:xfrm>
          <a:prstGeom prst="rect">
            <a:avLst/>
          </a:prstGeom>
          <a:noFill/>
          <a:ln w="0">
            <a:noFill/>
            <a:prstDash val="solid"/>
          </a:ln>
        </p:spPr>
        <p:txBody>
          <a:bodyPr/>
          <a:lstStyle/>
          <a:p>
            <a:pPr algn="l">
              <a:defRPr sz="825" b="1" i="0">
                <a:solidFill>
                  <a:srgbClr val="A52F4D"/>
                </a:solidFill>
                <a:latin typeface="Aptos"/>
                <a:ea typeface="Aptos"/>
                <a:cs typeface="Aptos"/>
              </a:defRPr>
            </a:pPr>
            <a:r>
              <a:rPr sz="825" b="1" i="0">
                <a:solidFill>
                  <a:srgbClr val="A52F4D"/>
                </a:solidFill>
                <a:latin typeface="Aptos"/>
                <a:ea typeface="Aptos"/>
                <a:cs typeface="Aptos"/>
              </a:rPr>
              <a:t>AUFSICHTLICHE ORIENTIERUNGSPUNKTE</a:t>
            </a:r>
          </a:p>
        </p:txBody>
      </p:sp>
      <p:sp>
        <p:nvSpPr>
          <p:cNvPr id="20" name="Rectangle: Rounded Corners 19">
            <a:extLst>
              <a:ext uri="{FF2B5EF4-FFF2-40B4-BE49-F238E27FC236}">
                <a16:creationId xmlns:a16="http://schemas.microsoft.com/office/drawing/2014/main" id="{0869F637-F21B-7FEC-90DE-05E044F6A357}"/>
              </a:ext>
            </a:extLst>
          </p:cNvPr>
          <p:cNvSpPr>
            <a:spLocks noGrp="1"/>
          </p:cNvSpPr>
          <p:nvPr/>
        </p:nvSpPr>
        <p:spPr>
          <a:xfrm>
            <a:off x="457200" y="4552950"/>
            <a:ext cx="3495675" cy="1362075"/>
          </a:xfrm>
          <a:prstGeom prst="roundRect">
            <a:avLst>
              <a:gd name="adj" fmla="val 8392"/>
            </a:avLst>
          </a:prstGeom>
          <a:solidFill>
            <a:srgbClr val="FFFFFF"/>
          </a:solidFill>
          <a:ln w="9525">
            <a:solidFill>
              <a:srgbClr val="D5E0E5"/>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21" name="Rectangle 20">
            <a:extLst>
              <a:ext uri="{FF2B5EF4-FFF2-40B4-BE49-F238E27FC236}">
                <a16:creationId xmlns:a16="http://schemas.microsoft.com/office/drawing/2014/main" id="{5C3AD648-3FC5-9047-7687-EC183D8BAC96}"/>
              </a:ext>
            </a:extLst>
          </p:cNvPr>
          <p:cNvSpPr>
            <a:spLocks noGrp="1"/>
          </p:cNvSpPr>
          <p:nvPr/>
        </p:nvSpPr>
        <p:spPr>
          <a:xfrm>
            <a:off x="457200" y="4552950"/>
            <a:ext cx="76200" cy="1362075"/>
          </a:xfrm>
          <a:prstGeom prst="rect">
            <a:avLst/>
          </a:prstGeom>
          <a:solidFill>
            <a:srgbClr val="A52F4D"/>
          </a:solidFill>
          <a:ln w="0">
            <a:noFill/>
            <a:prstDash val="solid"/>
          </a:ln>
        </p:spPr>
        <p:txBody>
          <a:bodyPr/>
          <a:lstStyle/>
          <a:p>
            <a:endParaRPr lang="en-US"/>
          </a:p>
        </p:txBody>
      </p:sp>
      <p:sp>
        <p:nvSpPr>
          <p:cNvPr id="22" name="Rectangle 21">
            <a:extLst>
              <a:ext uri="{FF2B5EF4-FFF2-40B4-BE49-F238E27FC236}">
                <a16:creationId xmlns:a16="http://schemas.microsoft.com/office/drawing/2014/main" id="{685CFA8C-68A8-F756-8256-753564BB72A8}"/>
              </a:ext>
            </a:extLst>
          </p:cNvPr>
          <p:cNvSpPr>
            <a:spLocks noGrp="1"/>
          </p:cNvSpPr>
          <p:nvPr/>
        </p:nvSpPr>
        <p:spPr>
          <a:xfrm>
            <a:off x="695325" y="4714875"/>
            <a:ext cx="1285875" cy="457200"/>
          </a:xfrm>
          <a:prstGeom prst="rect">
            <a:avLst/>
          </a:prstGeom>
          <a:noFill/>
          <a:ln w="0">
            <a:noFill/>
            <a:prstDash val="solid"/>
          </a:ln>
        </p:spPr>
        <p:txBody>
          <a:bodyPr/>
          <a:lstStyle/>
          <a:p>
            <a:pPr algn="l">
              <a:defRPr sz="2550" b="1" i="0">
                <a:solidFill>
                  <a:srgbClr val="A52F4D"/>
                </a:solidFill>
                <a:latin typeface="Aptos Display"/>
                <a:ea typeface="Aptos Display"/>
                <a:cs typeface="Aptos Display"/>
              </a:defRPr>
            </a:pPr>
            <a:r>
              <a:rPr sz="2550" b="1" i="0">
                <a:solidFill>
                  <a:srgbClr val="A52F4D"/>
                </a:solidFill>
                <a:latin typeface="Aptos Display"/>
                <a:ea typeface="Aptos Display"/>
                <a:cs typeface="Aptos Display"/>
              </a:rPr>
              <a:t>4,5 %</a:t>
            </a:r>
          </a:p>
        </p:txBody>
      </p:sp>
      <p:sp>
        <p:nvSpPr>
          <p:cNvPr id="23" name="Rectangle 22">
            <a:extLst>
              <a:ext uri="{FF2B5EF4-FFF2-40B4-BE49-F238E27FC236}">
                <a16:creationId xmlns:a16="http://schemas.microsoft.com/office/drawing/2014/main" id="{69FD1A01-2D23-8B3F-613B-3CA96BCD219F}"/>
              </a:ext>
            </a:extLst>
          </p:cNvPr>
          <p:cNvSpPr>
            <a:spLocks noGrp="1"/>
          </p:cNvSpPr>
          <p:nvPr/>
        </p:nvSpPr>
        <p:spPr>
          <a:xfrm>
            <a:off x="695325" y="5229225"/>
            <a:ext cx="2952750" cy="228600"/>
          </a:xfrm>
          <a:prstGeom prst="rect">
            <a:avLst/>
          </a:prstGeom>
          <a:noFill/>
          <a:ln w="0">
            <a:noFill/>
            <a:prstDash val="solid"/>
          </a:ln>
        </p:spPr>
        <p:txBody>
          <a:bodyPr/>
          <a:lstStyle/>
          <a:p>
            <a:pPr algn="l">
              <a:defRPr sz="1125" b="1" i="0">
                <a:solidFill>
                  <a:srgbClr val="051C2C"/>
                </a:solidFill>
                <a:latin typeface="Aptos"/>
                <a:ea typeface="Aptos"/>
                <a:cs typeface="Aptos"/>
              </a:defRPr>
            </a:pPr>
            <a:r>
              <a:rPr sz="1125" b="1" i="0">
                <a:solidFill>
                  <a:srgbClr val="051C2C"/>
                </a:solidFill>
                <a:latin typeface="Aptos"/>
                <a:ea typeface="Aptos"/>
                <a:cs typeface="Aptos"/>
              </a:rPr>
              <a:t>Pillar-1-Minimum</a:t>
            </a:r>
          </a:p>
        </p:txBody>
      </p:sp>
      <p:sp>
        <p:nvSpPr>
          <p:cNvPr id="24" name="Rectangle 23">
            <a:extLst>
              <a:ext uri="{FF2B5EF4-FFF2-40B4-BE49-F238E27FC236}">
                <a16:creationId xmlns:a16="http://schemas.microsoft.com/office/drawing/2014/main" id="{DF46B595-39CD-4140-26A7-37A336DBBFA8}"/>
              </a:ext>
            </a:extLst>
          </p:cNvPr>
          <p:cNvSpPr>
            <a:spLocks noGrp="1"/>
          </p:cNvSpPr>
          <p:nvPr/>
        </p:nvSpPr>
        <p:spPr>
          <a:xfrm>
            <a:off x="695325" y="5534025"/>
            <a:ext cx="2952750" cy="180975"/>
          </a:xfrm>
          <a:prstGeom prst="rect">
            <a:avLst/>
          </a:prstGeom>
          <a:noFill/>
          <a:ln w="0">
            <a:noFill/>
            <a:prstDash val="solid"/>
          </a:ln>
        </p:spPr>
        <p:txBody>
          <a:bodyPr/>
          <a:lstStyle/>
          <a:p>
            <a:pPr algn="l">
              <a:defRPr sz="863" b="0" i="0">
                <a:solidFill>
                  <a:srgbClr val="4F6875"/>
                </a:solidFill>
                <a:latin typeface="Aptos"/>
                <a:ea typeface="Aptos"/>
                <a:cs typeface="Aptos"/>
              </a:defRPr>
            </a:pPr>
            <a:r>
              <a:rPr sz="863" b="0" i="0">
                <a:solidFill>
                  <a:srgbClr val="4F6875"/>
                </a:solidFill>
                <a:latin typeface="Aptos"/>
                <a:ea typeface="Aptos"/>
                <a:cs typeface="Aptos"/>
              </a:rPr>
              <a:t>harte Untergrenze</a:t>
            </a:r>
          </a:p>
        </p:txBody>
      </p:sp>
      <p:sp>
        <p:nvSpPr>
          <p:cNvPr id="25" name="Rectangle: Rounded Corners 24">
            <a:extLst>
              <a:ext uri="{FF2B5EF4-FFF2-40B4-BE49-F238E27FC236}">
                <a16:creationId xmlns:a16="http://schemas.microsoft.com/office/drawing/2014/main" id="{0BD89F6A-F998-D03E-3467-9ED5529679F5}"/>
              </a:ext>
            </a:extLst>
          </p:cNvPr>
          <p:cNvSpPr>
            <a:spLocks noGrp="1"/>
          </p:cNvSpPr>
          <p:nvPr/>
        </p:nvSpPr>
        <p:spPr>
          <a:xfrm>
            <a:off x="4219575" y="4552950"/>
            <a:ext cx="3495675" cy="1362075"/>
          </a:xfrm>
          <a:prstGeom prst="roundRect">
            <a:avLst>
              <a:gd name="adj" fmla="val 8392"/>
            </a:avLst>
          </a:prstGeom>
          <a:solidFill>
            <a:srgbClr val="FFFFFF"/>
          </a:solidFill>
          <a:ln w="9525">
            <a:solidFill>
              <a:srgbClr val="D5E0E5"/>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26" name="Rectangle 25">
            <a:extLst>
              <a:ext uri="{FF2B5EF4-FFF2-40B4-BE49-F238E27FC236}">
                <a16:creationId xmlns:a16="http://schemas.microsoft.com/office/drawing/2014/main" id="{F6FBCB80-3110-2DB7-1331-4C47D20B8DB8}"/>
              </a:ext>
            </a:extLst>
          </p:cNvPr>
          <p:cNvSpPr>
            <a:spLocks noGrp="1"/>
          </p:cNvSpPr>
          <p:nvPr/>
        </p:nvSpPr>
        <p:spPr>
          <a:xfrm>
            <a:off x="4219575" y="4552950"/>
            <a:ext cx="76200" cy="1362075"/>
          </a:xfrm>
          <a:prstGeom prst="rect">
            <a:avLst/>
          </a:prstGeom>
          <a:solidFill>
            <a:srgbClr val="D9A124"/>
          </a:solidFill>
          <a:ln w="0">
            <a:noFill/>
            <a:prstDash val="solid"/>
          </a:ln>
        </p:spPr>
        <p:txBody>
          <a:bodyPr/>
          <a:lstStyle/>
          <a:p>
            <a:endParaRPr lang="en-US"/>
          </a:p>
        </p:txBody>
      </p:sp>
      <p:sp>
        <p:nvSpPr>
          <p:cNvPr id="27" name="Rectangle 26">
            <a:extLst>
              <a:ext uri="{FF2B5EF4-FFF2-40B4-BE49-F238E27FC236}">
                <a16:creationId xmlns:a16="http://schemas.microsoft.com/office/drawing/2014/main" id="{3D5BC832-4B7B-0CA1-1882-62E9191C14D5}"/>
              </a:ext>
            </a:extLst>
          </p:cNvPr>
          <p:cNvSpPr>
            <a:spLocks noGrp="1"/>
          </p:cNvSpPr>
          <p:nvPr/>
        </p:nvSpPr>
        <p:spPr>
          <a:xfrm>
            <a:off x="4457700" y="4714875"/>
            <a:ext cx="1285875" cy="457200"/>
          </a:xfrm>
          <a:prstGeom prst="rect">
            <a:avLst/>
          </a:prstGeom>
          <a:noFill/>
          <a:ln w="0">
            <a:noFill/>
            <a:prstDash val="solid"/>
          </a:ln>
        </p:spPr>
        <p:txBody>
          <a:bodyPr/>
          <a:lstStyle/>
          <a:p>
            <a:pPr algn="l">
              <a:defRPr sz="2550" b="1" i="0">
                <a:solidFill>
                  <a:srgbClr val="D9A124"/>
                </a:solidFill>
                <a:latin typeface="Aptos Display"/>
                <a:ea typeface="Aptos Display"/>
                <a:cs typeface="Aptos Display"/>
              </a:defRPr>
            </a:pPr>
            <a:r>
              <a:rPr sz="2550" b="1" i="0">
                <a:solidFill>
                  <a:srgbClr val="D9A124"/>
                </a:solidFill>
                <a:latin typeface="Aptos Display"/>
                <a:ea typeface="Aptos Display"/>
                <a:cs typeface="Aptos Display"/>
              </a:rPr>
              <a:t>7,0 %</a:t>
            </a:r>
          </a:p>
        </p:txBody>
      </p:sp>
      <p:sp>
        <p:nvSpPr>
          <p:cNvPr id="28" name="Rectangle 27">
            <a:extLst>
              <a:ext uri="{FF2B5EF4-FFF2-40B4-BE49-F238E27FC236}">
                <a16:creationId xmlns:a16="http://schemas.microsoft.com/office/drawing/2014/main" id="{5826F8FD-CC38-036C-4881-2E8658C08CB3}"/>
              </a:ext>
            </a:extLst>
          </p:cNvPr>
          <p:cNvSpPr>
            <a:spLocks noGrp="1"/>
          </p:cNvSpPr>
          <p:nvPr/>
        </p:nvSpPr>
        <p:spPr>
          <a:xfrm>
            <a:off x="4457700" y="5229225"/>
            <a:ext cx="2952750" cy="228600"/>
          </a:xfrm>
          <a:prstGeom prst="rect">
            <a:avLst/>
          </a:prstGeom>
          <a:noFill/>
          <a:ln w="0">
            <a:noFill/>
            <a:prstDash val="solid"/>
          </a:ln>
        </p:spPr>
        <p:txBody>
          <a:bodyPr/>
          <a:lstStyle/>
          <a:p>
            <a:pPr algn="l">
              <a:defRPr sz="1125" b="1" i="0">
                <a:solidFill>
                  <a:srgbClr val="051C2C"/>
                </a:solidFill>
                <a:latin typeface="Aptos"/>
                <a:ea typeface="Aptos"/>
                <a:cs typeface="Aptos"/>
              </a:defRPr>
            </a:pPr>
            <a:r>
              <a:rPr sz="1125" b="1" i="0">
                <a:solidFill>
                  <a:srgbClr val="051C2C"/>
                </a:solidFill>
                <a:latin typeface="Aptos"/>
                <a:ea typeface="Aptos"/>
                <a:cs typeface="Aptos"/>
              </a:rPr>
              <a:t>inkl. Kapitalerhaltungspuffer</a:t>
            </a:r>
          </a:p>
        </p:txBody>
      </p:sp>
      <p:sp>
        <p:nvSpPr>
          <p:cNvPr id="29" name="Rectangle 28">
            <a:extLst>
              <a:ext uri="{FF2B5EF4-FFF2-40B4-BE49-F238E27FC236}">
                <a16:creationId xmlns:a16="http://schemas.microsoft.com/office/drawing/2014/main" id="{BA505A36-88FE-BC6F-B32F-EACAE52D5B6C}"/>
              </a:ext>
            </a:extLst>
          </p:cNvPr>
          <p:cNvSpPr>
            <a:spLocks noGrp="1"/>
          </p:cNvSpPr>
          <p:nvPr/>
        </p:nvSpPr>
        <p:spPr>
          <a:xfrm>
            <a:off x="4457700" y="5534025"/>
            <a:ext cx="2952750" cy="180975"/>
          </a:xfrm>
          <a:prstGeom prst="rect">
            <a:avLst/>
          </a:prstGeom>
          <a:noFill/>
          <a:ln w="0">
            <a:noFill/>
            <a:prstDash val="solid"/>
          </a:ln>
        </p:spPr>
        <p:txBody>
          <a:bodyPr/>
          <a:lstStyle/>
          <a:p>
            <a:pPr algn="l">
              <a:defRPr sz="863" b="0" i="0">
                <a:solidFill>
                  <a:srgbClr val="4F6875"/>
                </a:solidFill>
                <a:latin typeface="Aptos"/>
                <a:ea typeface="Aptos"/>
                <a:cs typeface="Aptos"/>
              </a:defRPr>
            </a:pPr>
            <a:r>
              <a:rPr sz="863" b="0" i="0">
                <a:solidFill>
                  <a:srgbClr val="4F6875"/>
                </a:solidFill>
                <a:latin typeface="Aptos"/>
                <a:ea typeface="Aptos"/>
                <a:cs typeface="Aptos"/>
              </a:rPr>
              <a:t>Ausschüttungen unter Druck</a:t>
            </a:r>
          </a:p>
        </p:txBody>
      </p:sp>
      <p:sp>
        <p:nvSpPr>
          <p:cNvPr id="30" name="Rectangle: Rounded Corners 29">
            <a:extLst>
              <a:ext uri="{FF2B5EF4-FFF2-40B4-BE49-F238E27FC236}">
                <a16:creationId xmlns:a16="http://schemas.microsoft.com/office/drawing/2014/main" id="{CC7EC2BF-2058-09DC-3684-5E39EEC5B184}"/>
              </a:ext>
            </a:extLst>
          </p:cNvPr>
          <p:cNvSpPr>
            <a:spLocks noGrp="1"/>
          </p:cNvSpPr>
          <p:nvPr/>
        </p:nvSpPr>
        <p:spPr>
          <a:xfrm>
            <a:off x="7981950" y="4552950"/>
            <a:ext cx="3495675" cy="1362075"/>
          </a:xfrm>
          <a:prstGeom prst="roundRect">
            <a:avLst>
              <a:gd name="adj" fmla="val 8392"/>
            </a:avLst>
          </a:prstGeom>
          <a:solidFill>
            <a:srgbClr val="FFFFFF"/>
          </a:solidFill>
          <a:ln w="9525">
            <a:solidFill>
              <a:srgbClr val="D5E0E5"/>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31" name="Rectangle 30">
            <a:extLst>
              <a:ext uri="{FF2B5EF4-FFF2-40B4-BE49-F238E27FC236}">
                <a16:creationId xmlns:a16="http://schemas.microsoft.com/office/drawing/2014/main" id="{7B8D262E-FDF9-1F0C-C77D-41E0BC4BFA87}"/>
              </a:ext>
            </a:extLst>
          </p:cNvPr>
          <p:cNvSpPr>
            <a:spLocks noGrp="1"/>
          </p:cNvSpPr>
          <p:nvPr/>
        </p:nvSpPr>
        <p:spPr>
          <a:xfrm>
            <a:off x="7981950" y="4552950"/>
            <a:ext cx="76200" cy="1362075"/>
          </a:xfrm>
          <a:prstGeom prst="rect">
            <a:avLst/>
          </a:prstGeom>
          <a:solidFill>
            <a:srgbClr val="0B5D7A"/>
          </a:solidFill>
          <a:ln w="0">
            <a:noFill/>
            <a:prstDash val="solid"/>
          </a:ln>
        </p:spPr>
        <p:txBody>
          <a:bodyPr/>
          <a:lstStyle/>
          <a:p>
            <a:endParaRPr lang="en-US"/>
          </a:p>
        </p:txBody>
      </p:sp>
      <p:sp>
        <p:nvSpPr>
          <p:cNvPr id="32" name="Rectangle 31">
            <a:extLst>
              <a:ext uri="{FF2B5EF4-FFF2-40B4-BE49-F238E27FC236}">
                <a16:creationId xmlns:a16="http://schemas.microsoft.com/office/drawing/2014/main" id="{42A0C2A8-A5E6-B7FE-5F11-11BE9D8B562B}"/>
              </a:ext>
            </a:extLst>
          </p:cNvPr>
          <p:cNvSpPr>
            <a:spLocks noGrp="1"/>
          </p:cNvSpPr>
          <p:nvPr/>
        </p:nvSpPr>
        <p:spPr>
          <a:xfrm>
            <a:off x="8220075" y="4714875"/>
            <a:ext cx="1285875" cy="457200"/>
          </a:xfrm>
          <a:prstGeom prst="rect">
            <a:avLst/>
          </a:prstGeom>
          <a:noFill/>
          <a:ln w="0">
            <a:noFill/>
            <a:prstDash val="solid"/>
          </a:ln>
        </p:spPr>
        <p:txBody>
          <a:bodyPr/>
          <a:lstStyle/>
          <a:p>
            <a:pPr algn="l">
              <a:defRPr sz="2550" b="1" i="0">
                <a:solidFill>
                  <a:srgbClr val="0B5D7A"/>
                </a:solidFill>
                <a:latin typeface="Aptos Display"/>
                <a:ea typeface="Aptos Display"/>
                <a:cs typeface="Aptos Display"/>
              </a:defRPr>
            </a:pPr>
            <a:r>
              <a:rPr sz="2550" b="1" i="0">
                <a:solidFill>
                  <a:srgbClr val="0B5D7A"/>
                </a:solidFill>
                <a:latin typeface="Aptos Display"/>
                <a:ea typeface="Aptos Display"/>
                <a:cs typeface="Aptos Display"/>
              </a:rPr>
              <a:t>8,0 %</a:t>
            </a:r>
          </a:p>
        </p:txBody>
      </p:sp>
      <p:sp>
        <p:nvSpPr>
          <p:cNvPr id="33" name="Rectangle 32">
            <a:extLst>
              <a:ext uri="{FF2B5EF4-FFF2-40B4-BE49-F238E27FC236}">
                <a16:creationId xmlns:a16="http://schemas.microsoft.com/office/drawing/2014/main" id="{19E058A4-E6E8-E1EC-5CE0-971D77A9D616}"/>
              </a:ext>
            </a:extLst>
          </p:cNvPr>
          <p:cNvSpPr>
            <a:spLocks noGrp="1"/>
          </p:cNvSpPr>
          <p:nvPr/>
        </p:nvSpPr>
        <p:spPr>
          <a:xfrm>
            <a:off x="8220075" y="5229225"/>
            <a:ext cx="2952750" cy="228600"/>
          </a:xfrm>
          <a:prstGeom prst="rect">
            <a:avLst/>
          </a:prstGeom>
          <a:noFill/>
          <a:ln w="0">
            <a:noFill/>
            <a:prstDash val="solid"/>
          </a:ln>
        </p:spPr>
        <p:txBody>
          <a:bodyPr/>
          <a:lstStyle/>
          <a:p>
            <a:pPr algn="l">
              <a:defRPr sz="1125" b="1" i="0">
                <a:solidFill>
                  <a:srgbClr val="051C2C"/>
                </a:solidFill>
                <a:latin typeface="Aptos"/>
                <a:ea typeface="Aptos"/>
                <a:cs typeface="Aptos"/>
              </a:defRPr>
            </a:pPr>
            <a:r>
              <a:rPr sz="1125" b="1" i="0">
                <a:solidFill>
                  <a:srgbClr val="051C2C"/>
                </a:solidFill>
                <a:latin typeface="Aptos"/>
                <a:ea typeface="Aptos"/>
                <a:cs typeface="Aptos"/>
              </a:rPr>
              <a:t>typischer SREP-Orientierungswert</a:t>
            </a:r>
          </a:p>
        </p:txBody>
      </p:sp>
      <p:sp>
        <p:nvSpPr>
          <p:cNvPr id="34" name="Rectangle 33">
            <a:extLst>
              <a:ext uri="{FF2B5EF4-FFF2-40B4-BE49-F238E27FC236}">
                <a16:creationId xmlns:a16="http://schemas.microsoft.com/office/drawing/2014/main" id="{3708D665-CCC6-D93A-D4C4-CA369EED2A04}"/>
              </a:ext>
            </a:extLst>
          </p:cNvPr>
          <p:cNvSpPr>
            <a:spLocks noGrp="1"/>
          </p:cNvSpPr>
          <p:nvPr/>
        </p:nvSpPr>
        <p:spPr>
          <a:xfrm>
            <a:off x="8220075" y="5534025"/>
            <a:ext cx="2952750" cy="180975"/>
          </a:xfrm>
          <a:prstGeom prst="rect">
            <a:avLst/>
          </a:prstGeom>
          <a:noFill/>
          <a:ln w="0">
            <a:noFill/>
            <a:prstDash val="solid"/>
          </a:ln>
        </p:spPr>
        <p:txBody>
          <a:bodyPr/>
          <a:lstStyle/>
          <a:p>
            <a:pPr algn="l">
              <a:defRPr sz="863" b="0" i="0">
                <a:solidFill>
                  <a:srgbClr val="4F6875"/>
                </a:solidFill>
                <a:latin typeface="Aptos"/>
                <a:ea typeface="Aptos"/>
                <a:cs typeface="Aptos"/>
              </a:defRPr>
            </a:pPr>
            <a:r>
              <a:rPr sz="863" b="0" i="0">
                <a:solidFill>
                  <a:srgbClr val="4F6875"/>
                </a:solidFill>
                <a:latin typeface="Aptos"/>
                <a:ea typeface="Aptos"/>
                <a:cs typeface="Aptos"/>
              </a:rPr>
              <a:t>institutsspezifischer Puffer</a:t>
            </a:r>
          </a:p>
        </p:txBody>
      </p:sp>
      <p:sp>
        <p:nvSpPr>
          <p:cNvPr id="35" name="Rectangle 34">
            <a:extLst>
              <a:ext uri="{FF2B5EF4-FFF2-40B4-BE49-F238E27FC236}">
                <a16:creationId xmlns:a16="http://schemas.microsoft.com/office/drawing/2014/main" id="{F46DF978-60B9-97AE-FAE1-1D5E156ADCA2}"/>
              </a:ext>
            </a:extLst>
          </p:cNvPr>
          <p:cNvSpPr>
            <a:spLocks noGrp="1"/>
          </p:cNvSpPr>
          <p:nvPr/>
        </p:nvSpPr>
        <p:spPr>
          <a:xfrm>
            <a:off x="457200" y="6486525"/>
            <a:ext cx="10382250" cy="152400"/>
          </a:xfrm>
          <a:prstGeom prst="rect">
            <a:avLst/>
          </a:prstGeom>
          <a:noFill/>
          <a:ln w="0">
            <a:noFill/>
            <a:prstDash val="solid"/>
          </a:ln>
        </p:spPr>
        <p:txBody>
          <a:bodyPr/>
          <a:lstStyle/>
          <a:p>
            <a:pPr algn="l">
              <a:defRPr sz="653" b="0" i="0">
                <a:solidFill>
                  <a:srgbClr val="71858F"/>
                </a:solidFill>
                <a:latin typeface="Aptos"/>
                <a:ea typeface="Aptos"/>
                <a:cs typeface="Aptos"/>
              </a:defRPr>
            </a:pPr>
            <a:r>
              <a:rPr sz="653" b="0" i="0">
                <a:solidFill>
                  <a:srgbClr val="71858F"/>
                </a:solidFill>
                <a:latin typeface="Aptos"/>
                <a:ea typeface="Aptos"/>
                <a:cs typeface="Aptos"/>
              </a:rPr>
              <a:t>Quelle: Basel III / CRR · Modell-Cockpit · Schwellen dienen der Einordnung, nicht als bankspezifische SREP-Prognose</a:t>
            </a:r>
          </a:p>
        </p:txBody>
      </p:sp>
      <p:sp>
        <p:nvSpPr>
          <p:cNvPr id="5" name="CodexSlideNumber">
            <a:extLst>
              <a:ext uri="{FF2B5EF4-FFF2-40B4-BE49-F238E27FC236}">
                <a16:creationId xmlns:a16="http://schemas.microsoft.com/office/drawing/2014/main" id="{6F7936B6-CD32-B642-A414-0424645DC715}"/>
              </a:ext>
            </a:extLst>
          </p:cNvPr>
          <p:cNvSpPr txBox="1"/>
          <p:nvPr/>
        </p:nvSpPr>
        <p:spPr>
          <a:xfrm>
            <a:off x="11226800" y="6553200"/>
            <a:ext cx="736600" cy="123111"/>
          </a:xfrm>
          <a:prstGeom prst="rect">
            <a:avLst/>
          </a:prstGeom>
          <a:noFill/>
        </p:spPr>
        <p:txBody>
          <a:bodyPr vert="horz" lIns="0" tIns="0" rIns="0" bIns="0" rtlCol="0">
            <a:spAutoFit/>
          </a:bodyPr>
          <a:lstStyle/>
          <a:p>
            <a:pPr algn="r"/>
            <a:r>
              <a:rPr lang="en-US" sz="800">
                <a:solidFill>
                  <a:srgbClr val="525252"/>
                </a:solidFill>
                <a:latin typeface="Arial" panose="020B0604020202020204" pitchFamily="34" charset="0"/>
              </a:rPr>
              <a:t>30 / 64</a:t>
            </a:r>
          </a:p>
        </p:txBody>
      </p:sp>
    </p:spTree>
    <p:extLst>
      <p:ext uri="{BB962C8B-B14F-4D97-AF65-F5344CB8AC3E}">
        <p14:creationId xmlns:p14="http://schemas.microsoft.com/office/powerpoint/2010/main" val="337577137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name="Slide 13">
    <p:bg>
      <p:bgPr>
        <a:solidFill>
          <a:srgbClr val="16243F"/>
        </a:solidFill>
        <a:effectLst/>
      </p:bgPr>
    </p:bg>
    <p:spTree>
      <p:nvGrpSpPr>
        <p:cNvPr id="1" name=""/>
        <p:cNvGrpSpPr/>
        <p:nvPr/>
      </p:nvGrpSpPr>
      <p:grpSpPr>
        <a:xfrm>
          <a:off x="0" y="0"/>
          <a:ext cx="0" cy="0"/>
          <a:chOff x="0" y="0"/>
          <a:chExt cx="0" cy="0"/>
        </a:xfrm>
      </p:grpSpPr>
      <p:sp>
        <p:nvSpPr>
          <p:cNvPr id="3" name="Text 1"/>
          <p:cNvSpPr/>
          <p:nvPr/>
        </p:nvSpPr>
        <p:spPr>
          <a:xfrm>
            <a:off x="640080" y="548640"/>
            <a:ext cx="9144000" cy="365760"/>
          </a:xfrm>
          <a:prstGeom prst="rect">
            <a:avLst/>
          </a:prstGeom>
          <a:noFill/>
          <a:ln/>
        </p:spPr>
        <p:txBody>
          <a:bodyPr wrap="square" lIns="0" tIns="0" rIns="0" bIns="0" rtlCol="0" anchor="ctr"/>
          <a:lstStyle/>
          <a:p>
            <a:pPr>
              <a:buNone/>
              <a:defRPr sz="863" b="1" i="0">
                <a:solidFill>
                  <a:srgbClr val="A52F4D"/>
                </a:solidFill>
                <a:latin typeface="Aptos"/>
                <a:ea typeface="Aptos"/>
                <a:cs typeface="Aptos"/>
              </a:defRPr>
            </a:pPr>
            <a:r>
              <a:rPr lang="en-US" sz="863" b="1">
                <a:solidFill>
                  <a:schemeClr val="bg1"/>
                </a:solidFill>
                <a:latin typeface="Aptos"/>
              </a:rPr>
              <a:t>ZUSAMMENFASSUNG · KREDITBUCH</a:t>
            </a:r>
          </a:p>
        </p:txBody>
      </p:sp>
      <p:sp>
        <p:nvSpPr>
          <p:cNvPr id="4" name="Text 2"/>
          <p:cNvSpPr/>
          <p:nvPr/>
        </p:nvSpPr>
        <p:spPr>
          <a:xfrm>
            <a:off x="640080" y="960120"/>
            <a:ext cx="10515600" cy="731520"/>
          </a:xfrm>
          <a:prstGeom prst="rect">
            <a:avLst/>
          </a:prstGeom>
          <a:noFill/>
          <a:ln/>
        </p:spPr>
        <p:txBody>
          <a:bodyPr wrap="square" lIns="0" tIns="0" rIns="0" bIns="0" rtlCol="0" anchor="ctr"/>
          <a:lstStyle/>
          <a:p>
            <a:pPr>
              <a:buNone/>
              <a:defRPr sz="2475" b="1" i="0">
                <a:solidFill>
                  <a:srgbClr val="051C2C"/>
                </a:solidFill>
                <a:latin typeface="Aptos Display"/>
                <a:ea typeface="Aptos Display"/>
                <a:cs typeface="Aptos Display"/>
              </a:defRPr>
            </a:pPr>
            <a:r>
              <a:rPr lang="en-US" sz="2475" b="1">
                <a:solidFill>
                  <a:schemeClr val="bg1"/>
                </a:solidFill>
                <a:latin typeface="Aptos Display"/>
              </a:rPr>
              <a:t>Die Kernbotschaft des Kreditbuch-Kanals</a:t>
            </a:r>
          </a:p>
        </p:txBody>
      </p:sp>
      <p:sp>
        <p:nvSpPr>
          <p:cNvPr id="5" name="Shape 3"/>
          <p:cNvSpPr/>
          <p:nvPr/>
        </p:nvSpPr>
        <p:spPr>
          <a:xfrm>
            <a:off x="640080" y="1965960"/>
            <a:ext cx="502920" cy="502920"/>
          </a:xfrm>
          <a:prstGeom prst="ellipse">
            <a:avLst/>
          </a:prstGeom>
          <a:solidFill>
            <a:srgbClr val="C9A24B"/>
          </a:solidFill>
          <a:ln/>
        </p:spPr>
        <p:txBody>
          <a:bodyPr/>
          <a:lstStyle/>
          <a:p>
            <a:endParaRPr lang="de-DE"/>
          </a:p>
        </p:txBody>
      </p:sp>
      <p:sp>
        <p:nvSpPr>
          <p:cNvPr id="6" name="Text 4"/>
          <p:cNvSpPr/>
          <p:nvPr/>
        </p:nvSpPr>
        <p:spPr>
          <a:xfrm>
            <a:off x="640080" y="1965960"/>
            <a:ext cx="502920" cy="502920"/>
          </a:xfrm>
          <a:prstGeom prst="rect">
            <a:avLst/>
          </a:prstGeom>
          <a:noFill/>
          <a:ln/>
        </p:spPr>
        <p:txBody>
          <a:bodyPr wrap="square" lIns="0" tIns="0" rIns="0" bIns="0" rtlCol="0" anchor="ctr"/>
          <a:lstStyle/>
          <a:p>
            <a:pPr marL="0" indent="0" algn="ctr">
              <a:buNone/>
            </a:pPr>
            <a:r>
              <a:rPr lang="en-US" sz="1600" b="1">
                <a:solidFill>
                  <a:srgbClr val="16243F"/>
                </a:solidFill>
                <a:latin typeface="Cambria" pitchFamily="34" charset="0"/>
                <a:ea typeface="Cambria" pitchFamily="34" charset="-122"/>
                <a:cs typeface="Cambria" pitchFamily="34" charset="-120"/>
              </a:rPr>
              <a:t>1</a:t>
            </a:r>
            <a:endParaRPr lang="en-US" sz="1600"/>
          </a:p>
        </p:txBody>
      </p:sp>
      <p:sp>
        <p:nvSpPr>
          <p:cNvPr id="7" name="Text 5"/>
          <p:cNvSpPr/>
          <p:nvPr/>
        </p:nvSpPr>
        <p:spPr>
          <a:xfrm>
            <a:off x="1325880" y="1938528"/>
            <a:ext cx="9875520" cy="365760"/>
          </a:xfrm>
          <a:prstGeom prst="rect">
            <a:avLst/>
          </a:prstGeom>
          <a:noFill/>
          <a:ln/>
        </p:spPr>
        <p:txBody>
          <a:bodyPr wrap="square" lIns="0" tIns="0" rIns="0" bIns="0" rtlCol="0" anchor="ctr"/>
          <a:lstStyle/>
          <a:p>
            <a:pPr marL="0" indent="0">
              <a:buNone/>
            </a:pPr>
            <a:r>
              <a:rPr lang="en-US" sz="1500" b="1">
                <a:solidFill>
                  <a:srgbClr val="FFFFFF"/>
                </a:solidFill>
                <a:latin typeface="Calibri" pitchFamily="34" charset="0"/>
                <a:ea typeface="Calibri" pitchFamily="34" charset="-122"/>
                <a:cs typeface="Calibri" pitchFamily="34" charset="-120"/>
              </a:rPr>
              <a:t>Vier Bausteine, eine Formel</a:t>
            </a:r>
            <a:endParaRPr lang="en-US" sz="1500"/>
          </a:p>
        </p:txBody>
      </p:sp>
      <p:sp>
        <p:nvSpPr>
          <p:cNvPr id="8" name="Text 6"/>
          <p:cNvSpPr/>
          <p:nvPr/>
        </p:nvSpPr>
        <p:spPr>
          <a:xfrm>
            <a:off x="1325880" y="2304288"/>
            <a:ext cx="9875520" cy="457200"/>
          </a:xfrm>
          <a:prstGeom prst="rect">
            <a:avLst/>
          </a:prstGeom>
          <a:noFill/>
          <a:ln/>
        </p:spPr>
        <p:txBody>
          <a:bodyPr wrap="square" lIns="0" tIns="0" rIns="0" bIns="0" rtlCol="0" anchor="ctr"/>
          <a:lstStyle/>
          <a:p>
            <a:pPr marL="0" indent="0">
              <a:lnSpc>
                <a:spcPct val="120000"/>
              </a:lnSpc>
              <a:buNone/>
            </a:pPr>
            <a:r>
              <a:rPr lang="en-US" sz="1200">
                <a:solidFill>
                  <a:srgbClr val="D9E2F3"/>
                </a:solidFill>
                <a:latin typeface="Calibri" pitchFamily="34" charset="0"/>
                <a:ea typeface="Calibri" pitchFamily="34" charset="-122"/>
                <a:cs typeface="Calibri" pitchFamily="34" charset="-120"/>
              </a:rPr>
              <a:t>PD × LGD × EAD = EL - bank-spezifisch aus Pillar-3-Daten, sektor-differenziert über 2-Faktor-Stress.</a:t>
            </a:r>
            <a:endParaRPr lang="en-US" sz="1200"/>
          </a:p>
        </p:txBody>
      </p:sp>
      <p:sp>
        <p:nvSpPr>
          <p:cNvPr id="9" name="Shape 7"/>
          <p:cNvSpPr/>
          <p:nvPr/>
        </p:nvSpPr>
        <p:spPr>
          <a:xfrm>
            <a:off x="640080" y="3017520"/>
            <a:ext cx="502920" cy="502920"/>
          </a:xfrm>
          <a:prstGeom prst="ellipse">
            <a:avLst/>
          </a:prstGeom>
          <a:solidFill>
            <a:srgbClr val="C9A24B"/>
          </a:solidFill>
          <a:ln/>
        </p:spPr>
        <p:txBody>
          <a:bodyPr/>
          <a:lstStyle/>
          <a:p>
            <a:endParaRPr lang="de-DE"/>
          </a:p>
        </p:txBody>
      </p:sp>
      <p:sp>
        <p:nvSpPr>
          <p:cNvPr id="10" name="Text 8"/>
          <p:cNvSpPr/>
          <p:nvPr/>
        </p:nvSpPr>
        <p:spPr>
          <a:xfrm>
            <a:off x="640080" y="3017520"/>
            <a:ext cx="502920" cy="502920"/>
          </a:xfrm>
          <a:prstGeom prst="rect">
            <a:avLst/>
          </a:prstGeom>
          <a:noFill/>
          <a:ln/>
        </p:spPr>
        <p:txBody>
          <a:bodyPr wrap="square" lIns="0" tIns="0" rIns="0" bIns="0" rtlCol="0" anchor="ctr"/>
          <a:lstStyle/>
          <a:p>
            <a:pPr marL="0" indent="0" algn="ctr">
              <a:buNone/>
            </a:pPr>
            <a:r>
              <a:rPr lang="en-US" sz="1600" b="1">
                <a:solidFill>
                  <a:srgbClr val="16243F"/>
                </a:solidFill>
                <a:latin typeface="Cambria" pitchFamily="34" charset="0"/>
                <a:ea typeface="Cambria" pitchFamily="34" charset="-122"/>
                <a:cs typeface="Cambria" pitchFamily="34" charset="-120"/>
              </a:rPr>
              <a:t>2</a:t>
            </a:r>
            <a:endParaRPr lang="en-US" sz="1600"/>
          </a:p>
        </p:txBody>
      </p:sp>
      <p:sp>
        <p:nvSpPr>
          <p:cNvPr id="11" name="Text 9"/>
          <p:cNvSpPr/>
          <p:nvPr/>
        </p:nvSpPr>
        <p:spPr>
          <a:xfrm>
            <a:off x="1325880" y="2990088"/>
            <a:ext cx="9875520" cy="365760"/>
          </a:xfrm>
          <a:prstGeom prst="rect">
            <a:avLst/>
          </a:prstGeom>
          <a:noFill/>
          <a:ln/>
        </p:spPr>
        <p:txBody>
          <a:bodyPr wrap="square" lIns="0" tIns="0" rIns="0" bIns="0" rtlCol="0" anchor="ctr"/>
          <a:lstStyle/>
          <a:p>
            <a:pPr marL="0" indent="0">
              <a:buNone/>
            </a:pPr>
            <a:r>
              <a:rPr lang="en-US" sz="1500" b="1">
                <a:solidFill>
                  <a:srgbClr val="FFFFFF"/>
                </a:solidFill>
                <a:latin typeface="Calibri" pitchFamily="34" charset="0"/>
                <a:ea typeface="Calibri" pitchFamily="34" charset="-122"/>
                <a:cs typeface="Calibri" pitchFamily="34" charset="-120"/>
              </a:rPr>
              <a:t>Sequentielle Capital Bridge</a:t>
            </a:r>
            <a:endParaRPr lang="en-US" sz="1500"/>
          </a:p>
        </p:txBody>
      </p:sp>
      <p:sp>
        <p:nvSpPr>
          <p:cNvPr id="12" name="Text 10"/>
          <p:cNvSpPr/>
          <p:nvPr/>
        </p:nvSpPr>
        <p:spPr>
          <a:xfrm>
            <a:off x="1325880" y="3355848"/>
            <a:ext cx="9875520" cy="457200"/>
          </a:xfrm>
          <a:prstGeom prst="rect">
            <a:avLst/>
          </a:prstGeom>
          <a:noFill/>
          <a:ln/>
        </p:spPr>
        <p:txBody>
          <a:bodyPr wrap="square" lIns="0" tIns="0" rIns="0" bIns="0" rtlCol="0" anchor="ctr"/>
          <a:lstStyle/>
          <a:p>
            <a:pPr marL="0" indent="0">
              <a:lnSpc>
                <a:spcPct val="120000"/>
              </a:lnSpc>
              <a:buNone/>
            </a:pPr>
            <a:r>
              <a:rPr lang="en-US" sz="1200">
                <a:solidFill>
                  <a:srgbClr val="D9E2F3"/>
                </a:solidFill>
                <a:latin typeface="Calibri" pitchFamily="34" charset="0"/>
                <a:ea typeface="Calibri" pitchFamily="34" charset="-122"/>
                <a:cs typeface="Calibri" pitchFamily="34" charset="-120"/>
              </a:rPr>
              <a:t>Erst PD-Shift, dann LGD-Shift - beide Beiträge summieren sich exakt zu ΔEL, ΔK und ΔRWA.</a:t>
            </a:r>
            <a:endParaRPr lang="en-US" sz="1200"/>
          </a:p>
        </p:txBody>
      </p:sp>
      <p:sp>
        <p:nvSpPr>
          <p:cNvPr id="13" name="Shape 11"/>
          <p:cNvSpPr/>
          <p:nvPr/>
        </p:nvSpPr>
        <p:spPr>
          <a:xfrm>
            <a:off x="640080" y="4069080"/>
            <a:ext cx="502920" cy="502920"/>
          </a:xfrm>
          <a:prstGeom prst="ellipse">
            <a:avLst/>
          </a:prstGeom>
          <a:solidFill>
            <a:srgbClr val="C9A24B"/>
          </a:solidFill>
          <a:ln/>
        </p:spPr>
        <p:txBody>
          <a:bodyPr/>
          <a:lstStyle/>
          <a:p>
            <a:endParaRPr lang="de-DE"/>
          </a:p>
        </p:txBody>
      </p:sp>
      <p:sp>
        <p:nvSpPr>
          <p:cNvPr id="14" name="Text 12"/>
          <p:cNvSpPr/>
          <p:nvPr/>
        </p:nvSpPr>
        <p:spPr>
          <a:xfrm>
            <a:off x="640080" y="4069080"/>
            <a:ext cx="502920" cy="502920"/>
          </a:xfrm>
          <a:prstGeom prst="rect">
            <a:avLst/>
          </a:prstGeom>
          <a:noFill/>
          <a:ln/>
        </p:spPr>
        <p:txBody>
          <a:bodyPr wrap="square" lIns="0" tIns="0" rIns="0" bIns="0" rtlCol="0" anchor="ctr"/>
          <a:lstStyle/>
          <a:p>
            <a:pPr marL="0" indent="0" algn="ctr">
              <a:buNone/>
            </a:pPr>
            <a:r>
              <a:rPr lang="en-US" sz="1600" b="1">
                <a:solidFill>
                  <a:srgbClr val="16243F"/>
                </a:solidFill>
                <a:latin typeface="Cambria" pitchFamily="34" charset="0"/>
                <a:ea typeface="Cambria" pitchFamily="34" charset="-122"/>
                <a:cs typeface="Cambria" pitchFamily="34" charset="-120"/>
              </a:rPr>
              <a:t>3</a:t>
            </a:r>
            <a:endParaRPr lang="en-US" sz="1600"/>
          </a:p>
        </p:txBody>
      </p:sp>
      <p:sp>
        <p:nvSpPr>
          <p:cNvPr id="15" name="Text 13"/>
          <p:cNvSpPr/>
          <p:nvPr/>
        </p:nvSpPr>
        <p:spPr>
          <a:xfrm>
            <a:off x="1325880" y="4041648"/>
            <a:ext cx="9875520" cy="365760"/>
          </a:xfrm>
          <a:prstGeom prst="rect">
            <a:avLst/>
          </a:prstGeom>
          <a:noFill/>
          <a:ln/>
        </p:spPr>
        <p:txBody>
          <a:bodyPr wrap="square" lIns="0" tIns="0" rIns="0" bIns="0" rtlCol="0" anchor="ctr"/>
          <a:lstStyle/>
          <a:p>
            <a:pPr marL="0" indent="0">
              <a:buNone/>
            </a:pPr>
            <a:r>
              <a:rPr lang="en-US" sz="1500" b="1">
                <a:solidFill>
                  <a:srgbClr val="FFFFFF"/>
                </a:solidFill>
                <a:latin typeface="Calibri" pitchFamily="34" charset="0"/>
                <a:ea typeface="Calibri" pitchFamily="34" charset="-122"/>
                <a:cs typeface="Calibri" pitchFamily="34" charset="-120"/>
              </a:rPr>
              <a:t>Systemweit signifikant</a:t>
            </a:r>
            <a:endParaRPr lang="en-US" sz="1500"/>
          </a:p>
        </p:txBody>
      </p:sp>
      <p:sp>
        <p:nvSpPr>
          <p:cNvPr id="16" name="Text 14"/>
          <p:cNvSpPr/>
          <p:nvPr/>
        </p:nvSpPr>
        <p:spPr>
          <a:xfrm>
            <a:off x="1325880" y="4407408"/>
            <a:ext cx="9875520" cy="457200"/>
          </a:xfrm>
          <a:prstGeom prst="rect">
            <a:avLst/>
          </a:prstGeom>
          <a:noFill/>
          <a:ln/>
        </p:spPr>
        <p:txBody>
          <a:bodyPr wrap="square" lIns="0" tIns="0" rIns="0" bIns="0" rtlCol="0" anchor="ctr"/>
          <a:lstStyle/>
          <a:p>
            <a:pPr marL="0" indent="0">
              <a:lnSpc>
                <a:spcPct val="120000"/>
              </a:lnSpc>
              <a:buNone/>
            </a:pPr>
            <a:r>
              <a:rPr lang="en-US" sz="1200" err="1">
                <a:solidFill>
                  <a:srgbClr val="D9E2F3"/>
                </a:solidFill>
                <a:latin typeface="Calibri"/>
                <a:ea typeface="Calibri"/>
                <a:cs typeface="Calibri"/>
              </a:rPr>
              <a:t>Über</a:t>
            </a:r>
            <a:r>
              <a:rPr lang="en-US" sz="1200">
                <a:solidFill>
                  <a:srgbClr val="D9E2F3"/>
                </a:solidFill>
                <a:latin typeface="Calibri"/>
                <a:ea typeface="Calibri"/>
                <a:cs typeface="Calibri"/>
              </a:rPr>
              <a:t> 10 Banken </a:t>
            </a:r>
            <a:r>
              <a:rPr lang="en-US" sz="1200" err="1">
                <a:solidFill>
                  <a:srgbClr val="D9E2F3"/>
                </a:solidFill>
                <a:latin typeface="Calibri"/>
                <a:ea typeface="Calibri"/>
                <a:cs typeface="Calibri"/>
              </a:rPr>
              <a:t>steigt</a:t>
            </a:r>
            <a:r>
              <a:rPr lang="en-US" sz="1200">
                <a:solidFill>
                  <a:srgbClr val="D9E2F3"/>
                </a:solidFill>
                <a:latin typeface="Calibri"/>
                <a:ea typeface="Calibri"/>
                <a:cs typeface="Calibri"/>
              </a:rPr>
              <a:t> EL um €21,5 </a:t>
            </a:r>
            <a:r>
              <a:rPr lang="en-US" sz="1200" err="1">
                <a:solidFill>
                  <a:srgbClr val="D9E2F3"/>
                </a:solidFill>
                <a:latin typeface="Calibri"/>
                <a:ea typeface="Calibri"/>
                <a:cs typeface="Calibri"/>
              </a:rPr>
              <a:t>Mrd</a:t>
            </a:r>
            <a:r>
              <a:rPr lang="en-US" sz="1200">
                <a:solidFill>
                  <a:srgbClr val="D9E2F3"/>
                </a:solidFill>
                <a:latin typeface="Calibri"/>
                <a:ea typeface="Calibri"/>
                <a:cs typeface="Calibri"/>
              </a:rPr>
              <a:t>., RWA um €519 </a:t>
            </a:r>
            <a:r>
              <a:rPr lang="en-US" sz="1200" err="1">
                <a:solidFill>
                  <a:srgbClr val="D9E2F3"/>
                </a:solidFill>
                <a:latin typeface="Calibri"/>
                <a:ea typeface="Calibri"/>
                <a:cs typeface="Calibri"/>
              </a:rPr>
              <a:t>Mrd</a:t>
            </a:r>
            <a:r>
              <a:rPr lang="en-US" sz="1200">
                <a:solidFill>
                  <a:srgbClr val="D9E2F3"/>
                </a:solidFill>
                <a:latin typeface="Calibri"/>
                <a:ea typeface="Calibri"/>
                <a:cs typeface="Calibri"/>
              </a:rPr>
              <a:t>. - </a:t>
            </a:r>
            <a:r>
              <a:rPr lang="en-US" sz="1200" err="1">
                <a:solidFill>
                  <a:srgbClr val="D9E2F3"/>
                </a:solidFill>
                <a:latin typeface="Calibri"/>
                <a:ea typeface="Calibri"/>
                <a:cs typeface="Calibri"/>
              </a:rPr>
              <a:t>beides</a:t>
            </a:r>
            <a:r>
              <a:rPr lang="en-US" sz="1200">
                <a:solidFill>
                  <a:srgbClr val="D9E2F3"/>
                </a:solidFill>
                <a:latin typeface="Calibri"/>
                <a:ea typeface="Calibri"/>
                <a:cs typeface="Calibri"/>
              </a:rPr>
              <a:t> </a:t>
            </a:r>
            <a:r>
              <a:rPr lang="en-US" sz="1200" err="1">
                <a:solidFill>
                  <a:srgbClr val="D9E2F3"/>
                </a:solidFill>
                <a:latin typeface="Calibri"/>
                <a:ea typeface="Calibri"/>
                <a:cs typeface="Calibri"/>
              </a:rPr>
              <a:t>verdünnt</a:t>
            </a:r>
            <a:r>
              <a:rPr lang="en-US" sz="1200">
                <a:solidFill>
                  <a:srgbClr val="D9E2F3"/>
                </a:solidFill>
                <a:latin typeface="Calibri"/>
                <a:ea typeface="Calibri"/>
                <a:cs typeface="Calibri"/>
              </a:rPr>
              <a:t> die CET1-Quote.</a:t>
            </a:r>
            <a:endParaRPr lang="en-US" sz="1200">
              <a:latin typeface="Calibri"/>
              <a:ea typeface="Calibri"/>
              <a:cs typeface="Calibri"/>
            </a:endParaRPr>
          </a:p>
        </p:txBody>
      </p:sp>
      <p:sp>
        <p:nvSpPr>
          <p:cNvPr id="17" name="Shape 15"/>
          <p:cNvSpPr/>
          <p:nvPr/>
        </p:nvSpPr>
        <p:spPr>
          <a:xfrm>
            <a:off x="640080" y="5120640"/>
            <a:ext cx="502920" cy="502920"/>
          </a:xfrm>
          <a:prstGeom prst="ellipse">
            <a:avLst/>
          </a:prstGeom>
          <a:solidFill>
            <a:srgbClr val="C9A24B"/>
          </a:solidFill>
          <a:ln/>
        </p:spPr>
        <p:txBody>
          <a:bodyPr/>
          <a:lstStyle/>
          <a:p>
            <a:endParaRPr lang="de-DE"/>
          </a:p>
        </p:txBody>
      </p:sp>
      <p:sp>
        <p:nvSpPr>
          <p:cNvPr id="18" name="Text 16"/>
          <p:cNvSpPr/>
          <p:nvPr/>
        </p:nvSpPr>
        <p:spPr>
          <a:xfrm>
            <a:off x="640080" y="5120640"/>
            <a:ext cx="502920" cy="502920"/>
          </a:xfrm>
          <a:prstGeom prst="rect">
            <a:avLst/>
          </a:prstGeom>
          <a:noFill/>
          <a:ln/>
        </p:spPr>
        <p:txBody>
          <a:bodyPr wrap="square" lIns="0" tIns="0" rIns="0" bIns="0" rtlCol="0" anchor="ctr"/>
          <a:lstStyle/>
          <a:p>
            <a:pPr marL="0" indent="0" algn="ctr">
              <a:buNone/>
            </a:pPr>
            <a:r>
              <a:rPr lang="en-US" sz="1600" b="1">
                <a:solidFill>
                  <a:srgbClr val="16243F"/>
                </a:solidFill>
                <a:latin typeface="Cambria" pitchFamily="34" charset="0"/>
                <a:ea typeface="Cambria" pitchFamily="34" charset="-122"/>
                <a:cs typeface="Cambria" pitchFamily="34" charset="-120"/>
              </a:rPr>
              <a:t>4</a:t>
            </a:r>
            <a:endParaRPr lang="en-US" sz="1600"/>
          </a:p>
        </p:txBody>
      </p:sp>
      <p:sp>
        <p:nvSpPr>
          <p:cNvPr id="19" name="Text 17"/>
          <p:cNvSpPr/>
          <p:nvPr/>
        </p:nvSpPr>
        <p:spPr>
          <a:xfrm>
            <a:off x="1325880" y="5093208"/>
            <a:ext cx="9875520" cy="365760"/>
          </a:xfrm>
          <a:prstGeom prst="rect">
            <a:avLst/>
          </a:prstGeom>
          <a:noFill/>
          <a:ln/>
        </p:spPr>
        <p:txBody>
          <a:bodyPr wrap="square" lIns="0" tIns="0" rIns="0" bIns="0" rtlCol="0" anchor="ctr"/>
          <a:lstStyle/>
          <a:p>
            <a:pPr marL="0" indent="0">
              <a:buNone/>
            </a:pPr>
            <a:r>
              <a:rPr lang="en-US" sz="1500" b="1">
                <a:solidFill>
                  <a:srgbClr val="FFFFFF"/>
                </a:solidFill>
                <a:latin typeface="Calibri" pitchFamily="34" charset="0"/>
                <a:ea typeface="Calibri" pitchFamily="34" charset="-122"/>
                <a:cs typeface="Calibri" pitchFamily="34" charset="-120"/>
              </a:rPr>
              <a:t>Geschäftsmodell entscheidet</a:t>
            </a:r>
            <a:endParaRPr lang="en-US" sz="1500"/>
          </a:p>
        </p:txBody>
      </p:sp>
      <p:sp>
        <p:nvSpPr>
          <p:cNvPr id="20" name="Text 18"/>
          <p:cNvSpPr/>
          <p:nvPr/>
        </p:nvSpPr>
        <p:spPr>
          <a:xfrm>
            <a:off x="1325880" y="5458968"/>
            <a:ext cx="9875520" cy="457200"/>
          </a:xfrm>
          <a:prstGeom prst="rect">
            <a:avLst/>
          </a:prstGeom>
          <a:noFill/>
          <a:ln/>
        </p:spPr>
        <p:txBody>
          <a:bodyPr wrap="square" lIns="0" tIns="0" rIns="0" bIns="0" rtlCol="0" anchor="ctr"/>
          <a:lstStyle/>
          <a:p>
            <a:pPr marL="0" indent="0">
              <a:lnSpc>
                <a:spcPct val="120000"/>
              </a:lnSpc>
              <a:buNone/>
            </a:pPr>
            <a:r>
              <a:rPr lang="en-US" sz="1200">
                <a:solidFill>
                  <a:srgbClr val="D9E2F3"/>
                </a:solidFill>
                <a:latin typeface="Calibri" pitchFamily="34" charset="0"/>
                <a:ea typeface="Calibri" pitchFamily="34" charset="-122"/>
                <a:cs typeface="Calibri" pitchFamily="34" charset="-120"/>
              </a:rPr>
              <a:t>Deutsche Bank: Zins-getrieben (Mortgage). Crédit Agricole: Öl-getrieben (Retail). Gleicher Schock, andere Wirkung.</a:t>
            </a:r>
            <a:endParaRPr lang="en-US" sz="1200"/>
          </a:p>
        </p:txBody>
      </p:sp>
      <p:sp>
        <p:nvSpPr>
          <p:cNvPr id="21" name="Text 19"/>
          <p:cNvSpPr/>
          <p:nvPr/>
        </p:nvSpPr>
        <p:spPr>
          <a:xfrm>
            <a:off x="640080" y="6263640"/>
            <a:ext cx="10698480" cy="365760"/>
          </a:xfrm>
          <a:prstGeom prst="rect">
            <a:avLst/>
          </a:prstGeom>
          <a:noFill/>
          <a:ln/>
        </p:spPr>
        <p:txBody>
          <a:bodyPr wrap="square" lIns="0" tIns="0" rIns="0" bIns="0" rtlCol="0" anchor="ctr"/>
          <a:lstStyle/>
          <a:p>
            <a:pPr marL="0" indent="0">
              <a:buNone/>
            </a:pPr>
            <a:r>
              <a:rPr lang="en-US" sz="950" i="1">
                <a:solidFill>
                  <a:srgbClr val="8FA3C8"/>
                </a:solidFill>
                <a:latin typeface="Calibri" pitchFamily="34" charset="0"/>
                <a:ea typeface="Calibri" pitchFamily="34" charset="-122"/>
                <a:cs typeface="Calibri" pitchFamily="34" charset="-120"/>
              </a:rPr>
              <a:t>Fundament: Basel III IRB-Ansatz (BCBS 2017, Art. 153 CRR) · bank-spezifische Pillar-3 EU-CR6 (31.12.2024) · EBA Stress Test 2025 Methodology Note</a:t>
            </a:r>
            <a:endParaRPr lang="en-US" sz="950"/>
          </a:p>
        </p:txBody>
      </p:sp>
      <p:sp>
        <p:nvSpPr>
          <p:cNvPr id="2" name="CodexSlideNumber">
            <a:extLst>
              <a:ext uri="{FF2B5EF4-FFF2-40B4-BE49-F238E27FC236}">
                <a16:creationId xmlns:a16="http://schemas.microsoft.com/office/drawing/2014/main" id="{39D73530-4DEB-2BA5-30B7-70787EFEA2CD}"/>
              </a:ext>
            </a:extLst>
          </p:cNvPr>
          <p:cNvSpPr txBox="1"/>
          <p:nvPr/>
        </p:nvSpPr>
        <p:spPr>
          <a:xfrm>
            <a:off x="11226800" y="6553200"/>
            <a:ext cx="736600" cy="123111"/>
          </a:xfrm>
          <a:prstGeom prst="rect">
            <a:avLst/>
          </a:prstGeom>
          <a:noFill/>
        </p:spPr>
        <p:txBody>
          <a:bodyPr vert="horz" lIns="0" tIns="0" rIns="0" bIns="0" rtlCol="0">
            <a:spAutoFit/>
          </a:bodyPr>
          <a:lstStyle/>
          <a:p>
            <a:pPr algn="r"/>
            <a:r>
              <a:rPr lang="en-US" sz="800">
                <a:solidFill>
                  <a:srgbClr val="525252"/>
                </a:solidFill>
                <a:latin typeface="Arial" panose="020B0604020202020204" pitchFamily="34" charset="0"/>
              </a:rPr>
              <a:t>31 / 64</a:t>
            </a:r>
          </a:p>
        </p:txBody>
      </p:sp>
    </p:spTree>
    <p:extLst>
      <p:ext uri="{BB962C8B-B14F-4D97-AF65-F5344CB8AC3E}">
        <p14:creationId xmlns:p14="http://schemas.microsoft.com/office/powerpoint/2010/main" val="26703770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23AF6A1F-1246-426B-B093-1C8E43EA15BD}"/>
              </a:ext>
            </a:extLst>
          </p:cNvPr>
          <p:cNvSpPr>
            <a:spLocks noGrp="1"/>
          </p:cNvSpPr>
          <p:nvPr/>
        </p:nvSpPr>
        <p:spPr>
          <a:xfrm>
            <a:off x="0" y="0"/>
            <a:ext cx="12192000" cy="6858000"/>
          </a:xfrm>
          <a:prstGeom prst="rect">
            <a:avLst/>
          </a:prstGeom>
          <a:solidFill>
            <a:srgbClr val="071C2C"/>
          </a:solidFill>
        </p:spPr>
        <p:txBody>
          <a:bodyPr/>
          <a:lstStyle/>
          <a:p>
            <a:endParaRPr lang="en-US"/>
          </a:p>
        </p:txBody>
      </p:sp>
      <p:sp>
        <p:nvSpPr>
          <p:cNvPr id="2" name="kicker-market-divider-marker">
            <a:extLst>
              <a:ext uri="{FF2B5EF4-FFF2-40B4-BE49-F238E27FC236}">
                <a16:creationId xmlns:a16="http://schemas.microsoft.com/office/drawing/2014/main" id="{9A12CA09-FBFA-41AB-937D-EEEEAB5A87C0}"/>
              </a:ext>
            </a:extLst>
          </p:cNvPr>
          <p:cNvSpPr>
            <a:spLocks noGrp="1"/>
          </p:cNvSpPr>
          <p:nvPr/>
        </p:nvSpPr>
        <p:spPr>
          <a:xfrm>
            <a:off x="609600" y="676275"/>
            <a:ext cx="76200" cy="76200"/>
          </a:xfrm>
          <a:prstGeom prst="rect">
            <a:avLst/>
          </a:prstGeom>
          <a:solidFill>
            <a:srgbClr val="0B5A7A"/>
          </a:solidFill>
        </p:spPr>
        <p:txBody>
          <a:bodyPr/>
          <a:lstStyle/>
          <a:p>
            <a:endParaRPr lang="en-US"/>
          </a:p>
        </p:txBody>
      </p:sp>
      <p:sp>
        <p:nvSpPr>
          <p:cNvPr id="3" name="kicker-market-divider-label">
            <a:extLst>
              <a:ext uri="{FF2B5EF4-FFF2-40B4-BE49-F238E27FC236}">
                <a16:creationId xmlns:a16="http://schemas.microsoft.com/office/drawing/2014/main" id="{4A59E1BF-0BD1-4938-88D5-9F1DCB79E59F}"/>
              </a:ext>
            </a:extLst>
          </p:cNvPr>
          <p:cNvSpPr>
            <a:spLocks noGrp="1"/>
          </p:cNvSpPr>
          <p:nvPr/>
        </p:nvSpPr>
        <p:spPr>
          <a:xfrm>
            <a:off x="800100" y="609600"/>
            <a:ext cx="4000500" cy="209550"/>
          </a:xfrm>
          <a:prstGeom prst="rect">
            <a:avLst/>
          </a:prstGeom>
        </p:spPr>
        <p:txBody>
          <a:bodyPr lIns="0" tIns="0" rIns="0" bIns="0" anchor="ctr"/>
          <a:lstStyle/>
          <a:p>
            <a:pPr algn="l">
              <a:defRPr sz="1050" b="1">
                <a:solidFill>
                  <a:srgbClr val="D7E0E5"/>
                </a:solidFill>
                <a:latin typeface="Aptos"/>
                <a:ea typeface="Aptos"/>
                <a:cs typeface="Aptos"/>
              </a:defRPr>
            </a:pPr>
            <a:r>
              <a:t>MARKTBUCH</a:t>
            </a:r>
          </a:p>
        </p:txBody>
      </p:sp>
      <p:sp>
        <p:nvSpPr>
          <p:cNvPr id="5" name="Rectangle 4">
            <a:extLst>
              <a:ext uri="{FF2B5EF4-FFF2-40B4-BE49-F238E27FC236}">
                <a16:creationId xmlns:a16="http://schemas.microsoft.com/office/drawing/2014/main" id="{2941C0E6-A19D-415B-AB01-D2F96BABF711}"/>
              </a:ext>
            </a:extLst>
          </p:cNvPr>
          <p:cNvSpPr>
            <a:spLocks noGrp="1"/>
          </p:cNvSpPr>
          <p:nvPr/>
        </p:nvSpPr>
        <p:spPr>
          <a:xfrm>
            <a:off x="609600" y="2152650"/>
            <a:ext cx="857250" cy="76200"/>
          </a:xfrm>
          <a:prstGeom prst="rect">
            <a:avLst/>
          </a:prstGeom>
          <a:solidFill>
            <a:srgbClr val="0B5A7A"/>
          </a:solidFill>
        </p:spPr>
        <p:txBody>
          <a:bodyPr/>
          <a:lstStyle/>
          <a:p>
            <a:endParaRPr lang="en-US"/>
          </a:p>
        </p:txBody>
      </p:sp>
      <p:sp>
        <p:nvSpPr>
          <p:cNvPr id="6" name="Rectangle 5">
            <a:extLst>
              <a:ext uri="{FF2B5EF4-FFF2-40B4-BE49-F238E27FC236}">
                <a16:creationId xmlns:a16="http://schemas.microsoft.com/office/drawing/2014/main" id="{C969363C-066B-45F6-B42B-52331C8374D4}"/>
              </a:ext>
            </a:extLst>
          </p:cNvPr>
          <p:cNvSpPr>
            <a:spLocks noGrp="1"/>
          </p:cNvSpPr>
          <p:nvPr/>
        </p:nvSpPr>
        <p:spPr>
          <a:xfrm>
            <a:off x="609600" y="2438400"/>
            <a:ext cx="9715500" cy="1428750"/>
          </a:xfrm>
          <a:prstGeom prst="rect">
            <a:avLst/>
          </a:prstGeom>
        </p:spPr>
        <p:txBody>
          <a:bodyPr lIns="0" tIns="0" rIns="0" bIns="0" anchor="t"/>
          <a:lstStyle/>
          <a:p>
            <a:pPr algn="l">
              <a:defRPr sz="4800" b="1">
                <a:solidFill>
                  <a:srgbClr val="FFFFFF"/>
                </a:solidFill>
                <a:latin typeface="Aptos Display"/>
                <a:ea typeface="Aptos Display"/>
                <a:cs typeface="Aptos Display"/>
              </a:defRPr>
            </a:pPr>
            <a:r>
              <a:t>Marktbuch</a:t>
            </a:r>
          </a:p>
        </p:txBody>
      </p:sp>
      <p:sp>
        <p:nvSpPr>
          <p:cNvPr id="7" name="Rectangle 6">
            <a:extLst>
              <a:ext uri="{FF2B5EF4-FFF2-40B4-BE49-F238E27FC236}">
                <a16:creationId xmlns:a16="http://schemas.microsoft.com/office/drawing/2014/main" id="{1BC4C753-B768-4D61-A563-2E6B74C56365}"/>
              </a:ext>
            </a:extLst>
          </p:cNvPr>
          <p:cNvSpPr>
            <a:spLocks noGrp="1"/>
          </p:cNvSpPr>
          <p:nvPr/>
        </p:nvSpPr>
        <p:spPr>
          <a:xfrm>
            <a:off x="609600" y="4076700"/>
            <a:ext cx="8572500" cy="666750"/>
          </a:xfrm>
          <a:prstGeom prst="rect">
            <a:avLst/>
          </a:prstGeom>
        </p:spPr>
        <p:txBody>
          <a:bodyPr lIns="0" tIns="0" rIns="0" bIns="0" anchor="t"/>
          <a:lstStyle/>
          <a:p>
            <a:pPr algn="l">
              <a:defRPr sz="1800" b="0">
                <a:solidFill>
                  <a:srgbClr val="C7D2D9"/>
                </a:solidFill>
                <a:latin typeface="Aptos"/>
                <a:ea typeface="Aptos"/>
                <a:cs typeface="Aptos"/>
              </a:defRPr>
            </a:pPr>
            <a:r>
              <a:rPr lang="en-GB" err="1"/>
              <a:t>Zinskurve</a:t>
            </a:r>
            <a:r>
              <a:t>, Sovereign-Duration und der </a:t>
            </a:r>
            <a:r>
              <a:rPr lang="en-GB" err="1"/>
              <a:t>gemeldete</a:t>
            </a:r>
            <a:r>
              <a:t> IFRS-9-Split </a:t>
            </a:r>
            <a:r>
              <a:rPr lang="en-GB" err="1"/>
              <a:t>als</a:t>
            </a:r>
            <a:r>
              <a:t> </a:t>
            </a:r>
            <a:r>
              <a:rPr lang="en-GB" err="1"/>
              <a:t>zweiter</a:t>
            </a:r>
            <a:r>
              <a:t> CET1-Kanal</a:t>
            </a:r>
          </a:p>
        </p:txBody>
      </p:sp>
      <p:sp>
        <p:nvSpPr>
          <p:cNvPr id="4" name="CodexSlideNumber">
            <a:extLst>
              <a:ext uri="{FF2B5EF4-FFF2-40B4-BE49-F238E27FC236}">
                <a16:creationId xmlns:a16="http://schemas.microsoft.com/office/drawing/2014/main" id="{5281448C-302F-DBF6-1A55-1740E2FDD764}"/>
              </a:ext>
            </a:extLst>
          </p:cNvPr>
          <p:cNvSpPr txBox="1"/>
          <p:nvPr/>
        </p:nvSpPr>
        <p:spPr>
          <a:xfrm>
            <a:off x="11226800" y="6553200"/>
            <a:ext cx="736600" cy="123111"/>
          </a:xfrm>
          <a:prstGeom prst="rect">
            <a:avLst/>
          </a:prstGeom>
          <a:noFill/>
        </p:spPr>
        <p:txBody>
          <a:bodyPr vert="horz" lIns="0" tIns="0" rIns="0" bIns="0" rtlCol="0">
            <a:spAutoFit/>
          </a:bodyPr>
          <a:lstStyle/>
          <a:p>
            <a:pPr algn="r"/>
            <a:r>
              <a:rPr lang="en-US" sz="800">
                <a:solidFill>
                  <a:srgbClr val="525252"/>
                </a:solidFill>
                <a:latin typeface="Arial" panose="020B0604020202020204" pitchFamily="34" charset="0"/>
              </a:rPr>
              <a:t>32 / 64</a:t>
            </a:r>
          </a:p>
        </p:txBody>
      </p:sp>
    </p:spTree>
    <p:extLst>
      <p:ext uri="{BB962C8B-B14F-4D97-AF65-F5344CB8AC3E}">
        <p14:creationId xmlns:p14="http://schemas.microsoft.com/office/powerpoint/2010/main" val="164037812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84048"/>
            <a:ext cx="11155680" cy="132793"/>
          </a:xfrm>
          <a:prstGeom prst="rect">
            <a:avLst/>
          </a:prstGeom>
          <a:noFill/>
        </p:spPr>
        <p:txBody>
          <a:bodyPr wrap="square" lIns="0" tIns="0" rIns="0" bIns="0" anchor="t">
            <a:spAutoFit/>
          </a:bodyPr>
          <a:lstStyle/>
          <a:p>
            <a:pPr>
              <a:spcBef>
                <a:spcPts val="0"/>
              </a:spcBef>
              <a:spcAft>
                <a:spcPts val="200"/>
              </a:spcAft>
            </a:pPr>
            <a:r>
              <a:rPr lang="de-DE" sz="863" b="1" dirty="0">
                <a:solidFill>
                  <a:schemeClr val="tx2"/>
                </a:solidFill>
                <a:latin typeface="Aptos"/>
              </a:rPr>
              <a:t>TAB 3 VON 5 · SOVEREIGN- / ZINSKANAL · 10 IRB-BANKEN</a:t>
            </a:r>
          </a:p>
        </p:txBody>
      </p:sp>
      <p:sp>
        <p:nvSpPr>
          <p:cNvPr id="4" name="TextBox 3"/>
          <p:cNvSpPr txBox="1"/>
          <p:nvPr/>
        </p:nvSpPr>
        <p:spPr>
          <a:xfrm>
            <a:off x="548640" y="658368"/>
            <a:ext cx="11155680" cy="380873"/>
          </a:xfrm>
          <a:prstGeom prst="rect">
            <a:avLst/>
          </a:prstGeom>
          <a:noFill/>
        </p:spPr>
        <p:txBody>
          <a:bodyPr wrap="square" lIns="0" tIns="0" rIns="0" bIns="0" anchor="t">
            <a:spAutoFit/>
          </a:bodyPr>
          <a:lstStyle/>
          <a:p>
            <a:pPr algn="l">
              <a:spcBef>
                <a:spcPts val="0"/>
              </a:spcBef>
              <a:spcAft>
                <a:spcPts val="200"/>
              </a:spcAft>
            </a:pPr>
            <a:r>
              <a:rPr lang="de-DE" sz="2475" b="1" err="1">
                <a:solidFill>
                  <a:srgbClr val="051C2C"/>
                </a:solidFill>
                <a:latin typeface="Aptos Display"/>
              </a:rPr>
              <a:t>Worum</a:t>
            </a:r>
            <a:r>
              <a:rPr lang="de-DE" sz="2475" b="1">
                <a:solidFill>
                  <a:srgbClr val="051C2C"/>
                </a:solidFill>
                <a:latin typeface="Aptos Display"/>
              </a:rPr>
              <a:t> </a:t>
            </a:r>
            <a:r>
              <a:rPr lang="de-DE" sz="2475" b="1" err="1">
                <a:solidFill>
                  <a:srgbClr val="051C2C"/>
                </a:solidFill>
                <a:latin typeface="Aptos Display"/>
              </a:rPr>
              <a:t>geht</a:t>
            </a:r>
            <a:r>
              <a:rPr lang="de-DE" sz="2475" b="1">
                <a:solidFill>
                  <a:srgbClr val="051C2C"/>
                </a:solidFill>
                <a:latin typeface="Aptos Display"/>
              </a:rPr>
              <a:t> es </a:t>
            </a:r>
            <a:r>
              <a:rPr lang="de-DE" sz="2475" b="1" err="1">
                <a:solidFill>
                  <a:srgbClr val="051C2C"/>
                </a:solidFill>
                <a:latin typeface="Aptos Display"/>
              </a:rPr>
              <a:t>im</a:t>
            </a:r>
            <a:r>
              <a:rPr lang="de-DE" sz="2475" b="1">
                <a:solidFill>
                  <a:srgbClr val="051C2C"/>
                </a:solidFill>
                <a:latin typeface="Aptos Display"/>
              </a:rPr>
              <a:t> </a:t>
            </a:r>
            <a:r>
              <a:rPr lang="de-DE" sz="2475" b="1" err="1">
                <a:solidFill>
                  <a:srgbClr val="051C2C"/>
                </a:solidFill>
                <a:latin typeface="Aptos Display"/>
              </a:rPr>
              <a:t>Marktbuch</a:t>
            </a:r>
            <a:r>
              <a:rPr lang="de-DE" sz="2475" b="1">
                <a:solidFill>
                  <a:srgbClr val="051C2C"/>
                </a:solidFill>
                <a:latin typeface="Aptos Display"/>
              </a:rPr>
              <a:t>-Tab?</a:t>
            </a:r>
          </a:p>
        </p:txBody>
      </p:sp>
      <p:sp>
        <p:nvSpPr>
          <p:cNvPr id="5" name="TextBox 4"/>
          <p:cNvSpPr txBox="1"/>
          <p:nvPr/>
        </p:nvSpPr>
        <p:spPr>
          <a:xfrm>
            <a:off x="548640" y="1645920"/>
            <a:ext cx="6446520" cy="1172116"/>
          </a:xfrm>
          <a:prstGeom prst="rect">
            <a:avLst/>
          </a:prstGeom>
          <a:noFill/>
        </p:spPr>
        <p:txBody>
          <a:bodyPr wrap="square" lIns="0" tIns="0" rIns="0" bIns="0" anchor="t">
            <a:spAutoFit/>
          </a:bodyPr>
          <a:lstStyle/>
          <a:p>
            <a:pPr algn="l">
              <a:spcBef>
                <a:spcPts val="0"/>
              </a:spcBef>
              <a:spcAft>
                <a:spcPts val="800"/>
              </a:spcAft>
            </a:pPr>
            <a:r>
              <a:rPr lang="de-DE" sz="1450" b="1">
                <a:solidFill>
                  <a:srgbClr val="051C2C"/>
                </a:solidFill>
                <a:latin typeface="Aptos"/>
              </a:rPr>
              <a:t>Der </a:t>
            </a:r>
            <a:r>
              <a:rPr lang="de-DE" sz="1450" b="1" err="1">
                <a:solidFill>
                  <a:srgbClr val="051C2C"/>
                </a:solidFill>
                <a:latin typeface="Aptos"/>
              </a:rPr>
              <a:t>Marktbuch</a:t>
            </a:r>
            <a:r>
              <a:rPr lang="de-DE" sz="1450" b="1">
                <a:solidFill>
                  <a:srgbClr val="051C2C"/>
                </a:solidFill>
                <a:latin typeface="Aptos"/>
              </a:rPr>
              <a:t>-Tab </a:t>
            </a:r>
            <a:r>
              <a:rPr lang="de-DE" sz="1450" b="1" err="1">
                <a:solidFill>
                  <a:srgbClr val="051C2C"/>
                </a:solidFill>
                <a:latin typeface="Aptos"/>
              </a:rPr>
              <a:t>beantwortet</a:t>
            </a:r>
            <a:r>
              <a:rPr lang="de-DE" sz="1450" b="1">
                <a:solidFill>
                  <a:srgbClr val="051C2C"/>
                </a:solidFill>
                <a:latin typeface="Aptos"/>
              </a:rPr>
              <a:t> </a:t>
            </a:r>
            <a:r>
              <a:rPr lang="de-DE" sz="1450" b="1" err="1">
                <a:solidFill>
                  <a:srgbClr val="051C2C"/>
                </a:solidFill>
                <a:latin typeface="Aptos"/>
              </a:rPr>
              <a:t>eine</a:t>
            </a:r>
            <a:r>
              <a:rPr lang="de-DE" sz="1450" b="1">
                <a:solidFill>
                  <a:srgbClr val="051C2C"/>
                </a:solidFill>
                <a:latin typeface="Aptos"/>
              </a:rPr>
              <a:t> </a:t>
            </a:r>
            <a:r>
              <a:rPr lang="de-DE" sz="1450" b="1" err="1">
                <a:solidFill>
                  <a:srgbClr val="051C2C"/>
                </a:solidFill>
                <a:latin typeface="Aptos"/>
              </a:rPr>
              <a:t>andere</a:t>
            </a:r>
            <a:r>
              <a:rPr lang="de-DE" sz="1450" b="1">
                <a:solidFill>
                  <a:srgbClr val="051C2C"/>
                </a:solidFill>
                <a:latin typeface="Aptos"/>
              </a:rPr>
              <a:t> Frage </a:t>
            </a:r>
            <a:r>
              <a:rPr lang="de-DE" sz="1450" b="1" err="1">
                <a:solidFill>
                  <a:srgbClr val="051C2C"/>
                </a:solidFill>
                <a:latin typeface="Aptos"/>
              </a:rPr>
              <a:t>als</a:t>
            </a:r>
            <a:r>
              <a:rPr lang="de-DE" sz="1450" b="1">
                <a:solidFill>
                  <a:srgbClr val="051C2C"/>
                </a:solidFill>
                <a:latin typeface="Aptos"/>
              </a:rPr>
              <a:t> das </a:t>
            </a:r>
            <a:r>
              <a:rPr lang="de-DE" sz="1450" b="1" err="1">
                <a:solidFill>
                  <a:srgbClr val="051C2C"/>
                </a:solidFill>
                <a:latin typeface="Aptos"/>
              </a:rPr>
              <a:t>Kreditbuch</a:t>
            </a:r>
            <a:r>
              <a:rPr lang="de-DE" sz="1450" b="1">
                <a:solidFill>
                  <a:srgbClr val="051C2C"/>
                </a:solidFill>
                <a:latin typeface="Aptos"/>
              </a:rPr>
              <a:t>: </a:t>
            </a:r>
            <a:r>
              <a:rPr lang="de-DE" sz="1450" b="0">
                <a:solidFill>
                  <a:srgbClr val="051C2C"/>
                </a:solidFill>
                <a:latin typeface="Aptos"/>
              </a:rPr>
              <a:t>Was kostet </a:t>
            </a:r>
            <a:r>
              <a:rPr lang="de-DE" sz="1450" b="0" err="1">
                <a:solidFill>
                  <a:srgbClr val="051C2C"/>
                </a:solidFill>
                <a:latin typeface="Aptos"/>
              </a:rPr>
              <a:t>ein</a:t>
            </a:r>
            <a:r>
              <a:rPr lang="de-DE" sz="1450" b="0">
                <a:solidFill>
                  <a:srgbClr val="051C2C"/>
                </a:solidFill>
                <a:latin typeface="Aptos"/>
              </a:rPr>
              <a:t> </a:t>
            </a:r>
            <a:r>
              <a:rPr lang="de-DE" sz="1450" b="0" err="1">
                <a:solidFill>
                  <a:srgbClr val="051C2C"/>
                </a:solidFill>
                <a:latin typeface="Aptos"/>
              </a:rPr>
              <a:t>steigender</a:t>
            </a:r>
            <a:r>
              <a:rPr lang="de-DE" sz="1450" b="0">
                <a:solidFill>
                  <a:srgbClr val="051C2C"/>
                </a:solidFill>
                <a:latin typeface="Aptos"/>
              </a:rPr>
              <a:t> Zins am </a:t>
            </a:r>
            <a:r>
              <a:rPr lang="de-DE" sz="1450" b="0" err="1">
                <a:solidFill>
                  <a:srgbClr val="051C2C"/>
                </a:solidFill>
                <a:latin typeface="Aptos"/>
              </a:rPr>
              <a:t>Marktwert</a:t>
            </a:r>
            <a:r>
              <a:rPr lang="de-DE" sz="1450" b="0">
                <a:solidFill>
                  <a:srgbClr val="051C2C"/>
                </a:solidFill>
                <a:latin typeface="Aptos"/>
              </a:rPr>
              <a:t> der </a:t>
            </a:r>
            <a:r>
              <a:rPr lang="de-DE" sz="1450" b="0" err="1">
                <a:solidFill>
                  <a:srgbClr val="051C2C"/>
                </a:solidFill>
                <a:latin typeface="Aptos"/>
              </a:rPr>
              <a:t>Staatsanleihen</a:t>
            </a:r>
            <a:r>
              <a:rPr lang="de-DE" sz="1450" b="0">
                <a:solidFill>
                  <a:srgbClr val="051C2C"/>
                </a:solidFill>
                <a:latin typeface="Aptos"/>
              </a:rPr>
              <a:t> und </a:t>
            </a:r>
            <a:r>
              <a:rPr lang="de-DE" sz="1450" b="0" err="1">
                <a:solidFill>
                  <a:srgbClr val="051C2C"/>
                </a:solidFill>
                <a:latin typeface="Aptos"/>
              </a:rPr>
              <a:t>wie</a:t>
            </a:r>
            <a:r>
              <a:rPr lang="de-DE" sz="1450" b="0">
                <a:solidFill>
                  <a:srgbClr val="051C2C"/>
                </a:solidFill>
                <a:latin typeface="Aptos"/>
              </a:rPr>
              <a:t> </a:t>
            </a:r>
            <a:r>
              <a:rPr lang="de-DE" sz="1450" b="0" err="1">
                <a:solidFill>
                  <a:srgbClr val="051C2C"/>
                </a:solidFill>
                <a:latin typeface="Aptos"/>
              </a:rPr>
              <a:t>viel</a:t>
            </a:r>
            <a:r>
              <a:rPr lang="de-DE" sz="1450" b="0">
                <a:solidFill>
                  <a:srgbClr val="051C2C"/>
                </a:solidFill>
                <a:latin typeface="Aptos"/>
              </a:rPr>
              <a:t> </a:t>
            </a:r>
            <a:r>
              <a:rPr lang="de-DE" sz="1450" b="0" err="1">
                <a:solidFill>
                  <a:srgbClr val="051C2C"/>
                </a:solidFill>
                <a:latin typeface="Aptos"/>
              </a:rPr>
              <a:t>davon</a:t>
            </a:r>
            <a:r>
              <a:rPr lang="de-DE" sz="1450" b="0">
                <a:solidFill>
                  <a:srgbClr val="051C2C"/>
                </a:solidFill>
                <a:latin typeface="Aptos"/>
              </a:rPr>
              <a:t> trifft </a:t>
            </a:r>
            <a:r>
              <a:rPr lang="de-DE" sz="1450" b="0" err="1">
                <a:solidFill>
                  <a:srgbClr val="051C2C"/>
                </a:solidFill>
                <a:latin typeface="Aptos"/>
              </a:rPr>
              <a:t>sofort</a:t>
            </a:r>
            <a:r>
              <a:rPr lang="de-DE" sz="1450" b="0">
                <a:solidFill>
                  <a:srgbClr val="051C2C"/>
                </a:solidFill>
                <a:latin typeface="Aptos"/>
              </a:rPr>
              <a:t> die CET1-Quote?</a:t>
            </a:r>
          </a:p>
          <a:p>
            <a:pPr algn="l">
              <a:spcBef>
                <a:spcPts val="0"/>
              </a:spcBef>
              <a:spcAft>
                <a:spcPts val="800"/>
              </a:spcAft>
            </a:pPr>
            <a:r>
              <a:rPr lang="de-DE" sz="1300" b="1">
                <a:solidFill>
                  <a:srgbClr val="0B5D7A"/>
                </a:solidFill>
                <a:latin typeface="Aptos"/>
              </a:rPr>
              <a:t>Der Tab hat </a:t>
            </a:r>
            <a:r>
              <a:rPr lang="de-DE" sz="1300" b="1" err="1">
                <a:solidFill>
                  <a:srgbClr val="0B5D7A"/>
                </a:solidFill>
                <a:latin typeface="Aptos"/>
              </a:rPr>
              <a:t>zwei</a:t>
            </a:r>
            <a:r>
              <a:rPr lang="de-DE" sz="1300" b="1">
                <a:solidFill>
                  <a:srgbClr val="0B5D7A"/>
                </a:solidFill>
                <a:latin typeface="Aptos"/>
              </a:rPr>
              <a:t> Sub-Tabs: </a:t>
            </a:r>
            <a:r>
              <a:rPr lang="de-DE" sz="1300" b="0">
                <a:solidFill>
                  <a:srgbClr val="4F6875"/>
                </a:solidFill>
                <a:latin typeface="Aptos"/>
              </a:rPr>
              <a:t>„Yield-Curve Input“ </a:t>
            </a:r>
            <a:r>
              <a:rPr lang="de-DE" sz="1300" b="0" err="1">
                <a:solidFill>
                  <a:srgbClr val="4F6875"/>
                </a:solidFill>
                <a:latin typeface="Aptos"/>
              </a:rPr>
              <a:t>liefert</a:t>
            </a:r>
            <a:r>
              <a:rPr lang="de-DE" sz="1300" b="0">
                <a:solidFill>
                  <a:srgbClr val="4F6875"/>
                </a:solidFill>
                <a:latin typeface="Aptos"/>
              </a:rPr>
              <a:t> die </a:t>
            </a:r>
            <a:r>
              <a:rPr lang="de-DE" sz="1300" b="0" err="1">
                <a:solidFill>
                  <a:srgbClr val="4F6875"/>
                </a:solidFill>
                <a:latin typeface="Aptos"/>
              </a:rPr>
              <a:t>Zinskurve</a:t>
            </a:r>
            <a:r>
              <a:rPr lang="de-DE" sz="1300" b="0">
                <a:solidFill>
                  <a:srgbClr val="4F6875"/>
                </a:solidFill>
                <a:latin typeface="Aptos"/>
              </a:rPr>
              <a:t>, „Sovereign-Kanal“ </a:t>
            </a:r>
            <a:r>
              <a:rPr lang="de-DE" sz="1300" b="0" err="1">
                <a:solidFill>
                  <a:srgbClr val="4F6875"/>
                </a:solidFill>
                <a:latin typeface="Aptos"/>
              </a:rPr>
              <a:t>übersetzt</a:t>
            </a:r>
            <a:r>
              <a:rPr lang="de-DE" sz="1300" b="0">
                <a:solidFill>
                  <a:srgbClr val="4F6875"/>
                </a:solidFill>
                <a:latin typeface="Aptos"/>
              </a:rPr>
              <a:t> den Schock </a:t>
            </a:r>
            <a:r>
              <a:rPr lang="de-DE" sz="1300" b="0" err="1">
                <a:solidFill>
                  <a:srgbClr val="4F6875"/>
                </a:solidFill>
                <a:latin typeface="Aptos"/>
              </a:rPr>
              <a:t>über</a:t>
            </a:r>
            <a:r>
              <a:rPr lang="de-DE" sz="1300" b="0">
                <a:solidFill>
                  <a:srgbClr val="4F6875"/>
                </a:solidFill>
                <a:latin typeface="Aptos"/>
              </a:rPr>
              <a:t> Duration und IFRS-9-Split in die </a:t>
            </a:r>
            <a:r>
              <a:rPr lang="de-DE" sz="1300" b="0" err="1">
                <a:solidFill>
                  <a:srgbClr val="4F6875"/>
                </a:solidFill>
                <a:latin typeface="Aptos"/>
              </a:rPr>
              <a:t>Kapitalwirkung</a:t>
            </a:r>
            <a:endParaRPr lang="de-DE" sz="1300" b="0">
              <a:solidFill>
                <a:srgbClr val="4F6875"/>
              </a:solidFill>
              <a:latin typeface="Aptos"/>
            </a:endParaRPr>
          </a:p>
        </p:txBody>
      </p:sp>
      <p:sp>
        <p:nvSpPr>
          <p:cNvPr id="6" name="Rectangle 5"/>
          <p:cNvSpPr/>
          <p:nvPr/>
        </p:nvSpPr>
        <p:spPr>
          <a:xfrm>
            <a:off x="548640" y="3794760"/>
            <a:ext cx="1207008" cy="1005840"/>
          </a:xfrm>
          <a:prstGeom prst="rect">
            <a:avLst/>
          </a:prstGeom>
          <a:solidFill>
            <a:srgbClr val="051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03503" y="4151486"/>
            <a:ext cx="1097280" cy="292388"/>
          </a:xfrm>
          <a:prstGeom prst="rect">
            <a:avLst/>
          </a:prstGeom>
          <a:noFill/>
        </p:spPr>
        <p:txBody>
          <a:bodyPr wrap="square" lIns="0" tIns="0" rIns="0" bIns="0" anchor="ctr">
            <a:spAutoFit/>
          </a:bodyPr>
          <a:lstStyle/>
          <a:p>
            <a:pPr algn="ctr">
              <a:spcBef>
                <a:spcPts val="0"/>
              </a:spcBef>
              <a:spcAft>
                <a:spcPts val="100"/>
              </a:spcAft>
            </a:pPr>
            <a:r>
              <a:rPr lang="en-GB" sz="950" b="1" err="1">
                <a:solidFill>
                  <a:srgbClr val="FFFFFF"/>
                </a:solidFill>
                <a:latin typeface="Aptos"/>
              </a:rPr>
              <a:t>Zinskurve</a:t>
            </a:r>
            <a:r>
              <a:rPr lang="en-GB" sz="950" b="1">
                <a:solidFill>
                  <a:srgbClr val="FFFFFF"/>
                </a:solidFill>
                <a:latin typeface="Aptos"/>
              </a:rPr>
              <a:t> (Svensson)</a:t>
            </a:r>
          </a:p>
        </p:txBody>
      </p:sp>
      <p:sp>
        <p:nvSpPr>
          <p:cNvPr id="8" name="TextBox 7"/>
          <p:cNvSpPr txBox="1"/>
          <p:nvPr/>
        </p:nvSpPr>
        <p:spPr>
          <a:xfrm>
            <a:off x="1755648" y="4174569"/>
            <a:ext cx="201168" cy="246221"/>
          </a:xfrm>
          <a:prstGeom prst="rect">
            <a:avLst/>
          </a:prstGeom>
          <a:noFill/>
        </p:spPr>
        <p:txBody>
          <a:bodyPr wrap="square" lIns="0" tIns="0" rIns="0" bIns="0" anchor="ctr">
            <a:spAutoFit/>
          </a:bodyPr>
          <a:lstStyle/>
          <a:p>
            <a:pPr algn="ctr">
              <a:spcBef>
                <a:spcPts val="0"/>
              </a:spcBef>
              <a:spcAft>
                <a:spcPts val="200"/>
              </a:spcAft>
            </a:pPr>
            <a:r>
              <a:rPr lang="en-GB" sz="1600" b="0">
                <a:solidFill>
                  <a:srgbClr val="4F6875"/>
                </a:solidFill>
                <a:latin typeface="Aptos"/>
              </a:rPr>
              <a:t>→</a:t>
            </a:r>
          </a:p>
        </p:txBody>
      </p:sp>
      <p:sp>
        <p:nvSpPr>
          <p:cNvPr id="9" name="Rectangle 8"/>
          <p:cNvSpPr/>
          <p:nvPr/>
        </p:nvSpPr>
        <p:spPr>
          <a:xfrm>
            <a:off x="1956816" y="3794760"/>
            <a:ext cx="1207008" cy="1005840"/>
          </a:xfrm>
          <a:prstGeom prst="rect">
            <a:avLst/>
          </a:prstGeom>
          <a:solidFill>
            <a:srgbClr val="051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011680" y="4151486"/>
            <a:ext cx="1024127" cy="292388"/>
          </a:xfrm>
          <a:prstGeom prst="rect">
            <a:avLst/>
          </a:prstGeom>
          <a:noFill/>
        </p:spPr>
        <p:txBody>
          <a:bodyPr wrap="square" lIns="0" tIns="0" rIns="0" bIns="0" anchor="ctr">
            <a:spAutoFit/>
          </a:bodyPr>
          <a:lstStyle/>
          <a:p>
            <a:pPr algn="ctr">
              <a:spcBef>
                <a:spcPts val="0"/>
              </a:spcBef>
              <a:spcAft>
                <a:spcPts val="100"/>
              </a:spcAft>
            </a:pPr>
            <a:r>
              <a:rPr lang="en-GB" sz="950" b="1">
                <a:solidFill>
                  <a:srgbClr val="FFFFFF"/>
                </a:solidFill>
                <a:latin typeface="Aptos"/>
              </a:rPr>
              <a:t>Parallel-Shift  (+2,00 pp)</a:t>
            </a:r>
          </a:p>
        </p:txBody>
      </p:sp>
      <p:sp>
        <p:nvSpPr>
          <p:cNvPr id="11" name="TextBox 10"/>
          <p:cNvSpPr txBox="1"/>
          <p:nvPr/>
        </p:nvSpPr>
        <p:spPr>
          <a:xfrm>
            <a:off x="3163824" y="4174569"/>
            <a:ext cx="201168" cy="246221"/>
          </a:xfrm>
          <a:prstGeom prst="rect">
            <a:avLst/>
          </a:prstGeom>
          <a:noFill/>
        </p:spPr>
        <p:txBody>
          <a:bodyPr wrap="square" lIns="0" tIns="0" rIns="0" bIns="0" anchor="ctr">
            <a:spAutoFit/>
          </a:bodyPr>
          <a:lstStyle/>
          <a:p>
            <a:pPr algn="ctr">
              <a:spcBef>
                <a:spcPts val="0"/>
              </a:spcBef>
              <a:spcAft>
                <a:spcPts val="200"/>
              </a:spcAft>
            </a:pPr>
            <a:r>
              <a:rPr lang="en-GB" sz="1600" b="0">
                <a:solidFill>
                  <a:srgbClr val="4F6875"/>
                </a:solidFill>
                <a:latin typeface="Aptos"/>
              </a:rPr>
              <a:t>→</a:t>
            </a:r>
          </a:p>
        </p:txBody>
      </p:sp>
      <p:sp>
        <p:nvSpPr>
          <p:cNvPr id="12" name="Rectangle 11"/>
          <p:cNvSpPr/>
          <p:nvPr/>
        </p:nvSpPr>
        <p:spPr>
          <a:xfrm>
            <a:off x="3364992" y="3794760"/>
            <a:ext cx="1207008" cy="1005840"/>
          </a:xfrm>
          <a:prstGeom prst="rect">
            <a:avLst/>
          </a:prstGeom>
          <a:solidFill>
            <a:srgbClr val="0B5D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419856" y="4151486"/>
            <a:ext cx="1097280" cy="292388"/>
          </a:xfrm>
          <a:prstGeom prst="rect">
            <a:avLst/>
          </a:prstGeom>
          <a:noFill/>
        </p:spPr>
        <p:txBody>
          <a:bodyPr wrap="square" lIns="0" tIns="0" rIns="0" bIns="0" anchor="ctr">
            <a:spAutoFit/>
          </a:bodyPr>
          <a:lstStyle/>
          <a:p>
            <a:pPr algn="ctr">
              <a:spcBef>
                <a:spcPts val="0"/>
              </a:spcBef>
              <a:spcAft>
                <a:spcPts val="100"/>
              </a:spcAft>
            </a:pPr>
            <a:r>
              <a:rPr lang="en-GB" sz="950" b="1">
                <a:solidFill>
                  <a:srgbClr val="FFFFFF"/>
                </a:solidFill>
                <a:latin typeface="Aptos"/>
              </a:rPr>
              <a:t>Duration-MtM</a:t>
            </a:r>
            <a:r>
              <a:rPr lang="el-GR" sz="950" b="1">
                <a:solidFill>
                  <a:srgbClr val="FFFFFF"/>
                </a:solidFill>
                <a:latin typeface="Aptos"/>
              </a:rPr>
              <a:t>Δ</a:t>
            </a:r>
            <a:r>
              <a:rPr lang="en-GB" sz="950" b="1">
                <a:solidFill>
                  <a:srgbClr val="FFFFFF"/>
                </a:solidFill>
                <a:latin typeface="Aptos"/>
              </a:rPr>
              <a:t>FV je Bucket</a:t>
            </a:r>
          </a:p>
        </p:txBody>
      </p:sp>
      <p:sp>
        <p:nvSpPr>
          <p:cNvPr id="14" name="TextBox 13"/>
          <p:cNvSpPr txBox="1"/>
          <p:nvPr/>
        </p:nvSpPr>
        <p:spPr>
          <a:xfrm>
            <a:off x="4572000" y="4174569"/>
            <a:ext cx="201168" cy="246221"/>
          </a:xfrm>
          <a:prstGeom prst="rect">
            <a:avLst/>
          </a:prstGeom>
          <a:noFill/>
        </p:spPr>
        <p:txBody>
          <a:bodyPr wrap="square" lIns="0" tIns="0" rIns="0" bIns="0" anchor="ctr">
            <a:spAutoFit/>
          </a:bodyPr>
          <a:lstStyle/>
          <a:p>
            <a:pPr algn="ctr">
              <a:spcBef>
                <a:spcPts val="0"/>
              </a:spcBef>
              <a:spcAft>
                <a:spcPts val="200"/>
              </a:spcAft>
            </a:pPr>
            <a:r>
              <a:rPr lang="en-GB" sz="1600" b="0">
                <a:solidFill>
                  <a:srgbClr val="4F6875"/>
                </a:solidFill>
                <a:latin typeface="Aptos"/>
              </a:rPr>
              <a:t>→</a:t>
            </a:r>
          </a:p>
        </p:txBody>
      </p:sp>
      <p:sp>
        <p:nvSpPr>
          <p:cNvPr id="15" name="Rectangle 14"/>
          <p:cNvSpPr/>
          <p:nvPr/>
        </p:nvSpPr>
        <p:spPr>
          <a:xfrm>
            <a:off x="4773168" y="3794760"/>
            <a:ext cx="1207008" cy="1005840"/>
          </a:xfrm>
          <a:prstGeom prst="rect">
            <a:avLst/>
          </a:prstGeom>
          <a:solidFill>
            <a:srgbClr val="0B5D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828032" y="4151486"/>
            <a:ext cx="1097280" cy="292388"/>
          </a:xfrm>
          <a:prstGeom prst="rect">
            <a:avLst/>
          </a:prstGeom>
          <a:noFill/>
        </p:spPr>
        <p:txBody>
          <a:bodyPr wrap="square" lIns="0" tIns="0" rIns="0" bIns="0" anchor="ctr">
            <a:spAutoFit/>
          </a:bodyPr>
          <a:lstStyle/>
          <a:p>
            <a:pPr algn="ctr">
              <a:spcBef>
                <a:spcPts val="0"/>
              </a:spcBef>
              <a:spcAft>
                <a:spcPts val="100"/>
              </a:spcAft>
            </a:pPr>
            <a:r>
              <a:rPr lang="en-GB" sz="950" b="1">
                <a:solidFill>
                  <a:srgbClr val="FFFFFF"/>
                </a:solidFill>
                <a:latin typeface="Aptos"/>
              </a:rPr>
              <a:t>IFRS-9-FilterP&amp;L / OCI / AC</a:t>
            </a:r>
          </a:p>
        </p:txBody>
      </p:sp>
      <p:sp>
        <p:nvSpPr>
          <p:cNvPr id="17" name="TextBox 16"/>
          <p:cNvSpPr txBox="1"/>
          <p:nvPr/>
        </p:nvSpPr>
        <p:spPr>
          <a:xfrm>
            <a:off x="5980176" y="4174569"/>
            <a:ext cx="201168" cy="246221"/>
          </a:xfrm>
          <a:prstGeom prst="rect">
            <a:avLst/>
          </a:prstGeom>
          <a:noFill/>
        </p:spPr>
        <p:txBody>
          <a:bodyPr wrap="square" lIns="0" tIns="0" rIns="0" bIns="0" anchor="ctr">
            <a:spAutoFit/>
          </a:bodyPr>
          <a:lstStyle/>
          <a:p>
            <a:pPr algn="ctr">
              <a:spcBef>
                <a:spcPts val="0"/>
              </a:spcBef>
              <a:spcAft>
                <a:spcPts val="200"/>
              </a:spcAft>
            </a:pPr>
            <a:r>
              <a:rPr lang="en-GB" sz="1600" b="0">
                <a:solidFill>
                  <a:srgbClr val="4F6875"/>
                </a:solidFill>
                <a:latin typeface="Aptos"/>
              </a:rPr>
              <a:t>→</a:t>
            </a:r>
          </a:p>
        </p:txBody>
      </p:sp>
      <p:sp>
        <p:nvSpPr>
          <p:cNvPr id="18" name="Rectangle 17"/>
          <p:cNvSpPr/>
          <p:nvPr/>
        </p:nvSpPr>
        <p:spPr>
          <a:xfrm>
            <a:off x="6181344" y="3794760"/>
            <a:ext cx="1207008" cy="1005840"/>
          </a:xfrm>
          <a:prstGeom prst="rect">
            <a:avLst/>
          </a:prstGeom>
          <a:solidFill>
            <a:srgbClr val="A52F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236208" y="4224583"/>
            <a:ext cx="1097280" cy="146194"/>
          </a:xfrm>
          <a:prstGeom prst="rect">
            <a:avLst/>
          </a:prstGeom>
          <a:noFill/>
        </p:spPr>
        <p:txBody>
          <a:bodyPr wrap="square" lIns="0" tIns="0" rIns="0" bIns="0" anchor="ctr">
            <a:spAutoFit/>
          </a:bodyPr>
          <a:lstStyle/>
          <a:p>
            <a:pPr algn="ctr">
              <a:spcBef>
                <a:spcPts val="0"/>
              </a:spcBef>
              <a:spcAft>
                <a:spcPts val="100"/>
              </a:spcAft>
            </a:pPr>
            <a:r>
              <a:rPr lang="en-GB" sz="950" b="1">
                <a:solidFill>
                  <a:srgbClr val="FFFFFF"/>
                </a:solidFill>
                <a:latin typeface="Aptos"/>
              </a:rPr>
              <a:t>CET1-Quote</a:t>
            </a:r>
          </a:p>
        </p:txBody>
      </p:sp>
      <p:sp>
        <p:nvSpPr>
          <p:cNvPr id="20" name="TextBox 19"/>
          <p:cNvSpPr txBox="1"/>
          <p:nvPr/>
        </p:nvSpPr>
        <p:spPr>
          <a:xfrm>
            <a:off x="548640" y="4956048"/>
            <a:ext cx="8229600" cy="169277"/>
          </a:xfrm>
          <a:prstGeom prst="rect">
            <a:avLst/>
          </a:prstGeom>
          <a:noFill/>
        </p:spPr>
        <p:txBody>
          <a:bodyPr wrap="square" lIns="0" tIns="0" rIns="0" bIns="0" anchor="t">
            <a:spAutoFit/>
          </a:bodyPr>
          <a:lstStyle/>
          <a:p>
            <a:pPr algn="l">
              <a:spcBef>
                <a:spcPts val="0"/>
              </a:spcBef>
              <a:spcAft>
                <a:spcPts val="200"/>
              </a:spcAft>
            </a:pPr>
            <a:r>
              <a:rPr lang="de-DE" sz="1100" b="0">
                <a:solidFill>
                  <a:srgbClr val="4F6875"/>
                </a:solidFill>
                <a:latin typeface="Aptos"/>
              </a:rPr>
              <a:t>Ende-zu-Ende-Kette · nur der Zins wirkt hier; der Brent-Faktor läuft ausschließlich über das Kreditbuch.</a:t>
            </a:r>
          </a:p>
        </p:txBody>
      </p:sp>
      <p:sp>
        <p:nvSpPr>
          <p:cNvPr id="21" name="Rectangle 20"/>
          <p:cNvSpPr/>
          <p:nvPr/>
        </p:nvSpPr>
        <p:spPr>
          <a:xfrm>
            <a:off x="7589520" y="1645920"/>
            <a:ext cx="4114800" cy="3703320"/>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813910" y="1828800"/>
            <a:ext cx="3703320" cy="169277"/>
          </a:xfrm>
          <a:prstGeom prst="rect">
            <a:avLst/>
          </a:prstGeom>
          <a:noFill/>
        </p:spPr>
        <p:txBody>
          <a:bodyPr wrap="square" lIns="0" tIns="0" rIns="0" bIns="0" anchor="t">
            <a:spAutoFit/>
          </a:bodyPr>
          <a:lstStyle/>
          <a:p>
            <a:pPr algn="l">
              <a:spcBef>
                <a:spcPts val="0"/>
              </a:spcBef>
              <a:spcAft>
                <a:spcPts val="200"/>
              </a:spcAft>
            </a:pPr>
            <a:r>
              <a:rPr lang="en-GB" sz="1100" b="1">
                <a:solidFill>
                  <a:srgbClr val="051C2C"/>
                </a:solidFill>
                <a:latin typeface="Aptos"/>
              </a:rPr>
              <a:t>DATENBASIS AUF EINEN BLICK</a:t>
            </a:r>
          </a:p>
        </p:txBody>
      </p:sp>
      <p:sp>
        <p:nvSpPr>
          <p:cNvPr id="23" name="TextBox 22"/>
          <p:cNvSpPr txBox="1"/>
          <p:nvPr/>
        </p:nvSpPr>
        <p:spPr>
          <a:xfrm>
            <a:off x="7813910" y="2267712"/>
            <a:ext cx="3703320" cy="192360"/>
          </a:xfrm>
          <a:prstGeom prst="rect">
            <a:avLst/>
          </a:prstGeom>
          <a:noFill/>
        </p:spPr>
        <p:txBody>
          <a:bodyPr wrap="square" lIns="0" tIns="0" rIns="0" bIns="0" anchor="t">
            <a:spAutoFit/>
          </a:bodyPr>
          <a:lstStyle/>
          <a:p>
            <a:pPr algn="l">
              <a:spcBef>
                <a:spcPts val="0"/>
              </a:spcBef>
              <a:spcAft>
                <a:spcPts val="200"/>
              </a:spcAft>
            </a:pPr>
            <a:r>
              <a:rPr lang="en-GB" sz="1250" b="1">
                <a:solidFill>
                  <a:srgbClr val="051C2C"/>
                </a:solidFill>
                <a:latin typeface="Aptos"/>
              </a:rPr>
              <a:t>10 IRB-Banken</a:t>
            </a:r>
          </a:p>
        </p:txBody>
      </p:sp>
      <p:sp>
        <p:nvSpPr>
          <p:cNvPr id="24" name="TextBox 23"/>
          <p:cNvSpPr txBox="1"/>
          <p:nvPr/>
        </p:nvSpPr>
        <p:spPr>
          <a:xfrm>
            <a:off x="7813910" y="2542032"/>
            <a:ext cx="3703320" cy="161583"/>
          </a:xfrm>
          <a:prstGeom prst="rect">
            <a:avLst/>
          </a:prstGeom>
          <a:noFill/>
        </p:spPr>
        <p:txBody>
          <a:bodyPr wrap="square" lIns="0" tIns="0" rIns="0" bIns="0" anchor="t">
            <a:spAutoFit/>
          </a:bodyPr>
          <a:lstStyle/>
          <a:p>
            <a:pPr algn="l">
              <a:spcBef>
                <a:spcPts val="0"/>
              </a:spcBef>
              <a:spcAft>
                <a:spcPts val="200"/>
              </a:spcAft>
            </a:pPr>
            <a:r>
              <a:rPr lang="de-DE" sz="1050" b="0">
                <a:solidFill>
                  <a:srgbClr val="4F6875"/>
                </a:solidFill>
                <a:latin typeface="Aptos"/>
              </a:rPr>
              <a:t>EBA Transparency, einheitlicher Stichtag Juni 2025</a:t>
            </a:r>
          </a:p>
        </p:txBody>
      </p:sp>
      <p:sp>
        <p:nvSpPr>
          <p:cNvPr id="25" name="TextBox 24"/>
          <p:cNvSpPr txBox="1"/>
          <p:nvPr/>
        </p:nvSpPr>
        <p:spPr>
          <a:xfrm>
            <a:off x="7813910" y="3017520"/>
            <a:ext cx="3703320" cy="192360"/>
          </a:xfrm>
          <a:prstGeom prst="rect">
            <a:avLst/>
          </a:prstGeom>
          <a:noFill/>
        </p:spPr>
        <p:txBody>
          <a:bodyPr wrap="square" lIns="0" tIns="0" rIns="0" bIns="0" anchor="t">
            <a:spAutoFit/>
          </a:bodyPr>
          <a:lstStyle/>
          <a:p>
            <a:pPr algn="l">
              <a:spcBef>
                <a:spcPts val="0"/>
              </a:spcBef>
              <a:spcAft>
                <a:spcPts val="200"/>
              </a:spcAft>
            </a:pPr>
            <a:r>
              <a:rPr lang="en-GB" sz="1250" b="1">
                <a:solidFill>
                  <a:srgbClr val="051C2C"/>
                </a:solidFill>
                <a:latin typeface="Aptos"/>
              </a:rPr>
              <a:t>tr_sov.csv</a:t>
            </a:r>
          </a:p>
        </p:txBody>
      </p:sp>
      <p:sp>
        <p:nvSpPr>
          <p:cNvPr id="26" name="TextBox 25"/>
          <p:cNvSpPr txBox="1"/>
          <p:nvPr/>
        </p:nvSpPr>
        <p:spPr>
          <a:xfrm>
            <a:off x="7813910" y="3291839"/>
            <a:ext cx="3703320" cy="161583"/>
          </a:xfrm>
          <a:prstGeom prst="rect">
            <a:avLst/>
          </a:prstGeom>
          <a:noFill/>
        </p:spPr>
        <p:txBody>
          <a:bodyPr wrap="square" lIns="0" tIns="0" rIns="0" bIns="0" anchor="t">
            <a:spAutoFit/>
          </a:bodyPr>
          <a:lstStyle/>
          <a:p>
            <a:pPr algn="l">
              <a:spcBef>
                <a:spcPts val="0"/>
              </a:spcBef>
              <a:spcAft>
                <a:spcPts val="200"/>
              </a:spcAft>
            </a:pPr>
            <a:r>
              <a:rPr lang="de-DE" sz="1050" b="0">
                <a:solidFill>
                  <a:srgbClr val="4F6875"/>
                </a:solidFill>
                <a:latin typeface="Aptos"/>
              </a:rPr>
              <a:t>Bestände je Bank × Land × Laufzeit × IFRS-9-Klasse</a:t>
            </a:r>
          </a:p>
        </p:txBody>
      </p:sp>
      <p:sp>
        <p:nvSpPr>
          <p:cNvPr id="27" name="TextBox 26"/>
          <p:cNvSpPr txBox="1"/>
          <p:nvPr/>
        </p:nvSpPr>
        <p:spPr>
          <a:xfrm>
            <a:off x="7813910" y="3767328"/>
            <a:ext cx="3703320" cy="192360"/>
          </a:xfrm>
          <a:prstGeom prst="rect">
            <a:avLst/>
          </a:prstGeom>
          <a:noFill/>
        </p:spPr>
        <p:txBody>
          <a:bodyPr wrap="square" lIns="0" tIns="0" rIns="0" bIns="0" anchor="t">
            <a:spAutoFit/>
          </a:bodyPr>
          <a:lstStyle/>
          <a:p>
            <a:pPr algn="l">
              <a:spcBef>
                <a:spcPts val="0"/>
              </a:spcBef>
              <a:spcAft>
                <a:spcPts val="200"/>
              </a:spcAft>
            </a:pPr>
            <a:r>
              <a:rPr lang="en-GB" sz="1250" b="1">
                <a:solidFill>
                  <a:srgbClr val="051C2C"/>
                </a:solidFill>
                <a:latin typeface="Aptos"/>
              </a:rPr>
              <a:t>4 IFRS-9-Items</a:t>
            </a:r>
          </a:p>
        </p:txBody>
      </p:sp>
      <p:sp>
        <p:nvSpPr>
          <p:cNvPr id="28" name="TextBox 27"/>
          <p:cNvSpPr txBox="1"/>
          <p:nvPr/>
        </p:nvSpPr>
        <p:spPr>
          <a:xfrm>
            <a:off x="7813910" y="4041648"/>
            <a:ext cx="3703320" cy="161583"/>
          </a:xfrm>
          <a:prstGeom prst="rect">
            <a:avLst/>
          </a:prstGeom>
          <a:noFill/>
        </p:spPr>
        <p:txBody>
          <a:bodyPr wrap="square" lIns="0" tIns="0" rIns="0" bIns="0" anchor="t">
            <a:spAutoFit/>
          </a:bodyPr>
          <a:lstStyle/>
          <a:p>
            <a:pPr algn="l">
              <a:spcBef>
                <a:spcPts val="0"/>
              </a:spcBef>
              <a:spcAft>
                <a:spcPts val="200"/>
              </a:spcAft>
            </a:pPr>
            <a:r>
              <a:rPr lang="en-GB" sz="1050" b="0">
                <a:solidFill>
                  <a:srgbClr val="4F6875"/>
                </a:solidFill>
                <a:latin typeface="Aptos"/>
              </a:rPr>
              <a:t>2520812 HfT · 2520813 FVTPL · 2520814 FVOCI · 2520815 AC</a:t>
            </a:r>
          </a:p>
        </p:txBody>
      </p:sp>
      <p:sp>
        <p:nvSpPr>
          <p:cNvPr id="29" name="TextBox 28"/>
          <p:cNvSpPr txBox="1"/>
          <p:nvPr/>
        </p:nvSpPr>
        <p:spPr>
          <a:xfrm>
            <a:off x="7813910" y="4517136"/>
            <a:ext cx="3703320" cy="192360"/>
          </a:xfrm>
          <a:prstGeom prst="rect">
            <a:avLst/>
          </a:prstGeom>
          <a:noFill/>
        </p:spPr>
        <p:txBody>
          <a:bodyPr wrap="square" lIns="0" tIns="0" rIns="0" bIns="0" anchor="t">
            <a:spAutoFit/>
          </a:bodyPr>
          <a:lstStyle/>
          <a:p>
            <a:pPr algn="l">
              <a:spcBef>
                <a:spcPts val="0"/>
              </a:spcBef>
              <a:spcAft>
                <a:spcPts val="200"/>
              </a:spcAft>
            </a:pPr>
            <a:r>
              <a:rPr lang="en-GB" sz="1250" b="1">
                <a:solidFill>
                  <a:srgbClr val="051C2C"/>
                </a:solidFill>
                <a:latin typeface="Aptos"/>
              </a:rPr>
              <a:t>Zinskurve</a:t>
            </a:r>
          </a:p>
        </p:txBody>
      </p:sp>
      <p:sp>
        <p:nvSpPr>
          <p:cNvPr id="30" name="TextBox 29"/>
          <p:cNvSpPr txBox="1"/>
          <p:nvPr/>
        </p:nvSpPr>
        <p:spPr>
          <a:xfrm>
            <a:off x="7813910" y="4791456"/>
            <a:ext cx="3703320" cy="161583"/>
          </a:xfrm>
          <a:prstGeom prst="rect">
            <a:avLst/>
          </a:prstGeom>
          <a:noFill/>
        </p:spPr>
        <p:txBody>
          <a:bodyPr wrap="square" lIns="0" tIns="0" rIns="0" bIns="0" anchor="t">
            <a:spAutoFit/>
          </a:bodyPr>
          <a:lstStyle/>
          <a:p>
            <a:pPr algn="l">
              <a:spcBef>
                <a:spcPts val="0"/>
              </a:spcBef>
              <a:spcAft>
                <a:spcPts val="200"/>
              </a:spcAft>
            </a:pPr>
            <a:r>
              <a:rPr lang="de-DE" sz="1050" b="0">
                <a:solidFill>
                  <a:srgbClr val="4F6875"/>
                </a:solidFill>
                <a:latin typeface="Aptos"/>
              </a:rPr>
              <a:t>Bundesbank-Svensson, </a:t>
            </a:r>
            <a:r>
              <a:rPr lang="de-DE" sz="1050" b="0" err="1">
                <a:solidFill>
                  <a:srgbClr val="4F6875"/>
                </a:solidFill>
                <a:latin typeface="Aptos"/>
              </a:rPr>
              <a:t>täglich</a:t>
            </a:r>
            <a:r>
              <a:rPr lang="de-DE" sz="1050" b="0">
                <a:solidFill>
                  <a:srgbClr val="4F6875"/>
                </a:solidFill>
                <a:latin typeface="Aptos"/>
              </a:rPr>
              <a:t> – Baseline für den Shift</a:t>
            </a:r>
          </a:p>
        </p:txBody>
      </p:sp>
      <p:sp>
        <p:nvSpPr>
          <p:cNvPr id="31" name="TextBox 30"/>
          <p:cNvSpPr txBox="1"/>
          <p:nvPr/>
        </p:nvSpPr>
        <p:spPr>
          <a:xfrm>
            <a:off x="457200" y="6519672"/>
            <a:ext cx="7315200" cy="138499"/>
          </a:xfrm>
          <a:prstGeom prst="rect">
            <a:avLst/>
          </a:prstGeom>
          <a:noFill/>
        </p:spPr>
        <p:txBody>
          <a:bodyPr wrap="square" lIns="0" tIns="0" rIns="0" bIns="0" anchor="t">
            <a:spAutoFit/>
          </a:bodyPr>
          <a:lstStyle/>
          <a:p>
            <a:pPr algn="l">
              <a:spcBef>
                <a:spcPts val="0"/>
              </a:spcBef>
              <a:spcAft>
                <a:spcPts val="200"/>
              </a:spcAft>
            </a:pPr>
            <a:r>
              <a:rPr lang="en-GB" sz="900" b="0">
                <a:solidFill>
                  <a:srgbClr val="71858F"/>
                </a:solidFill>
                <a:latin typeface="Aptos"/>
              </a:rPr>
              <a:t>Marktbuch · Sovereign / Rate Channel</a:t>
            </a:r>
          </a:p>
        </p:txBody>
      </p:sp>
      <p:sp>
        <p:nvSpPr>
          <p:cNvPr id="32" name="CodexSlideNumber">
            <a:extLst>
              <a:ext uri="{FF2B5EF4-FFF2-40B4-BE49-F238E27FC236}">
                <a16:creationId xmlns:a16="http://schemas.microsoft.com/office/drawing/2014/main" id="{3515C3FE-7CEB-8056-F147-BAB796932156}"/>
              </a:ext>
            </a:extLst>
          </p:cNvPr>
          <p:cNvSpPr txBox="1"/>
          <p:nvPr/>
        </p:nvSpPr>
        <p:spPr>
          <a:xfrm>
            <a:off x="11226800" y="6553200"/>
            <a:ext cx="736600" cy="123111"/>
          </a:xfrm>
          <a:prstGeom prst="rect">
            <a:avLst/>
          </a:prstGeom>
          <a:noFill/>
        </p:spPr>
        <p:txBody>
          <a:bodyPr vert="horz" lIns="0" tIns="0" rIns="0" bIns="0" rtlCol="0">
            <a:spAutoFit/>
          </a:bodyPr>
          <a:lstStyle/>
          <a:p>
            <a:pPr algn="r"/>
            <a:r>
              <a:rPr lang="en-US" sz="800">
                <a:solidFill>
                  <a:srgbClr val="525252"/>
                </a:solidFill>
                <a:latin typeface="Arial" panose="020B0604020202020204" pitchFamily="34" charset="0"/>
              </a:rPr>
              <a:t>33 / 64</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84048"/>
            <a:ext cx="11155680" cy="132793"/>
          </a:xfrm>
          <a:prstGeom prst="rect">
            <a:avLst/>
          </a:prstGeom>
          <a:noFill/>
        </p:spPr>
        <p:txBody>
          <a:bodyPr wrap="square" lIns="0" tIns="0" rIns="0" bIns="0" anchor="t">
            <a:spAutoFit/>
          </a:bodyPr>
          <a:lstStyle/>
          <a:p>
            <a:pPr>
              <a:spcBef>
                <a:spcPts val="0"/>
              </a:spcBef>
              <a:spcAft>
                <a:spcPts val="200"/>
              </a:spcAft>
            </a:pPr>
            <a:r>
              <a:rPr lang="en-GB" sz="863" b="1" dirty="0">
                <a:solidFill>
                  <a:schemeClr val="tx2"/>
                </a:solidFill>
                <a:latin typeface="Aptos"/>
              </a:rPr>
              <a:t>SUB-TAB 1 · YIELD-CURVE INPUT</a:t>
            </a:r>
          </a:p>
        </p:txBody>
      </p:sp>
      <p:sp>
        <p:nvSpPr>
          <p:cNvPr id="4" name="TextBox 3"/>
          <p:cNvSpPr txBox="1"/>
          <p:nvPr/>
        </p:nvSpPr>
        <p:spPr>
          <a:xfrm>
            <a:off x="548640" y="658368"/>
            <a:ext cx="11155680" cy="380873"/>
          </a:xfrm>
          <a:prstGeom prst="rect">
            <a:avLst/>
          </a:prstGeom>
          <a:noFill/>
        </p:spPr>
        <p:txBody>
          <a:bodyPr wrap="square" lIns="0" tIns="0" rIns="0" bIns="0" anchor="t">
            <a:spAutoFit/>
          </a:bodyPr>
          <a:lstStyle/>
          <a:p>
            <a:pPr algn="l">
              <a:spcBef>
                <a:spcPts val="0"/>
              </a:spcBef>
              <a:spcAft>
                <a:spcPts val="200"/>
              </a:spcAft>
            </a:pPr>
            <a:r>
              <a:rPr lang="de-DE" sz="2475" b="1">
                <a:solidFill>
                  <a:srgbClr val="051C2C"/>
                </a:solidFill>
                <a:latin typeface="Aptos Display"/>
              </a:rPr>
              <a:t>Zinskurve als gemeinsamer Input: Parallel-Shift</a:t>
            </a:r>
          </a:p>
        </p:txBody>
      </p:sp>
      <p:sp>
        <p:nvSpPr>
          <p:cNvPr id="5" name="Rectangle 4"/>
          <p:cNvSpPr/>
          <p:nvPr/>
        </p:nvSpPr>
        <p:spPr>
          <a:xfrm>
            <a:off x="548640" y="1600200"/>
            <a:ext cx="6675120" cy="3611880"/>
          </a:xfrm>
          <a:prstGeom prst="rect">
            <a:avLst/>
          </a:prstGeom>
          <a:solidFill>
            <a:srgbClr val="FFFFFF"/>
          </a:solidFill>
          <a:ln w="9525">
            <a:solidFill>
              <a:srgbClr val="D9E2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1755648"/>
            <a:ext cx="6217920" cy="169277"/>
          </a:xfrm>
          <a:prstGeom prst="rect">
            <a:avLst/>
          </a:prstGeom>
          <a:noFill/>
        </p:spPr>
        <p:txBody>
          <a:bodyPr wrap="square" lIns="0" tIns="0" rIns="0" bIns="0" anchor="t">
            <a:spAutoFit/>
          </a:bodyPr>
          <a:lstStyle/>
          <a:p>
            <a:pPr algn="l">
              <a:spcBef>
                <a:spcPts val="0"/>
              </a:spcBef>
              <a:spcAft>
                <a:spcPts val="200"/>
              </a:spcAft>
            </a:pPr>
            <a:r>
              <a:rPr lang="nn-NO" sz="1100" b="1">
                <a:solidFill>
                  <a:srgbClr val="051C2C"/>
                </a:solidFill>
                <a:latin typeface="Aptos"/>
              </a:rPr>
              <a:t>ZINSKURVE · BASELINE </a:t>
            </a:r>
            <a:r>
              <a:rPr lang="nn-NO" sz="1100" b="1" err="1">
                <a:solidFill>
                  <a:srgbClr val="051C2C"/>
                </a:solidFill>
                <a:latin typeface="Aptos"/>
              </a:rPr>
              <a:t>vs</a:t>
            </a:r>
            <a:r>
              <a:rPr lang="nn-NO" sz="1100" b="1">
                <a:solidFill>
                  <a:srgbClr val="051C2C"/>
                </a:solidFill>
                <a:latin typeface="Aptos"/>
              </a:rPr>
              <a:t>. STRESS (</a:t>
            </a:r>
            <a:r>
              <a:rPr lang="nn-NO" sz="1100" b="1" err="1">
                <a:solidFill>
                  <a:srgbClr val="051C2C"/>
                </a:solidFill>
                <a:latin typeface="Aptos"/>
              </a:rPr>
              <a:t>hier</a:t>
            </a:r>
            <a:r>
              <a:rPr lang="nn-NO" sz="1100" b="1">
                <a:solidFill>
                  <a:srgbClr val="051C2C"/>
                </a:solidFill>
                <a:latin typeface="Aptos"/>
              </a:rPr>
              <a:t> +2,00 PP)</a:t>
            </a:r>
          </a:p>
        </p:txBody>
      </p:sp>
      <p:sp>
        <p:nvSpPr>
          <p:cNvPr id="7" name="Rectangle 6"/>
          <p:cNvSpPr/>
          <p:nvPr/>
        </p:nvSpPr>
        <p:spPr>
          <a:xfrm>
            <a:off x="914400" y="3649370"/>
            <a:ext cx="237744" cy="940917"/>
          </a:xfrm>
          <a:prstGeom prst="rect">
            <a:avLst/>
          </a:prstGeom>
          <a:solidFill>
            <a:srgbClr val="0B5D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1207008" y="2881274"/>
            <a:ext cx="237744" cy="1709013"/>
          </a:xfrm>
          <a:prstGeom prst="rect">
            <a:avLst/>
          </a:prstGeom>
          <a:solidFill>
            <a:srgbClr val="A52F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41248" y="4636007"/>
            <a:ext cx="685800" cy="130805"/>
          </a:xfrm>
          <a:prstGeom prst="rect">
            <a:avLst/>
          </a:prstGeom>
          <a:noFill/>
        </p:spPr>
        <p:txBody>
          <a:bodyPr wrap="square" lIns="0" tIns="0" rIns="0" bIns="0" anchor="t">
            <a:spAutoFit/>
          </a:bodyPr>
          <a:lstStyle/>
          <a:p>
            <a:pPr algn="ctr">
              <a:spcBef>
                <a:spcPts val="0"/>
              </a:spcBef>
              <a:spcAft>
                <a:spcPts val="200"/>
              </a:spcAft>
            </a:pPr>
            <a:r>
              <a:rPr lang="en-GB" sz="850" b="0">
                <a:solidFill>
                  <a:srgbClr val="4F6875"/>
                </a:solidFill>
                <a:latin typeface="Aptos"/>
              </a:rPr>
              <a:t>1J</a:t>
            </a:r>
          </a:p>
        </p:txBody>
      </p:sp>
      <p:sp>
        <p:nvSpPr>
          <p:cNvPr id="10" name="TextBox 9"/>
          <p:cNvSpPr txBox="1"/>
          <p:nvPr/>
        </p:nvSpPr>
        <p:spPr>
          <a:xfrm>
            <a:off x="1097280" y="2698394"/>
            <a:ext cx="548640" cy="115416"/>
          </a:xfrm>
          <a:prstGeom prst="rect">
            <a:avLst/>
          </a:prstGeom>
          <a:noFill/>
        </p:spPr>
        <p:txBody>
          <a:bodyPr wrap="square" lIns="0" tIns="0" rIns="0" bIns="0" anchor="t">
            <a:spAutoFit/>
          </a:bodyPr>
          <a:lstStyle/>
          <a:p>
            <a:pPr algn="ctr">
              <a:spcBef>
                <a:spcPts val="0"/>
              </a:spcBef>
              <a:spcAft>
                <a:spcPts val="200"/>
              </a:spcAft>
            </a:pPr>
            <a:r>
              <a:rPr lang="en-GB" sz="750" b="1">
                <a:solidFill>
                  <a:srgbClr val="A52F4D"/>
                </a:solidFill>
                <a:latin typeface="Aptos"/>
              </a:rPr>
              <a:t>4,5</a:t>
            </a:r>
          </a:p>
        </p:txBody>
      </p:sp>
      <p:sp>
        <p:nvSpPr>
          <p:cNvPr id="11" name="Rectangle 10"/>
          <p:cNvSpPr/>
          <p:nvPr/>
        </p:nvSpPr>
        <p:spPr>
          <a:xfrm>
            <a:off x="1883664" y="3603284"/>
            <a:ext cx="237744" cy="987003"/>
          </a:xfrm>
          <a:prstGeom prst="rect">
            <a:avLst/>
          </a:prstGeom>
          <a:solidFill>
            <a:srgbClr val="0B5D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2176272" y="2835188"/>
            <a:ext cx="237744" cy="1755099"/>
          </a:xfrm>
          <a:prstGeom prst="rect">
            <a:avLst/>
          </a:prstGeom>
          <a:solidFill>
            <a:srgbClr val="A52F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810512" y="4636007"/>
            <a:ext cx="685800" cy="130805"/>
          </a:xfrm>
          <a:prstGeom prst="rect">
            <a:avLst/>
          </a:prstGeom>
          <a:noFill/>
        </p:spPr>
        <p:txBody>
          <a:bodyPr wrap="square" lIns="0" tIns="0" rIns="0" bIns="0" anchor="t">
            <a:spAutoFit/>
          </a:bodyPr>
          <a:lstStyle/>
          <a:p>
            <a:pPr algn="ctr">
              <a:spcBef>
                <a:spcPts val="0"/>
              </a:spcBef>
              <a:spcAft>
                <a:spcPts val="200"/>
              </a:spcAft>
            </a:pPr>
            <a:r>
              <a:rPr lang="en-GB" sz="850" b="0">
                <a:solidFill>
                  <a:srgbClr val="4F6875"/>
                </a:solidFill>
                <a:latin typeface="Aptos"/>
              </a:rPr>
              <a:t>2J</a:t>
            </a:r>
          </a:p>
        </p:txBody>
      </p:sp>
      <p:sp>
        <p:nvSpPr>
          <p:cNvPr id="14" name="TextBox 13"/>
          <p:cNvSpPr txBox="1"/>
          <p:nvPr/>
        </p:nvSpPr>
        <p:spPr>
          <a:xfrm>
            <a:off x="2066544" y="2652308"/>
            <a:ext cx="548640" cy="115416"/>
          </a:xfrm>
          <a:prstGeom prst="rect">
            <a:avLst/>
          </a:prstGeom>
          <a:noFill/>
        </p:spPr>
        <p:txBody>
          <a:bodyPr wrap="square" lIns="0" tIns="0" rIns="0" bIns="0" anchor="t">
            <a:spAutoFit/>
          </a:bodyPr>
          <a:lstStyle/>
          <a:p>
            <a:pPr algn="ctr">
              <a:spcBef>
                <a:spcPts val="0"/>
              </a:spcBef>
              <a:spcAft>
                <a:spcPts val="200"/>
              </a:spcAft>
            </a:pPr>
            <a:r>
              <a:rPr lang="en-GB" sz="750" b="1">
                <a:solidFill>
                  <a:srgbClr val="A52F4D"/>
                </a:solidFill>
                <a:latin typeface="Aptos"/>
              </a:rPr>
              <a:t>4,6</a:t>
            </a:r>
          </a:p>
        </p:txBody>
      </p:sp>
      <p:sp>
        <p:nvSpPr>
          <p:cNvPr id="15" name="Rectangle 14"/>
          <p:cNvSpPr/>
          <p:nvPr/>
        </p:nvSpPr>
        <p:spPr>
          <a:xfrm>
            <a:off x="2852928" y="3549517"/>
            <a:ext cx="237744" cy="1040770"/>
          </a:xfrm>
          <a:prstGeom prst="rect">
            <a:avLst/>
          </a:prstGeom>
          <a:solidFill>
            <a:srgbClr val="0B5D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3145536" y="2781421"/>
            <a:ext cx="237744" cy="1808866"/>
          </a:xfrm>
          <a:prstGeom prst="rect">
            <a:avLst/>
          </a:prstGeom>
          <a:solidFill>
            <a:srgbClr val="A52F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779776" y="4636007"/>
            <a:ext cx="685800" cy="130805"/>
          </a:xfrm>
          <a:prstGeom prst="rect">
            <a:avLst/>
          </a:prstGeom>
          <a:noFill/>
        </p:spPr>
        <p:txBody>
          <a:bodyPr wrap="square" lIns="0" tIns="0" rIns="0" bIns="0" anchor="t">
            <a:spAutoFit/>
          </a:bodyPr>
          <a:lstStyle/>
          <a:p>
            <a:pPr algn="ctr">
              <a:spcBef>
                <a:spcPts val="0"/>
              </a:spcBef>
              <a:spcAft>
                <a:spcPts val="200"/>
              </a:spcAft>
            </a:pPr>
            <a:r>
              <a:rPr lang="en-GB" sz="850" b="0">
                <a:solidFill>
                  <a:srgbClr val="4F6875"/>
                </a:solidFill>
                <a:latin typeface="Aptos"/>
              </a:rPr>
              <a:t>5J</a:t>
            </a:r>
          </a:p>
        </p:txBody>
      </p:sp>
      <p:sp>
        <p:nvSpPr>
          <p:cNvPr id="18" name="TextBox 17"/>
          <p:cNvSpPr txBox="1"/>
          <p:nvPr/>
        </p:nvSpPr>
        <p:spPr>
          <a:xfrm>
            <a:off x="3035808" y="2598541"/>
            <a:ext cx="548640" cy="115416"/>
          </a:xfrm>
          <a:prstGeom prst="rect">
            <a:avLst/>
          </a:prstGeom>
          <a:noFill/>
        </p:spPr>
        <p:txBody>
          <a:bodyPr wrap="square" lIns="0" tIns="0" rIns="0" bIns="0" anchor="t">
            <a:spAutoFit/>
          </a:bodyPr>
          <a:lstStyle/>
          <a:p>
            <a:pPr algn="ctr">
              <a:spcBef>
                <a:spcPts val="0"/>
              </a:spcBef>
              <a:spcAft>
                <a:spcPts val="200"/>
              </a:spcAft>
            </a:pPr>
            <a:r>
              <a:rPr lang="en-GB" sz="750" b="1">
                <a:solidFill>
                  <a:srgbClr val="A52F4D"/>
                </a:solidFill>
                <a:latin typeface="Aptos"/>
              </a:rPr>
              <a:t>4,7</a:t>
            </a:r>
          </a:p>
        </p:txBody>
      </p:sp>
      <p:sp>
        <p:nvSpPr>
          <p:cNvPr id="19" name="Rectangle 18"/>
          <p:cNvSpPr/>
          <p:nvPr/>
        </p:nvSpPr>
        <p:spPr>
          <a:xfrm>
            <a:off x="3822191" y="3395898"/>
            <a:ext cx="237744" cy="1194389"/>
          </a:xfrm>
          <a:prstGeom prst="rect">
            <a:avLst/>
          </a:prstGeom>
          <a:solidFill>
            <a:srgbClr val="0B5D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4114799" y="2627802"/>
            <a:ext cx="237744" cy="1962485"/>
          </a:xfrm>
          <a:prstGeom prst="rect">
            <a:avLst/>
          </a:prstGeom>
          <a:solidFill>
            <a:srgbClr val="A52F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749039" y="4636007"/>
            <a:ext cx="685800" cy="130805"/>
          </a:xfrm>
          <a:prstGeom prst="rect">
            <a:avLst/>
          </a:prstGeom>
          <a:noFill/>
        </p:spPr>
        <p:txBody>
          <a:bodyPr wrap="square" lIns="0" tIns="0" rIns="0" bIns="0" anchor="t">
            <a:spAutoFit/>
          </a:bodyPr>
          <a:lstStyle/>
          <a:p>
            <a:pPr algn="ctr">
              <a:spcBef>
                <a:spcPts val="0"/>
              </a:spcBef>
              <a:spcAft>
                <a:spcPts val="200"/>
              </a:spcAft>
            </a:pPr>
            <a:r>
              <a:rPr lang="en-GB" sz="850" b="0">
                <a:solidFill>
                  <a:srgbClr val="4F6875"/>
                </a:solidFill>
                <a:latin typeface="Aptos"/>
              </a:rPr>
              <a:t>10J</a:t>
            </a:r>
          </a:p>
        </p:txBody>
      </p:sp>
      <p:sp>
        <p:nvSpPr>
          <p:cNvPr id="22" name="TextBox 21"/>
          <p:cNvSpPr txBox="1"/>
          <p:nvPr/>
        </p:nvSpPr>
        <p:spPr>
          <a:xfrm>
            <a:off x="4005071" y="2444922"/>
            <a:ext cx="548640" cy="115416"/>
          </a:xfrm>
          <a:prstGeom prst="rect">
            <a:avLst/>
          </a:prstGeom>
          <a:noFill/>
        </p:spPr>
        <p:txBody>
          <a:bodyPr wrap="square" lIns="0" tIns="0" rIns="0" bIns="0" anchor="t">
            <a:spAutoFit/>
          </a:bodyPr>
          <a:lstStyle/>
          <a:p>
            <a:pPr algn="ctr">
              <a:spcBef>
                <a:spcPts val="0"/>
              </a:spcBef>
              <a:spcAft>
                <a:spcPts val="200"/>
              </a:spcAft>
            </a:pPr>
            <a:r>
              <a:rPr lang="en-GB" sz="750" b="1">
                <a:solidFill>
                  <a:srgbClr val="A52F4D"/>
                </a:solidFill>
                <a:latin typeface="Aptos"/>
              </a:rPr>
              <a:t>5,1</a:t>
            </a:r>
          </a:p>
        </p:txBody>
      </p:sp>
      <p:sp>
        <p:nvSpPr>
          <p:cNvPr id="23" name="Rectangle 22"/>
          <p:cNvSpPr/>
          <p:nvPr/>
        </p:nvSpPr>
        <p:spPr>
          <a:xfrm>
            <a:off x="4791456" y="3242279"/>
            <a:ext cx="237744" cy="1348008"/>
          </a:xfrm>
          <a:prstGeom prst="rect">
            <a:avLst/>
          </a:prstGeom>
          <a:solidFill>
            <a:srgbClr val="0B5D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5084064" y="2474183"/>
            <a:ext cx="237744" cy="2116104"/>
          </a:xfrm>
          <a:prstGeom prst="rect">
            <a:avLst/>
          </a:prstGeom>
          <a:solidFill>
            <a:srgbClr val="A52F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718304" y="4636007"/>
            <a:ext cx="685800" cy="130805"/>
          </a:xfrm>
          <a:prstGeom prst="rect">
            <a:avLst/>
          </a:prstGeom>
          <a:noFill/>
        </p:spPr>
        <p:txBody>
          <a:bodyPr wrap="square" lIns="0" tIns="0" rIns="0" bIns="0" anchor="t">
            <a:spAutoFit/>
          </a:bodyPr>
          <a:lstStyle/>
          <a:p>
            <a:pPr algn="ctr">
              <a:spcBef>
                <a:spcPts val="0"/>
              </a:spcBef>
              <a:spcAft>
                <a:spcPts val="200"/>
              </a:spcAft>
            </a:pPr>
            <a:r>
              <a:rPr lang="en-GB" sz="850" b="0">
                <a:solidFill>
                  <a:srgbClr val="4F6875"/>
                </a:solidFill>
                <a:latin typeface="Aptos"/>
              </a:rPr>
              <a:t>20J</a:t>
            </a:r>
          </a:p>
        </p:txBody>
      </p:sp>
      <p:sp>
        <p:nvSpPr>
          <p:cNvPr id="26" name="TextBox 25"/>
          <p:cNvSpPr txBox="1"/>
          <p:nvPr/>
        </p:nvSpPr>
        <p:spPr>
          <a:xfrm>
            <a:off x="4974336" y="2291303"/>
            <a:ext cx="548640" cy="115416"/>
          </a:xfrm>
          <a:prstGeom prst="rect">
            <a:avLst/>
          </a:prstGeom>
          <a:noFill/>
        </p:spPr>
        <p:txBody>
          <a:bodyPr wrap="square" lIns="0" tIns="0" rIns="0" bIns="0" anchor="t">
            <a:spAutoFit/>
          </a:bodyPr>
          <a:lstStyle/>
          <a:p>
            <a:pPr algn="ctr">
              <a:spcBef>
                <a:spcPts val="0"/>
              </a:spcBef>
              <a:spcAft>
                <a:spcPts val="200"/>
              </a:spcAft>
            </a:pPr>
            <a:r>
              <a:rPr lang="en-GB" sz="750" b="1">
                <a:solidFill>
                  <a:srgbClr val="A52F4D"/>
                </a:solidFill>
                <a:latin typeface="Aptos"/>
              </a:rPr>
              <a:t>5,5</a:t>
            </a:r>
          </a:p>
        </p:txBody>
      </p:sp>
      <p:sp>
        <p:nvSpPr>
          <p:cNvPr id="27" name="Rectangle 26"/>
          <p:cNvSpPr/>
          <p:nvPr/>
        </p:nvSpPr>
        <p:spPr>
          <a:xfrm>
            <a:off x="5760720" y="3188512"/>
            <a:ext cx="237744" cy="1401775"/>
          </a:xfrm>
          <a:prstGeom prst="rect">
            <a:avLst/>
          </a:prstGeom>
          <a:solidFill>
            <a:srgbClr val="0B5D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6053328" y="2420416"/>
            <a:ext cx="237744" cy="2169871"/>
          </a:xfrm>
          <a:prstGeom prst="rect">
            <a:avLst/>
          </a:prstGeom>
          <a:solidFill>
            <a:srgbClr val="A52F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687568" y="4636007"/>
            <a:ext cx="685800" cy="130805"/>
          </a:xfrm>
          <a:prstGeom prst="rect">
            <a:avLst/>
          </a:prstGeom>
          <a:noFill/>
        </p:spPr>
        <p:txBody>
          <a:bodyPr wrap="square" lIns="0" tIns="0" rIns="0" bIns="0" anchor="t">
            <a:spAutoFit/>
          </a:bodyPr>
          <a:lstStyle/>
          <a:p>
            <a:pPr algn="ctr">
              <a:spcBef>
                <a:spcPts val="0"/>
              </a:spcBef>
              <a:spcAft>
                <a:spcPts val="200"/>
              </a:spcAft>
            </a:pPr>
            <a:r>
              <a:rPr lang="en-GB" sz="850" b="0">
                <a:solidFill>
                  <a:srgbClr val="4F6875"/>
                </a:solidFill>
                <a:latin typeface="Aptos"/>
              </a:rPr>
              <a:t>30J</a:t>
            </a:r>
          </a:p>
        </p:txBody>
      </p:sp>
      <p:sp>
        <p:nvSpPr>
          <p:cNvPr id="30" name="TextBox 29"/>
          <p:cNvSpPr txBox="1"/>
          <p:nvPr/>
        </p:nvSpPr>
        <p:spPr>
          <a:xfrm>
            <a:off x="5943600" y="2237536"/>
            <a:ext cx="548640" cy="115416"/>
          </a:xfrm>
          <a:prstGeom prst="rect">
            <a:avLst/>
          </a:prstGeom>
          <a:noFill/>
        </p:spPr>
        <p:txBody>
          <a:bodyPr wrap="square" lIns="0" tIns="0" rIns="0" bIns="0" anchor="t">
            <a:spAutoFit/>
          </a:bodyPr>
          <a:lstStyle/>
          <a:p>
            <a:pPr algn="ctr">
              <a:spcBef>
                <a:spcPts val="0"/>
              </a:spcBef>
              <a:spcAft>
                <a:spcPts val="200"/>
              </a:spcAft>
            </a:pPr>
            <a:r>
              <a:rPr lang="en-GB" sz="750" b="1">
                <a:solidFill>
                  <a:srgbClr val="A52F4D"/>
                </a:solidFill>
                <a:latin typeface="Aptos"/>
              </a:rPr>
              <a:t>5,7</a:t>
            </a:r>
          </a:p>
        </p:txBody>
      </p:sp>
      <p:sp>
        <p:nvSpPr>
          <p:cNvPr id="31" name="Rectangle 30"/>
          <p:cNvSpPr/>
          <p:nvPr/>
        </p:nvSpPr>
        <p:spPr>
          <a:xfrm>
            <a:off x="914400" y="4846320"/>
            <a:ext cx="146304" cy="146304"/>
          </a:xfrm>
          <a:prstGeom prst="rect">
            <a:avLst/>
          </a:prstGeom>
          <a:solidFill>
            <a:srgbClr val="0B5D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1115568" y="4828032"/>
            <a:ext cx="1280160" cy="138499"/>
          </a:xfrm>
          <a:prstGeom prst="rect">
            <a:avLst/>
          </a:prstGeom>
          <a:noFill/>
        </p:spPr>
        <p:txBody>
          <a:bodyPr wrap="square" lIns="0" tIns="0" rIns="0" bIns="0" anchor="t">
            <a:spAutoFit/>
          </a:bodyPr>
          <a:lstStyle/>
          <a:p>
            <a:pPr algn="l">
              <a:spcBef>
                <a:spcPts val="0"/>
              </a:spcBef>
              <a:spcAft>
                <a:spcPts val="200"/>
              </a:spcAft>
            </a:pPr>
            <a:r>
              <a:rPr lang="en-GB" sz="900" b="0">
                <a:solidFill>
                  <a:srgbClr val="4F6875"/>
                </a:solidFill>
                <a:latin typeface="Aptos"/>
              </a:rPr>
              <a:t>Baseline</a:t>
            </a:r>
          </a:p>
        </p:txBody>
      </p:sp>
      <p:sp>
        <p:nvSpPr>
          <p:cNvPr id="33" name="Rectangle 32"/>
          <p:cNvSpPr/>
          <p:nvPr/>
        </p:nvSpPr>
        <p:spPr>
          <a:xfrm>
            <a:off x="2331720" y="4846320"/>
            <a:ext cx="146304" cy="146304"/>
          </a:xfrm>
          <a:prstGeom prst="rect">
            <a:avLst/>
          </a:prstGeom>
          <a:solidFill>
            <a:srgbClr val="A52F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2532888" y="4828032"/>
            <a:ext cx="2011680" cy="138499"/>
          </a:xfrm>
          <a:prstGeom prst="rect">
            <a:avLst/>
          </a:prstGeom>
          <a:noFill/>
        </p:spPr>
        <p:txBody>
          <a:bodyPr wrap="square" lIns="0" tIns="0" rIns="0" bIns="0" anchor="t">
            <a:spAutoFit/>
          </a:bodyPr>
          <a:lstStyle/>
          <a:p>
            <a:pPr algn="l">
              <a:spcBef>
                <a:spcPts val="0"/>
              </a:spcBef>
              <a:spcAft>
                <a:spcPts val="200"/>
              </a:spcAft>
            </a:pPr>
            <a:r>
              <a:rPr lang="en-GB" sz="900" b="0">
                <a:solidFill>
                  <a:srgbClr val="4F6875"/>
                </a:solidFill>
                <a:latin typeface="Aptos"/>
              </a:rPr>
              <a:t>Stress +2,00 pp</a:t>
            </a:r>
          </a:p>
        </p:txBody>
      </p:sp>
      <p:sp>
        <p:nvSpPr>
          <p:cNvPr id="35" name="Rectangle 34"/>
          <p:cNvSpPr/>
          <p:nvPr/>
        </p:nvSpPr>
        <p:spPr>
          <a:xfrm>
            <a:off x="7360920" y="1600200"/>
            <a:ext cx="4297680" cy="1600200"/>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7680960" y="1783080"/>
            <a:ext cx="3657600" cy="169277"/>
          </a:xfrm>
          <a:prstGeom prst="rect">
            <a:avLst/>
          </a:prstGeom>
          <a:noFill/>
        </p:spPr>
        <p:txBody>
          <a:bodyPr wrap="square" lIns="0" tIns="0" rIns="0" bIns="0" anchor="t">
            <a:spAutoFit/>
          </a:bodyPr>
          <a:lstStyle/>
          <a:p>
            <a:pPr algn="l">
              <a:spcBef>
                <a:spcPts val="0"/>
              </a:spcBef>
              <a:spcAft>
                <a:spcPts val="200"/>
              </a:spcAft>
            </a:pPr>
            <a:r>
              <a:rPr lang="en-GB" sz="1100" b="1">
                <a:solidFill>
                  <a:srgbClr val="051C2C"/>
                </a:solidFill>
                <a:latin typeface="Aptos"/>
              </a:rPr>
              <a:t>DER SLIDER</a:t>
            </a:r>
          </a:p>
        </p:txBody>
      </p:sp>
      <p:sp>
        <p:nvSpPr>
          <p:cNvPr id="37" name="TextBox 36"/>
          <p:cNvSpPr txBox="1"/>
          <p:nvPr/>
        </p:nvSpPr>
        <p:spPr>
          <a:xfrm>
            <a:off x="7680960" y="1968051"/>
            <a:ext cx="3657600" cy="192360"/>
          </a:xfrm>
          <a:prstGeom prst="rect">
            <a:avLst/>
          </a:prstGeom>
          <a:noFill/>
        </p:spPr>
        <p:txBody>
          <a:bodyPr wrap="square" lIns="0" tIns="0" rIns="0" bIns="0" anchor="t">
            <a:spAutoFit/>
          </a:bodyPr>
          <a:lstStyle/>
          <a:p>
            <a:pPr algn="l">
              <a:spcBef>
                <a:spcPts val="0"/>
              </a:spcBef>
              <a:spcAft>
                <a:spcPts val="200"/>
              </a:spcAft>
            </a:pPr>
            <a:r>
              <a:rPr lang="es-ES" sz="1250" b="1" err="1">
                <a:solidFill>
                  <a:srgbClr val="051C2C"/>
                </a:solidFill>
                <a:latin typeface="Aptos"/>
              </a:rPr>
              <a:t>Δr</a:t>
            </a:r>
            <a:r>
              <a:rPr lang="es-ES" sz="1250" b="1">
                <a:solidFill>
                  <a:srgbClr val="051C2C"/>
                </a:solidFill>
                <a:latin typeface="Aptos"/>
              </a:rPr>
              <a:t> 10Y = +2,00 pp  (= +200 bp)</a:t>
            </a:r>
          </a:p>
        </p:txBody>
      </p:sp>
      <p:sp>
        <p:nvSpPr>
          <p:cNvPr id="38" name="TextBox 37"/>
          <p:cNvSpPr txBox="1"/>
          <p:nvPr/>
        </p:nvSpPr>
        <p:spPr>
          <a:xfrm>
            <a:off x="7680960" y="2206513"/>
            <a:ext cx="3657600" cy="161583"/>
          </a:xfrm>
          <a:prstGeom prst="rect">
            <a:avLst/>
          </a:prstGeom>
          <a:noFill/>
        </p:spPr>
        <p:txBody>
          <a:bodyPr wrap="square" lIns="0" tIns="0" rIns="0" bIns="0" anchor="t">
            <a:spAutoFit/>
          </a:bodyPr>
          <a:lstStyle/>
          <a:p>
            <a:pPr algn="l">
              <a:spcBef>
                <a:spcPts val="0"/>
              </a:spcBef>
              <a:spcAft>
                <a:spcPts val="200"/>
              </a:spcAft>
            </a:pPr>
            <a:r>
              <a:rPr lang="de-DE" sz="1050" b="0">
                <a:solidFill>
                  <a:srgbClr val="4F6875"/>
                </a:solidFill>
                <a:latin typeface="Aptos"/>
              </a:rPr>
              <a:t>Spannweite −3 bis +5 pp</a:t>
            </a:r>
          </a:p>
        </p:txBody>
      </p:sp>
      <p:sp>
        <p:nvSpPr>
          <p:cNvPr id="39" name="TextBox 38"/>
          <p:cNvSpPr txBox="1"/>
          <p:nvPr/>
        </p:nvSpPr>
        <p:spPr>
          <a:xfrm>
            <a:off x="7680960" y="2682001"/>
            <a:ext cx="3657600" cy="192360"/>
          </a:xfrm>
          <a:prstGeom prst="rect">
            <a:avLst/>
          </a:prstGeom>
          <a:noFill/>
        </p:spPr>
        <p:txBody>
          <a:bodyPr wrap="square" lIns="0" tIns="0" rIns="0" bIns="0" anchor="t">
            <a:spAutoFit/>
          </a:bodyPr>
          <a:lstStyle/>
          <a:p>
            <a:pPr algn="l">
              <a:spcBef>
                <a:spcPts val="0"/>
              </a:spcBef>
              <a:spcAft>
                <a:spcPts val="200"/>
              </a:spcAft>
            </a:pPr>
            <a:r>
              <a:rPr lang="en-GB" sz="1250" b="1" err="1">
                <a:solidFill>
                  <a:srgbClr val="051C2C"/>
                </a:solidFill>
                <a:latin typeface="Aptos"/>
              </a:rPr>
              <a:t>Aktives</a:t>
            </a:r>
            <a:r>
              <a:rPr lang="en-GB" sz="1250" b="1">
                <a:solidFill>
                  <a:srgbClr val="051C2C"/>
                </a:solidFill>
                <a:latin typeface="Aptos"/>
              </a:rPr>
              <a:t> </a:t>
            </a:r>
            <a:r>
              <a:rPr lang="en-GB" sz="1250" b="1" err="1">
                <a:solidFill>
                  <a:srgbClr val="051C2C"/>
                </a:solidFill>
                <a:latin typeface="Aptos"/>
              </a:rPr>
              <a:t>Szenario</a:t>
            </a:r>
            <a:r>
              <a:rPr lang="en-GB" sz="1250" b="1">
                <a:solidFill>
                  <a:srgbClr val="051C2C"/>
                </a:solidFill>
                <a:latin typeface="Aptos"/>
              </a:rPr>
              <a:t> </a:t>
            </a:r>
            <a:r>
              <a:rPr lang="en-GB" sz="1250" b="1" err="1">
                <a:solidFill>
                  <a:srgbClr val="051C2C"/>
                </a:solidFill>
                <a:latin typeface="Aptos"/>
              </a:rPr>
              <a:t>dieser</a:t>
            </a:r>
            <a:r>
              <a:rPr lang="en-GB" sz="1250" b="1">
                <a:solidFill>
                  <a:srgbClr val="051C2C"/>
                </a:solidFill>
                <a:latin typeface="Aptos"/>
              </a:rPr>
              <a:t> </a:t>
            </a:r>
            <a:r>
              <a:rPr lang="en-GB" sz="1250" b="1" err="1">
                <a:solidFill>
                  <a:srgbClr val="051C2C"/>
                </a:solidFill>
                <a:latin typeface="Aptos"/>
              </a:rPr>
              <a:t>Präsentation</a:t>
            </a:r>
            <a:endParaRPr lang="en-GB" sz="1250" b="1">
              <a:solidFill>
                <a:srgbClr val="051C2C"/>
              </a:solidFill>
              <a:latin typeface="Aptos"/>
            </a:endParaRPr>
          </a:p>
        </p:txBody>
      </p:sp>
      <p:sp>
        <p:nvSpPr>
          <p:cNvPr id="40" name="TextBox 39"/>
          <p:cNvSpPr txBox="1"/>
          <p:nvPr/>
        </p:nvSpPr>
        <p:spPr>
          <a:xfrm>
            <a:off x="7680960" y="2920463"/>
            <a:ext cx="3657600" cy="161583"/>
          </a:xfrm>
          <a:prstGeom prst="rect">
            <a:avLst/>
          </a:prstGeom>
          <a:noFill/>
        </p:spPr>
        <p:txBody>
          <a:bodyPr wrap="square" lIns="0" tIns="0" rIns="0" bIns="0" anchor="t">
            <a:spAutoFit/>
          </a:bodyPr>
          <a:lstStyle/>
          <a:p>
            <a:pPr algn="l">
              <a:spcBef>
                <a:spcPts val="0"/>
              </a:spcBef>
              <a:spcAft>
                <a:spcPts val="200"/>
              </a:spcAft>
            </a:pPr>
            <a:r>
              <a:rPr lang="de-DE" sz="1050" b="0">
                <a:solidFill>
                  <a:srgbClr val="4F6875"/>
                </a:solidFill>
                <a:latin typeface="Aptos"/>
              </a:rPr>
              <a:t>gleiche Größe wie im Kreditbuch-Beispiel</a:t>
            </a:r>
          </a:p>
        </p:txBody>
      </p:sp>
      <p:sp>
        <p:nvSpPr>
          <p:cNvPr id="41" name="Rectangle 40"/>
          <p:cNvSpPr/>
          <p:nvPr/>
        </p:nvSpPr>
        <p:spPr>
          <a:xfrm>
            <a:off x="7360920" y="3337560"/>
            <a:ext cx="4297680" cy="1874519"/>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7680960" y="3493008"/>
            <a:ext cx="3749039" cy="169277"/>
          </a:xfrm>
          <a:prstGeom prst="rect">
            <a:avLst/>
          </a:prstGeom>
          <a:noFill/>
        </p:spPr>
        <p:txBody>
          <a:bodyPr wrap="square" lIns="0" tIns="0" rIns="0" bIns="0" anchor="t">
            <a:spAutoFit/>
          </a:bodyPr>
          <a:lstStyle/>
          <a:p>
            <a:pPr algn="l">
              <a:spcBef>
                <a:spcPts val="0"/>
              </a:spcBef>
              <a:spcAft>
                <a:spcPts val="200"/>
              </a:spcAft>
            </a:pPr>
            <a:r>
              <a:rPr lang="en-GB" sz="1100" b="1">
                <a:solidFill>
                  <a:srgbClr val="051C2C"/>
                </a:solidFill>
                <a:latin typeface="Aptos"/>
              </a:rPr>
              <a:t>WARUM PARALLEL-SHIFT?</a:t>
            </a:r>
          </a:p>
        </p:txBody>
      </p:sp>
      <p:sp>
        <p:nvSpPr>
          <p:cNvPr id="43" name="Rectangle 42"/>
          <p:cNvSpPr/>
          <p:nvPr/>
        </p:nvSpPr>
        <p:spPr>
          <a:xfrm>
            <a:off x="7680960" y="3840480"/>
            <a:ext cx="73152" cy="73152"/>
          </a:xfrm>
          <a:prstGeom prst="rect">
            <a:avLst/>
          </a:prstGeom>
          <a:solidFill>
            <a:srgbClr val="0B5D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7863840" y="3776472"/>
            <a:ext cx="3566160" cy="161583"/>
          </a:xfrm>
          <a:prstGeom prst="rect">
            <a:avLst/>
          </a:prstGeom>
          <a:noFill/>
        </p:spPr>
        <p:txBody>
          <a:bodyPr wrap="square" lIns="0" tIns="0" rIns="0" bIns="0" anchor="t">
            <a:spAutoFit/>
          </a:bodyPr>
          <a:lstStyle/>
          <a:p>
            <a:pPr algn="l">
              <a:spcBef>
                <a:spcPts val="0"/>
              </a:spcBef>
              <a:spcAft>
                <a:spcPts val="200"/>
              </a:spcAft>
            </a:pPr>
            <a:r>
              <a:rPr lang="de-DE" sz="1050" b="0">
                <a:solidFill>
                  <a:srgbClr val="051C2C"/>
                </a:solidFill>
                <a:latin typeface="Aptos"/>
              </a:rPr>
              <a:t>klare Einheit: Prozentpunkte, direkt </a:t>
            </a:r>
            <a:r>
              <a:rPr lang="de-DE" sz="1050" b="0" err="1">
                <a:solidFill>
                  <a:srgbClr val="051C2C"/>
                </a:solidFill>
                <a:latin typeface="Aptos"/>
              </a:rPr>
              <a:t>duration</a:t>
            </a:r>
            <a:r>
              <a:rPr lang="de-DE" sz="1050" b="0">
                <a:solidFill>
                  <a:srgbClr val="051C2C"/>
                </a:solidFill>
                <a:latin typeface="Aptos"/>
              </a:rPr>
              <a:t>-fähig</a:t>
            </a:r>
          </a:p>
        </p:txBody>
      </p:sp>
      <p:sp>
        <p:nvSpPr>
          <p:cNvPr id="45" name="Rectangle 44"/>
          <p:cNvSpPr/>
          <p:nvPr/>
        </p:nvSpPr>
        <p:spPr>
          <a:xfrm>
            <a:off x="7680960" y="4169664"/>
            <a:ext cx="73152" cy="73152"/>
          </a:xfrm>
          <a:prstGeom prst="rect">
            <a:avLst/>
          </a:prstGeom>
          <a:solidFill>
            <a:srgbClr val="0B5D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7863840" y="4105656"/>
            <a:ext cx="3566160" cy="161583"/>
          </a:xfrm>
          <a:prstGeom prst="rect">
            <a:avLst/>
          </a:prstGeom>
          <a:noFill/>
        </p:spPr>
        <p:txBody>
          <a:bodyPr wrap="square" lIns="0" tIns="0" rIns="0" bIns="0" anchor="t">
            <a:spAutoFit/>
          </a:bodyPr>
          <a:lstStyle/>
          <a:p>
            <a:pPr algn="l">
              <a:spcBef>
                <a:spcPts val="0"/>
              </a:spcBef>
              <a:spcAft>
                <a:spcPts val="200"/>
              </a:spcAft>
            </a:pPr>
            <a:r>
              <a:rPr lang="en-GB" sz="1050" b="0" err="1">
                <a:solidFill>
                  <a:srgbClr val="051C2C"/>
                </a:solidFill>
                <a:latin typeface="Aptos"/>
              </a:rPr>
              <a:t>kein</a:t>
            </a:r>
            <a:r>
              <a:rPr lang="en-GB" sz="1050" b="0">
                <a:solidFill>
                  <a:srgbClr val="051C2C"/>
                </a:solidFill>
                <a:latin typeface="Aptos"/>
              </a:rPr>
              <a:t> </a:t>
            </a:r>
            <a:r>
              <a:rPr lang="en-GB" sz="1050" b="0" err="1">
                <a:solidFill>
                  <a:srgbClr val="051C2C"/>
                </a:solidFill>
                <a:latin typeface="Aptos"/>
              </a:rPr>
              <a:t>verstecktes</a:t>
            </a:r>
            <a:r>
              <a:rPr lang="en-GB" sz="1050" b="0">
                <a:solidFill>
                  <a:srgbClr val="051C2C"/>
                </a:solidFill>
                <a:latin typeface="Aptos"/>
              </a:rPr>
              <a:t> Faktor-Mapping</a:t>
            </a:r>
          </a:p>
        </p:txBody>
      </p:sp>
      <p:sp>
        <p:nvSpPr>
          <p:cNvPr id="47" name="Rectangle 46"/>
          <p:cNvSpPr/>
          <p:nvPr/>
        </p:nvSpPr>
        <p:spPr>
          <a:xfrm>
            <a:off x="7680960" y="4498848"/>
            <a:ext cx="73152" cy="73152"/>
          </a:xfrm>
          <a:prstGeom prst="rect">
            <a:avLst/>
          </a:prstGeom>
          <a:solidFill>
            <a:srgbClr val="0B5D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7863840" y="4434840"/>
            <a:ext cx="3566160" cy="161583"/>
          </a:xfrm>
          <a:prstGeom prst="rect">
            <a:avLst/>
          </a:prstGeom>
          <a:noFill/>
        </p:spPr>
        <p:txBody>
          <a:bodyPr wrap="square" lIns="0" tIns="0" rIns="0" bIns="0" anchor="t">
            <a:spAutoFit/>
          </a:bodyPr>
          <a:lstStyle/>
          <a:p>
            <a:pPr algn="l">
              <a:spcBef>
                <a:spcPts val="0"/>
              </a:spcBef>
              <a:spcAft>
                <a:spcPts val="200"/>
              </a:spcAft>
            </a:pPr>
            <a:r>
              <a:rPr lang="de-DE" sz="1050" b="0" err="1">
                <a:solidFill>
                  <a:srgbClr val="051C2C"/>
                </a:solidFill>
                <a:latin typeface="Aptos"/>
              </a:rPr>
              <a:t>Slope</a:t>
            </a:r>
            <a:r>
              <a:rPr lang="de-DE" sz="1050" b="0">
                <a:solidFill>
                  <a:srgbClr val="051C2C"/>
                </a:solidFill>
                <a:latin typeface="Aptos"/>
              </a:rPr>
              <a:t> und </a:t>
            </a:r>
            <a:r>
              <a:rPr lang="de-DE" sz="1050" b="0" err="1">
                <a:solidFill>
                  <a:srgbClr val="051C2C"/>
                </a:solidFill>
                <a:latin typeface="Aptos"/>
              </a:rPr>
              <a:t>Curvature</a:t>
            </a:r>
            <a:r>
              <a:rPr lang="de-DE" sz="1050" b="0">
                <a:solidFill>
                  <a:srgbClr val="051C2C"/>
                </a:solidFill>
                <a:latin typeface="Aptos"/>
              </a:rPr>
              <a:t> bewusst außen vor</a:t>
            </a:r>
          </a:p>
        </p:txBody>
      </p:sp>
      <p:sp>
        <p:nvSpPr>
          <p:cNvPr id="49" name="Rectangle 48"/>
          <p:cNvSpPr/>
          <p:nvPr/>
        </p:nvSpPr>
        <p:spPr>
          <a:xfrm>
            <a:off x="7680960" y="4828032"/>
            <a:ext cx="73152" cy="73152"/>
          </a:xfrm>
          <a:prstGeom prst="rect">
            <a:avLst/>
          </a:prstGeom>
          <a:solidFill>
            <a:srgbClr val="0B5D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7863840" y="4764024"/>
            <a:ext cx="3566160" cy="161583"/>
          </a:xfrm>
          <a:prstGeom prst="rect">
            <a:avLst/>
          </a:prstGeom>
          <a:noFill/>
        </p:spPr>
        <p:txBody>
          <a:bodyPr wrap="square" lIns="0" tIns="0" rIns="0" bIns="0" anchor="t">
            <a:spAutoFit/>
          </a:bodyPr>
          <a:lstStyle/>
          <a:p>
            <a:pPr algn="l">
              <a:spcBef>
                <a:spcPts val="0"/>
              </a:spcBef>
              <a:spcAft>
                <a:spcPts val="200"/>
              </a:spcAft>
            </a:pPr>
            <a:r>
              <a:rPr lang="de-DE" sz="1050" b="0">
                <a:solidFill>
                  <a:srgbClr val="051C2C"/>
                </a:solidFill>
                <a:latin typeface="Aptos"/>
              </a:rPr>
              <a:t>trifft alle Laufzeiten und Länder gleichzeitig</a:t>
            </a:r>
          </a:p>
        </p:txBody>
      </p:sp>
      <p:sp>
        <p:nvSpPr>
          <p:cNvPr id="51" name="TextBox 50"/>
          <p:cNvSpPr txBox="1"/>
          <p:nvPr/>
        </p:nvSpPr>
        <p:spPr>
          <a:xfrm>
            <a:off x="457200" y="6519672"/>
            <a:ext cx="7315200" cy="138499"/>
          </a:xfrm>
          <a:prstGeom prst="rect">
            <a:avLst/>
          </a:prstGeom>
          <a:noFill/>
        </p:spPr>
        <p:txBody>
          <a:bodyPr wrap="square" lIns="0" tIns="0" rIns="0" bIns="0" anchor="t">
            <a:spAutoFit/>
          </a:bodyPr>
          <a:lstStyle/>
          <a:p>
            <a:pPr algn="l">
              <a:spcBef>
                <a:spcPts val="0"/>
              </a:spcBef>
              <a:spcAft>
                <a:spcPts val="200"/>
              </a:spcAft>
            </a:pPr>
            <a:r>
              <a:rPr lang="en-GB" sz="900" b="0" err="1">
                <a:solidFill>
                  <a:srgbClr val="71858F"/>
                </a:solidFill>
                <a:latin typeface="Aptos"/>
              </a:rPr>
              <a:t>Marktbuch</a:t>
            </a:r>
            <a:r>
              <a:rPr lang="en-GB" sz="900" b="0">
                <a:solidFill>
                  <a:srgbClr val="71858F"/>
                </a:solidFill>
                <a:latin typeface="Aptos"/>
              </a:rPr>
              <a:t> · Sovereign / Rate Channel</a:t>
            </a:r>
          </a:p>
        </p:txBody>
      </p:sp>
      <p:sp>
        <p:nvSpPr>
          <p:cNvPr id="52" name="CodexSlideNumber">
            <a:extLst>
              <a:ext uri="{FF2B5EF4-FFF2-40B4-BE49-F238E27FC236}">
                <a16:creationId xmlns:a16="http://schemas.microsoft.com/office/drawing/2014/main" id="{D1372C49-63E4-1EBC-C5F8-C8CB7360A516}"/>
              </a:ext>
            </a:extLst>
          </p:cNvPr>
          <p:cNvSpPr txBox="1"/>
          <p:nvPr/>
        </p:nvSpPr>
        <p:spPr>
          <a:xfrm>
            <a:off x="11226800" y="6553200"/>
            <a:ext cx="736600" cy="123111"/>
          </a:xfrm>
          <a:prstGeom prst="rect">
            <a:avLst/>
          </a:prstGeom>
          <a:noFill/>
        </p:spPr>
        <p:txBody>
          <a:bodyPr vert="horz" lIns="0" tIns="0" rIns="0" bIns="0" rtlCol="0">
            <a:spAutoFit/>
          </a:bodyPr>
          <a:lstStyle/>
          <a:p>
            <a:pPr algn="r"/>
            <a:r>
              <a:rPr lang="en-US" sz="800">
                <a:solidFill>
                  <a:srgbClr val="525252"/>
                </a:solidFill>
                <a:latin typeface="Arial" panose="020B0604020202020204" pitchFamily="34" charset="0"/>
              </a:rPr>
              <a:t>34 / 64</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84048"/>
            <a:ext cx="11155680" cy="132793"/>
          </a:xfrm>
          <a:prstGeom prst="rect">
            <a:avLst/>
          </a:prstGeom>
          <a:noFill/>
        </p:spPr>
        <p:txBody>
          <a:bodyPr wrap="square" lIns="0" tIns="0" rIns="0" bIns="0" anchor="t">
            <a:spAutoFit/>
          </a:bodyPr>
          <a:lstStyle/>
          <a:p>
            <a:pPr>
              <a:spcBef>
                <a:spcPts val="0"/>
              </a:spcBef>
              <a:spcAft>
                <a:spcPts val="200"/>
              </a:spcAft>
            </a:pPr>
            <a:r>
              <a:rPr lang="en-GB" sz="863" b="1" dirty="0">
                <a:solidFill>
                  <a:schemeClr val="tx2"/>
                </a:solidFill>
                <a:latin typeface="Aptos"/>
              </a:rPr>
              <a:t>SUB-TAB 2 · SOVEREIGN-KANAL · WIRKUNGSKETTE</a:t>
            </a:r>
          </a:p>
        </p:txBody>
      </p:sp>
      <p:sp>
        <p:nvSpPr>
          <p:cNvPr id="4" name="TextBox 3"/>
          <p:cNvSpPr txBox="1"/>
          <p:nvPr/>
        </p:nvSpPr>
        <p:spPr>
          <a:xfrm>
            <a:off x="548640" y="658368"/>
            <a:ext cx="11155680" cy="380873"/>
          </a:xfrm>
          <a:prstGeom prst="rect">
            <a:avLst/>
          </a:prstGeom>
          <a:noFill/>
        </p:spPr>
        <p:txBody>
          <a:bodyPr wrap="square" lIns="0" tIns="0" rIns="0" bIns="0" anchor="t">
            <a:spAutoFit/>
          </a:bodyPr>
          <a:lstStyle/>
          <a:p>
            <a:pPr algn="l">
              <a:spcBef>
                <a:spcPts val="0"/>
              </a:spcBef>
              <a:spcAft>
                <a:spcPts val="200"/>
              </a:spcAft>
            </a:pPr>
            <a:r>
              <a:rPr lang="de-DE" sz="2475" b="1" err="1">
                <a:solidFill>
                  <a:srgbClr val="051C2C"/>
                </a:solidFill>
                <a:latin typeface="Aptos Display"/>
              </a:rPr>
              <a:t>Modified</a:t>
            </a:r>
            <a:r>
              <a:rPr lang="de-DE" sz="2475" b="1">
                <a:solidFill>
                  <a:srgbClr val="051C2C"/>
                </a:solidFill>
                <a:latin typeface="Aptos Display"/>
              </a:rPr>
              <a:t> Duration übersetzt den Zinsschock in einen Marktwertverlust</a:t>
            </a:r>
          </a:p>
        </p:txBody>
      </p:sp>
      <p:sp>
        <p:nvSpPr>
          <p:cNvPr id="5" name="Rectangle 4"/>
          <p:cNvSpPr/>
          <p:nvPr/>
        </p:nvSpPr>
        <p:spPr>
          <a:xfrm>
            <a:off x="548640" y="1600200"/>
            <a:ext cx="11109960" cy="658368"/>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1737360"/>
            <a:ext cx="10607040" cy="230832"/>
          </a:xfrm>
          <a:prstGeom prst="rect">
            <a:avLst/>
          </a:prstGeom>
          <a:noFill/>
        </p:spPr>
        <p:txBody>
          <a:bodyPr wrap="square" lIns="0" tIns="0" rIns="0" bIns="0" anchor="t">
            <a:spAutoFit/>
          </a:bodyPr>
          <a:lstStyle/>
          <a:p>
            <a:pPr algn="ctr">
              <a:spcBef>
                <a:spcPts val="0"/>
              </a:spcBef>
              <a:spcAft>
                <a:spcPts val="200"/>
              </a:spcAft>
            </a:pPr>
            <a:r>
              <a:rPr lang="el-GR" sz="1500" b="1">
                <a:solidFill>
                  <a:srgbClr val="051C2C"/>
                </a:solidFill>
                <a:latin typeface="Aptos Mono"/>
              </a:rPr>
              <a:t>Δ</a:t>
            </a:r>
            <a:r>
              <a:rPr lang="en-GB" sz="1500" b="1">
                <a:solidFill>
                  <a:srgbClr val="051C2C"/>
                </a:solidFill>
                <a:latin typeface="Aptos Mono"/>
              </a:rPr>
              <a:t>FV  ≈  − D × </a:t>
            </a:r>
            <a:r>
              <a:rPr lang="el-GR" sz="1500" b="1">
                <a:solidFill>
                  <a:srgbClr val="051C2C"/>
                </a:solidFill>
                <a:latin typeface="Aptos Mono"/>
              </a:rPr>
              <a:t>Δ</a:t>
            </a:r>
            <a:r>
              <a:rPr lang="en-GB" sz="1500" b="1">
                <a:solidFill>
                  <a:srgbClr val="051C2C"/>
                </a:solidFill>
                <a:latin typeface="Aptos Mono"/>
              </a:rPr>
              <a:t>y × Exposure      </a:t>
            </a:r>
            <a:r>
              <a:rPr lang="en-GB" sz="1050" b="0">
                <a:solidFill>
                  <a:srgbClr val="4F6875"/>
                </a:solidFill>
                <a:latin typeface="Aptos"/>
              </a:rPr>
              <a:t>je Laufzeit-Bucket · </a:t>
            </a:r>
            <a:r>
              <a:rPr lang="el-GR" sz="1050" b="0">
                <a:solidFill>
                  <a:srgbClr val="4F6875"/>
                </a:solidFill>
                <a:latin typeface="Aptos"/>
              </a:rPr>
              <a:t>Δ</a:t>
            </a:r>
            <a:r>
              <a:rPr lang="en-GB" sz="1050" b="0">
                <a:solidFill>
                  <a:srgbClr val="4F6875"/>
                </a:solidFill>
                <a:latin typeface="Aptos"/>
              </a:rPr>
              <a:t>y = +0,02 · dann über alle Buckets summiert</a:t>
            </a:r>
          </a:p>
        </p:txBody>
      </p:sp>
      <p:sp>
        <p:nvSpPr>
          <p:cNvPr id="7" name="Rectangle 6"/>
          <p:cNvSpPr/>
          <p:nvPr/>
        </p:nvSpPr>
        <p:spPr>
          <a:xfrm>
            <a:off x="548640" y="2450592"/>
            <a:ext cx="7452360" cy="2743200"/>
          </a:xfrm>
          <a:prstGeom prst="rect">
            <a:avLst/>
          </a:prstGeom>
          <a:solidFill>
            <a:srgbClr val="FFFFFF"/>
          </a:solidFill>
          <a:ln w="9525">
            <a:solidFill>
              <a:srgbClr val="D9E2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2596896"/>
            <a:ext cx="7040880" cy="161583"/>
          </a:xfrm>
          <a:prstGeom prst="rect">
            <a:avLst/>
          </a:prstGeom>
          <a:noFill/>
        </p:spPr>
        <p:txBody>
          <a:bodyPr wrap="square" lIns="0" tIns="0" rIns="0" bIns="0" anchor="t">
            <a:spAutoFit/>
          </a:bodyPr>
          <a:lstStyle/>
          <a:p>
            <a:pPr algn="l">
              <a:spcBef>
                <a:spcPts val="0"/>
              </a:spcBef>
              <a:spcAft>
                <a:spcPts val="200"/>
              </a:spcAft>
            </a:pPr>
            <a:r>
              <a:rPr lang="de-DE" sz="1050" b="1">
                <a:solidFill>
                  <a:srgbClr val="051C2C"/>
                </a:solidFill>
                <a:latin typeface="Aptos"/>
              </a:rPr>
              <a:t>DEUTSCHE BANK · BESTAND JE RESTLAUFZEIT (MRD €) UND VERLUST BEI +2,00 PP</a:t>
            </a:r>
          </a:p>
        </p:txBody>
      </p:sp>
      <p:sp>
        <p:nvSpPr>
          <p:cNvPr id="9" name="Rectangle 8"/>
          <p:cNvSpPr/>
          <p:nvPr/>
        </p:nvSpPr>
        <p:spPr>
          <a:xfrm>
            <a:off x="868680" y="4146194"/>
            <a:ext cx="566928" cy="444093"/>
          </a:xfrm>
          <a:prstGeom prst="rect">
            <a:avLst/>
          </a:prstGeom>
          <a:solidFill>
            <a:srgbClr val="0B5D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22375" y="3972458"/>
            <a:ext cx="859536" cy="130805"/>
          </a:xfrm>
          <a:prstGeom prst="rect">
            <a:avLst/>
          </a:prstGeom>
          <a:noFill/>
        </p:spPr>
        <p:txBody>
          <a:bodyPr wrap="square" lIns="0" tIns="0" rIns="0" bIns="0" anchor="t">
            <a:spAutoFit/>
          </a:bodyPr>
          <a:lstStyle/>
          <a:p>
            <a:pPr algn="ctr">
              <a:spcBef>
                <a:spcPts val="0"/>
              </a:spcBef>
              <a:spcAft>
                <a:spcPts val="200"/>
              </a:spcAft>
            </a:pPr>
            <a:r>
              <a:rPr lang="en-GB" sz="850" b="1">
                <a:solidFill>
                  <a:srgbClr val="051C2C"/>
                </a:solidFill>
                <a:latin typeface="Aptos"/>
              </a:rPr>
              <a:t>19</a:t>
            </a:r>
          </a:p>
        </p:txBody>
      </p:sp>
      <p:sp>
        <p:nvSpPr>
          <p:cNvPr id="11" name="TextBox 10"/>
          <p:cNvSpPr txBox="1"/>
          <p:nvPr/>
        </p:nvSpPr>
        <p:spPr>
          <a:xfrm>
            <a:off x="722375" y="4626864"/>
            <a:ext cx="859536" cy="123111"/>
          </a:xfrm>
          <a:prstGeom prst="rect">
            <a:avLst/>
          </a:prstGeom>
          <a:noFill/>
        </p:spPr>
        <p:txBody>
          <a:bodyPr wrap="square" lIns="0" tIns="0" rIns="0" bIns="0" anchor="t">
            <a:spAutoFit/>
          </a:bodyPr>
          <a:lstStyle/>
          <a:p>
            <a:pPr algn="ctr">
              <a:spcBef>
                <a:spcPts val="0"/>
              </a:spcBef>
              <a:spcAft>
                <a:spcPts val="200"/>
              </a:spcAft>
            </a:pPr>
            <a:r>
              <a:rPr lang="en-GB" sz="800" b="0">
                <a:solidFill>
                  <a:srgbClr val="4F6875"/>
                </a:solidFill>
                <a:latin typeface="Aptos"/>
              </a:rPr>
              <a:t>&lt;3M</a:t>
            </a:r>
          </a:p>
        </p:txBody>
      </p:sp>
      <p:sp>
        <p:nvSpPr>
          <p:cNvPr id="12" name="TextBox 11"/>
          <p:cNvSpPr txBox="1"/>
          <p:nvPr/>
        </p:nvSpPr>
        <p:spPr>
          <a:xfrm>
            <a:off x="722375" y="4773168"/>
            <a:ext cx="859536" cy="123111"/>
          </a:xfrm>
          <a:prstGeom prst="rect">
            <a:avLst/>
          </a:prstGeom>
          <a:noFill/>
        </p:spPr>
        <p:txBody>
          <a:bodyPr wrap="square" lIns="0" tIns="0" rIns="0" bIns="0" anchor="t">
            <a:spAutoFit/>
          </a:bodyPr>
          <a:lstStyle/>
          <a:p>
            <a:pPr algn="ctr">
              <a:spcBef>
                <a:spcPts val="0"/>
              </a:spcBef>
              <a:spcAft>
                <a:spcPts val="200"/>
              </a:spcAft>
            </a:pPr>
            <a:r>
              <a:rPr lang="en-GB" sz="800" b="1">
                <a:solidFill>
                  <a:srgbClr val="4F6875"/>
                </a:solidFill>
                <a:latin typeface="Aptos"/>
              </a:rPr>
              <a:t>−0,1</a:t>
            </a:r>
          </a:p>
        </p:txBody>
      </p:sp>
      <p:sp>
        <p:nvSpPr>
          <p:cNvPr id="13" name="Rectangle 12"/>
          <p:cNvSpPr/>
          <p:nvPr/>
        </p:nvSpPr>
        <p:spPr>
          <a:xfrm>
            <a:off x="1828800" y="4302099"/>
            <a:ext cx="566928" cy="288188"/>
          </a:xfrm>
          <a:prstGeom prst="rect">
            <a:avLst/>
          </a:prstGeom>
          <a:solidFill>
            <a:srgbClr val="0B5D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682496" y="4128363"/>
            <a:ext cx="859536" cy="130805"/>
          </a:xfrm>
          <a:prstGeom prst="rect">
            <a:avLst/>
          </a:prstGeom>
          <a:noFill/>
        </p:spPr>
        <p:txBody>
          <a:bodyPr wrap="square" lIns="0" tIns="0" rIns="0" bIns="0" anchor="t">
            <a:spAutoFit/>
          </a:bodyPr>
          <a:lstStyle/>
          <a:p>
            <a:pPr algn="ctr">
              <a:spcBef>
                <a:spcPts val="0"/>
              </a:spcBef>
              <a:spcAft>
                <a:spcPts val="200"/>
              </a:spcAft>
            </a:pPr>
            <a:r>
              <a:rPr lang="en-GB" sz="850" b="1">
                <a:solidFill>
                  <a:srgbClr val="051C2C"/>
                </a:solidFill>
                <a:latin typeface="Aptos"/>
              </a:rPr>
              <a:t>12</a:t>
            </a:r>
          </a:p>
        </p:txBody>
      </p:sp>
      <p:sp>
        <p:nvSpPr>
          <p:cNvPr id="15" name="TextBox 14"/>
          <p:cNvSpPr txBox="1"/>
          <p:nvPr/>
        </p:nvSpPr>
        <p:spPr>
          <a:xfrm>
            <a:off x="1682496" y="4626864"/>
            <a:ext cx="859536" cy="123111"/>
          </a:xfrm>
          <a:prstGeom prst="rect">
            <a:avLst/>
          </a:prstGeom>
          <a:noFill/>
        </p:spPr>
        <p:txBody>
          <a:bodyPr wrap="square" lIns="0" tIns="0" rIns="0" bIns="0" anchor="t">
            <a:spAutoFit/>
          </a:bodyPr>
          <a:lstStyle/>
          <a:p>
            <a:pPr algn="ctr">
              <a:spcBef>
                <a:spcPts val="0"/>
              </a:spcBef>
              <a:spcAft>
                <a:spcPts val="200"/>
              </a:spcAft>
            </a:pPr>
            <a:r>
              <a:rPr lang="en-GB" sz="800" b="0">
                <a:solidFill>
                  <a:srgbClr val="4F6875"/>
                </a:solidFill>
                <a:latin typeface="Aptos"/>
              </a:rPr>
              <a:t>3M–1J</a:t>
            </a:r>
          </a:p>
        </p:txBody>
      </p:sp>
      <p:sp>
        <p:nvSpPr>
          <p:cNvPr id="16" name="TextBox 15"/>
          <p:cNvSpPr txBox="1"/>
          <p:nvPr/>
        </p:nvSpPr>
        <p:spPr>
          <a:xfrm>
            <a:off x="1682496" y="4773168"/>
            <a:ext cx="859536" cy="123111"/>
          </a:xfrm>
          <a:prstGeom prst="rect">
            <a:avLst/>
          </a:prstGeom>
          <a:noFill/>
        </p:spPr>
        <p:txBody>
          <a:bodyPr wrap="square" lIns="0" tIns="0" rIns="0" bIns="0" anchor="t">
            <a:spAutoFit/>
          </a:bodyPr>
          <a:lstStyle/>
          <a:p>
            <a:pPr algn="ctr">
              <a:spcBef>
                <a:spcPts val="0"/>
              </a:spcBef>
              <a:spcAft>
                <a:spcPts val="200"/>
              </a:spcAft>
            </a:pPr>
            <a:r>
              <a:rPr lang="en-GB" sz="800" b="1">
                <a:solidFill>
                  <a:srgbClr val="4F6875"/>
                </a:solidFill>
                <a:latin typeface="Aptos"/>
              </a:rPr>
              <a:t>−0,1</a:t>
            </a:r>
          </a:p>
        </p:txBody>
      </p:sp>
      <p:sp>
        <p:nvSpPr>
          <p:cNvPr id="17" name="Rectangle 16"/>
          <p:cNvSpPr/>
          <p:nvPr/>
        </p:nvSpPr>
        <p:spPr>
          <a:xfrm>
            <a:off x="2788920" y="4269028"/>
            <a:ext cx="566928" cy="321259"/>
          </a:xfrm>
          <a:prstGeom prst="rect">
            <a:avLst/>
          </a:prstGeom>
          <a:solidFill>
            <a:srgbClr val="0B5D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642615" y="4095292"/>
            <a:ext cx="859536" cy="130805"/>
          </a:xfrm>
          <a:prstGeom prst="rect">
            <a:avLst/>
          </a:prstGeom>
          <a:noFill/>
        </p:spPr>
        <p:txBody>
          <a:bodyPr wrap="square" lIns="0" tIns="0" rIns="0" bIns="0" anchor="t">
            <a:spAutoFit/>
          </a:bodyPr>
          <a:lstStyle/>
          <a:p>
            <a:pPr algn="ctr">
              <a:spcBef>
                <a:spcPts val="0"/>
              </a:spcBef>
              <a:spcAft>
                <a:spcPts val="200"/>
              </a:spcAft>
            </a:pPr>
            <a:r>
              <a:rPr lang="en-GB" sz="850" b="1">
                <a:solidFill>
                  <a:srgbClr val="051C2C"/>
                </a:solidFill>
                <a:latin typeface="Aptos"/>
              </a:rPr>
              <a:t>14</a:t>
            </a:r>
          </a:p>
        </p:txBody>
      </p:sp>
      <p:sp>
        <p:nvSpPr>
          <p:cNvPr id="19" name="TextBox 18"/>
          <p:cNvSpPr txBox="1"/>
          <p:nvPr/>
        </p:nvSpPr>
        <p:spPr>
          <a:xfrm>
            <a:off x="2642615" y="4626864"/>
            <a:ext cx="859536" cy="123111"/>
          </a:xfrm>
          <a:prstGeom prst="rect">
            <a:avLst/>
          </a:prstGeom>
          <a:noFill/>
        </p:spPr>
        <p:txBody>
          <a:bodyPr wrap="square" lIns="0" tIns="0" rIns="0" bIns="0" anchor="t">
            <a:spAutoFit/>
          </a:bodyPr>
          <a:lstStyle/>
          <a:p>
            <a:pPr algn="ctr">
              <a:spcBef>
                <a:spcPts val="0"/>
              </a:spcBef>
              <a:spcAft>
                <a:spcPts val="200"/>
              </a:spcAft>
            </a:pPr>
            <a:r>
              <a:rPr lang="en-GB" sz="800" b="0">
                <a:solidFill>
                  <a:srgbClr val="4F6875"/>
                </a:solidFill>
                <a:latin typeface="Aptos"/>
              </a:rPr>
              <a:t>1–2J</a:t>
            </a:r>
          </a:p>
        </p:txBody>
      </p:sp>
      <p:sp>
        <p:nvSpPr>
          <p:cNvPr id="20" name="TextBox 19"/>
          <p:cNvSpPr txBox="1"/>
          <p:nvPr/>
        </p:nvSpPr>
        <p:spPr>
          <a:xfrm>
            <a:off x="2642615" y="4773168"/>
            <a:ext cx="859536" cy="123111"/>
          </a:xfrm>
          <a:prstGeom prst="rect">
            <a:avLst/>
          </a:prstGeom>
          <a:noFill/>
        </p:spPr>
        <p:txBody>
          <a:bodyPr wrap="square" lIns="0" tIns="0" rIns="0" bIns="0" anchor="t">
            <a:spAutoFit/>
          </a:bodyPr>
          <a:lstStyle/>
          <a:p>
            <a:pPr algn="ctr">
              <a:spcBef>
                <a:spcPts val="0"/>
              </a:spcBef>
              <a:spcAft>
                <a:spcPts val="200"/>
              </a:spcAft>
            </a:pPr>
            <a:r>
              <a:rPr lang="en-GB" sz="800" b="1">
                <a:solidFill>
                  <a:srgbClr val="4F6875"/>
                </a:solidFill>
                <a:latin typeface="Aptos"/>
              </a:rPr>
              <a:t>−0,4</a:t>
            </a:r>
          </a:p>
        </p:txBody>
      </p:sp>
      <p:sp>
        <p:nvSpPr>
          <p:cNvPr id="21" name="Rectangle 20"/>
          <p:cNvSpPr/>
          <p:nvPr/>
        </p:nvSpPr>
        <p:spPr>
          <a:xfrm>
            <a:off x="3749040" y="4318635"/>
            <a:ext cx="566928" cy="271653"/>
          </a:xfrm>
          <a:prstGeom prst="rect">
            <a:avLst/>
          </a:prstGeom>
          <a:solidFill>
            <a:srgbClr val="0B5D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602736" y="4144898"/>
            <a:ext cx="859536" cy="130805"/>
          </a:xfrm>
          <a:prstGeom prst="rect">
            <a:avLst/>
          </a:prstGeom>
          <a:noFill/>
        </p:spPr>
        <p:txBody>
          <a:bodyPr wrap="square" lIns="0" tIns="0" rIns="0" bIns="0" anchor="t">
            <a:spAutoFit/>
          </a:bodyPr>
          <a:lstStyle/>
          <a:p>
            <a:pPr algn="ctr">
              <a:spcBef>
                <a:spcPts val="0"/>
              </a:spcBef>
              <a:spcAft>
                <a:spcPts val="200"/>
              </a:spcAft>
            </a:pPr>
            <a:r>
              <a:rPr lang="en-GB" sz="850" b="1">
                <a:solidFill>
                  <a:srgbClr val="051C2C"/>
                </a:solidFill>
                <a:latin typeface="Aptos"/>
              </a:rPr>
              <a:t>12</a:t>
            </a:r>
          </a:p>
        </p:txBody>
      </p:sp>
      <p:sp>
        <p:nvSpPr>
          <p:cNvPr id="23" name="TextBox 22"/>
          <p:cNvSpPr txBox="1"/>
          <p:nvPr/>
        </p:nvSpPr>
        <p:spPr>
          <a:xfrm>
            <a:off x="3602736" y="4626864"/>
            <a:ext cx="859536" cy="123111"/>
          </a:xfrm>
          <a:prstGeom prst="rect">
            <a:avLst/>
          </a:prstGeom>
          <a:noFill/>
        </p:spPr>
        <p:txBody>
          <a:bodyPr wrap="square" lIns="0" tIns="0" rIns="0" bIns="0" anchor="t">
            <a:spAutoFit/>
          </a:bodyPr>
          <a:lstStyle/>
          <a:p>
            <a:pPr algn="ctr">
              <a:spcBef>
                <a:spcPts val="0"/>
              </a:spcBef>
              <a:spcAft>
                <a:spcPts val="200"/>
              </a:spcAft>
            </a:pPr>
            <a:r>
              <a:rPr lang="en-GB" sz="800" b="0">
                <a:solidFill>
                  <a:srgbClr val="4F6875"/>
                </a:solidFill>
                <a:latin typeface="Aptos"/>
              </a:rPr>
              <a:t>2–3J</a:t>
            </a:r>
          </a:p>
        </p:txBody>
      </p:sp>
      <p:sp>
        <p:nvSpPr>
          <p:cNvPr id="24" name="TextBox 23"/>
          <p:cNvSpPr txBox="1"/>
          <p:nvPr/>
        </p:nvSpPr>
        <p:spPr>
          <a:xfrm>
            <a:off x="3602736" y="4773168"/>
            <a:ext cx="859536" cy="123111"/>
          </a:xfrm>
          <a:prstGeom prst="rect">
            <a:avLst/>
          </a:prstGeom>
          <a:noFill/>
        </p:spPr>
        <p:txBody>
          <a:bodyPr wrap="square" lIns="0" tIns="0" rIns="0" bIns="0" anchor="t">
            <a:spAutoFit/>
          </a:bodyPr>
          <a:lstStyle/>
          <a:p>
            <a:pPr algn="ctr">
              <a:spcBef>
                <a:spcPts val="0"/>
              </a:spcBef>
              <a:spcAft>
                <a:spcPts val="200"/>
              </a:spcAft>
            </a:pPr>
            <a:r>
              <a:rPr lang="en-GB" sz="800" b="1">
                <a:solidFill>
                  <a:srgbClr val="4F6875"/>
                </a:solidFill>
                <a:latin typeface="Aptos"/>
              </a:rPr>
              <a:t>−0,6</a:t>
            </a:r>
          </a:p>
        </p:txBody>
      </p:sp>
      <p:sp>
        <p:nvSpPr>
          <p:cNvPr id="25" name="Rectangle 24"/>
          <p:cNvSpPr/>
          <p:nvPr/>
        </p:nvSpPr>
        <p:spPr>
          <a:xfrm>
            <a:off x="4709160" y="4143832"/>
            <a:ext cx="566928" cy="446455"/>
          </a:xfrm>
          <a:prstGeom prst="rect">
            <a:avLst/>
          </a:prstGeom>
          <a:solidFill>
            <a:srgbClr val="0B5D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562856" y="3970096"/>
            <a:ext cx="859536" cy="130805"/>
          </a:xfrm>
          <a:prstGeom prst="rect">
            <a:avLst/>
          </a:prstGeom>
          <a:noFill/>
        </p:spPr>
        <p:txBody>
          <a:bodyPr wrap="square" lIns="0" tIns="0" rIns="0" bIns="0" anchor="t">
            <a:spAutoFit/>
          </a:bodyPr>
          <a:lstStyle/>
          <a:p>
            <a:pPr algn="ctr">
              <a:spcBef>
                <a:spcPts val="0"/>
              </a:spcBef>
              <a:spcAft>
                <a:spcPts val="200"/>
              </a:spcAft>
            </a:pPr>
            <a:r>
              <a:rPr lang="en-GB" sz="850" b="1">
                <a:solidFill>
                  <a:srgbClr val="051C2C"/>
                </a:solidFill>
                <a:latin typeface="Aptos"/>
              </a:rPr>
              <a:t>19</a:t>
            </a:r>
          </a:p>
        </p:txBody>
      </p:sp>
      <p:sp>
        <p:nvSpPr>
          <p:cNvPr id="27" name="TextBox 26"/>
          <p:cNvSpPr txBox="1"/>
          <p:nvPr/>
        </p:nvSpPr>
        <p:spPr>
          <a:xfrm>
            <a:off x="4562856" y="4626864"/>
            <a:ext cx="859536" cy="123111"/>
          </a:xfrm>
          <a:prstGeom prst="rect">
            <a:avLst/>
          </a:prstGeom>
          <a:noFill/>
        </p:spPr>
        <p:txBody>
          <a:bodyPr wrap="square" lIns="0" tIns="0" rIns="0" bIns="0" anchor="t">
            <a:spAutoFit/>
          </a:bodyPr>
          <a:lstStyle/>
          <a:p>
            <a:pPr algn="ctr">
              <a:spcBef>
                <a:spcPts val="0"/>
              </a:spcBef>
              <a:spcAft>
                <a:spcPts val="200"/>
              </a:spcAft>
            </a:pPr>
            <a:r>
              <a:rPr lang="en-GB" sz="800" b="0">
                <a:solidFill>
                  <a:srgbClr val="4F6875"/>
                </a:solidFill>
                <a:latin typeface="Aptos"/>
              </a:rPr>
              <a:t>3–5J</a:t>
            </a:r>
          </a:p>
        </p:txBody>
      </p:sp>
      <p:sp>
        <p:nvSpPr>
          <p:cNvPr id="28" name="TextBox 27"/>
          <p:cNvSpPr txBox="1"/>
          <p:nvPr/>
        </p:nvSpPr>
        <p:spPr>
          <a:xfrm>
            <a:off x="4562856" y="4773168"/>
            <a:ext cx="859536" cy="123111"/>
          </a:xfrm>
          <a:prstGeom prst="rect">
            <a:avLst/>
          </a:prstGeom>
          <a:noFill/>
        </p:spPr>
        <p:txBody>
          <a:bodyPr wrap="square" lIns="0" tIns="0" rIns="0" bIns="0" anchor="t">
            <a:spAutoFit/>
          </a:bodyPr>
          <a:lstStyle/>
          <a:p>
            <a:pPr algn="ctr">
              <a:spcBef>
                <a:spcPts val="0"/>
              </a:spcBef>
              <a:spcAft>
                <a:spcPts val="200"/>
              </a:spcAft>
            </a:pPr>
            <a:r>
              <a:rPr lang="en-GB" sz="800" b="1">
                <a:solidFill>
                  <a:srgbClr val="4F6875"/>
                </a:solidFill>
                <a:latin typeface="Aptos"/>
              </a:rPr>
              <a:t>−1,5</a:t>
            </a:r>
          </a:p>
        </p:txBody>
      </p:sp>
      <p:sp>
        <p:nvSpPr>
          <p:cNvPr id="29" name="Rectangle 28"/>
          <p:cNvSpPr/>
          <p:nvPr/>
        </p:nvSpPr>
        <p:spPr>
          <a:xfrm>
            <a:off x="5669280" y="3172968"/>
            <a:ext cx="566928" cy="1417320"/>
          </a:xfrm>
          <a:prstGeom prst="rect">
            <a:avLst/>
          </a:prstGeom>
          <a:solidFill>
            <a:srgbClr val="A52F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5522976" y="2999232"/>
            <a:ext cx="859536" cy="130805"/>
          </a:xfrm>
          <a:prstGeom prst="rect">
            <a:avLst/>
          </a:prstGeom>
          <a:noFill/>
        </p:spPr>
        <p:txBody>
          <a:bodyPr wrap="square" lIns="0" tIns="0" rIns="0" bIns="0" anchor="t">
            <a:spAutoFit/>
          </a:bodyPr>
          <a:lstStyle/>
          <a:p>
            <a:pPr algn="ctr">
              <a:spcBef>
                <a:spcPts val="0"/>
              </a:spcBef>
              <a:spcAft>
                <a:spcPts val="200"/>
              </a:spcAft>
            </a:pPr>
            <a:r>
              <a:rPr lang="en-GB" sz="850" b="1">
                <a:solidFill>
                  <a:srgbClr val="051C2C"/>
                </a:solidFill>
                <a:latin typeface="Aptos"/>
              </a:rPr>
              <a:t>60</a:t>
            </a:r>
          </a:p>
        </p:txBody>
      </p:sp>
      <p:sp>
        <p:nvSpPr>
          <p:cNvPr id="31" name="TextBox 30"/>
          <p:cNvSpPr txBox="1"/>
          <p:nvPr/>
        </p:nvSpPr>
        <p:spPr>
          <a:xfrm>
            <a:off x="5522976" y="4626864"/>
            <a:ext cx="859536" cy="123111"/>
          </a:xfrm>
          <a:prstGeom prst="rect">
            <a:avLst/>
          </a:prstGeom>
          <a:noFill/>
        </p:spPr>
        <p:txBody>
          <a:bodyPr wrap="square" lIns="0" tIns="0" rIns="0" bIns="0" anchor="t">
            <a:spAutoFit/>
          </a:bodyPr>
          <a:lstStyle/>
          <a:p>
            <a:pPr algn="ctr">
              <a:spcBef>
                <a:spcPts val="0"/>
              </a:spcBef>
              <a:spcAft>
                <a:spcPts val="200"/>
              </a:spcAft>
            </a:pPr>
            <a:r>
              <a:rPr lang="en-GB" sz="800" b="0">
                <a:solidFill>
                  <a:srgbClr val="4F6875"/>
                </a:solidFill>
                <a:latin typeface="Aptos"/>
              </a:rPr>
              <a:t>5–10J</a:t>
            </a:r>
          </a:p>
        </p:txBody>
      </p:sp>
      <p:sp>
        <p:nvSpPr>
          <p:cNvPr id="32" name="TextBox 31"/>
          <p:cNvSpPr txBox="1"/>
          <p:nvPr/>
        </p:nvSpPr>
        <p:spPr>
          <a:xfrm>
            <a:off x="5522976" y="4773168"/>
            <a:ext cx="859536" cy="123111"/>
          </a:xfrm>
          <a:prstGeom prst="rect">
            <a:avLst/>
          </a:prstGeom>
          <a:noFill/>
        </p:spPr>
        <p:txBody>
          <a:bodyPr wrap="square" lIns="0" tIns="0" rIns="0" bIns="0" anchor="t">
            <a:spAutoFit/>
          </a:bodyPr>
          <a:lstStyle/>
          <a:p>
            <a:pPr algn="ctr">
              <a:spcBef>
                <a:spcPts val="0"/>
              </a:spcBef>
              <a:spcAft>
                <a:spcPts val="200"/>
              </a:spcAft>
            </a:pPr>
            <a:r>
              <a:rPr lang="en-GB" sz="800" b="1">
                <a:solidFill>
                  <a:srgbClr val="A52F4D"/>
                </a:solidFill>
                <a:latin typeface="Aptos"/>
              </a:rPr>
              <a:t>−9,0</a:t>
            </a:r>
          </a:p>
        </p:txBody>
      </p:sp>
      <p:sp>
        <p:nvSpPr>
          <p:cNvPr id="33" name="Rectangle 32"/>
          <p:cNvSpPr/>
          <p:nvPr/>
        </p:nvSpPr>
        <p:spPr>
          <a:xfrm>
            <a:off x="6629400" y="3515486"/>
            <a:ext cx="566928" cy="1074801"/>
          </a:xfrm>
          <a:prstGeom prst="rect">
            <a:avLst/>
          </a:prstGeom>
          <a:solidFill>
            <a:srgbClr val="A52F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483096" y="3341750"/>
            <a:ext cx="859536" cy="130805"/>
          </a:xfrm>
          <a:prstGeom prst="rect">
            <a:avLst/>
          </a:prstGeom>
          <a:noFill/>
        </p:spPr>
        <p:txBody>
          <a:bodyPr wrap="square" lIns="0" tIns="0" rIns="0" bIns="0" anchor="t">
            <a:spAutoFit/>
          </a:bodyPr>
          <a:lstStyle/>
          <a:p>
            <a:pPr algn="ctr">
              <a:spcBef>
                <a:spcPts val="0"/>
              </a:spcBef>
              <a:spcAft>
                <a:spcPts val="200"/>
              </a:spcAft>
            </a:pPr>
            <a:r>
              <a:rPr lang="en-GB" sz="850" b="1">
                <a:solidFill>
                  <a:srgbClr val="051C2C"/>
                </a:solidFill>
                <a:latin typeface="Aptos"/>
              </a:rPr>
              <a:t>46</a:t>
            </a:r>
          </a:p>
        </p:txBody>
      </p:sp>
      <p:sp>
        <p:nvSpPr>
          <p:cNvPr id="35" name="TextBox 34"/>
          <p:cNvSpPr txBox="1"/>
          <p:nvPr/>
        </p:nvSpPr>
        <p:spPr>
          <a:xfrm>
            <a:off x="6483096" y="4626864"/>
            <a:ext cx="859536" cy="123111"/>
          </a:xfrm>
          <a:prstGeom prst="rect">
            <a:avLst/>
          </a:prstGeom>
          <a:noFill/>
        </p:spPr>
        <p:txBody>
          <a:bodyPr wrap="square" lIns="0" tIns="0" rIns="0" bIns="0" anchor="t">
            <a:spAutoFit/>
          </a:bodyPr>
          <a:lstStyle/>
          <a:p>
            <a:pPr algn="ctr">
              <a:spcBef>
                <a:spcPts val="0"/>
              </a:spcBef>
              <a:spcAft>
                <a:spcPts val="200"/>
              </a:spcAft>
            </a:pPr>
            <a:r>
              <a:rPr lang="en-GB" sz="800" b="0">
                <a:solidFill>
                  <a:srgbClr val="4F6875"/>
                </a:solidFill>
                <a:latin typeface="Aptos"/>
              </a:rPr>
              <a:t>&gt;10J</a:t>
            </a:r>
          </a:p>
        </p:txBody>
      </p:sp>
      <p:sp>
        <p:nvSpPr>
          <p:cNvPr id="36" name="TextBox 35"/>
          <p:cNvSpPr txBox="1"/>
          <p:nvPr/>
        </p:nvSpPr>
        <p:spPr>
          <a:xfrm>
            <a:off x="6483096" y="4773168"/>
            <a:ext cx="859536" cy="123111"/>
          </a:xfrm>
          <a:prstGeom prst="rect">
            <a:avLst/>
          </a:prstGeom>
          <a:noFill/>
        </p:spPr>
        <p:txBody>
          <a:bodyPr wrap="square" lIns="0" tIns="0" rIns="0" bIns="0" anchor="t">
            <a:spAutoFit/>
          </a:bodyPr>
          <a:lstStyle/>
          <a:p>
            <a:pPr algn="ctr">
              <a:spcBef>
                <a:spcPts val="0"/>
              </a:spcBef>
              <a:spcAft>
                <a:spcPts val="200"/>
              </a:spcAft>
            </a:pPr>
            <a:r>
              <a:rPr lang="en-GB" sz="800" b="1">
                <a:solidFill>
                  <a:srgbClr val="A52F4D"/>
                </a:solidFill>
                <a:latin typeface="Aptos"/>
              </a:rPr>
              <a:t>−13,7</a:t>
            </a:r>
          </a:p>
        </p:txBody>
      </p:sp>
      <p:sp>
        <p:nvSpPr>
          <p:cNvPr id="37" name="TextBox 36"/>
          <p:cNvSpPr txBox="1"/>
          <p:nvPr/>
        </p:nvSpPr>
        <p:spPr>
          <a:xfrm>
            <a:off x="868680" y="4974336"/>
            <a:ext cx="6949440" cy="123111"/>
          </a:xfrm>
          <a:prstGeom prst="rect">
            <a:avLst/>
          </a:prstGeom>
          <a:noFill/>
        </p:spPr>
        <p:txBody>
          <a:bodyPr wrap="square" lIns="0" tIns="0" rIns="0" bIns="0" anchor="t">
            <a:spAutoFit/>
          </a:bodyPr>
          <a:lstStyle/>
          <a:p>
            <a:pPr algn="l">
              <a:spcBef>
                <a:spcPts val="0"/>
              </a:spcBef>
              <a:spcAft>
                <a:spcPts val="200"/>
              </a:spcAft>
            </a:pPr>
            <a:r>
              <a:rPr lang="de-DE" sz="800" b="0">
                <a:solidFill>
                  <a:srgbClr val="4F6875"/>
                </a:solidFill>
                <a:latin typeface="Aptos"/>
              </a:rPr>
              <a:t>zweite Zeile = Verlustbeitrag des Buckets (Mrd €)</a:t>
            </a:r>
          </a:p>
        </p:txBody>
      </p:sp>
      <p:sp>
        <p:nvSpPr>
          <p:cNvPr id="38" name="Rectangle 37"/>
          <p:cNvSpPr/>
          <p:nvPr/>
        </p:nvSpPr>
        <p:spPr>
          <a:xfrm>
            <a:off x="8183879" y="2450592"/>
            <a:ext cx="3474720" cy="2743200"/>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8412480" y="2615184"/>
            <a:ext cx="3108960" cy="169277"/>
          </a:xfrm>
          <a:prstGeom prst="rect">
            <a:avLst/>
          </a:prstGeom>
          <a:noFill/>
        </p:spPr>
        <p:txBody>
          <a:bodyPr wrap="square" lIns="0" tIns="0" rIns="0" bIns="0" anchor="t">
            <a:spAutoFit/>
          </a:bodyPr>
          <a:lstStyle/>
          <a:p>
            <a:pPr algn="l">
              <a:spcBef>
                <a:spcPts val="0"/>
              </a:spcBef>
              <a:spcAft>
                <a:spcPts val="200"/>
              </a:spcAft>
            </a:pPr>
            <a:r>
              <a:rPr lang="en-GB" sz="1100" b="1">
                <a:solidFill>
                  <a:srgbClr val="051C2C"/>
                </a:solidFill>
                <a:latin typeface="Aptos"/>
              </a:rPr>
              <a:t>KERNAUSSAGE</a:t>
            </a:r>
          </a:p>
        </p:txBody>
      </p:sp>
      <p:sp>
        <p:nvSpPr>
          <p:cNvPr id="40" name="TextBox 39"/>
          <p:cNvSpPr txBox="1"/>
          <p:nvPr/>
        </p:nvSpPr>
        <p:spPr>
          <a:xfrm>
            <a:off x="8412480" y="2971800"/>
            <a:ext cx="3108960" cy="384721"/>
          </a:xfrm>
          <a:prstGeom prst="rect">
            <a:avLst/>
          </a:prstGeom>
          <a:noFill/>
        </p:spPr>
        <p:txBody>
          <a:bodyPr wrap="square" lIns="0" tIns="0" rIns="0" bIns="0" anchor="t">
            <a:spAutoFit/>
          </a:bodyPr>
          <a:lstStyle/>
          <a:p>
            <a:pPr algn="l">
              <a:spcBef>
                <a:spcPts val="0"/>
              </a:spcBef>
              <a:spcAft>
                <a:spcPts val="200"/>
              </a:spcAft>
            </a:pPr>
            <a:r>
              <a:rPr lang="en-GB" sz="2500" b="1">
                <a:solidFill>
                  <a:srgbClr val="A52F4D"/>
                </a:solidFill>
                <a:latin typeface="Aptos Display"/>
              </a:rPr>
              <a:t>−25,3 Mrd €</a:t>
            </a:r>
          </a:p>
        </p:txBody>
      </p:sp>
      <p:sp>
        <p:nvSpPr>
          <p:cNvPr id="41" name="TextBox 40"/>
          <p:cNvSpPr txBox="1"/>
          <p:nvPr/>
        </p:nvSpPr>
        <p:spPr>
          <a:xfrm>
            <a:off x="8412480" y="3493008"/>
            <a:ext cx="3108960" cy="169277"/>
          </a:xfrm>
          <a:prstGeom prst="rect">
            <a:avLst/>
          </a:prstGeom>
          <a:noFill/>
        </p:spPr>
        <p:txBody>
          <a:bodyPr wrap="square" lIns="0" tIns="0" rIns="0" bIns="0" anchor="t">
            <a:spAutoFit/>
          </a:bodyPr>
          <a:lstStyle/>
          <a:p>
            <a:pPr algn="l">
              <a:spcBef>
                <a:spcPts val="0"/>
              </a:spcBef>
              <a:spcAft>
                <a:spcPts val="200"/>
              </a:spcAft>
            </a:pPr>
            <a:r>
              <a:rPr lang="de-DE" sz="1100" b="0">
                <a:solidFill>
                  <a:srgbClr val="051C2C"/>
                </a:solidFill>
                <a:latin typeface="Aptos"/>
              </a:rPr>
              <a:t>Brutto-Marktwertverlust auf 180,4 </a:t>
            </a:r>
            <a:r>
              <a:rPr lang="de-DE" sz="1100" b="0" err="1">
                <a:solidFill>
                  <a:srgbClr val="051C2C"/>
                </a:solidFill>
                <a:latin typeface="Aptos"/>
              </a:rPr>
              <a:t>Mrd</a:t>
            </a:r>
            <a:r>
              <a:rPr lang="de-DE" sz="1100" b="0">
                <a:solidFill>
                  <a:srgbClr val="051C2C"/>
                </a:solidFill>
                <a:latin typeface="Aptos"/>
              </a:rPr>
              <a:t> € Bestand</a:t>
            </a:r>
          </a:p>
        </p:txBody>
      </p:sp>
      <p:sp>
        <p:nvSpPr>
          <p:cNvPr id="42" name="TextBox 41"/>
          <p:cNvSpPr txBox="1"/>
          <p:nvPr/>
        </p:nvSpPr>
        <p:spPr>
          <a:xfrm>
            <a:off x="8412480" y="4160520"/>
            <a:ext cx="3108960" cy="741229"/>
          </a:xfrm>
          <a:prstGeom prst="rect">
            <a:avLst/>
          </a:prstGeom>
          <a:noFill/>
        </p:spPr>
        <p:txBody>
          <a:bodyPr wrap="square" lIns="0" tIns="0" rIns="0" bIns="0" anchor="t">
            <a:spAutoFit/>
          </a:bodyPr>
          <a:lstStyle/>
          <a:p>
            <a:pPr algn="l">
              <a:spcBef>
                <a:spcPts val="0"/>
              </a:spcBef>
              <a:spcAft>
                <a:spcPts val="500"/>
              </a:spcAft>
            </a:pPr>
            <a:r>
              <a:rPr lang="de-DE" sz="1200" b="1">
                <a:solidFill>
                  <a:srgbClr val="A52F4D"/>
                </a:solidFill>
                <a:latin typeface="Aptos"/>
              </a:rPr>
              <a:t>89 % </a:t>
            </a:r>
            <a:r>
              <a:rPr lang="de-DE" sz="1100" b="0">
                <a:solidFill>
                  <a:srgbClr val="051C2C"/>
                </a:solidFill>
                <a:latin typeface="Aptos"/>
              </a:rPr>
              <a:t>des Verlusts stecken in Laufzeiten über 5 Jahren</a:t>
            </a:r>
          </a:p>
          <a:p>
            <a:pPr algn="l">
              <a:spcBef>
                <a:spcPts val="0"/>
              </a:spcBef>
              <a:spcAft>
                <a:spcPts val="500"/>
              </a:spcAft>
            </a:pPr>
            <a:r>
              <a:rPr lang="de-DE" sz="1050" b="0">
                <a:solidFill>
                  <a:srgbClr val="4F6875"/>
                </a:solidFill>
                <a:latin typeface="Aptos"/>
              </a:rPr>
              <a:t>Nicht die Größe, sondern die Länge des Buchs treibt den Effekt</a:t>
            </a:r>
          </a:p>
        </p:txBody>
      </p:sp>
      <p:sp>
        <p:nvSpPr>
          <p:cNvPr id="43" name="TextBox 42"/>
          <p:cNvSpPr txBox="1"/>
          <p:nvPr/>
        </p:nvSpPr>
        <p:spPr>
          <a:xfrm>
            <a:off x="457200" y="6519672"/>
            <a:ext cx="7315200" cy="138499"/>
          </a:xfrm>
          <a:prstGeom prst="rect">
            <a:avLst/>
          </a:prstGeom>
          <a:noFill/>
        </p:spPr>
        <p:txBody>
          <a:bodyPr wrap="square" lIns="0" tIns="0" rIns="0" bIns="0" anchor="t">
            <a:spAutoFit/>
          </a:bodyPr>
          <a:lstStyle/>
          <a:p>
            <a:pPr algn="l">
              <a:spcBef>
                <a:spcPts val="0"/>
              </a:spcBef>
              <a:spcAft>
                <a:spcPts val="200"/>
              </a:spcAft>
            </a:pPr>
            <a:r>
              <a:rPr lang="en-GB" sz="900" b="0" err="1">
                <a:solidFill>
                  <a:srgbClr val="71858F"/>
                </a:solidFill>
                <a:latin typeface="Aptos"/>
              </a:rPr>
              <a:t>Marktbuch</a:t>
            </a:r>
            <a:r>
              <a:rPr lang="en-GB" sz="900" b="0">
                <a:solidFill>
                  <a:srgbClr val="71858F"/>
                </a:solidFill>
                <a:latin typeface="Aptos"/>
              </a:rPr>
              <a:t> · Sovereign / Rate Channel</a:t>
            </a:r>
          </a:p>
        </p:txBody>
      </p:sp>
      <p:sp>
        <p:nvSpPr>
          <p:cNvPr id="44" name="CodexSlideNumber">
            <a:extLst>
              <a:ext uri="{FF2B5EF4-FFF2-40B4-BE49-F238E27FC236}">
                <a16:creationId xmlns:a16="http://schemas.microsoft.com/office/drawing/2014/main" id="{C977F038-38EA-B787-87D7-1BB296C45D7D}"/>
              </a:ext>
            </a:extLst>
          </p:cNvPr>
          <p:cNvSpPr txBox="1"/>
          <p:nvPr/>
        </p:nvSpPr>
        <p:spPr>
          <a:xfrm>
            <a:off x="11226800" y="6553200"/>
            <a:ext cx="736600" cy="123111"/>
          </a:xfrm>
          <a:prstGeom prst="rect">
            <a:avLst/>
          </a:prstGeom>
          <a:noFill/>
        </p:spPr>
        <p:txBody>
          <a:bodyPr vert="horz" lIns="0" tIns="0" rIns="0" bIns="0" rtlCol="0">
            <a:spAutoFit/>
          </a:bodyPr>
          <a:lstStyle/>
          <a:p>
            <a:pPr algn="r"/>
            <a:r>
              <a:rPr lang="en-US" sz="800">
                <a:solidFill>
                  <a:srgbClr val="525252"/>
                </a:solidFill>
                <a:latin typeface="Arial" panose="020B0604020202020204" pitchFamily="34" charset="0"/>
              </a:rPr>
              <a:t>35 / 64</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84048"/>
            <a:ext cx="11155680" cy="132793"/>
          </a:xfrm>
          <a:prstGeom prst="rect">
            <a:avLst/>
          </a:prstGeom>
          <a:noFill/>
        </p:spPr>
        <p:txBody>
          <a:bodyPr wrap="square" lIns="0" tIns="0" rIns="0" bIns="0" anchor="t">
            <a:spAutoFit/>
          </a:bodyPr>
          <a:lstStyle/>
          <a:p>
            <a:pPr>
              <a:spcBef>
                <a:spcPts val="0"/>
              </a:spcBef>
              <a:spcAft>
                <a:spcPts val="200"/>
              </a:spcAft>
            </a:pPr>
            <a:r>
              <a:rPr lang="en-GB" sz="863" b="1" dirty="0">
                <a:solidFill>
                  <a:schemeClr val="tx2"/>
                </a:solidFill>
                <a:latin typeface="Aptos"/>
              </a:rPr>
              <a:t>SUB-TAB 2 · IFRS-9-KLASSIFIZIERUNG</a:t>
            </a:r>
          </a:p>
        </p:txBody>
      </p:sp>
      <p:sp>
        <p:nvSpPr>
          <p:cNvPr id="4" name="TextBox 3"/>
          <p:cNvSpPr txBox="1"/>
          <p:nvPr/>
        </p:nvSpPr>
        <p:spPr>
          <a:xfrm>
            <a:off x="548640" y="658368"/>
            <a:ext cx="11155680" cy="380873"/>
          </a:xfrm>
          <a:prstGeom prst="rect">
            <a:avLst/>
          </a:prstGeom>
          <a:noFill/>
        </p:spPr>
        <p:txBody>
          <a:bodyPr wrap="square" lIns="0" tIns="0" rIns="0" bIns="0" anchor="t">
            <a:spAutoFit/>
          </a:bodyPr>
          <a:lstStyle/>
          <a:p>
            <a:pPr algn="l">
              <a:spcBef>
                <a:spcPts val="0"/>
              </a:spcBef>
              <a:spcAft>
                <a:spcPts val="200"/>
              </a:spcAft>
            </a:pPr>
            <a:r>
              <a:rPr lang="de-DE" sz="2475" b="1">
                <a:solidFill>
                  <a:srgbClr val="051C2C"/>
                </a:solidFill>
                <a:latin typeface="Aptos Display"/>
              </a:rPr>
              <a:t>Vier Bilanzklassen entscheiden, was CET1 sofort trifft</a:t>
            </a:r>
          </a:p>
        </p:txBody>
      </p:sp>
      <p:sp>
        <p:nvSpPr>
          <p:cNvPr id="5" name="TextBox 4"/>
          <p:cNvSpPr txBox="1"/>
          <p:nvPr/>
        </p:nvSpPr>
        <p:spPr>
          <a:xfrm>
            <a:off x="548640" y="1572768"/>
            <a:ext cx="11064240" cy="441146"/>
          </a:xfrm>
          <a:prstGeom prst="rect">
            <a:avLst/>
          </a:prstGeom>
          <a:noFill/>
        </p:spPr>
        <p:txBody>
          <a:bodyPr wrap="square" lIns="0" tIns="0" rIns="0" bIns="0" anchor="t">
            <a:spAutoFit/>
          </a:bodyPr>
          <a:lstStyle/>
          <a:p>
            <a:pPr algn="l">
              <a:spcBef>
                <a:spcPts val="0"/>
              </a:spcBef>
              <a:spcAft>
                <a:spcPts val="200"/>
              </a:spcAft>
            </a:pPr>
            <a:r>
              <a:rPr lang="de-DE" sz="1350" b="1">
                <a:solidFill>
                  <a:srgbClr val="051C2C"/>
                </a:solidFill>
                <a:latin typeface="Aptos"/>
              </a:rPr>
              <a:t>Derselbe Marktwertverlust wirkt völlig unterschiedlich – je nachdem, in welcher IFRS-9-Klasse die Anleihe liegt </a:t>
            </a:r>
          </a:p>
          <a:p>
            <a:pPr algn="l">
              <a:spcBef>
                <a:spcPts val="0"/>
              </a:spcBef>
              <a:spcAft>
                <a:spcPts val="200"/>
              </a:spcAft>
            </a:pPr>
            <a:r>
              <a:rPr lang="de-DE" sz="1350" b="0">
                <a:solidFill>
                  <a:srgbClr val="051C2C"/>
                </a:solidFill>
                <a:latin typeface="Aptos"/>
              </a:rPr>
              <a:t>Drei Klassen sind sofort CET1-wirksam, eine bleibt latent</a:t>
            </a:r>
          </a:p>
        </p:txBody>
      </p:sp>
      <p:sp>
        <p:nvSpPr>
          <p:cNvPr id="6" name="Rectangle 5"/>
          <p:cNvSpPr/>
          <p:nvPr/>
        </p:nvSpPr>
        <p:spPr>
          <a:xfrm>
            <a:off x="548640" y="2331720"/>
            <a:ext cx="2688336" cy="2788920"/>
          </a:xfrm>
          <a:prstGeom prst="rect">
            <a:avLst/>
          </a:prstGeom>
          <a:solidFill>
            <a:srgbClr val="FFFFFF"/>
          </a:solidFill>
          <a:ln w="9525">
            <a:solidFill>
              <a:srgbClr val="D9E2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48640" y="2331720"/>
            <a:ext cx="2688336" cy="402336"/>
          </a:xfrm>
          <a:prstGeom prst="rect">
            <a:avLst/>
          </a:prstGeom>
          <a:solidFill>
            <a:srgbClr val="A52F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94944" y="2444402"/>
            <a:ext cx="2414016" cy="176972"/>
          </a:xfrm>
          <a:prstGeom prst="rect">
            <a:avLst/>
          </a:prstGeom>
          <a:noFill/>
        </p:spPr>
        <p:txBody>
          <a:bodyPr wrap="square" lIns="0" tIns="0" rIns="0" bIns="0" anchor="ctr">
            <a:spAutoFit/>
          </a:bodyPr>
          <a:lstStyle/>
          <a:p>
            <a:pPr algn="l">
              <a:spcBef>
                <a:spcPts val="0"/>
              </a:spcBef>
              <a:spcAft>
                <a:spcPts val="200"/>
              </a:spcAft>
            </a:pPr>
            <a:r>
              <a:rPr lang="en-GB" sz="1150" b="1">
                <a:solidFill>
                  <a:srgbClr val="FFFFFF"/>
                </a:solidFill>
                <a:latin typeface="Aptos"/>
              </a:rPr>
              <a:t>HfT · Held for Trading</a:t>
            </a:r>
          </a:p>
        </p:txBody>
      </p:sp>
      <p:sp>
        <p:nvSpPr>
          <p:cNvPr id="9" name="TextBox 8"/>
          <p:cNvSpPr txBox="1"/>
          <p:nvPr/>
        </p:nvSpPr>
        <p:spPr>
          <a:xfrm>
            <a:off x="731520" y="2852928"/>
            <a:ext cx="2322576" cy="169277"/>
          </a:xfrm>
          <a:prstGeom prst="rect">
            <a:avLst/>
          </a:prstGeom>
          <a:noFill/>
        </p:spPr>
        <p:txBody>
          <a:bodyPr wrap="square" lIns="0" tIns="0" rIns="0" bIns="0" anchor="t">
            <a:spAutoFit/>
          </a:bodyPr>
          <a:lstStyle/>
          <a:p>
            <a:pPr algn="l">
              <a:spcBef>
                <a:spcPts val="0"/>
              </a:spcBef>
              <a:spcAft>
                <a:spcPts val="200"/>
              </a:spcAft>
            </a:pPr>
            <a:r>
              <a:rPr lang="en-GB" sz="1100" b="1">
                <a:latin typeface="Aptos"/>
              </a:rPr>
              <a:t>Zu </a:t>
            </a:r>
            <a:r>
              <a:rPr lang="en-GB" sz="1100" b="1" err="1">
                <a:latin typeface="Aptos"/>
              </a:rPr>
              <a:t>Handelszwecken</a:t>
            </a:r>
            <a:r>
              <a:rPr lang="en-GB" sz="1100" b="1">
                <a:latin typeface="Aptos"/>
              </a:rPr>
              <a:t> </a:t>
            </a:r>
            <a:r>
              <a:rPr lang="en-GB" sz="1100" b="1" err="1">
                <a:latin typeface="Aptos"/>
              </a:rPr>
              <a:t>gehalten</a:t>
            </a:r>
            <a:endParaRPr lang="en-GB" sz="1100" b="1">
              <a:latin typeface="Aptos"/>
            </a:endParaRPr>
          </a:p>
        </p:txBody>
      </p:sp>
      <p:sp>
        <p:nvSpPr>
          <p:cNvPr id="10" name="TextBox 9"/>
          <p:cNvSpPr txBox="1"/>
          <p:nvPr/>
        </p:nvSpPr>
        <p:spPr>
          <a:xfrm>
            <a:off x="731520" y="3346704"/>
            <a:ext cx="2322576" cy="323165"/>
          </a:xfrm>
          <a:prstGeom prst="rect">
            <a:avLst/>
          </a:prstGeom>
          <a:noFill/>
        </p:spPr>
        <p:txBody>
          <a:bodyPr wrap="square" lIns="0" tIns="0" rIns="0" bIns="0" anchor="t">
            <a:spAutoFit/>
          </a:bodyPr>
          <a:lstStyle/>
          <a:p>
            <a:pPr algn="l">
              <a:spcBef>
                <a:spcPts val="0"/>
              </a:spcBef>
              <a:spcAft>
                <a:spcPts val="200"/>
              </a:spcAft>
            </a:pPr>
            <a:r>
              <a:rPr lang="de-DE" sz="1050" b="1">
                <a:solidFill>
                  <a:srgbClr val="051C2C"/>
                </a:solidFill>
                <a:latin typeface="Aptos"/>
              </a:rPr>
              <a:t>Buchung: </a:t>
            </a:r>
            <a:r>
              <a:rPr lang="de-DE" sz="1050" b="0">
                <a:solidFill>
                  <a:srgbClr val="4F6875"/>
                </a:solidFill>
                <a:latin typeface="Aptos"/>
              </a:rPr>
              <a:t>Marktwert über die Gewinn- und Verlustrechnung</a:t>
            </a:r>
          </a:p>
        </p:txBody>
      </p:sp>
      <p:sp>
        <p:nvSpPr>
          <p:cNvPr id="11" name="Rectangle 10"/>
          <p:cNvSpPr/>
          <p:nvPr/>
        </p:nvSpPr>
        <p:spPr>
          <a:xfrm>
            <a:off x="694944" y="4023360"/>
            <a:ext cx="2395728" cy="10972"/>
          </a:xfrm>
          <a:prstGeom prst="rect">
            <a:avLst/>
          </a:prstGeom>
          <a:solidFill>
            <a:srgbClr val="D9E2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31520" y="4160520"/>
            <a:ext cx="2322576" cy="323165"/>
          </a:xfrm>
          <a:prstGeom prst="rect">
            <a:avLst/>
          </a:prstGeom>
          <a:noFill/>
        </p:spPr>
        <p:txBody>
          <a:bodyPr wrap="square" lIns="0" tIns="0" rIns="0" bIns="0" anchor="t">
            <a:spAutoFit/>
          </a:bodyPr>
          <a:lstStyle/>
          <a:p>
            <a:pPr algn="l">
              <a:spcBef>
                <a:spcPts val="0"/>
              </a:spcBef>
              <a:spcAft>
                <a:spcPts val="200"/>
              </a:spcAft>
            </a:pPr>
            <a:r>
              <a:rPr lang="de-DE" sz="1050" b="1">
                <a:solidFill>
                  <a:srgbClr val="A52F4D"/>
                </a:solidFill>
                <a:latin typeface="Aptos"/>
              </a:rPr>
              <a:t>→ einbehaltene Gewinne → CET1  ·  SOFORT wirksam</a:t>
            </a:r>
          </a:p>
        </p:txBody>
      </p:sp>
      <p:sp>
        <p:nvSpPr>
          <p:cNvPr id="13" name="Rectangle 12"/>
          <p:cNvSpPr/>
          <p:nvPr/>
        </p:nvSpPr>
        <p:spPr>
          <a:xfrm>
            <a:off x="3401568" y="2331720"/>
            <a:ext cx="2688336" cy="2788920"/>
          </a:xfrm>
          <a:prstGeom prst="rect">
            <a:avLst/>
          </a:prstGeom>
          <a:solidFill>
            <a:srgbClr val="FFFFFF"/>
          </a:solidFill>
          <a:ln w="9525">
            <a:solidFill>
              <a:srgbClr val="D9E2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3401568" y="2331720"/>
            <a:ext cx="2688336" cy="402336"/>
          </a:xfrm>
          <a:prstGeom prst="rect">
            <a:avLst/>
          </a:prstGeom>
          <a:solidFill>
            <a:srgbClr val="A52F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547872" y="2444402"/>
            <a:ext cx="2414016" cy="176972"/>
          </a:xfrm>
          <a:prstGeom prst="rect">
            <a:avLst/>
          </a:prstGeom>
          <a:noFill/>
        </p:spPr>
        <p:txBody>
          <a:bodyPr wrap="square" lIns="0" tIns="0" rIns="0" bIns="0" anchor="ctr">
            <a:spAutoFit/>
          </a:bodyPr>
          <a:lstStyle/>
          <a:p>
            <a:pPr algn="l">
              <a:spcBef>
                <a:spcPts val="0"/>
              </a:spcBef>
              <a:spcAft>
                <a:spcPts val="200"/>
              </a:spcAft>
            </a:pPr>
            <a:r>
              <a:rPr lang="en-GB" sz="1150" b="1">
                <a:solidFill>
                  <a:srgbClr val="FFFFFF"/>
                </a:solidFill>
                <a:latin typeface="Aptos"/>
              </a:rPr>
              <a:t>FVTPL · designated</a:t>
            </a:r>
          </a:p>
        </p:txBody>
      </p:sp>
      <p:sp>
        <p:nvSpPr>
          <p:cNvPr id="16" name="TextBox 15"/>
          <p:cNvSpPr txBox="1"/>
          <p:nvPr/>
        </p:nvSpPr>
        <p:spPr>
          <a:xfrm>
            <a:off x="3584448" y="2852928"/>
            <a:ext cx="2322576" cy="169277"/>
          </a:xfrm>
          <a:prstGeom prst="rect">
            <a:avLst/>
          </a:prstGeom>
          <a:noFill/>
        </p:spPr>
        <p:txBody>
          <a:bodyPr wrap="square" lIns="0" tIns="0" rIns="0" bIns="0" anchor="t">
            <a:spAutoFit/>
          </a:bodyPr>
          <a:lstStyle/>
          <a:p>
            <a:pPr algn="l">
              <a:spcBef>
                <a:spcPts val="0"/>
              </a:spcBef>
              <a:spcAft>
                <a:spcPts val="200"/>
              </a:spcAft>
            </a:pPr>
            <a:r>
              <a:rPr lang="de-DE" sz="1100" b="1">
                <a:latin typeface="Aptos"/>
              </a:rPr>
              <a:t>Freiwillig zum Fair Value</a:t>
            </a:r>
          </a:p>
        </p:txBody>
      </p:sp>
      <p:sp>
        <p:nvSpPr>
          <p:cNvPr id="17" name="TextBox 16"/>
          <p:cNvSpPr txBox="1"/>
          <p:nvPr/>
        </p:nvSpPr>
        <p:spPr>
          <a:xfrm>
            <a:off x="3584448" y="3346704"/>
            <a:ext cx="2322576" cy="323165"/>
          </a:xfrm>
          <a:prstGeom prst="rect">
            <a:avLst/>
          </a:prstGeom>
          <a:noFill/>
        </p:spPr>
        <p:txBody>
          <a:bodyPr wrap="square" lIns="0" tIns="0" rIns="0" bIns="0" anchor="t">
            <a:spAutoFit/>
          </a:bodyPr>
          <a:lstStyle/>
          <a:p>
            <a:pPr algn="l">
              <a:spcBef>
                <a:spcPts val="0"/>
              </a:spcBef>
              <a:spcAft>
                <a:spcPts val="200"/>
              </a:spcAft>
            </a:pPr>
            <a:r>
              <a:rPr lang="de-DE" sz="1050" b="1">
                <a:solidFill>
                  <a:srgbClr val="051C2C"/>
                </a:solidFill>
                <a:latin typeface="Aptos"/>
              </a:rPr>
              <a:t>Buchung: </a:t>
            </a:r>
            <a:r>
              <a:rPr lang="de-DE" sz="1050" b="0">
                <a:solidFill>
                  <a:srgbClr val="4F6875"/>
                </a:solidFill>
                <a:latin typeface="Aptos"/>
              </a:rPr>
              <a:t>Marktwert über die Gewinn- und Verlustrechnung</a:t>
            </a:r>
          </a:p>
        </p:txBody>
      </p:sp>
      <p:sp>
        <p:nvSpPr>
          <p:cNvPr id="18" name="Rectangle 17"/>
          <p:cNvSpPr/>
          <p:nvPr/>
        </p:nvSpPr>
        <p:spPr>
          <a:xfrm>
            <a:off x="3547872" y="4023360"/>
            <a:ext cx="2395728" cy="10972"/>
          </a:xfrm>
          <a:prstGeom prst="rect">
            <a:avLst/>
          </a:prstGeom>
          <a:solidFill>
            <a:srgbClr val="D9E2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584448" y="4160520"/>
            <a:ext cx="2322576" cy="323165"/>
          </a:xfrm>
          <a:prstGeom prst="rect">
            <a:avLst/>
          </a:prstGeom>
          <a:noFill/>
        </p:spPr>
        <p:txBody>
          <a:bodyPr wrap="square" lIns="0" tIns="0" rIns="0" bIns="0" anchor="t">
            <a:spAutoFit/>
          </a:bodyPr>
          <a:lstStyle/>
          <a:p>
            <a:pPr algn="l">
              <a:spcBef>
                <a:spcPts val="0"/>
              </a:spcBef>
              <a:spcAft>
                <a:spcPts val="200"/>
              </a:spcAft>
            </a:pPr>
            <a:r>
              <a:rPr lang="de-DE" sz="1050" b="1">
                <a:solidFill>
                  <a:srgbClr val="A52F4D"/>
                </a:solidFill>
                <a:latin typeface="Aptos"/>
              </a:rPr>
              <a:t>→ einbehaltene Gewinne → CET1  ·  SOFORT wirksam</a:t>
            </a:r>
          </a:p>
        </p:txBody>
      </p:sp>
      <p:sp>
        <p:nvSpPr>
          <p:cNvPr id="20" name="Rectangle 19"/>
          <p:cNvSpPr/>
          <p:nvPr/>
        </p:nvSpPr>
        <p:spPr>
          <a:xfrm>
            <a:off x="6254496" y="2331720"/>
            <a:ext cx="2688336" cy="2788920"/>
          </a:xfrm>
          <a:prstGeom prst="rect">
            <a:avLst/>
          </a:prstGeom>
          <a:solidFill>
            <a:srgbClr val="FFFFFF"/>
          </a:solidFill>
          <a:ln w="9525">
            <a:solidFill>
              <a:srgbClr val="D9E2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254496" y="2331720"/>
            <a:ext cx="2688336" cy="402336"/>
          </a:xfrm>
          <a:prstGeom prst="rect">
            <a:avLst/>
          </a:prstGeom>
          <a:solidFill>
            <a:srgbClr val="0B5D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00800" y="2444402"/>
            <a:ext cx="2414016" cy="176972"/>
          </a:xfrm>
          <a:prstGeom prst="rect">
            <a:avLst/>
          </a:prstGeom>
          <a:noFill/>
        </p:spPr>
        <p:txBody>
          <a:bodyPr wrap="square" lIns="0" tIns="0" rIns="0" bIns="0" anchor="ctr">
            <a:spAutoFit/>
          </a:bodyPr>
          <a:lstStyle/>
          <a:p>
            <a:pPr algn="l">
              <a:spcBef>
                <a:spcPts val="0"/>
              </a:spcBef>
              <a:spcAft>
                <a:spcPts val="200"/>
              </a:spcAft>
            </a:pPr>
            <a:r>
              <a:rPr lang="en-GB" sz="1150" b="1">
                <a:solidFill>
                  <a:srgbClr val="FFFFFF"/>
                </a:solidFill>
                <a:latin typeface="Aptos"/>
              </a:rPr>
              <a:t>FVOCI · through OCI</a:t>
            </a:r>
          </a:p>
        </p:txBody>
      </p:sp>
      <p:sp>
        <p:nvSpPr>
          <p:cNvPr id="23" name="TextBox 22"/>
          <p:cNvSpPr txBox="1"/>
          <p:nvPr/>
        </p:nvSpPr>
        <p:spPr>
          <a:xfrm>
            <a:off x="6437376" y="2852928"/>
            <a:ext cx="2322576" cy="169277"/>
          </a:xfrm>
          <a:prstGeom prst="rect">
            <a:avLst/>
          </a:prstGeom>
          <a:noFill/>
        </p:spPr>
        <p:txBody>
          <a:bodyPr wrap="square" lIns="0" tIns="0" rIns="0" bIns="0" anchor="t">
            <a:spAutoFit/>
          </a:bodyPr>
          <a:lstStyle/>
          <a:p>
            <a:pPr algn="l">
              <a:spcBef>
                <a:spcPts val="0"/>
              </a:spcBef>
              <a:spcAft>
                <a:spcPts val="200"/>
              </a:spcAft>
            </a:pPr>
            <a:r>
              <a:rPr lang="en-GB" sz="1100" b="1" err="1">
                <a:latin typeface="Aptos"/>
              </a:rPr>
              <a:t>Halten</a:t>
            </a:r>
            <a:r>
              <a:rPr lang="en-GB" sz="1100" b="1">
                <a:latin typeface="Aptos"/>
              </a:rPr>
              <a:t> und </a:t>
            </a:r>
            <a:r>
              <a:rPr lang="en-GB" sz="1100" b="1" err="1">
                <a:latin typeface="Aptos"/>
              </a:rPr>
              <a:t>Verkaufen</a:t>
            </a:r>
            <a:endParaRPr lang="en-GB" sz="1100" b="1">
              <a:latin typeface="Aptos"/>
            </a:endParaRPr>
          </a:p>
        </p:txBody>
      </p:sp>
      <p:sp>
        <p:nvSpPr>
          <p:cNvPr id="24" name="TextBox 23"/>
          <p:cNvSpPr txBox="1"/>
          <p:nvPr/>
        </p:nvSpPr>
        <p:spPr>
          <a:xfrm>
            <a:off x="6437376" y="3346704"/>
            <a:ext cx="2322576" cy="323165"/>
          </a:xfrm>
          <a:prstGeom prst="rect">
            <a:avLst/>
          </a:prstGeom>
          <a:noFill/>
        </p:spPr>
        <p:txBody>
          <a:bodyPr wrap="square" lIns="0" tIns="0" rIns="0" bIns="0" anchor="t">
            <a:spAutoFit/>
          </a:bodyPr>
          <a:lstStyle/>
          <a:p>
            <a:pPr algn="l">
              <a:spcBef>
                <a:spcPts val="0"/>
              </a:spcBef>
              <a:spcAft>
                <a:spcPts val="200"/>
              </a:spcAft>
            </a:pPr>
            <a:r>
              <a:rPr lang="de-DE" sz="1050" b="1">
                <a:solidFill>
                  <a:srgbClr val="051C2C"/>
                </a:solidFill>
                <a:latin typeface="Aptos"/>
              </a:rPr>
              <a:t>Buchung: </a:t>
            </a:r>
            <a:r>
              <a:rPr lang="de-DE" sz="1050" b="0">
                <a:solidFill>
                  <a:srgbClr val="4F6875"/>
                </a:solidFill>
                <a:latin typeface="Aptos"/>
              </a:rPr>
              <a:t>Marktwert über das sonstige Ergebnis (Rücklage)</a:t>
            </a:r>
          </a:p>
        </p:txBody>
      </p:sp>
      <p:sp>
        <p:nvSpPr>
          <p:cNvPr id="25" name="Rectangle 24"/>
          <p:cNvSpPr/>
          <p:nvPr/>
        </p:nvSpPr>
        <p:spPr>
          <a:xfrm>
            <a:off x="6400800" y="4023360"/>
            <a:ext cx="2395728" cy="10972"/>
          </a:xfrm>
          <a:prstGeom prst="rect">
            <a:avLst/>
          </a:prstGeom>
          <a:solidFill>
            <a:srgbClr val="D9E2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437376" y="4160520"/>
            <a:ext cx="2322576" cy="323165"/>
          </a:xfrm>
          <a:prstGeom prst="rect">
            <a:avLst/>
          </a:prstGeom>
          <a:noFill/>
        </p:spPr>
        <p:txBody>
          <a:bodyPr wrap="square" lIns="0" tIns="0" rIns="0" bIns="0" anchor="t">
            <a:spAutoFit/>
          </a:bodyPr>
          <a:lstStyle/>
          <a:p>
            <a:pPr algn="l">
              <a:spcBef>
                <a:spcPts val="0"/>
              </a:spcBef>
              <a:spcAft>
                <a:spcPts val="200"/>
              </a:spcAft>
            </a:pPr>
            <a:r>
              <a:rPr lang="en-GB" sz="1050" b="1">
                <a:solidFill>
                  <a:srgbClr val="0B5D7A"/>
                </a:solidFill>
                <a:latin typeface="Aptos"/>
              </a:rPr>
              <a:t>→ </a:t>
            </a:r>
            <a:r>
              <a:rPr lang="en-GB" sz="1050" b="1" err="1">
                <a:solidFill>
                  <a:srgbClr val="0B5D7A"/>
                </a:solidFill>
                <a:latin typeface="Aptos"/>
              </a:rPr>
              <a:t>Neubewertungsrücklage</a:t>
            </a:r>
            <a:r>
              <a:rPr lang="en-GB" sz="1050" b="1">
                <a:solidFill>
                  <a:srgbClr val="0B5D7A"/>
                </a:solidFill>
                <a:latin typeface="Aptos"/>
              </a:rPr>
              <a:t> → CET1  ·  SOFORT </a:t>
            </a:r>
            <a:r>
              <a:rPr lang="en-GB" sz="1050" b="1" err="1">
                <a:solidFill>
                  <a:srgbClr val="0B5D7A"/>
                </a:solidFill>
                <a:latin typeface="Aptos"/>
              </a:rPr>
              <a:t>wirksam</a:t>
            </a:r>
            <a:endParaRPr lang="en-GB" sz="1050" b="1">
              <a:solidFill>
                <a:srgbClr val="0B5D7A"/>
              </a:solidFill>
              <a:latin typeface="Aptos"/>
            </a:endParaRPr>
          </a:p>
        </p:txBody>
      </p:sp>
      <p:sp>
        <p:nvSpPr>
          <p:cNvPr id="27" name="Rectangle 26"/>
          <p:cNvSpPr/>
          <p:nvPr/>
        </p:nvSpPr>
        <p:spPr>
          <a:xfrm>
            <a:off x="9107424" y="2331720"/>
            <a:ext cx="2688336" cy="2788920"/>
          </a:xfrm>
          <a:prstGeom prst="rect">
            <a:avLst/>
          </a:prstGeom>
          <a:solidFill>
            <a:srgbClr val="FFFFFF"/>
          </a:solidFill>
          <a:ln w="9525">
            <a:solidFill>
              <a:srgbClr val="D9E2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9107424" y="2331720"/>
            <a:ext cx="2688336" cy="402336"/>
          </a:xfrm>
          <a:prstGeom prst="rect">
            <a:avLst/>
          </a:prstGeom>
          <a:solidFill>
            <a:srgbClr val="4F68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253728" y="2444402"/>
            <a:ext cx="2414016" cy="176972"/>
          </a:xfrm>
          <a:prstGeom prst="rect">
            <a:avLst/>
          </a:prstGeom>
          <a:noFill/>
        </p:spPr>
        <p:txBody>
          <a:bodyPr wrap="square" lIns="0" tIns="0" rIns="0" bIns="0" anchor="ctr">
            <a:spAutoFit/>
          </a:bodyPr>
          <a:lstStyle/>
          <a:p>
            <a:pPr algn="l">
              <a:spcBef>
                <a:spcPts val="0"/>
              </a:spcBef>
              <a:spcAft>
                <a:spcPts val="200"/>
              </a:spcAft>
            </a:pPr>
            <a:r>
              <a:rPr lang="en-GB" sz="1150" b="1">
                <a:solidFill>
                  <a:srgbClr val="FFFFFF"/>
                </a:solidFill>
                <a:latin typeface="Aptos"/>
              </a:rPr>
              <a:t>AC · Amortised Cost</a:t>
            </a:r>
          </a:p>
        </p:txBody>
      </p:sp>
      <p:sp>
        <p:nvSpPr>
          <p:cNvPr id="30" name="TextBox 29"/>
          <p:cNvSpPr txBox="1"/>
          <p:nvPr/>
        </p:nvSpPr>
        <p:spPr>
          <a:xfrm>
            <a:off x="9290304" y="2852928"/>
            <a:ext cx="2322576" cy="169277"/>
          </a:xfrm>
          <a:prstGeom prst="rect">
            <a:avLst/>
          </a:prstGeom>
          <a:noFill/>
        </p:spPr>
        <p:txBody>
          <a:bodyPr wrap="square" lIns="0" tIns="0" rIns="0" bIns="0" anchor="t">
            <a:spAutoFit/>
          </a:bodyPr>
          <a:lstStyle/>
          <a:p>
            <a:pPr algn="l">
              <a:spcBef>
                <a:spcPts val="0"/>
              </a:spcBef>
              <a:spcAft>
                <a:spcPts val="200"/>
              </a:spcAft>
            </a:pPr>
            <a:r>
              <a:rPr lang="en-GB" sz="1100" b="1" err="1">
                <a:latin typeface="Aptos"/>
              </a:rPr>
              <a:t>Halten</a:t>
            </a:r>
            <a:r>
              <a:rPr lang="en-GB" sz="1100" b="1">
                <a:latin typeface="Aptos"/>
              </a:rPr>
              <a:t> bis </a:t>
            </a:r>
            <a:r>
              <a:rPr lang="en-GB" sz="1100" b="1" err="1">
                <a:latin typeface="Aptos"/>
              </a:rPr>
              <a:t>Endfälligkeit</a:t>
            </a:r>
            <a:endParaRPr lang="en-GB" sz="1100" b="1">
              <a:latin typeface="Aptos"/>
            </a:endParaRPr>
          </a:p>
        </p:txBody>
      </p:sp>
      <p:sp>
        <p:nvSpPr>
          <p:cNvPr id="31" name="TextBox 30"/>
          <p:cNvSpPr txBox="1"/>
          <p:nvPr/>
        </p:nvSpPr>
        <p:spPr>
          <a:xfrm>
            <a:off x="9290304" y="3346704"/>
            <a:ext cx="2322576" cy="323165"/>
          </a:xfrm>
          <a:prstGeom prst="rect">
            <a:avLst/>
          </a:prstGeom>
          <a:noFill/>
        </p:spPr>
        <p:txBody>
          <a:bodyPr wrap="square" lIns="0" tIns="0" rIns="0" bIns="0" anchor="t">
            <a:spAutoFit/>
          </a:bodyPr>
          <a:lstStyle/>
          <a:p>
            <a:pPr algn="l">
              <a:spcBef>
                <a:spcPts val="0"/>
              </a:spcBef>
              <a:spcAft>
                <a:spcPts val="200"/>
              </a:spcAft>
            </a:pPr>
            <a:r>
              <a:rPr lang="de-DE" sz="1050" b="1">
                <a:solidFill>
                  <a:srgbClr val="051C2C"/>
                </a:solidFill>
                <a:latin typeface="Aptos"/>
              </a:rPr>
              <a:t>Buchung: </a:t>
            </a:r>
            <a:r>
              <a:rPr lang="de-DE" sz="1050" b="0">
                <a:solidFill>
                  <a:srgbClr val="4F6875"/>
                </a:solidFill>
                <a:latin typeface="Aptos"/>
              </a:rPr>
              <a:t>zu fortgeführten Anschaffungskosten (Buchwert)</a:t>
            </a:r>
          </a:p>
        </p:txBody>
      </p:sp>
      <p:sp>
        <p:nvSpPr>
          <p:cNvPr id="32" name="Rectangle 31"/>
          <p:cNvSpPr/>
          <p:nvPr/>
        </p:nvSpPr>
        <p:spPr>
          <a:xfrm>
            <a:off x="9253728" y="4023360"/>
            <a:ext cx="2395728" cy="10972"/>
          </a:xfrm>
          <a:prstGeom prst="rect">
            <a:avLst/>
          </a:prstGeom>
          <a:solidFill>
            <a:srgbClr val="D9E2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9290304" y="4160520"/>
            <a:ext cx="2322576" cy="348813"/>
          </a:xfrm>
          <a:prstGeom prst="rect">
            <a:avLst/>
          </a:prstGeom>
          <a:noFill/>
        </p:spPr>
        <p:txBody>
          <a:bodyPr wrap="square" lIns="0" tIns="0" rIns="0" bIns="0" anchor="t">
            <a:spAutoFit/>
          </a:bodyPr>
          <a:lstStyle/>
          <a:p>
            <a:pPr algn="l">
              <a:spcBef>
                <a:spcPts val="0"/>
              </a:spcBef>
              <a:spcAft>
                <a:spcPts val="200"/>
              </a:spcAft>
            </a:pPr>
            <a:r>
              <a:rPr lang="de-DE" sz="1050" b="1">
                <a:solidFill>
                  <a:srgbClr val="4F6875"/>
                </a:solidFill>
                <a:latin typeface="Aptos"/>
              </a:rPr>
              <a:t>kein GuV-/OCI-Effekt  ·  </a:t>
            </a:r>
          </a:p>
          <a:p>
            <a:pPr algn="l">
              <a:spcBef>
                <a:spcPts val="0"/>
              </a:spcBef>
              <a:spcAft>
                <a:spcPts val="200"/>
              </a:spcAft>
            </a:pPr>
            <a:r>
              <a:rPr lang="de-DE" sz="1050" b="1">
                <a:solidFill>
                  <a:srgbClr val="4F6875"/>
                </a:solidFill>
                <a:latin typeface="Aptos"/>
              </a:rPr>
              <a:t>LATENT bis Verkauf/</a:t>
            </a:r>
            <a:r>
              <a:rPr lang="de-DE" sz="1050" b="1" err="1">
                <a:solidFill>
                  <a:srgbClr val="4F6875"/>
                </a:solidFill>
                <a:latin typeface="Aptos"/>
              </a:rPr>
              <a:t>Impairment</a:t>
            </a:r>
            <a:endParaRPr lang="de-DE" sz="1050" b="1">
              <a:solidFill>
                <a:srgbClr val="4F6875"/>
              </a:solidFill>
              <a:latin typeface="Aptos"/>
            </a:endParaRPr>
          </a:p>
        </p:txBody>
      </p:sp>
      <p:sp>
        <p:nvSpPr>
          <p:cNvPr id="34" name="TextBox 33"/>
          <p:cNvSpPr txBox="1"/>
          <p:nvPr/>
        </p:nvSpPr>
        <p:spPr>
          <a:xfrm>
            <a:off x="548640" y="5285232"/>
            <a:ext cx="11064240" cy="161583"/>
          </a:xfrm>
          <a:prstGeom prst="rect">
            <a:avLst/>
          </a:prstGeom>
          <a:noFill/>
        </p:spPr>
        <p:txBody>
          <a:bodyPr wrap="square" lIns="0" tIns="0" rIns="0" bIns="0" anchor="t">
            <a:spAutoFit/>
          </a:bodyPr>
          <a:lstStyle/>
          <a:p>
            <a:pPr algn="l">
              <a:spcBef>
                <a:spcPts val="0"/>
              </a:spcBef>
              <a:spcAft>
                <a:spcPts val="200"/>
              </a:spcAft>
            </a:pPr>
            <a:r>
              <a:rPr lang="de-DE" sz="1050" b="1">
                <a:solidFill>
                  <a:srgbClr val="051C2C"/>
                </a:solidFill>
                <a:latin typeface="Aptos"/>
              </a:rPr>
              <a:t>Prudential Filter entfallen: </a:t>
            </a:r>
            <a:r>
              <a:rPr lang="de-DE" sz="1050" b="0">
                <a:solidFill>
                  <a:srgbClr val="4F6875"/>
                </a:solidFill>
                <a:latin typeface="Aptos"/>
              </a:rPr>
              <a:t>FVOCI-Verluste auf Staatsanleihen sind heute voll CET1-wirksam – die frühere aufsichtliche Ausnahme ist ausgelaufen.</a:t>
            </a:r>
          </a:p>
        </p:txBody>
      </p:sp>
      <p:sp>
        <p:nvSpPr>
          <p:cNvPr id="35" name="TextBox 34"/>
          <p:cNvSpPr txBox="1"/>
          <p:nvPr/>
        </p:nvSpPr>
        <p:spPr>
          <a:xfrm>
            <a:off x="457200" y="6519672"/>
            <a:ext cx="7315200" cy="138499"/>
          </a:xfrm>
          <a:prstGeom prst="rect">
            <a:avLst/>
          </a:prstGeom>
          <a:noFill/>
        </p:spPr>
        <p:txBody>
          <a:bodyPr wrap="square" lIns="0" tIns="0" rIns="0" bIns="0" anchor="t">
            <a:spAutoFit/>
          </a:bodyPr>
          <a:lstStyle/>
          <a:p>
            <a:pPr algn="l">
              <a:spcBef>
                <a:spcPts val="0"/>
              </a:spcBef>
              <a:spcAft>
                <a:spcPts val="200"/>
              </a:spcAft>
            </a:pPr>
            <a:r>
              <a:rPr lang="en-GB" sz="900" b="0">
                <a:solidFill>
                  <a:srgbClr val="71858F"/>
                </a:solidFill>
                <a:latin typeface="Aptos"/>
              </a:rPr>
              <a:t>Marktbuch · Sovereign / Rate Channel</a:t>
            </a:r>
          </a:p>
        </p:txBody>
      </p:sp>
      <p:sp>
        <p:nvSpPr>
          <p:cNvPr id="36" name="CodexSlideNumber">
            <a:extLst>
              <a:ext uri="{FF2B5EF4-FFF2-40B4-BE49-F238E27FC236}">
                <a16:creationId xmlns:a16="http://schemas.microsoft.com/office/drawing/2014/main" id="{F7E54CB7-5D32-C723-863A-6BF542FC6A2F}"/>
              </a:ext>
            </a:extLst>
          </p:cNvPr>
          <p:cNvSpPr txBox="1"/>
          <p:nvPr/>
        </p:nvSpPr>
        <p:spPr>
          <a:xfrm>
            <a:off x="11226800" y="6553200"/>
            <a:ext cx="736600" cy="123111"/>
          </a:xfrm>
          <a:prstGeom prst="rect">
            <a:avLst/>
          </a:prstGeom>
          <a:noFill/>
        </p:spPr>
        <p:txBody>
          <a:bodyPr vert="horz" lIns="0" tIns="0" rIns="0" bIns="0" rtlCol="0">
            <a:spAutoFit/>
          </a:bodyPr>
          <a:lstStyle/>
          <a:p>
            <a:pPr algn="r"/>
            <a:r>
              <a:rPr lang="en-US" sz="800">
                <a:solidFill>
                  <a:srgbClr val="525252"/>
                </a:solidFill>
                <a:latin typeface="Arial" panose="020B0604020202020204" pitchFamily="34" charset="0"/>
              </a:rPr>
              <a:t>36 / 64</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944" y="141178"/>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84048"/>
            <a:ext cx="11155680" cy="132793"/>
          </a:xfrm>
          <a:prstGeom prst="rect">
            <a:avLst/>
          </a:prstGeom>
          <a:noFill/>
        </p:spPr>
        <p:txBody>
          <a:bodyPr wrap="square" lIns="0" tIns="0" rIns="0" bIns="0" anchor="t">
            <a:spAutoFit/>
          </a:bodyPr>
          <a:lstStyle/>
          <a:p>
            <a:pPr>
              <a:spcBef>
                <a:spcPts val="0"/>
              </a:spcBef>
              <a:spcAft>
                <a:spcPts val="200"/>
              </a:spcAft>
            </a:pPr>
            <a:r>
              <a:rPr lang="en-GB" sz="863" b="1" dirty="0">
                <a:solidFill>
                  <a:schemeClr val="tx2"/>
                </a:solidFill>
                <a:latin typeface="Aptos"/>
              </a:rPr>
              <a:t>SUB-TAB 2 · DATENBASIS</a:t>
            </a:r>
          </a:p>
        </p:txBody>
      </p:sp>
      <p:sp>
        <p:nvSpPr>
          <p:cNvPr id="4" name="TextBox 3"/>
          <p:cNvSpPr txBox="1"/>
          <p:nvPr/>
        </p:nvSpPr>
        <p:spPr>
          <a:xfrm>
            <a:off x="548640" y="658368"/>
            <a:ext cx="11155680" cy="380873"/>
          </a:xfrm>
          <a:prstGeom prst="rect">
            <a:avLst/>
          </a:prstGeom>
          <a:noFill/>
        </p:spPr>
        <p:txBody>
          <a:bodyPr wrap="square" lIns="0" tIns="0" rIns="0" bIns="0" anchor="t">
            <a:spAutoFit/>
          </a:bodyPr>
          <a:lstStyle/>
          <a:p>
            <a:pPr algn="l">
              <a:spcBef>
                <a:spcPts val="0"/>
              </a:spcBef>
              <a:spcAft>
                <a:spcPts val="200"/>
              </a:spcAft>
            </a:pPr>
            <a:r>
              <a:rPr lang="de-DE" sz="2475" b="1">
                <a:solidFill>
                  <a:srgbClr val="051C2C"/>
                </a:solidFill>
                <a:latin typeface="Aptos Display"/>
              </a:rPr>
              <a:t>Woher Bestände, Laufzeiten und IFRS-9-Klassen kommen</a:t>
            </a:r>
          </a:p>
        </p:txBody>
      </p:sp>
      <p:sp>
        <p:nvSpPr>
          <p:cNvPr id="5" name="TextBox 4"/>
          <p:cNvSpPr txBox="1"/>
          <p:nvPr/>
        </p:nvSpPr>
        <p:spPr>
          <a:xfrm>
            <a:off x="548640" y="1600200"/>
            <a:ext cx="11064240" cy="446276"/>
          </a:xfrm>
          <a:prstGeom prst="rect">
            <a:avLst/>
          </a:prstGeom>
          <a:noFill/>
        </p:spPr>
        <p:txBody>
          <a:bodyPr wrap="square" lIns="0" tIns="0" rIns="0" bIns="0" anchor="t">
            <a:spAutoFit/>
          </a:bodyPr>
          <a:lstStyle/>
          <a:p>
            <a:pPr algn="l">
              <a:spcBef>
                <a:spcPts val="0"/>
              </a:spcBef>
              <a:spcAft>
                <a:spcPts val="200"/>
              </a:spcAft>
            </a:pPr>
            <a:r>
              <a:rPr lang="de-DE" sz="1450" b="1">
                <a:solidFill>
                  <a:srgbClr val="051C2C"/>
                </a:solidFill>
                <a:latin typeface="Aptos"/>
              </a:rPr>
              <a:t>Der gesamte Kanal beruht auf gemeldeten Zahlen, nicht auf Annahmen. </a:t>
            </a:r>
            <a:r>
              <a:rPr lang="de-DE" sz="1450" b="0">
                <a:solidFill>
                  <a:srgbClr val="051C2C"/>
                </a:solidFill>
                <a:latin typeface="Aptos"/>
              </a:rPr>
              <a:t>Jede Bank meldet der EBA ihren Staatsanleihen-Bestand aufgeschlüsselt nach Land, Restlaufzeit und Bilanzierungsklasse</a:t>
            </a:r>
            <a:r>
              <a:rPr lang="de-DE" sz="1450">
                <a:solidFill>
                  <a:srgbClr val="051C2C"/>
                </a:solidFill>
                <a:latin typeface="Aptos"/>
              </a:rPr>
              <a:t>.</a:t>
            </a:r>
            <a:endParaRPr lang="de-DE" sz="1450" b="0">
              <a:solidFill>
                <a:srgbClr val="051C2C"/>
              </a:solidFill>
              <a:latin typeface="Aptos"/>
            </a:endParaRPr>
          </a:p>
        </p:txBody>
      </p:sp>
      <p:grpSp>
        <p:nvGrpSpPr>
          <p:cNvPr id="32" name="Gruppieren 31">
            <a:extLst>
              <a:ext uri="{FF2B5EF4-FFF2-40B4-BE49-F238E27FC236}">
                <a16:creationId xmlns:a16="http://schemas.microsoft.com/office/drawing/2014/main" id="{A757C9E6-6C1F-6BB9-0BF6-22A57B2EA2C0}"/>
              </a:ext>
            </a:extLst>
          </p:cNvPr>
          <p:cNvGrpSpPr/>
          <p:nvPr/>
        </p:nvGrpSpPr>
        <p:grpSpPr>
          <a:xfrm>
            <a:off x="526010" y="2606040"/>
            <a:ext cx="2688336" cy="2606040"/>
            <a:chOff x="548640" y="2606040"/>
            <a:chExt cx="2688336" cy="2606040"/>
          </a:xfrm>
        </p:grpSpPr>
        <p:sp>
          <p:nvSpPr>
            <p:cNvPr id="6" name="Rectangle 5"/>
            <p:cNvSpPr/>
            <p:nvPr/>
          </p:nvSpPr>
          <p:spPr>
            <a:xfrm>
              <a:off x="548640" y="2606040"/>
              <a:ext cx="2688336" cy="2606040"/>
            </a:xfrm>
            <a:prstGeom prst="rect">
              <a:avLst/>
            </a:prstGeom>
            <a:solidFill>
              <a:srgbClr val="FFFFFF"/>
            </a:solidFill>
            <a:ln w="9525">
              <a:solidFill>
                <a:srgbClr val="D9E2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48640" y="2606040"/>
              <a:ext cx="2688336" cy="91440"/>
            </a:xfrm>
            <a:prstGeom prst="rect">
              <a:avLst/>
            </a:prstGeom>
            <a:solidFill>
              <a:srgbClr val="0B5D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49808" y="2834640"/>
              <a:ext cx="2286000" cy="146194"/>
            </a:xfrm>
            <a:prstGeom prst="rect">
              <a:avLst/>
            </a:prstGeom>
            <a:noFill/>
          </p:spPr>
          <p:txBody>
            <a:bodyPr wrap="square" lIns="0" tIns="0" rIns="0" bIns="0" anchor="t">
              <a:spAutoFit/>
            </a:bodyPr>
            <a:lstStyle/>
            <a:p>
              <a:pPr algn="l">
                <a:spcBef>
                  <a:spcPts val="0"/>
                </a:spcBef>
                <a:spcAft>
                  <a:spcPts val="200"/>
                </a:spcAft>
              </a:pPr>
              <a:r>
                <a:rPr lang="en-GB" sz="950" b="1">
                  <a:solidFill>
                    <a:srgbClr val="0B5D7A"/>
                  </a:solidFill>
                  <a:latin typeface="Aptos"/>
                </a:rPr>
                <a:t>GEMELDET</a:t>
              </a:r>
            </a:p>
          </p:txBody>
        </p:sp>
        <p:sp>
          <p:nvSpPr>
            <p:cNvPr id="9" name="TextBox 8"/>
            <p:cNvSpPr txBox="1"/>
            <p:nvPr/>
          </p:nvSpPr>
          <p:spPr>
            <a:xfrm>
              <a:off x="749808" y="3154680"/>
              <a:ext cx="2286000" cy="415498"/>
            </a:xfrm>
            <a:prstGeom prst="rect">
              <a:avLst/>
            </a:prstGeom>
            <a:noFill/>
          </p:spPr>
          <p:txBody>
            <a:bodyPr wrap="square" lIns="0" tIns="0" rIns="0" bIns="0" anchor="t">
              <a:spAutoFit/>
            </a:bodyPr>
            <a:lstStyle/>
            <a:p>
              <a:pPr algn="l">
                <a:spcBef>
                  <a:spcPts val="0"/>
                </a:spcBef>
                <a:spcAft>
                  <a:spcPts val="200"/>
                </a:spcAft>
              </a:pPr>
              <a:r>
                <a:rPr lang="de-DE" sz="1350" b="1">
                  <a:solidFill>
                    <a:srgbClr val="051C2C"/>
                  </a:solidFill>
                  <a:latin typeface="Aptos"/>
                </a:rPr>
                <a:t>Bestände je Bank × Land × Laufzeit</a:t>
              </a:r>
            </a:p>
          </p:txBody>
        </p:sp>
        <p:sp>
          <p:nvSpPr>
            <p:cNvPr id="10" name="TextBox 9"/>
            <p:cNvSpPr txBox="1"/>
            <p:nvPr/>
          </p:nvSpPr>
          <p:spPr>
            <a:xfrm>
              <a:off x="749808" y="3977639"/>
              <a:ext cx="2286000" cy="507831"/>
            </a:xfrm>
            <a:prstGeom prst="rect">
              <a:avLst/>
            </a:prstGeom>
            <a:noFill/>
          </p:spPr>
          <p:txBody>
            <a:bodyPr wrap="square" lIns="0" tIns="0" rIns="0" bIns="0" anchor="t">
              <a:spAutoFit/>
            </a:bodyPr>
            <a:lstStyle/>
            <a:p>
              <a:pPr algn="l">
                <a:spcBef>
                  <a:spcPts val="0"/>
                </a:spcBef>
                <a:spcAft>
                  <a:spcPts val="200"/>
                </a:spcAft>
              </a:pPr>
              <a:r>
                <a:rPr lang="en-GB" sz="1100" b="0">
                  <a:solidFill>
                    <a:srgbClr val="4F6875"/>
                  </a:solidFill>
                  <a:latin typeface="Aptos"/>
                </a:rPr>
                <a:t>tr_sov.csv, Item 2520810 (Brutto-Buchwert on-balance) plus vier IFRS-9-Klassen-Items.</a:t>
              </a:r>
            </a:p>
          </p:txBody>
        </p:sp>
      </p:grpSp>
      <p:grpSp>
        <p:nvGrpSpPr>
          <p:cNvPr id="31" name="Gruppieren 30">
            <a:extLst>
              <a:ext uri="{FF2B5EF4-FFF2-40B4-BE49-F238E27FC236}">
                <a16:creationId xmlns:a16="http://schemas.microsoft.com/office/drawing/2014/main" id="{D710E1AF-5BE1-B9C9-4D7A-3ADFCD985A2D}"/>
              </a:ext>
            </a:extLst>
          </p:cNvPr>
          <p:cNvGrpSpPr/>
          <p:nvPr/>
        </p:nvGrpSpPr>
        <p:grpSpPr>
          <a:xfrm>
            <a:off x="9068677" y="2615404"/>
            <a:ext cx="2688336" cy="2606040"/>
            <a:chOff x="3401568" y="2606040"/>
            <a:chExt cx="2688336" cy="2606040"/>
          </a:xfrm>
        </p:grpSpPr>
        <p:sp>
          <p:nvSpPr>
            <p:cNvPr id="11" name="Rectangle 10"/>
            <p:cNvSpPr/>
            <p:nvPr/>
          </p:nvSpPr>
          <p:spPr>
            <a:xfrm>
              <a:off x="3401568" y="2606040"/>
              <a:ext cx="2688336" cy="2606040"/>
            </a:xfrm>
            <a:prstGeom prst="rect">
              <a:avLst/>
            </a:prstGeom>
            <a:solidFill>
              <a:srgbClr val="FFFFFF"/>
            </a:solidFill>
            <a:ln w="9525">
              <a:solidFill>
                <a:srgbClr val="D9E2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3401568" y="2606040"/>
              <a:ext cx="2688336" cy="91440"/>
            </a:xfrm>
            <a:prstGeom prst="rect">
              <a:avLst/>
            </a:prstGeom>
            <a:solidFill>
              <a:srgbClr val="0B5D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602736" y="2834640"/>
              <a:ext cx="2286000" cy="146194"/>
            </a:xfrm>
            <a:prstGeom prst="rect">
              <a:avLst/>
            </a:prstGeom>
            <a:noFill/>
          </p:spPr>
          <p:txBody>
            <a:bodyPr wrap="square" lIns="0" tIns="0" rIns="0" bIns="0" anchor="t">
              <a:spAutoFit/>
            </a:bodyPr>
            <a:lstStyle/>
            <a:p>
              <a:pPr algn="l">
                <a:spcBef>
                  <a:spcPts val="0"/>
                </a:spcBef>
                <a:spcAft>
                  <a:spcPts val="200"/>
                </a:spcAft>
              </a:pPr>
              <a:r>
                <a:rPr lang="en-GB" sz="950" b="1">
                  <a:solidFill>
                    <a:srgbClr val="0B5D7A"/>
                  </a:solidFill>
                  <a:latin typeface="Aptos"/>
                </a:rPr>
                <a:t>GEMELDET</a:t>
              </a:r>
            </a:p>
          </p:txBody>
        </p:sp>
        <p:sp>
          <p:nvSpPr>
            <p:cNvPr id="14" name="TextBox 13"/>
            <p:cNvSpPr txBox="1"/>
            <p:nvPr/>
          </p:nvSpPr>
          <p:spPr>
            <a:xfrm>
              <a:off x="3602736" y="3154680"/>
              <a:ext cx="2286000" cy="207749"/>
            </a:xfrm>
            <a:prstGeom prst="rect">
              <a:avLst/>
            </a:prstGeom>
            <a:noFill/>
          </p:spPr>
          <p:txBody>
            <a:bodyPr wrap="square" lIns="0" tIns="0" rIns="0" bIns="0" anchor="t">
              <a:spAutoFit/>
            </a:bodyPr>
            <a:lstStyle/>
            <a:p>
              <a:pPr algn="l">
                <a:spcBef>
                  <a:spcPts val="0"/>
                </a:spcBef>
                <a:spcAft>
                  <a:spcPts val="200"/>
                </a:spcAft>
              </a:pPr>
              <a:r>
                <a:rPr lang="en-GB" sz="1350" b="1">
                  <a:solidFill>
                    <a:srgbClr val="051C2C"/>
                  </a:solidFill>
                  <a:latin typeface="Aptos"/>
                </a:rPr>
                <a:t>IFRS-9-Split je Bank</a:t>
              </a:r>
            </a:p>
          </p:txBody>
        </p:sp>
        <p:sp>
          <p:nvSpPr>
            <p:cNvPr id="15" name="TextBox 14"/>
            <p:cNvSpPr txBox="1"/>
            <p:nvPr/>
          </p:nvSpPr>
          <p:spPr>
            <a:xfrm>
              <a:off x="3602736" y="3977639"/>
              <a:ext cx="2286000" cy="507831"/>
            </a:xfrm>
            <a:prstGeom prst="rect">
              <a:avLst/>
            </a:prstGeom>
            <a:noFill/>
          </p:spPr>
          <p:txBody>
            <a:bodyPr wrap="square" lIns="0" tIns="0" rIns="0" bIns="0" anchor="t">
              <a:spAutoFit/>
            </a:bodyPr>
            <a:lstStyle/>
            <a:p>
              <a:pPr algn="l">
                <a:spcBef>
                  <a:spcPts val="0"/>
                </a:spcBef>
                <a:spcAft>
                  <a:spcPts val="200"/>
                </a:spcAft>
              </a:pPr>
              <a:r>
                <a:rPr lang="en-GB" sz="1100" b="0">
                  <a:solidFill>
                    <a:srgbClr val="4F6875"/>
                  </a:solidFill>
                  <a:latin typeface="Aptos"/>
                </a:rPr>
                <a:t>2520812 </a:t>
              </a:r>
              <a:r>
                <a:rPr lang="en-GB" sz="1100" b="0" err="1">
                  <a:solidFill>
                    <a:srgbClr val="4F6875"/>
                  </a:solidFill>
                  <a:latin typeface="Aptos"/>
                </a:rPr>
                <a:t>HfT</a:t>
              </a:r>
              <a:r>
                <a:rPr lang="en-GB" sz="1100" b="0">
                  <a:solidFill>
                    <a:srgbClr val="4F6875"/>
                  </a:solidFill>
                  <a:latin typeface="Aptos"/>
                </a:rPr>
                <a:t> · 2520813 FVTPL · 2520814 FVOCI · 2520815 AC – bankindividuell</a:t>
              </a:r>
            </a:p>
          </p:txBody>
        </p:sp>
      </p:grpSp>
      <p:grpSp>
        <p:nvGrpSpPr>
          <p:cNvPr id="29" name="Gruppieren 28">
            <a:extLst>
              <a:ext uri="{FF2B5EF4-FFF2-40B4-BE49-F238E27FC236}">
                <a16:creationId xmlns:a16="http://schemas.microsoft.com/office/drawing/2014/main" id="{F1A2751B-0539-9A04-CC7F-413B10C82371}"/>
              </a:ext>
            </a:extLst>
          </p:cNvPr>
          <p:cNvGrpSpPr/>
          <p:nvPr/>
        </p:nvGrpSpPr>
        <p:grpSpPr>
          <a:xfrm>
            <a:off x="6221121" y="2606040"/>
            <a:ext cx="2688336" cy="2606040"/>
            <a:chOff x="6254496" y="2606040"/>
            <a:chExt cx="2688336" cy="2606040"/>
          </a:xfrm>
        </p:grpSpPr>
        <p:sp>
          <p:nvSpPr>
            <p:cNvPr id="16" name="Rectangle 15"/>
            <p:cNvSpPr/>
            <p:nvPr/>
          </p:nvSpPr>
          <p:spPr>
            <a:xfrm>
              <a:off x="6254496" y="2606040"/>
              <a:ext cx="2688336" cy="2606040"/>
            </a:xfrm>
            <a:prstGeom prst="rect">
              <a:avLst/>
            </a:prstGeom>
            <a:solidFill>
              <a:srgbClr val="FFFFFF"/>
            </a:solidFill>
            <a:ln w="9525">
              <a:solidFill>
                <a:srgbClr val="D9E2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6254496" y="2606040"/>
              <a:ext cx="2688336" cy="91440"/>
            </a:xfrm>
            <a:prstGeom prst="rect">
              <a:avLst/>
            </a:prstGeom>
            <a:solidFill>
              <a:srgbClr val="D1AC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55664" y="2834640"/>
              <a:ext cx="2286000" cy="146194"/>
            </a:xfrm>
            <a:prstGeom prst="rect">
              <a:avLst/>
            </a:prstGeom>
            <a:noFill/>
          </p:spPr>
          <p:txBody>
            <a:bodyPr wrap="square" lIns="0" tIns="0" rIns="0" bIns="0" anchor="t">
              <a:spAutoFit/>
            </a:bodyPr>
            <a:lstStyle/>
            <a:p>
              <a:pPr algn="l">
                <a:spcBef>
                  <a:spcPts val="0"/>
                </a:spcBef>
                <a:spcAft>
                  <a:spcPts val="200"/>
                </a:spcAft>
              </a:pPr>
              <a:r>
                <a:rPr lang="en-GB" sz="950" b="1">
                  <a:solidFill>
                    <a:srgbClr val="D1AC22"/>
                  </a:solidFill>
                  <a:latin typeface="Aptos"/>
                </a:rPr>
                <a:t>APPROXIMIERT</a:t>
              </a:r>
            </a:p>
          </p:txBody>
        </p:sp>
        <p:sp>
          <p:nvSpPr>
            <p:cNvPr id="19" name="TextBox 18"/>
            <p:cNvSpPr txBox="1"/>
            <p:nvPr/>
          </p:nvSpPr>
          <p:spPr>
            <a:xfrm>
              <a:off x="6455664" y="3154680"/>
              <a:ext cx="2286000" cy="207749"/>
            </a:xfrm>
            <a:prstGeom prst="rect">
              <a:avLst/>
            </a:prstGeom>
            <a:noFill/>
          </p:spPr>
          <p:txBody>
            <a:bodyPr wrap="square" lIns="0" tIns="0" rIns="0" bIns="0" anchor="t">
              <a:spAutoFit/>
            </a:bodyPr>
            <a:lstStyle/>
            <a:p>
              <a:pPr algn="l">
                <a:spcBef>
                  <a:spcPts val="0"/>
                </a:spcBef>
                <a:spcAft>
                  <a:spcPts val="200"/>
                </a:spcAft>
              </a:pPr>
              <a:r>
                <a:rPr lang="en-GB" sz="1350" b="1">
                  <a:solidFill>
                    <a:srgbClr val="051C2C"/>
                  </a:solidFill>
                  <a:latin typeface="Aptos"/>
                </a:rPr>
                <a:t>Duration je Laufzeit-Bucket</a:t>
              </a:r>
            </a:p>
          </p:txBody>
        </p:sp>
        <p:sp>
          <p:nvSpPr>
            <p:cNvPr id="20" name="TextBox 19"/>
            <p:cNvSpPr txBox="1"/>
            <p:nvPr/>
          </p:nvSpPr>
          <p:spPr>
            <a:xfrm>
              <a:off x="6455664" y="3977639"/>
              <a:ext cx="2286000" cy="533479"/>
            </a:xfrm>
            <a:prstGeom prst="rect">
              <a:avLst/>
            </a:prstGeom>
            <a:noFill/>
          </p:spPr>
          <p:txBody>
            <a:bodyPr wrap="square" lIns="0" tIns="0" rIns="0" bIns="0" anchor="t">
              <a:spAutoFit/>
            </a:bodyPr>
            <a:lstStyle/>
            <a:p>
              <a:pPr algn="l">
                <a:spcBef>
                  <a:spcPts val="0"/>
                </a:spcBef>
                <a:spcAft>
                  <a:spcPts val="200"/>
                </a:spcAft>
              </a:pPr>
              <a:r>
                <a:rPr lang="en-GB" sz="1100" b="0">
                  <a:solidFill>
                    <a:srgbClr val="4F6875"/>
                  </a:solidFill>
                  <a:latin typeface="Aptos"/>
                </a:rPr>
                <a:t>Bucket-</a:t>
              </a:r>
              <a:r>
                <a:rPr lang="en-GB" sz="1100" b="0" err="1">
                  <a:solidFill>
                    <a:srgbClr val="4F6875"/>
                  </a:solidFill>
                  <a:latin typeface="Aptos"/>
                </a:rPr>
                <a:t>Mittelpunkt</a:t>
              </a:r>
              <a:r>
                <a:rPr lang="en-GB" sz="1100" b="0">
                  <a:solidFill>
                    <a:srgbClr val="4F6875"/>
                  </a:solidFill>
                  <a:latin typeface="Aptos"/>
                </a:rPr>
                <a:t> </a:t>
              </a:r>
              <a:r>
                <a:rPr lang="en-GB" sz="1100" b="0" err="1">
                  <a:solidFill>
                    <a:srgbClr val="4F6875"/>
                  </a:solidFill>
                  <a:latin typeface="Aptos"/>
                </a:rPr>
                <a:t>nach</a:t>
              </a:r>
              <a:r>
                <a:rPr lang="en-GB" sz="1100" b="0">
                  <a:solidFill>
                    <a:srgbClr val="4F6875"/>
                  </a:solidFill>
                  <a:latin typeface="Aptos"/>
                </a:rPr>
                <a:t> BCBS 368 / EBA-IRRBB; &gt;10J = 15 Jahre. </a:t>
              </a:r>
            </a:p>
            <a:p>
              <a:pPr algn="l">
                <a:spcBef>
                  <a:spcPts val="0"/>
                </a:spcBef>
                <a:spcAft>
                  <a:spcPts val="200"/>
                </a:spcAft>
              </a:pPr>
              <a:r>
                <a:rPr lang="en-GB" sz="1100" b="0">
                  <a:solidFill>
                    <a:srgbClr val="4F6875"/>
                  </a:solidFill>
                  <a:latin typeface="Aptos"/>
                </a:rPr>
                <a:t>Ohne </a:t>
              </a:r>
              <a:r>
                <a:rPr lang="en-GB" sz="1100" b="0" err="1">
                  <a:solidFill>
                    <a:srgbClr val="4F6875"/>
                  </a:solidFill>
                  <a:latin typeface="Aptos"/>
                </a:rPr>
                <a:t>Konvexität</a:t>
              </a:r>
              <a:r>
                <a:rPr lang="en-GB" sz="1100" b="0">
                  <a:solidFill>
                    <a:srgbClr val="4F6875"/>
                  </a:solidFill>
                  <a:latin typeface="Aptos"/>
                </a:rPr>
                <a:t> → </a:t>
              </a:r>
              <a:r>
                <a:rPr lang="en-GB" sz="1100" b="0" err="1">
                  <a:solidFill>
                    <a:srgbClr val="4F6875"/>
                  </a:solidFill>
                  <a:latin typeface="Aptos"/>
                </a:rPr>
                <a:t>konservativ</a:t>
              </a:r>
              <a:endParaRPr lang="en-GB" sz="1100" b="0">
                <a:solidFill>
                  <a:srgbClr val="4F6875"/>
                </a:solidFill>
                <a:latin typeface="Aptos"/>
              </a:endParaRPr>
            </a:p>
          </p:txBody>
        </p:sp>
      </p:grpSp>
      <p:grpSp>
        <p:nvGrpSpPr>
          <p:cNvPr id="30" name="Gruppieren 29">
            <a:extLst>
              <a:ext uri="{FF2B5EF4-FFF2-40B4-BE49-F238E27FC236}">
                <a16:creationId xmlns:a16="http://schemas.microsoft.com/office/drawing/2014/main" id="{A5BDFF89-8134-567C-5217-6EE92C38878D}"/>
              </a:ext>
            </a:extLst>
          </p:cNvPr>
          <p:cNvGrpSpPr/>
          <p:nvPr/>
        </p:nvGrpSpPr>
        <p:grpSpPr>
          <a:xfrm>
            <a:off x="3373565" y="2606040"/>
            <a:ext cx="2688336" cy="2606040"/>
            <a:chOff x="9107424" y="2606040"/>
            <a:chExt cx="2688336" cy="2606040"/>
          </a:xfrm>
        </p:grpSpPr>
        <p:sp>
          <p:nvSpPr>
            <p:cNvPr id="21" name="Rectangle 20"/>
            <p:cNvSpPr/>
            <p:nvPr/>
          </p:nvSpPr>
          <p:spPr>
            <a:xfrm>
              <a:off x="9107424" y="2606040"/>
              <a:ext cx="2688336" cy="2606040"/>
            </a:xfrm>
            <a:prstGeom prst="rect">
              <a:avLst/>
            </a:prstGeom>
            <a:solidFill>
              <a:srgbClr val="FFFFFF"/>
            </a:solidFill>
            <a:ln w="9525">
              <a:solidFill>
                <a:srgbClr val="D9E2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9107424" y="2606040"/>
              <a:ext cx="2688336" cy="91440"/>
            </a:xfrm>
            <a:prstGeom prst="rect">
              <a:avLst/>
            </a:prstGeom>
            <a:solidFill>
              <a:srgbClr val="0B5D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308592" y="2834640"/>
              <a:ext cx="2286000" cy="146194"/>
            </a:xfrm>
            <a:prstGeom prst="rect">
              <a:avLst/>
            </a:prstGeom>
            <a:noFill/>
          </p:spPr>
          <p:txBody>
            <a:bodyPr wrap="square" lIns="0" tIns="0" rIns="0" bIns="0" anchor="t">
              <a:spAutoFit/>
            </a:bodyPr>
            <a:lstStyle/>
            <a:p>
              <a:pPr algn="l">
                <a:spcBef>
                  <a:spcPts val="0"/>
                </a:spcBef>
                <a:spcAft>
                  <a:spcPts val="200"/>
                </a:spcAft>
              </a:pPr>
              <a:r>
                <a:rPr lang="en-GB" sz="950" b="1">
                  <a:solidFill>
                    <a:srgbClr val="0B5D7A"/>
                  </a:solidFill>
                  <a:latin typeface="Aptos"/>
                </a:rPr>
                <a:t>EXTERN</a:t>
              </a:r>
            </a:p>
          </p:txBody>
        </p:sp>
        <p:sp>
          <p:nvSpPr>
            <p:cNvPr id="24" name="TextBox 23"/>
            <p:cNvSpPr txBox="1"/>
            <p:nvPr/>
          </p:nvSpPr>
          <p:spPr>
            <a:xfrm>
              <a:off x="9308592" y="3154680"/>
              <a:ext cx="2286000" cy="207749"/>
            </a:xfrm>
            <a:prstGeom prst="rect">
              <a:avLst/>
            </a:prstGeom>
            <a:noFill/>
          </p:spPr>
          <p:txBody>
            <a:bodyPr wrap="square" lIns="0" tIns="0" rIns="0" bIns="0" anchor="t">
              <a:spAutoFit/>
            </a:bodyPr>
            <a:lstStyle/>
            <a:p>
              <a:pPr algn="l">
                <a:spcBef>
                  <a:spcPts val="0"/>
                </a:spcBef>
                <a:spcAft>
                  <a:spcPts val="200"/>
                </a:spcAft>
              </a:pPr>
              <a:r>
                <a:rPr lang="en-GB" sz="1350" b="1">
                  <a:solidFill>
                    <a:srgbClr val="051C2C"/>
                  </a:solidFill>
                  <a:latin typeface="Aptos"/>
                </a:rPr>
                <a:t>Zinskurve</a:t>
              </a:r>
            </a:p>
          </p:txBody>
        </p:sp>
        <p:sp>
          <p:nvSpPr>
            <p:cNvPr id="25" name="TextBox 24"/>
            <p:cNvSpPr txBox="1"/>
            <p:nvPr/>
          </p:nvSpPr>
          <p:spPr>
            <a:xfrm>
              <a:off x="9308592" y="3977639"/>
              <a:ext cx="2286000" cy="702756"/>
            </a:xfrm>
            <a:prstGeom prst="rect">
              <a:avLst/>
            </a:prstGeom>
            <a:noFill/>
          </p:spPr>
          <p:txBody>
            <a:bodyPr wrap="square" lIns="0" tIns="0" rIns="0" bIns="0" anchor="t">
              <a:spAutoFit/>
            </a:bodyPr>
            <a:lstStyle/>
            <a:p>
              <a:pPr algn="l">
                <a:spcBef>
                  <a:spcPts val="0"/>
                </a:spcBef>
                <a:spcAft>
                  <a:spcPts val="200"/>
                </a:spcAft>
              </a:pPr>
              <a:r>
                <a:rPr lang="de-DE" sz="1100" b="0">
                  <a:solidFill>
                    <a:srgbClr val="4F6875"/>
                  </a:solidFill>
                  <a:latin typeface="Aptos"/>
                </a:rPr>
                <a:t>Bundesbank-Svensson-Kurve, täglich – liefert Baseline </a:t>
              </a:r>
            </a:p>
            <a:p>
              <a:pPr algn="l">
                <a:spcBef>
                  <a:spcPts val="0"/>
                </a:spcBef>
                <a:spcAft>
                  <a:spcPts val="200"/>
                </a:spcAft>
              </a:pPr>
              <a:r>
                <a:rPr lang="de-DE" sz="1100" b="0">
                  <a:solidFill>
                    <a:srgbClr val="4F6875"/>
                  </a:solidFill>
                  <a:latin typeface="Aptos"/>
                </a:rPr>
                <a:t>+2,00-pp-Parallel-Shift im Schock-Szenario</a:t>
              </a:r>
            </a:p>
          </p:txBody>
        </p:sp>
      </p:grpSp>
      <p:sp>
        <p:nvSpPr>
          <p:cNvPr id="26" name="TextBox 25"/>
          <p:cNvSpPr txBox="1"/>
          <p:nvPr/>
        </p:nvSpPr>
        <p:spPr>
          <a:xfrm>
            <a:off x="457200" y="6519672"/>
            <a:ext cx="7315200" cy="138499"/>
          </a:xfrm>
          <a:prstGeom prst="rect">
            <a:avLst/>
          </a:prstGeom>
          <a:noFill/>
        </p:spPr>
        <p:txBody>
          <a:bodyPr wrap="square" lIns="0" tIns="0" rIns="0" bIns="0" anchor="t">
            <a:spAutoFit/>
          </a:bodyPr>
          <a:lstStyle/>
          <a:p>
            <a:pPr algn="l">
              <a:spcBef>
                <a:spcPts val="0"/>
              </a:spcBef>
              <a:spcAft>
                <a:spcPts val="200"/>
              </a:spcAft>
            </a:pPr>
            <a:r>
              <a:rPr lang="en-GB" sz="900" b="0">
                <a:solidFill>
                  <a:srgbClr val="71858F"/>
                </a:solidFill>
                <a:latin typeface="Aptos"/>
              </a:rPr>
              <a:t>Marktbuch · Sovereign / Rate Channel</a:t>
            </a:r>
          </a:p>
        </p:txBody>
      </p:sp>
      <p:sp>
        <p:nvSpPr>
          <p:cNvPr id="27" name="CodexSlideNumber">
            <a:extLst>
              <a:ext uri="{FF2B5EF4-FFF2-40B4-BE49-F238E27FC236}">
                <a16:creationId xmlns:a16="http://schemas.microsoft.com/office/drawing/2014/main" id="{7D65741C-31A2-909B-AD93-6776ECFB4A34}"/>
              </a:ext>
            </a:extLst>
          </p:cNvPr>
          <p:cNvSpPr txBox="1"/>
          <p:nvPr/>
        </p:nvSpPr>
        <p:spPr>
          <a:xfrm>
            <a:off x="11226800" y="6553200"/>
            <a:ext cx="736600" cy="123111"/>
          </a:xfrm>
          <a:prstGeom prst="rect">
            <a:avLst/>
          </a:prstGeom>
          <a:noFill/>
        </p:spPr>
        <p:txBody>
          <a:bodyPr vert="horz" lIns="0" tIns="0" rIns="0" bIns="0" rtlCol="0">
            <a:spAutoFit/>
          </a:bodyPr>
          <a:lstStyle/>
          <a:p>
            <a:pPr algn="r"/>
            <a:r>
              <a:rPr lang="en-US" sz="800">
                <a:solidFill>
                  <a:srgbClr val="525252"/>
                </a:solidFill>
                <a:latin typeface="Arial" panose="020B0604020202020204" pitchFamily="34" charset="0"/>
              </a:rPr>
              <a:t>37 / 64</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84048"/>
            <a:ext cx="11155680" cy="132793"/>
          </a:xfrm>
          <a:prstGeom prst="rect">
            <a:avLst/>
          </a:prstGeom>
          <a:noFill/>
        </p:spPr>
        <p:txBody>
          <a:bodyPr wrap="square" lIns="0" tIns="0" rIns="0" bIns="0" anchor="t">
            <a:spAutoFit/>
          </a:bodyPr>
          <a:lstStyle/>
          <a:p>
            <a:pPr>
              <a:spcBef>
                <a:spcPts val="0"/>
              </a:spcBef>
              <a:spcAft>
                <a:spcPts val="200"/>
              </a:spcAft>
            </a:pPr>
            <a:r>
              <a:rPr lang="de-DE" sz="863" b="1" dirty="0">
                <a:solidFill>
                  <a:schemeClr val="tx2"/>
                </a:solidFill>
                <a:latin typeface="Aptos"/>
              </a:rPr>
              <a:t>SUB-TAB 2 · IFRS-9-WIRKUNG · DEUTSCHE BANK</a:t>
            </a:r>
          </a:p>
        </p:txBody>
      </p:sp>
      <p:sp>
        <p:nvSpPr>
          <p:cNvPr id="4" name="TextBox 3"/>
          <p:cNvSpPr txBox="1"/>
          <p:nvPr/>
        </p:nvSpPr>
        <p:spPr>
          <a:xfrm>
            <a:off x="548640" y="658368"/>
            <a:ext cx="11155680" cy="380873"/>
          </a:xfrm>
          <a:prstGeom prst="rect">
            <a:avLst/>
          </a:prstGeom>
          <a:noFill/>
        </p:spPr>
        <p:txBody>
          <a:bodyPr wrap="square" lIns="0" tIns="0" rIns="0" bIns="0" anchor="t">
            <a:spAutoFit/>
          </a:bodyPr>
          <a:lstStyle/>
          <a:p>
            <a:pPr algn="l">
              <a:spcBef>
                <a:spcPts val="0"/>
              </a:spcBef>
              <a:spcAft>
                <a:spcPts val="200"/>
              </a:spcAft>
            </a:pPr>
            <a:r>
              <a:rPr lang="de-DE" sz="2475" b="1">
                <a:solidFill>
                  <a:srgbClr val="051C2C"/>
                </a:solidFill>
                <a:latin typeface="Aptos Display"/>
              </a:rPr>
              <a:t>Nur der marktbewertete Teil mindert das Kernkapital</a:t>
            </a:r>
          </a:p>
        </p:txBody>
      </p:sp>
      <p:sp>
        <p:nvSpPr>
          <p:cNvPr id="5" name="TextBox 4"/>
          <p:cNvSpPr txBox="1"/>
          <p:nvPr/>
        </p:nvSpPr>
        <p:spPr>
          <a:xfrm>
            <a:off x="548640" y="1554480"/>
            <a:ext cx="11064240" cy="415498"/>
          </a:xfrm>
          <a:prstGeom prst="rect">
            <a:avLst/>
          </a:prstGeom>
          <a:noFill/>
        </p:spPr>
        <p:txBody>
          <a:bodyPr wrap="square" lIns="0" tIns="0" rIns="0" bIns="0" anchor="t">
            <a:spAutoFit/>
          </a:bodyPr>
          <a:lstStyle/>
          <a:p>
            <a:pPr algn="l">
              <a:spcBef>
                <a:spcPts val="0"/>
              </a:spcBef>
              <a:spcAft>
                <a:spcPts val="200"/>
              </a:spcAft>
            </a:pPr>
            <a:r>
              <a:rPr lang="de-DE" sz="1350" b="1">
                <a:solidFill>
                  <a:srgbClr val="051C2C"/>
                </a:solidFill>
                <a:latin typeface="Aptos"/>
              </a:rPr>
              <a:t>Angewandt auf die Deutsche Bank bei +2,00 pp: </a:t>
            </a:r>
            <a:r>
              <a:rPr lang="de-DE" sz="1350" b="0">
                <a:solidFill>
                  <a:srgbClr val="051C2C"/>
                </a:solidFill>
                <a:latin typeface="Aptos"/>
              </a:rPr>
              <a:t>von −25,3 Mrd € brutto sind −18,5 Mrd € bilanziell CET1-wirksam – 80 % davon aus dem Handelsbuch.</a:t>
            </a:r>
          </a:p>
        </p:txBody>
      </p:sp>
      <p:sp>
        <p:nvSpPr>
          <p:cNvPr id="6" name="Rectangle 5"/>
          <p:cNvSpPr/>
          <p:nvPr/>
        </p:nvSpPr>
        <p:spPr>
          <a:xfrm>
            <a:off x="548640" y="2148840"/>
            <a:ext cx="2688336" cy="1417320"/>
          </a:xfrm>
          <a:prstGeom prst="rect">
            <a:avLst/>
          </a:prstGeom>
          <a:solidFill>
            <a:srgbClr val="FFFFFF"/>
          </a:solidFill>
          <a:ln w="9525">
            <a:solidFill>
              <a:srgbClr val="D9E2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48640" y="2148840"/>
            <a:ext cx="2688336" cy="82296"/>
          </a:xfrm>
          <a:prstGeom prst="rect">
            <a:avLst/>
          </a:prstGeom>
          <a:solidFill>
            <a:srgbClr val="A52F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2304288"/>
            <a:ext cx="2322576" cy="230832"/>
          </a:xfrm>
          <a:prstGeom prst="rect">
            <a:avLst/>
          </a:prstGeom>
          <a:noFill/>
        </p:spPr>
        <p:txBody>
          <a:bodyPr wrap="square" lIns="0" tIns="0" rIns="0" bIns="0" anchor="t">
            <a:spAutoFit/>
          </a:bodyPr>
          <a:lstStyle/>
          <a:p>
            <a:pPr algn="l">
              <a:spcBef>
                <a:spcPts val="0"/>
              </a:spcBef>
              <a:spcAft>
                <a:spcPts val="200"/>
              </a:spcAft>
            </a:pPr>
            <a:r>
              <a:rPr lang="en-GB" sz="1500" b="1">
                <a:solidFill>
                  <a:srgbClr val="051C2C"/>
                </a:solidFill>
                <a:latin typeface="Aptos"/>
              </a:rPr>
              <a:t>HfT</a:t>
            </a:r>
          </a:p>
        </p:txBody>
      </p:sp>
      <p:sp>
        <p:nvSpPr>
          <p:cNvPr id="9" name="TextBox 8"/>
          <p:cNvSpPr txBox="1"/>
          <p:nvPr/>
        </p:nvSpPr>
        <p:spPr>
          <a:xfrm>
            <a:off x="731520" y="2651760"/>
            <a:ext cx="2322576" cy="153888"/>
          </a:xfrm>
          <a:prstGeom prst="rect">
            <a:avLst/>
          </a:prstGeom>
          <a:noFill/>
        </p:spPr>
        <p:txBody>
          <a:bodyPr wrap="square" lIns="0" tIns="0" rIns="0" bIns="0" anchor="t">
            <a:spAutoFit/>
          </a:bodyPr>
          <a:lstStyle/>
          <a:p>
            <a:pPr algn="l">
              <a:spcBef>
                <a:spcPts val="0"/>
              </a:spcBef>
              <a:spcAft>
                <a:spcPts val="200"/>
              </a:spcAft>
            </a:pPr>
            <a:r>
              <a:rPr lang="en-GB" sz="1000" b="0">
                <a:solidFill>
                  <a:srgbClr val="A52F4D"/>
                </a:solidFill>
                <a:latin typeface="Aptos"/>
              </a:rPr>
              <a:t>P&amp;L → CET1</a:t>
            </a:r>
          </a:p>
        </p:txBody>
      </p:sp>
      <p:sp>
        <p:nvSpPr>
          <p:cNvPr id="10" name="TextBox 9"/>
          <p:cNvSpPr txBox="1"/>
          <p:nvPr/>
        </p:nvSpPr>
        <p:spPr>
          <a:xfrm>
            <a:off x="731520" y="2907792"/>
            <a:ext cx="2322576" cy="161583"/>
          </a:xfrm>
          <a:prstGeom prst="rect">
            <a:avLst/>
          </a:prstGeom>
          <a:noFill/>
        </p:spPr>
        <p:txBody>
          <a:bodyPr wrap="square" lIns="0" tIns="0" rIns="0" bIns="0" anchor="t">
            <a:spAutoFit/>
          </a:bodyPr>
          <a:lstStyle/>
          <a:p>
            <a:pPr algn="l">
              <a:spcBef>
                <a:spcPts val="0"/>
              </a:spcBef>
              <a:spcAft>
                <a:spcPts val="200"/>
              </a:spcAft>
            </a:pPr>
            <a:r>
              <a:rPr lang="en-GB" sz="950" b="0">
                <a:solidFill>
                  <a:srgbClr val="4F6875"/>
                </a:solidFill>
                <a:latin typeface="Aptos"/>
              </a:rPr>
              <a:t>Bestand </a:t>
            </a:r>
            <a:r>
              <a:rPr lang="en-GB" sz="1050" b="1">
                <a:solidFill>
                  <a:srgbClr val="051C2C"/>
                </a:solidFill>
                <a:latin typeface="Aptos"/>
              </a:rPr>
              <a:t>97,7 Mrd €</a:t>
            </a:r>
          </a:p>
        </p:txBody>
      </p:sp>
      <p:sp>
        <p:nvSpPr>
          <p:cNvPr id="11" name="TextBox 10"/>
          <p:cNvSpPr txBox="1"/>
          <p:nvPr/>
        </p:nvSpPr>
        <p:spPr>
          <a:xfrm>
            <a:off x="731520" y="3182112"/>
            <a:ext cx="2322576" cy="176972"/>
          </a:xfrm>
          <a:prstGeom prst="rect">
            <a:avLst/>
          </a:prstGeom>
          <a:noFill/>
        </p:spPr>
        <p:txBody>
          <a:bodyPr wrap="square" lIns="0" tIns="0" rIns="0" bIns="0" anchor="t">
            <a:spAutoFit/>
          </a:bodyPr>
          <a:lstStyle/>
          <a:p>
            <a:pPr algn="l">
              <a:spcBef>
                <a:spcPts val="0"/>
              </a:spcBef>
              <a:spcAft>
                <a:spcPts val="200"/>
              </a:spcAft>
            </a:pPr>
            <a:r>
              <a:rPr lang="el-GR" sz="950" b="0">
                <a:solidFill>
                  <a:srgbClr val="4F6875"/>
                </a:solidFill>
                <a:latin typeface="Aptos"/>
              </a:rPr>
              <a:t>Δ</a:t>
            </a:r>
            <a:r>
              <a:rPr lang="en-GB" sz="950" b="0">
                <a:solidFill>
                  <a:srgbClr val="4F6875"/>
                </a:solidFill>
                <a:latin typeface="Aptos"/>
              </a:rPr>
              <a:t>FV </a:t>
            </a:r>
            <a:r>
              <a:rPr lang="en-GB" sz="1150" b="1">
                <a:solidFill>
                  <a:srgbClr val="A52F4D"/>
                </a:solidFill>
                <a:latin typeface="Aptos"/>
              </a:rPr>
              <a:t>−14,9 Mrd €</a:t>
            </a:r>
          </a:p>
        </p:txBody>
      </p:sp>
      <p:sp>
        <p:nvSpPr>
          <p:cNvPr id="12" name="Rectangle 11"/>
          <p:cNvSpPr/>
          <p:nvPr/>
        </p:nvSpPr>
        <p:spPr>
          <a:xfrm>
            <a:off x="3401568" y="2148840"/>
            <a:ext cx="2688336" cy="1417320"/>
          </a:xfrm>
          <a:prstGeom prst="rect">
            <a:avLst/>
          </a:prstGeom>
          <a:solidFill>
            <a:srgbClr val="FFFFFF"/>
          </a:solidFill>
          <a:ln w="9525">
            <a:solidFill>
              <a:srgbClr val="D9E2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3401568" y="2148840"/>
            <a:ext cx="2688336" cy="82296"/>
          </a:xfrm>
          <a:prstGeom prst="rect">
            <a:avLst/>
          </a:prstGeom>
          <a:solidFill>
            <a:srgbClr val="A52F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584448" y="2304288"/>
            <a:ext cx="2322576" cy="230832"/>
          </a:xfrm>
          <a:prstGeom prst="rect">
            <a:avLst/>
          </a:prstGeom>
          <a:noFill/>
        </p:spPr>
        <p:txBody>
          <a:bodyPr wrap="square" lIns="0" tIns="0" rIns="0" bIns="0" anchor="t">
            <a:spAutoFit/>
          </a:bodyPr>
          <a:lstStyle/>
          <a:p>
            <a:pPr algn="l">
              <a:spcBef>
                <a:spcPts val="0"/>
              </a:spcBef>
              <a:spcAft>
                <a:spcPts val="200"/>
              </a:spcAft>
            </a:pPr>
            <a:r>
              <a:rPr lang="en-GB" sz="1500" b="1">
                <a:solidFill>
                  <a:srgbClr val="051C2C"/>
                </a:solidFill>
                <a:latin typeface="Aptos"/>
              </a:rPr>
              <a:t>FVTPL</a:t>
            </a:r>
          </a:p>
        </p:txBody>
      </p:sp>
      <p:sp>
        <p:nvSpPr>
          <p:cNvPr id="15" name="TextBox 14"/>
          <p:cNvSpPr txBox="1"/>
          <p:nvPr/>
        </p:nvSpPr>
        <p:spPr>
          <a:xfrm>
            <a:off x="3584448" y="2651760"/>
            <a:ext cx="2322576" cy="153888"/>
          </a:xfrm>
          <a:prstGeom prst="rect">
            <a:avLst/>
          </a:prstGeom>
          <a:noFill/>
        </p:spPr>
        <p:txBody>
          <a:bodyPr wrap="square" lIns="0" tIns="0" rIns="0" bIns="0" anchor="t">
            <a:spAutoFit/>
          </a:bodyPr>
          <a:lstStyle/>
          <a:p>
            <a:pPr algn="l">
              <a:spcBef>
                <a:spcPts val="0"/>
              </a:spcBef>
              <a:spcAft>
                <a:spcPts val="200"/>
              </a:spcAft>
            </a:pPr>
            <a:r>
              <a:rPr lang="en-GB" sz="1000" b="0">
                <a:solidFill>
                  <a:srgbClr val="A52F4D"/>
                </a:solidFill>
                <a:latin typeface="Aptos"/>
              </a:rPr>
              <a:t>P&amp;L → CET1</a:t>
            </a:r>
          </a:p>
        </p:txBody>
      </p:sp>
      <p:sp>
        <p:nvSpPr>
          <p:cNvPr id="16" name="TextBox 15"/>
          <p:cNvSpPr txBox="1"/>
          <p:nvPr/>
        </p:nvSpPr>
        <p:spPr>
          <a:xfrm>
            <a:off x="3584448" y="2907792"/>
            <a:ext cx="2322576" cy="161583"/>
          </a:xfrm>
          <a:prstGeom prst="rect">
            <a:avLst/>
          </a:prstGeom>
          <a:noFill/>
        </p:spPr>
        <p:txBody>
          <a:bodyPr wrap="square" lIns="0" tIns="0" rIns="0" bIns="0" anchor="t">
            <a:spAutoFit/>
          </a:bodyPr>
          <a:lstStyle/>
          <a:p>
            <a:pPr algn="l">
              <a:spcBef>
                <a:spcPts val="0"/>
              </a:spcBef>
              <a:spcAft>
                <a:spcPts val="200"/>
              </a:spcAft>
            </a:pPr>
            <a:r>
              <a:rPr lang="en-GB" sz="950" b="0">
                <a:solidFill>
                  <a:srgbClr val="4F6875"/>
                </a:solidFill>
                <a:latin typeface="Aptos"/>
              </a:rPr>
              <a:t>Bestand </a:t>
            </a:r>
            <a:r>
              <a:rPr lang="en-GB" sz="1050" b="1">
                <a:solidFill>
                  <a:srgbClr val="051C2C"/>
                </a:solidFill>
                <a:latin typeface="Aptos"/>
              </a:rPr>
              <a:t>0,0 Mrd €</a:t>
            </a:r>
          </a:p>
        </p:txBody>
      </p:sp>
      <p:sp>
        <p:nvSpPr>
          <p:cNvPr id="17" name="TextBox 16"/>
          <p:cNvSpPr txBox="1"/>
          <p:nvPr/>
        </p:nvSpPr>
        <p:spPr>
          <a:xfrm>
            <a:off x="3584448" y="3182112"/>
            <a:ext cx="2322576" cy="176972"/>
          </a:xfrm>
          <a:prstGeom prst="rect">
            <a:avLst/>
          </a:prstGeom>
          <a:noFill/>
        </p:spPr>
        <p:txBody>
          <a:bodyPr wrap="square" lIns="0" tIns="0" rIns="0" bIns="0" anchor="t">
            <a:spAutoFit/>
          </a:bodyPr>
          <a:lstStyle/>
          <a:p>
            <a:pPr algn="l">
              <a:spcBef>
                <a:spcPts val="0"/>
              </a:spcBef>
              <a:spcAft>
                <a:spcPts val="200"/>
              </a:spcAft>
            </a:pPr>
            <a:r>
              <a:rPr lang="el-GR" sz="950" b="0">
                <a:solidFill>
                  <a:srgbClr val="4F6875"/>
                </a:solidFill>
                <a:latin typeface="Aptos"/>
              </a:rPr>
              <a:t>Δ</a:t>
            </a:r>
            <a:r>
              <a:rPr lang="en-GB" sz="950" b="0">
                <a:solidFill>
                  <a:srgbClr val="4F6875"/>
                </a:solidFill>
                <a:latin typeface="Aptos"/>
              </a:rPr>
              <a:t>FV </a:t>
            </a:r>
            <a:r>
              <a:rPr lang="en-GB" sz="1150" b="1">
                <a:solidFill>
                  <a:srgbClr val="A52F4D"/>
                </a:solidFill>
                <a:latin typeface="Aptos"/>
              </a:rPr>
              <a:t>≈ 0 Mrd €</a:t>
            </a:r>
          </a:p>
        </p:txBody>
      </p:sp>
      <p:sp>
        <p:nvSpPr>
          <p:cNvPr id="18" name="Rectangle 17"/>
          <p:cNvSpPr/>
          <p:nvPr/>
        </p:nvSpPr>
        <p:spPr>
          <a:xfrm>
            <a:off x="6254496" y="2148840"/>
            <a:ext cx="2688336" cy="1417320"/>
          </a:xfrm>
          <a:prstGeom prst="rect">
            <a:avLst/>
          </a:prstGeom>
          <a:solidFill>
            <a:srgbClr val="FFFFFF"/>
          </a:solidFill>
          <a:ln w="9525">
            <a:solidFill>
              <a:srgbClr val="D9E2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254496" y="2148840"/>
            <a:ext cx="2688336" cy="82296"/>
          </a:xfrm>
          <a:prstGeom prst="rect">
            <a:avLst/>
          </a:prstGeom>
          <a:solidFill>
            <a:srgbClr val="0B5D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437376" y="2304288"/>
            <a:ext cx="2322576" cy="230832"/>
          </a:xfrm>
          <a:prstGeom prst="rect">
            <a:avLst/>
          </a:prstGeom>
          <a:noFill/>
        </p:spPr>
        <p:txBody>
          <a:bodyPr wrap="square" lIns="0" tIns="0" rIns="0" bIns="0" anchor="t">
            <a:spAutoFit/>
          </a:bodyPr>
          <a:lstStyle/>
          <a:p>
            <a:pPr algn="l">
              <a:spcBef>
                <a:spcPts val="0"/>
              </a:spcBef>
              <a:spcAft>
                <a:spcPts val="200"/>
              </a:spcAft>
            </a:pPr>
            <a:r>
              <a:rPr lang="en-GB" sz="1500" b="1">
                <a:solidFill>
                  <a:srgbClr val="051C2C"/>
                </a:solidFill>
                <a:latin typeface="Aptos"/>
              </a:rPr>
              <a:t>FVOCI</a:t>
            </a:r>
          </a:p>
        </p:txBody>
      </p:sp>
      <p:sp>
        <p:nvSpPr>
          <p:cNvPr id="21" name="TextBox 20"/>
          <p:cNvSpPr txBox="1"/>
          <p:nvPr/>
        </p:nvSpPr>
        <p:spPr>
          <a:xfrm>
            <a:off x="6437376" y="2651760"/>
            <a:ext cx="2322576" cy="153888"/>
          </a:xfrm>
          <a:prstGeom prst="rect">
            <a:avLst/>
          </a:prstGeom>
          <a:noFill/>
        </p:spPr>
        <p:txBody>
          <a:bodyPr wrap="square" lIns="0" tIns="0" rIns="0" bIns="0" anchor="t">
            <a:spAutoFit/>
          </a:bodyPr>
          <a:lstStyle/>
          <a:p>
            <a:pPr algn="l">
              <a:spcBef>
                <a:spcPts val="0"/>
              </a:spcBef>
              <a:spcAft>
                <a:spcPts val="200"/>
              </a:spcAft>
            </a:pPr>
            <a:r>
              <a:rPr lang="en-GB" sz="1000" b="0">
                <a:solidFill>
                  <a:srgbClr val="0B5D7A"/>
                </a:solidFill>
                <a:latin typeface="Aptos"/>
              </a:rPr>
              <a:t>OCI → CET1</a:t>
            </a:r>
          </a:p>
        </p:txBody>
      </p:sp>
      <p:sp>
        <p:nvSpPr>
          <p:cNvPr id="22" name="TextBox 21"/>
          <p:cNvSpPr txBox="1"/>
          <p:nvPr/>
        </p:nvSpPr>
        <p:spPr>
          <a:xfrm>
            <a:off x="6437376" y="2907792"/>
            <a:ext cx="2322576" cy="161583"/>
          </a:xfrm>
          <a:prstGeom prst="rect">
            <a:avLst/>
          </a:prstGeom>
          <a:noFill/>
        </p:spPr>
        <p:txBody>
          <a:bodyPr wrap="square" lIns="0" tIns="0" rIns="0" bIns="0" anchor="t">
            <a:spAutoFit/>
          </a:bodyPr>
          <a:lstStyle/>
          <a:p>
            <a:pPr algn="l">
              <a:spcBef>
                <a:spcPts val="0"/>
              </a:spcBef>
              <a:spcAft>
                <a:spcPts val="200"/>
              </a:spcAft>
            </a:pPr>
            <a:r>
              <a:rPr lang="en-GB" sz="950" b="0">
                <a:solidFill>
                  <a:srgbClr val="4F6875"/>
                </a:solidFill>
                <a:latin typeface="Aptos"/>
              </a:rPr>
              <a:t>Bestand </a:t>
            </a:r>
            <a:r>
              <a:rPr lang="en-GB" sz="1050" b="1">
                <a:solidFill>
                  <a:srgbClr val="051C2C"/>
                </a:solidFill>
                <a:latin typeface="Aptos"/>
              </a:rPr>
              <a:t>29,6 Mrd €</a:t>
            </a:r>
          </a:p>
        </p:txBody>
      </p:sp>
      <p:sp>
        <p:nvSpPr>
          <p:cNvPr id="23" name="TextBox 22"/>
          <p:cNvSpPr txBox="1"/>
          <p:nvPr/>
        </p:nvSpPr>
        <p:spPr>
          <a:xfrm>
            <a:off x="6437376" y="3182112"/>
            <a:ext cx="2322576" cy="176972"/>
          </a:xfrm>
          <a:prstGeom prst="rect">
            <a:avLst/>
          </a:prstGeom>
          <a:noFill/>
        </p:spPr>
        <p:txBody>
          <a:bodyPr wrap="square" lIns="0" tIns="0" rIns="0" bIns="0" anchor="t">
            <a:spAutoFit/>
          </a:bodyPr>
          <a:lstStyle/>
          <a:p>
            <a:pPr algn="l">
              <a:spcBef>
                <a:spcPts val="0"/>
              </a:spcBef>
              <a:spcAft>
                <a:spcPts val="200"/>
              </a:spcAft>
            </a:pPr>
            <a:r>
              <a:rPr lang="el-GR" sz="950" b="0">
                <a:solidFill>
                  <a:srgbClr val="4F6875"/>
                </a:solidFill>
                <a:latin typeface="Aptos"/>
              </a:rPr>
              <a:t>Δ</a:t>
            </a:r>
            <a:r>
              <a:rPr lang="en-GB" sz="950" b="0">
                <a:solidFill>
                  <a:srgbClr val="4F6875"/>
                </a:solidFill>
                <a:latin typeface="Aptos"/>
              </a:rPr>
              <a:t>FV </a:t>
            </a:r>
            <a:r>
              <a:rPr lang="en-GB" sz="1150" b="1">
                <a:solidFill>
                  <a:srgbClr val="0B5D7A"/>
                </a:solidFill>
                <a:latin typeface="Aptos"/>
              </a:rPr>
              <a:t>−3,6 Mrd €</a:t>
            </a:r>
          </a:p>
        </p:txBody>
      </p:sp>
      <p:sp>
        <p:nvSpPr>
          <p:cNvPr id="24" name="Rectangle 23"/>
          <p:cNvSpPr/>
          <p:nvPr/>
        </p:nvSpPr>
        <p:spPr>
          <a:xfrm>
            <a:off x="9107424" y="2148840"/>
            <a:ext cx="2688336" cy="1417320"/>
          </a:xfrm>
          <a:prstGeom prst="rect">
            <a:avLst/>
          </a:prstGeom>
          <a:solidFill>
            <a:srgbClr val="FFFFFF"/>
          </a:solidFill>
          <a:ln w="9525">
            <a:solidFill>
              <a:srgbClr val="D9E2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9107424" y="2148840"/>
            <a:ext cx="2688336" cy="82296"/>
          </a:xfrm>
          <a:prstGeom prst="rect">
            <a:avLst/>
          </a:prstGeom>
          <a:solidFill>
            <a:srgbClr val="4F68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290304" y="2304288"/>
            <a:ext cx="2322576" cy="230832"/>
          </a:xfrm>
          <a:prstGeom prst="rect">
            <a:avLst/>
          </a:prstGeom>
          <a:noFill/>
        </p:spPr>
        <p:txBody>
          <a:bodyPr wrap="square" lIns="0" tIns="0" rIns="0" bIns="0" anchor="t">
            <a:spAutoFit/>
          </a:bodyPr>
          <a:lstStyle/>
          <a:p>
            <a:pPr algn="l">
              <a:spcBef>
                <a:spcPts val="0"/>
              </a:spcBef>
              <a:spcAft>
                <a:spcPts val="200"/>
              </a:spcAft>
            </a:pPr>
            <a:r>
              <a:rPr lang="en-GB" sz="1500" b="1">
                <a:solidFill>
                  <a:srgbClr val="051C2C"/>
                </a:solidFill>
                <a:latin typeface="Aptos"/>
              </a:rPr>
              <a:t>AC</a:t>
            </a:r>
          </a:p>
        </p:txBody>
      </p:sp>
      <p:sp>
        <p:nvSpPr>
          <p:cNvPr id="27" name="TextBox 26"/>
          <p:cNvSpPr txBox="1"/>
          <p:nvPr/>
        </p:nvSpPr>
        <p:spPr>
          <a:xfrm>
            <a:off x="9290304" y="2651760"/>
            <a:ext cx="2322576" cy="153888"/>
          </a:xfrm>
          <a:prstGeom prst="rect">
            <a:avLst/>
          </a:prstGeom>
          <a:noFill/>
        </p:spPr>
        <p:txBody>
          <a:bodyPr wrap="square" lIns="0" tIns="0" rIns="0" bIns="0" anchor="t">
            <a:spAutoFit/>
          </a:bodyPr>
          <a:lstStyle/>
          <a:p>
            <a:pPr algn="l">
              <a:spcBef>
                <a:spcPts val="0"/>
              </a:spcBef>
              <a:spcAft>
                <a:spcPts val="200"/>
              </a:spcAft>
            </a:pPr>
            <a:r>
              <a:rPr lang="en-GB" sz="1000" b="0">
                <a:solidFill>
                  <a:srgbClr val="4F6875"/>
                </a:solidFill>
                <a:latin typeface="Aptos"/>
              </a:rPr>
              <a:t>latent (Buchwert)</a:t>
            </a:r>
          </a:p>
        </p:txBody>
      </p:sp>
      <p:sp>
        <p:nvSpPr>
          <p:cNvPr id="28" name="TextBox 27"/>
          <p:cNvSpPr txBox="1"/>
          <p:nvPr/>
        </p:nvSpPr>
        <p:spPr>
          <a:xfrm>
            <a:off x="9290304" y="2907792"/>
            <a:ext cx="2322576" cy="161583"/>
          </a:xfrm>
          <a:prstGeom prst="rect">
            <a:avLst/>
          </a:prstGeom>
          <a:noFill/>
        </p:spPr>
        <p:txBody>
          <a:bodyPr wrap="square" lIns="0" tIns="0" rIns="0" bIns="0" anchor="t">
            <a:spAutoFit/>
          </a:bodyPr>
          <a:lstStyle/>
          <a:p>
            <a:pPr algn="l">
              <a:spcBef>
                <a:spcPts val="0"/>
              </a:spcBef>
              <a:spcAft>
                <a:spcPts val="200"/>
              </a:spcAft>
            </a:pPr>
            <a:r>
              <a:rPr lang="en-GB" sz="950" b="0">
                <a:solidFill>
                  <a:srgbClr val="4F6875"/>
                </a:solidFill>
                <a:latin typeface="Aptos"/>
              </a:rPr>
              <a:t>Bestand </a:t>
            </a:r>
            <a:r>
              <a:rPr lang="en-GB" sz="1050" b="1">
                <a:solidFill>
                  <a:srgbClr val="051C2C"/>
                </a:solidFill>
                <a:latin typeface="Aptos"/>
              </a:rPr>
              <a:t>51,9 Mrd €</a:t>
            </a:r>
          </a:p>
        </p:txBody>
      </p:sp>
      <p:sp>
        <p:nvSpPr>
          <p:cNvPr id="29" name="TextBox 28"/>
          <p:cNvSpPr txBox="1"/>
          <p:nvPr/>
        </p:nvSpPr>
        <p:spPr>
          <a:xfrm>
            <a:off x="9290304" y="3182112"/>
            <a:ext cx="2322576" cy="176972"/>
          </a:xfrm>
          <a:prstGeom prst="rect">
            <a:avLst/>
          </a:prstGeom>
          <a:noFill/>
        </p:spPr>
        <p:txBody>
          <a:bodyPr wrap="square" lIns="0" tIns="0" rIns="0" bIns="0" anchor="t">
            <a:spAutoFit/>
          </a:bodyPr>
          <a:lstStyle/>
          <a:p>
            <a:pPr algn="l">
              <a:spcBef>
                <a:spcPts val="0"/>
              </a:spcBef>
              <a:spcAft>
                <a:spcPts val="200"/>
              </a:spcAft>
            </a:pPr>
            <a:r>
              <a:rPr lang="el-GR" sz="950" b="0">
                <a:solidFill>
                  <a:srgbClr val="4F6875"/>
                </a:solidFill>
                <a:latin typeface="Aptos"/>
              </a:rPr>
              <a:t>Δ</a:t>
            </a:r>
            <a:r>
              <a:rPr lang="en-GB" sz="950" b="0">
                <a:solidFill>
                  <a:srgbClr val="4F6875"/>
                </a:solidFill>
                <a:latin typeface="Aptos"/>
              </a:rPr>
              <a:t>FV </a:t>
            </a:r>
            <a:r>
              <a:rPr lang="en-GB" sz="1150" b="1">
                <a:solidFill>
                  <a:srgbClr val="4F6875"/>
                </a:solidFill>
                <a:latin typeface="Aptos"/>
              </a:rPr>
              <a:t>−6,7  latent Mrd €</a:t>
            </a:r>
          </a:p>
        </p:txBody>
      </p:sp>
      <p:sp>
        <p:nvSpPr>
          <p:cNvPr id="30" name="Rectangle 29"/>
          <p:cNvSpPr/>
          <p:nvPr/>
        </p:nvSpPr>
        <p:spPr>
          <a:xfrm>
            <a:off x="548640" y="3794760"/>
            <a:ext cx="6903720" cy="1051560"/>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777240" y="4143568"/>
            <a:ext cx="2194560" cy="353943"/>
          </a:xfrm>
          <a:prstGeom prst="rect">
            <a:avLst/>
          </a:prstGeom>
          <a:noFill/>
        </p:spPr>
        <p:txBody>
          <a:bodyPr wrap="square" lIns="0" tIns="0" rIns="0" bIns="0" anchor="ctr">
            <a:spAutoFit/>
          </a:bodyPr>
          <a:lstStyle/>
          <a:p>
            <a:pPr algn="l">
              <a:spcBef>
                <a:spcPts val="0"/>
              </a:spcBef>
              <a:spcAft>
                <a:spcPts val="200"/>
              </a:spcAft>
            </a:pPr>
            <a:r>
              <a:rPr lang="en-GB" sz="2300" b="1">
                <a:solidFill>
                  <a:srgbClr val="A52F4D"/>
                </a:solidFill>
                <a:latin typeface="Aptos Display"/>
              </a:rPr>
              <a:t>−18,5 Mrd €</a:t>
            </a:r>
          </a:p>
        </p:txBody>
      </p:sp>
      <p:sp>
        <p:nvSpPr>
          <p:cNvPr id="32" name="TextBox 31"/>
          <p:cNvSpPr txBox="1"/>
          <p:nvPr/>
        </p:nvSpPr>
        <p:spPr>
          <a:xfrm>
            <a:off x="2971800" y="4075768"/>
            <a:ext cx="4343400" cy="507831"/>
          </a:xfrm>
          <a:prstGeom prst="rect">
            <a:avLst/>
          </a:prstGeom>
          <a:noFill/>
        </p:spPr>
        <p:txBody>
          <a:bodyPr wrap="square" lIns="0" tIns="0" rIns="0" bIns="0" anchor="ctr">
            <a:spAutoFit/>
          </a:bodyPr>
          <a:lstStyle/>
          <a:p>
            <a:pPr algn="l">
              <a:spcBef>
                <a:spcPts val="0"/>
              </a:spcBef>
              <a:spcAft>
                <a:spcPts val="200"/>
              </a:spcAft>
            </a:pPr>
            <a:r>
              <a:rPr lang="de-DE" sz="1100" b="1">
                <a:solidFill>
                  <a:srgbClr val="051C2C"/>
                </a:solidFill>
                <a:latin typeface="Aptos"/>
              </a:rPr>
              <a:t>brutto CET1-wirksam </a:t>
            </a:r>
            <a:r>
              <a:rPr lang="de-DE" sz="1100" b="0">
                <a:solidFill>
                  <a:srgbClr val="4F6875"/>
                </a:solidFill>
                <a:latin typeface="Aptos"/>
              </a:rPr>
              <a:t>(Handelsbestand + FVOCI). Da Handelsbücher real über Zinsswaps abgesichert sind, das Modell aber brutto rechnet, ist dies eine Obergrenze – netto deutlich kleiner (und vor Steuern).</a:t>
            </a:r>
          </a:p>
        </p:txBody>
      </p:sp>
      <p:sp>
        <p:nvSpPr>
          <p:cNvPr id="33" name="Rectangle 32"/>
          <p:cNvSpPr/>
          <p:nvPr/>
        </p:nvSpPr>
        <p:spPr>
          <a:xfrm>
            <a:off x="7571231" y="3794760"/>
            <a:ext cx="4087368" cy="1051560"/>
          </a:xfrm>
          <a:prstGeom prst="rect">
            <a:avLst/>
          </a:prstGeom>
          <a:solidFill>
            <a:srgbClr val="FFFFFF"/>
          </a:solidFill>
          <a:ln w="12700">
            <a:solidFill>
              <a:srgbClr val="A52F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7772400" y="3931920"/>
            <a:ext cx="3703320" cy="146194"/>
          </a:xfrm>
          <a:prstGeom prst="rect">
            <a:avLst/>
          </a:prstGeom>
          <a:noFill/>
        </p:spPr>
        <p:txBody>
          <a:bodyPr wrap="square" lIns="0" tIns="0" rIns="0" bIns="0" anchor="t">
            <a:spAutoFit/>
          </a:bodyPr>
          <a:lstStyle/>
          <a:p>
            <a:pPr algn="l">
              <a:spcBef>
                <a:spcPts val="0"/>
              </a:spcBef>
              <a:spcAft>
                <a:spcPts val="200"/>
              </a:spcAft>
            </a:pPr>
            <a:r>
              <a:rPr lang="en-GB" sz="950" b="1">
                <a:solidFill>
                  <a:srgbClr val="A52F4D"/>
                </a:solidFill>
                <a:latin typeface="Aptos"/>
              </a:rPr>
              <a:t>EXTREMFALL, NICHT VERALLGEMEINERN</a:t>
            </a:r>
          </a:p>
        </p:txBody>
      </p:sp>
      <p:sp>
        <p:nvSpPr>
          <p:cNvPr id="35" name="TextBox 34"/>
          <p:cNvSpPr txBox="1"/>
          <p:nvPr/>
        </p:nvSpPr>
        <p:spPr>
          <a:xfrm>
            <a:off x="7772400" y="4224528"/>
            <a:ext cx="3703320" cy="338554"/>
          </a:xfrm>
          <a:prstGeom prst="rect">
            <a:avLst/>
          </a:prstGeom>
          <a:noFill/>
        </p:spPr>
        <p:txBody>
          <a:bodyPr wrap="square" lIns="0" tIns="0" rIns="0" bIns="0" anchor="t">
            <a:spAutoFit/>
          </a:bodyPr>
          <a:lstStyle/>
          <a:p>
            <a:pPr algn="l">
              <a:spcBef>
                <a:spcPts val="0"/>
              </a:spcBef>
              <a:spcAft>
                <a:spcPts val="200"/>
              </a:spcAft>
            </a:pPr>
            <a:r>
              <a:rPr lang="de-DE" sz="1100" b="1">
                <a:solidFill>
                  <a:srgbClr val="051C2C"/>
                </a:solidFill>
                <a:latin typeface="Aptos"/>
              </a:rPr>
              <a:t>55 % Handelsbestand </a:t>
            </a:r>
            <a:r>
              <a:rPr lang="de-DE" sz="1100" b="0">
                <a:solidFill>
                  <a:srgbClr val="051C2C"/>
                </a:solidFill>
                <a:latin typeface="Aptos"/>
              </a:rPr>
              <a:t>– höchster der 10 Banken (System 28 %). Daher 73 % sofort statt 51 % im Schnitt.</a:t>
            </a:r>
          </a:p>
        </p:txBody>
      </p:sp>
      <p:sp>
        <p:nvSpPr>
          <p:cNvPr id="36" name="TextBox 35"/>
          <p:cNvSpPr txBox="1"/>
          <p:nvPr/>
        </p:nvSpPr>
        <p:spPr>
          <a:xfrm>
            <a:off x="548640" y="5074920"/>
            <a:ext cx="11064240" cy="161583"/>
          </a:xfrm>
          <a:prstGeom prst="rect">
            <a:avLst/>
          </a:prstGeom>
          <a:noFill/>
        </p:spPr>
        <p:txBody>
          <a:bodyPr wrap="square" lIns="0" tIns="0" rIns="0" bIns="0" anchor="t">
            <a:spAutoFit/>
          </a:bodyPr>
          <a:lstStyle/>
          <a:p>
            <a:pPr algn="l">
              <a:spcBef>
                <a:spcPts val="0"/>
              </a:spcBef>
              <a:spcAft>
                <a:spcPts val="200"/>
              </a:spcAft>
            </a:pPr>
            <a:r>
              <a:rPr lang="de-DE" sz="1050" b="1">
                <a:solidFill>
                  <a:srgbClr val="051C2C"/>
                </a:solidFill>
                <a:latin typeface="Aptos"/>
              </a:rPr>
              <a:t>CET1-Quoten-Effekt (brutto): </a:t>
            </a:r>
            <a:r>
              <a:rPr lang="de-DE" sz="1050" b="0">
                <a:solidFill>
                  <a:srgbClr val="4F6875"/>
                </a:solidFill>
                <a:latin typeface="Aptos"/>
              </a:rPr>
              <a:t>14,24 % → 8,81 %, also −5,42 pp aus dem Sovereign-Kanal allein – der höchste Wert der 10 Banken.</a:t>
            </a:r>
          </a:p>
        </p:txBody>
      </p:sp>
      <p:sp>
        <p:nvSpPr>
          <p:cNvPr id="37" name="TextBox 36"/>
          <p:cNvSpPr txBox="1"/>
          <p:nvPr/>
        </p:nvSpPr>
        <p:spPr>
          <a:xfrm>
            <a:off x="457200" y="6519672"/>
            <a:ext cx="7315200" cy="138499"/>
          </a:xfrm>
          <a:prstGeom prst="rect">
            <a:avLst/>
          </a:prstGeom>
          <a:noFill/>
        </p:spPr>
        <p:txBody>
          <a:bodyPr wrap="square" lIns="0" tIns="0" rIns="0" bIns="0" anchor="t">
            <a:spAutoFit/>
          </a:bodyPr>
          <a:lstStyle/>
          <a:p>
            <a:pPr algn="l">
              <a:spcBef>
                <a:spcPts val="0"/>
              </a:spcBef>
              <a:spcAft>
                <a:spcPts val="200"/>
              </a:spcAft>
            </a:pPr>
            <a:r>
              <a:rPr lang="en-GB" sz="900" b="0">
                <a:solidFill>
                  <a:srgbClr val="71858F"/>
                </a:solidFill>
                <a:latin typeface="Aptos"/>
              </a:rPr>
              <a:t>Marktbuch · Sovereign / Rate Channel</a:t>
            </a:r>
          </a:p>
        </p:txBody>
      </p:sp>
      <p:sp>
        <p:nvSpPr>
          <p:cNvPr id="38" name="CodexSlideNumber">
            <a:extLst>
              <a:ext uri="{FF2B5EF4-FFF2-40B4-BE49-F238E27FC236}">
                <a16:creationId xmlns:a16="http://schemas.microsoft.com/office/drawing/2014/main" id="{1923402B-EBF3-48D7-CFDE-CF0D97FFD16F}"/>
              </a:ext>
            </a:extLst>
          </p:cNvPr>
          <p:cNvSpPr txBox="1"/>
          <p:nvPr/>
        </p:nvSpPr>
        <p:spPr>
          <a:xfrm>
            <a:off x="11226800" y="6553200"/>
            <a:ext cx="736600" cy="123111"/>
          </a:xfrm>
          <a:prstGeom prst="rect">
            <a:avLst/>
          </a:prstGeom>
          <a:noFill/>
        </p:spPr>
        <p:txBody>
          <a:bodyPr vert="horz" lIns="0" tIns="0" rIns="0" bIns="0" rtlCol="0">
            <a:spAutoFit/>
          </a:bodyPr>
          <a:lstStyle/>
          <a:p>
            <a:pPr algn="r"/>
            <a:r>
              <a:rPr lang="en-US" sz="800">
                <a:solidFill>
                  <a:srgbClr val="525252"/>
                </a:solidFill>
                <a:latin typeface="Arial" panose="020B0604020202020204" pitchFamily="34" charset="0"/>
              </a:rPr>
              <a:t>38 / 64</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84048"/>
            <a:ext cx="11155680" cy="132793"/>
          </a:xfrm>
          <a:prstGeom prst="rect">
            <a:avLst/>
          </a:prstGeom>
          <a:noFill/>
        </p:spPr>
        <p:txBody>
          <a:bodyPr wrap="square" lIns="0" tIns="0" rIns="0" bIns="0" anchor="t">
            <a:spAutoFit/>
          </a:bodyPr>
          <a:lstStyle/>
          <a:p>
            <a:pPr>
              <a:spcBef>
                <a:spcPts val="0"/>
              </a:spcBef>
              <a:spcAft>
                <a:spcPts val="200"/>
              </a:spcAft>
            </a:pPr>
            <a:r>
              <a:rPr lang="en-GB" sz="863" b="1" dirty="0">
                <a:solidFill>
                  <a:schemeClr val="tx2"/>
                </a:solidFill>
                <a:latin typeface="Aptos"/>
              </a:rPr>
              <a:t>WORKED EXAMPLE · LIVE-MARKTWERTEFFEKT</a:t>
            </a:r>
          </a:p>
        </p:txBody>
      </p:sp>
      <p:sp>
        <p:nvSpPr>
          <p:cNvPr id="4" name="TextBox 3"/>
          <p:cNvSpPr txBox="1"/>
          <p:nvPr/>
        </p:nvSpPr>
        <p:spPr>
          <a:xfrm>
            <a:off x="548640" y="658368"/>
            <a:ext cx="11155680" cy="380873"/>
          </a:xfrm>
          <a:prstGeom prst="rect">
            <a:avLst/>
          </a:prstGeom>
          <a:noFill/>
        </p:spPr>
        <p:txBody>
          <a:bodyPr wrap="square" lIns="0" tIns="0" rIns="0" bIns="0" anchor="t">
            <a:spAutoFit/>
          </a:bodyPr>
          <a:lstStyle/>
          <a:p>
            <a:pPr algn="l">
              <a:spcBef>
                <a:spcPts val="0"/>
              </a:spcBef>
              <a:spcAft>
                <a:spcPts val="200"/>
              </a:spcAft>
            </a:pPr>
            <a:r>
              <a:rPr lang="de-DE" sz="2475" b="1">
                <a:solidFill>
                  <a:srgbClr val="051C2C"/>
                </a:solidFill>
                <a:latin typeface="Aptos Display"/>
              </a:rPr>
              <a:t>Szenario-Effekt auf die Deutschen Bank</a:t>
            </a:r>
          </a:p>
        </p:txBody>
      </p:sp>
      <p:sp>
        <p:nvSpPr>
          <p:cNvPr id="5" name="TextBox 4"/>
          <p:cNvSpPr txBox="1"/>
          <p:nvPr/>
        </p:nvSpPr>
        <p:spPr>
          <a:xfrm>
            <a:off x="548640" y="1536192"/>
            <a:ext cx="11064240" cy="192360"/>
          </a:xfrm>
          <a:prstGeom prst="rect">
            <a:avLst/>
          </a:prstGeom>
          <a:noFill/>
        </p:spPr>
        <p:txBody>
          <a:bodyPr wrap="square" lIns="0" tIns="0" rIns="0" bIns="0" anchor="t">
            <a:spAutoFit/>
          </a:bodyPr>
          <a:lstStyle/>
          <a:p>
            <a:pPr algn="l">
              <a:spcBef>
                <a:spcPts val="0"/>
              </a:spcBef>
              <a:spcAft>
                <a:spcPts val="200"/>
              </a:spcAft>
            </a:pPr>
            <a:r>
              <a:rPr lang="de-DE" sz="1250" b="1">
                <a:solidFill>
                  <a:srgbClr val="051C2C"/>
                </a:solidFill>
                <a:latin typeface="Aptos Mono"/>
              </a:rPr>
              <a:t>Szenario:  ΔBrent +0,50 log  /  Δr 10Y +2,00 pp.  </a:t>
            </a:r>
            <a:r>
              <a:rPr lang="de-DE" sz="1250" b="0">
                <a:solidFill>
                  <a:srgbClr val="4F6875"/>
                </a:solidFill>
                <a:latin typeface="Aptos"/>
              </a:rPr>
              <a:t>Im Marktbuch zählt nur der Zins – der Brent-Faktor wirkt ausschließlich im Kreditbuch.</a:t>
            </a:r>
          </a:p>
        </p:txBody>
      </p:sp>
      <p:sp>
        <p:nvSpPr>
          <p:cNvPr id="6" name="Rectangle 5"/>
          <p:cNvSpPr/>
          <p:nvPr/>
        </p:nvSpPr>
        <p:spPr>
          <a:xfrm>
            <a:off x="548640" y="2148840"/>
            <a:ext cx="2688336" cy="1691640"/>
          </a:xfrm>
          <a:prstGeom prst="rect">
            <a:avLst/>
          </a:prstGeom>
          <a:solidFill>
            <a:srgbClr val="FFFFFF"/>
          </a:solidFill>
          <a:ln w="9525">
            <a:solidFill>
              <a:srgbClr val="D9E2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48640" y="2148840"/>
            <a:ext cx="2688336" cy="82296"/>
          </a:xfrm>
          <a:prstGeom prst="rect">
            <a:avLst/>
          </a:prstGeom>
          <a:solidFill>
            <a:srgbClr val="051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2304288"/>
            <a:ext cx="2322576" cy="153888"/>
          </a:xfrm>
          <a:prstGeom prst="rect">
            <a:avLst/>
          </a:prstGeom>
          <a:noFill/>
        </p:spPr>
        <p:txBody>
          <a:bodyPr wrap="square" lIns="0" tIns="0" rIns="0" bIns="0" anchor="t">
            <a:spAutoFit/>
          </a:bodyPr>
          <a:lstStyle/>
          <a:p>
            <a:pPr algn="l">
              <a:spcBef>
                <a:spcPts val="0"/>
              </a:spcBef>
              <a:spcAft>
                <a:spcPts val="200"/>
              </a:spcAft>
            </a:pPr>
            <a:r>
              <a:rPr lang="en-GB" sz="1000" b="1">
                <a:solidFill>
                  <a:srgbClr val="051C2C"/>
                </a:solidFill>
                <a:latin typeface="Aptos"/>
              </a:rPr>
              <a:t>1 · BESTAND</a:t>
            </a:r>
          </a:p>
        </p:txBody>
      </p:sp>
      <p:sp>
        <p:nvSpPr>
          <p:cNvPr id="9" name="TextBox 8"/>
          <p:cNvSpPr txBox="1"/>
          <p:nvPr/>
        </p:nvSpPr>
        <p:spPr>
          <a:xfrm>
            <a:off x="731520" y="2615184"/>
            <a:ext cx="2322576" cy="323165"/>
          </a:xfrm>
          <a:prstGeom prst="rect">
            <a:avLst/>
          </a:prstGeom>
          <a:noFill/>
        </p:spPr>
        <p:txBody>
          <a:bodyPr wrap="square" lIns="0" tIns="0" rIns="0" bIns="0" anchor="t">
            <a:spAutoFit/>
          </a:bodyPr>
          <a:lstStyle/>
          <a:p>
            <a:pPr algn="l">
              <a:spcBef>
                <a:spcPts val="0"/>
              </a:spcBef>
              <a:spcAft>
                <a:spcPts val="200"/>
              </a:spcAft>
            </a:pPr>
            <a:r>
              <a:rPr lang="en-GB" sz="2100" b="1">
                <a:solidFill>
                  <a:srgbClr val="051C2C"/>
                </a:solidFill>
                <a:latin typeface="Aptos Display"/>
              </a:rPr>
              <a:t>180,4 Mrd €</a:t>
            </a:r>
          </a:p>
        </p:txBody>
      </p:sp>
      <p:sp>
        <p:nvSpPr>
          <p:cNvPr id="10" name="TextBox 9"/>
          <p:cNvSpPr txBox="1"/>
          <p:nvPr/>
        </p:nvSpPr>
        <p:spPr>
          <a:xfrm>
            <a:off x="731520" y="3182112"/>
            <a:ext cx="2322576" cy="323165"/>
          </a:xfrm>
          <a:prstGeom prst="rect">
            <a:avLst/>
          </a:prstGeom>
          <a:noFill/>
        </p:spPr>
        <p:txBody>
          <a:bodyPr wrap="square" lIns="0" tIns="0" rIns="0" bIns="0" anchor="t">
            <a:spAutoFit/>
          </a:bodyPr>
          <a:lstStyle/>
          <a:p>
            <a:pPr algn="l">
              <a:spcBef>
                <a:spcPts val="0"/>
              </a:spcBef>
              <a:spcAft>
                <a:spcPts val="200"/>
              </a:spcAft>
            </a:pPr>
            <a:r>
              <a:rPr lang="de-DE" sz="1050" b="0">
                <a:solidFill>
                  <a:srgbClr val="4F6875"/>
                </a:solidFill>
                <a:latin typeface="Aptos"/>
              </a:rPr>
              <a:t>Sovereign-Buch der Deutschen Bank (EBA, Juni 2025)</a:t>
            </a:r>
          </a:p>
        </p:txBody>
      </p:sp>
      <p:sp>
        <p:nvSpPr>
          <p:cNvPr id="11" name="TextBox 10"/>
          <p:cNvSpPr txBox="1"/>
          <p:nvPr/>
        </p:nvSpPr>
        <p:spPr>
          <a:xfrm>
            <a:off x="3236976" y="2651760"/>
            <a:ext cx="182880" cy="246221"/>
          </a:xfrm>
          <a:prstGeom prst="rect">
            <a:avLst/>
          </a:prstGeom>
          <a:noFill/>
        </p:spPr>
        <p:txBody>
          <a:bodyPr wrap="square" lIns="0" tIns="0" rIns="0" bIns="0" anchor="t">
            <a:spAutoFit/>
          </a:bodyPr>
          <a:lstStyle/>
          <a:p>
            <a:pPr algn="ctr">
              <a:spcBef>
                <a:spcPts val="0"/>
              </a:spcBef>
              <a:spcAft>
                <a:spcPts val="200"/>
              </a:spcAft>
            </a:pPr>
            <a:r>
              <a:rPr lang="en-GB" sz="1600" b="0">
                <a:solidFill>
                  <a:srgbClr val="4F6875"/>
                </a:solidFill>
                <a:latin typeface="Aptos"/>
              </a:rPr>
              <a:t>→</a:t>
            </a:r>
          </a:p>
        </p:txBody>
      </p:sp>
      <p:sp>
        <p:nvSpPr>
          <p:cNvPr id="12" name="Rectangle 11"/>
          <p:cNvSpPr/>
          <p:nvPr/>
        </p:nvSpPr>
        <p:spPr>
          <a:xfrm>
            <a:off x="3401568" y="2148840"/>
            <a:ext cx="2688336" cy="1691640"/>
          </a:xfrm>
          <a:prstGeom prst="rect">
            <a:avLst/>
          </a:prstGeom>
          <a:solidFill>
            <a:srgbClr val="FFFFFF"/>
          </a:solidFill>
          <a:ln w="9525">
            <a:solidFill>
              <a:srgbClr val="D9E2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3401568" y="2148840"/>
            <a:ext cx="2688336" cy="82296"/>
          </a:xfrm>
          <a:prstGeom prst="rect">
            <a:avLst/>
          </a:prstGeom>
          <a:solidFill>
            <a:srgbClr val="051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584448" y="2304288"/>
            <a:ext cx="2322576" cy="153888"/>
          </a:xfrm>
          <a:prstGeom prst="rect">
            <a:avLst/>
          </a:prstGeom>
          <a:noFill/>
        </p:spPr>
        <p:txBody>
          <a:bodyPr wrap="square" lIns="0" tIns="0" rIns="0" bIns="0" anchor="t">
            <a:spAutoFit/>
          </a:bodyPr>
          <a:lstStyle/>
          <a:p>
            <a:pPr algn="l">
              <a:spcBef>
                <a:spcPts val="0"/>
              </a:spcBef>
              <a:spcAft>
                <a:spcPts val="200"/>
              </a:spcAft>
            </a:pPr>
            <a:r>
              <a:rPr lang="en-GB" sz="1000" b="1">
                <a:solidFill>
                  <a:srgbClr val="051C2C"/>
                </a:solidFill>
                <a:latin typeface="Aptos"/>
              </a:rPr>
              <a:t>2 · ZINSHEBEL</a:t>
            </a:r>
          </a:p>
        </p:txBody>
      </p:sp>
      <p:sp>
        <p:nvSpPr>
          <p:cNvPr id="15" name="TextBox 14"/>
          <p:cNvSpPr txBox="1"/>
          <p:nvPr/>
        </p:nvSpPr>
        <p:spPr>
          <a:xfrm>
            <a:off x="3584448" y="2615184"/>
            <a:ext cx="2322576" cy="323165"/>
          </a:xfrm>
          <a:prstGeom prst="rect">
            <a:avLst/>
          </a:prstGeom>
          <a:noFill/>
        </p:spPr>
        <p:txBody>
          <a:bodyPr wrap="square" lIns="0" tIns="0" rIns="0" bIns="0" anchor="t">
            <a:spAutoFit/>
          </a:bodyPr>
          <a:lstStyle/>
          <a:p>
            <a:pPr algn="l">
              <a:spcBef>
                <a:spcPts val="0"/>
              </a:spcBef>
              <a:spcAft>
                <a:spcPts val="200"/>
              </a:spcAft>
            </a:pPr>
            <a:r>
              <a:rPr lang="en-GB" sz="2100" b="1">
                <a:solidFill>
                  <a:srgbClr val="051C2C"/>
                </a:solidFill>
                <a:latin typeface="Aptos Display"/>
              </a:rPr>
              <a:t>D = 7,0 J</a:t>
            </a:r>
          </a:p>
        </p:txBody>
      </p:sp>
      <p:sp>
        <p:nvSpPr>
          <p:cNvPr id="16" name="TextBox 15"/>
          <p:cNvSpPr txBox="1"/>
          <p:nvPr/>
        </p:nvSpPr>
        <p:spPr>
          <a:xfrm>
            <a:off x="3584448" y="3182112"/>
            <a:ext cx="2322576" cy="323165"/>
          </a:xfrm>
          <a:prstGeom prst="rect">
            <a:avLst/>
          </a:prstGeom>
          <a:noFill/>
        </p:spPr>
        <p:txBody>
          <a:bodyPr wrap="square" lIns="0" tIns="0" rIns="0" bIns="0" anchor="t">
            <a:spAutoFit/>
          </a:bodyPr>
          <a:lstStyle/>
          <a:p>
            <a:pPr algn="l">
              <a:spcBef>
                <a:spcPts val="0"/>
              </a:spcBef>
              <a:spcAft>
                <a:spcPts val="200"/>
              </a:spcAft>
            </a:pPr>
            <a:r>
              <a:rPr lang="de-DE" sz="1050" b="0">
                <a:solidFill>
                  <a:srgbClr val="4F6875"/>
                </a:solidFill>
                <a:latin typeface="Aptos"/>
              </a:rPr>
              <a:t>gewichtete Duration über alle Laufzeit-Buckets</a:t>
            </a:r>
          </a:p>
        </p:txBody>
      </p:sp>
      <p:sp>
        <p:nvSpPr>
          <p:cNvPr id="17" name="TextBox 16"/>
          <p:cNvSpPr txBox="1"/>
          <p:nvPr/>
        </p:nvSpPr>
        <p:spPr>
          <a:xfrm>
            <a:off x="6089904" y="2651760"/>
            <a:ext cx="182880" cy="246221"/>
          </a:xfrm>
          <a:prstGeom prst="rect">
            <a:avLst/>
          </a:prstGeom>
          <a:noFill/>
        </p:spPr>
        <p:txBody>
          <a:bodyPr wrap="square" lIns="0" tIns="0" rIns="0" bIns="0" anchor="t">
            <a:spAutoFit/>
          </a:bodyPr>
          <a:lstStyle/>
          <a:p>
            <a:pPr algn="ctr">
              <a:spcBef>
                <a:spcPts val="0"/>
              </a:spcBef>
              <a:spcAft>
                <a:spcPts val="200"/>
              </a:spcAft>
            </a:pPr>
            <a:r>
              <a:rPr lang="en-GB" sz="1600" b="0">
                <a:solidFill>
                  <a:srgbClr val="4F6875"/>
                </a:solidFill>
                <a:latin typeface="Aptos"/>
              </a:rPr>
              <a:t>→</a:t>
            </a:r>
          </a:p>
        </p:txBody>
      </p:sp>
      <p:sp>
        <p:nvSpPr>
          <p:cNvPr id="18" name="Rectangle 17"/>
          <p:cNvSpPr/>
          <p:nvPr/>
        </p:nvSpPr>
        <p:spPr>
          <a:xfrm>
            <a:off x="6254496" y="2148840"/>
            <a:ext cx="2688336" cy="1691640"/>
          </a:xfrm>
          <a:prstGeom prst="rect">
            <a:avLst/>
          </a:prstGeom>
          <a:solidFill>
            <a:srgbClr val="FFFFFF"/>
          </a:solidFill>
          <a:ln w="9525">
            <a:solidFill>
              <a:srgbClr val="D9E2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254496" y="2148840"/>
            <a:ext cx="2688336" cy="82296"/>
          </a:xfrm>
          <a:prstGeom prst="rect">
            <a:avLst/>
          </a:prstGeom>
          <a:solidFill>
            <a:srgbClr val="0B5D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437376" y="2304288"/>
            <a:ext cx="2322576" cy="153888"/>
          </a:xfrm>
          <a:prstGeom prst="rect">
            <a:avLst/>
          </a:prstGeom>
          <a:noFill/>
        </p:spPr>
        <p:txBody>
          <a:bodyPr wrap="square" lIns="0" tIns="0" rIns="0" bIns="0" anchor="t">
            <a:spAutoFit/>
          </a:bodyPr>
          <a:lstStyle/>
          <a:p>
            <a:pPr algn="l">
              <a:spcBef>
                <a:spcPts val="0"/>
              </a:spcBef>
              <a:spcAft>
                <a:spcPts val="200"/>
              </a:spcAft>
            </a:pPr>
            <a:r>
              <a:rPr lang="en-GB" sz="1000" b="1">
                <a:solidFill>
                  <a:srgbClr val="0B5D7A"/>
                </a:solidFill>
                <a:latin typeface="Aptos"/>
              </a:rPr>
              <a:t>3 · BRUTTO-MtM</a:t>
            </a:r>
          </a:p>
        </p:txBody>
      </p:sp>
      <p:sp>
        <p:nvSpPr>
          <p:cNvPr id="21" name="TextBox 20"/>
          <p:cNvSpPr txBox="1"/>
          <p:nvPr/>
        </p:nvSpPr>
        <p:spPr>
          <a:xfrm>
            <a:off x="6437376" y="2615184"/>
            <a:ext cx="2322576" cy="323165"/>
          </a:xfrm>
          <a:prstGeom prst="rect">
            <a:avLst/>
          </a:prstGeom>
          <a:noFill/>
        </p:spPr>
        <p:txBody>
          <a:bodyPr wrap="square" lIns="0" tIns="0" rIns="0" bIns="0" anchor="t">
            <a:spAutoFit/>
          </a:bodyPr>
          <a:lstStyle/>
          <a:p>
            <a:pPr algn="l">
              <a:spcBef>
                <a:spcPts val="0"/>
              </a:spcBef>
              <a:spcAft>
                <a:spcPts val="200"/>
              </a:spcAft>
            </a:pPr>
            <a:r>
              <a:rPr lang="en-GB" sz="2100" b="1">
                <a:solidFill>
                  <a:srgbClr val="051C2C"/>
                </a:solidFill>
                <a:latin typeface="Aptos Display"/>
              </a:rPr>
              <a:t>−25,3 Mrd €</a:t>
            </a:r>
          </a:p>
        </p:txBody>
      </p:sp>
      <p:sp>
        <p:nvSpPr>
          <p:cNvPr id="22" name="TextBox 21"/>
          <p:cNvSpPr txBox="1"/>
          <p:nvPr/>
        </p:nvSpPr>
        <p:spPr>
          <a:xfrm>
            <a:off x="6437376" y="3182112"/>
            <a:ext cx="2322576" cy="161583"/>
          </a:xfrm>
          <a:prstGeom prst="rect">
            <a:avLst/>
          </a:prstGeom>
          <a:noFill/>
        </p:spPr>
        <p:txBody>
          <a:bodyPr wrap="square" lIns="0" tIns="0" rIns="0" bIns="0" anchor="t">
            <a:spAutoFit/>
          </a:bodyPr>
          <a:lstStyle/>
          <a:p>
            <a:pPr algn="l">
              <a:spcBef>
                <a:spcPts val="0"/>
              </a:spcBef>
              <a:spcAft>
                <a:spcPts val="200"/>
              </a:spcAft>
            </a:pPr>
            <a:r>
              <a:rPr lang="el-GR" sz="1050" b="0">
                <a:solidFill>
                  <a:srgbClr val="4F6875"/>
                </a:solidFill>
                <a:latin typeface="Aptos"/>
              </a:rPr>
              <a:t>Δ</a:t>
            </a:r>
            <a:r>
              <a:rPr lang="en-GB" sz="1050" b="0">
                <a:solidFill>
                  <a:srgbClr val="4F6875"/>
                </a:solidFill>
                <a:latin typeface="Aptos"/>
              </a:rPr>
              <a:t>FV = −7,0 × 0,02 × 180,4</a:t>
            </a:r>
          </a:p>
        </p:txBody>
      </p:sp>
      <p:sp>
        <p:nvSpPr>
          <p:cNvPr id="23" name="TextBox 22"/>
          <p:cNvSpPr txBox="1"/>
          <p:nvPr/>
        </p:nvSpPr>
        <p:spPr>
          <a:xfrm>
            <a:off x="8942832" y="2651760"/>
            <a:ext cx="182880" cy="246221"/>
          </a:xfrm>
          <a:prstGeom prst="rect">
            <a:avLst/>
          </a:prstGeom>
          <a:noFill/>
        </p:spPr>
        <p:txBody>
          <a:bodyPr wrap="square" lIns="0" tIns="0" rIns="0" bIns="0" anchor="t">
            <a:spAutoFit/>
          </a:bodyPr>
          <a:lstStyle/>
          <a:p>
            <a:pPr algn="ctr">
              <a:spcBef>
                <a:spcPts val="0"/>
              </a:spcBef>
              <a:spcAft>
                <a:spcPts val="200"/>
              </a:spcAft>
            </a:pPr>
            <a:r>
              <a:rPr lang="en-GB" sz="1600" b="0">
                <a:solidFill>
                  <a:srgbClr val="4F6875"/>
                </a:solidFill>
                <a:latin typeface="Aptos"/>
              </a:rPr>
              <a:t>→</a:t>
            </a:r>
          </a:p>
        </p:txBody>
      </p:sp>
      <p:sp>
        <p:nvSpPr>
          <p:cNvPr id="24" name="Rectangle 23"/>
          <p:cNvSpPr/>
          <p:nvPr/>
        </p:nvSpPr>
        <p:spPr>
          <a:xfrm>
            <a:off x="9107424" y="2148840"/>
            <a:ext cx="2688336" cy="1691640"/>
          </a:xfrm>
          <a:prstGeom prst="rect">
            <a:avLst/>
          </a:prstGeom>
          <a:solidFill>
            <a:srgbClr val="FFFFFF"/>
          </a:solidFill>
          <a:ln w="9525">
            <a:solidFill>
              <a:srgbClr val="D9E2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9107424" y="2148840"/>
            <a:ext cx="2688336" cy="82296"/>
          </a:xfrm>
          <a:prstGeom prst="rect">
            <a:avLst/>
          </a:prstGeom>
          <a:solidFill>
            <a:srgbClr val="A52F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290304" y="2304288"/>
            <a:ext cx="2322576" cy="153888"/>
          </a:xfrm>
          <a:prstGeom prst="rect">
            <a:avLst/>
          </a:prstGeom>
          <a:noFill/>
        </p:spPr>
        <p:txBody>
          <a:bodyPr wrap="square" lIns="0" tIns="0" rIns="0" bIns="0" anchor="t">
            <a:spAutoFit/>
          </a:bodyPr>
          <a:lstStyle/>
          <a:p>
            <a:pPr algn="l">
              <a:spcBef>
                <a:spcPts val="0"/>
              </a:spcBef>
              <a:spcAft>
                <a:spcPts val="200"/>
              </a:spcAft>
            </a:pPr>
            <a:r>
              <a:rPr lang="en-GB" sz="1000" b="1">
                <a:solidFill>
                  <a:srgbClr val="A52F4D"/>
                </a:solidFill>
                <a:latin typeface="Aptos"/>
              </a:rPr>
              <a:t>4 · IFRS-9-FILTER</a:t>
            </a:r>
          </a:p>
        </p:txBody>
      </p:sp>
      <p:sp>
        <p:nvSpPr>
          <p:cNvPr id="27" name="TextBox 26"/>
          <p:cNvSpPr txBox="1"/>
          <p:nvPr/>
        </p:nvSpPr>
        <p:spPr>
          <a:xfrm>
            <a:off x="9290304" y="2615184"/>
            <a:ext cx="2322576" cy="323165"/>
          </a:xfrm>
          <a:prstGeom prst="rect">
            <a:avLst/>
          </a:prstGeom>
          <a:noFill/>
        </p:spPr>
        <p:txBody>
          <a:bodyPr wrap="square" lIns="0" tIns="0" rIns="0" bIns="0" anchor="t">
            <a:spAutoFit/>
          </a:bodyPr>
          <a:lstStyle/>
          <a:p>
            <a:pPr algn="l">
              <a:spcBef>
                <a:spcPts val="0"/>
              </a:spcBef>
              <a:spcAft>
                <a:spcPts val="200"/>
              </a:spcAft>
            </a:pPr>
            <a:r>
              <a:rPr lang="en-GB" sz="2100" b="1">
                <a:solidFill>
                  <a:srgbClr val="051C2C"/>
                </a:solidFill>
                <a:latin typeface="Aptos Display"/>
              </a:rPr>
              <a:t>−18,5 Mrd €</a:t>
            </a:r>
          </a:p>
        </p:txBody>
      </p:sp>
      <p:sp>
        <p:nvSpPr>
          <p:cNvPr id="28" name="TextBox 27"/>
          <p:cNvSpPr txBox="1"/>
          <p:nvPr/>
        </p:nvSpPr>
        <p:spPr>
          <a:xfrm>
            <a:off x="9290304" y="3182112"/>
            <a:ext cx="2322576" cy="323165"/>
          </a:xfrm>
          <a:prstGeom prst="rect">
            <a:avLst/>
          </a:prstGeom>
          <a:noFill/>
        </p:spPr>
        <p:txBody>
          <a:bodyPr wrap="square" lIns="0" tIns="0" rIns="0" bIns="0" anchor="t">
            <a:spAutoFit/>
          </a:bodyPr>
          <a:lstStyle/>
          <a:p>
            <a:pPr algn="l">
              <a:spcBef>
                <a:spcPts val="0"/>
              </a:spcBef>
              <a:spcAft>
                <a:spcPts val="200"/>
              </a:spcAft>
            </a:pPr>
            <a:r>
              <a:rPr lang="de-DE" sz="1050" b="0">
                <a:solidFill>
                  <a:srgbClr val="4F6875"/>
                </a:solidFill>
                <a:latin typeface="Aptos"/>
              </a:rPr>
              <a:t>nur HfT + FVOCI wirksam; AC −6,7 bleibt latent</a:t>
            </a:r>
          </a:p>
        </p:txBody>
      </p:sp>
      <p:sp>
        <p:nvSpPr>
          <p:cNvPr id="29" name="Rectangle 28"/>
          <p:cNvSpPr/>
          <p:nvPr/>
        </p:nvSpPr>
        <p:spPr>
          <a:xfrm>
            <a:off x="548640" y="4096512"/>
            <a:ext cx="11109960" cy="1188720"/>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77240" y="4224528"/>
            <a:ext cx="10607040" cy="169277"/>
          </a:xfrm>
          <a:prstGeom prst="rect">
            <a:avLst/>
          </a:prstGeom>
          <a:noFill/>
        </p:spPr>
        <p:txBody>
          <a:bodyPr wrap="square" lIns="0" tIns="0" rIns="0" bIns="0" anchor="t">
            <a:spAutoFit/>
          </a:bodyPr>
          <a:lstStyle/>
          <a:p>
            <a:pPr algn="l">
              <a:spcBef>
                <a:spcPts val="0"/>
              </a:spcBef>
              <a:spcAft>
                <a:spcPts val="200"/>
              </a:spcAft>
            </a:pPr>
            <a:r>
              <a:rPr lang="de-DE" sz="1100" b="1">
                <a:solidFill>
                  <a:srgbClr val="051C2C"/>
                </a:solidFill>
                <a:latin typeface="Aptos"/>
              </a:rPr>
              <a:t>DREI LEHREN AUS DEM WORKED EXAMPLE</a:t>
            </a:r>
          </a:p>
        </p:txBody>
      </p:sp>
      <p:sp>
        <p:nvSpPr>
          <p:cNvPr id="31" name="TextBox 30"/>
          <p:cNvSpPr txBox="1"/>
          <p:nvPr/>
        </p:nvSpPr>
        <p:spPr>
          <a:xfrm>
            <a:off x="777240" y="4553712"/>
            <a:ext cx="10374236" cy="338554"/>
          </a:xfrm>
          <a:prstGeom prst="rect">
            <a:avLst/>
          </a:prstGeom>
          <a:noFill/>
        </p:spPr>
        <p:txBody>
          <a:bodyPr wrap="square" lIns="0" tIns="0" rIns="0" bIns="0" anchor="t">
            <a:spAutoFit/>
          </a:bodyPr>
          <a:lstStyle/>
          <a:p>
            <a:pPr algn="l">
              <a:spcBef>
                <a:spcPts val="0"/>
              </a:spcBef>
              <a:spcAft>
                <a:spcPts val="200"/>
              </a:spcAft>
            </a:pPr>
            <a:r>
              <a:rPr lang="de-DE" sz="1100" b="1">
                <a:solidFill>
                  <a:srgbClr val="A52F4D"/>
                </a:solidFill>
                <a:latin typeface="Aptos"/>
              </a:rPr>
              <a:t>1  </a:t>
            </a:r>
            <a:r>
              <a:rPr lang="de-DE" sz="1100" b="0">
                <a:solidFill>
                  <a:srgbClr val="051C2C"/>
                </a:solidFill>
                <a:latin typeface="Aptos"/>
              </a:rPr>
              <a:t>Der </a:t>
            </a:r>
            <a:r>
              <a:rPr lang="de-DE" sz="1100" b="0" err="1">
                <a:solidFill>
                  <a:srgbClr val="051C2C"/>
                </a:solidFill>
                <a:latin typeface="Aptos"/>
              </a:rPr>
              <a:t>Zinsschock</a:t>
            </a:r>
            <a:r>
              <a:rPr lang="de-DE" sz="1100" b="0">
                <a:solidFill>
                  <a:srgbClr val="051C2C"/>
                </a:solidFill>
                <a:latin typeface="Aptos"/>
              </a:rPr>
              <a:t> </a:t>
            </a:r>
            <a:r>
              <a:rPr lang="de-DE" sz="1100" b="0" err="1">
                <a:solidFill>
                  <a:srgbClr val="051C2C"/>
                </a:solidFill>
                <a:latin typeface="Aptos"/>
              </a:rPr>
              <a:t>erzeugt</a:t>
            </a:r>
            <a:r>
              <a:rPr lang="de-DE" sz="1100" b="0">
                <a:solidFill>
                  <a:srgbClr val="051C2C"/>
                </a:solidFill>
                <a:latin typeface="Aptos"/>
              </a:rPr>
              <a:t> für alle Bonds </a:t>
            </a:r>
            <a:r>
              <a:rPr lang="de-DE" sz="1100" b="0" err="1">
                <a:solidFill>
                  <a:srgbClr val="051C2C"/>
                </a:solidFill>
                <a:latin typeface="Aptos"/>
              </a:rPr>
              <a:t>Verlust</a:t>
            </a:r>
            <a:r>
              <a:rPr lang="de-DE" sz="1100" b="0">
                <a:solidFill>
                  <a:srgbClr val="051C2C"/>
                </a:solidFill>
                <a:latin typeface="Aptos"/>
              </a:rPr>
              <a:t> – </a:t>
            </a:r>
            <a:r>
              <a:rPr lang="de-DE" sz="1100" b="1" err="1">
                <a:solidFill>
                  <a:srgbClr val="051C2C"/>
                </a:solidFill>
                <a:latin typeface="Aptos"/>
              </a:rPr>
              <a:t>aber</a:t>
            </a:r>
            <a:r>
              <a:rPr lang="de-DE" sz="1100" b="1">
                <a:solidFill>
                  <a:srgbClr val="051C2C"/>
                </a:solidFill>
                <a:latin typeface="Aptos"/>
              </a:rPr>
              <a:t> </a:t>
            </a:r>
            <a:r>
              <a:rPr lang="de-DE" sz="1100" b="1" err="1">
                <a:solidFill>
                  <a:srgbClr val="051C2C"/>
                </a:solidFill>
                <a:latin typeface="Aptos"/>
              </a:rPr>
              <a:t>nur</a:t>
            </a:r>
            <a:r>
              <a:rPr lang="de-DE" sz="1100" b="1">
                <a:solidFill>
                  <a:srgbClr val="051C2C"/>
                </a:solidFill>
                <a:latin typeface="Aptos"/>
              </a:rPr>
              <a:t> der </a:t>
            </a:r>
            <a:r>
              <a:rPr lang="de-DE" sz="1100" b="1" err="1">
                <a:solidFill>
                  <a:srgbClr val="051C2C"/>
                </a:solidFill>
                <a:latin typeface="Aptos"/>
              </a:rPr>
              <a:t>marktbewertete</a:t>
            </a:r>
            <a:r>
              <a:rPr lang="de-DE" sz="1100" b="1">
                <a:solidFill>
                  <a:srgbClr val="051C2C"/>
                </a:solidFill>
                <a:latin typeface="Aptos"/>
              </a:rPr>
              <a:t> Teil (73 %) </a:t>
            </a:r>
            <a:r>
              <a:rPr lang="de-DE" sz="1100" b="1" err="1">
                <a:solidFill>
                  <a:srgbClr val="051C2C"/>
                </a:solidFill>
                <a:latin typeface="Aptos"/>
              </a:rPr>
              <a:t>trifft</a:t>
            </a:r>
            <a:r>
              <a:rPr lang="de-DE" sz="1100" b="1">
                <a:solidFill>
                  <a:srgbClr val="051C2C"/>
                </a:solidFill>
                <a:latin typeface="Aptos"/>
              </a:rPr>
              <a:t> CET1 </a:t>
            </a:r>
            <a:r>
              <a:rPr lang="de-DE" sz="1100" b="1" err="1">
                <a:solidFill>
                  <a:srgbClr val="051C2C"/>
                </a:solidFill>
                <a:latin typeface="Aptos"/>
              </a:rPr>
              <a:t>sofort</a:t>
            </a:r>
            <a:r>
              <a:rPr lang="de-DE" sz="1100" b="1">
                <a:solidFill>
                  <a:srgbClr val="051C2C"/>
                </a:solidFill>
                <a:latin typeface="Aptos"/>
              </a:rPr>
              <a:t>.   </a:t>
            </a:r>
            <a:r>
              <a:rPr lang="de-DE" sz="1100" b="1">
                <a:solidFill>
                  <a:srgbClr val="A52F4D"/>
                </a:solidFill>
                <a:latin typeface="Aptos"/>
              </a:rPr>
              <a:t>2  </a:t>
            </a:r>
            <a:r>
              <a:rPr lang="de-DE" sz="1100" b="0">
                <a:solidFill>
                  <a:srgbClr val="051C2C"/>
                </a:solidFill>
                <a:latin typeface="Aptos"/>
              </a:rPr>
              <a:t>Die −18,5 </a:t>
            </a:r>
            <a:r>
              <a:rPr lang="de-DE" sz="1100" b="0" err="1">
                <a:solidFill>
                  <a:srgbClr val="051C2C"/>
                </a:solidFill>
                <a:latin typeface="Aptos"/>
              </a:rPr>
              <a:t>Mrd</a:t>
            </a:r>
            <a:r>
              <a:rPr lang="de-DE" sz="1100" b="0">
                <a:solidFill>
                  <a:srgbClr val="051C2C"/>
                </a:solidFill>
                <a:latin typeface="Aptos"/>
              </a:rPr>
              <a:t> € </a:t>
            </a:r>
            <a:r>
              <a:rPr lang="de-DE" sz="1100" b="0" err="1">
                <a:solidFill>
                  <a:srgbClr val="051C2C"/>
                </a:solidFill>
                <a:latin typeface="Aptos"/>
              </a:rPr>
              <a:t>sind</a:t>
            </a:r>
            <a:r>
              <a:rPr lang="de-DE" sz="1100" b="0">
                <a:solidFill>
                  <a:srgbClr val="051C2C"/>
                </a:solidFill>
                <a:latin typeface="Aptos"/>
              </a:rPr>
              <a:t> </a:t>
            </a:r>
            <a:r>
              <a:rPr lang="de-DE" sz="1100" b="0" err="1">
                <a:solidFill>
                  <a:srgbClr val="051C2C"/>
                </a:solidFill>
                <a:latin typeface="Aptos"/>
              </a:rPr>
              <a:t>brutto</a:t>
            </a:r>
            <a:r>
              <a:rPr lang="de-DE" sz="1100" b="0">
                <a:solidFill>
                  <a:srgbClr val="051C2C"/>
                </a:solidFill>
                <a:latin typeface="Aptos"/>
              </a:rPr>
              <a:t>/</a:t>
            </a:r>
            <a:r>
              <a:rPr lang="de-DE" sz="1100" b="0" err="1">
                <a:solidFill>
                  <a:srgbClr val="051C2C"/>
                </a:solidFill>
                <a:latin typeface="Aptos"/>
              </a:rPr>
              <a:t>ungehedged</a:t>
            </a:r>
            <a:r>
              <a:rPr lang="de-DE" sz="1100" b="0">
                <a:solidFill>
                  <a:srgbClr val="051C2C"/>
                </a:solidFill>
                <a:latin typeface="Aptos"/>
              </a:rPr>
              <a:t> </a:t>
            </a:r>
            <a:r>
              <a:rPr lang="de-DE" sz="1100" b="0" err="1">
                <a:solidFill>
                  <a:srgbClr val="051C2C"/>
                </a:solidFill>
                <a:latin typeface="Aptos"/>
              </a:rPr>
              <a:t>eine</a:t>
            </a:r>
            <a:r>
              <a:rPr lang="de-DE" sz="1100" b="0">
                <a:solidFill>
                  <a:srgbClr val="051C2C"/>
                </a:solidFill>
                <a:latin typeface="Aptos"/>
              </a:rPr>
              <a:t> </a:t>
            </a:r>
            <a:r>
              <a:rPr lang="de-DE" sz="1100" b="0" err="1">
                <a:solidFill>
                  <a:srgbClr val="051C2C"/>
                </a:solidFill>
                <a:latin typeface="Aptos"/>
              </a:rPr>
              <a:t>Obergrenze</a:t>
            </a:r>
            <a:r>
              <a:rPr lang="de-DE" sz="1100" b="0">
                <a:solidFill>
                  <a:srgbClr val="051C2C"/>
                </a:solidFill>
                <a:latin typeface="Aptos"/>
              </a:rPr>
              <a:t>.   </a:t>
            </a:r>
            <a:r>
              <a:rPr lang="de-DE" sz="1100" b="1">
                <a:solidFill>
                  <a:srgbClr val="A52F4D"/>
                </a:solidFill>
                <a:latin typeface="Aptos"/>
              </a:rPr>
              <a:t>3  </a:t>
            </a:r>
            <a:r>
              <a:rPr lang="de-DE" sz="1100" b="0">
                <a:solidFill>
                  <a:srgbClr val="051C2C"/>
                </a:solidFill>
                <a:latin typeface="Aptos"/>
              </a:rPr>
              <a:t>−6,7 </a:t>
            </a:r>
            <a:r>
              <a:rPr lang="de-DE" sz="1100" b="0" err="1">
                <a:solidFill>
                  <a:srgbClr val="051C2C"/>
                </a:solidFill>
                <a:latin typeface="Aptos"/>
              </a:rPr>
              <a:t>Mrd</a:t>
            </a:r>
            <a:r>
              <a:rPr lang="de-DE" sz="1100" b="0">
                <a:solidFill>
                  <a:srgbClr val="051C2C"/>
                </a:solidFill>
                <a:latin typeface="Aptos"/>
              </a:rPr>
              <a:t> € AC </a:t>
            </a:r>
            <a:r>
              <a:rPr lang="de-DE" sz="1100" b="0" err="1">
                <a:solidFill>
                  <a:srgbClr val="051C2C"/>
                </a:solidFill>
                <a:latin typeface="Aptos"/>
              </a:rPr>
              <a:t>bleiben</a:t>
            </a:r>
            <a:r>
              <a:rPr lang="de-DE" sz="1100" b="0">
                <a:solidFill>
                  <a:srgbClr val="051C2C"/>
                </a:solidFill>
                <a:latin typeface="Aptos"/>
              </a:rPr>
              <a:t> latent (SVB-</a:t>
            </a:r>
            <a:r>
              <a:rPr lang="de-DE" sz="1100" b="0" err="1">
                <a:solidFill>
                  <a:srgbClr val="051C2C"/>
                </a:solidFill>
                <a:latin typeface="Aptos"/>
              </a:rPr>
              <a:t>Lektion</a:t>
            </a:r>
            <a:r>
              <a:rPr lang="de-DE" sz="1100" b="0">
                <a:solidFill>
                  <a:srgbClr val="051C2C"/>
                </a:solidFill>
                <a:latin typeface="Aptos"/>
              </a:rPr>
              <a:t>): der </a:t>
            </a:r>
            <a:r>
              <a:rPr lang="de-DE" sz="1100" b="0" err="1">
                <a:solidFill>
                  <a:srgbClr val="051C2C"/>
                </a:solidFill>
                <a:latin typeface="Aptos"/>
              </a:rPr>
              <a:t>ausgewiesene</a:t>
            </a:r>
            <a:r>
              <a:rPr lang="de-DE" sz="1100" b="0">
                <a:solidFill>
                  <a:srgbClr val="051C2C"/>
                </a:solidFill>
                <a:latin typeface="Aptos"/>
              </a:rPr>
              <a:t> Treffer </a:t>
            </a:r>
            <a:r>
              <a:rPr lang="de-DE" sz="1100" b="0" err="1">
                <a:solidFill>
                  <a:srgbClr val="051C2C"/>
                </a:solidFill>
                <a:latin typeface="Aptos"/>
              </a:rPr>
              <a:t>ist</a:t>
            </a:r>
            <a:r>
              <a:rPr lang="de-DE" sz="1100" b="0">
                <a:solidFill>
                  <a:srgbClr val="051C2C"/>
                </a:solidFill>
                <a:latin typeface="Aptos"/>
              </a:rPr>
              <a:t> </a:t>
            </a:r>
            <a:r>
              <a:rPr lang="de-DE" sz="1100" b="0" err="1">
                <a:solidFill>
                  <a:srgbClr val="051C2C"/>
                </a:solidFill>
                <a:latin typeface="Aptos"/>
              </a:rPr>
              <a:t>eine</a:t>
            </a:r>
            <a:r>
              <a:rPr lang="de-DE" sz="1100" b="0">
                <a:solidFill>
                  <a:srgbClr val="051C2C"/>
                </a:solidFill>
                <a:latin typeface="Aptos"/>
              </a:rPr>
              <a:t> </a:t>
            </a:r>
            <a:r>
              <a:rPr lang="de-DE" sz="1100" b="0" err="1">
                <a:solidFill>
                  <a:srgbClr val="051C2C"/>
                </a:solidFill>
                <a:latin typeface="Aptos"/>
              </a:rPr>
              <a:t>Untergrenze</a:t>
            </a:r>
            <a:r>
              <a:rPr lang="de-DE" sz="1100" b="0">
                <a:solidFill>
                  <a:srgbClr val="051C2C"/>
                </a:solidFill>
                <a:latin typeface="Aptos"/>
              </a:rPr>
              <a:t> des </a:t>
            </a:r>
            <a:r>
              <a:rPr lang="de-DE" sz="1100" b="0" err="1">
                <a:solidFill>
                  <a:srgbClr val="051C2C"/>
                </a:solidFill>
                <a:latin typeface="Aptos"/>
              </a:rPr>
              <a:t>ökonomischen</a:t>
            </a:r>
            <a:r>
              <a:rPr lang="de-DE" sz="1100" b="0">
                <a:solidFill>
                  <a:srgbClr val="051C2C"/>
                </a:solidFill>
                <a:latin typeface="Aptos"/>
              </a:rPr>
              <a:t> </a:t>
            </a:r>
            <a:r>
              <a:rPr lang="de-DE" sz="1100" b="0" err="1">
                <a:solidFill>
                  <a:srgbClr val="051C2C"/>
                </a:solidFill>
                <a:latin typeface="Aptos"/>
              </a:rPr>
              <a:t>Risikos</a:t>
            </a:r>
            <a:r>
              <a:rPr lang="de-DE" sz="1100" b="0">
                <a:solidFill>
                  <a:srgbClr val="051C2C"/>
                </a:solidFill>
                <a:latin typeface="Aptos"/>
              </a:rPr>
              <a:t>.</a:t>
            </a:r>
          </a:p>
        </p:txBody>
      </p:sp>
      <p:sp>
        <p:nvSpPr>
          <p:cNvPr id="32" name="TextBox 31"/>
          <p:cNvSpPr txBox="1"/>
          <p:nvPr/>
        </p:nvSpPr>
        <p:spPr>
          <a:xfrm>
            <a:off x="457200" y="6519672"/>
            <a:ext cx="7315200" cy="138499"/>
          </a:xfrm>
          <a:prstGeom prst="rect">
            <a:avLst/>
          </a:prstGeom>
          <a:noFill/>
        </p:spPr>
        <p:txBody>
          <a:bodyPr wrap="square" lIns="0" tIns="0" rIns="0" bIns="0" anchor="t">
            <a:spAutoFit/>
          </a:bodyPr>
          <a:lstStyle/>
          <a:p>
            <a:pPr algn="l">
              <a:spcBef>
                <a:spcPts val="0"/>
              </a:spcBef>
              <a:spcAft>
                <a:spcPts val="200"/>
              </a:spcAft>
            </a:pPr>
            <a:r>
              <a:rPr lang="en-GB" sz="900" b="0">
                <a:solidFill>
                  <a:srgbClr val="71858F"/>
                </a:solidFill>
                <a:latin typeface="Aptos"/>
              </a:rPr>
              <a:t>Marktbuch · Sovereign / Rate Channel</a:t>
            </a:r>
          </a:p>
        </p:txBody>
      </p:sp>
      <p:sp>
        <p:nvSpPr>
          <p:cNvPr id="33" name="CodexSlideNumber">
            <a:extLst>
              <a:ext uri="{FF2B5EF4-FFF2-40B4-BE49-F238E27FC236}">
                <a16:creationId xmlns:a16="http://schemas.microsoft.com/office/drawing/2014/main" id="{14EE986B-B9FB-9989-678F-E81861D6EE48}"/>
              </a:ext>
            </a:extLst>
          </p:cNvPr>
          <p:cNvSpPr txBox="1"/>
          <p:nvPr/>
        </p:nvSpPr>
        <p:spPr>
          <a:xfrm>
            <a:off x="11226800" y="6553200"/>
            <a:ext cx="736600" cy="123111"/>
          </a:xfrm>
          <a:prstGeom prst="rect">
            <a:avLst/>
          </a:prstGeom>
          <a:noFill/>
        </p:spPr>
        <p:txBody>
          <a:bodyPr vert="horz" lIns="0" tIns="0" rIns="0" bIns="0" rtlCol="0">
            <a:spAutoFit/>
          </a:bodyPr>
          <a:lstStyle/>
          <a:p>
            <a:pPr algn="r"/>
            <a:r>
              <a:rPr lang="en-US" sz="800">
                <a:solidFill>
                  <a:srgbClr val="525252"/>
                </a:solidFill>
                <a:latin typeface="Arial" panose="020B0604020202020204" pitchFamily="34" charset="0"/>
              </a:rPr>
              <a:t>39 / 64</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18871"/>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84048"/>
            <a:ext cx="11155680" cy="132793"/>
          </a:xfrm>
          <a:prstGeom prst="rect">
            <a:avLst/>
          </a:prstGeom>
          <a:noFill/>
        </p:spPr>
        <p:txBody>
          <a:bodyPr wrap="square" lIns="0" tIns="0" rIns="0" bIns="0" anchor="t">
            <a:spAutoFit/>
          </a:bodyPr>
          <a:lstStyle/>
          <a:p>
            <a:pPr>
              <a:spcBef>
                <a:spcPts val="0"/>
              </a:spcBef>
              <a:spcAft>
                <a:spcPts val="200"/>
              </a:spcAft>
            </a:pPr>
            <a:r>
              <a:rPr lang="de-DE" sz="863" b="1" dirty="0">
                <a:solidFill>
                  <a:schemeClr val="tx2"/>
                </a:solidFill>
                <a:latin typeface="Aptos"/>
              </a:rPr>
              <a:t>BANK-DRILLDOWN · DEUTSCHE BANK · SNAPSHOT +2,00 PP</a:t>
            </a:r>
          </a:p>
        </p:txBody>
      </p:sp>
      <p:sp>
        <p:nvSpPr>
          <p:cNvPr id="4" name="TextBox 3"/>
          <p:cNvSpPr txBox="1"/>
          <p:nvPr/>
        </p:nvSpPr>
        <p:spPr>
          <a:xfrm>
            <a:off x="548640" y="658368"/>
            <a:ext cx="11155680" cy="380873"/>
          </a:xfrm>
          <a:prstGeom prst="rect">
            <a:avLst/>
          </a:prstGeom>
          <a:noFill/>
        </p:spPr>
        <p:txBody>
          <a:bodyPr wrap="square" lIns="0" tIns="0" rIns="0" bIns="0" anchor="t">
            <a:spAutoFit/>
          </a:bodyPr>
          <a:lstStyle/>
          <a:p>
            <a:pPr algn="l">
              <a:spcBef>
                <a:spcPts val="0"/>
              </a:spcBef>
              <a:spcAft>
                <a:spcPts val="200"/>
              </a:spcAft>
            </a:pPr>
            <a:r>
              <a:rPr lang="de-DE" sz="2475" b="1">
                <a:solidFill>
                  <a:srgbClr val="051C2C"/>
                </a:solidFill>
                <a:latin typeface="Aptos Display"/>
              </a:rPr>
              <a:t>Laufzeitprofil und CET1-Wirkung je Klasse auf einen Blick</a:t>
            </a:r>
          </a:p>
        </p:txBody>
      </p:sp>
      <p:sp>
        <p:nvSpPr>
          <p:cNvPr id="5" name="TextBox 4"/>
          <p:cNvSpPr txBox="1"/>
          <p:nvPr/>
        </p:nvSpPr>
        <p:spPr>
          <a:xfrm>
            <a:off x="548640" y="1627632"/>
            <a:ext cx="3657600" cy="169277"/>
          </a:xfrm>
          <a:prstGeom prst="rect">
            <a:avLst/>
          </a:prstGeom>
          <a:noFill/>
        </p:spPr>
        <p:txBody>
          <a:bodyPr wrap="square" lIns="0" tIns="0" rIns="0" bIns="0" anchor="t">
            <a:spAutoFit/>
          </a:bodyPr>
          <a:lstStyle/>
          <a:p>
            <a:pPr algn="l">
              <a:spcBef>
                <a:spcPts val="0"/>
              </a:spcBef>
              <a:spcAft>
                <a:spcPts val="200"/>
              </a:spcAft>
            </a:pPr>
            <a:r>
              <a:rPr lang="en-GB" sz="1100" b="1">
                <a:solidFill>
                  <a:srgbClr val="051C2C"/>
                </a:solidFill>
                <a:latin typeface="Aptos"/>
              </a:rPr>
              <a:t>LAUFZEITPROFIL DEUTSCHE BANK</a:t>
            </a:r>
          </a:p>
        </p:txBody>
      </p:sp>
      <p:sp>
        <p:nvSpPr>
          <p:cNvPr id="6" name="Rectangle 5"/>
          <p:cNvSpPr/>
          <p:nvPr/>
        </p:nvSpPr>
        <p:spPr>
          <a:xfrm>
            <a:off x="1508760" y="2011680"/>
            <a:ext cx="744931" cy="182880"/>
          </a:xfrm>
          <a:prstGeom prst="rect">
            <a:avLst/>
          </a:prstGeom>
          <a:solidFill>
            <a:srgbClr val="0B5D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1993392"/>
            <a:ext cx="914400" cy="138499"/>
          </a:xfrm>
          <a:prstGeom prst="rect">
            <a:avLst/>
          </a:prstGeom>
          <a:noFill/>
        </p:spPr>
        <p:txBody>
          <a:bodyPr wrap="square" lIns="0" tIns="0" rIns="0" bIns="0" anchor="t">
            <a:spAutoFit/>
          </a:bodyPr>
          <a:lstStyle/>
          <a:p>
            <a:pPr algn="l">
              <a:spcBef>
                <a:spcPts val="0"/>
              </a:spcBef>
              <a:spcAft>
                <a:spcPts val="200"/>
              </a:spcAft>
            </a:pPr>
            <a:r>
              <a:rPr lang="en-GB" sz="900" b="0">
                <a:solidFill>
                  <a:srgbClr val="4F6875"/>
                </a:solidFill>
                <a:latin typeface="Aptos"/>
              </a:rPr>
              <a:t>&lt;3M</a:t>
            </a:r>
          </a:p>
        </p:txBody>
      </p:sp>
      <p:sp>
        <p:nvSpPr>
          <p:cNvPr id="8" name="TextBox 7"/>
          <p:cNvSpPr txBox="1"/>
          <p:nvPr/>
        </p:nvSpPr>
        <p:spPr>
          <a:xfrm>
            <a:off x="2308555" y="1993392"/>
            <a:ext cx="640080" cy="138499"/>
          </a:xfrm>
          <a:prstGeom prst="rect">
            <a:avLst/>
          </a:prstGeom>
          <a:noFill/>
        </p:spPr>
        <p:txBody>
          <a:bodyPr wrap="square" lIns="0" tIns="0" rIns="0" bIns="0" anchor="t">
            <a:spAutoFit/>
          </a:bodyPr>
          <a:lstStyle/>
          <a:p>
            <a:pPr algn="l">
              <a:spcBef>
                <a:spcPts val="0"/>
              </a:spcBef>
              <a:spcAft>
                <a:spcPts val="200"/>
              </a:spcAft>
            </a:pPr>
            <a:r>
              <a:rPr lang="en-GB" sz="900" b="1">
                <a:solidFill>
                  <a:srgbClr val="051C2C"/>
                </a:solidFill>
                <a:latin typeface="Aptos"/>
              </a:rPr>
              <a:t>19</a:t>
            </a:r>
          </a:p>
        </p:txBody>
      </p:sp>
      <p:sp>
        <p:nvSpPr>
          <p:cNvPr id="9" name="Rectangle 8"/>
          <p:cNvSpPr/>
          <p:nvPr/>
        </p:nvSpPr>
        <p:spPr>
          <a:xfrm>
            <a:off x="1508760" y="2322576"/>
            <a:ext cx="483412" cy="182880"/>
          </a:xfrm>
          <a:prstGeom prst="rect">
            <a:avLst/>
          </a:prstGeom>
          <a:solidFill>
            <a:srgbClr val="0B5D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48640" y="2304288"/>
            <a:ext cx="914400" cy="138499"/>
          </a:xfrm>
          <a:prstGeom prst="rect">
            <a:avLst/>
          </a:prstGeom>
          <a:noFill/>
        </p:spPr>
        <p:txBody>
          <a:bodyPr wrap="square" lIns="0" tIns="0" rIns="0" bIns="0" anchor="t">
            <a:spAutoFit/>
          </a:bodyPr>
          <a:lstStyle/>
          <a:p>
            <a:pPr algn="l">
              <a:spcBef>
                <a:spcPts val="0"/>
              </a:spcBef>
              <a:spcAft>
                <a:spcPts val="200"/>
              </a:spcAft>
            </a:pPr>
            <a:r>
              <a:rPr lang="en-GB" sz="900" b="0">
                <a:solidFill>
                  <a:srgbClr val="4F6875"/>
                </a:solidFill>
                <a:latin typeface="Aptos"/>
              </a:rPr>
              <a:t>3M–1J</a:t>
            </a:r>
          </a:p>
        </p:txBody>
      </p:sp>
      <p:sp>
        <p:nvSpPr>
          <p:cNvPr id="11" name="TextBox 10"/>
          <p:cNvSpPr txBox="1"/>
          <p:nvPr/>
        </p:nvSpPr>
        <p:spPr>
          <a:xfrm>
            <a:off x="2047036" y="2304288"/>
            <a:ext cx="640080" cy="138499"/>
          </a:xfrm>
          <a:prstGeom prst="rect">
            <a:avLst/>
          </a:prstGeom>
          <a:noFill/>
        </p:spPr>
        <p:txBody>
          <a:bodyPr wrap="square" lIns="0" tIns="0" rIns="0" bIns="0" anchor="t">
            <a:spAutoFit/>
          </a:bodyPr>
          <a:lstStyle/>
          <a:p>
            <a:pPr algn="l">
              <a:spcBef>
                <a:spcPts val="0"/>
              </a:spcBef>
              <a:spcAft>
                <a:spcPts val="200"/>
              </a:spcAft>
            </a:pPr>
            <a:r>
              <a:rPr lang="en-GB" sz="900" b="1">
                <a:solidFill>
                  <a:srgbClr val="051C2C"/>
                </a:solidFill>
                <a:latin typeface="Aptos"/>
              </a:rPr>
              <a:t>12</a:t>
            </a:r>
          </a:p>
        </p:txBody>
      </p:sp>
      <p:sp>
        <p:nvSpPr>
          <p:cNvPr id="12" name="Rectangle 11"/>
          <p:cNvSpPr/>
          <p:nvPr/>
        </p:nvSpPr>
        <p:spPr>
          <a:xfrm>
            <a:off x="1508760" y="2633472"/>
            <a:ext cx="538886" cy="182880"/>
          </a:xfrm>
          <a:prstGeom prst="rect">
            <a:avLst/>
          </a:prstGeom>
          <a:solidFill>
            <a:srgbClr val="0B5D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48640" y="2615184"/>
            <a:ext cx="914400" cy="138499"/>
          </a:xfrm>
          <a:prstGeom prst="rect">
            <a:avLst/>
          </a:prstGeom>
          <a:noFill/>
        </p:spPr>
        <p:txBody>
          <a:bodyPr wrap="square" lIns="0" tIns="0" rIns="0" bIns="0" anchor="t">
            <a:spAutoFit/>
          </a:bodyPr>
          <a:lstStyle/>
          <a:p>
            <a:pPr algn="l">
              <a:spcBef>
                <a:spcPts val="0"/>
              </a:spcBef>
              <a:spcAft>
                <a:spcPts val="200"/>
              </a:spcAft>
            </a:pPr>
            <a:r>
              <a:rPr lang="en-GB" sz="900" b="0">
                <a:solidFill>
                  <a:srgbClr val="4F6875"/>
                </a:solidFill>
                <a:latin typeface="Aptos"/>
              </a:rPr>
              <a:t>1–2J</a:t>
            </a:r>
          </a:p>
        </p:txBody>
      </p:sp>
      <p:sp>
        <p:nvSpPr>
          <p:cNvPr id="14" name="TextBox 13"/>
          <p:cNvSpPr txBox="1"/>
          <p:nvPr/>
        </p:nvSpPr>
        <p:spPr>
          <a:xfrm>
            <a:off x="2102510" y="2615184"/>
            <a:ext cx="640080" cy="138499"/>
          </a:xfrm>
          <a:prstGeom prst="rect">
            <a:avLst/>
          </a:prstGeom>
          <a:noFill/>
        </p:spPr>
        <p:txBody>
          <a:bodyPr wrap="square" lIns="0" tIns="0" rIns="0" bIns="0" anchor="t">
            <a:spAutoFit/>
          </a:bodyPr>
          <a:lstStyle/>
          <a:p>
            <a:pPr algn="l">
              <a:spcBef>
                <a:spcPts val="0"/>
              </a:spcBef>
              <a:spcAft>
                <a:spcPts val="200"/>
              </a:spcAft>
            </a:pPr>
            <a:r>
              <a:rPr lang="en-GB" sz="900" b="1">
                <a:solidFill>
                  <a:srgbClr val="051C2C"/>
                </a:solidFill>
                <a:latin typeface="Aptos"/>
              </a:rPr>
              <a:t>14</a:t>
            </a:r>
          </a:p>
        </p:txBody>
      </p:sp>
      <p:sp>
        <p:nvSpPr>
          <p:cNvPr id="15" name="Rectangle 14"/>
          <p:cNvSpPr/>
          <p:nvPr/>
        </p:nvSpPr>
        <p:spPr>
          <a:xfrm>
            <a:off x="1508760" y="2944368"/>
            <a:ext cx="455676" cy="182880"/>
          </a:xfrm>
          <a:prstGeom prst="rect">
            <a:avLst/>
          </a:prstGeom>
          <a:solidFill>
            <a:srgbClr val="0B5D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48640" y="2926079"/>
            <a:ext cx="914400" cy="138499"/>
          </a:xfrm>
          <a:prstGeom prst="rect">
            <a:avLst/>
          </a:prstGeom>
          <a:noFill/>
        </p:spPr>
        <p:txBody>
          <a:bodyPr wrap="square" lIns="0" tIns="0" rIns="0" bIns="0" anchor="t">
            <a:spAutoFit/>
          </a:bodyPr>
          <a:lstStyle/>
          <a:p>
            <a:pPr algn="l">
              <a:spcBef>
                <a:spcPts val="0"/>
              </a:spcBef>
              <a:spcAft>
                <a:spcPts val="200"/>
              </a:spcAft>
            </a:pPr>
            <a:r>
              <a:rPr lang="en-GB" sz="900" b="0">
                <a:solidFill>
                  <a:srgbClr val="4F6875"/>
                </a:solidFill>
                <a:latin typeface="Aptos"/>
              </a:rPr>
              <a:t>2–3J</a:t>
            </a:r>
          </a:p>
        </p:txBody>
      </p:sp>
      <p:sp>
        <p:nvSpPr>
          <p:cNvPr id="17" name="TextBox 16"/>
          <p:cNvSpPr txBox="1"/>
          <p:nvPr/>
        </p:nvSpPr>
        <p:spPr>
          <a:xfrm>
            <a:off x="2019300" y="2926079"/>
            <a:ext cx="640080" cy="138499"/>
          </a:xfrm>
          <a:prstGeom prst="rect">
            <a:avLst/>
          </a:prstGeom>
          <a:noFill/>
        </p:spPr>
        <p:txBody>
          <a:bodyPr wrap="square" lIns="0" tIns="0" rIns="0" bIns="0" anchor="t">
            <a:spAutoFit/>
          </a:bodyPr>
          <a:lstStyle/>
          <a:p>
            <a:pPr algn="l">
              <a:spcBef>
                <a:spcPts val="0"/>
              </a:spcBef>
              <a:spcAft>
                <a:spcPts val="200"/>
              </a:spcAft>
            </a:pPr>
            <a:r>
              <a:rPr lang="en-GB" sz="900" b="1">
                <a:solidFill>
                  <a:srgbClr val="051C2C"/>
                </a:solidFill>
                <a:latin typeface="Aptos"/>
              </a:rPr>
              <a:t>12</a:t>
            </a:r>
          </a:p>
        </p:txBody>
      </p:sp>
      <p:sp>
        <p:nvSpPr>
          <p:cNvPr id="18" name="Rectangle 17"/>
          <p:cNvSpPr/>
          <p:nvPr/>
        </p:nvSpPr>
        <p:spPr>
          <a:xfrm>
            <a:off x="1508760" y="3255263"/>
            <a:ext cx="748893" cy="182880"/>
          </a:xfrm>
          <a:prstGeom prst="rect">
            <a:avLst/>
          </a:prstGeom>
          <a:solidFill>
            <a:srgbClr val="0B5D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48640" y="3236975"/>
            <a:ext cx="914400" cy="138499"/>
          </a:xfrm>
          <a:prstGeom prst="rect">
            <a:avLst/>
          </a:prstGeom>
          <a:noFill/>
        </p:spPr>
        <p:txBody>
          <a:bodyPr wrap="square" lIns="0" tIns="0" rIns="0" bIns="0" anchor="t">
            <a:spAutoFit/>
          </a:bodyPr>
          <a:lstStyle/>
          <a:p>
            <a:pPr algn="l">
              <a:spcBef>
                <a:spcPts val="0"/>
              </a:spcBef>
              <a:spcAft>
                <a:spcPts val="200"/>
              </a:spcAft>
            </a:pPr>
            <a:r>
              <a:rPr lang="en-GB" sz="900" b="0">
                <a:solidFill>
                  <a:srgbClr val="4F6875"/>
                </a:solidFill>
                <a:latin typeface="Aptos"/>
              </a:rPr>
              <a:t>3–5J</a:t>
            </a:r>
          </a:p>
        </p:txBody>
      </p:sp>
      <p:sp>
        <p:nvSpPr>
          <p:cNvPr id="20" name="TextBox 19"/>
          <p:cNvSpPr txBox="1"/>
          <p:nvPr/>
        </p:nvSpPr>
        <p:spPr>
          <a:xfrm>
            <a:off x="2312517" y="3236975"/>
            <a:ext cx="640080" cy="138499"/>
          </a:xfrm>
          <a:prstGeom prst="rect">
            <a:avLst/>
          </a:prstGeom>
          <a:noFill/>
        </p:spPr>
        <p:txBody>
          <a:bodyPr wrap="square" lIns="0" tIns="0" rIns="0" bIns="0" anchor="t">
            <a:spAutoFit/>
          </a:bodyPr>
          <a:lstStyle/>
          <a:p>
            <a:pPr algn="l">
              <a:spcBef>
                <a:spcPts val="0"/>
              </a:spcBef>
              <a:spcAft>
                <a:spcPts val="200"/>
              </a:spcAft>
            </a:pPr>
            <a:r>
              <a:rPr lang="en-GB" sz="900" b="1">
                <a:solidFill>
                  <a:srgbClr val="051C2C"/>
                </a:solidFill>
                <a:latin typeface="Aptos"/>
              </a:rPr>
              <a:t>19</a:t>
            </a:r>
          </a:p>
        </p:txBody>
      </p:sp>
      <p:sp>
        <p:nvSpPr>
          <p:cNvPr id="21" name="Rectangle 20"/>
          <p:cNvSpPr/>
          <p:nvPr/>
        </p:nvSpPr>
        <p:spPr>
          <a:xfrm>
            <a:off x="1508760" y="3566159"/>
            <a:ext cx="2377440" cy="182880"/>
          </a:xfrm>
          <a:prstGeom prst="rect">
            <a:avLst/>
          </a:prstGeom>
          <a:solidFill>
            <a:srgbClr val="A52F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48640" y="3547871"/>
            <a:ext cx="914400" cy="138499"/>
          </a:xfrm>
          <a:prstGeom prst="rect">
            <a:avLst/>
          </a:prstGeom>
          <a:noFill/>
        </p:spPr>
        <p:txBody>
          <a:bodyPr wrap="square" lIns="0" tIns="0" rIns="0" bIns="0" anchor="t">
            <a:spAutoFit/>
          </a:bodyPr>
          <a:lstStyle/>
          <a:p>
            <a:pPr algn="l">
              <a:spcBef>
                <a:spcPts val="0"/>
              </a:spcBef>
              <a:spcAft>
                <a:spcPts val="200"/>
              </a:spcAft>
            </a:pPr>
            <a:r>
              <a:rPr lang="en-GB" sz="900" b="0">
                <a:solidFill>
                  <a:srgbClr val="4F6875"/>
                </a:solidFill>
                <a:latin typeface="Aptos"/>
              </a:rPr>
              <a:t>5–10J</a:t>
            </a:r>
          </a:p>
        </p:txBody>
      </p:sp>
      <p:sp>
        <p:nvSpPr>
          <p:cNvPr id="23" name="TextBox 22"/>
          <p:cNvSpPr txBox="1"/>
          <p:nvPr/>
        </p:nvSpPr>
        <p:spPr>
          <a:xfrm>
            <a:off x="3941063" y="3547871"/>
            <a:ext cx="640080" cy="138499"/>
          </a:xfrm>
          <a:prstGeom prst="rect">
            <a:avLst/>
          </a:prstGeom>
          <a:noFill/>
        </p:spPr>
        <p:txBody>
          <a:bodyPr wrap="square" lIns="0" tIns="0" rIns="0" bIns="0" anchor="t">
            <a:spAutoFit/>
          </a:bodyPr>
          <a:lstStyle/>
          <a:p>
            <a:pPr algn="l">
              <a:spcBef>
                <a:spcPts val="0"/>
              </a:spcBef>
              <a:spcAft>
                <a:spcPts val="200"/>
              </a:spcAft>
            </a:pPr>
            <a:r>
              <a:rPr lang="en-GB" sz="900" b="1">
                <a:solidFill>
                  <a:srgbClr val="051C2C"/>
                </a:solidFill>
                <a:latin typeface="Aptos"/>
              </a:rPr>
              <a:t>60</a:t>
            </a:r>
          </a:p>
        </p:txBody>
      </p:sp>
      <p:sp>
        <p:nvSpPr>
          <p:cNvPr id="24" name="Rectangle 23"/>
          <p:cNvSpPr/>
          <p:nvPr/>
        </p:nvSpPr>
        <p:spPr>
          <a:xfrm>
            <a:off x="1508760" y="3877055"/>
            <a:ext cx="1802892" cy="182880"/>
          </a:xfrm>
          <a:prstGeom prst="rect">
            <a:avLst/>
          </a:prstGeom>
          <a:solidFill>
            <a:srgbClr val="A52F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48640" y="3858768"/>
            <a:ext cx="914400" cy="138499"/>
          </a:xfrm>
          <a:prstGeom prst="rect">
            <a:avLst/>
          </a:prstGeom>
          <a:noFill/>
        </p:spPr>
        <p:txBody>
          <a:bodyPr wrap="square" lIns="0" tIns="0" rIns="0" bIns="0" anchor="t">
            <a:spAutoFit/>
          </a:bodyPr>
          <a:lstStyle/>
          <a:p>
            <a:pPr algn="l">
              <a:spcBef>
                <a:spcPts val="0"/>
              </a:spcBef>
              <a:spcAft>
                <a:spcPts val="200"/>
              </a:spcAft>
            </a:pPr>
            <a:r>
              <a:rPr lang="en-GB" sz="900" b="0">
                <a:solidFill>
                  <a:srgbClr val="4F6875"/>
                </a:solidFill>
                <a:latin typeface="Aptos"/>
              </a:rPr>
              <a:t>&gt;10J</a:t>
            </a:r>
          </a:p>
        </p:txBody>
      </p:sp>
      <p:sp>
        <p:nvSpPr>
          <p:cNvPr id="26" name="TextBox 25"/>
          <p:cNvSpPr txBox="1"/>
          <p:nvPr/>
        </p:nvSpPr>
        <p:spPr>
          <a:xfrm>
            <a:off x="3366516" y="3858768"/>
            <a:ext cx="640080" cy="138499"/>
          </a:xfrm>
          <a:prstGeom prst="rect">
            <a:avLst/>
          </a:prstGeom>
          <a:noFill/>
        </p:spPr>
        <p:txBody>
          <a:bodyPr wrap="square" lIns="0" tIns="0" rIns="0" bIns="0" anchor="t">
            <a:spAutoFit/>
          </a:bodyPr>
          <a:lstStyle/>
          <a:p>
            <a:pPr algn="l">
              <a:spcBef>
                <a:spcPts val="0"/>
              </a:spcBef>
              <a:spcAft>
                <a:spcPts val="200"/>
              </a:spcAft>
            </a:pPr>
            <a:r>
              <a:rPr lang="en-GB" sz="900" b="1">
                <a:solidFill>
                  <a:srgbClr val="051C2C"/>
                </a:solidFill>
                <a:latin typeface="Aptos"/>
              </a:rPr>
              <a:t>46</a:t>
            </a:r>
          </a:p>
        </p:txBody>
      </p:sp>
      <p:sp>
        <p:nvSpPr>
          <p:cNvPr id="27" name="TextBox 26"/>
          <p:cNvSpPr txBox="1"/>
          <p:nvPr/>
        </p:nvSpPr>
        <p:spPr>
          <a:xfrm>
            <a:off x="548640" y="4279392"/>
            <a:ext cx="3749039" cy="192360"/>
          </a:xfrm>
          <a:prstGeom prst="rect">
            <a:avLst/>
          </a:prstGeom>
          <a:noFill/>
        </p:spPr>
        <p:txBody>
          <a:bodyPr wrap="square" lIns="0" tIns="0" rIns="0" bIns="0" anchor="t">
            <a:spAutoFit/>
          </a:bodyPr>
          <a:lstStyle/>
          <a:p>
            <a:pPr algn="l">
              <a:spcBef>
                <a:spcPts val="0"/>
              </a:spcBef>
              <a:spcAft>
                <a:spcPts val="200"/>
              </a:spcAft>
            </a:pPr>
            <a:r>
              <a:rPr lang="de-DE" sz="1250" b="1">
                <a:solidFill>
                  <a:srgbClr val="051C2C"/>
                </a:solidFill>
                <a:latin typeface="Aptos"/>
              </a:rPr>
              <a:t>Σ 180,4 Mrd €</a:t>
            </a:r>
            <a:r>
              <a:rPr lang="de-DE" sz="1100" b="0">
                <a:solidFill>
                  <a:srgbClr val="4F6875"/>
                </a:solidFill>
                <a:latin typeface="Aptos"/>
              </a:rPr>
              <a:t> · Duration 7,0 J</a:t>
            </a:r>
          </a:p>
        </p:txBody>
      </p:sp>
      <p:sp>
        <p:nvSpPr>
          <p:cNvPr id="28" name="TextBox 27"/>
          <p:cNvSpPr txBox="1"/>
          <p:nvPr/>
        </p:nvSpPr>
        <p:spPr>
          <a:xfrm>
            <a:off x="4617720" y="1627632"/>
            <a:ext cx="7040880" cy="169277"/>
          </a:xfrm>
          <a:prstGeom prst="rect">
            <a:avLst/>
          </a:prstGeom>
          <a:noFill/>
        </p:spPr>
        <p:txBody>
          <a:bodyPr wrap="square" lIns="0" tIns="0" rIns="0" bIns="0" anchor="t">
            <a:spAutoFit/>
          </a:bodyPr>
          <a:lstStyle/>
          <a:p>
            <a:pPr algn="l">
              <a:spcBef>
                <a:spcPts val="0"/>
              </a:spcBef>
              <a:spcAft>
                <a:spcPts val="200"/>
              </a:spcAft>
            </a:pPr>
            <a:r>
              <a:rPr lang="en-GB" sz="1100" b="1">
                <a:solidFill>
                  <a:srgbClr val="051C2C"/>
                </a:solidFill>
                <a:latin typeface="Aptos"/>
              </a:rPr>
              <a:t>IFRS-9-KLASSEN UND CET1-WIRKUNG</a:t>
            </a:r>
          </a:p>
        </p:txBody>
      </p:sp>
      <p:sp>
        <p:nvSpPr>
          <p:cNvPr id="29" name="Rectangle 28"/>
          <p:cNvSpPr/>
          <p:nvPr/>
        </p:nvSpPr>
        <p:spPr>
          <a:xfrm>
            <a:off x="4617720" y="2011680"/>
            <a:ext cx="6217920" cy="402336"/>
          </a:xfrm>
          <a:prstGeom prst="rect">
            <a:avLst/>
          </a:prstGeom>
          <a:solidFill>
            <a:srgbClr val="051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727448" y="2128209"/>
            <a:ext cx="1152144" cy="169277"/>
          </a:xfrm>
          <a:prstGeom prst="rect">
            <a:avLst/>
          </a:prstGeom>
          <a:noFill/>
        </p:spPr>
        <p:txBody>
          <a:bodyPr wrap="square" lIns="0" tIns="0" rIns="0" bIns="0" anchor="ctr">
            <a:spAutoFit/>
          </a:bodyPr>
          <a:lstStyle/>
          <a:p>
            <a:pPr algn="l">
              <a:spcBef>
                <a:spcPts val="0"/>
              </a:spcBef>
              <a:spcAft>
                <a:spcPts val="200"/>
              </a:spcAft>
            </a:pPr>
            <a:r>
              <a:rPr lang="en-GB" sz="1100" b="1">
                <a:solidFill>
                  <a:srgbClr val="FFFFFF"/>
                </a:solidFill>
                <a:latin typeface="Aptos"/>
              </a:rPr>
              <a:t>Klasse</a:t>
            </a:r>
          </a:p>
        </p:txBody>
      </p:sp>
      <p:sp>
        <p:nvSpPr>
          <p:cNvPr id="31" name="TextBox 30"/>
          <p:cNvSpPr txBox="1"/>
          <p:nvPr/>
        </p:nvSpPr>
        <p:spPr>
          <a:xfrm>
            <a:off x="6099048" y="2128209"/>
            <a:ext cx="786384" cy="169277"/>
          </a:xfrm>
          <a:prstGeom prst="rect">
            <a:avLst/>
          </a:prstGeom>
          <a:noFill/>
        </p:spPr>
        <p:txBody>
          <a:bodyPr wrap="square" lIns="0" tIns="0" rIns="0" bIns="0" anchor="ctr">
            <a:spAutoFit/>
          </a:bodyPr>
          <a:lstStyle/>
          <a:p>
            <a:pPr algn="l">
              <a:spcBef>
                <a:spcPts val="0"/>
              </a:spcBef>
              <a:spcAft>
                <a:spcPts val="200"/>
              </a:spcAft>
            </a:pPr>
            <a:r>
              <a:rPr lang="en-GB" sz="1100" b="1">
                <a:solidFill>
                  <a:srgbClr val="FFFFFF"/>
                </a:solidFill>
                <a:latin typeface="Aptos"/>
              </a:rPr>
              <a:t>Kanal</a:t>
            </a:r>
          </a:p>
        </p:txBody>
      </p:sp>
      <p:sp>
        <p:nvSpPr>
          <p:cNvPr id="32" name="TextBox 31"/>
          <p:cNvSpPr txBox="1"/>
          <p:nvPr/>
        </p:nvSpPr>
        <p:spPr>
          <a:xfrm>
            <a:off x="7104888" y="2128209"/>
            <a:ext cx="1060704" cy="169277"/>
          </a:xfrm>
          <a:prstGeom prst="rect">
            <a:avLst/>
          </a:prstGeom>
          <a:noFill/>
        </p:spPr>
        <p:txBody>
          <a:bodyPr wrap="square" lIns="0" tIns="0" rIns="0" bIns="0" anchor="ctr">
            <a:spAutoFit/>
          </a:bodyPr>
          <a:lstStyle/>
          <a:p>
            <a:pPr algn="r">
              <a:spcBef>
                <a:spcPts val="0"/>
              </a:spcBef>
              <a:spcAft>
                <a:spcPts val="200"/>
              </a:spcAft>
            </a:pPr>
            <a:r>
              <a:rPr lang="en-GB" sz="1100" b="1">
                <a:solidFill>
                  <a:srgbClr val="FFFFFF"/>
                </a:solidFill>
                <a:latin typeface="Aptos"/>
              </a:rPr>
              <a:t>Bestand</a:t>
            </a:r>
          </a:p>
        </p:txBody>
      </p:sp>
      <p:sp>
        <p:nvSpPr>
          <p:cNvPr id="33" name="TextBox 32"/>
          <p:cNvSpPr txBox="1"/>
          <p:nvPr/>
        </p:nvSpPr>
        <p:spPr>
          <a:xfrm>
            <a:off x="8385048" y="2128209"/>
            <a:ext cx="1060704" cy="169277"/>
          </a:xfrm>
          <a:prstGeom prst="rect">
            <a:avLst/>
          </a:prstGeom>
          <a:noFill/>
        </p:spPr>
        <p:txBody>
          <a:bodyPr wrap="square" lIns="0" tIns="0" rIns="0" bIns="0" anchor="ctr">
            <a:spAutoFit/>
          </a:bodyPr>
          <a:lstStyle/>
          <a:p>
            <a:pPr algn="r">
              <a:spcBef>
                <a:spcPts val="0"/>
              </a:spcBef>
              <a:spcAft>
                <a:spcPts val="200"/>
              </a:spcAft>
            </a:pPr>
            <a:r>
              <a:rPr lang="el-GR" sz="1100" b="1">
                <a:solidFill>
                  <a:srgbClr val="FFFFFF"/>
                </a:solidFill>
                <a:latin typeface="Aptos"/>
              </a:rPr>
              <a:t>Δ</a:t>
            </a:r>
            <a:r>
              <a:rPr lang="en-GB" sz="1100" b="1">
                <a:solidFill>
                  <a:srgbClr val="FFFFFF"/>
                </a:solidFill>
                <a:latin typeface="Aptos"/>
              </a:rPr>
              <a:t>FV</a:t>
            </a:r>
          </a:p>
        </p:txBody>
      </p:sp>
      <p:sp>
        <p:nvSpPr>
          <p:cNvPr id="34" name="TextBox 33"/>
          <p:cNvSpPr txBox="1"/>
          <p:nvPr/>
        </p:nvSpPr>
        <p:spPr>
          <a:xfrm>
            <a:off x="9665208" y="2128209"/>
            <a:ext cx="1060704" cy="169277"/>
          </a:xfrm>
          <a:prstGeom prst="rect">
            <a:avLst/>
          </a:prstGeom>
          <a:noFill/>
        </p:spPr>
        <p:txBody>
          <a:bodyPr wrap="square" lIns="0" tIns="0" rIns="0" bIns="0" anchor="ctr">
            <a:spAutoFit/>
          </a:bodyPr>
          <a:lstStyle/>
          <a:p>
            <a:pPr algn="r">
              <a:spcBef>
                <a:spcPts val="0"/>
              </a:spcBef>
              <a:spcAft>
                <a:spcPts val="200"/>
              </a:spcAft>
            </a:pPr>
            <a:r>
              <a:rPr lang="en-GB" sz="1100" b="1">
                <a:solidFill>
                  <a:srgbClr val="FFFFFF"/>
                </a:solidFill>
                <a:latin typeface="Aptos"/>
              </a:rPr>
              <a:t>CET1-</a:t>
            </a:r>
            <a:r>
              <a:rPr lang="el-GR" sz="1100" b="1">
                <a:solidFill>
                  <a:srgbClr val="FFFFFF"/>
                </a:solidFill>
                <a:latin typeface="Aptos"/>
              </a:rPr>
              <a:t>Δ</a:t>
            </a:r>
          </a:p>
        </p:txBody>
      </p:sp>
      <p:sp>
        <p:nvSpPr>
          <p:cNvPr id="35" name="TextBox 34"/>
          <p:cNvSpPr txBox="1"/>
          <p:nvPr/>
        </p:nvSpPr>
        <p:spPr>
          <a:xfrm>
            <a:off x="4727448" y="2530545"/>
            <a:ext cx="1152144" cy="169277"/>
          </a:xfrm>
          <a:prstGeom prst="rect">
            <a:avLst/>
          </a:prstGeom>
          <a:noFill/>
        </p:spPr>
        <p:txBody>
          <a:bodyPr wrap="square" lIns="0" tIns="0" rIns="0" bIns="0" anchor="ctr">
            <a:spAutoFit/>
          </a:bodyPr>
          <a:lstStyle/>
          <a:p>
            <a:pPr algn="l">
              <a:spcBef>
                <a:spcPts val="0"/>
              </a:spcBef>
              <a:spcAft>
                <a:spcPts val="200"/>
              </a:spcAft>
            </a:pPr>
            <a:r>
              <a:rPr lang="en-GB" sz="1100" b="1">
                <a:solidFill>
                  <a:srgbClr val="051C2C"/>
                </a:solidFill>
                <a:latin typeface="Aptos"/>
              </a:rPr>
              <a:t>HfT</a:t>
            </a:r>
          </a:p>
        </p:txBody>
      </p:sp>
      <p:sp>
        <p:nvSpPr>
          <p:cNvPr id="36" name="TextBox 35"/>
          <p:cNvSpPr txBox="1"/>
          <p:nvPr/>
        </p:nvSpPr>
        <p:spPr>
          <a:xfrm>
            <a:off x="6099048" y="2530545"/>
            <a:ext cx="786384" cy="169277"/>
          </a:xfrm>
          <a:prstGeom prst="rect">
            <a:avLst/>
          </a:prstGeom>
          <a:noFill/>
        </p:spPr>
        <p:txBody>
          <a:bodyPr wrap="square" lIns="0" tIns="0" rIns="0" bIns="0" anchor="ctr">
            <a:spAutoFit/>
          </a:bodyPr>
          <a:lstStyle/>
          <a:p>
            <a:pPr algn="l">
              <a:spcBef>
                <a:spcPts val="0"/>
              </a:spcBef>
              <a:spcAft>
                <a:spcPts val="200"/>
              </a:spcAft>
            </a:pPr>
            <a:r>
              <a:rPr lang="en-GB" sz="1100" b="0">
                <a:solidFill>
                  <a:srgbClr val="051C2C"/>
                </a:solidFill>
                <a:latin typeface="Aptos"/>
              </a:rPr>
              <a:t>P&amp;L</a:t>
            </a:r>
          </a:p>
        </p:txBody>
      </p:sp>
      <p:sp>
        <p:nvSpPr>
          <p:cNvPr id="37" name="TextBox 36"/>
          <p:cNvSpPr txBox="1"/>
          <p:nvPr/>
        </p:nvSpPr>
        <p:spPr>
          <a:xfrm>
            <a:off x="7104888" y="2530545"/>
            <a:ext cx="1060704" cy="169277"/>
          </a:xfrm>
          <a:prstGeom prst="rect">
            <a:avLst/>
          </a:prstGeom>
          <a:noFill/>
        </p:spPr>
        <p:txBody>
          <a:bodyPr wrap="square" lIns="0" tIns="0" rIns="0" bIns="0" anchor="ctr">
            <a:spAutoFit/>
          </a:bodyPr>
          <a:lstStyle/>
          <a:p>
            <a:pPr algn="r">
              <a:spcBef>
                <a:spcPts val="0"/>
              </a:spcBef>
              <a:spcAft>
                <a:spcPts val="200"/>
              </a:spcAft>
            </a:pPr>
            <a:r>
              <a:rPr lang="en-GB" sz="1100" b="0">
                <a:solidFill>
                  <a:srgbClr val="051C2C"/>
                </a:solidFill>
                <a:latin typeface="Aptos"/>
              </a:rPr>
              <a:t>97,7</a:t>
            </a:r>
          </a:p>
        </p:txBody>
      </p:sp>
      <p:sp>
        <p:nvSpPr>
          <p:cNvPr id="38" name="TextBox 37"/>
          <p:cNvSpPr txBox="1"/>
          <p:nvPr/>
        </p:nvSpPr>
        <p:spPr>
          <a:xfrm>
            <a:off x="8385048" y="2530545"/>
            <a:ext cx="1060704" cy="169277"/>
          </a:xfrm>
          <a:prstGeom prst="rect">
            <a:avLst/>
          </a:prstGeom>
          <a:noFill/>
        </p:spPr>
        <p:txBody>
          <a:bodyPr wrap="square" lIns="0" tIns="0" rIns="0" bIns="0" anchor="ctr">
            <a:spAutoFit/>
          </a:bodyPr>
          <a:lstStyle/>
          <a:p>
            <a:pPr algn="r">
              <a:spcBef>
                <a:spcPts val="0"/>
              </a:spcBef>
              <a:spcAft>
                <a:spcPts val="200"/>
              </a:spcAft>
            </a:pPr>
            <a:r>
              <a:rPr lang="en-GB" sz="1100" b="0">
                <a:solidFill>
                  <a:srgbClr val="051C2C"/>
                </a:solidFill>
                <a:latin typeface="Aptos"/>
              </a:rPr>
              <a:t>−14,9</a:t>
            </a:r>
          </a:p>
        </p:txBody>
      </p:sp>
      <p:sp>
        <p:nvSpPr>
          <p:cNvPr id="39" name="TextBox 38"/>
          <p:cNvSpPr txBox="1"/>
          <p:nvPr/>
        </p:nvSpPr>
        <p:spPr>
          <a:xfrm>
            <a:off x="9665208" y="2530545"/>
            <a:ext cx="1060704" cy="169277"/>
          </a:xfrm>
          <a:prstGeom prst="rect">
            <a:avLst/>
          </a:prstGeom>
          <a:noFill/>
        </p:spPr>
        <p:txBody>
          <a:bodyPr wrap="square" lIns="0" tIns="0" rIns="0" bIns="0" anchor="ctr">
            <a:spAutoFit/>
          </a:bodyPr>
          <a:lstStyle/>
          <a:p>
            <a:pPr algn="r">
              <a:spcBef>
                <a:spcPts val="0"/>
              </a:spcBef>
              <a:spcAft>
                <a:spcPts val="200"/>
              </a:spcAft>
            </a:pPr>
            <a:r>
              <a:rPr lang="en-GB" sz="1100" b="0">
                <a:solidFill>
                  <a:srgbClr val="051C2C"/>
                </a:solidFill>
                <a:latin typeface="Aptos"/>
              </a:rPr>
              <a:t>−14,9</a:t>
            </a:r>
          </a:p>
        </p:txBody>
      </p:sp>
      <p:sp>
        <p:nvSpPr>
          <p:cNvPr id="40" name="Rectangle 39"/>
          <p:cNvSpPr/>
          <p:nvPr/>
        </p:nvSpPr>
        <p:spPr>
          <a:xfrm>
            <a:off x="4617720" y="2816352"/>
            <a:ext cx="6217920" cy="7315"/>
          </a:xfrm>
          <a:prstGeom prst="rect">
            <a:avLst/>
          </a:prstGeom>
          <a:solidFill>
            <a:srgbClr val="D9E2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4727448" y="2932881"/>
            <a:ext cx="1152144" cy="169277"/>
          </a:xfrm>
          <a:prstGeom prst="rect">
            <a:avLst/>
          </a:prstGeom>
          <a:noFill/>
        </p:spPr>
        <p:txBody>
          <a:bodyPr wrap="square" lIns="0" tIns="0" rIns="0" bIns="0" anchor="ctr">
            <a:spAutoFit/>
          </a:bodyPr>
          <a:lstStyle/>
          <a:p>
            <a:pPr algn="l">
              <a:spcBef>
                <a:spcPts val="0"/>
              </a:spcBef>
              <a:spcAft>
                <a:spcPts val="200"/>
              </a:spcAft>
            </a:pPr>
            <a:r>
              <a:rPr lang="en-GB" sz="1100" b="1">
                <a:solidFill>
                  <a:srgbClr val="051C2C"/>
                </a:solidFill>
                <a:latin typeface="Aptos"/>
              </a:rPr>
              <a:t>FVTPL</a:t>
            </a:r>
          </a:p>
        </p:txBody>
      </p:sp>
      <p:sp>
        <p:nvSpPr>
          <p:cNvPr id="42" name="TextBox 41"/>
          <p:cNvSpPr txBox="1"/>
          <p:nvPr/>
        </p:nvSpPr>
        <p:spPr>
          <a:xfrm>
            <a:off x="6099048" y="2932881"/>
            <a:ext cx="786384" cy="169277"/>
          </a:xfrm>
          <a:prstGeom prst="rect">
            <a:avLst/>
          </a:prstGeom>
          <a:noFill/>
        </p:spPr>
        <p:txBody>
          <a:bodyPr wrap="square" lIns="0" tIns="0" rIns="0" bIns="0" anchor="ctr">
            <a:spAutoFit/>
          </a:bodyPr>
          <a:lstStyle/>
          <a:p>
            <a:pPr algn="l">
              <a:spcBef>
                <a:spcPts val="0"/>
              </a:spcBef>
              <a:spcAft>
                <a:spcPts val="200"/>
              </a:spcAft>
            </a:pPr>
            <a:r>
              <a:rPr lang="en-GB" sz="1100" b="0">
                <a:solidFill>
                  <a:srgbClr val="051C2C"/>
                </a:solidFill>
                <a:latin typeface="Aptos"/>
              </a:rPr>
              <a:t>P&amp;L</a:t>
            </a:r>
          </a:p>
        </p:txBody>
      </p:sp>
      <p:sp>
        <p:nvSpPr>
          <p:cNvPr id="43" name="TextBox 42"/>
          <p:cNvSpPr txBox="1"/>
          <p:nvPr/>
        </p:nvSpPr>
        <p:spPr>
          <a:xfrm>
            <a:off x="7104888" y="2932881"/>
            <a:ext cx="1060704" cy="169277"/>
          </a:xfrm>
          <a:prstGeom prst="rect">
            <a:avLst/>
          </a:prstGeom>
          <a:noFill/>
        </p:spPr>
        <p:txBody>
          <a:bodyPr wrap="square" lIns="0" tIns="0" rIns="0" bIns="0" anchor="ctr">
            <a:spAutoFit/>
          </a:bodyPr>
          <a:lstStyle/>
          <a:p>
            <a:pPr algn="r">
              <a:spcBef>
                <a:spcPts val="0"/>
              </a:spcBef>
              <a:spcAft>
                <a:spcPts val="200"/>
              </a:spcAft>
            </a:pPr>
            <a:r>
              <a:rPr lang="en-GB" sz="1100" b="0">
                <a:solidFill>
                  <a:srgbClr val="051C2C"/>
                </a:solidFill>
                <a:latin typeface="Aptos"/>
              </a:rPr>
              <a:t>0,0</a:t>
            </a:r>
          </a:p>
        </p:txBody>
      </p:sp>
      <p:sp>
        <p:nvSpPr>
          <p:cNvPr id="44" name="TextBox 43"/>
          <p:cNvSpPr txBox="1"/>
          <p:nvPr/>
        </p:nvSpPr>
        <p:spPr>
          <a:xfrm>
            <a:off x="8385048" y="2932881"/>
            <a:ext cx="1060704" cy="169277"/>
          </a:xfrm>
          <a:prstGeom prst="rect">
            <a:avLst/>
          </a:prstGeom>
          <a:noFill/>
        </p:spPr>
        <p:txBody>
          <a:bodyPr wrap="square" lIns="0" tIns="0" rIns="0" bIns="0" anchor="ctr">
            <a:spAutoFit/>
          </a:bodyPr>
          <a:lstStyle/>
          <a:p>
            <a:pPr algn="r">
              <a:spcBef>
                <a:spcPts val="0"/>
              </a:spcBef>
              <a:spcAft>
                <a:spcPts val="200"/>
              </a:spcAft>
            </a:pPr>
            <a:r>
              <a:rPr lang="en-GB" sz="1100" b="0">
                <a:solidFill>
                  <a:srgbClr val="051C2C"/>
                </a:solidFill>
                <a:latin typeface="Aptos"/>
              </a:rPr>
              <a:t>≈0</a:t>
            </a:r>
          </a:p>
        </p:txBody>
      </p:sp>
      <p:sp>
        <p:nvSpPr>
          <p:cNvPr id="45" name="TextBox 44"/>
          <p:cNvSpPr txBox="1"/>
          <p:nvPr/>
        </p:nvSpPr>
        <p:spPr>
          <a:xfrm>
            <a:off x="9665208" y="2932881"/>
            <a:ext cx="1060704" cy="169277"/>
          </a:xfrm>
          <a:prstGeom prst="rect">
            <a:avLst/>
          </a:prstGeom>
          <a:noFill/>
        </p:spPr>
        <p:txBody>
          <a:bodyPr wrap="square" lIns="0" tIns="0" rIns="0" bIns="0" anchor="ctr">
            <a:spAutoFit/>
          </a:bodyPr>
          <a:lstStyle/>
          <a:p>
            <a:pPr algn="r">
              <a:spcBef>
                <a:spcPts val="0"/>
              </a:spcBef>
              <a:spcAft>
                <a:spcPts val="200"/>
              </a:spcAft>
            </a:pPr>
            <a:r>
              <a:rPr lang="en-GB" sz="1100" b="0">
                <a:solidFill>
                  <a:srgbClr val="051C2C"/>
                </a:solidFill>
                <a:latin typeface="Aptos"/>
              </a:rPr>
              <a:t>≈0</a:t>
            </a:r>
          </a:p>
        </p:txBody>
      </p:sp>
      <p:sp>
        <p:nvSpPr>
          <p:cNvPr id="46" name="Rectangle 45"/>
          <p:cNvSpPr/>
          <p:nvPr/>
        </p:nvSpPr>
        <p:spPr>
          <a:xfrm>
            <a:off x="4617720" y="3218688"/>
            <a:ext cx="6217920" cy="7315"/>
          </a:xfrm>
          <a:prstGeom prst="rect">
            <a:avLst/>
          </a:prstGeom>
          <a:solidFill>
            <a:srgbClr val="D9E2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4727448" y="3335217"/>
            <a:ext cx="1152144" cy="169277"/>
          </a:xfrm>
          <a:prstGeom prst="rect">
            <a:avLst/>
          </a:prstGeom>
          <a:noFill/>
        </p:spPr>
        <p:txBody>
          <a:bodyPr wrap="square" lIns="0" tIns="0" rIns="0" bIns="0" anchor="ctr">
            <a:spAutoFit/>
          </a:bodyPr>
          <a:lstStyle/>
          <a:p>
            <a:pPr algn="l">
              <a:spcBef>
                <a:spcPts val="0"/>
              </a:spcBef>
              <a:spcAft>
                <a:spcPts val="200"/>
              </a:spcAft>
            </a:pPr>
            <a:r>
              <a:rPr lang="en-GB" sz="1100" b="1">
                <a:solidFill>
                  <a:srgbClr val="051C2C"/>
                </a:solidFill>
                <a:latin typeface="Aptos"/>
              </a:rPr>
              <a:t>FVOCI</a:t>
            </a:r>
          </a:p>
        </p:txBody>
      </p:sp>
      <p:sp>
        <p:nvSpPr>
          <p:cNvPr id="48" name="TextBox 47"/>
          <p:cNvSpPr txBox="1"/>
          <p:nvPr/>
        </p:nvSpPr>
        <p:spPr>
          <a:xfrm>
            <a:off x="6099048" y="3335217"/>
            <a:ext cx="786384" cy="169277"/>
          </a:xfrm>
          <a:prstGeom prst="rect">
            <a:avLst/>
          </a:prstGeom>
          <a:noFill/>
        </p:spPr>
        <p:txBody>
          <a:bodyPr wrap="square" lIns="0" tIns="0" rIns="0" bIns="0" anchor="ctr">
            <a:spAutoFit/>
          </a:bodyPr>
          <a:lstStyle/>
          <a:p>
            <a:pPr algn="l">
              <a:spcBef>
                <a:spcPts val="0"/>
              </a:spcBef>
              <a:spcAft>
                <a:spcPts val="200"/>
              </a:spcAft>
            </a:pPr>
            <a:r>
              <a:rPr lang="en-GB" sz="1100" b="0">
                <a:solidFill>
                  <a:srgbClr val="051C2C"/>
                </a:solidFill>
                <a:latin typeface="Aptos"/>
              </a:rPr>
              <a:t>OCI</a:t>
            </a:r>
          </a:p>
        </p:txBody>
      </p:sp>
      <p:sp>
        <p:nvSpPr>
          <p:cNvPr id="49" name="TextBox 48"/>
          <p:cNvSpPr txBox="1"/>
          <p:nvPr/>
        </p:nvSpPr>
        <p:spPr>
          <a:xfrm>
            <a:off x="7104888" y="3335217"/>
            <a:ext cx="1060704" cy="169277"/>
          </a:xfrm>
          <a:prstGeom prst="rect">
            <a:avLst/>
          </a:prstGeom>
          <a:noFill/>
        </p:spPr>
        <p:txBody>
          <a:bodyPr wrap="square" lIns="0" tIns="0" rIns="0" bIns="0" anchor="ctr">
            <a:spAutoFit/>
          </a:bodyPr>
          <a:lstStyle/>
          <a:p>
            <a:pPr algn="r">
              <a:spcBef>
                <a:spcPts val="0"/>
              </a:spcBef>
              <a:spcAft>
                <a:spcPts val="200"/>
              </a:spcAft>
            </a:pPr>
            <a:r>
              <a:rPr lang="en-GB" sz="1100" b="0">
                <a:solidFill>
                  <a:srgbClr val="051C2C"/>
                </a:solidFill>
                <a:latin typeface="Aptos"/>
              </a:rPr>
              <a:t>29,6</a:t>
            </a:r>
          </a:p>
        </p:txBody>
      </p:sp>
      <p:sp>
        <p:nvSpPr>
          <p:cNvPr id="50" name="TextBox 49"/>
          <p:cNvSpPr txBox="1"/>
          <p:nvPr/>
        </p:nvSpPr>
        <p:spPr>
          <a:xfrm>
            <a:off x="8385048" y="3335217"/>
            <a:ext cx="1060704" cy="169277"/>
          </a:xfrm>
          <a:prstGeom prst="rect">
            <a:avLst/>
          </a:prstGeom>
          <a:noFill/>
        </p:spPr>
        <p:txBody>
          <a:bodyPr wrap="square" lIns="0" tIns="0" rIns="0" bIns="0" anchor="ctr">
            <a:spAutoFit/>
          </a:bodyPr>
          <a:lstStyle/>
          <a:p>
            <a:pPr algn="r">
              <a:spcBef>
                <a:spcPts val="0"/>
              </a:spcBef>
              <a:spcAft>
                <a:spcPts val="200"/>
              </a:spcAft>
            </a:pPr>
            <a:r>
              <a:rPr lang="en-GB" sz="1100" b="0">
                <a:solidFill>
                  <a:srgbClr val="051C2C"/>
                </a:solidFill>
                <a:latin typeface="Aptos"/>
              </a:rPr>
              <a:t>−3,6</a:t>
            </a:r>
          </a:p>
        </p:txBody>
      </p:sp>
      <p:sp>
        <p:nvSpPr>
          <p:cNvPr id="51" name="TextBox 50"/>
          <p:cNvSpPr txBox="1"/>
          <p:nvPr/>
        </p:nvSpPr>
        <p:spPr>
          <a:xfrm>
            <a:off x="9665208" y="3335217"/>
            <a:ext cx="1060704" cy="169277"/>
          </a:xfrm>
          <a:prstGeom prst="rect">
            <a:avLst/>
          </a:prstGeom>
          <a:noFill/>
        </p:spPr>
        <p:txBody>
          <a:bodyPr wrap="square" lIns="0" tIns="0" rIns="0" bIns="0" anchor="ctr">
            <a:spAutoFit/>
          </a:bodyPr>
          <a:lstStyle/>
          <a:p>
            <a:pPr algn="r">
              <a:spcBef>
                <a:spcPts val="0"/>
              </a:spcBef>
              <a:spcAft>
                <a:spcPts val="200"/>
              </a:spcAft>
            </a:pPr>
            <a:r>
              <a:rPr lang="en-GB" sz="1100" b="0">
                <a:solidFill>
                  <a:srgbClr val="051C2C"/>
                </a:solidFill>
                <a:latin typeface="Aptos"/>
              </a:rPr>
              <a:t>−3,6</a:t>
            </a:r>
          </a:p>
        </p:txBody>
      </p:sp>
      <p:sp>
        <p:nvSpPr>
          <p:cNvPr id="52" name="Rectangle 51"/>
          <p:cNvSpPr/>
          <p:nvPr/>
        </p:nvSpPr>
        <p:spPr>
          <a:xfrm>
            <a:off x="4617720" y="3621024"/>
            <a:ext cx="6217920" cy="7315"/>
          </a:xfrm>
          <a:prstGeom prst="rect">
            <a:avLst/>
          </a:prstGeom>
          <a:solidFill>
            <a:srgbClr val="D9E2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4727448" y="3737553"/>
            <a:ext cx="1152144" cy="169277"/>
          </a:xfrm>
          <a:prstGeom prst="rect">
            <a:avLst/>
          </a:prstGeom>
          <a:noFill/>
        </p:spPr>
        <p:txBody>
          <a:bodyPr wrap="square" lIns="0" tIns="0" rIns="0" bIns="0" anchor="ctr">
            <a:spAutoFit/>
          </a:bodyPr>
          <a:lstStyle/>
          <a:p>
            <a:pPr algn="l">
              <a:spcBef>
                <a:spcPts val="0"/>
              </a:spcBef>
              <a:spcAft>
                <a:spcPts val="200"/>
              </a:spcAft>
            </a:pPr>
            <a:r>
              <a:rPr lang="en-GB" sz="1100" b="1">
                <a:solidFill>
                  <a:srgbClr val="051C2C"/>
                </a:solidFill>
                <a:latin typeface="Aptos"/>
              </a:rPr>
              <a:t>AC</a:t>
            </a:r>
          </a:p>
        </p:txBody>
      </p:sp>
      <p:sp>
        <p:nvSpPr>
          <p:cNvPr id="54" name="TextBox 53"/>
          <p:cNvSpPr txBox="1"/>
          <p:nvPr/>
        </p:nvSpPr>
        <p:spPr>
          <a:xfrm>
            <a:off x="6099048" y="3737553"/>
            <a:ext cx="786384" cy="169277"/>
          </a:xfrm>
          <a:prstGeom prst="rect">
            <a:avLst/>
          </a:prstGeom>
          <a:noFill/>
        </p:spPr>
        <p:txBody>
          <a:bodyPr wrap="square" lIns="0" tIns="0" rIns="0" bIns="0" anchor="ctr">
            <a:spAutoFit/>
          </a:bodyPr>
          <a:lstStyle/>
          <a:p>
            <a:pPr algn="l">
              <a:spcBef>
                <a:spcPts val="0"/>
              </a:spcBef>
              <a:spcAft>
                <a:spcPts val="200"/>
              </a:spcAft>
            </a:pPr>
            <a:r>
              <a:rPr lang="en-GB" sz="1100" b="0">
                <a:solidFill>
                  <a:srgbClr val="051C2C"/>
                </a:solidFill>
                <a:latin typeface="Aptos"/>
              </a:rPr>
              <a:t>latent</a:t>
            </a:r>
          </a:p>
        </p:txBody>
      </p:sp>
      <p:sp>
        <p:nvSpPr>
          <p:cNvPr id="55" name="TextBox 54"/>
          <p:cNvSpPr txBox="1"/>
          <p:nvPr/>
        </p:nvSpPr>
        <p:spPr>
          <a:xfrm>
            <a:off x="7104888" y="3737553"/>
            <a:ext cx="1060704" cy="169277"/>
          </a:xfrm>
          <a:prstGeom prst="rect">
            <a:avLst/>
          </a:prstGeom>
          <a:noFill/>
        </p:spPr>
        <p:txBody>
          <a:bodyPr wrap="square" lIns="0" tIns="0" rIns="0" bIns="0" anchor="ctr">
            <a:spAutoFit/>
          </a:bodyPr>
          <a:lstStyle/>
          <a:p>
            <a:pPr algn="r">
              <a:spcBef>
                <a:spcPts val="0"/>
              </a:spcBef>
              <a:spcAft>
                <a:spcPts val="200"/>
              </a:spcAft>
            </a:pPr>
            <a:r>
              <a:rPr lang="en-GB" sz="1100" b="0">
                <a:solidFill>
                  <a:srgbClr val="051C2C"/>
                </a:solidFill>
                <a:latin typeface="Aptos"/>
              </a:rPr>
              <a:t>51,9</a:t>
            </a:r>
          </a:p>
        </p:txBody>
      </p:sp>
      <p:sp>
        <p:nvSpPr>
          <p:cNvPr id="56" name="TextBox 55"/>
          <p:cNvSpPr txBox="1"/>
          <p:nvPr/>
        </p:nvSpPr>
        <p:spPr>
          <a:xfrm>
            <a:off x="8385048" y="3737553"/>
            <a:ext cx="1060704" cy="169277"/>
          </a:xfrm>
          <a:prstGeom prst="rect">
            <a:avLst/>
          </a:prstGeom>
          <a:noFill/>
        </p:spPr>
        <p:txBody>
          <a:bodyPr wrap="square" lIns="0" tIns="0" rIns="0" bIns="0" anchor="ctr">
            <a:spAutoFit/>
          </a:bodyPr>
          <a:lstStyle/>
          <a:p>
            <a:pPr algn="r">
              <a:spcBef>
                <a:spcPts val="0"/>
              </a:spcBef>
              <a:spcAft>
                <a:spcPts val="200"/>
              </a:spcAft>
            </a:pPr>
            <a:r>
              <a:rPr lang="en-GB" sz="1100" b="0">
                <a:solidFill>
                  <a:srgbClr val="051C2C"/>
                </a:solidFill>
                <a:latin typeface="Aptos"/>
              </a:rPr>
              <a:t>−6,7</a:t>
            </a:r>
          </a:p>
        </p:txBody>
      </p:sp>
      <p:sp>
        <p:nvSpPr>
          <p:cNvPr id="57" name="TextBox 56"/>
          <p:cNvSpPr txBox="1"/>
          <p:nvPr/>
        </p:nvSpPr>
        <p:spPr>
          <a:xfrm>
            <a:off x="9665208" y="3737553"/>
            <a:ext cx="1060704" cy="169277"/>
          </a:xfrm>
          <a:prstGeom prst="rect">
            <a:avLst/>
          </a:prstGeom>
          <a:noFill/>
        </p:spPr>
        <p:txBody>
          <a:bodyPr wrap="square" lIns="0" tIns="0" rIns="0" bIns="0" anchor="ctr">
            <a:spAutoFit/>
          </a:bodyPr>
          <a:lstStyle/>
          <a:p>
            <a:pPr algn="r">
              <a:spcBef>
                <a:spcPts val="0"/>
              </a:spcBef>
              <a:spcAft>
                <a:spcPts val="200"/>
              </a:spcAft>
            </a:pPr>
            <a:r>
              <a:rPr lang="en-GB" sz="1100" b="0">
                <a:solidFill>
                  <a:srgbClr val="051C2C"/>
                </a:solidFill>
                <a:latin typeface="Aptos"/>
              </a:rPr>
              <a:t>0,0</a:t>
            </a:r>
          </a:p>
        </p:txBody>
      </p:sp>
      <p:sp>
        <p:nvSpPr>
          <p:cNvPr id="58" name="Rectangle 57"/>
          <p:cNvSpPr/>
          <p:nvPr/>
        </p:nvSpPr>
        <p:spPr>
          <a:xfrm>
            <a:off x="4617720" y="4023360"/>
            <a:ext cx="6217920" cy="7315"/>
          </a:xfrm>
          <a:prstGeom prst="rect">
            <a:avLst/>
          </a:prstGeom>
          <a:solidFill>
            <a:srgbClr val="D9E2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Rectangle 58"/>
          <p:cNvSpPr/>
          <p:nvPr/>
        </p:nvSpPr>
        <p:spPr>
          <a:xfrm>
            <a:off x="4617720" y="4023360"/>
            <a:ext cx="6217920" cy="402336"/>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4727448" y="4139889"/>
            <a:ext cx="1152144" cy="169277"/>
          </a:xfrm>
          <a:prstGeom prst="rect">
            <a:avLst/>
          </a:prstGeom>
          <a:noFill/>
        </p:spPr>
        <p:txBody>
          <a:bodyPr wrap="square" lIns="0" tIns="0" rIns="0" bIns="0" anchor="ctr">
            <a:spAutoFit/>
          </a:bodyPr>
          <a:lstStyle/>
          <a:p>
            <a:pPr algn="l">
              <a:spcBef>
                <a:spcPts val="0"/>
              </a:spcBef>
              <a:spcAft>
                <a:spcPts val="200"/>
              </a:spcAft>
            </a:pPr>
            <a:r>
              <a:rPr lang="en-GB" sz="1100" b="1">
                <a:solidFill>
                  <a:srgbClr val="051C2C"/>
                </a:solidFill>
                <a:latin typeface="Aptos"/>
              </a:rPr>
              <a:t>Summe</a:t>
            </a:r>
          </a:p>
        </p:txBody>
      </p:sp>
      <p:sp>
        <p:nvSpPr>
          <p:cNvPr id="61" name="TextBox 60"/>
          <p:cNvSpPr txBox="1"/>
          <p:nvPr/>
        </p:nvSpPr>
        <p:spPr>
          <a:xfrm>
            <a:off x="6099048" y="4023360"/>
            <a:ext cx="786384" cy="402336"/>
          </a:xfrm>
          <a:prstGeom prst="rect">
            <a:avLst/>
          </a:prstGeom>
          <a:noFill/>
        </p:spPr>
        <p:txBody>
          <a:bodyPr wrap="square" lIns="0" tIns="0" rIns="0" bIns="0" anchor="ctr">
            <a:spAutoFit/>
          </a:bodyPr>
          <a:lstStyle/>
          <a:p>
            <a:pPr algn="l">
              <a:spcBef>
                <a:spcPts val="0"/>
              </a:spcBef>
              <a:spcAft>
                <a:spcPts val="200"/>
              </a:spcAft>
            </a:pPr>
            <a:endParaRPr/>
          </a:p>
        </p:txBody>
      </p:sp>
      <p:sp>
        <p:nvSpPr>
          <p:cNvPr id="62" name="TextBox 61"/>
          <p:cNvSpPr txBox="1"/>
          <p:nvPr/>
        </p:nvSpPr>
        <p:spPr>
          <a:xfrm>
            <a:off x="7104888" y="4139889"/>
            <a:ext cx="1060704" cy="169277"/>
          </a:xfrm>
          <a:prstGeom prst="rect">
            <a:avLst/>
          </a:prstGeom>
          <a:noFill/>
        </p:spPr>
        <p:txBody>
          <a:bodyPr wrap="square" lIns="0" tIns="0" rIns="0" bIns="0" anchor="ctr">
            <a:spAutoFit/>
          </a:bodyPr>
          <a:lstStyle/>
          <a:p>
            <a:pPr algn="r">
              <a:spcBef>
                <a:spcPts val="0"/>
              </a:spcBef>
              <a:spcAft>
                <a:spcPts val="200"/>
              </a:spcAft>
            </a:pPr>
            <a:r>
              <a:rPr lang="en-GB" sz="1100" b="1">
                <a:solidFill>
                  <a:srgbClr val="051C2C"/>
                </a:solidFill>
                <a:latin typeface="Aptos"/>
              </a:rPr>
              <a:t>180,2</a:t>
            </a:r>
          </a:p>
        </p:txBody>
      </p:sp>
      <p:sp>
        <p:nvSpPr>
          <p:cNvPr id="63" name="TextBox 62"/>
          <p:cNvSpPr txBox="1"/>
          <p:nvPr/>
        </p:nvSpPr>
        <p:spPr>
          <a:xfrm>
            <a:off x="8385048" y="4139889"/>
            <a:ext cx="1060704" cy="169277"/>
          </a:xfrm>
          <a:prstGeom prst="rect">
            <a:avLst/>
          </a:prstGeom>
          <a:noFill/>
        </p:spPr>
        <p:txBody>
          <a:bodyPr wrap="square" lIns="0" tIns="0" rIns="0" bIns="0" anchor="ctr">
            <a:spAutoFit/>
          </a:bodyPr>
          <a:lstStyle/>
          <a:p>
            <a:pPr algn="r">
              <a:spcBef>
                <a:spcPts val="0"/>
              </a:spcBef>
              <a:spcAft>
                <a:spcPts val="200"/>
              </a:spcAft>
            </a:pPr>
            <a:r>
              <a:rPr lang="en-GB" sz="1100" b="1">
                <a:solidFill>
                  <a:srgbClr val="A52F4D"/>
                </a:solidFill>
                <a:latin typeface="Aptos"/>
              </a:rPr>
              <a:t>−25,2</a:t>
            </a:r>
          </a:p>
        </p:txBody>
      </p:sp>
      <p:sp>
        <p:nvSpPr>
          <p:cNvPr id="64" name="TextBox 63"/>
          <p:cNvSpPr txBox="1"/>
          <p:nvPr/>
        </p:nvSpPr>
        <p:spPr>
          <a:xfrm>
            <a:off x="9665208" y="4139889"/>
            <a:ext cx="1060704" cy="169277"/>
          </a:xfrm>
          <a:prstGeom prst="rect">
            <a:avLst/>
          </a:prstGeom>
          <a:noFill/>
        </p:spPr>
        <p:txBody>
          <a:bodyPr wrap="square" lIns="0" tIns="0" rIns="0" bIns="0" anchor="ctr">
            <a:spAutoFit/>
          </a:bodyPr>
          <a:lstStyle/>
          <a:p>
            <a:pPr algn="r">
              <a:spcBef>
                <a:spcPts val="0"/>
              </a:spcBef>
              <a:spcAft>
                <a:spcPts val="200"/>
              </a:spcAft>
            </a:pPr>
            <a:r>
              <a:rPr lang="en-GB" sz="1100" b="1">
                <a:solidFill>
                  <a:srgbClr val="A52F4D"/>
                </a:solidFill>
                <a:latin typeface="Aptos"/>
              </a:rPr>
              <a:t>−18,5</a:t>
            </a:r>
          </a:p>
        </p:txBody>
      </p:sp>
      <p:sp>
        <p:nvSpPr>
          <p:cNvPr id="65" name="Rectangle 64"/>
          <p:cNvSpPr/>
          <p:nvPr/>
        </p:nvSpPr>
        <p:spPr>
          <a:xfrm>
            <a:off x="4617720" y="4279392"/>
            <a:ext cx="6217920" cy="1253732"/>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4846320" y="4631322"/>
            <a:ext cx="6492240" cy="338554"/>
          </a:xfrm>
          <a:prstGeom prst="rect">
            <a:avLst/>
          </a:prstGeom>
          <a:noFill/>
        </p:spPr>
        <p:txBody>
          <a:bodyPr wrap="square" lIns="0" tIns="0" rIns="0" bIns="0" anchor="ctr">
            <a:spAutoFit/>
          </a:bodyPr>
          <a:lstStyle/>
          <a:p>
            <a:pPr algn="l">
              <a:spcBef>
                <a:spcPts val="0"/>
              </a:spcBef>
              <a:spcAft>
                <a:spcPts val="200"/>
              </a:spcAft>
            </a:pPr>
            <a:r>
              <a:rPr lang="en-GB" sz="1100" b="0">
                <a:solidFill>
                  <a:srgbClr val="4F6875"/>
                </a:solidFill>
                <a:latin typeface="Aptos"/>
              </a:rPr>
              <a:t>Das </a:t>
            </a:r>
            <a:r>
              <a:rPr lang="en-GB" sz="1100" b="0" err="1">
                <a:solidFill>
                  <a:srgbClr val="4F6875"/>
                </a:solidFill>
                <a:latin typeface="Aptos"/>
              </a:rPr>
              <a:t>lange</a:t>
            </a:r>
            <a:r>
              <a:rPr lang="en-GB" sz="1100" b="0">
                <a:solidFill>
                  <a:srgbClr val="4F6875"/>
                </a:solidFill>
                <a:latin typeface="Aptos"/>
              </a:rPr>
              <a:t> Ende (5–10J + &gt;10J = 105 </a:t>
            </a:r>
            <a:r>
              <a:rPr lang="en-GB" sz="1100" b="0" err="1">
                <a:solidFill>
                  <a:srgbClr val="4F6875"/>
                </a:solidFill>
                <a:latin typeface="Aptos"/>
              </a:rPr>
              <a:t>Mrd</a:t>
            </a:r>
            <a:r>
              <a:rPr lang="en-GB" sz="1100" b="0">
                <a:solidFill>
                  <a:srgbClr val="4F6875"/>
                </a:solidFill>
                <a:latin typeface="Aptos"/>
              </a:rPr>
              <a:t> €) </a:t>
            </a:r>
            <a:r>
              <a:rPr lang="en-GB" sz="1100" b="0" err="1">
                <a:solidFill>
                  <a:srgbClr val="4F6875"/>
                </a:solidFill>
                <a:latin typeface="Aptos"/>
              </a:rPr>
              <a:t>trägt</a:t>
            </a:r>
            <a:r>
              <a:rPr lang="en-GB" sz="1100" b="0">
                <a:solidFill>
                  <a:srgbClr val="4F6875"/>
                </a:solidFill>
                <a:latin typeface="Aptos"/>
              </a:rPr>
              <a:t> den </a:t>
            </a:r>
            <a:r>
              <a:rPr lang="en-GB" sz="1100" b="0" err="1">
                <a:solidFill>
                  <a:srgbClr val="4F6875"/>
                </a:solidFill>
                <a:latin typeface="Aptos"/>
              </a:rPr>
              <a:t>Verlust</a:t>
            </a:r>
            <a:r>
              <a:rPr lang="en-GB" sz="1100" b="0">
                <a:solidFill>
                  <a:srgbClr val="4F6875"/>
                </a:solidFill>
                <a:latin typeface="Aptos"/>
              </a:rPr>
              <a:t>; der </a:t>
            </a:r>
            <a:r>
              <a:rPr lang="en-GB" sz="1100" b="0" err="1">
                <a:solidFill>
                  <a:srgbClr val="4F6875"/>
                </a:solidFill>
                <a:latin typeface="Aptos"/>
              </a:rPr>
              <a:t>Handelsbestand</a:t>
            </a:r>
            <a:r>
              <a:rPr lang="en-GB" sz="1100" b="0">
                <a:solidFill>
                  <a:srgbClr val="4F6875"/>
                </a:solidFill>
                <a:latin typeface="Aptos"/>
              </a:rPr>
              <a:t> </a:t>
            </a:r>
            <a:r>
              <a:rPr lang="en-GB" sz="1100" b="0" err="1">
                <a:solidFill>
                  <a:srgbClr val="4F6875"/>
                </a:solidFill>
                <a:latin typeface="Aptos"/>
              </a:rPr>
              <a:t>macht</a:t>
            </a:r>
            <a:r>
              <a:rPr lang="en-GB" sz="1100" b="0">
                <a:solidFill>
                  <a:srgbClr val="4F6875"/>
                </a:solidFill>
                <a:latin typeface="Aptos"/>
              </a:rPr>
              <a:t> </a:t>
            </a:r>
            <a:r>
              <a:rPr lang="en-GB" sz="1100" b="0" err="1">
                <a:solidFill>
                  <a:srgbClr val="4F6875"/>
                </a:solidFill>
                <a:latin typeface="Aptos"/>
              </a:rPr>
              <a:t>ihn</a:t>
            </a:r>
            <a:r>
              <a:rPr lang="en-GB" sz="1100" b="0">
                <a:solidFill>
                  <a:srgbClr val="4F6875"/>
                </a:solidFill>
                <a:latin typeface="Aptos"/>
              </a:rPr>
              <a:t> CET1-wirksam. −18,5 </a:t>
            </a:r>
            <a:r>
              <a:rPr lang="en-GB" sz="1100" b="0" err="1">
                <a:solidFill>
                  <a:srgbClr val="4F6875"/>
                </a:solidFill>
                <a:latin typeface="Aptos"/>
              </a:rPr>
              <a:t>Mrd</a:t>
            </a:r>
            <a:r>
              <a:rPr lang="en-GB" sz="1100" b="0">
                <a:solidFill>
                  <a:srgbClr val="4F6875"/>
                </a:solidFill>
                <a:latin typeface="Aptos"/>
              </a:rPr>
              <a:t> € </a:t>
            </a:r>
            <a:r>
              <a:rPr lang="en-GB" sz="1100" b="0" err="1">
                <a:solidFill>
                  <a:srgbClr val="4F6875"/>
                </a:solidFill>
                <a:latin typeface="Aptos"/>
              </a:rPr>
              <a:t>gehen</a:t>
            </a:r>
            <a:r>
              <a:rPr lang="en-GB" sz="1100" b="0">
                <a:solidFill>
                  <a:srgbClr val="4F6875"/>
                </a:solidFill>
                <a:latin typeface="Aptos"/>
              </a:rPr>
              <a:t> (</a:t>
            </a:r>
            <a:r>
              <a:rPr lang="en-GB" sz="1100" b="0" err="1">
                <a:solidFill>
                  <a:srgbClr val="4F6875"/>
                </a:solidFill>
                <a:latin typeface="Aptos"/>
              </a:rPr>
              <a:t>brutto</a:t>
            </a:r>
            <a:r>
              <a:rPr lang="en-GB" sz="1100" b="0">
                <a:solidFill>
                  <a:srgbClr val="4F6875"/>
                </a:solidFill>
                <a:latin typeface="Aptos"/>
              </a:rPr>
              <a:t>/</a:t>
            </a:r>
            <a:r>
              <a:rPr lang="en-GB" sz="1100" b="0" err="1">
                <a:solidFill>
                  <a:srgbClr val="4F6875"/>
                </a:solidFill>
                <a:latin typeface="Aptos"/>
              </a:rPr>
              <a:t>Obergrenze</a:t>
            </a:r>
            <a:r>
              <a:rPr lang="en-GB" sz="1100" b="0">
                <a:solidFill>
                  <a:srgbClr val="4F6875"/>
                </a:solidFill>
                <a:latin typeface="Aptos"/>
              </a:rPr>
              <a:t>) in die </a:t>
            </a:r>
            <a:r>
              <a:rPr lang="en-GB" sz="1100" b="0" err="1">
                <a:solidFill>
                  <a:srgbClr val="4F6875"/>
                </a:solidFill>
                <a:latin typeface="Aptos"/>
              </a:rPr>
              <a:t>Kapitalbrücke</a:t>
            </a:r>
            <a:r>
              <a:rPr lang="en-GB" sz="1100" b="0">
                <a:solidFill>
                  <a:srgbClr val="4F6875"/>
                </a:solidFill>
                <a:latin typeface="Aptos"/>
              </a:rPr>
              <a:t>, −6,7 </a:t>
            </a:r>
            <a:r>
              <a:rPr lang="en-GB" sz="1100" b="0" err="1">
                <a:solidFill>
                  <a:srgbClr val="4F6875"/>
                </a:solidFill>
                <a:latin typeface="Aptos"/>
              </a:rPr>
              <a:t>Mrd</a:t>
            </a:r>
            <a:r>
              <a:rPr lang="en-GB" sz="1100" b="0">
                <a:solidFill>
                  <a:srgbClr val="4F6875"/>
                </a:solidFill>
                <a:latin typeface="Aptos"/>
              </a:rPr>
              <a:t> € AC </a:t>
            </a:r>
            <a:r>
              <a:rPr lang="en-GB" sz="1100" b="0" err="1">
                <a:solidFill>
                  <a:srgbClr val="4F6875"/>
                </a:solidFill>
                <a:latin typeface="Aptos"/>
              </a:rPr>
              <a:t>bleiben</a:t>
            </a:r>
            <a:r>
              <a:rPr lang="en-GB" sz="1100" b="0">
                <a:solidFill>
                  <a:srgbClr val="4F6875"/>
                </a:solidFill>
                <a:latin typeface="Aptos"/>
              </a:rPr>
              <a:t> latent.</a:t>
            </a:r>
          </a:p>
        </p:txBody>
      </p:sp>
      <p:sp>
        <p:nvSpPr>
          <p:cNvPr id="67" name="TextBox 66"/>
          <p:cNvSpPr txBox="1"/>
          <p:nvPr/>
        </p:nvSpPr>
        <p:spPr>
          <a:xfrm>
            <a:off x="457200" y="6519672"/>
            <a:ext cx="7315200" cy="138499"/>
          </a:xfrm>
          <a:prstGeom prst="rect">
            <a:avLst/>
          </a:prstGeom>
          <a:noFill/>
        </p:spPr>
        <p:txBody>
          <a:bodyPr wrap="square" lIns="0" tIns="0" rIns="0" bIns="0" anchor="t">
            <a:spAutoFit/>
          </a:bodyPr>
          <a:lstStyle/>
          <a:p>
            <a:pPr algn="l">
              <a:spcBef>
                <a:spcPts val="0"/>
              </a:spcBef>
              <a:spcAft>
                <a:spcPts val="200"/>
              </a:spcAft>
            </a:pPr>
            <a:r>
              <a:rPr lang="en-GB" sz="900" b="0">
                <a:solidFill>
                  <a:srgbClr val="71858F"/>
                </a:solidFill>
                <a:latin typeface="Aptos"/>
              </a:rPr>
              <a:t>Marktbuch · Sovereign / Rate Channel</a:t>
            </a:r>
          </a:p>
        </p:txBody>
      </p:sp>
      <p:sp>
        <p:nvSpPr>
          <p:cNvPr id="68" name="CodexSlideNumber">
            <a:extLst>
              <a:ext uri="{FF2B5EF4-FFF2-40B4-BE49-F238E27FC236}">
                <a16:creationId xmlns:a16="http://schemas.microsoft.com/office/drawing/2014/main" id="{2F0AEE2D-F5E4-2B20-CDF2-997702637D74}"/>
              </a:ext>
            </a:extLst>
          </p:cNvPr>
          <p:cNvSpPr txBox="1"/>
          <p:nvPr/>
        </p:nvSpPr>
        <p:spPr>
          <a:xfrm>
            <a:off x="11226800" y="6553200"/>
            <a:ext cx="736600" cy="123111"/>
          </a:xfrm>
          <a:prstGeom prst="rect">
            <a:avLst/>
          </a:prstGeom>
          <a:noFill/>
        </p:spPr>
        <p:txBody>
          <a:bodyPr vert="horz" lIns="0" tIns="0" rIns="0" bIns="0" rtlCol="0">
            <a:spAutoFit/>
          </a:bodyPr>
          <a:lstStyle/>
          <a:p>
            <a:pPr algn="r"/>
            <a:r>
              <a:rPr lang="en-US" sz="800">
                <a:solidFill>
                  <a:srgbClr val="525252"/>
                </a:solidFill>
                <a:latin typeface="Arial" panose="020B0604020202020204" pitchFamily="34" charset="0"/>
              </a:rPr>
              <a:t>40 / 64</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84048"/>
            <a:ext cx="11155680" cy="132793"/>
          </a:xfrm>
          <a:prstGeom prst="rect">
            <a:avLst/>
          </a:prstGeom>
          <a:noFill/>
        </p:spPr>
        <p:txBody>
          <a:bodyPr wrap="square" lIns="0" tIns="0" rIns="0" bIns="0" anchor="t">
            <a:spAutoFit/>
          </a:bodyPr>
          <a:lstStyle/>
          <a:p>
            <a:pPr>
              <a:spcBef>
                <a:spcPts val="0"/>
              </a:spcBef>
              <a:spcAft>
                <a:spcPts val="200"/>
              </a:spcAft>
            </a:pPr>
            <a:r>
              <a:rPr lang="en-GB" sz="863" b="1" dirty="0">
                <a:solidFill>
                  <a:schemeClr val="tx2"/>
                </a:solidFill>
                <a:latin typeface="Aptos"/>
              </a:rPr>
              <a:t>SUB-TAB 2 · KONZENTRATION · DOOM-LOOP</a:t>
            </a:r>
          </a:p>
        </p:txBody>
      </p:sp>
      <p:sp>
        <p:nvSpPr>
          <p:cNvPr id="4" name="TextBox 3"/>
          <p:cNvSpPr txBox="1"/>
          <p:nvPr/>
        </p:nvSpPr>
        <p:spPr>
          <a:xfrm>
            <a:off x="548640" y="658368"/>
            <a:ext cx="11155680" cy="380873"/>
          </a:xfrm>
          <a:prstGeom prst="rect">
            <a:avLst/>
          </a:prstGeom>
          <a:noFill/>
        </p:spPr>
        <p:txBody>
          <a:bodyPr wrap="square" lIns="0" tIns="0" rIns="0" bIns="0" anchor="t">
            <a:spAutoFit/>
          </a:bodyPr>
          <a:lstStyle/>
          <a:p>
            <a:pPr algn="l">
              <a:spcBef>
                <a:spcPts val="0"/>
              </a:spcBef>
              <a:spcAft>
                <a:spcPts val="200"/>
              </a:spcAft>
            </a:pPr>
            <a:r>
              <a:rPr lang="de-DE" sz="2475" b="1">
                <a:solidFill>
                  <a:srgbClr val="051C2C"/>
                </a:solidFill>
                <a:latin typeface="Aptos Display"/>
              </a:rPr>
              <a:t>Home-Bias trifft Kapitalhebel – die Deutsche Bank im Vergleich</a:t>
            </a:r>
          </a:p>
        </p:txBody>
      </p:sp>
      <p:sp>
        <p:nvSpPr>
          <p:cNvPr id="5" name="Rectangle 4"/>
          <p:cNvSpPr/>
          <p:nvPr/>
        </p:nvSpPr>
        <p:spPr>
          <a:xfrm>
            <a:off x="548640" y="1691640"/>
            <a:ext cx="7406640" cy="3611880"/>
          </a:xfrm>
          <a:prstGeom prst="rect">
            <a:avLst/>
          </a:prstGeom>
          <a:solidFill>
            <a:srgbClr val="FFFFFF"/>
          </a:solidFill>
          <a:ln w="9525">
            <a:solidFill>
              <a:srgbClr val="D9E2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3669029" y="2103120"/>
            <a:ext cx="4011929" cy="815666"/>
          </a:xfrm>
          <a:prstGeom prst="rect">
            <a:avLst/>
          </a:prstGeom>
          <a:solidFill>
            <a:srgbClr val="F2DE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261872" y="4800600"/>
            <a:ext cx="6419087" cy="10972"/>
          </a:xfrm>
          <a:prstGeom prst="rect">
            <a:avLst/>
          </a:prstGeom>
          <a:solidFill>
            <a:srgbClr val="D9E2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1261872" y="2103120"/>
            <a:ext cx="10972" cy="2697480"/>
          </a:xfrm>
          <a:prstGeom prst="rect">
            <a:avLst/>
          </a:prstGeom>
          <a:solidFill>
            <a:srgbClr val="D9E2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3669029" y="2103120"/>
            <a:ext cx="9144" cy="2697480"/>
          </a:xfrm>
          <a:prstGeom prst="rect">
            <a:avLst/>
          </a:prstGeom>
          <a:solidFill>
            <a:srgbClr val="D9E2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1261872" y="2918786"/>
            <a:ext cx="6419087" cy="9144"/>
          </a:xfrm>
          <a:prstGeom prst="rect">
            <a:avLst/>
          </a:prstGeom>
          <a:solidFill>
            <a:srgbClr val="D9E2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303269" y="2066544"/>
            <a:ext cx="731520" cy="107722"/>
          </a:xfrm>
          <a:prstGeom prst="rect">
            <a:avLst/>
          </a:prstGeom>
          <a:noFill/>
        </p:spPr>
        <p:txBody>
          <a:bodyPr wrap="square" lIns="0" tIns="0" rIns="0" bIns="0" anchor="t">
            <a:spAutoFit/>
          </a:bodyPr>
          <a:lstStyle/>
          <a:p>
            <a:pPr algn="ctr">
              <a:spcBef>
                <a:spcPts val="0"/>
              </a:spcBef>
              <a:spcAft>
                <a:spcPts val="200"/>
              </a:spcAft>
            </a:pPr>
            <a:r>
              <a:rPr lang="en-GB" sz="700" b="0">
                <a:solidFill>
                  <a:srgbClr val="4F6875"/>
                </a:solidFill>
                <a:latin typeface="Aptos"/>
              </a:rPr>
              <a:t>Median</a:t>
            </a:r>
          </a:p>
        </p:txBody>
      </p:sp>
      <p:sp>
        <p:nvSpPr>
          <p:cNvPr id="12" name="TextBox 11"/>
          <p:cNvSpPr txBox="1"/>
          <p:nvPr/>
        </p:nvSpPr>
        <p:spPr>
          <a:xfrm>
            <a:off x="1261872" y="4937760"/>
            <a:ext cx="6419087" cy="130805"/>
          </a:xfrm>
          <a:prstGeom prst="rect">
            <a:avLst/>
          </a:prstGeom>
          <a:noFill/>
        </p:spPr>
        <p:txBody>
          <a:bodyPr wrap="square" lIns="0" tIns="0" rIns="0" bIns="0" anchor="t">
            <a:spAutoFit/>
          </a:bodyPr>
          <a:lstStyle/>
          <a:p>
            <a:pPr algn="ctr">
              <a:spcBef>
                <a:spcPts val="0"/>
              </a:spcBef>
              <a:spcAft>
                <a:spcPts val="200"/>
              </a:spcAft>
            </a:pPr>
            <a:r>
              <a:rPr lang="de-DE" sz="850" b="1">
                <a:solidFill>
                  <a:srgbClr val="4F6875"/>
                </a:solidFill>
                <a:latin typeface="Aptos"/>
              </a:rPr>
              <a:t>Home-Bias  [% des Sovereign-Buchs im Heimatstaat]</a:t>
            </a:r>
          </a:p>
        </p:txBody>
      </p:sp>
      <p:sp>
        <p:nvSpPr>
          <p:cNvPr id="13" name="TextBox 12"/>
          <p:cNvSpPr txBox="1"/>
          <p:nvPr/>
        </p:nvSpPr>
        <p:spPr>
          <a:xfrm>
            <a:off x="658368" y="1810512"/>
            <a:ext cx="2743200" cy="130805"/>
          </a:xfrm>
          <a:prstGeom prst="rect">
            <a:avLst/>
          </a:prstGeom>
          <a:noFill/>
        </p:spPr>
        <p:txBody>
          <a:bodyPr wrap="square" lIns="0" tIns="0" rIns="0" bIns="0" anchor="t">
            <a:spAutoFit/>
          </a:bodyPr>
          <a:lstStyle/>
          <a:p>
            <a:pPr algn="l">
              <a:spcBef>
                <a:spcPts val="0"/>
              </a:spcBef>
              <a:spcAft>
                <a:spcPts val="200"/>
              </a:spcAft>
            </a:pPr>
            <a:r>
              <a:rPr lang="en-GB" sz="850" b="1">
                <a:solidFill>
                  <a:srgbClr val="4F6875"/>
                </a:solidFill>
                <a:latin typeface="Aptos"/>
              </a:rPr>
              <a:t>Sovereign / CET1  [%]</a:t>
            </a:r>
          </a:p>
        </p:txBody>
      </p:sp>
      <p:sp>
        <p:nvSpPr>
          <p:cNvPr id="14" name="TextBox 13"/>
          <p:cNvSpPr txBox="1"/>
          <p:nvPr/>
        </p:nvSpPr>
        <p:spPr>
          <a:xfrm>
            <a:off x="1033271" y="4818888"/>
            <a:ext cx="457200" cy="107722"/>
          </a:xfrm>
          <a:prstGeom prst="rect">
            <a:avLst/>
          </a:prstGeom>
          <a:noFill/>
        </p:spPr>
        <p:txBody>
          <a:bodyPr wrap="square" lIns="0" tIns="0" rIns="0" bIns="0" anchor="t">
            <a:spAutoFit/>
          </a:bodyPr>
          <a:lstStyle/>
          <a:p>
            <a:pPr algn="ctr">
              <a:spcBef>
                <a:spcPts val="0"/>
              </a:spcBef>
              <a:spcAft>
                <a:spcPts val="200"/>
              </a:spcAft>
            </a:pPr>
            <a:r>
              <a:rPr lang="en-GB" sz="700" b="0">
                <a:solidFill>
                  <a:srgbClr val="4F6875"/>
                </a:solidFill>
                <a:latin typeface="Aptos"/>
              </a:rPr>
              <a:t>0</a:t>
            </a:r>
          </a:p>
        </p:txBody>
      </p:sp>
      <p:sp>
        <p:nvSpPr>
          <p:cNvPr id="15" name="TextBox 14"/>
          <p:cNvSpPr txBox="1"/>
          <p:nvPr/>
        </p:nvSpPr>
        <p:spPr>
          <a:xfrm>
            <a:off x="2638044" y="4818888"/>
            <a:ext cx="457200" cy="107722"/>
          </a:xfrm>
          <a:prstGeom prst="rect">
            <a:avLst/>
          </a:prstGeom>
          <a:noFill/>
        </p:spPr>
        <p:txBody>
          <a:bodyPr wrap="square" lIns="0" tIns="0" rIns="0" bIns="0" anchor="t">
            <a:spAutoFit/>
          </a:bodyPr>
          <a:lstStyle/>
          <a:p>
            <a:pPr algn="ctr">
              <a:spcBef>
                <a:spcPts val="0"/>
              </a:spcBef>
              <a:spcAft>
                <a:spcPts val="200"/>
              </a:spcAft>
            </a:pPr>
            <a:r>
              <a:rPr lang="en-GB" sz="700" b="0">
                <a:solidFill>
                  <a:srgbClr val="4F6875"/>
                </a:solidFill>
                <a:latin typeface="Aptos"/>
              </a:rPr>
              <a:t>20</a:t>
            </a:r>
          </a:p>
        </p:txBody>
      </p:sp>
      <p:sp>
        <p:nvSpPr>
          <p:cNvPr id="16" name="TextBox 15"/>
          <p:cNvSpPr txBox="1"/>
          <p:nvPr/>
        </p:nvSpPr>
        <p:spPr>
          <a:xfrm>
            <a:off x="4242815" y="4818888"/>
            <a:ext cx="457200" cy="107722"/>
          </a:xfrm>
          <a:prstGeom prst="rect">
            <a:avLst/>
          </a:prstGeom>
          <a:noFill/>
        </p:spPr>
        <p:txBody>
          <a:bodyPr wrap="square" lIns="0" tIns="0" rIns="0" bIns="0" anchor="t">
            <a:spAutoFit/>
          </a:bodyPr>
          <a:lstStyle/>
          <a:p>
            <a:pPr algn="ctr">
              <a:spcBef>
                <a:spcPts val="0"/>
              </a:spcBef>
              <a:spcAft>
                <a:spcPts val="200"/>
              </a:spcAft>
            </a:pPr>
            <a:r>
              <a:rPr lang="en-GB" sz="700" b="0">
                <a:solidFill>
                  <a:srgbClr val="4F6875"/>
                </a:solidFill>
                <a:latin typeface="Aptos"/>
              </a:rPr>
              <a:t>40</a:t>
            </a:r>
          </a:p>
        </p:txBody>
      </p:sp>
      <p:sp>
        <p:nvSpPr>
          <p:cNvPr id="17" name="TextBox 16"/>
          <p:cNvSpPr txBox="1"/>
          <p:nvPr/>
        </p:nvSpPr>
        <p:spPr>
          <a:xfrm>
            <a:off x="5847587" y="4818888"/>
            <a:ext cx="457200" cy="107722"/>
          </a:xfrm>
          <a:prstGeom prst="rect">
            <a:avLst/>
          </a:prstGeom>
          <a:noFill/>
        </p:spPr>
        <p:txBody>
          <a:bodyPr wrap="square" lIns="0" tIns="0" rIns="0" bIns="0" anchor="t">
            <a:spAutoFit/>
          </a:bodyPr>
          <a:lstStyle/>
          <a:p>
            <a:pPr algn="ctr">
              <a:spcBef>
                <a:spcPts val="0"/>
              </a:spcBef>
              <a:spcAft>
                <a:spcPts val="200"/>
              </a:spcAft>
            </a:pPr>
            <a:r>
              <a:rPr lang="en-GB" sz="700" b="0">
                <a:solidFill>
                  <a:srgbClr val="4F6875"/>
                </a:solidFill>
                <a:latin typeface="Aptos"/>
              </a:rPr>
              <a:t>60</a:t>
            </a:r>
          </a:p>
        </p:txBody>
      </p:sp>
      <p:sp>
        <p:nvSpPr>
          <p:cNvPr id="18" name="TextBox 17"/>
          <p:cNvSpPr txBox="1"/>
          <p:nvPr/>
        </p:nvSpPr>
        <p:spPr>
          <a:xfrm>
            <a:off x="7452359" y="4818888"/>
            <a:ext cx="457200" cy="107722"/>
          </a:xfrm>
          <a:prstGeom prst="rect">
            <a:avLst/>
          </a:prstGeom>
          <a:noFill/>
        </p:spPr>
        <p:txBody>
          <a:bodyPr wrap="square" lIns="0" tIns="0" rIns="0" bIns="0" anchor="t">
            <a:spAutoFit/>
          </a:bodyPr>
          <a:lstStyle/>
          <a:p>
            <a:pPr algn="ctr">
              <a:spcBef>
                <a:spcPts val="0"/>
              </a:spcBef>
              <a:spcAft>
                <a:spcPts val="200"/>
              </a:spcAft>
            </a:pPr>
            <a:r>
              <a:rPr lang="en-GB" sz="700" b="0">
                <a:solidFill>
                  <a:srgbClr val="4F6875"/>
                </a:solidFill>
                <a:latin typeface="Aptos"/>
              </a:rPr>
              <a:t>80</a:t>
            </a:r>
          </a:p>
        </p:txBody>
      </p:sp>
      <p:sp>
        <p:nvSpPr>
          <p:cNvPr id="19" name="TextBox 18"/>
          <p:cNvSpPr txBox="1"/>
          <p:nvPr/>
        </p:nvSpPr>
        <p:spPr>
          <a:xfrm>
            <a:off x="822959" y="4727448"/>
            <a:ext cx="384048" cy="107722"/>
          </a:xfrm>
          <a:prstGeom prst="rect">
            <a:avLst/>
          </a:prstGeom>
          <a:noFill/>
        </p:spPr>
        <p:txBody>
          <a:bodyPr wrap="square" lIns="0" tIns="0" rIns="0" bIns="0" anchor="t">
            <a:spAutoFit/>
          </a:bodyPr>
          <a:lstStyle/>
          <a:p>
            <a:pPr algn="r">
              <a:spcBef>
                <a:spcPts val="0"/>
              </a:spcBef>
              <a:spcAft>
                <a:spcPts val="200"/>
              </a:spcAft>
            </a:pPr>
            <a:r>
              <a:rPr lang="en-GB" sz="700" b="0">
                <a:solidFill>
                  <a:srgbClr val="4F6875"/>
                </a:solidFill>
                <a:latin typeface="Aptos"/>
              </a:rPr>
              <a:t>0</a:t>
            </a:r>
          </a:p>
        </p:txBody>
      </p:sp>
      <p:sp>
        <p:nvSpPr>
          <p:cNvPr id="20" name="TextBox 19"/>
          <p:cNvSpPr txBox="1"/>
          <p:nvPr/>
        </p:nvSpPr>
        <p:spPr>
          <a:xfrm>
            <a:off x="822959" y="4085190"/>
            <a:ext cx="384048" cy="107722"/>
          </a:xfrm>
          <a:prstGeom prst="rect">
            <a:avLst/>
          </a:prstGeom>
          <a:noFill/>
        </p:spPr>
        <p:txBody>
          <a:bodyPr wrap="square" lIns="0" tIns="0" rIns="0" bIns="0" anchor="t">
            <a:spAutoFit/>
          </a:bodyPr>
          <a:lstStyle/>
          <a:p>
            <a:pPr algn="r">
              <a:spcBef>
                <a:spcPts val="0"/>
              </a:spcBef>
              <a:spcAft>
                <a:spcPts val="200"/>
              </a:spcAft>
            </a:pPr>
            <a:r>
              <a:rPr lang="en-GB" sz="700" b="0">
                <a:solidFill>
                  <a:srgbClr val="4F6875"/>
                </a:solidFill>
                <a:latin typeface="Aptos"/>
              </a:rPr>
              <a:t>100</a:t>
            </a:r>
          </a:p>
        </p:txBody>
      </p:sp>
      <p:sp>
        <p:nvSpPr>
          <p:cNvPr id="21" name="TextBox 20"/>
          <p:cNvSpPr txBox="1"/>
          <p:nvPr/>
        </p:nvSpPr>
        <p:spPr>
          <a:xfrm>
            <a:off x="822959" y="3442933"/>
            <a:ext cx="384048" cy="107722"/>
          </a:xfrm>
          <a:prstGeom prst="rect">
            <a:avLst/>
          </a:prstGeom>
          <a:noFill/>
        </p:spPr>
        <p:txBody>
          <a:bodyPr wrap="square" lIns="0" tIns="0" rIns="0" bIns="0" anchor="t">
            <a:spAutoFit/>
          </a:bodyPr>
          <a:lstStyle/>
          <a:p>
            <a:pPr algn="r">
              <a:spcBef>
                <a:spcPts val="0"/>
              </a:spcBef>
              <a:spcAft>
                <a:spcPts val="200"/>
              </a:spcAft>
            </a:pPr>
            <a:r>
              <a:rPr lang="en-GB" sz="700" b="0">
                <a:solidFill>
                  <a:srgbClr val="4F6875"/>
                </a:solidFill>
                <a:latin typeface="Aptos"/>
              </a:rPr>
              <a:t>200</a:t>
            </a:r>
          </a:p>
        </p:txBody>
      </p:sp>
      <p:sp>
        <p:nvSpPr>
          <p:cNvPr id="22" name="TextBox 21"/>
          <p:cNvSpPr txBox="1"/>
          <p:nvPr/>
        </p:nvSpPr>
        <p:spPr>
          <a:xfrm>
            <a:off x="822959" y="2800676"/>
            <a:ext cx="384048" cy="107722"/>
          </a:xfrm>
          <a:prstGeom prst="rect">
            <a:avLst/>
          </a:prstGeom>
          <a:noFill/>
        </p:spPr>
        <p:txBody>
          <a:bodyPr wrap="square" lIns="0" tIns="0" rIns="0" bIns="0" anchor="t">
            <a:spAutoFit/>
          </a:bodyPr>
          <a:lstStyle/>
          <a:p>
            <a:pPr algn="r">
              <a:spcBef>
                <a:spcPts val="0"/>
              </a:spcBef>
              <a:spcAft>
                <a:spcPts val="200"/>
              </a:spcAft>
            </a:pPr>
            <a:r>
              <a:rPr lang="en-GB" sz="700" b="0">
                <a:solidFill>
                  <a:srgbClr val="4F6875"/>
                </a:solidFill>
                <a:latin typeface="Aptos"/>
              </a:rPr>
              <a:t>300</a:t>
            </a:r>
          </a:p>
        </p:txBody>
      </p:sp>
      <p:sp>
        <p:nvSpPr>
          <p:cNvPr id="23" name="TextBox 22"/>
          <p:cNvSpPr txBox="1"/>
          <p:nvPr/>
        </p:nvSpPr>
        <p:spPr>
          <a:xfrm>
            <a:off x="822959" y="2158419"/>
            <a:ext cx="384048" cy="107722"/>
          </a:xfrm>
          <a:prstGeom prst="rect">
            <a:avLst/>
          </a:prstGeom>
          <a:noFill/>
        </p:spPr>
        <p:txBody>
          <a:bodyPr wrap="square" lIns="0" tIns="0" rIns="0" bIns="0" anchor="t">
            <a:spAutoFit/>
          </a:bodyPr>
          <a:lstStyle/>
          <a:p>
            <a:pPr algn="r">
              <a:spcBef>
                <a:spcPts val="0"/>
              </a:spcBef>
              <a:spcAft>
                <a:spcPts val="200"/>
              </a:spcAft>
            </a:pPr>
            <a:r>
              <a:rPr lang="en-GB" sz="700" b="0">
                <a:solidFill>
                  <a:srgbClr val="4F6875"/>
                </a:solidFill>
                <a:latin typeface="Aptos"/>
              </a:rPr>
              <a:t>400</a:t>
            </a:r>
          </a:p>
        </p:txBody>
      </p:sp>
      <p:sp>
        <p:nvSpPr>
          <p:cNvPr id="24" name="Oval 23"/>
          <p:cNvSpPr/>
          <p:nvPr/>
        </p:nvSpPr>
        <p:spPr>
          <a:xfrm>
            <a:off x="2053970" y="1993500"/>
            <a:ext cx="822960" cy="822960"/>
          </a:xfrm>
          <a:prstGeom prst="ellipse">
            <a:avLst/>
          </a:prstGeom>
          <a:solidFill>
            <a:srgbClr val="0B5D7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642490" y="1838052"/>
            <a:ext cx="1645920" cy="115416"/>
          </a:xfrm>
          <a:prstGeom prst="rect">
            <a:avLst/>
          </a:prstGeom>
          <a:noFill/>
        </p:spPr>
        <p:txBody>
          <a:bodyPr wrap="square" lIns="0" tIns="0" rIns="0" bIns="0" anchor="t">
            <a:spAutoFit/>
          </a:bodyPr>
          <a:lstStyle/>
          <a:p>
            <a:pPr algn="ctr">
              <a:spcBef>
                <a:spcPts val="0"/>
              </a:spcBef>
              <a:spcAft>
                <a:spcPts val="200"/>
              </a:spcAft>
            </a:pPr>
            <a:r>
              <a:rPr lang="en-GB" sz="750" b="1">
                <a:solidFill>
                  <a:srgbClr val="051C2C"/>
                </a:solidFill>
                <a:latin typeface="Aptos"/>
              </a:rPr>
              <a:t>BNP</a:t>
            </a:r>
          </a:p>
        </p:txBody>
      </p:sp>
      <p:sp>
        <p:nvSpPr>
          <p:cNvPr id="26" name="Oval 25"/>
          <p:cNvSpPr/>
          <p:nvPr/>
        </p:nvSpPr>
        <p:spPr>
          <a:xfrm>
            <a:off x="6508991" y="2041820"/>
            <a:ext cx="739165" cy="739165"/>
          </a:xfrm>
          <a:prstGeom prst="ellipse">
            <a:avLst/>
          </a:prstGeom>
          <a:solidFill>
            <a:srgbClr val="A52F4D"/>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055613" y="1886372"/>
            <a:ext cx="1645920" cy="115416"/>
          </a:xfrm>
          <a:prstGeom prst="rect">
            <a:avLst/>
          </a:prstGeom>
          <a:noFill/>
        </p:spPr>
        <p:txBody>
          <a:bodyPr wrap="square" lIns="0" tIns="0" rIns="0" bIns="0" anchor="t">
            <a:spAutoFit/>
          </a:bodyPr>
          <a:lstStyle/>
          <a:p>
            <a:pPr algn="ctr">
              <a:spcBef>
                <a:spcPts val="0"/>
              </a:spcBef>
              <a:spcAft>
                <a:spcPts val="200"/>
              </a:spcAft>
            </a:pPr>
            <a:r>
              <a:rPr lang="en-GB" sz="750" b="1">
                <a:solidFill>
                  <a:srgbClr val="051C2C"/>
                </a:solidFill>
                <a:latin typeface="Aptos"/>
              </a:rPr>
              <a:t>BPCE</a:t>
            </a:r>
          </a:p>
        </p:txBody>
      </p:sp>
      <p:sp>
        <p:nvSpPr>
          <p:cNvPr id="28" name="Oval 27"/>
          <p:cNvSpPr/>
          <p:nvPr/>
        </p:nvSpPr>
        <p:spPr>
          <a:xfrm>
            <a:off x="1585169" y="2092792"/>
            <a:ext cx="637222" cy="637222"/>
          </a:xfrm>
          <a:prstGeom prst="ellipse">
            <a:avLst/>
          </a:prstGeom>
          <a:solidFill>
            <a:srgbClr val="D1AC22"/>
          </a:solidFill>
          <a:ln w="19050">
            <a:solidFill>
              <a:srgbClr val="051C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1080820" y="1937344"/>
            <a:ext cx="1645920" cy="115416"/>
          </a:xfrm>
          <a:prstGeom prst="rect">
            <a:avLst/>
          </a:prstGeom>
          <a:noFill/>
        </p:spPr>
        <p:txBody>
          <a:bodyPr wrap="square" lIns="0" tIns="0" rIns="0" bIns="0" anchor="t">
            <a:spAutoFit/>
          </a:bodyPr>
          <a:lstStyle/>
          <a:p>
            <a:pPr algn="ctr">
              <a:spcBef>
                <a:spcPts val="0"/>
              </a:spcBef>
              <a:spcAft>
                <a:spcPts val="200"/>
              </a:spcAft>
            </a:pPr>
            <a:r>
              <a:rPr lang="en-GB" sz="750" b="1">
                <a:solidFill>
                  <a:srgbClr val="051C2C"/>
                </a:solidFill>
                <a:latin typeface="Aptos"/>
              </a:rPr>
              <a:t>Deutsche Bank</a:t>
            </a:r>
          </a:p>
        </p:txBody>
      </p:sp>
      <p:sp>
        <p:nvSpPr>
          <p:cNvPr id="30" name="Oval 29"/>
          <p:cNvSpPr/>
          <p:nvPr/>
        </p:nvSpPr>
        <p:spPr>
          <a:xfrm>
            <a:off x="3669563" y="2245124"/>
            <a:ext cx="640841" cy="640841"/>
          </a:xfrm>
          <a:prstGeom prst="ellipse">
            <a:avLst/>
          </a:prstGeom>
          <a:solidFill>
            <a:srgbClr val="A52F4D"/>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3167024" y="2089676"/>
            <a:ext cx="1645920" cy="115416"/>
          </a:xfrm>
          <a:prstGeom prst="rect">
            <a:avLst/>
          </a:prstGeom>
          <a:noFill/>
        </p:spPr>
        <p:txBody>
          <a:bodyPr wrap="square" lIns="0" tIns="0" rIns="0" bIns="0" anchor="t">
            <a:spAutoFit/>
          </a:bodyPr>
          <a:lstStyle/>
          <a:p>
            <a:pPr algn="ctr">
              <a:spcBef>
                <a:spcPts val="0"/>
              </a:spcBef>
              <a:spcAft>
                <a:spcPts val="200"/>
              </a:spcAft>
            </a:pPr>
            <a:r>
              <a:rPr lang="en-GB" sz="750" b="1">
                <a:solidFill>
                  <a:srgbClr val="051C2C"/>
                </a:solidFill>
                <a:latin typeface="Aptos"/>
              </a:rPr>
              <a:t>SocGen</a:t>
            </a:r>
          </a:p>
        </p:txBody>
      </p:sp>
      <p:sp>
        <p:nvSpPr>
          <p:cNvPr id="32" name="Oval 31"/>
          <p:cNvSpPr/>
          <p:nvPr/>
        </p:nvSpPr>
        <p:spPr>
          <a:xfrm>
            <a:off x="3450318" y="2420736"/>
            <a:ext cx="597900" cy="597900"/>
          </a:xfrm>
          <a:prstGeom prst="ellipse">
            <a:avLst/>
          </a:prstGeom>
          <a:solidFill>
            <a:srgbClr val="A52F4D"/>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2926308" y="2265288"/>
            <a:ext cx="1645920" cy="115416"/>
          </a:xfrm>
          <a:prstGeom prst="rect">
            <a:avLst/>
          </a:prstGeom>
          <a:noFill/>
        </p:spPr>
        <p:txBody>
          <a:bodyPr wrap="square" lIns="0" tIns="0" rIns="0" bIns="0" anchor="t">
            <a:spAutoFit/>
          </a:bodyPr>
          <a:lstStyle/>
          <a:p>
            <a:pPr algn="ctr">
              <a:spcBef>
                <a:spcPts val="0"/>
              </a:spcBef>
              <a:spcAft>
                <a:spcPts val="200"/>
              </a:spcAft>
            </a:pPr>
            <a:r>
              <a:rPr lang="en-GB" sz="750" b="1">
                <a:solidFill>
                  <a:srgbClr val="051C2C"/>
                </a:solidFill>
                <a:latin typeface="Aptos"/>
              </a:rPr>
              <a:t>UniCredit</a:t>
            </a:r>
          </a:p>
        </p:txBody>
      </p:sp>
      <p:sp>
        <p:nvSpPr>
          <p:cNvPr id="34" name="Oval 33"/>
          <p:cNvSpPr/>
          <p:nvPr/>
        </p:nvSpPr>
        <p:spPr>
          <a:xfrm>
            <a:off x="3331273" y="2780129"/>
            <a:ext cx="675513" cy="675513"/>
          </a:xfrm>
          <a:prstGeom prst="ellipse">
            <a:avLst/>
          </a:prstGeom>
          <a:solidFill>
            <a:srgbClr val="0B5D7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2846069" y="2624681"/>
            <a:ext cx="1645920" cy="115416"/>
          </a:xfrm>
          <a:prstGeom prst="rect">
            <a:avLst/>
          </a:prstGeom>
          <a:noFill/>
        </p:spPr>
        <p:txBody>
          <a:bodyPr wrap="square" lIns="0" tIns="0" rIns="0" bIns="0" anchor="t">
            <a:spAutoFit/>
          </a:bodyPr>
          <a:lstStyle/>
          <a:p>
            <a:pPr algn="ctr">
              <a:spcBef>
                <a:spcPts val="0"/>
              </a:spcBef>
              <a:spcAft>
                <a:spcPts val="200"/>
              </a:spcAft>
            </a:pPr>
            <a:r>
              <a:rPr lang="en-GB" sz="750" b="1">
                <a:solidFill>
                  <a:srgbClr val="051C2C"/>
                </a:solidFill>
                <a:latin typeface="Aptos"/>
              </a:rPr>
              <a:t>Santander</a:t>
            </a:r>
          </a:p>
        </p:txBody>
      </p:sp>
      <p:sp>
        <p:nvSpPr>
          <p:cNvPr id="36" name="Oval 35"/>
          <p:cNvSpPr/>
          <p:nvPr/>
        </p:nvSpPr>
        <p:spPr>
          <a:xfrm>
            <a:off x="1398356" y="3071544"/>
            <a:ext cx="529417" cy="529417"/>
          </a:xfrm>
          <a:prstGeom prst="ellipse">
            <a:avLst/>
          </a:prstGeom>
          <a:solidFill>
            <a:srgbClr val="0B5D7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840104" y="2916096"/>
            <a:ext cx="1645920" cy="115416"/>
          </a:xfrm>
          <a:prstGeom prst="rect">
            <a:avLst/>
          </a:prstGeom>
          <a:noFill/>
        </p:spPr>
        <p:txBody>
          <a:bodyPr wrap="square" lIns="0" tIns="0" rIns="0" bIns="0" anchor="t">
            <a:spAutoFit/>
          </a:bodyPr>
          <a:lstStyle/>
          <a:p>
            <a:pPr algn="ctr">
              <a:spcBef>
                <a:spcPts val="0"/>
              </a:spcBef>
              <a:spcAft>
                <a:spcPts val="200"/>
              </a:spcAft>
            </a:pPr>
            <a:r>
              <a:rPr lang="en-GB" sz="750" b="1">
                <a:solidFill>
                  <a:srgbClr val="051C2C"/>
                </a:solidFill>
                <a:latin typeface="Aptos"/>
              </a:rPr>
              <a:t>ING</a:t>
            </a:r>
          </a:p>
        </p:txBody>
      </p:sp>
      <p:sp>
        <p:nvSpPr>
          <p:cNvPr id="38" name="Oval 37"/>
          <p:cNvSpPr/>
          <p:nvPr/>
        </p:nvSpPr>
        <p:spPr>
          <a:xfrm>
            <a:off x="4794713" y="3467222"/>
            <a:ext cx="637222" cy="637222"/>
          </a:xfrm>
          <a:prstGeom prst="ellipse">
            <a:avLst/>
          </a:prstGeom>
          <a:solidFill>
            <a:srgbClr val="0B5D7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290364" y="3311774"/>
            <a:ext cx="1645920" cy="115416"/>
          </a:xfrm>
          <a:prstGeom prst="rect">
            <a:avLst/>
          </a:prstGeom>
          <a:noFill/>
        </p:spPr>
        <p:txBody>
          <a:bodyPr wrap="square" lIns="0" tIns="0" rIns="0" bIns="0" anchor="t">
            <a:spAutoFit/>
          </a:bodyPr>
          <a:lstStyle/>
          <a:p>
            <a:pPr algn="ctr">
              <a:spcBef>
                <a:spcPts val="0"/>
              </a:spcBef>
              <a:spcAft>
                <a:spcPts val="200"/>
              </a:spcAft>
            </a:pPr>
            <a:r>
              <a:rPr lang="en-GB" sz="750" b="1">
                <a:solidFill>
                  <a:srgbClr val="051C2C"/>
                </a:solidFill>
                <a:latin typeface="Aptos"/>
              </a:rPr>
              <a:t>Crédit Agricole</a:t>
            </a:r>
          </a:p>
        </p:txBody>
      </p:sp>
      <p:sp>
        <p:nvSpPr>
          <p:cNvPr id="40" name="Oval 39"/>
          <p:cNvSpPr/>
          <p:nvPr/>
        </p:nvSpPr>
        <p:spPr>
          <a:xfrm>
            <a:off x="5613278" y="4083868"/>
            <a:ext cx="444387" cy="444387"/>
          </a:xfrm>
          <a:prstGeom prst="ellipse">
            <a:avLst/>
          </a:prstGeom>
          <a:solidFill>
            <a:srgbClr val="0B5D7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5012512" y="3928420"/>
            <a:ext cx="1645920" cy="115416"/>
          </a:xfrm>
          <a:prstGeom prst="rect">
            <a:avLst/>
          </a:prstGeom>
          <a:noFill/>
        </p:spPr>
        <p:txBody>
          <a:bodyPr wrap="square" lIns="0" tIns="0" rIns="0" bIns="0" anchor="t">
            <a:spAutoFit/>
          </a:bodyPr>
          <a:lstStyle/>
          <a:p>
            <a:pPr algn="ctr">
              <a:spcBef>
                <a:spcPts val="0"/>
              </a:spcBef>
              <a:spcAft>
                <a:spcPts val="200"/>
              </a:spcAft>
            </a:pPr>
            <a:r>
              <a:rPr lang="en-GB" sz="750" b="1">
                <a:solidFill>
                  <a:srgbClr val="051C2C"/>
                </a:solidFill>
                <a:latin typeface="Aptos"/>
              </a:rPr>
              <a:t>Crédit Mutuel</a:t>
            </a:r>
          </a:p>
        </p:txBody>
      </p:sp>
      <p:sp>
        <p:nvSpPr>
          <p:cNvPr id="42" name="Oval 41"/>
          <p:cNvSpPr/>
          <p:nvPr/>
        </p:nvSpPr>
        <p:spPr>
          <a:xfrm>
            <a:off x="3171268" y="4321932"/>
            <a:ext cx="353613" cy="353613"/>
          </a:xfrm>
          <a:prstGeom prst="ellipse">
            <a:avLst/>
          </a:prstGeom>
          <a:solidFill>
            <a:srgbClr val="0B5D7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2525115" y="4166484"/>
            <a:ext cx="1645920" cy="115416"/>
          </a:xfrm>
          <a:prstGeom prst="rect">
            <a:avLst/>
          </a:prstGeom>
          <a:noFill/>
        </p:spPr>
        <p:txBody>
          <a:bodyPr wrap="square" lIns="0" tIns="0" rIns="0" bIns="0" anchor="t">
            <a:spAutoFit/>
          </a:bodyPr>
          <a:lstStyle/>
          <a:p>
            <a:pPr algn="ctr">
              <a:spcBef>
                <a:spcPts val="0"/>
              </a:spcBef>
              <a:spcAft>
                <a:spcPts val="200"/>
              </a:spcAft>
            </a:pPr>
            <a:r>
              <a:rPr lang="en-GB" sz="750" b="1">
                <a:solidFill>
                  <a:srgbClr val="051C2C"/>
                </a:solidFill>
                <a:latin typeface="Aptos"/>
              </a:rPr>
              <a:t>Rabobank</a:t>
            </a:r>
          </a:p>
        </p:txBody>
      </p:sp>
      <p:sp>
        <p:nvSpPr>
          <p:cNvPr id="44" name="TextBox 43"/>
          <p:cNvSpPr txBox="1"/>
          <p:nvPr/>
        </p:nvSpPr>
        <p:spPr>
          <a:xfrm>
            <a:off x="5943599" y="2148840"/>
            <a:ext cx="1508760" cy="123111"/>
          </a:xfrm>
          <a:prstGeom prst="rect">
            <a:avLst/>
          </a:prstGeom>
          <a:noFill/>
        </p:spPr>
        <p:txBody>
          <a:bodyPr wrap="square" lIns="0" tIns="0" rIns="0" bIns="0" anchor="t">
            <a:spAutoFit/>
          </a:bodyPr>
          <a:lstStyle/>
          <a:p>
            <a:pPr algn="r">
              <a:spcBef>
                <a:spcPts val="0"/>
              </a:spcBef>
              <a:spcAft>
                <a:spcPts val="200"/>
              </a:spcAft>
            </a:pPr>
            <a:r>
              <a:rPr lang="en-GB" sz="800" b="1">
                <a:solidFill>
                  <a:srgbClr val="A52F4D"/>
                </a:solidFill>
                <a:latin typeface="Aptos"/>
              </a:rPr>
              <a:t>gefährliche Ecke</a:t>
            </a:r>
          </a:p>
        </p:txBody>
      </p:sp>
      <p:sp>
        <p:nvSpPr>
          <p:cNvPr id="45" name="Rectangle 44"/>
          <p:cNvSpPr/>
          <p:nvPr/>
        </p:nvSpPr>
        <p:spPr>
          <a:xfrm>
            <a:off x="8138160" y="1691640"/>
            <a:ext cx="3520440" cy="3611880"/>
          </a:xfrm>
          <a:prstGeom prst="rect">
            <a:avLst/>
          </a:prstGeom>
          <a:solidFill>
            <a:srgbClr val="F4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8458200" y="1874520"/>
            <a:ext cx="2880360" cy="169277"/>
          </a:xfrm>
          <a:prstGeom prst="rect">
            <a:avLst/>
          </a:prstGeom>
          <a:noFill/>
        </p:spPr>
        <p:txBody>
          <a:bodyPr wrap="square" lIns="0" tIns="0" rIns="0" bIns="0" anchor="t">
            <a:spAutoFit/>
          </a:bodyPr>
          <a:lstStyle/>
          <a:p>
            <a:pPr algn="l">
              <a:spcBef>
                <a:spcPts val="0"/>
              </a:spcBef>
              <a:spcAft>
                <a:spcPts val="200"/>
              </a:spcAft>
            </a:pPr>
            <a:r>
              <a:rPr lang="en-GB" sz="1100" b="1" err="1">
                <a:solidFill>
                  <a:srgbClr val="051C2C"/>
                </a:solidFill>
                <a:latin typeface="Aptos"/>
              </a:rPr>
              <a:t>Im</a:t>
            </a:r>
            <a:r>
              <a:rPr lang="en-GB" sz="1100" b="1">
                <a:solidFill>
                  <a:srgbClr val="051C2C"/>
                </a:solidFill>
                <a:latin typeface="Aptos"/>
              </a:rPr>
              <a:t> </a:t>
            </a:r>
            <a:r>
              <a:rPr lang="en-GB" sz="1100" b="1" err="1">
                <a:solidFill>
                  <a:srgbClr val="051C2C"/>
                </a:solidFill>
                <a:latin typeface="Aptos"/>
              </a:rPr>
              <a:t>Fokus</a:t>
            </a:r>
            <a:r>
              <a:rPr lang="en-GB" sz="1100" b="1">
                <a:solidFill>
                  <a:srgbClr val="051C2C"/>
                </a:solidFill>
                <a:latin typeface="Aptos"/>
              </a:rPr>
              <a:t> · DEUTSCHE BANK</a:t>
            </a:r>
          </a:p>
        </p:txBody>
      </p:sp>
      <p:sp>
        <p:nvSpPr>
          <p:cNvPr id="47" name="TextBox 46"/>
          <p:cNvSpPr txBox="1"/>
          <p:nvPr/>
        </p:nvSpPr>
        <p:spPr>
          <a:xfrm>
            <a:off x="8366760" y="2194560"/>
            <a:ext cx="3108960" cy="2254463"/>
          </a:xfrm>
          <a:prstGeom prst="rect">
            <a:avLst/>
          </a:prstGeom>
          <a:noFill/>
        </p:spPr>
        <p:txBody>
          <a:bodyPr wrap="square" lIns="0" tIns="0" rIns="0" bIns="0" anchor="t">
            <a:spAutoFit/>
          </a:bodyPr>
          <a:lstStyle/>
          <a:p>
            <a:pPr algn="l">
              <a:spcBef>
                <a:spcPts val="0"/>
              </a:spcBef>
              <a:spcAft>
                <a:spcPts val="300"/>
              </a:spcAft>
            </a:pPr>
            <a:r>
              <a:rPr lang="en-GB" sz="1100" b="1">
                <a:solidFill>
                  <a:srgbClr val="0B5D7A"/>
                </a:solidFill>
                <a:latin typeface="Aptos"/>
              </a:rPr>
              <a:t>Home-Bias </a:t>
            </a:r>
            <a:r>
              <a:rPr lang="en-GB" sz="1100" b="1" err="1">
                <a:solidFill>
                  <a:srgbClr val="0B5D7A"/>
                </a:solidFill>
                <a:latin typeface="Aptos"/>
              </a:rPr>
              <a:t>nur</a:t>
            </a:r>
            <a:r>
              <a:rPr lang="en-GB" sz="1100" b="1">
                <a:solidFill>
                  <a:srgbClr val="0B5D7A"/>
                </a:solidFill>
                <a:latin typeface="Aptos"/>
              </a:rPr>
              <a:t> 8 % </a:t>
            </a:r>
            <a:r>
              <a:rPr lang="en-GB" sz="1100" b="0">
                <a:solidFill>
                  <a:srgbClr val="051C2C"/>
                </a:solidFill>
                <a:latin typeface="Aptos"/>
              </a:rPr>
              <a:t>– </a:t>
            </a:r>
            <a:r>
              <a:rPr lang="en-GB" sz="1100" b="0" err="1">
                <a:solidFill>
                  <a:srgbClr val="051C2C"/>
                </a:solidFill>
                <a:latin typeface="Aptos"/>
              </a:rPr>
              <a:t>breit</a:t>
            </a:r>
            <a:r>
              <a:rPr lang="en-GB" sz="1100" b="0">
                <a:solidFill>
                  <a:srgbClr val="051C2C"/>
                </a:solidFill>
                <a:latin typeface="Aptos"/>
              </a:rPr>
              <a:t> </a:t>
            </a:r>
            <a:r>
              <a:rPr lang="en-GB" sz="1100" b="0" err="1">
                <a:solidFill>
                  <a:srgbClr val="051C2C"/>
                </a:solidFill>
                <a:latin typeface="Aptos"/>
              </a:rPr>
              <a:t>gestreut</a:t>
            </a:r>
            <a:r>
              <a:rPr lang="en-GB" sz="1100" b="0">
                <a:solidFill>
                  <a:srgbClr val="051C2C"/>
                </a:solidFill>
                <a:latin typeface="Aptos"/>
              </a:rPr>
              <a:t>:</a:t>
            </a:r>
          </a:p>
          <a:p>
            <a:pPr algn="l">
              <a:spcBef>
                <a:spcPts val="0"/>
              </a:spcBef>
              <a:spcAft>
                <a:spcPts val="300"/>
              </a:spcAft>
            </a:pPr>
            <a:r>
              <a:rPr lang="en-GB" sz="1000" b="0">
                <a:solidFill>
                  <a:srgbClr val="4F6875"/>
                </a:solidFill>
                <a:latin typeface="Aptos"/>
              </a:rPr>
              <a:t>USA 22 · </a:t>
            </a:r>
            <a:r>
              <a:rPr lang="en-GB" sz="1000" b="0" err="1">
                <a:solidFill>
                  <a:srgbClr val="4F6875"/>
                </a:solidFill>
                <a:latin typeface="Aptos"/>
              </a:rPr>
              <a:t>Italien</a:t>
            </a:r>
            <a:r>
              <a:rPr lang="en-GB" sz="1000" b="0">
                <a:solidFill>
                  <a:srgbClr val="4F6875"/>
                </a:solidFill>
                <a:latin typeface="Aptos"/>
              </a:rPr>
              <a:t> 12 · </a:t>
            </a:r>
            <a:r>
              <a:rPr lang="en-GB" sz="1000" b="0" err="1">
                <a:solidFill>
                  <a:srgbClr val="4F6875"/>
                </a:solidFill>
                <a:latin typeface="Aptos"/>
              </a:rPr>
              <a:t>Frankreich</a:t>
            </a:r>
            <a:r>
              <a:rPr lang="en-GB" sz="1000" b="0">
                <a:solidFill>
                  <a:srgbClr val="4F6875"/>
                </a:solidFill>
                <a:latin typeface="Aptos"/>
              </a:rPr>
              <a:t> 10 · UK 8 · DE 8 %</a:t>
            </a:r>
          </a:p>
          <a:p>
            <a:pPr algn="l">
              <a:spcBef>
                <a:spcPts val="0"/>
              </a:spcBef>
              <a:spcAft>
                <a:spcPts val="300"/>
              </a:spcAft>
            </a:pPr>
            <a:endParaRPr lang="en-GB" sz="1000" b="0">
              <a:solidFill>
                <a:srgbClr val="4F6875"/>
              </a:solidFill>
              <a:latin typeface="Aptos"/>
            </a:endParaRPr>
          </a:p>
          <a:p>
            <a:pPr algn="l">
              <a:spcBef>
                <a:spcPts val="0"/>
              </a:spcBef>
              <a:spcAft>
                <a:spcPts val="300"/>
              </a:spcAft>
            </a:pPr>
            <a:r>
              <a:rPr lang="en-GB" sz="1100" b="1">
                <a:solidFill>
                  <a:srgbClr val="A52F4D"/>
                </a:solidFill>
                <a:latin typeface="Aptos"/>
              </a:rPr>
              <a:t>Aber Buch = 372 % des CET1 </a:t>
            </a:r>
            <a:r>
              <a:rPr lang="en-GB" sz="1100" b="0">
                <a:solidFill>
                  <a:srgbClr val="051C2C"/>
                </a:solidFill>
                <a:latin typeface="Aptos"/>
              </a:rPr>
              <a:t>– der </a:t>
            </a:r>
            <a:r>
              <a:rPr lang="en-GB" sz="1100" b="0" err="1">
                <a:solidFill>
                  <a:srgbClr val="051C2C"/>
                </a:solidFill>
                <a:latin typeface="Aptos"/>
              </a:rPr>
              <a:t>Zinshebel</a:t>
            </a:r>
            <a:r>
              <a:rPr lang="en-GB" sz="1100" b="0">
                <a:solidFill>
                  <a:srgbClr val="051C2C"/>
                </a:solidFill>
                <a:latin typeface="Aptos"/>
              </a:rPr>
              <a:t> </a:t>
            </a:r>
            <a:r>
              <a:rPr lang="en-GB" sz="1100" b="0" err="1">
                <a:solidFill>
                  <a:srgbClr val="051C2C"/>
                </a:solidFill>
                <a:latin typeface="Aptos"/>
              </a:rPr>
              <a:t>bleibt</a:t>
            </a:r>
            <a:r>
              <a:rPr lang="en-GB" sz="1100" b="0">
                <a:solidFill>
                  <a:srgbClr val="051C2C"/>
                </a:solidFill>
                <a:latin typeface="Aptos"/>
              </a:rPr>
              <a:t>.</a:t>
            </a:r>
          </a:p>
          <a:p>
            <a:pPr algn="l">
              <a:spcBef>
                <a:spcPts val="0"/>
              </a:spcBef>
              <a:spcAft>
                <a:spcPts val="300"/>
              </a:spcAft>
            </a:pPr>
            <a:endParaRPr lang="en-GB" sz="1100" b="0">
              <a:solidFill>
                <a:srgbClr val="051C2C"/>
              </a:solidFill>
              <a:latin typeface="Aptos"/>
            </a:endParaRPr>
          </a:p>
          <a:p>
            <a:pPr algn="l">
              <a:spcBef>
                <a:spcPts val="0"/>
              </a:spcBef>
              <a:spcAft>
                <a:spcPts val="300"/>
              </a:spcAft>
            </a:pPr>
            <a:r>
              <a:rPr lang="en-GB" sz="1100" b="1">
                <a:solidFill>
                  <a:srgbClr val="051C2C"/>
                </a:solidFill>
                <a:latin typeface="Aptos"/>
              </a:rPr>
              <a:t>Pointe: </a:t>
            </a:r>
            <a:r>
              <a:rPr lang="en-GB" sz="1100" b="0" err="1">
                <a:solidFill>
                  <a:srgbClr val="051C2C"/>
                </a:solidFill>
                <a:latin typeface="Aptos"/>
              </a:rPr>
              <a:t>Länderstreuung</a:t>
            </a:r>
            <a:r>
              <a:rPr lang="en-GB" sz="1100" b="0">
                <a:solidFill>
                  <a:srgbClr val="051C2C"/>
                </a:solidFill>
                <a:latin typeface="Aptos"/>
              </a:rPr>
              <a:t> </a:t>
            </a:r>
            <a:r>
              <a:rPr lang="en-GB" sz="1100" b="0" err="1">
                <a:solidFill>
                  <a:srgbClr val="051C2C"/>
                </a:solidFill>
                <a:latin typeface="Aptos"/>
              </a:rPr>
              <a:t>schützt</a:t>
            </a:r>
            <a:r>
              <a:rPr lang="en-GB" sz="1100" b="0">
                <a:solidFill>
                  <a:srgbClr val="051C2C"/>
                </a:solidFill>
                <a:latin typeface="Aptos"/>
              </a:rPr>
              <a:t> </a:t>
            </a:r>
            <a:r>
              <a:rPr lang="en-GB" sz="1100" b="0" err="1">
                <a:solidFill>
                  <a:srgbClr val="051C2C"/>
                </a:solidFill>
                <a:latin typeface="Aptos"/>
              </a:rPr>
              <a:t>vor</a:t>
            </a:r>
            <a:r>
              <a:rPr lang="en-GB" sz="1100" b="0">
                <a:solidFill>
                  <a:srgbClr val="051C2C"/>
                </a:solidFill>
                <a:latin typeface="Aptos"/>
              </a:rPr>
              <a:t> Doom-Loop, nicht </a:t>
            </a:r>
            <a:r>
              <a:rPr lang="en-GB" sz="1100" b="0" err="1">
                <a:solidFill>
                  <a:srgbClr val="051C2C"/>
                </a:solidFill>
                <a:latin typeface="Aptos"/>
              </a:rPr>
              <a:t>vor</a:t>
            </a:r>
            <a:r>
              <a:rPr lang="en-GB" sz="1100" b="0">
                <a:solidFill>
                  <a:srgbClr val="051C2C"/>
                </a:solidFill>
                <a:latin typeface="Aptos"/>
              </a:rPr>
              <a:t> </a:t>
            </a:r>
            <a:r>
              <a:rPr lang="en-GB" sz="1100" b="0" err="1">
                <a:solidFill>
                  <a:srgbClr val="051C2C"/>
                </a:solidFill>
                <a:latin typeface="Aptos"/>
              </a:rPr>
              <a:t>dem</a:t>
            </a:r>
            <a:r>
              <a:rPr lang="en-GB" sz="1100" b="0">
                <a:solidFill>
                  <a:srgbClr val="051C2C"/>
                </a:solidFill>
                <a:latin typeface="Aptos"/>
              </a:rPr>
              <a:t> </a:t>
            </a:r>
            <a:r>
              <a:rPr lang="en-GB" sz="1100" b="0" err="1">
                <a:solidFill>
                  <a:srgbClr val="051C2C"/>
                </a:solidFill>
                <a:latin typeface="Aptos"/>
              </a:rPr>
              <a:t>Zinsrisiko</a:t>
            </a:r>
            <a:r>
              <a:rPr lang="en-GB" sz="1100" b="0">
                <a:solidFill>
                  <a:srgbClr val="051C2C"/>
                </a:solidFill>
                <a:latin typeface="Aptos"/>
              </a:rPr>
              <a:t> – der Parallel-Shift </a:t>
            </a:r>
            <a:r>
              <a:rPr lang="en-GB" sz="1100" b="0" err="1">
                <a:solidFill>
                  <a:srgbClr val="051C2C"/>
                </a:solidFill>
                <a:latin typeface="Aptos"/>
              </a:rPr>
              <a:t>trifft</a:t>
            </a:r>
            <a:r>
              <a:rPr lang="en-GB" sz="1100" b="0">
                <a:solidFill>
                  <a:srgbClr val="051C2C"/>
                </a:solidFill>
                <a:latin typeface="Aptos"/>
              </a:rPr>
              <a:t> alle Länder </a:t>
            </a:r>
            <a:r>
              <a:rPr lang="en-GB" sz="1100" b="0" err="1">
                <a:solidFill>
                  <a:srgbClr val="051C2C"/>
                </a:solidFill>
                <a:latin typeface="Aptos"/>
              </a:rPr>
              <a:t>gleichzeitig</a:t>
            </a:r>
            <a:r>
              <a:rPr lang="en-GB" sz="1100" b="0">
                <a:solidFill>
                  <a:srgbClr val="051C2C"/>
                </a:solidFill>
                <a:latin typeface="Aptos"/>
              </a:rPr>
              <a:t>.</a:t>
            </a:r>
          </a:p>
          <a:p>
            <a:pPr algn="l">
              <a:spcBef>
                <a:spcPts val="0"/>
              </a:spcBef>
              <a:spcAft>
                <a:spcPts val="300"/>
              </a:spcAft>
            </a:pPr>
            <a:endParaRPr lang="en-GB" sz="1100" b="0">
              <a:solidFill>
                <a:srgbClr val="051C2C"/>
              </a:solidFill>
              <a:latin typeface="Aptos"/>
            </a:endParaRPr>
          </a:p>
          <a:p>
            <a:pPr algn="l">
              <a:spcBef>
                <a:spcPts val="0"/>
              </a:spcBef>
              <a:spcAft>
                <a:spcPts val="300"/>
              </a:spcAft>
            </a:pPr>
            <a:r>
              <a:rPr lang="en-GB" sz="1050" b="1" err="1">
                <a:solidFill>
                  <a:srgbClr val="051C2C"/>
                </a:solidFill>
                <a:latin typeface="Aptos"/>
              </a:rPr>
              <a:t>Kontrast</a:t>
            </a:r>
            <a:r>
              <a:rPr lang="en-GB" sz="1050" b="1">
                <a:solidFill>
                  <a:srgbClr val="051C2C"/>
                </a:solidFill>
                <a:latin typeface="Aptos"/>
              </a:rPr>
              <a:t> BPCE: </a:t>
            </a:r>
            <a:r>
              <a:rPr lang="en-GB" sz="1050" b="0">
                <a:solidFill>
                  <a:srgbClr val="4F6875"/>
                </a:solidFill>
                <a:latin typeface="Aptos"/>
              </a:rPr>
              <a:t>70 % Heimat + 372 % CET1 = rote Ecke.</a:t>
            </a:r>
          </a:p>
        </p:txBody>
      </p:sp>
      <p:sp>
        <p:nvSpPr>
          <p:cNvPr id="48" name="TextBox 47"/>
          <p:cNvSpPr txBox="1"/>
          <p:nvPr/>
        </p:nvSpPr>
        <p:spPr>
          <a:xfrm>
            <a:off x="457200" y="6519672"/>
            <a:ext cx="7315200" cy="138499"/>
          </a:xfrm>
          <a:prstGeom prst="rect">
            <a:avLst/>
          </a:prstGeom>
          <a:noFill/>
        </p:spPr>
        <p:txBody>
          <a:bodyPr wrap="square" lIns="0" tIns="0" rIns="0" bIns="0" anchor="t">
            <a:spAutoFit/>
          </a:bodyPr>
          <a:lstStyle/>
          <a:p>
            <a:pPr algn="l">
              <a:spcBef>
                <a:spcPts val="0"/>
              </a:spcBef>
              <a:spcAft>
                <a:spcPts val="200"/>
              </a:spcAft>
            </a:pPr>
            <a:r>
              <a:rPr lang="en-GB" sz="900" b="0">
                <a:solidFill>
                  <a:srgbClr val="71858F"/>
                </a:solidFill>
                <a:latin typeface="Aptos"/>
              </a:rPr>
              <a:t>Marktbuch · Sovereign / Rate Channel</a:t>
            </a:r>
          </a:p>
        </p:txBody>
      </p:sp>
      <p:sp>
        <p:nvSpPr>
          <p:cNvPr id="49" name="CodexSlideNumber">
            <a:extLst>
              <a:ext uri="{FF2B5EF4-FFF2-40B4-BE49-F238E27FC236}">
                <a16:creationId xmlns:a16="http://schemas.microsoft.com/office/drawing/2014/main" id="{60D38E76-A30F-3A6C-B6BE-2568B583D7E2}"/>
              </a:ext>
            </a:extLst>
          </p:cNvPr>
          <p:cNvSpPr txBox="1"/>
          <p:nvPr/>
        </p:nvSpPr>
        <p:spPr>
          <a:xfrm>
            <a:off x="11226800" y="6553200"/>
            <a:ext cx="736600" cy="123111"/>
          </a:xfrm>
          <a:prstGeom prst="rect">
            <a:avLst/>
          </a:prstGeom>
          <a:noFill/>
        </p:spPr>
        <p:txBody>
          <a:bodyPr vert="horz" lIns="0" tIns="0" rIns="0" bIns="0" rtlCol="0">
            <a:spAutoFit/>
          </a:bodyPr>
          <a:lstStyle/>
          <a:p>
            <a:pPr algn="r"/>
            <a:r>
              <a:rPr lang="en-US" sz="800">
                <a:solidFill>
                  <a:srgbClr val="525252"/>
                </a:solidFill>
                <a:latin typeface="Arial" panose="020B0604020202020204" pitchFamily="34" charset="0"/>
              </a:rPr>
              <a:t>41 / 64</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09727"/>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84048"/>
            <a:ext cx="11155680" cy="132793"/>
          </a:xfrm>
          <a:prstGeom prst="rect">
            <a:avLst/>
          </a:prstGeom>
          <a:noFill/>
        </p:spPr>
        <p:txBody>
          <a:bodyPr wrap="square" lIns="0" tIns="0" rIns="0" bIns="0" anchor="t">
            <a:spAutoFit/>
          </a:bodyPr>
          <a:lstStyle/>
          <a:p>
            <a:pPr>
              <a:spcBef>
                <a:spcPts val="0"/>
              </a:spcBef>
              <a:spcAft>
                <a:spcPts val="200"/>
              </a:spcAft>
            </a:pPr>
            <a:r>
              <a:rPr lang="en-GB" sz="863" b="1">
                <a:solidFill>
                  <a:schemeClr val="tx2"/>
                </a:solidFill>
                <a:latin typeface="Aptos"/>
              </a:rPr>
              <a:t>ZUSAMMENFASSUNG · MARKTBUCH</a:t>
            </a:r>
          </a:p>
        </p:txBody>
      </p:sp>
      <p:sp>
        <p:nvSpPr>
          <p:cNvPr id="4" name="TextBox 3"/>
          <p:cNvSpPr txBox="1"/>
          <p:nvPr/>
        </p:nvSpPr>
        <p:spPr>
          <a:xfrm>
            <a:off x="548640" y="658368"/>
            <a:ext cx="11155680" cy="380873"/>
          </a:xfrm>
          <a:prstGeom prst="rect">
            <a:avLst/>
          </a:prstGeom>
          <a:noFill/>
        </p:spPr>
        <p:txBody>
          <a:bodyPr wrap="square" lIns="0" tIns="0" rIns="0" bIns="0" anchor="t">
            <a:spAutoFit/>
          </a:bodyPr>
          <a:lstStyle/>
          <a:p>
            <a:pPr algn="l">
              <a:spcBef>
                <a:spcPts val="0"/>
              </a:spcBef>
              <a:spcAft>
                <a:spcPts val="200"/>
              </a:spcAft>
            </a:pPr>
            <a:r>
              <a:rPr lang="de-DE" sz="2475" b="1">
                <a:solidFill>
                  <a:srgbClr val="051C2C"/>
                </a:solidFill>
                <a:latin typeface="Aptos Display"/>
              </a:rPr>
              <a:t>Kernbotschaften des Sovereign-/Zinskanals</a:t>
            </a:r>
          </a:p>
        </p:txBody>
      </p:sp>
      <p:sp>
        <p:nvSpPr>
          <p:cNvPr id="5" name="Rectangle 4"/>
          <p:cNvSpPr/>
          <p:nvPr/>
        </p:nvSpPr>
        <p:spPr>
          <a:xfrm>
            <a:off x="548640" y="1874519"/>
            <a:ext cx="384048" cy="384048"/>
          </a:xfrm>
          <a:prstGeom prst="rect">
            <a:avLst/>
          </a:prstGeom>
          <a:solidFill>
            <a:srgbClr val="D1AC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951127"/>
            <a:ext cx="384048" cy="230832"/>
          </a:xfrm>
          <a:prstGeom prst="rect">
            <a:avLst/>
          </a:prstGeom>
          <a:noFill/>
        </p:spPr>
        <p:txBody>
          <a:bodyPr wrap="square" lIns="0" tIns="0" rIns="0" bIns="0" anchor="ctr">
            <a:spAutoFit/>
          </a:bodyPr>
          <a:lstStyle/>
          <a:p>
            <a:pPr algn="ctr">
              <a:spcBef>
                <a:spcPts val="0"/>
              </a:spcBef>
              <a:spcAft>
                <a:spcPts val="200"/>
              </a:spcAft>
            </a:pPr>
            <a:r>
              <a:rPr lang="en-GB" sz="1500" b="1">
                <a:solidFill>
                  <a:srgbClr val="FFFFFF"/>
                </a:solidFill>
                <a:latin typeface="Aptos"/>
              </a:rPr>
              <a:t>1</a:t>
            </a:r>
          </a:p>
        </p:txBody>
      </p:sp>
      <p:sp>
        <p:nvSpPr>
          <p:cNvPr id="7" name="TextBox 6"/>
          <p:cNvSpPr txBox="1"/>
          <p:nvPr/>
        </p:nvSpPr>
        <p:spPr>
          <a:xfrm>
            <a:off x="1097280" y="1856231"/>
            <a:ext cx="10424160" cy="207749"/>
          </a:xfrm>
          <a:prstGeom prst="rect">
            <a:avLst/>
          </a:prstGeom>
          <a:noFill/>
        </p:spPr>
        <p:txBody>
          <a:bodyPr wrap="square" lIns="0" tIns="0" rIns="0" bIns="0" anchor="t">
            <a:spAutoFit/>
          </a:bodyPr>
          <a:lstStyle/>
          <a:p>
            <a:pPr algn="l">
              <a:spcBef>
                <a:spcPts val="0"/>
              </a:spcBef>
              <a:spcAft>
                <a:spcPts val="200"/>
              </a:spcAft>
            </a:pPr>
            <a:r>
              <a:rPr lang="en-GB" sz="1350" b="1" err="1">
                <a:solidFill>
                  <a:srgbClr val="051C2C"/>
                </a:solidFill>
                <a:latin typeface="Aptos"/>
              </a:rPr>
              <a:t>Vom</a:t>
            </a:r>
            <a:r>
              <a:rPr lang="en-GB" sz="1350" b="1">
                <a:solidFill>
                  <a:srgbClr val="051C2C"/>
                </a:solidFill>
                <a:latin typeface="Aptos"/>
              </a:rPr>
              <a:t> </a:t>
            </a:r>
            <a:r>
              <a:rPr lang="en-GB" sz="1350" b="1" err="1">
                <a:solidFill>
                  <a:srgbClr val="051C2C"/>
                </a:solidFill>
                <a:latin typeface="Aptos"/>
              </a:rPr>
              <a:t>Zinsschock</a:t>
            </a:r>
            <a:r>
              <a:rPr lang="en-GB" sz="1350" b="1">
                <a:solidFill>
                  <a:srgbClr val="051C2C"/>
                </a:solidFill>
                <a:latin typeface="Aptos"/>
              </a:rPr>
              <a:t> </a:t>
            </a:r>
            <a:r>
              <a:rPr lang="en-GB" sz="1350" b="1" err="1">
                <a:solidFill>
                  <a:srgbClr val="051C2C"/>
                </a:solidFill>
                <a:latin typeface="Aptos"/>
              </a:rPr>
              <a:t>zum</a:t>
            </a:r>
            <a:r>
              <a:rPr lang="en-GB" sz="1350" b="1">
                <a:solidFill>
                  <a:srgbClr val="051C2C"/>
                </a:solidFill>
                <a:latin typeface="Aptos"/>
              </a:rPr>
              <a:t> </a:t>
            </a:r>
            <a:r>
              <a:rPr lang="en-GB" sz="1350" b="1" err="1">
                <a:solidFill>
                  <a:srgbClr val="051C2C"/>
                </a:solidFill>
                <a:latin typeface="Aptos"/>
              </a:rPr>
              <a:t>Einfluss</a:t>
            </a:r>
            <a:r>
              <a:rPr lang="en-GB" sz="1350" b="1">
                <a:solidFill>
                  <a:srgbClr val="051C2C"/>
                </a:solidFill>
                <a:latin typeface="Aptos"/>
              </a:rPr>
              <a:t> auf die </a:t>
            </a:r>
            <a:r>
              <a:rPr lang="en-GB" sz="1350" b="1" err="1">
                <a:solidFill>
                  <a:srgbClr val="051C2C"/>
                </a:solidFill>
                <a:latin typeface="Aptos"/>
              </a:rPr>
              <a:t>Kernkapitalquote</a:t>
            </a:r>
            <a:r>
              <a:rPr lang="en-GB" sz="1350" b="1">
                <a:solidFill>
                  <a:srgbClr val="051C2C"/>
                </a:solidFill>
                <a:latin typeface="Aptos"/>
              </a:rPr>
              <a:t> </a:t>
            </a:r>
          </a:p>
        </p:txBody>
      </p:sp>
      <p:sp>
        <p:nvSpPr>
          <p:cNvPr id="8" name="TextBox 7"/>
          <p:cNvSpPr txBox="1"/>
          <p:nvPr/>
        </p:nvSpPr>
        <p:spPr>
          <a:xfrm>
            <a:off x="1097280" y="2161217"/>
            <a:ext cx="4884879" cy="379591"/>
          </a:xfrm>
          <a:prstGeom prst="rect">
            <a:avLst/>
          </a:prstGeom>
          <a:noFill/>
        </p:spPr>
        <p:txBody>
          <a:bodyPr wrap="square" lIns="0" tIns="0" rIns="0" bIns="0" anchor="t">
            <a:spAutoFit/>
          </a:bodyPr>
          <a:lstStyle/>
          <a:p>
            <a:pPr algn="l">
              <a:spcBef>
                <a:spcPts val="0"/>
              </a:spcBef>
              <a:spcAft>
                <a:spcPts val="200"/>
              </a:spcAft>
            </a:pPr>
            <a:r>
              <a:rPr lang="en-GB" sz="1150" b="0" err="1">
                <a:solidFill>
                  <a:srgbClr val="4F6875"/>
                </a:solidFill>
                <a:latin typeface="Aptos"/>
              </a:rPr>
              <a:t>Zinskurve</a:t>
            </a:r>
            <a:r>
              <a:rPr lang="en-GB" sz="1150" b="0">
                <a:solidFill>
                  <a:srgbClr val="4F6875"/>
                </a:solidFill>
                <a:latin typeface="Aptos"/>
              </a:rPr>
              <a:t> → Parallel-Shift +2,00 pp → Modified Duration → IFRS-9-Filter → CET1 </a:t>
            </a:r>
          </a:p>
          <a:p>
            <a:pPr algn="l">
              <a:spcBef>
                <a:spcPts val="0"/>
              </a:spcBef>
              <a:spcAft>
                <a:spcPts val="200"/>
              </a:spcAft>
            </a:pPr>
            <a:r>
              <a:rPr lang="en-GB" sz="1150" b="0">
                <a:solidFill>
                  <a:srgbClr val="4F6875"/>
                </a:solidFill>
                <a:latin typeface="Aptos"/>
              </a:rPr>
              <a:t>Nur der </a:t>
            </a:r>
            <a:r>
              <a:rPr lang="en-GB" sz="1150" b="0" err="1">
                <a:solidFill>
                  <a:srgbClr val="4F6875"/>
                </a:solidFill>
                <a:latin typeface="Aptos"/>
              </a:rPr>
              <a:t>Zinsschock</a:t>
            </a:r>
            <a:r>
              <a:rPr lang="en-GB" sz="1150" b="0">
                <a:solidFill>
                  <a:srgbClr val="4F6875"/>
                </a:solidFill>
                <a:latin typeface="Aptos"/>
              </a:rPr>
              <a:t> </a:t>
            </a:r>
            <a:r>
              <a:rPr lang="en-GB" sz="1150" b="0" err="1">
                <a:solidFill>
                  <a:srgbClr val="4F6875"/>
                </a:solidFill>
                <a:latin typeface="Aptos"/>
              </a:rPr>
              <a:t>wirkt</a:t>
            </a:r>
            <a:endParaRPr lang="en-GB" sz="1150" b="0">
              <a:solidFill>
                <a:srgbClr val="4F6875"/>
              </a:solidFill>
              <a:latin typeface="Aptos"/>
            </a:endParaRPr>
          </a:p>
        </p:txBody>
      </p:sp>
      <p:sp>
        <p:nvSpPr>
          <p:cNvPr id="9" name="Rectangle 8"/>
          <p:cNvSpPr/>
          <p:nvPr/>
        </p:nvSpPr>
        <p:spPr>
          <a:xfrm>
            <a:off x="548640" y="2715768"/>
            <a:ext cx="384048" cy="384048"/>
          </a:xfrm>
          <a:prstGeom prst="rect">
            <a:avLst/>
          </a:prstGeom>
          <a:solidFill>
            <a:srgbClr val="D1AC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48640" y="2792376"/>
            <a:ext cx="384048" cy="230832"/>
          </a:xfrm>
          <a:prstGeom prst="rect">
            <a:avLst/>
          </a:prstGeom>
          <a:noFill/>
        </p:spPr>
        <p:txBody>
          <a:bodyPr wrap="square" lIns="0" tIns="0" rIns="0" bIns="0" anchor="ctr">
            <a:spAutoFit/>
          </a:bodyPr>
          <a:lstStyle/>
          <a:p>
            <a:pPr algn="ctr">
              <a:spcBef>
                <a:spcPts val="0"/>
              </a:spcBef>
              <a:spcAft>
                <a:spcPts val="200"/>
              </a:spcAft>
            </a:pPr>
            <a:r>
              <a:rPr lang="en-GB" sz="1500" b="1">
                <a:solidFill>
                  <a:srgbClr val="FFFFFF"/>
                </a:solidFill>
                <a:latin typeface="Aptos"/>
              </a:rPr>
              <a:t>2</a:t>
            </a:r>
          </a:p>
        </p:txBody>
      </p:sp>
      <p:sp>
        <p:nvSpPr>
          <p:cNvPr id="11" name="TextBox 10"/>
          <p:cNvSpPr txBox="1"/>
          <p:nvPr/>
        </p:nvSpPr>
        <p:spPr>
          <a:xfrm>
            <a:off x="1097280" y="2697479"/>
            <a:ext cx="10424160" cy="207749"/>
          </a:xfrm>
          <a:prstGeom prst="rect">
            <a:avLst/>
          </a:prstGeom>
          <a:noFill/>
        </p:spPr>
        <p:txBody>
          <a:bodyPr wrap="square" lIns="0" tIns="0" rIns="0" bIns="0" anchor="t">
            <a:spAutoFit/>
          </a:bodyPr>
          <a:lstStyle/>
          <a:p>
            <a:pPr algn="l">
              <a:spcBef>
                <a:spcPts val="0"/>
              </a:spcBef>
              <a:spcAft>
                <a:spcPts val="200"/>
              </a:spcAft>
            </a:pPr>
            <a:r>
              <a:rPr lang="en-GB" sz="1350" b="1">
                <a:solidFill>
                  <a:srgbClr val="051C2C"/>
                </a:solidFill>
                <a:latin typeface="Aptos"/>
              </a:rPr>
              <a:t>IFRS-9 entscheidet die Sichtbarkeit</a:t>
            </a:r>
          </a:p>
        </p:txBody>
      </p:sp>
      <p:sp>
        <p:nvSpPr>
          <p:cNvPr id="12" name="TextBox 11"/>
          <p:cNvSpPr txBox="1"/>
          <p:nvPr/>
        </p:nvSpPr>
        <p:spPr>
          <a:xfrm>
            <a:off x="1097280" y="2928533"/>
            <a:ext cx="2967944" cy="353943"/>
          </a:xfrm>
          <a:prstGeom prst="rect">
            <a:avLst/>
          </a:prstGeom>
          <a:noFill/>
        </p:spPr>
        <p:txBody>
          <a:bodyPr wrap="square" lIns="0" tIns="0" rIns="0" bIns="0" anchor="t">
            <a:spAutoFit/>
          </a:bodyPr>
          <a:lstStyle/>
          <a:p>
            <a:pPr algn="l">
              <a:spcBef>
                <a:spcPts val="0"/>
              </a:spcBef>
              <a:spcAft>
                <a:spcPts val="200"/>
              </a:spcAft>
            </a:pPr>
            <a:r>
              <a:rPr lang="en-GB" sz="1150" b="0" err="1">
                <a:solidFill>
                  <a:srgbClr val="4F6875"/>
                </a:solidFill>
                <a:latin typeface="Aptos"/>
              </a:rPr>
              <a:t>HfT</a:t>
            </a:r>
            <a:r>
              <a:rPr lang="en-GB" sz="1150" b="0">
                <a:solidFill>
                  <a:srgbClr val="4F6875"/>
                </a:solidFill>
                <a:latin typeface="Aptos"/>
              </a:rPr>
              <a:t>, FVTPL und FVOCI </a:t>
            </a:r>
            <a:r>
              <a:rPr lang="en-GB" sz="1150" b="0" err="1">
                <a:solidFill>
                  <a:srgbClr val="4F6875"/>
                </a:solidFill>
                <a:latin typeface="Aptos"/>
              </a:rPr>
              <a:t>treffen</a:t>
            </a:r>
            <a:r>
              <a:rPr lang="en-GB" sz="1150" b="0">
                <a:solidFill>
                  <a:srgbClr val="4F6875"/>
                </a:solidFill>
                <a:latin typeface="Aptos"/>
              </a:rPr>
              <a:t> CET1 </a:t>
            </a:r>
            <a:r>
              <a:rPr lang="en-GB" sz="1150" b="0" err="1">
                <a:solidFill>
                  <a:srgbClr val="4F6875"/>
                </a:solidFill>
                <a:latin typeface="Aptos"/>
              </a:rPr>
              <a:t>sofort</a:t>
            </a:r>
            <a:r>
              <a:rPr lang="en-GB" sz="1150">
                <a:solidFill>
                  <a:srgbClr val="4F6875"/>
                </a:solidFill>
                <a:latin typeface="Aptos"/>
              </a:rPr>
              <a:t>,</a:t>
            </a:r>
            <a:r>
              <a:rPr lang="en-GB" sz="1150" b="0">
                <a:solidFill>
                  <a:srgbClr val="4F6875"/>
                </a:solidFill>
                <a:latin typeface="Aptos"/>
              </a:rPr>
              <a:t> Amortised Cost </a:t>
            </a:r>
            <a:r>
              <a:rPr lang="en-GB" sz="1150" b="0" err="1">
                <a:solidFill>
                  <a:srgbClr val="4F6875"/>
                </a:solidFill>
                <a:latin typeface="Aptos"/>
              </a:rPr>
              <a:t>bleibt</a:t>
            </a:r>
            <a:r>
              <a:rPr lang="en-GB" sz="1150" b="0">
                <a:solidFill>
                  <a:srgbClr val="4F6875"/>
                </a:solidFill>
                <a:latin typeface="Aptos"/>
              </a:rPr>
              <a:t> </a:t>
            </a:r>
            <a:r>
              <a:rPr lang="en-GB" sz="1150" b="0" err="1">
                <a:solidFill>
                  <a:srgbClr val="4F6875"/>
                </a:solidFill>
                <a:latin typeface="Aptos"/>
              </a:rPr>
              <a:t>gemäß</a:t>
            </a:r>
            <a:r>
              <a:rPr lang="en-GB" sz="1150" b="0">
                <a:solidFill>
                  <a:srgbClr val="4F6875"/>
                </a:solidFill>
                <a:latin typeface="Aptos"/>
              </a:rPr>
              <a:t> IFRS-9 latent</a:t>
            </a:r>
          </a:p>
        </p:txBody>
      </p:sp>
      <p:sp>
        <p:nvSpPr>
          <p:cNvPr id="13" name="Rectangle 12"/>
          <p:cNvSpPr/>
          <p:nvPr/>
        </p:nvSpPr>
        <p:spPr>
          <a:xfrm>
            <a:off x="548640" y="3557015"/>
            <a:ext cx="384048" cy="384048"/>
          </a:xfrm>
          <a:prstGeom prst="rect">
            <a:avLst/>
          </a:prstGeom>
          <a:solidFill>
            <a:srgbClr val="D1AC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48640" y="3633623"/>
            <a:ext cx="384048" cy="230832"/>
          </a:xfrm>
          <a:prstGeom prst="rect">
            <a:avLst/>
          </a:prstGeom>
          <a:noFill/>
        </p:spPr>
        <p:txBody>
          <a:bodyPr wrap="square" lIns="0" tIns="0" rIns="0" bIns="0" anchor="ctr">
            <a:spAutoFit/>
          </a:bodyPr>
          <a:lstStyle/>
          <a:p>
            <a:pPr algn="ctr">
              <a:spcBef>
                <a:spcPts val="0"/>
              </a:spcBef>
              <a:spcAft>
                <a:spcPts val="200"/>
              </a:spcAft>
            </a:pPr>
            <a:r>
              <a:rPr lang="en-GB" sz="1500" b="1">
                <a:solidFill>
                  <a:srgbClr val="FFFFFF"/>
                </a:solidFill>
                <a:latin typeface="Aptos"/>
              </a:rPr>
              <a:t>3</a:t>
            </a:r>
          </a:p>
        </p:txBody>
      </p:sp>
      <p:sp>
        <p:nvSpPr>
          <p:cNvPr id="15" name="TextBox 14"/>
          <p:cNvSpPr txBox="1"/>
          <p:nvPr/>
        </p:nvSpPr>
        <p:spPr>
          <a:xfrm>
            <a:off x="1097280" y="3538727"/>
            <a:ext cx="10424160" cy="207749"/>
          </a:xfrm>
          <a:prstGeom prst="rect">
            <a:avLst/>
          </a:prstGeom>
          <a:noFill/>
        </p:spPr>
        <p:txBody>
          <a:bodyPr wrap="square" lIns="0" tIns="0" rIns="0" bIns="0" anchor="t">
            <a:spAutoFit/>
          </a:bodyPr>
          <a:lstStyle/>
          <a:p>
            <a:pPr algn="l">
              <a:spcBef>
                <a:spcPts val="0"/>
              </a:spcBef>
              <a:spcAft>
                <a:spcPts val="200"/>
              </a:spcAft>
            </a:pPr>
            <a:r>
              <a:rPr lang="de-DE" sz="1350" b="1">
                <a:solidFill>
                  <a:srgbClr val="051C2C"/>
                </a:solidFill>
                <a:latin typeface="Aptos"/>
              </a:rPr>
              <a:t>Deutsche Bank: −18,5 Mrd € (brutto)</a:t>
            </a:r>
          </a:p>
        </p:txBody>
      </p:sp>
      <p:sp>
        <p:nvSpPr>
          <p:cNvPr id="16" name="TextBox 15"/>
          <p:cNvSpPr txBox="1"/>
          <p:nvPr/>
        </p:nvSpPr>
        <p:spPr>
          <a:xfrm>
            <a:off x="1097280" y="3800558"/>
            <a:ext cx="4884879" cy="353943"/>
          </a:xfrm>
          <a:prstGeom prst="rect">
            <a:avLst/>
          </a:prstGeom>
          <a:noFill/>
        </p:spPr>
        <p:txBody>
          <a:bodyPr wrap="square" lIns="0" tIns="0" rIns="0" bIns="0" anchor="t">
            <a:spAutoFit/>
          </a:bodyPr>
          <a:lstStyle/>
          <a:p>
            <a:pPr algn="l">
              <a:spcBef>
                <a:spcPts val="0"/>
              </a:spcBef>
              <a:spcAft>
                <a:spcPts val="200"/>
              </a:spcAft>
            </a:pPr>
            <a:r>
              <a:rPr lang="de-DE" sz="1150" b="0">
                <a:solidFill>
                  <a:srgbClr val="4F6875"/>
                </a:solidFill>
                <a:latin typeface="Aptos"/>
              </a:rPr>
              <a:t>−25,3 </a:t>
            </a:r>
            <a:r>
              <a:rPr lang="de-DE" sz="1150" b="0" err="1">
                <a:solidFill>
                  <a:srgbClr val="4F6875"/>
                </a:solidFill>
                <a:latin typeface="Aptos"/>
              </a:rPr>
              <a:t>Mrd</a:t>
            </a:r>
            <a:r>
              <a:rPr lang="de-DE" sz="1150" b="0">
                <a:solidFill>
                  <a:srgbClr val="4F6875"/>
                </a:solidFill>
                <a:latin typeface="Aptos"/>
              </a:rPr>
              <a:t> € brutto, davon 73 % CET1-wirksam, </a:t>
            </a:r>
            <a:r>
              <a:rPr lang="de-DE" sz="1150" err="1">
                <a:solidFill>
                  <a:srgbClr val="4F6875"/>
                </a:solidFill>
                <a:latin typeface="Aptos"/>
              </a:rPr>
              <a:t>u</a:t>
            </a:r>
            <a:r>
              <a:rPr lang="de-DE" sz="1150" b="0" err="1">
                <a:solidFill>
                  <a:srgbClr val="4F6875"/>
                </a:solidFill>
                <a:latin typeface="Aptos"/>
              </a:rPr>
              <a:t>ngehedged</a:t>
            </a:r>
            <a:r>
              <a:rPr lang="de-DE" sz="1150" b="0">
                <a:solidFill>
                  <a:srgbClr val="4F6875"/>
                </a:solidFill>
                <a:latin typeface="Aptos"/>
              </a:rPr>
              <a:t> eine Obergrenze. DB ist mit 55 % </a:t>
            </a:r>
            <a:r>
              <a:rPr lang="de-DE" sz="1150" b="0" err="1">
                <a:solidFill>
                  <a:srgbClr val="4F6875"/>
                </a:solidFill>
                <a:latin typeface="Aptos"/>
              </a:rPr>
              <a:t>HfT</a:t>
            </a:r>
            <a:r>
              <a:rPr lang="de-DE" sz="1150" b="0">
                <a:solidFill>
                  <a:srgbClr val="4F6875"/>
                </a:solidFill>
                <a:latin typeface="Aptos"/>
              </a:rPr>
              <a:t> ein Extremfall unserer Stichprobe</a:t>
            </a:r>
          </a:p>
        </p:txBody>
      </p:sp>
      <p:sp>
        <p:nvSpPr>
          <p:cNvPr id="17" name="Rectangle 16"/>
          <p:cNvSpPr/>
          <p:nvPr/>
        </p:nvSpPr>
        <p:spPr>
          <a:xfrm>
            <a:off x="548640" y="4398264"/>
            <a:ext cx="384048" cy="384048"/>
          </a:xfrm>
          <a:prstGeom prst="rect">
            <a:avLst/>
          </a:prstGeom>
          <a:solidFill>
            <a:srgbClr val="D1AC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48640" y="4474872"/>
            <a:ext cx="384048" cy="230832"/>
          </a:xfrm>
          <a:prstGeom prst="rect">
            <a:avLst/>
          </a:prstGeom>
          <a:noFill/>
        </p:spPr>
        <p:txBody>
          <a:bodyPr wrap="square" lIns="0" tIns="0" rIns="0" bIns="0" anchor="ctr">
            <a:spAutoFit/>
          </a:bodyPr>
          <a:lstStyle/>
          <a:p>
            <a:pPr algn="ctr">
              <a:spcBef>
                <a:spcPts val="0"/>
              </a:spcBef>
              <a:spcAft>
                <a:spcPts val="200"/>
              </a:spcAft>
            </a:pPr>
            <a:r>
              <a:rPr lang="en-GB" sz="1500" b="1">
                <a:solidFill>
                  <a:srgbClr val="FFFFFF"/>
                </a:solidFill>
                <a:latin typeface="Aptos"/>
              </a:rPr>
              <a:t>4</a:t>
            </a:r>
          </a:p>
        </p:txBody>
      </p:sp>
      <p:sp>
        <p:nvSpPr>
          <p:cNvPr id="19" name="TextBox 18"/>
          <p:cNvSpPr txBox="1"/>
          <p:nvPr/>
        </p:nvSpPr>
        <p:spPr>
          <a:xfrm>
            <a:off x="1097280" y="4379976"/>
            <a:ext cx="10424160" cy="207749"/>
          </a:xfrm>
          <a:prstGeom prst="rect">
            <a:avLst/>
          </a:prstGeom>
          <a:noFill/>
        </p:spPr>
        <p:txBody>
          <a:bodyPr wrap="square" lIns="0" tIns="0" rIns="0" bIns="0" anchor="t">
            <a:spAutoFit/>
          </a:bodyPr>
          <a:lstStyle/>
          <a:p>
            <a:pPr algn="l">
              <a:spcBef>
                <a:spcPts val="0"/>
              </a:spcBef>
              <a:spcAft>
                <a:spcPts val="200"/>
              </a:spcAft>
            </a:pPr>
            <a:r>
              <a:rPr lang="en-GB" sz="1350" b="1">
                <a:solidFill>
                  <a:srgbClr val="051C2C"/>
                </a:solidFill>
                <a:latin typeface="Aptos"/>
              </a:rPr>
              <a:t>Maßstab &amp; Grenzen</a:t>
            </a:r>
          </a:p>
        </p:txBody>
      </p:sp>
      <p:sp>
        <p:nvSpPr>
          <p:cNvPr id="20" name="TextBox 19"/>
          <p:cNvSpPr txBox="1"/>
          <p:nvPr/>
        </p:nvSpPr>
        <p:spPr>
          <a:xfrm>
            <a:off x="1097279" y="4653685"/>
            <a:ext cx="4378104" cy="379591"/>
          </a:xfrm>
          <a:prstGeom prst="rect">
            <a:avLst/>
          </a:prstGeom>
          <a:noFill/>
        </p:spPr>
        <p:txBody>
          <a:bodyPr wrap="square" lIns="0" tIns="0" rIns="0" bIns="0" anchor="t">
            <a:spAutoFit/>
          </a:bodyPr>
          <a:lstStyle/>
          <a:p>
            <a:pPr algn="l">
              <a:spcBef>
                <a:spcPts val="0"/>
              </a:spcBef>
              <a:spcAft>
                <a:spcPts val="200"/>
              </a:spcAft>
            </a:pPr>
            <a:r>
              <a:rPr lang="en-GB" sz="1150" b="0">
                <a:solidFill>
                  <a:srgbClr val="4F6875"/>
                </a:solidFill>
                <a:latin typeface="Aptos"/>
              </a:rPr>
              <a:t>System-</a:t>
            </a:r>
            <a:r>
              <a:rPr lang="en-GB" sz="1150" b="0" err="1">
                <a:solidFill>
                  <a:srgbClr val="4F6875"/>
                </a:solidFill>
                <a:latin typeface="Aptos"/>
              </a:rPr>
              <a:t>Effekt</a:t>
            </a:r>
            <a:r>
              <a:rPr lang="en-GB" sz="1150" b="0">
                <a:solidFill>
                  <a:srgbClr val="4F6875"/>
                </a:solidFill>
                <a:latin typeface="Aptos"/>
              </a:rPr>
              <a:t> </a:t>
            </a:r>
            <a:r>
              <a:rPr lang="en-GB" sz="1150" b="0" err="1">
                <a:solidFill>
                  <a:srgbClr val="4F6875"/>
                </a:solidFill>
                <a:latin typeface="Aptos"/>
              </a:rPr>
              <a:t>nur</a:t>
            </a:r>
            <a:r>
              <a:rPr lang="en-GB" sz="1150" b="0">
                <a:solidFill>
                  <a:srgbClr val="4F6875"/>
                </a:solidFill>
                <a:latin typeface="Aptos"/>
              </a:rPr>
              <a:t> −2,43 pp (DB −5,42 pp) </a:t>
            </a:r>
          </a:p>
          <a:p>
            <a:pPr algn="l">
              <a:spcBef>
                <a:spcPts val="0"/>
              </a:spcBef>
              <a:spcAft>
                <a:spcPts val="200"/>
              </a:spcAft>
            </a:pPr>
            <a:r>
              <a:rPr lang="en-GB" sz="1150" b="0">
                <a:solidFill>
                  <a:srgbClr val="4F6875"/>
                </a:solidFill>
                <a:latin typeface="Aptos"/>
              </a:rPr>
              <a:t>Nicht </a:t>
            </a:r>
            <a:r>
              <a:rPr lang="en-GB" sz="1150" b="0" err="1">
                <a:solidFill>
                  <a:srgbClr val="4F6875"/>
                </a:solidFill>
                <a:latin typeface="Aptos"/>
              </a:rPr>
              <a:t>modelliert</a:t>
            </a:r>
            <a:r>
              <a:rPr lang="en-GB" sz="1150" b="0">
                <a:solidFill>
                  <a:srgbClr val="4F6875"/>
                </a:solidFill>
                <a:latin typeface="Aptos"/>
              </a:rPr>
              <a:t>: Credit Spreads, Hedging, Slope/Curvature, </a:t>
            </a:r>
            <a:r>
              <a:rPr lang="en-GB" sz="1150" b="0" err="1">
                <a:solidFill>
                  <a:srgbClr val="4F6875"/>
                </a:solidFill>
                <a:latin typeface="Aptos"/>
              </a:rPr>
              <a:t>Steuern</a:t>
            </a:r>
            <a:endParaRPr lang="en-GB" sz="1150" b="0">
              <a:solidFill>
                <a:srgbClr val="4F6875"/>
              </a:solidFill>
              <a:latin typeface="Aptos"/>
            </a:endParaRPr>
          </a:p>
        </p:txBody>
      </p:sp>
      <p:sp>
        <p:nvSpPr>
          <p:cNvPr id="23" name="TextBox 22"/>
          <p:cNvSpPr txBox="1"/>
          <p:nvPr/>
        </p:nvSpPr>
        <p:spPr>
          <a:xfrm>
            <a:off x="457200" y="6519672"/>
            <a:ext cx="7315200" cy="138499"/>
          </a:xfrm>
          <a:prstGeom prst="rect">
            <a:avLst/>
          </a:prstGeom>
          <a:noFill/>
        </p:spPr>
        <p:txBody>
          <a:bodyPr wrap="square" lIns="0" tIns="0" rIns="0" bIns="0" anchor="t">
            <a:spAutoFit/>
          </a:bodyPr>
          <a:lstStyle/>
          <a:p>
            <a:pPr algn="l">
              <a:spcBef>
                <a:spcPts val="0"/>
              </a:spcBef>
              <a:spcAft>
                <a:spcPts val="200"/>
              </a:spcAft>
            </a:pPr>
            <a:r>
              <a:rPr lang="en-GB" sz="900" b="0" err="1">
                <a:solidFill>
                  <a:srgbClr val="71858F"/>
                </a:solidFill>
                <a:latin typeface="Aptos"/>
              </a:rPr>
              <a:t>Marktbuch</a:t>
            </a:r>
            <a:r>
              <a:rPr lang="en-GB" sz="900" b="0">
                <a:solidFill>
                  <a:srgbClr val="71858F"/>
                </a:solidFill>
                <a:latin typeface="Aptos"/>
              </a:rPr>
              <a:t> · Sovereign / Rate Channel</a:t>
            </a:r>
          </a:p>
        </p:txBody>
      </p:sp>
      <p:sp>
        <p:nvSpPr>
          <p:cNvPr id="21" name="Rectangle: Rounded Corners 5">
            <a:extLst>
              <a:ext uri="{FF2B5EF4-FFF2-40B4-BE49-F238E27FC236}">
                <a16:creationId xmlns:a16="http://schemas.microsoft.com/office/drawing/2014/main" id="{72B4EE78-D666-A851-FDD2-89E0414BEBB8}"/>
              </a:ext>
            </a:extLst>
          </p:cNvPr>
          <p:cNvSpPr>
            <a:spLocks noGrp="1"/>
          </p:cNvSpPr>
          <p:nvPr/>
        </p:nvSpPr>
        <p:spPr>
          <a:xfrm>
            <a:off x="6369065" y="2533514"/>
            <a:ext cx="5435723" cy="2182907"/>
          </a:xfrm>
          <a:prstGeom prst="roundRect">
            <a:avLst>
              <a:gd name="adj" fmla="val 4706"/>
            </a:avLst>
          </a:prstGeom>
          <a:solidFill>
            <a:srgbClr val="051C2C"/>
          </a:solidFill>
          <a:ln w="9525">
            <a:solidFill>
              <a:srgbClr val="051C2C"/>
            </a:solidFill>
            <a:prstDash val="solid"/>
          </a:ln>
        </p:spPr>
        <p:style>
          <a:lnRef idx="0">
            <a:scrgbClr r="0" g="0" b="0"/>
          </a:lnRef>
          <a:fillRef idx="0">
            <a:scrgbClr r="0" g="0" b="0"/>
          </a:fillRef>
          <a:effectRef idx="4">
            <a:scrgbClr r="0" g="0" b="0"/>
          </a:effectRef>
          <a:fontRef idx="major"/>
        </p:style>
        <p:txBody>
          <a:bodyPr/>
          <a:lstStyle/>
          <a:p>
            <a:endParaRPr/>
          </a:p>
        </p:txBody>
      </p:sp>
      <p:sp>
        <p:nvSpPr>
          <p:cNvPr id="22" name="Rectangle 6">
            <a:extLst>
              <a:ext uri="{FF2B5EF4-FFF2-40B4-BE49-F238E27FC236}">
                <a16:creationId xmlns:a16="http://schemas.microsoft.com/office/drawing/2014/main" id="{10EF112C-F66B-E2C8-710F-1C17EC6A1710}"/>
              </a:ext>
            </a:extLst>
          </p:cNvPr>
          <p:cNvSpPr>
            <a:spLocks noGrp="1"/>
          </p:cNvSpPr>
          <p:nvPr/>
        </p:nvSpPr>
        <p:spPr>
          <a:xfrm>
            <a:off x="6616715" y="2590085"/>
            <a:ext cx="1861549" cy="154087"/>
          </a:xfrm>
          <a:prstGeom prst="rect">
            <a:avLst/>
          </a:prstGeom>
          <a:noFill/>
          <a:ln w="0">
            <a:noFill/>
            <a:prstDash val="solid"/>
          </a:ln>
        </p:spPr>
        <p:txBody>
          <a:bodyPr/>
          <a:lstStyle/>
          <a:p>
            <a:pPr algn="l">
              <a:buNone/>
              <a:defRPr sz="825" b="1" i="0">
                <a:solidFill>
                  <a:srgbClr val="BCD0D9"/>
                </a:solidFill>
                <a:latin typeface="Aptos"/>
                <a:ea typeface="Aptos"/>
                <a:cs typeface="Aptos"/>
              </a:defRPr>
            </a:pPr>
            <a:r>
              <a:rPr sz="825" b="1" i="0">
                <a:solidFill>
                  <a:srgbClr val="BCD0D9"/>
                </a:solidFill>
                <a:latin typeface="Aptos"/>
                <a:ea typeface="Aptos"/>
                <a:cs typeface="Aptos"/>
              </a:rPr>
              <a:t>GESTRESSTE CET1-QUOTE</a:t>
            </a:r>
          </a:p>
        </p:txBody>
      </p:sp>
      <p:sp>
        <p:nvSpPr>
          <p:cNvPr id="25" name="Rectangle 7">
            <a:extLst>
              <a:ext uri="{FF2B5EF4-FFF2-40B4-BE49-F238E27FC236}">
                <a16:creationId xmlns:a16="http://schemas.microsoft.com/office/drawing/2014/main" id="{D5AC1052-94F8-A51C-CEB3-602F27552048}"/>
              </a:ext>
            </a:extLst>
          </p:cNvPr>
          <p:cNvSpPr>
            <a:spLocks noGrp="1"/>
          </p:cNvSpPr>
          <p:nvPr/>
        </p:nvSpPr>
        <p:spPr>
          <a:xfrm>
            <a:off x="6816741" y="3008070"/>
            <a:ext cx="4728334" cy="308175"/>
          </a:xfrm>
          <a:prstGeom prst="rect">
            <a:avLst/>
          </a:prstGeom>
          <a:noFill/>
          <a:ln w="0">
            <a:noFill/>
            <a:prstDash val="solid"/>
          </a:ln>
        </p:spPr>
        <p:txBody>
          <a:bodyPr/>
          <a:lstStyle/>
          <a:p>
            <a:pPr algn="ctr">
              <a:buNone/>
              <a:defRPr sz="1875" b="1" i="0">
                <a:solidFill>
                  <a:srgbClr val="FFFFFF"/>
                </a:solidFill>
                <a:latin typeface="Aptos Display"/>
                <a:ea typeface="Aptos Display"/>
                <a:cs typeface="Aptos Display"/>
              </a:defRPr>
            </a:pPr>
            <a:r>
              <a:rPr sz="1850" b="1" i="0">
                <a:solidFill>
                  <a:srgbClr val="FFFFFF"/>
                </a:solidFill>
                <a:latin typeface="Aptos Display"/>
                <a:ea typeface="Aptos Display"/>
                <a:cs typeface="Aptos Display"/>
              </a:rPr>
              <a:t>CET1₀  −  ΔEL </a:t>
            </a:r>
            <a:r>
              <a:rPr sz="1850" b="1" i="0" err="1">
                <a:solidFill>
                  <a:srgbClr val="FFFFFF"/>
                </a:solidFill>
                <a:latin typeface="Aptos Display"/>
                <a:ea typeface="Aptos Display"/>
                <a:cs typeface="Aptos Display"/>
              </a:rPr>
              <a:t>Kreditbuch</a:t>
            </a:r>
            <a:r>
              <a:rPr sz="1850" b="1" i="0">
                <a:solidFill>
                  <a:srgbClr val="FFFFFF"/>
                </a:solidFill>
                <a:latin typeface="Aptos Display"/>
                <a:ea typeface="Aptos Display"/>
                <a:cs typeface="Aptos Display"/>
              </a:rPr>
              <a:t>  +  </a:t>
            </a:r>
            <a:r>
              <a:rPr sz="1850" b="1" i="0">
                <a:solidFill>
                  <a:srgbClr val="FF0000"/>
                </a:solidFill>
                <a:latin typeface="Aptos Display"/>
                <a:ea typeface="Aptos Display"/>
                <a:cs typeface="Aptos Display"/>
              </a:rPr>
              <a:t>ΔFV Sovereigns</a:t>
            </a:r>
          </a:p>
        </p:txBody>
      </p:sp>
      <p:sp>
        <p:nvSpPr>
          <p:cNvPr id="26" name="Rectangle 9">
            <a:extLst>
              <a:ext uri="{FF2B5EF4-FFF2-40B4-BE49-F238E27FC236}">
                <a16:creationId xmlns:a16="http://schemas.microsoft.com/office/drawing/2014/main" id="{7B201171-CDE8-473E-C82C-E5E9C68AC7CC}"/>
              </a:ext>
            </a:extLst>
          </p:cNvPr>
          <p:cNvSpPr>
            <a:spLocks noGrp="1"/>
          </p:cNvSpPr>
          <p:nvPr/>
        </p:nvSpPr>
        <p:spPr>
          <a:xfrm>
            <a:off x="7531115" y="3684345"/>
            <a:ext cx="3611405" cy="308175"/>
          </a:xfrm>
          <a:prstGeom prst="rect">
            <a:avLst/>
          </a:prstGeom>
          <a:noFill/>
          <a:ln w="0">
            <a:noFill/>
            <a:prstDash val="solid"/>
          </a:ln>
        </p:spPr>
        <p:txBody>
          <a:bodyPr/>
          <a:lstStyle/>
          <a:p>
            <a:pPr algn="ctr">
              <a:buNone/>
              <a:defRPr sz="1875" b="1" i="0">
                <a:solidFill>
                  <a:srgbClr val="FFFFFF"/>
                </a:solidFill>
                <a:latin typeface="Aptos Display"/>
                <a:ea typeface="Aptos Display"/>
                <a:cs typeface="Aptos Display"/>
              </a:defRPr>
            </a:pPr>
            <a:r>
              <a:rPr sz="1850" b="1" i="0">
                <a:solidFill>
                  <a:srgbClr val="FFFFFF"/>
                </a:solidFill>
                <a:latin typeface="Aptos Display"/>
                <a:ea typeface="Aptos Display"/>
                <a:cs typeface="Aptos Display"/>
              </a:rPr>
              <a:t>RWA₀  +  ΔRWA </a:t>
            </a:r>
            <a:r>
              <a:rPr sz="1850" b="1" i="0" err="1">
                <a:solidFill>
                  <a:srgbClr val="FFFFFF"/>
                </a:solidFill>
                <a:latin typeface="Aptos Display"/>
                <a:ea typeface="Aptos Display"/>
                <a:cs typeface="Aptos Display"/>
              </a:rPr>
              <a:t>Kreditbuch</a:t>
            </a:r>
            <a:endParaRPr sz="1850" b="1" i="0">
              <a:solidFill>
                <a:srgbClr val="FFFFFF"/>
              </a:solidFill>
              <a:latin typeface="Aptos Display"/>
              <a:ea typeface="Aptos Display"/>
              <a:cs typeface="Aptos Display"/>
            </a:endParaRPr>
          </a:p>
        </p:txBody>
      </p:sp>
      <p:sp>
        <p:nvSpPr>
          <p:cNvPr id="27" name="Rectangle 10">
            <a:extLst>
              <a:ext uri="{FF2B5EF4-FFF2-40B4-BE49-F238E27FC236}">
                <a16:creationId xmlns:a16="http://schemas.microsoft.com/office/drawing/2014/main" id="{6A6BE0B6-D1F6-CD50-B849-3C008D2D80A5}"/>
              </a:ext>
            </a:extLst>
          </p:cNvPr>
          <p:cNvSpPr>
            <a:spLocks noGrp="1"/>
          </p:cNvSpPr>
          <p:nvPr/>
        </p:nvSpPr>
        <p:spPr>
          <a:xfrm>
            <a:off x="6711966" y="4267058"/>
            <a:ext cx="1042468" cy="154087"/>
          </a:xfrm>
          <a:prstGeom prst="rect">
            <a:avLst/>
          </a:prstGeom>
          <a:noFill/>
          <a:ln w="0">
            <a:noFill/>
            <a:prstDash val="solid"/>
          </a:ln>
        </p:spPr>
        <p:txBody>
          <a:bodyPr/>
          <a:lstStyle/>
          <a:p>
            <a:pPr algn="l">
              <a:buNone/>
              <a:defRPr sz="825" b="1" i="0">
                <a:solidFill>
                  <a:srgbClr val="E8B6C2"/>
                </a:solidFill>
                <a:latin typeface="Aptos"/>
                <a:ea typeface="Aptos"/>
                <a:cs typeface="Aptos"/>
              </a:defRPr>
            </a:pPr>
            <a:r>
              <a:rPr sz="825" b="1" i="0">
                <a:solidFill>
                  <a:srgbClr val="E8B6C2"/>
                </a:solidFill>
                <a:latin typeface="Aptos"/>
                <a:ea typeface="Aptos"/>
                <a:cs typeface="Aptos"/>
              </a:rPr>
              <a:t>Zählerwirkung</a:t>
            </a:r>
          </a:p>
        </p:txBody>
      </p:sp>
      <p:sp>
        <p:nvSpPr>
          <p:cNvPr id="28" name="Rectangle 11">
            <a:extLst>
              <a:ext uri="{FF2B5EF4-FFF2-40B4-BE49-F238E27FC236}">
                <a16:creationId xmlns:a16="http://schemas.microsoft.com/office/drawing/2014/main" id="{2EF4E844-5A55-9391-CC22-2E81137AD47C}"/>
              </a:ext>
            </a:extLst>
          </p:cNvPr>
          <p:cNvSpPr>
            <a:spLocks noGrp="1"/>
          </p:cNvSpPr>
          <p:nvPr/>
        </p:nvSpPr>
        <p:spPr>
          <a:xfrm>
            <a:off x="7912115" y="4258499"/>
            <a:ext cx="3648636" cy="162648"/>
          </a:xfrm>
          <a:prstGeom prst="rect">
            <a:avLst/>
          </a:prstGeom>
          <a:noFill/>
          <a:ln w="0">
            <a:noFill/>
            <a:prstDash val="solid"/>
          </a:ln>
        </p:spPr>
        <p:txBody>
          <a:bodyPr/>
          <a:lstStyle/>
          <a:p>
            <a:pPr algn="l">
              <a:buNone/>
              <a:defRPr sz="938" b="0" i="0">
                <a:solidFill>
                  <a:srgbClr val="E4EEF2"/>
                </a:solidFill>
                <a:latin typeface="Aptos"/>
                <a:ea typeface="Aptos"/>
                <a:cs typeface="Aptos"/>
              </a:defRPr>
            </a:pPr>
            <a:r>
              <a:rPr sz="938" b="0" i="0">
                <a:solidFill>
                  <a:srgbClr val="E4EEF2"/>
                </a:solidFill>
                <a:latin typeface="Aptos"/>
                <a:ea typeface="Aptos"/>
                <a:cs typeface="Aptos"/>
              </a:rPr>
              <a:t>Vorsorge und Sovereign-MtM reduzieren hartes Kernkapital</a:t>
            </a:r>
          </a:p>
        </p:txBody>
      </p:sp>
      <p:cxnSp>
        <p:nvCxnSpPr>
          <p:cNvPr id="31" name="Gerade Verbindung 30">
            <a:extLst>
              <a:ext uri="{FF2B5EF4-FFF2-40B4-BE49-F238E27FC236}">
                <a16:creationId xmlns:a16="http://schemas.microsoft.com/office/drawing/2014/main" id="{3F623974-92F3-0002-4420-AFFBF6C5BBE2}"/>
              </a:ext>
            </a:extLst>
          </p:cNvPr>
          <p:cNvCxnSpPr/>
          <p:nvPr/>
        </p:nvCxnSpPr>
        <p:spPr>
          <a:xfrm>
            <a:off x="6918593" y="3557015"/>
            <a:ext cx="4642158" cy="0"/>
          </a:xfrm>
          <a:prstGeom prst="line">
            <a:avLst/>
          </a:prstGeom>
          <a:ln>
            <a:solidFill>
              <a:schemeClr val="tx2">
                <a:lumMod val="10000"/>
                <a:lumOff val="90000"/>
              </a:schemeClr>
            </a:solidFill>
          </a:ln>
        </p:spPr>
        <p:style>
          <a:lnRef idx="1">
            <a:schemeClr val="accent1"/>
          </a:lnRef>
          <a:fillRef idx="0">
            <a:schemeClr val="accent1"/>
          </a:fillRef>
          <a:effectRef idx="0">
            <a:schemeClr val="accent1"/>
          </a:effectRef>
          <a:fontRef idx="minor">
            <a:schemeClr val="tx1"/>
          </a:fontRef>
        </p:style>
      </p:cxnSp>
      <p:sp>
        <p:nvSpPr>
          <p:cNvPr id="24" name="CodexSlideNumber">
            <a:extLst>
              <a:ext uri="{FF2B5EF4-FFF2-40B4-BE49-F238E27FC236}">
                <a16:creationId xmlns:a16="http://schemas.microsoft.com/office/drawing/2014/main" id="{A6406302-FDB9-4886-106F-BF1CA932D36D}"/>
              </a:ext>
            </a:extLst>
          </p:cNvPr>
          <p:cNvSpPr txBox="1"/>
          <p:nvPr/>
        </p:nvSpPr>
        <p:spPr>
          <a:xfrm>
            <a:off x="11226800" y="6553200"/>
            <a:ext cx="736600" cy="123111"/>
          </a:xfrm>
          <a:prstGeom prst="rect">
            <a:avLst/>
          </a:prstGeom>
          <a:noFill/>
        </p:spPr>
        <p:txBody>
          <a:bodyPr vert="horz" lIns="0" tIns="0" rIns="0" bIns="0" rtlCol="0">
            <a:spAutoFit/>
          </a:bodyPr>
          <a:lstStyle/>
          <a:p>
            <a:pPr algn="r"/>
            <a:r>
              <a:rPr lang="en-US" sz="800">
                <a:solidFill>
                  <a:srgbClr val="525252"/>
                </a:solidFill>
                <a:latin typeface="Arial" panose="020B0604020202020204" pitchFamily="34" charset="0"/>
              </a:rPr>
              <a:t>42 / 64</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92A94CC7-78D5-4F32-A747-F45E7D4CBB47}"/>
              </a:ext>
            </a:extLst>
          </p:cNvPr>
          <p:cNvSpPr>
            <a:spLocks noGrp="1"/>
          </p:cNvSpPr>
          <p:nvPr/>
        </p:nvSpPr>
        <p:spPr>
          <a:xfrm>
            <a:off x="0" y="0"/>
            <a:ext cx="12192000" cy="6858000"/>
          </a:xfrm>
          <a:prstGeom prst="rect">
            <a:avLst/>
          </a:prstGeom>
          <a:solidFill>
            <a:srgbClr val="071C2C"/>
          </a:solidFill>
        </p:spPr>
        <p:txBody>
          <a:bodyPr/>
          <a:lstStyle/>
          <a:p>
            <a:endParaRPr lang="en-US"/>
          </a:p>
        </p:txBody>
      </p:sp>
      <p:sp>
        <p:nvSpPr>
          <p:cNvPr id="2" name="kicker-capital-divider-marker">
            <a:extLst>
              <a:ext uri="{FF2B5EF4-FFF2-40B4-BE49-F238E27FC236}">
                <a16:creationId xmlns:a16="http://schemas.microsoft.com/office/drawing/2014/main" id="{6E5E034B-5A03-4A93-91F5-88CA2E50B8DE}"/>
              </a:ext>
            </a:extLst>
          </p:cNvPr>
          <p:cNvSpPr>
            <a:spLocks noGrp="1"/>
          </p:cNvSpPr>
          <p:nvPr/>
        </p:nvSpPr>
        <p:spPr>
          <a:xfrm>
            <a:off x="609600" y="676275"/>
            <a:ext cx="76200" cy="76200"/>
          </a:xfrm>
          <a:prstGeom prst="rect">
            <a:avLst/>
          </a:prstGeom>
          <a:solidFill>
            <a:srgbClr val="A63B4D"/>
          </a:solidFill>
        </p:spPr>
        <p:txBody>
          <a:bodyPr/>
          <a:lstStyle/>
          <a:p>
            <a:endParaRPr lang="en-US"/>
          </a:p>
        </p:txBody>
      </p:sp>
      <p:sp>
        <p:nvSpPr>
          <p:cNvPr id="3" name="kicker-capital-divider-label">
            <a:extLst>
              <a:ext uri="{FF2B5EF4-FFF2-40B4-BE49-F238E27FC236}">
                <a16:creationId xmlns:a16="http://schemas.microsoft.com/office/drawing/2014/main" id="{AC2CA9BF-EA85-4698-A7EC-0C075F0391CE}"/>
              </a:ext>
            </a:extLst>
          </p:cNvPr>
          <p:cNvSpPr>
            <a:spLocks noGrp="1"/>
          </p:cNvSpPr>
          <p:nvPr/>
        </p:nvSpPr>
        <p:spPr>
          <a:xfrm>
            <a:off x="800100" y="609600"/>
            <a:ext cx="4000500" cy="209550"/>
          </a:xfrm>
          <a:prstGeom prst="rect">
            <a:avLst/>
          </a:prstGeom>
        </p:spPr>
        <p:txBody>
          <a:bodyPr lIns="0" tIns="0" rIns="0" bIns="0" anchor="ctr"/>
          <a:lstStyle/>
          <a:p>
            <a:pPr algn="l">
              <a:defRPr sz="1050" b="1">
                <a:solidFill>
                  <a:srgbClr val="D7E0E5"/>
                </a:solidFill>
                <a:latin typeface="Aptos"/>
                <a:ea typeface="Aptos"/>
                <a:cs typeface="Aptos"/>
              </a:defRPr>
            </a:pPr>
            <a:r>
              <a:t>EIGENKAPITAL</a:t>
            </a:r>
          </a:p>
        </p:txBody>
      </p:sp>
      <p:sp>
        <p:nvSpPr>
          <p:cNvPr id="5" name="Rectangle 4">
            <a:extLst>
              <a:ext uri="{FF2B5EF4-FFF2-40B4-BE49-F238E27FC236}">
                <a16:creationId xmlns:a16="http://schemas.microsoft.com/office/drawing/2014/main" id="{E6D83660-9010-437B-847C-EE1AF5A39758}"/>
              </a:ext>
            </a:extLst>
          </p:cNvPr>
          <p:cNvSpPr>
            <a:spLocks noGrp="1"/>
          </p:cNvSpPr>
          <p:nvPr/>
        </p:nvSpPr>
        <p:spPr>
          <a:xfrm>
            <a:off x="609600" y="2152650"/>
            <a:ext cx="857250" cy="76200"/>
          </a:xfrm>
          <a:prstGeom prst="rect">
            <a:avLst/>
          </a:prstGeom>
          <a:solidFill>
            <a:srgbClr val="A63B4D"/>
          </a:solidFill>
        </p:spPr>
        <p:txBody>
          <a:bodyPr/>
          <a:lstStyle/>
          <a:p>
            <a:endParaRPr lang="en-US"/>
          </a:p>
        </p:txBody>
      </p:sp>
      <p:sp>
        <p:nvSpPr>
          <p:cNvPr id="6" name="Rectangle 5">
            <a:extLst>
              <a:ext uri="{FF2B5EF4-FFF2-40B4-BE49-F238E27FC236}">
                <a16:creationId xmlns:a16="http://schemas.microsoft.com/office/drawing/2014/main" id="{4566D4A2-2E71-4462-B1E2-1596AD4A5C44}"/>
              </a:ext>
            </a:extLst>
          </p:cNvPr>
          <p:cNvSpPr>
            <a:spLocks noGrp="1"/>
          </p:cNvSpPr>
          <p:nvPr/>
        </p:nvSpPr>
        <p:spPr>
          <a:xfrm>
            <a:off x="609600" y="2438400"/>
            <a:ext cx="9715500" cy="1428750"/>
          </a:xfrm>
          <a:prstGeom prst="rect">
            <a:avLst/>
          </a:prstGeom>
        </p:spPr>
        <p:txBody>
          <a:bodyPr lIns="0" tIns="0" rIns="0" bIns="0" anchor="t"/>
          <a:lstStyle/>
          <a:p>
            <a:pPr algn="l">
              <a:defRPr sz="4800" b="1">
                <a:solidFill>
                  <a:srgbClr val="FFFFFF"/>
                </a:solidFill>
                <a:latin typeface="Aptos Display"/>
                <a:ea typeface="Aptos Display"/>
                <a:cs typeface="Aptos Display"/>
              </a:defRPr>
            </a:pPr>
            <a:r>
              <a:rPr lang="en-US" err="1"/>
              <a:t>Eigenkapital</a:t>
            </a:r>
            <a:endParaRPr/>
          </a:p>
        </p:txBody>
      </p:sp>
      <p:sp>
        <p:nvSpPr>
          <p:cNvPr id="7" name="Rectangle 6">
            <a:extLst>
              <a:ext uri="{FF2B5EF4-FFF2-40B4-BE49-F238E27FC236}">
                <a16:creationId xmlns:a16="http://schemas.microsoft.com/office/drawing/2014/main" id="{F18BDB2E-55A6-4294-9C21-93D3B4C5BA96}"/>
              </a:ext>
            </a:extLst>
          </p:cNvPr>
          <p:cNvSpPr>
            <a:spLocks noGrp="1"/>
          </p:cNvSpPr>
          <p:nvPr/>
        </p:nvSpPr>
        <p:spPr>
          <a:xfrm>
            <a:off x="609600" y="4076700"/>
            <a:ext cx="8572500" cy="666750"/>
          </a:xfrm>
          <a:prstGeom prst="rect">
            <a:avLst/>
          </a:prstGeom>
        </p:spPr>
        <p:txBody>
          <a:bodyPr lIns="0" tIns="0" rIns="0" bIns="0" anchor="t"/>
          <a:lstStyle/>
          <a:p>
            <a:pPr algn="l">
              <a:defRPr sz="1800" b="0">
                <a:solidFill>
                  <a:srgbClr val="C7D2D9"/>
                </a:solidFill>
                <a:latin typeface="Aptos"/>
                <a:ea typeface="Aptos"/>
                <a:cs typeface="Aptos"/>
              </a:defRPr>
            </a:pPr>
            <a:r>
              <a:t>Wie Kreditbuch und Sovereign-Buch gemeinsam die CET1-Quote und regulatorische Puffer verändern.</a:t>
            </a:r>
          </a:p>
        </p:txBody>
      </p:sp>
      <p:sp>
        <p:nvSpPr>
          <p:cNvPr id="4" name="CodexSlideNumber">
            <a:extLst>
              <a:ext uri="{FF2B5EF4-FFF2-40B4-BE49-F238E27FC236}">
                <a16:creationId xmlns:a16="http://schemas.microsoft.com/office/drawing/2014/main" id="{E387B1F9-E25E-9247-EC6E-E280B6B74336}"/>
              </a:ext>
            </a:extLst>
          </p:cNvPr>
          <p:cNvSpPr txBox="1"/>
          <p:nvPr/>
        </p:nvSpPr>
        <p:spPr>
          <a:xfrm>
            <a:off x="11226800" y="6553200"/>
            <a:ext cx="736600" cy="123111"/>
          </a:xfrm>
          <a:prstGeom prst="rect">
            <a:avLst/>
          </a:prstGeom>
          <a:noFill/>
        </p:spPr>
        <p:txBody>
          <a:bodyPr vert="horz" lIns="0" tIns="0" rIns="0" bIns="0" rtlCol="0">
            <a:spAutoFit/>
          </a:bodyPr>
          <a:lstStyle/>
          <a:p>
            <a:pPr algn="r"/>
            <a:r>
              <a:rPr lang="en-US" sz="800">
                <a:solidFill>
                  <a:srgbClr val="525252"/>
                </a:solidFill>
                <a:latin typeface="Arial" panose="020B0604020202020204" pitchFamily="34" charset="0"/>
              </a:rPr>
              <a:t>43 / 64</a:t>
            </a:r>
          </a:p>
        </p:txBody>
      </p:sp>
    </p:spTree>
    <p:extLst>
      <p:ext uri="{BB962C8B-B14F-4D97-AF65-F5344CB8AC3E}">
        <p14:creationId xmlns:p14="http://schemas.microsoft.com/office/powerpoint/2010/main" val="63204527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kicker-capital-label">
            <a:extLst>
              <a:ext uri="{FF2B5EF4-FFF2-40B4-BE49-F238E27FC236}">
                <a16:creationId xmlns:a16="http://schemas.microsoft.com/office/drawing/2014/main" id="{45909797-1DC6-4A4E-B941-C3B0FC278A08}"/>
              </a:ext>
            </a:extLst>
          </p:cNvPr>
          <p:cNvSpPr>
            <a:spLocks noGrp="1"/>
          </p:cNvSpPr>
          <p:nvPr/>
        </p:nvSpPr>
        <p:spPr>
          <a:xfrm>
            <a:off x="600075" y="438150"/>
            <a:ext cx="2476500" cy="190500"/>
          </a:xfrm>
          <a:prstGeom prst="rect">
            <a:avLst/>
          </a:prstGeom>
        </p:spPr>
        <p:txBody>
          <a:bodyPr lIns="0" tIns="0" rIns="0" bIns="0" anchor="ctr"/>
          <a:lstStyle/>
          <a:p>
            <a:pPr>
              <a:buNone/>
              <a:defRPr sz="975" b="1">
                <a:solidFill>
                  <a:srgbClr val="5B666D"/>
                </a:solidFill>
                <a:latin typeface="Aptos"/>
                <a:ea typeface="Aptos"/>
                <a:cs typeface="Aptos"/>
              </a:defRPr>
            </a:pPr>
            <a:r>
              <a:rPr lang="en-GB" sz="863" b="1">
                <a:solidFill>
                  <a:schemeClr val="tx2"/>
                </a:solidFill>
                <a:latin typeface="Aptos"/>
              </a:rPr>
              <a:t>EIGENKAPITAL</a:t>
            </a:r>
          </a:p>
        </p:txBody>
      </p:sp>
      <p:sp>
        <p:nvSpPr>
          <p:cNvPr id="4" name="Rectangle 3">
            <a:extLst>
              <a:ext uri="{FF2B5EF4-FFF2-40B4-BE49-F238E27FC236}">
                <a16:creationId xmlns:a16="http://schemas.microsoft.com/office/drawing/2014/main" id="{8E67F757-56C7-4967-A890-0CFB29D44071}"/>
              </a:ext>
            </a:extLst>
          </p:cNvPr>
          <p:cNvSpPr>
            <a:spLocks noGrp="1"/>
          </p:cNvSpPr>
          <p:nvPr/>
        </p:nvSpPr>
        <p:spPr>
          <a:xfrm>
            <a:off x="438150" y="695325"/>
            <a:ext cx="11315700" cy="419100"/>
          </a:xfrm>
          <a:prstGeom prst="rect">
            <a:avLst/>
          </a:prstGeom>
        </p:spPr>
        <p:txBody>
          <a:bodyPr lIns="0" tIns="0" rIns="0" bIns="0" anchor="t"/>
          <a:lstStyle/>
          <a:p>
            <a:pPr>
              <a:buNone/>
              <a:defRPr sz="2475" b="1" i="0">
                <a:solidFill>
                  <a:srgbClr val="051C2C"/>
                </a:solidFill>
                <a:latin typeface="Aptos Display"/>
                <a:ea typeface="Aptos Display"/>
                <a:cs typeface="Aptos Display"/>
              </a:defRPr>
            </a:pPr>
            <a:r>
              <a:rPr lang="en-US" sz="2475" b="1">
                <a:solidFill>
                  <a:srgbClr val="051C2C"/>
                </a:solidFill>
                <a:latin typeface="Aptos Display"/>
              </a:rPr>
              <a:t>Die CET1-Quote verbindet beide Stresskanäle in einer Kennzahl.</a:t>
            </a:r>
          </a:p>
        </p:txBody>
      </p:sp>
      <p:sp>
        <p:nvSpPr>
          <p:cNvPr id="5" name="Rectangle 4">
            <a:extLst>
              <a:ext uri="{FF2B5EF4-FFF2-40B4-BE49-F238E27FC236}">
                <a16:creationId xmlns:a16="http://schemas.microsoft.com/office/drawing/2014/main" id="{0C763536-EBF9-4C91-B2EF-DA536951996B}"/>
              </a:ext>
            </a:extLst>
          </p:cNvPr>
          <p:cNvSpPr>
            <a:spLocks noGrp="1"/>
          </p:cNvSpPr>
          <p:nvPr/>
        </p:nvSpPr>
        <p:spPr>
          <a:xfrm>
            <a:off x="438150" y="1181100"/>
            <a:ext cx="11315700" cy="209550"/>
          </a:xfrm>
          <a:prstGeom prst="rect">
            <a:avLst/>
          </a:prstGeom>
        </p:spPr>
        <p:txBody>
          <a:bodyPr lIns="0" tIns="0" rIns="0" bIns="0" anchor="t"/>
          <a:lstStyle/>
          <a:p>
            <a:pPr algn="l">
              <a:buNone/>
              <a:defRPr sz="1200" b="0">
                <a:solidFill>
                  <a:srgbClr val="5B666D"/>
                </a:solidFill>
                <a:latin typeface="Aptos"/>
                <a:ea typeface="Aptos"/>
                <a:cs typeface="Aptos"/>
              </a:defRPr>
            </a:pPr>
            <a:r>
              <a:rPr lang="de-DE" sz="1130"/>
              <a:t>Kreditverluste und Sovereign-</a:t>
            </a:r>
            <a:r>
              <a:rPr lang="de-DE" sz="1130" err="1"/>
              <a:t>MtM</a:t>
            </a:r>
            <a:r>
              <a:rPr lang="de-DE" sz="1130"/>
              <a:t> reduzieren den Zähler; Kredit-RWA erhöhen den Nenner.</a:t>
            </a:r>
          </a:p>
        </p:txBody>
      </p:sp>
      <p:sp>
        <p:nvSpPr>
          <p:cNvPr id="10" name="Rectangle 9">
            <a:extLst>
              <a:ext uri="{FF2B5EF4-FFF2-40B4-BE49-F238E27FC236}">
                <a16:creationId xmlns:a16="http://schemas.microsoft.com/office/drawing/2014/main" id="{4C26BEA3-101B-4CB4-A317-6AC1793BCE4F}"/>
              </a:ext>
            </a:extLst>
          </p:cNvPr>
          <p:cNvSpPr>
            <a:spLocks noGrp="1"/>
          </p:cNvSpPr>
          <p:nvPr/>
        </p:nvSpPr>
        <p:spPr>
          <a:xfrm>
            <a:off x="7707086" y="2495550"/>
            <a:ext cx="3810000" cy="571500"/>
          </a:xfrm>
          <a:prstGeom prst="rect">
            <a:avLst/>
          </a:prstGeom>
          <a:solidFill>
            <a:srgbClr val="F2DEE2"/>
          </a:solidFill>
        </p:spPr>
        <p:txBody>
          <a:bodyPr/>
          <a:lstStyle/>
          <a:p>
            <a:endParaRPr/>
          </a:p>
        </p:txBody>
      </p:sp>
      <p:sp>
        <p:nvSpPr>
          <p:cNvPr id="11" name="Rectangle 10">
            <a:extLst>
              <a:ext uri="{FF2B5EF4-FFF2-40B4-BE49-F238E27FC236}">
                <a16:creationId xmlns:a16="http://schemas.microsoft.com/office/drawing/2014/main" id="{ECCD2FB5-3FBD-4E77-81C3-4064EAECF29F}"/>
              </a:ext>
            </a:extLst>
          </p:cNvPr>
          <p:cNvSpPr>
            <a:spLocks noGrp="1"/>
          </p:cNvSpPr>
          <p:nvPr/>
        </p:nvSpPr>
        <p:spPr>
          <a:xfrm>
            <a:off x="7878536" y="2667000"/>
            <a:ext cx="1733550" cy="194310"/>
          </a:xfrm>
          <a:prstGeom prst="rect">
            <a:avLst/>
          </a:prstGeom>
        </p:spPr>
        <p:txBody>
          <a:bodyPr lIns="0" tIns="0" rIns="0" bIns="0" anchor="t"/>
          <a:lstStyle/>
          <a:p>
            <a:pPr algn="l">
              <a:buNone/>
              <a:defRPr sz="1275" b="1">
                <a:solidFill>
                  <a:srgbClr val="071C2C"/>
                </a:solidFill>
                <a:latin typeface="Aptos"/>
                <a:ea typeface="Aptos"/>
                <a:cs typeface="Aptos"/>
              </a:defRPr>
            </a:pPr>
            <a:r>
              <a:t>Kreditbuch</a:t>
            </a:r>
          </a:p>
        </p:txBody>
      </p:sp>
      <p:sp>
        <p:nvSpPr>
          <p:cNvPr id="12" name="Rectangle 11">
            <a:extLst>
              <a:ext uri="{FF2B5EF4-FFF2-40B4-BE49-F238E27FC236}">
                <a16:creationId xmlns:a16="http://schemas.microsoft.com/office/drawing/2014/main" id="{92A2DFA0-FCF6-4A28-99EE-C44249B8A140}"/>
              </a:ext>
            </a:extLst>
          </p:cNvPr>
          <p:cNvSpPr>
            <a:spLocks noGrp="1"/>
          </p:cNvSpPr>
          <p:nvPr/>
        </p:nvSpPr>
        <p:spPr>
          <a:xfrm>
            <a:off x="9612086" y="2667000"/>
            <a:ext cx="1733550" cy="194310"/>
          </a:xfrm>
          <a:prstGeom prst="rect">
            <a:avLst/>
          </a:prstGeom>
        </p:spPr>
        <p:txBody>
          <a:bodyPr lIns="0" tIns="0" rIns="0" bIns="0" anchor="t"/>
          <a:lstStyle/>
          <a:p>
            <a:pPr algn="r">
              <a:buNone/>
              <a:defRPr sz="1275" b="1">
                <a:solidFill>
                  <a:srgbClr val="A63B4D"/>
                </a:solidFill>
                <a:latin typeface="Aptos"/>
                <a:ea typeface="Aptos"/>
                <a:cs typeface="Aptos"/>
              </a:defRPr>
            </a:pPr>
            <a:r>
              <a:t>Zähler + Nenner</a:t>
            </a:r>
          </a:p>
        </p:txBody>
      </p:sp>
      <p:sp>
        <p:nvSpPr>
          <p:cNvPr id="13" name="Rectangle 12">
            <a:extLst>
              <a:ext uri="{FF2B5EF4-FFF2-40B4-BE49-F238E27FC236}">
                <a16:creationId xmlns:a16="http://schemas.microsoft.com/office/drawing/2014/main" id="{B8F4B2DB-4F49-4BF4-884D-11DACC361746}"/>
              </a:ext>
            </a:extLst>
          </p:cNvPr>
          <p:cNvSpPr>
            <a:spLocks noGrp="1"/>
          </p:cNvSpPr>
          <p:nvPr/>
        </p:nvSpPr>
        <p:spPr>
          <a:xfrm>
            <a:off x="7707086" y="3219450"/>
            <a:ext cx="3810000" cy="571500"/>
          </a:xfrm>
          <a:prstGeom prst="rect">
            <a:avLst/>
          </a:prstGeom>
          <a:solidFill>
            <a:srgbClr val="F3E7C8"/>
          </a:solidFill>
        </p:spPr>
        <p:txBody>
          <a:bodyPr/>
          <a:lstStyle/>
          <a:p>
            <a:endParaRPr/>
          </a:p>
        </p:txBody>
      </p:sp>
      <p:sp>
        <p:nvSpPr>
          <p:cNvPr id="14" name="Rectangle 13">
            <a:extLst>
              <a:ext uri="{FF2B5EF4-FFF2-40B4-BE49-F238E27FC236}">
                <a16:creationId xmlns:a16="http://schemas.microsoft.com/office/drawing/2014/main" id="{5C3DAA26-FBED-4DC0-97F3-C9C2D9AF9129}"/>
              </a:ext>
            </a:extLst>
          </p:cNvPr>
          <p:cNvSpPr>
            <a:spLocks noGrp="1"/>
          </p:cNvSpPr>
          <p:nvPr/>
        </p:nvSpPr>
        <p:spPr>
          <a:xfrm>
            <a:off x="7878536" y="3390900"/>
            <a:ext cx="1733550" cy="194310"/>
          </a:xfrm>
          <a:prstGeom prst="rect">
            <a:avLst/>
          </a:prstGeom>
        </p:spPr>
        <p:txBody>
          <a:bodyPr lIns="0" tIns="0" rIns="0" bIns="0" anchor="t"/>
          <a:lstStyle/>
          <a:p>
            <a:pPr algn="l">
              <a:buNone/>
              <a:defRPr sz="1275" b="1">
                <a:solidFill>
                  <a:srgbClr val="071C2C"/>
                </a:solidFill>
                <a:latin typeface="Aptos"/>
                <a:ea typeface="Aptos"/>
                <a:cs typeface="Aptos"/>
              </a:defRPr>
            </a:pPr>
            <a:r>
              <a:t>Sovereign</a:t>
            </a:r>
          </a:p>
        </p:txBody>
      </p:sp>
      <p:sp>
        <p:nvSpPr>
          <p:cNvPr id="15" name="Rectangle 14">
            <a:extLst>
              <a:ext uri="{FF2B5EF4-FFF2-40B4-BE49-F238E27FC236}">
                <a16:creationId xmlns:a16="http://schemas.microsoft.com/office/drawing/2014/main" id="{92D65C59-B3DB-4930-8F5E-F6A0E751E41D}"/>
              </a:ext>
            </a:extLst>
          </p:cNvPr>
          <p:cNvSpPr>
            <a:spLocks noGrp="1"/>
          </p:cNvSpPr>
          <p:nvPr/>
        </p:nvSpPr>
        <p:spPr>
          <a:xfrm>
            <a:off x="9612086" y="3390900"/>
            <a:ext cx="1733550" cy="194310"/>
          </a:xfrm>
          <a:prstGeom prst="rect">
            <a:avLst/>
          </a:prstGeom>
        </p:spPr>
        <p:txBody>
          <a:bodyPr lIns="0" tIns="0" rIns="0" bIns="0" anchor="t"/>
          <a:lstStyle/>
          <a:p>
            <a:pPr algn="r">
              <a:buNone/>
              <a:defRPr sz="1275" b="1">
                <a:solidFill>
                  <a:srgbClr val="D39A2C"/>
                </a:solidFill>
                <a:latin typeface="Aptos"/>
                <a:ea typeface="Aptos"/>
                <a:cs typeface="Aptos"/>
              </a:defRPr>
            </a:pPr>
            <a:r>
              <a:t>Zähler</a:t>
            </a:r>
          </a:p>
        </p:txBody>
      </p:sp>
      <p:sp>
        <p:nvSpPr>
          <p:cNvPr id="16" name="Rectangle 15">
            <a:extLst>
              <a:ext uri="{FF2B5EF4-FFF2-40B4-BE49-F238E27FC236}">
                <a16:creationId xmlns:a16="http://schemas.microsoft.com/office/drawing/2014/main" id="{5932641C-516C-48EB-BCCC-28F70702AE94}"/>
              </a:ext>
            </a:extLst>
          </p:cNvPr>
          <p:cNvSpPr>
            <a:spLocks noGrp="1"/>
          </p:cNvSpPr>
          <p:nvPr/>
        </p:nvSpPr>
        <p:spPr>
          <a:xfrm>
            <a:off x="7707086" y="3943350"/>
            <a:ext cx="3810000" cy="571500"/>
          </a:xfrm>
          <a:prstGeom prst="rect">
            <a:avLst/>
          </a:prstGeom>
          <a:solidFill>
            <a:srgbClr val="E8E6E2"/>
          </a:solidFill>
        </p:spPr>
        <p:txBody>
          <a:bodyPr/>
          <a:lstStyle/>
          <a:p>
            <a:endParaRPr/>
          </a:p>
        </p:txBody>
      </p:sp>
      <p:sp>
        <p:nvSpPr>
          <p:cNvPr id="17" name="Rectangle 16">
            <a:extLst>
              <a:ext uri="{FF2B5EF4-FFF2-40B4-BE49-F238E27FC236}">
                <a16:creationId xmlns:a16="http://schemas.microsoft.com/office/drawing/2014/main" id="{3749D995-3987-4784-9902-29F8075A041F}"/>
              </a:ext>
            </a:extLst>
          </p:cNvPr>
          <p:cNvSpPr>
            <a:spLocks noGrp="1"/>
          </p:cNvSpPr>
          <p:nvPr/>
        </p:nvSpPr>
        <p:spPr>
          <a:xfrm>
            <a:off x="7878536" y="4114800"/>
            <a:ext cx="1733550" cy="194310"/>
          </a:xfrm>
          <a:prstGeom prst="rect">
            <a:avLst/>
          </a:prstGeom>
        </p:spPr>
        <p:txBody>
          <a:bodyPr lIns="0" tIns="0" rIns="0" bIns="0" anchor="t"/>
          <a:lstStyle/>
          <a:p>
            <a:pPr algn="l">
              <a:buNone/>
              <a:defRPr sz="1275" b="1">
                <a:solidFill>
                  <a:srgbClr val="071C2C"/>
                </a:solidFill>
                <a:latin typeface="Aptos"/>
                <a:ea typeface="Aptos"/>
                <a:cs typeface="Aptos"/>
              </a:defRPr>
            </a:pPr>
            <a:r>
              <a:t>Trading Book</a:t>
            </a:r>
          </a:p>
        </p:txBody>
      </p:sp>
      <p:sp>
        <p:nvSpPr>
          <p:cNvPr id="18" name="Rectangle 17">
            <a:extLst>
              <a:ext uri="{FF2B5EF4-FFF2-40B4-BE49-F238E27FC236}">
                <a16:creationId xmlns:a16="http://schemas.microsoft.com/office/drawing/2014/main" id="{D3F4DC5E-B5F5-44F9-8B32-24E5C03C9F09}"/>
              </a:ext>
            </a:extLst>
          </p:cNvPr>
          <p:cNvSpPr>
            <a:spLocks noGrp="1"/>
          </p:cNvSpPr>
          <p:nvPr/>
        </p:nvSpPr>
        <p:spPr>
          <a:xfrm>
            <a:off x="9612086" y="4114800"/>
            <a:ext cx="1733550" cy="194310"/>
          </a:xfrm>
          <a:prstGeom prst="rect">
            <a:avLst/>
          </a:prstGeom>
        </p:spPr>
        <p:txBody>
          <a:bodyPr lIns="0" tIns="0" rIns="0" bIns="0" anchor="t"/>
          <a:lstStyle/>
          <a:p>
            <a:pPr algn="r">
              <a:buNone/>
              <a:defRPr sz="1275" b="1">
                <a:solidFill>
                  <a:srgbClr val="5B666D"/>
                </a:solidFill>
                <a:latin typeface="Aptos"/>
                <a:ea typeface="Aptos"/>
                <a:cs typeface="Aptos"/>
              </a:defRPr>
            </a:pPr>
            <a:r>
              <a:t>entfernt</a:t>
            </a:r>
          </a:p>
        </p:txBody>
      </p:sp>
      <p:sp>
        <p:nvSpPr>
          <p:cNvPr id="22" name="Rectangle 21">
            <a:extLst>
              <a:ext uri="{FF2B5EF4-FFF2-40B4-BE49-F238E27FC236}">
                <a16:creationId xmlns:a16="http://schemas.microsoft.com/office/drawing/2014/main" id="{1FCBE956-3757-4295-8135-72C3F87B340E}"/>
              </a:ext>
            </a:extLst>
          </p:cNvPr>
          <p:cNvSpPr>
            <a:spLocks noGrp="1"/>
          </p:cNvSpPr>
          <p:nvPr/>
        </p:nvSpPr>
        <p:spPr>
          <a:xfrm>
            <a:off x="438150" y="6143625"/>
            <a:ext cx="9810750" cy="152400"/>
          </a:xfrm>
          <a:prstGeom prst="rect">
            <a:avLst/>
          </a:prstGeom>
        </p:spPr>
        <p:txBody>
          <a:bodyPr lIns="0" tIns="0" rIns="0" bIns="0" anchor="ctr"/>
          <a:lstStyle/>
          <a:p>
            <a:pPr algn="l">
              <a:buNone/>
              <a:defRPr sz="750" b="0">
                <a:solidFill>
                  <a:srgbClr val="8C8780"/>
                </a:solidFill>
                <a:latin typeface="Aptos"/>
                <a:ea typeface="Aptos"/>
                <a:cs typeface="Aptos"/>
              </a:defRPr>
            </a:pPr>
            <a:r>
              <a:t>EU Banking Credit Stress Cockpit ·</a:t>
            </a:r>
            <a:r>
              <a:rPr lang="de-DE"/>
              <a:t> Eigenkapital</a:t>
            </a:r>
            <a:endParaRPr/>
          </a:p>
        </p:txBody>
      </p:sp>
      <p:sp>
        <p:nvSpPr>
          <p:cNvPr id="26" name="Rectangle: Rounded Corners 5">
            <a:extLst>
              <a:ext uri="{FF2B5EF4-FFF2-40B4-BE49-F238E27FC236}">
                <a16:creationId xmlns:a16="http://schemas.microsoft.com/office/drawing/2014/main" id="{D98E450C-56AC-5356-A53A-EE6E46290B5D}"/>
              </a:ext>
            </a:extLst>
          </p:cNvPr>
          <p:cNvSpPr>
            <a:spLocks noGrp="1"/>
          </p:cNvSpPr>
          <p:nvPr/>
        </p:nvSpPr>
        <p:spPr>
          <a:xfrm>
            <a:off x="142875" y="2214562"/>
            <a:ext cx="6953250" cy="2428875"/>
          </a:xfrm>
          <a:prstGeom prst="roundRect">
            <a:avLst>
              <a:gd name="adj" fmla="val 4706"/>
            </a:avLst>
          </a:prstGeom>
          <a:solidFill>
            <a:srgbClr val="051C2C"/>
          </a:solidFill>
          <a:ln w="9525">
            <a:solidFill>
              <a:srgbClr val="051C2C"/>
            </a:solidFill>
            <a:prstDash val="solid"/>
          </a:ln>
        </p:spPr>
        <p:style>
          <a:lnRef idx="0">
            <a:scrgbClr r="0" g="0" b="0"/>
          </a:lnRef>
          <a:fillRef idx="0">
            <a:scrgbClr r="0" g="0" b="0"/>
          </a:fillRef>
          <a:effectRef idx="4">
            <a:scrgbClr r="0" g="0" b="0"/>
          </a:effectRef>
          <a:fontRef idx="major"/>
        </p:style>
        <p:txBody>
          <a:bodyPr/>
          <a:lstStyle/>
          <a:p>
            <a:endParaRPr/>
          </a:p>
        </p:txBody>
      </p:sp>
      <p:sp>
        <p:nvSpPr>
          <p:cNvPr id="27" name="Rectangle 6">
            <a:extLst>
              <a:ext uri="{FF2B5EF4-FFF2-40B4-BE49-F238E27FC236}">
                <a16:creationId xmlns:a16="http://schemas.microsoft.com/office/drawing/2014/main" id="{46C5BB08-8966-83B3-48BA-BC81E7EC32AD}"/>
              </a:ext>
            </a:extLst>
          </p:cNvPr>
          <p:cNvSpPr>
            <a:spLocks noGrp="1"/>
          </p:cNvSpPr>
          <p:nvPr/>
        </p:nvSpPr>
        <p:spPr>
          <a:xfrm>
            <a:off x="390525" y="2433637"/>
            <a:ext cx="2381250" cy="171450"/>
          </a:xfrm>
          <a:prstGeom prst="rect">
            <a:avLst/>
          </a:prstGeom>
          <a:noFill/>
          <a:ln w="0">
            <a:noFill/>
            <a:prstDash val="solid"/>
          </a:ln>
        </p:spPr>
        <p:txBody>
          <a:bodyPr/>
          <a:lstStyle/>
          <a:p>
            <a:pPr algn="l">
              <a:buNone/>
              <a:defRPr sz="825" b="1" i="0">
                <a:solidFill>
                  <a:srgbClr val="BCD0D9"/>
                </a:solidFill>
                <a:latin typeface="Aptos"/>
                <a:ea typeface="Aptos"/>
                <a:cs typeface="Aptos"/>
              </a:defRPr>
            </a:pPr>
            <a:r>
              <a:rPr sz="825" b="1" i="0">
                <a:solidFill>
                  <a:srgbClr val="BCD0D9"/>
                </a:solidFill>
                <a:latin typeface="Aptos"/>
                <a:ea typeface="Aptos"/>
                <a:cs typeface="Aptos"/>
              </a:rPr>
              <a:t>GESTRESSTE CET1-QUOTE</a:t>
            </a:r>
          </a:p>
        </p:txBody>
      </p:sp>
      <p:sp>
        <p:nvSpPr>
          <p:cNvPr id="28" name="Rectangle 7">
            <a:extLst>
              <a:ext uri="{FF2B5EF4-FFF2-40B4-BE49-F238E27FC236}">
                <a16:creationId xmlns:a16="http://schemas.microsoft.com/office/drawing/2014/main" id="{44A3C620-3CC3-D94B-823D-36EE1EBCF444}"/>
              </a:ext>
            </a:extLst>
          </p:cNvPr>
          <p:cNvSpPr>
            <a:spLocks noGrp="1"/>
          </p:cNvSpPr>
          <p:nvPr/>
        </p:nvSpPr>
        <p:spPr>
          <a:xfrm>
            <a:off x="590550" y="2900362"/>
            <a:ext cx="6048375" cy="342900"/>
          </a:xfrm>
          <a:prstGeom prst="rect">
            <a:avLst/>
          </a:prstGeom>
          <a:noFill/>
          <a:ln w="0">
            <a:noFill/>
            <a:prstDash val="solid"/>
          </a:ln>
        </p:spPr>
        <p:txBody>
          <a:bodyPr/>
          <a:lstStyle/>
          <a:p>
            <a:pPr algn="ctr">
              <a:buNone/>
              <a:defRPr sz="1875" b="1" i="0">
                <a:solidFill>
                  <a:srgbClr val="FFFFFF"/>
                </a:solidFill>
                <a:latin typeface="Aptos Display"/>
                <a:ea typeface="Aptos Display"/>
                <a:cs typeface="Aptos Display"/>
              </a:defRPr>
            </a:pPr>
            <a:r>
              <a:rPr sz="1875" b="1" i="0">
                <a:solidFill>
                  <a:srgbClr val="FFFFFF"/>
                </a:solidFill>
                <a:latin typeface="Aptos Display"/>
                <a:ea typeface="Aptos Display"/>
                <a:cs typeface="Aptos Display"/>
              </a:rPr>
              <a:t>CET1₀  −  ΔEL Kreditbuch  +  ΔFV Sovereigns</a:t>
            </a:r>
          </a:p>
        </p:txBody>
      </p:sp>
      <p:sp>
        <p:nvSpPr>
          <p:cNvPr id="29" name="Rectangle 8">
            <a:extLst>
              <a:ext uri="{FF2B5EF4-FFF2-40B4-BE49-F238E27FC236}">
                <a16:creationId xmlns:a16="http://schemas.microsoft.com/office/drawing/2014/main" id="{E7F2854A-1CDD-D18D-33CB-28268DB1332C}"/>
              </a:ext>
            </a:extLst>
          </p:cNvPr>
          <p:cNvSpPr>
            <a:spLocks noGrp="1"/>
          </p:cNvSpPr>
          <p:nvPr/>
        </p:nvSpPr>
        <p:spPr>
          <a:xfrm>
            <a:off x="809625" y="3386137"/>
            <a:ext cx="5619750" cy="19050"/>
          </a:xfrm>
          <a:prstGeom prst="rect">
            <a:avLst/>
          </a:prstGeom>
          <a:solidFill>
            <a:srgbClr val="8299A5"/>
          </a:solidFill>
          <a:ln w="0">
            <a:noFill/>
            <a:prstDash val="solid"/>
          </a:ln>
        </p:spPr>
        <p:txBody>
          <a:bodyPr/>
          <a:lstStyle/>
          <a:p>
            <a:endParaRPr/>
          </a:p>
        </p:txBody>
      </p:sp>
      <p:sp>
        <p:nvSpPr>
          <p:cNvPr id="30" name="Rectangle 9">
            <a:extLst>
              <a:ext uri="{FF2B5EF4-FFF2-40B4-BE49-F238E27FC236}">
                <a16:creationId xmlns:a16="http://schemas.microsoft.com/office/drawing/2014/main" id="{A507233C-8EF3-E236-BD81-CCDA1DBF8729}"/>
              </a:ext>
            </a:extLst>
          </p:cNvPr>
          <p:cNvSpPr>
            <a:spLocks noGrp="1"/>
          </p:cNvSpPr>
          <p:nvPr/>
        </p:nvSpPr>
        <p:spPr>
          <a:xfrm>
            <a:off x="1304925" y="3576637"/>
            <a:ext cx="4619625" cy="342900"/>
          </a:xfrm>
          <a:prstGeom prst="rect">
            <a:avLst/>
          </a:prstGeom>
          <a:noFill/>
          <a:ln w="0">
            <a:noFill/>
            <a:prstDash val="solid"/>
          </a:ln>
        </p:spPr>
        <p:txBody>
          <a:bodyPr/>
          <a:lstStyle/>
          <a:p>
            <a:pPr algn="ctr">
              <a:buNone/>
              <a:defRPr sz="1875" b="1" i="0">
                <a:solidFill>
                  <a:srgbClr val="FFFFFF"/>
                </a:solidFill>
                <a:latin typeface="Aptos Display"/>
                <a:ea typeface="Aptos Display"/>
                <a:cs typeface="Aptos Display"/>
              </a:defRPr>
            </a:pPr>
            <a:r>
              <a:rPr sz="1875" b="1" i="0">
                <a:solidFill>
                  <a:srgbClr val="FFFFFF"/>
                </a:solidFill>
                <a:latin typeface="Aptos Display"/>
                <a:ea typeface="Aptos Display"/>
                <a:cs typeface="Aptos Display"/>
              </a:rPr>
              <a:t>RWA₀  +  ΔRWA Kreditbuch</a:t>
            </a:r>
          </a:p>
        </p:txBody>
      </p:sp>
      <p:sp>
        <p:nvSpPr>
          <p:cNvPr id="31" name="Rectangle 10">
            <a:extLst>
              <a:ext uri="{FF2B5EF4-FFF2-40B4-BE49-F238E27FC236}">
                <a16:creationId xmlns:a16="http://schemas.microsoft.com/office/drawing/2014/main" id="{E9E7D76A-9A70-8C90-8B41-31E0F6561746}"/>
              </a:ext>
            </a:extLst>
          </p:cNvPr>
          <p:cNvSpPr>
            <a:spLocks noGrp="1"/>
          </p:cNvSpPr>
          <p:nvPr/>
        </p:nvSpPr>
        <p:spPr>
          <a:xfrm>
            <a:off x="485775" y="4176712"/>
            <a:ext cx="1333500" cy="171450"/>
          </a:xfrm>
          <a:prstGeom prst="rect">
            <a:avLst/>
          </a:prstGeom>
          <a:noFill/>
          <a:ln w="0">
            <a:noFill/>
            <a:prstDash val="solid"/>
          </a:ln>
        </p:spPr>
        <p:txBody>
          <a:bodyPr/>
          <a:lstStyle/>
          <a:p>
            <a:pPr algn="l">
              <a:buNone/>
              <a:defRPr sz="825" b="1" i="0">
                <a:solidFill>
                  <a:srgbClr val="E8B6C2"/>
                </a:solidFill>
                <a:latin typeface="Aptos"/>
                <a:ea typeface="Aptos"/>
                <a:cs typeface="Aptos"/>
              </a:defRPr>
            </a:pPr>
            <a:r>
              <a:rPr sz="825" b="1" i="0">
                <a:solidFill>
                  <a:srgbClr val="E8B6C2"/>
                </a:solidFill>
                <a:latin typeface="Aptos"/>
                <a:ea typeface="Aptos"/>
                <a:cs typeface="Aptos"/>
              </a:rPr>
              <a:t>Zählerwirkung</a:t>
            </a:r>
          </a:p>
        </p:txBody>
      </p:sp>
      <p:sp>
        <p:nvSpPr>
          <p:cNvPr id="32" name="Rectangle 11">
            <a:extLst>
              <a:ext uri="{FF2B5EF4-FFF2-40B4-BE49-F238E27FC236}">
                <a16:creationId xmlns:a16="http://schemas.microsoft.com/office/drawing/2014/main" id="{5A85321D-4AB1-ECC5-2D81-C94F6D5BD221}"/>
              </a:ext>
            </a:extLst>
          </p:cNvPr>
          <p:cNvSpPr>
            <a:spLocks noGrp="1"/>
          </p:cNvSpPr>
          <p:nvPr/>
        </p:nvSpPr>
        <p:spPr>
          <a:xfrm>
            <a:off x="1685925" y="4167187"/>
            <a:ext cx="4667250" cy="180975"/>
          </a:xfrm>
          <a:prstGeom prst="rect">
            <a:avLst/>
          </a:prstGeom>
          <a:noFill/>
          <a:ln w="0">
            <a:noFill/>
            <a:prstDash val="solid"/>
          </a:ln>
        </p:spPr>
        <p:txBody>
          <a:bodyPr/>
          <a:lstStyle/>
          <a:p>
            <a:pPr algn="l">
              <a:buNone/>
              <a:defRPr sz="938" b="0" i="0">
                <a:solidFill>
                  <a:srgbClr val="E4EEF2"/>
                </a:solidFill>
                <a:latin typeface="Aptos"/>
                <a:ea typeface="Aptos"/>
                <a:cs typeface="Aptos"/>
              </a:defRPr>
            </a:pPr>
            <a:r>
              <a:rPr sz="938" b="0" i="0">
                <a:solidFill>
                  <a:srgbClr val="E4EEF2"/>
                </a:solidFill>
                <a:latin typeface="Aptos"/>
                <a:ea typeface="Aptos"/>
                <a:cs typeface="Aptos"/>
              </a:rPr>
              <a:t>Vorsorge und Sovereign-MtM reduzieren hartes Kernkapital</a:t>
            </a:r>
          </a:p>
        </p:txBody>
      </p:sp>
      <p:sp>
        <p:nvSpPr>
          <p:cNvPr id="2" name="CodexSlideNumber">
            <a:extLst>
              <a:ext uri="{FF2B5EF4-FFF2-40B4-BE49-F238E27FC236}">
                <a16:creationId xmlns:a16="http://schemas.microsoft.com/office/drawing/2014/main" id="{52411F71-1126-4E26-3F4A-A182F6485900}"/>
              </a:ext>
            </a:extLst>
          </p:cNvPr>
          <p:cNvSpPr txBox="1"/>
          <p:nvPr/>
        </p:nvSpPr>
        <p:spPr>
          <a:xfrm>
            <a:off x="11226800" y="6553200"/>
            <a:ext cx="736600" cy="123111"/>
          </a:xfrm>
          <a:prstGeom prst="rect">
            <a:avLst/>
          </a:prstGeom>
          <a:noFill/>
        </p:spPr>
        <p:txBody>
          <a:bodyPr vert="horz" lIns="0" tIns="0" rIns="0" bIns="0" rtlCol="0">
            <a:spAutoFit/>
          </a:bodyPr>
          <a:lstStyle/>
          <a:p>
            <a:pPr algn="r"/>
            <a:r>
              <a:rPr lang="en-US" sz="800">
                <a:solidFill>
                  <a:srgbClr val="525252"/>
                </a:solidFill>
                <a:latin typeface="Arial" panose="020B0604020202020204" pitchFamily="34" charset="0"/>
              </a:rPr>
              <a:t>44 / 64</a:t>
            </a:r>
          </a:p>
        </p:txBody>
      </p:sp>
    </p:spTree>
    <p:extLst>
      <p:ext uri="{BB962C8B-B14F-4D97-AF65-F5344CB8AC3E}">
        <p14:creationId xmlns:p14="http://schemas.microsoft.com/office/powerpoint/2010/main" val="402403476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kicker-capital-label">
            <a:extLst>
              <a:ext uri="{FF2B5EF4-FFF2-40B4-BE49-F238E27FC236}">
                <a16:creationId xmlns:a16="http://schemas.microsoft.com/office/drawing/2014/main" id="{D9816564-43C7-4C41-A1C1-9F48EAB2837A}"/>
              </a:ext>
            </a:extLst>
          </p:cNvPr>
          <p:cNvSpPr>
            <a:spLocks noGrp="1"/>
          </p:cNvSpPr>
          <p:nvPr/>
        </p:nvSpPr>
        <p:spPr>
          <a:xfrm>
            <a:off x="600075" y="438150"/>
            <a:ext cx="2476500" cy="190500"/>
          </a:xfrm>
          <a:prstGeom prst="rect">
            <a:avLst/>
          </a:prstGeom>
        </p:spPr>
        <p:txBody>
          <a:bodyPr lIns="0" tIns="0" rIns="0" bIns="0" anchor="ctr"/>
          <a:lstStyle/>
          <a:p>
            <a:pPr algn="l">
              <a:buNone/>
              <a:defRPr sz="975" b="1">
                <a:solidFill>
                  <a:srgbClr val="5B666D"/>
                </a:solidFill>
                <a:latin typeface="Aptos"/>
                <a:ea typeface="Aptos"/>
                <a:cs typeface="Aptos"/>
              </a:defRPr>
            </a:pPr>
            <a:r>
              <a:rPr lang="en-US" sz="863" b="1" dirty="0">
                <a:solidFill>
                  <a:schemeClr val="tx2"/>
                </a:solidFill>
                <a:latin typeface="Aptos"/>
              </a:rPr>
              <a:t>EIGENKAPITAL</a:t>
            </a:r>
          </a:p>
        </p:txBody>
      </p:sp>
      <p:sp>
        <p:nvSpPr>
          <p:cNvPr id="4" name="Rectangle 3">
            <a:extLst>
              <a:ext uri="{FF2B5EF4-FFF2-40B4-BE49-F238E27FC236}">
                <a16:creationId xmlns:a16="http://schemas.microsoft.com/office/drawing/2014/main" id="{65F0A488-CCB3-4FBF-AB83-3D225299C38F}"/>
              </a:ext>
            </a:extLst>
          </p:cNvPr>
          <p:cNvSpPr>
            <a:spLocks noGrp="1"/>
          </p:cNvSpPr>
          <p:nvPr/>
        </p:nvSpPr>
        <p:spPr>
          <a:xfrm>
            <a:off x="438150" y="695325"/>
            <a:ext cx="11315700" cy="647700"/>
          </a:xfrm>
          <a:prstGeom prst="rect">
            <a:avLst/>
          </a:prstGeom>
        </p:spPr>
        <p:txBody>
          <a:bodyPr lIns="0" tIns="0" rIns="0" bIns="0" anchor="t"/>
          <a:lstStyle/>
          <a:p>
            <a:pPr>
              <a:defRPr sz="2475" b="1" i="0">
                <a:solidFill>
                  <a:srgbClr val="051C2C"/>
                </a:solidFill>
                <a:latin typeface="Aptos Display"/>
                <a:ea typeface="Aptos Display"/>
                <a:cs typeface="Aptos Display"/>
              </a:defRPr>
            </a:pPr>
            <a:r>
              <a:rPr lang="en-US" sz="2475" b="1">
                <a:solidFill>
                  <a:srgbClr val="051C2C"/>
                </a:solidFill>
                <a:latin typeface="Aptos Display"/>
              </a:rPr>
              <a:t>Der Waterfall </a:t>
            </a:r>
            <a:r>
              <a:rPr lang="en-US" sz="2475" b="1" err="1">
                <a:solidFill>
                  <a:srgbClr val="051C2C"/>
                </a:solidFill>
                <a:latin typeface="Aptos Display"/>
              </a:rPr>
              <a:t>erklärt</a:t>
            </a:r>
            <a:r>
              <a:rPr lang="en-US" sz="2475" b="1">
                <a:solidFill>
                  <a:srgbClr val="051C2C"/>
                </a:solidFill>
                <a:latin typeface="Aptos Display"/>
              </a:rPr>
              <a:t> nicht </a:t>
            </a:r>
            <a:r>
              <a:rPr lang="en-US" sz="2475" b="1" err="1">
                <a:solidFill>
                  <a:srgbClr val="051C2C"/>
                </a:solidFill>
                <a:latin typeface="Aptos Display"/>
              </a:rPr>
              <a:t>nur</a:t>
            </a:r>
            <a:r>
              <a:rPr lang="en-US" sz="2475" b="1">
                <a:solidFill>
                  <a:srgbClr val="051C2C"/>
                </a:solidFill>
                <a:latin typeface="Aptos Display"/>
              </a:rPr>
              <a:t> </a:t>
            </a:r>
            <a:r>
              <a:rPr lang="en-US" sz="2475" b="1" err="1">
                <a:solidFill>
                  <a:srgbClr val="051C2C"/>
                </a:solidFill>
                <a:latin typeface="Aptos Display"/>
              </a:rPr>
              <a:t>dass</a:t>
            </a:r>
            <a:r>
              <a:rPr lang="en-US" sz="2475" b="1">
                <a:solidFill>
                  <a:srgbClr val="051C2C"/>
                </a:solidFill>
                <a:latin typeface="Aptos Display"/>
              </a:rPr>
              <a:t> die Quote </a:t>
            </a:r>
            <a:r>
              <a:rPr lang="en-US" sz="2475" b="1" err="1">
                <a:solidFill>
                  <a:srgbClr val="051C2C"/>
                </a:solidFill>
                <a:latin typeface="Aptos Display"/>
              </a:rPr>
              <a:t>fällt</a:t>
            </a:r>
            <a:r>
              <a:rPr lang="en-US" sz="2475" b="1">
                <a:solidFill>
                  <a:srgbClr val="051C2C"/>
                </a:solidFill>
                <a:latin typeface="Aptos Display"/>
              </a:rPr>
              <a:t>, </a:t>
            </a:r>
            <a:r>
              <a:rPr lang="en-US" sz="2475" b="1" err="1">
                <a:solidFill>
                  <a:srgbClr val="051C2C"/>
                </a:solidFill>
                <a:latin typeface="Aptos Display"/>
              </a:rPr>
              <a:t>sondern</a:t>
            </a:r>
            <a:r>
              <a:rPr lang="en-US" sz="2475" b="1">
                <a:solidFill>
                  <a:srgbClr val="051C2C"/>
                </a:solidFill>
                <a:latin typeface="Aptos Display"/>
              </a:rPr>
              <a:t> </a:t>
            </a:r>
            <a:r>
              <a:rPr lang="en-US" sz="2475" b="1" err="1">
                <a:solidFill>
                  <a:srgbClr val="051C2C"/>
                </a:solidFill>
                <a:latin typeface="Aptos Display"/>
              </a:rPr>
              <a:t>wodurch</a:t>
            </a:r>
            <a:r>
              <a:rPr lang="en-US" sz="2475" b="1">
                <a:solidFill>
                  <a:srgbClr val="051C2C"/>
                </a:solidFill>
                <a:latin typeface="Aptos Display"/>
              </a:rPr>
              <a:t>.</a:t>
            </a:r>
          </a:p>
        </p:txBody>
      </p:sp>
      <p:sp>
        <p:nvSpPr>
          <p:cNvPr id="5" name="Rectangle 4">
            <a:extLst>
              <a:ext uri="{FF2B5EF4-FFF2-40B4-BE49-F238E27FC236}">
                <a16:creationId xmlns:a16="http://schemas.microsoft.com/office/drawing/2014/main" id="{4C6322EC-32E0-4236-8361-6D5CF1D77017}"/>
              </a:ext>
            </a:extLst>
          </p:cNvPr>
          <p:cNvSpPr>
            <a:spLocks noGrp="1"/>
          </p:cNvSpPr>
          <p:nvPr/>
        </p:nvSpPr>
        <p:spPr>
          <a:xfrm>
            <a:off x="438150" y="1104899"/>
            <a:ext cx="11315700" cy="209550"/>
          </a:xfrm>
          <a:prstGeom prst="rect">
            <a:avLst/>
          </a:prstGeom>
        </p:spPr>
        <p:txBody>
          <a:bodyPr lIns="0" tIns="0" rIns="0" bIns="0" anchor="t"/>
          <a:lstStyle/>
          <a:p>
            <a:pPr algn="l">
              <a:buNone/>
              <a:defRPr sz="1200" b="0">
                <a:solidFill>
                  <a:srgbClr val="5B666D"/>
                </a:solidFill>
                <a:latin typeface="Aptos"/>
                <a:ea typeface="Aptos"/>
                <a:cs typeface="Aptos"/>
              </a:defRPr>
            </a:pPr>
            <a:r>
              <a:rPr lang="en-US" sz="1130"/>
              <a:t>Die </a:t>
            </a:r>
            <a:r>
              <a:rPr lang="en-US" sz="1130" err="1"/>
              <a:t>Darstellung</a:t>
            </a:r>
            <a:r>
              <a:rPr lang="en-US" sz="1130"/>
              <a:t> </a:t>
            </a:r>
            <a:r>
              <a:rPr lang="en-US" sz="1130" err="1"/>
              <a:t>trennt</a:t>
            </a:r>
            <a:r>
              <a:rPr lang="en-US" sz="1130"/>
              <a:t> </a:t>
            </a:r>
            <a:r>
              <a:rPr lang="en-US" sz="1130" err="1"/>
              <a:t>Zähler</a:t>
            </a:r>
            <a:r>
              <a:rPr lang="en-US" sz="1130"/>
              <a:t>- und </a:t>
            </a:r>
            <a:r>
              <a:rPr lang="en-US" sz="1130" err="1"/>
              <a:t>Nennerbeiträge</a:t>
            </a:r>
            <a:r>
              <a:rPr lang="en-US" sz="1130"/>
              <a:t> und </a:t>
            </a:r>
            <a:r>
              <a:rPr lang="en-US" sz="1130" err="1"/>
              <a:t>endet</a:t>
            </a:r>
            <a:r>
              <a:rPr lang="en-US" sz="1130"/>
              <a:t> </a:t>
            </a:r>
            <a:r>
              <a:rPr lang="en-US" sz="1130" err="1"/>
              <a:t>exakt</a:t>
            </a:r>
            <a:r>
              <a:rPr lang="en-US" sz="1130"/>
              <a:t> </a:t>
            </a:r>
            <a:r>
              <a:rPr lang="en-US" sz="1130" err="1"/>
              <a:t>bei</a:t>
            </a:r>
            <a:r>
              <a:rPr lang="en-US" sz="1130"/>
              <a:t> der </a:t>
            </a:r>
            <a:r>
              <a:rPr lang="en-US" sz="1130" err="1"/>
              <a:t>Stressquote</a:t>
            </a:r>
            <a:r>
              <a:rPr lang="en-US" sz="1130"/>
              <a:t>.</a:t>
            </a:r>
          </a:p>
        </p:txBody>
      </p:sp>
      <p:sp>
        <p:nvSpPr>
          <p:cNvPr id="6" name="Rectangle 5">
            <a:extLst>
              <a:ext uri="{FF2B5EF4-FFF2-40B4-BE49-F238E27FC236}">
                <a16:creationId xmlns:a16="http://schemas.microsoft.com/office/drawing/2014/main" id="{D36DC91C-7FB8-44FF-A97A-6C74702A805F}"/>
              </a:ext>
            </a:extLst>
          </p:cNvPr>
          <p:cNvSpPr>
            <a:spLocks noGrp="1"/>
          </p:cNvSpPr>
          <p:nvPr/>
        </p:nvSpPr>
        <p:spPr>
          <a:xfrm>
            <a:off x="438150" y="1733550"/>
            <a:ext cx="11315700" cy="3381375"/>
          </a:xfrm>
          <a:prstGeom prst="rect">
            <a:avLst/>
          </a:prstGeom>
          <a:solidFill>
            <a:srgbClr val="FFFFFF"/>
          </a:solidFill>
        </p:spPr>
        <p:txBody>
          <a:bodyPr/>
          <a:lstStyle/>
          <a:p>
            <a:endParaRPr/>
          </a:p>
        </p:txBody>
      </p:sp>
      <p:sp>
        <p:nvSpPr>
          <p:cNvPr id="7" name="Rectangle: Rounded Corners 6">
            <a:extLst>
              <a:ext uri="{FF2B5EF4-FFF2-40B4-BE49-F238E27FC236}">
                <a16:creationId xmlns:a16="http://schemas.microsoft.com/office/drawing/2014/main" id="{BB54785F-A7C6-4C70-8556-BDBD584B8DE1}"/>
              </a:ext>
            </a:extLst>
          </p:cNvPr>
          <p:cNvSpPr>
            <a:spLocks noGrp="1"/>
          </p:cNvSpPr>
          <p:nvPr/>
        </p:nvSpPr>
        <p:spPr>
          <a:xfrm>
            <a:off x="1857375" y="2202180"/>
            <a:ext cx="1314450" cy="285750"/>
          </a:xfrm>
          <a:prstGeom prst="roundRect">
            <a:avLst>
              <a:gd name="adj" fmla="val 40000"/>
            </a:avLst>
          </a:prstGeom>
          <a:solidFill>
            <a:srgbClr val="DCEAF0"/>
          </a:solidFill>
        </p:spPr>
        <p:txBody>
          <a:bodyPr/>
          <a:lstStyle/>
          <a:p>
            <a:endParaRPr/>
          </a:p>
        </p:txBody>
      </p:sp>
      <p:sp>
        <p:nvSpPr>
          <p:cNvPr id="8" name="Rectangle 7">
            <a:extLst>
              <a:ext uri="{FF2B5EF4-FFF2-40B4-BE49-F238E27FC236}">
                <a16:creationId xmlns:a16="http://schemas.microsoft.com/office/drawing/2014/main" id="{5989E3CF-3532-4FE8-B3E1-AD6EEB3494CE}"/>
              </a:ext>
            </a:extLst>
          </p:cNvPr>
          <p:cNvSpPr>
            <a:spLocks noGrp="1"/>
          </p:cNvSpPr>
          <p:nvPr/>
        </p:nvSpPr>
        <p:spPr>
          <a:xfrm>
            <a:off x="1924050" y="2268855"/>
            <a:ext cx="1181100" cy="137160"/>
          </a:xfrm>
          <a:prstGeom prst="rect">
            <a:avLst/>
          </a:prstGeom>
        </p:spPr>
        <p:txBody>
          <a:bodyPr lIns="0" tIns="0" rIns="0" bIns="0" anchor="t"/>
          <a:lstStyle/>
          <a:p>
            <a:pPr algn="ctr">
              <a:buNone/>
              <a:defRPr sz="900" b="1">
                <a:solidFill>
                  <a:srgbClr val="0B5A7A"/>
                </a:solidFill>
                <a:latin typeface="Aptos"/>
                <a:ea typeface="Aptos"/>
                <a:cs typeface="Aptos"/>
              </a:defRPr>
            </a:pPr>
            <a:r>
              <a:t>Start</a:t>
            </a:r>
          </a:p>
        </p:txBody>
      </p:sp>
      <p:sp>
        <p:nvSpPr>
          <p:cNvPr id="9" name="Rectangle 8">
            <a:extLst>
              <a:ext uri="{FF2B5EF4-FFF2-40B4-BE49-F238E27FC236}">
                <a16:creationId xmlns:a16="http://schemas.microsoft.com/office/drawing/2014/main" id="{2BD22DE9-C0F2-4FB9-A2E7-40657CFFA548}"/>
              </a:ext>
            </a:extLst>
          </p:cNvPr>
          <p:cNvSpPr>
            <a:spLocks noGrp="1"/>
          </p:cNvSpPr>
          <p:nvPr/>
        </p:nvSpPr>
        <p:spPr>
          <a:xfrm>
            <a:off x="2062163" y="2564130"/>
            <a:ext cx="904875" cy="2095500"/>
          </a:xfrm>
          <a:prstGeom prst="rect">
            <a:avLst/>
          </a:prstGeom>
          <a:solidFill>
            <a:srgbClr val="0B5A7A"/>
          </a:solidFill>
        </p:spPr>
        <p:txBody>
          <a:bodyPr/>
          <a:lstStyle/>
          <a:p>
            <a:endParaRPr/>
          </a:p>
        </p:txBody>
      </p:sp>
      <p:sp>
        <p:nvSpPr>
          <p:cNvPr id="10" name="Rectangle 9">
            <a:extLst>
              <a:ext uri="{FF2B5EF4-FFF2-40B4-BE49-F238E27FC236}">
                <a16:creationId xmlns:a16="http://schemas.microsoft.com/office/drawing/2014/main" id="{D1088E95-3F18-4203-81F7-92C17CC7621E}"/>
              </a:ext>
            </a:extLst>
          </p:cNvPr>
          <p:cNvSpPr>
            <a:spLocks noGrp="1"/>
          </p:cNvSpPr>
          <p:nvPr/>
        </p:nvSpPr>
        <p:spPr>
          <a:xfrm>
            <a:off x="1847850" y="4735830"/>
            <a:ext cx="1333500" cy="160020"/>
          </a:xfrm>
          <a:prstGeom prst="rect">
            <a:avLst/>
          </a:prstGeom>
        </p:spPr>
        <p:txBody>
          <a:bodyPr lIns="0" tIns="0" rIns="0" bIns="0" anchor="t"/>
          <a:lstStyle/>
          <a:p>
            <a:pPr algn="ctr">
              <a:buNone/>
              <a:defRPr sz="1050" b="1">
                <a:solidFill>
                  <a:srgbClr val="071C2C"/>
                </a:solidFill>
                <a:latin typeface="Aptos"/>
                <a:ea typeface="Aptos"/>
                <a:cs typeface="Aptos"/>
              </a:defRPr>
            </a:pPr>
            <a:r>
              <a:t>CET1 base</a:t>
            </a:r>
          </a:p>
        </p:txBody>
      </p:sp>
      <p:sp>
        <p:nvSpPr>
          <p:cNvPr id="11" name="Rectangle: Rounded Corners 10">
            <a:extLst>
              <a:ext uri="{FF2B5EF4-FFF2-40B4-BE49-F238E27FC236}">
                <a16:creationId xmlns:a16="http://schemas.microsoft.com/office/drawing/2014/main" id="{E2EE4B21-EB44-45C4-BC05-5D4F781F3C1B}"/>
              </a:ext>
            </a:extLst>
          </p:cNvPr>
          <p:cNvSpPr>
            <a:spLocks noGrp="1"/>
          </p:cNvSpPr>
          <p:nvPr/>
        </p:nvSpPr>
        <p:spPr>
          <a:xfrm>
            <a:off x="3648075" y="3630930"/>
            <a:ext cx="1314450" cy="285750"/>
          </a:xfrm>
          <a:prstGeom prst="roundRect">
            <a:avLst>
              <a:gd name="adj" fmla="val 40000"/>
            </a:avLst>
          </a:prstGeom>
          <a:solidFill>
            <a:srgbClr val="F2DEE2"/>
          </a:solidFill>
        </p:spPr>
        <p:txBody>
          <a:bodyPr/>
          <a:lstStyle/>
          <a:p>
            <a:endParaRPr/>
          </a:p>
        </p:txBody>
      </p:sp>
      <p:sp>
        <p:nvSpPr>
          <p:cNvPr id="12" name="Rectangle 11">
            <a:extLst>
              <a:ext uri="{FF2B5EF4-FFF2-40B4-BE49-F238E27FC236}">
                <a16:creationId xmlns:a16="http://schemas.microsoft.com/office/drawing/2014/main" id="{DA97F874-C3DA-47D7-A958-5465224CFE1B}"/>
              </a:ext>
            </a:extLst>
          </p:cNvPr>
          <p:cNvSpPr>
            <a:spLocks noGrp="1"/>
          </p:cNvSpPr>
          <p:nvPr/>
        </p:nvSpPr>
        <p:spPr>
          <a:xfrm>
            <a:off x="3714750" y="3697605"/>
            <a:ext cx="1181100" cy="137160"/>
          </a:xfrm>
          <a:prstGeom prst="rect">
            <a:avLst/>
          </a:prstGeom>
        </p:spPr>
        <p:txBody>
          <a:bodyPr lIns="0" tIns="0" rIns="0" bIns="0" anchor="t"/>
          <a:lstStyle/>
          <a:p>
            <a:pPr algn="ctr">
              <a:buNone/>
              <a:defRPr sz="900" b="1">
                <a:solidFill>
                  <a:srgbClr val="A63B4D"/>
                </a:solidFill>
                <a:latin typeface="Aptos"/>
                <a:ea typeface="Aptos"/>
                <a:cs typeface="Aptos"/>
              </a:defRPr>
            </a:pPr>
            <a:r>
              <a:t>Kredit</a:t>
            </a:r>
          </a:p>
        </p:txBody>
      </p:sp>
      <p:sp>
        <p:nvSpPr>
          <p:cNvPr id="13" name="Rectangle 12">
            <a:extLst>
              <a:ext uri="{FF2B5EF4-FFF2-40B4-BE49-F238E27FC236}">
                <a16:creationId xmlns:a16="http://schemas.microsoft.com/office/drawing/2014/main" id="{60B20A98-6B2A-47E2-B17E-B9605EADC793}"/>
              </a:ext>
            </a:extLst>
          </p:cNvPr>
          <p:cNvSpPr>
            <a:spLocks noGrp="1"/>
          </p:cNvSpPr>
          <p:nvPr/>
        </p:nvSpPr>
        <p:spPr>
          <a:xfrm>
            <a:off x="3852863" y="3992880"/>
            <a:ext cx="904875" cy="666750"/>
          </a:xfrm>
          <a:prstGeom prst="rect">
            <a:avLst/>
          </a:prstGeom>
          <a:solidFill>
            <a:srgbClr val="A63B4D"/>
          </a:solidFill>
        </p:spPr>
        <p:txBody>
          <a:bodyPr/>
          <a:lstStyle/>
          <a:p>
            <a:endParaRPr/>
          </a:p>
        </p:txBody>
      </p:sp>
      <p:sp>
        <p:nvSpPr>
          <p:cNvPr id="14" name="Rectangle 13">
            <a:extLst>
              <a:ext uri="{FF2B5EF4-FFF2-40B4-BE49-F238E27FC236}">
                <a16:creationId xmlns:a16="http://schemas.microsoft.com/office/drawing/2014/main" id="{91583ED8-AC41-4AED-837F-384FE59DC1AC}"/>
              </a:ext>
            </a:extLst>
          </p:cNvPr>
          <p:cNvSpPr>
            <a:spLocks noGrp="1"/>
          </p:cNvSpPr>
          <p:nvPr/>
        </p:nvSpPr>
        <p:spPr>
          <a:xfrm>
            <a:off x="3638550" y="4735830"/>
            <a:ext cx="1333500" cy="160020"/>
          </a:xfrm>
          <a:prstGeom prst="rect">
            <a:avLst/>
          </a:prstGeom>
        </p:spPr>
        <p:txBody>
          <a:bodyPr lIns="0" tIns="0" rIns="0" bIns="0" anchor="t"/>
          <a:lstStyle/>
          <a:p>
            <a:pPr algn="ctr">
              <a:buNone/>
              <a:defRPr sz="1050" b="1">
                <a:solidFill>
                  <a:srgbClr val="071C2C"/>
                </a:solidFill>
                <a:latin typeface="Aptos"/>
                <a:ea typeface="Aptos"/>
                <a:cs typeface="Aptos"/>
              </a:defRPr>
            </a:pPr>
            <a:r>
              <a:t>− ΔEL</a:t>
            </a:r>
          </a:p>
        </p:txBody>
      </p:sp>
      <p:sp>
        <p:nvSpPr>
          <p:cNvPr id="15" name="Rectangle: Rounded Corners 14">
            <a:extLst>
              <a:ext uri="{FF2B5EF4-FFF2-40B4-BE49-F238E27FC236}">
                <a16:creationId xmlns:a16="http://schemas.microsoft.com/office/drawing/2014/main" id="{3D6A29DE-3AE4-4908-A854-EBB1F34FB893}"/>
              </a:ext>
            </a:extLst>
          </p:cNvPr>
          <p:cNvSpPr>
            <a:spLocks noGrp="1"/>
          </p:cNvSpPr>
          <p:nvPr/>
        </p:nvSpPr>
        <p:spPr>
          <a:xfrm>
            <a:off x="5438775" y="3773805"/>
            <a:ext cx="1314450" cy="285750"/>
          </a:xfrm>
          <a:prstGeom prst="roundRect">
            <a:avLst>
              <a:gd name="adj" fmla="val 40000"/>
            </a:avLst>
          </a:prstGeom>
          <a:solidFill>
            <a:srgbClr val="F3E7C8"/>
          </a:solidFill>
        </p:spPr>
        <p:txBody>
          <a:bodyPr/>
          <a:lstStyle/>
          <a:p>
            <a:endParaRPr/>
          </a:p>
        </p:txBody>
      </p:sp>
      <p:sp>
        <p:nvSpPr>
          <p:cNvPr id="16" name="Rectangle 15">
            <a:extLst>
              <a:ext uri="{FF2B5EF4-FFF2-40B4-BE49-F238E27FC236}">
                <a16:creationId xmlns:a16="http://schemas.microsoft.com/office/drawing/2014/main" id="{31759CA7-85B7-4A9D-ABF6-7FDFEF995B5A}"/>
              </a:ext>
            </a:extLst>
          </p:cNvPr>
          <p:cNvSpPr>
            <a:spLocks noGrp="1"/>
          </p:cNvSpPr>
          <p:nvPr/>
        </p:nvSpPr>
        <p:spPr>
          <a:xfrm>
            <a:off x="5505450" y="3840480"/>
            <a:ext cx="1181100" cy="137160"/>
          </a:xfrm>
          <a:prstGeom prst="rect">
            <a:avLst/>
          </a:prstGeom>
        </p:spPr>
        <p:txBody>
          <a:bodyPr lIns="0" tIns="0" rIns="0" bIns="0" anchor="t"/>
          <a:lstStyle/>
          <a:p>
            <a:pPr algn="ctr">
              <a:buNone/>
              <a:defRPr sz="900" b="1">
                <a:solidFill>
                  <a:srgbClr val="D39A2C"/>
                </a:solidFill>
                <a:latin typeface="Aptos"/>
                <a:ea typeface="Aptos"/>
                <a:cs typeface="Aptos"/>
              </a:defRPr>
            </a:pPr>
            <a:r>
              <a:t>Sovereign</a:t>
            </a:r>
          </a:p>
        </p:txBody>
      </p:sp>
      <p:sp>
        <p:nvSpPr>
          <p:cNvPr id="17" name="Rectangle 16">
            <a:extLst>
              <a:ext uri="{FF2B5EF4-FFF2-40B4-BE49-F238E27FC236}">
                <a16:creationId xmlns:a16="http://schemas.microsoft.com/office/drawing/2014/main" id="{0590CEAA-76A1-43BB-B7C8-3D2BA8272C3C}"/>
              </a:ext>
            </a:extLst>
          </p:cNvPr>
          <p:cNvSpPr>
            <a:spLocks noGrp="1"/>
          </p:cNvSpPr>
          <p:nvPr/>
        </p:nvSpPr>
        <p:spPr>
          <a:xfrm>
            <a:off x="5643563" y="4135755"/>
            <a:ext cx="904875" cy="523875"/>
          </a:xfrm>
          <a:prstGeom prst="rect">
            <a:avLst/>
          </a:prstGeom>
          <a:solidFill>
            <a:srgbClr val="D39A2C"/>
          </a:solidFill>
        </p:spPr>
        <p:txBody>
          <a:bodyPr/>
          <a:lstStyle/>
          <a:p>
            <a:endParaRPr/>
          </a:p>
        </p:txBody>
      </p:sp>
      <p:sp>
        <p:nvSpPr>
          <p:cNvPr id="18" name="Rectangle 17">
            <a:extLst>
              <a:ext uri="{FF2B5EF4-FFF2-40B4-BE49-F238E27FC236}">
                <a16:creationId xmlns:a16="http://schemas.microsoft.com/office/drawing/2014/main" id="{C1480611-0F19-4067-A39E-43AC04121B03}"/>
              </a:ext>
            </a:extLst>
          </p:cNvPr>
          <p:cNvSpPr>
            <a:spLocks noGrp="1"/>
          </p:cNvSpPr>
          <p:nvPr/>
        </p:nvSpPr>
        <p:spPr>
          <a:xfrm>
            <a:off x="5429250" y="4735830"/>
            <a:ext cx="1333500" cy="160020"/>
          </a:xfrm>
          <a:prstGeom prst="rect">
            <a:avLst/>
          </a:prstGeom>
        </p:spPr>
        <p:txBody>
          <a:bodyPr lIns="0" tIns="0" rIns="0" bIns="0" anchor="t"/>
          <a:lstStyle/>
          <a:p>
            <a:pPr algn="ctr">
              <a:buNone/>
              <a:defRPr sz="1050" b="1">
                <a:solidFill>
                  <a:srgbClr val="071C2C"/>
                </a:solidFill>
                <a:latin typeface="Aptos"/>
                <a:ea typeface="Aptos"/>
                <a:cs typeface="Aptos"/>
              </a:defRPr>
            </a:pPr>
            <a:r>
              <a:t>+ ΔMtM</a:t>
            </a:r>
          </a:p>
        </p:txBody>
      </p:sp>
      <p:sp>
        <p:nvSpPr>
          <p:cNvPr id="19" name="Rectangle: Rounded Corners 18">
            <a:extLst>
              <a:ext uri="{FF2B5EF4-FFF2-40B4-BE49-F238E27FC236}">
                <a16:creationId xmlns:a16="http://schemas.microsoft.com/office/drawing/2014/main" id="{E63C0ABA-664F-4D7E-A8A1-26BBF56DC67B}"/>
              </a:ext>
            </a:extLst>
          </p:cNvPr>
          <p:cNvSpPr>
            <a:spLocks noGrp="1"/>
          </p:cNvSpPr>
          <p:nvPr/>
        </p:nvSpPr>
        <p:spPr>
          <a:xfrm>
            <a:off x="7229475" y="3869055"/>
            <a:ext cx="1314450" cy="285750"/>
          </a:xfrm>
          <a:prstGeom prst="roundRect">
            <a:avLst>
              <a:gd name="adj" fmla="val 40000"/>
            </a:avLst>
          </a:prstGeom>
          <a:solidFill>
            <a:srgbClr val="F2DEE2"/>
          </a:solidFill>
        </p:spPr>
        <p:txBody>
          <a:bodyPr/>
          <a:lstStyle/>
          <a:p>
            <a:endParaRPr/>
          </a:p>
        </p:txBody>
      </p:sp>
      <p:sp>
        <p:nvSpPr>
          <p:cNvPr id="20" name="Rectangle 19">
            <a:extLst>
              <a:ext uri="{FF2B5EF4-FFF2-40B4-BE49-F238E27FC236}">
                <a16:creationId xmlns:a16="http://schemas.microsoft.com/office/drawing/2014/main" id="{52762EEF-CD0D-41E8-9677-45C60330E838}"/>
              </a:ext>
            </a:extLst>
          </p:cNvPr>
          <p:cNvSpPr>
            <a:spLocks noGrp="1"/>
          </p:cNvSpPr>
          <p:nvPr/>
        </p:nvSpPr>
        <p:spPr>
          <a:xfrm>
            <a:off x="7296150" y="3935730"/>
            <a:ext cx="1181100" cy="137160"/>
          </a:xfrm>
          <a:prstGeom prst="rect">
            <a:avLst/>
          </a:prstGeom>
        </p:spPr>
        <p:txBody>
          <a:bodyPr lIns="0" tIns="0" rIns="0" bIns="0" anchor="t"/>
          <a:lstStyle/>
          <a:p>
            <a:pPr algn="ctr">
              <a:buNone/>
              <a:defRPr sz="900" b="1">
                <a:solidFill>
                  <a:srgbClr val="A63B4D"/>
                </a:solidFill>
                <a:latin typeface="Aptos"/>
                <a:ea typeface="Aptos"/>
                <a:cs typeface="Aptos"/>
              </a:defRPr>
            </a:pPr>
            <a:r>
              <a:t>Nenner</a:t>
            </a:r>
          </a:p>
        </p:txBody>
      </p:sp>
      <p:sp>
        <p:nvSpPr>
          <p:cNvPr id="21" name="Rectangle 20">
            <a:extLst>
              <a:ext uri="{FF2B5EF4-FFF2-40B4-BE49-F238E27FC236}">
                <a16:creationId xmlns:a16="http://schemas.microsoft.com/office/drawing/2014/main" id="{DFCC76CF-0061-461B-9B54-4BC2D4BA118B}"/>
              </a:ext>
            </a:extLst>
          </p:cNvPr>
          <p:cNvSpPr>
            <a:spLocks noGrp="1"/>
          </p:cNvSpPr>
          <p:nvPr/>
        </p:nvSpPr>
        <p:spPr>
          <a:xfrm>
            <a:off x="7434263" y="4231005"/>
            <a:ext cx="904875" cy="428625"/>
          </a:xfrm>
          <a:prstGeom prst="rect">
            <a:avLst/>
          </a:prstGeom>
          <a:solidFill>
            <a:srgbClr val="A63B4D"/>
          </a:solidFill>
        </p:spPr>
        <p:txBody>
          <a:bodyPr/>
          <a:lstStyle/>
          <a:p>
            <a:endParaRPr/>
          </a:p>
        </p:txBody>
      </p:sp>
      <p:sp>
        <p:nvSpPr>
          <p:cNvPr id="22" name="Rectangle 21">
            <a:extLst>
              <a:ext uri="{FF2B5EF4-FFF2-40B4-BE49-F238E27FC236}">
                <a16:creationId xmlns:a16="http://schemas.microsoft.com/office/drawing/2014/main" id="{2962646F-7C27-44F9-A510-5E89B74186AE}"/>
              </a:ext>
            </a:extLst>
          </p:cNvPr>
          <p:cNvSpPr>
            <a:spLocks noGrp="1"/>
          </p:cNvSpPr>
          <p:nvPr/>
        </p:nvSpPr>
        <p:spPr>
          <a:xfrm>
            <a:off x="7219950" y="4735830"/>
            <a:ext cx="1333500" cy="160020"/>
          </a:xfrm>
          <a:prstGeom prst="rect">
            <a:avLst/>
          </a:prstGeom>
        </p:spPr>
        <p:txBody>
          <a:bodyPr lIns="0" tIns="0" rIns="0" bIns="0" anchor="t"/>
          <a:lstStyle/>
          <a:p>
            <a:pPr algn="ctr">
              <a:buNone/>
              <a:defRPr sz="1050" b="1">
                <a:solidFill>
                  <a:srgbClr val="071C2C"/>
                </a:solidFill>
                <a:latin typeface="Aptos"/>
                <a:ea typeface="Aptos"/>
                <a:cs typeface="Aptos"/>
              </a:defRPr>
            </a:pPr>
            <a:r>
              <a:t>− RWA-Effekt</a:t>
            </a:r>
          </a:p>
        </p:txBody>
      </p:sp>
      <p:sp>
        <p:nvSpPr>
          <p:cNvPr id="23" name="Rectangle: Rounded Corners 22">
            <a:extLst>
              <a:ext uri="{FF2B5EF4-FFF2-40B4-BE49-F238E27FC236}">
                <a16:creationId xmlns:a16="http://schemas.microsoft.com/office/drawing/2014/main" id="{9D63FAC4-770B-415D-A005-5ECBE17FC316}"/>
              </a:ext>
            </a:extLst>
          </p:cNvPr>
          <p:cNvSpPr>
            <a:spLocks noGrp="1"/>
          </p:cNvSpPr>
          <p:nvPr/>
        </p:nvSpPr>
        <p:spPr>
          <a:xfrm>
            <a:off x="9020175" y="2868930"/>
            <a:ext cx="1314450" cy="285750"/>
          </a:xfrm>
          <a:prstGeom prst="roundRect">
            <a:avLst>
              <a:gd name="adj" fmla="val 40000"/>
            </a:avLst>
          </a:prstGeom>
          <a:solidFill>
            <a:srgbClr val="DCEAF0"/>
          </a:solidFill>
        </p:spPr>
        <p:txBody>
          <a:bodyPr/>
          <a:lstStyle/>
          <a:p>
            <a:endParaRPr/>
          </a:p>
        </p:txBody>
      </p:sp>
      <p:sp>
        <p:nvSpPr>
          <p:cNvPr id="24" name="Rectangle 23">
            <a:extLst>
              <a:ext uri="{FF2B5EF4-FFF2-40B4-BE49-F238E27FC236}">
                <a16:creationId xmlns:a16="http://schemas.microsoft.com/office/drawing/2014/main" id="{3C47EDB1-D895-4E53-B028-0C05EE43503C}"/>
              </a:ext>
            </a:extLst>
          </p:cNvPr>
          <p:cNvSpPr>
            <a:spLocks noGrp="1"/>
          </p:cNvSpPr>
          <p:nvPr/>
        </p:nvSpPr>
        <p:spPr>
          <a:xfrm>
            <a:off x="9086850" y="2935605"/>
            <a:ext cx="1181100" cy="137160"/>
          </a:xfrm>
          <a:prstGeom prst="rect">
            <a:avLst/>
          </a:prstGeom>
        </p:spPr>
        <p:txBody>
          <a:bodyPr lIns="0" tIns="0" rIns="0" bIns="0" anchor="t"/>
          <a:lstStyle/>
          <a:p>
            <a:pPr algn="ctr">
              <a:buNone/>
              <a:defRPr sz="900" b="1">
                <a:solidFill>
                  <a:srgbClr val="0B5A7A"/>
                </a:solidFill>
                <a:latin typeface="Aptos"/>
                <a:ea typeface="Aptos"/>
                <a:cs typeface="Aptos"/>
              </a:defRPr>
            </a:pPr>
            <a:r>
              <a:t>Ende</a:t>
            </a:r>
          </a:p>
        </p:txBody>
      </p:sp>
      <p:sp>
        <p:nvSpPr>
          <p:cNvPr id="25" name="Rectangle 24">
            <a:extLst>
              <a:ext uri="{FF2B5EF4-FFF2-40B4-BE49-F238E27FC236}">
                <a16:creationId xmlns:a16="http://schemas.microsoft.com/office/drawing/2014/main" id="{24C88433-9C3A-4C85-99A5-141786E29486}"/>
              </a:ext>
            </a:extLst>
          </p:cNvPr>
          <p:cNvSpPr>
            <a:spLocks noGrp="1"/>
          </p:cNvSpPr>
          <p:nvPr/>
        </p:nvSpPr>
        <p:spPr>
          <a:xfrm>
            <a:off x="9224963" y="3230880"/>
            <a:ext cx="904875" cy="1428750"/>
          </a:xfrm>
          <a:prstGeom prst="rect">
            <a:avLst/>
          </a:prstGeom>
          <a:solidFill>
            <a:srgbClr val="071C2C"/>
          </a:solidFill>
        </p:spPr>
        <p:txBody>
          <a:bodyPr/>
          <a:lstStyle/>
          <a:p>
            <a:endParaRPr/>
          </a:p>
        </p:txBody>
      </p:sp>
      <p:sp>
        <p:nvSpPr>
          <p:cNvPr id="26" name="Rectangle 25">
            <a:extLst>
              <a:ext uri="{FF2B5EF4-FFF2-40B4-BE49-F238E27FC236}">
                <a16:creationId xmlns:a16="http://schemas.microsoft.com/office/drawing/2014/main" id="{6C2FC2AA-4009-431A-BED6-2E69785C63D3}"/>
              </a:ext>
            </a:extLst>
          </p:cNvPr>
          <p:cNvSpPr>
            <a:spLocks noGrp="1"/>
          </p:cNvSpPr>
          <p:nvPr/>
        </p:nvSpPr>
        <p:spPr>
          <a:xfrm>
            <a:off x="9010650" y="4735830"/>
            <a:ext cx="1333500" cy="160020"/>
          </a:xfrm>
          <a:prstGeom prst="rect">
            <a:avLst/>
          </a:prstGeom>
        </p:spPr>
        <p:txBody>
          <a:bodyPr lIns="0" tIns="0" rIns="0" bIns="0" anchor="t"/>
          <a:lstStyle/>
          <a:p>
            <a:pPr algn="ctr">
              <a:buNone/>
              <a:defRPr sz="1050" b="1">
                <a:solidFill>
                  <a:srgbClr val="071C2C"/>
                </a:solidFill>
                <a:latin typeface="Aptos"/>
                <a:ea typeface="Aptos"/>
                <a:cs typeface="Aptos"/>
              </a:defRPr>
            </a:pPr>
            <a:r>
              <a:t>CET1 stress</a:t>
            </a:r>
          </a:p>
        </p:txBody>
      </p:sp>
      <p:sp>
        <p:nvSpPr>
          <p:cNvPr id="33" name="Rectangle 21">
            <a:extLst>
              <a:ext uri="{FF2B5EF4-FFF2-40B4-BE49-F238E27FC236}">
                <a16:creationId xmlns:a16="http://schemas.microsoft.com/office/drawing/2014/main" id="{7786DA95-FAE3-F4E4-9F31-6DDB4A048F6E}"/>
              </a:ext>
            </a:extLst>
          </p:cNvPr>
          <p:cNvSpPr>
            <a:spLocks noGrp="1"/>
          </p:cNvSpPr>
          <p:nvPr/>
        </p:nvSpPr>
        <p:spPr>
          <a:xfrm>
            <a:off x="438150" y="6143625"/>
            <a:ext cx="9810750" cy="152400"/>
          </a:xfrm>
          <a:prstGeom prst="rect">
            <a:avLst/>
          </a:prstGeom>
        </p:spPr>
        <p:txBody>
          <a:bodyPr lIns="0" tIns="0" rIns="0" bIns="0" anchor="ctr"/>
          <a:lstStyle/>
          <a:p>
            <a:pPr algn="l">
              <a:buNone/>
              <a:defRPr sz="750" b="0">
                <a:solidFill>
                  <a:srgbClr val="8C8780"/>
                </a:solidFill>
                <a:latin typeface="Aptos"/>
                <a:ea typeface="Aptos"/>
                <a:cs typeface="Aptos"/>
              </a:defRPr>
            </a:pPr>
            <a:r>
              <a:t>EU Banking Credit Stress Cockpit ·</a:t>
            </a:r>
            <a:r>
              <a:rPr lang="de-DE"/>
              <a:t> Eigenkapital</a:t>
            </a:r>
            <a:endParaRPr/>
          </a:p>
        </p:txBody>
      </p:sp>
      <p:sp>
        <p:nvSpPr>
          <p:cNvPr id="2" name="CodexSlideNumber">
            <a:extLst>
              <a:ext uri="{FF2B5EF4-FFF2-40B4-BE49-F238E27FC236}">
                <a16:creationId xmlns:a16="http://schemas.microsoft.com/office/drawing/2014/main" id="{28E1EEAB-CA93-59EC-98FB-700C86A8F683}"/>
              </a:ext>
            </a:extLst>
          </p:cNvPr>
          <p:cNvSpPr txBox="1"/>
          <p:nvPr/>
        </p:nvSpPr>
        <p:spPr>
          <a:xfrm>
            <a:off x="11226800" y="6553200"/>
            <a:ext cx="736600" cy="123111"/>
          </a:xfrm>
          <a:prstGeom prst="rect">
            <a:avLst/>
          </a:prstGeom>
          <a:noFill/>
        </p:spPr>
        <p:txBody>
          <a:bodyPr vert="horz" lIns="0" tIns="0" rIns="0" bIns="0" rtlCol="0">
            <a:spAutoFit/>
          </a:bodyPr>
          <a:lstStyle/>
          <a:p>
            <a:pPr algn="r"/>
            <a:r>
              <a:rPr lang="en-US" sz="800">
                <a:solidFill>
                  <a:srgbClr val="525252"/>
                </a:solidFill>
                <a:latin typeface="Arial" panose="020B0604020202020204" pitchFamily="34" charset="0"/>
              </a:rPr>
              <a:t>45 / 64</a:t>
            </a:r>
          </a:p>
        </p:txBody>
      </p:sp>
    </p:spTree>
    <p:extLst>
      <p:ext uri="{BB962C8B-B14F-4D97-AF65-F5344CB8AC3E}">
        <p14:creationId xmlns:p14="http://schemas.microsoft.com/office/powerpoint/2010/main" val="271577572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kicker-capital-label">
            <a:extLst>
              <a:ext uri="{FF2B5EF4-FFF2-40B4-BE49-F238E27FC236}">
                <a16:creationId xmlns:a16="http://schemas.microsoft.com/office/drawing/2014/main" id="{FF9E1EB0-C5DB-4551-A96F-5F1EB760904E}"/>
              </a:ext>
            </a:extLst>
          </p:cNvPr>
          <p:cNvSpPr>
            <a:spLocks noGrp="1"/>
          </p:cNvSpPr>
          <p:nvPr/>
        </p:nvSpPr>
        <p:spPr>
          <a:xfrm>
            <a:off x="600075" y="438150"/>
            <a:ext cx="2476500" cy="190500"/>
          </a:xfrm>
          <a:prstGeom prst="rect">
            <a:avLst/>
          </a:prstGeom>
        </p:spPr>
        <p:txBody>
          <a:bodyPr lIns="0" tIns="0" rIns="0" bIns="0" anchor="ctr"/>
          <a:lstStyle/>
          <a:p>
            <a:pPr>
              <a:defRPr sz="975" b="1">
                <a:solidFill>
                  <a:srgbClr val="5B666D"/>
                </a:solidFill>
                <a:latin typeface="Aptos"/>
                <a:ea typeface="Aptos"/>
                <a:cs typeface="Aptos"/>
              </a:defRPr>
            </a:pPr>
            <a:r>
              <a:rPr lang="en-US" sz="863" b="1" dirty="0">
                <a:solidFill>
                  <a:schemeClr val="tx2"/>
                </a:solidFill>
                <a:latin typeface="Aptos"/>
              </a:rPr>
              <a:t>EIGENKAPITAL</a:t>
            </a:r>
          </a:p>
        </p:txBody>
      </p:sp>
      <p:sp>
        <p:nvSpPr>
          <p:cNvPr id="4" name="Rectangle 3">
            <a:extLst>
              <a:ext uri="{FF2B5EF4-FFF2-40B4-BE49-F238E27FC236}">
                <a16:creationId xmlns:a16="http://schemas.microsoft.com/office/drawing/2014/main" id="{48795E6B-973F-4209-8758-6ACE7E7D7EE0}"/>
              </a:ext>
            </a:extLst>
          </p:cNvPr>
          <p:cNvSpPr>
            <a:spLocks noGrp="1"/>
          </p:cNvSpPr>
          <p:nvPr/>
        </p:nvSpPr>
        <p:spPr>
          <a:xfrm>
            <a:off x="438150" y="695325"/>
            <a:ext cx="11315700" cy="647700"/>
          </a:xfrm>
          <a:prstGeom prst="rect">
            <a:avLst/>
          </a:prstGeom>
        </p:spPr>
        <p:txBody>
          <a:bodyPr lIns="0" tIns="0" rIns="0" bIns="0" anchor="t"/>
          <a:lstStyle/>
          <a:p>
            <a:pPr>
              <a:buNone/>
              <a:defRPr sz="2475" b="1" i="0">
                <a:solidFill>
                  <a:srgbClr val="051C2C"/>
                </a:solidFill>
                <a:latin typeface="Aptos Display"/>
                <a:ea typeface="Aptos Display"/>
                <a:cs typeface="Aptos Display"/>
              </a:defRPr>
            </a:pPr>
            <a:r>
              <a:rPr lang="en-US" sz="2475" b="1">
                <a:solidFill>
                  <a:srgbClr val="051C2C"/>
                </a:solidFill>
                <a:latin typeface="Aptos Display"/>
              </a:rPr>
              <a:t>Eine Quote </a:t>
            </a:r>
            <a:r>
              <a:rPr lang="en-US" sz="2475" b="1" err="1">
                <a:solidFill>
                  <a:srgbClr val="051C2C"/>
                </a:solidFill>
                <a:latin typeface="Aptos Display"/>
              </a:rPr>
              <a:t>ist</a:t>
            </a:r>
            <a:r>
              <a:rPr lang="en-US" sz="2475" b="1">
                <a:solidFill>
                  <a:srgbClr val="051C2C"/>
                </a:solidFill>
                <a:latin typeface="Aptos Display"/>
              </a:rPr>
              <a:t> erst </a:t>
            </a:r>
            <a:r>
              <a:rPr lang="en-US" sz="2475" b="1" err="1">
                <a:solidFill>
                  <a:srgbClr val="051C2C"/>
                </a:solidFill>
                <a:latin typeface="Aptos Display"/>
              </a:rPr>
              <a:t>im</a:t>
            </a:r>
            <a:r>
              <a:rPr lang="en-US" sz="2475" b="1">
                <a:solidFill>
                  <a:srgbClr val="051C2C"/>
                </a:solidFill>
                <a:latin typeface="Aptos Display"/>
              </a:rPr>
              <a:t> </a:t>
            </a:r>
            <a:r>
              <a:rPr lang="en-US" sz="2475" b="1" err="1">
                <a:solidFill>
                  <a:srgbClr val="051C2C"/>
                </a:solidFill>
                <a:latin typeface="Aptos Display"/>
              </a:rPr>
              <a:t>Verhältnis</a:t>
            </a:r>
            <a:r>
              <a:rPr lang="en-US" sz="2475" b="1">
                <a:solidFill>
                  <a:srgbClr val="051C2C"/>
                </a:solidFill>
                <a:latin typeface="Aptos Display"/>
              </a:rPr>
              <a:t> </a:t>
            </a:r>
            <a:r>
              <a:rPr lang="en-US" sz="2475" b="1" err="1">
                <a:solidFill>
                  <a:srgbClr val="051C2C"/>
                </a:solidFill>
                <a:latin typeface="Aptos Display"/>
              </a:rPr>
              <a:t>zu</a:t>
            </a:r>
            <a:r>
              <a:rPr lang="en-US" sz="2475" b="1">
                <a:solidFill>
                  <a:srgbClr val="051C2C"/>
                </a:solidFill>
                <a:latin typeface="Aptos Display"/>
              </a:rPr>
              <a:t> </a:t>
            </a:r>
            <a:r>
              <a:rPr lang="en-US" sz="2475" b="1" err="1">
                <a:solidFill>
                  <a:srgbClr val="051C2C"/>
                </a:solidFill>
                <a:latin typeface="Aptos Display"/>
              </a:rPr>
              <a:t>regulatorischen</a:t>
            </a:r>
            <a:r>
              <a:rPr lang="en-US" sz="2475" b="1">
                <a:solidFill>
                  <a:srgbClr val="051C2C"/>
                </a:solidFill>
                <a:latin typeface="Aptos Display"/>
              </a:rPr>
              <a:t> </a:t>
            </a:r>
            <a:r>
              <a:rPr lang="en-US" sz="2475" b="1" err="1">
                <a:solidFill>
                  <a:srgbClr val="051C2C"/>
                </a:solidFill>
                <a:latin typeface="Aptos Display"/>
              </a:rPr>
              <a:t>Schwellen</a:t>
            </a:r>
            <a:r>
              <a:rPr lang="en-US" sz="2475" b="1">
                <a:solidFill>
                  <a:srgbClr val="051C2C"/>
                </a:solidFill>
                <a:latin typeface="Aptos Display"/>
              </a:rPr>
              <a:t> </a:t>
            </a:r>
            <a:r>
              <a:rPr lang="en-US" sz="2475" b="1" err="1">
                <a:solidFill>
                  <a:srgbClr val="051C2C"/>
                </a:solidFill>
                <a:latin typeface="Aptos Display"/>
              </a:rPr>
              <a:t>aussagekräftig</a:t>
            </a:r>
            <a:r>
              <a:rPr lang="en-US" sz="2475" b="1">
                <a:solidFill>
                  <a:srgbClr val="051C2C"/>
                </a:solidFill>
                <a:latin typeface="Aptos Display"/>
              </a:rPr>
              <a:t>.</a:t>
            </a:r>
          </a:p>
        </p:txBody>
      </p:sp>
      <p:sp>
        <p:nvSpPr>
          <p:cNvPr id="5" name="Rectangle 4">
            <a:extLst>
              <a:ext uri="{FF2B5EF4-FFF2-40B4-BE49-F238E27FC236}">
                <a16:creationId xmlns:a16="http://schemas.microsoft.com/office/drawing/2014/main" id="{994BC4FF-E2A2-4461-9427-83F7738D467A}"/>
              </a:ext>
            </a:extLst>
          </p:cNvPr>
          <p:cNvSpPr>
            <a:spLocks noGrp="1"/>
          </p:cNvSpPr>
          <p:nvPr/>
        </p:nvSpPr>
        <p:spPr>
          <a:xfrm>
            <a:off x="438150" y="1138762"/>
            <a:ext cx="11315700" cy="209550"/>
          </a:xfrm>
          <a:prstGeom prst="rect">
            <a:avLst/>
          </a:prstGeom>
        </p:spPr>
        <p:txBody>
          <a:bodyPr lIns="0" tIns="0" rIns="0" bIns="0" anchor="t"/>
          <a:lstStyle/>
          <a:p>
            <a:pPr algn="l">
              <a:buNone/>
              <a:defRPr sz="1200" b="0">
                <a:solidFill>
                  <a:srgbClr val="5B666D"/>
                </a:solidFill>
                <a:latin typeface="Aptos"/>
                <a:ea typeface="Aptos"/>
                <a:cs typeface="Aptos"/>
              </a:defRPr>
            </a:pPr>
            <a:r>
              <a:rPr lang="en-US" sz="1130"/>
              <a:t>Das Cockpit </a:t>
            </a:r>
            <a:r>
              <a:rPr lang="en-US" sz="1130" err="1"/>
              <a:t>unterscheidet</a:t>
            </a:r>
            <a:r>
              <a:rPr lang="en-US" sz="1130"/>
              <a:t> </a:t>
            </a:r>
            <a:r>
              <a:rPr lang="en-US" sz="1130" err="1"/>
              <a:t>harte</a:t>
            </a:r>
            <a:r>
              <a:rPr lang="en-US" sz="1130"/>
              <a:t> </a:t>
            </a:r>
            <a:r>
              <a:rPr lang="en-US" sz="1130" err="1"/>
              <a:t>Mindestquote</a:t>
            </a:r>
            <a:r>
              <a:rPr lang="en-US" sz="1130"/>
              <a:t>, Puffer und </a:t>
            </a:r>
            <a:r>
              <a:rPr lang="en-US" sz="1130" err="1"/>
              <a:t>bankindividuelle</a:t>
            </a:r>
            <a:r>
              <a:rPr lang="en-US" sz="1130"/>
              <a:t> </a:t>
            </a:r>
            <a:r>
              <a:rPr lang="en-US" sz="1130" err="1"/>
              <a:t>Anforderungen</a:t>
            </a:r>
            <a:r>
              <a:rPr lang="en-US" sz="1130"/>
              <a:t>.</a:t>
            </a:r>
          </a:p>
        </p:txBody>
      </p:sp>
      <p:sp>
        <p:nvSpPr>
          <p:cNvPr id="6" name="Rectangle 5">
            <a:extLst>
              <a:ext uri="{FF2B5EF4-FFF2-40B4-BE49-F238E27FC236}">
                <a16:creationId xmlns:a16="http://schemas.microsoft.com/office/drawing/2014/main" id="{D4CCF627-5CF1-4DBF-A5C0-E552F1A8CE5A}"/>
              </a:ext>
            </a:extLst>
          </p:cNvPr>
          <p:cNvSpPr>
            <a:spLocks noGrp="1"/>
          </p:cNvSpPr>
          <p:nvPr/>
        </p:nvSpPr>
        <p:spPr>
          <a:xfrm>
            <a:off x="438150" y="2530793"/>
            <a:ext cx="2857500" cy="205740"/>
          </a:xfrm>
          <a:prstGeom prst="rect">
            <a:avLst/>
          </a:prstGeom>
        </p:spPr>
        <p:txBody>
          <a:bodyPr lIns="0" tIns="0" rIns="0" bIns="0" anchor="t"/>
          <a:lstStyle/>
          <a:p>
            <a:pPr algn="l">
              <a:buNone/>
              <a:defRPr sz="1350" b="1">
                <a:solidFill>
                  <a:srgbClr val="071C2C"/>
                </a:solidFill>
                <a:latin typeface="Aptos"/>
                <a:ea typeface="Aptos"/>
                <a:cs typeface="Aptos"/>
              </a:defRPr>
            </a:pPr>
            <a:r>
              <a:t>SREP / Management buffer</a:t>
            </a:r>
          </a:p>
        </p:txBody>
      </p:sp>
      <p:sp>
        <p:nvSpPr>
          <p:cNvPr id="7" name="Rectangle 6">
            <a:extLst>
              <a:ext uri="{FF2B5EF4-FFF2-40B4-BE49-F238E27FC236}">
                <a16:creationId xmlns:a16="http://schemas.microsoft.com/office/drawing/2014/main" id="{34AF73E0-344C-4430-8BB6-37CF9C31191C}"/>
              </a:ext>
            </a:extLst>
          </p:cNvPr>
          <p:cNvSpPr>
            <a:spLocks noGrp="1"/>
          </p:cNvSpPr>
          <p:nvPr/>
        </p:nvSpPr>
        <p:spPr>
          <a:xfrm>
            <a:off x="3486150" y="2490788"/>
            <a:ext cx="3143250" cy="285750"/>
          </a:xfrm>
          <a:prstGeom prst="rect">
            <a:avLst/>
          </a:prstGeom>
          <a:solidFill>
            <a:srgbClr val="A63B4D"/>
          </a:solidFill>
        </p:spPr>
        <p:txBody>
          <a:bodyPr/>
          <a:lstStyle/>
          <a:p>
            <a:endParaRPr/>
          </a:p>
        </p:txBody>
      </p:sp>
      <p:sp>
        <p:nvSpPr>
          <p:cNvPr id="8" name="Rectangle 7">
            <a:extLst>
              <a:ext uri="{FF2B5EF4-FFF2-40B4-BE49-F238E27FC236}">
                <a16:creationId xmlns:a16="http://schemas.microsoft.com/office/drawing/2014/main" id="{C1173710-256E-49BF-BFC4-346F4E52046B}"/>
              </a:ext>
            </a:extLst>
          </p:cNvPr>
          <p:cNvSpPr>
            <a:spLocks noGrp="1"/>
          </p:cNvSpPr>
          <p:nvPr/>
        </p:nvSpPr>
        <p:spPr>
          <a:xfrm>
            <a:off x="6819900" y="2536508"/>
            <a:ext cx="1714500" cy="194310"/>
          </a:xfrm>
          <a:prstGeom prst="rect">
            <a:avLst/>
          </a:prstGeom>
        </p:spPr>
        <p:txBody>
          <a:bodyPr lIns="0" tIns="0" rIns="0" bIns="0" anchor="t"/>
          <a:lstStyle/>
          <a:p>
            <a:pPr algn="l">
              <a:buNone/>
              <a:defRPr sz="1275" b="1">
                <a:solidFill>
                  <a:srgbClr val="A63B4D"/>
                </a:solidFill>
                <a:latin typeface="Aptos"/>
                <a:ea typeface="Aptos"/>
                <a:cs typeface="Aptos"/>
              </a:defRPr>
            </a:pPr>
            <a:r>
              <a:t>bankindividuell</a:t>
            </a:r>
          </a:p>
        </p:txBody>
      </p:sp>
      <p:sp>
        <p:nvSpPr>
          <p:cNvPr id="9" name="Rectangle 8">
            <a:extLst>
              <a:ext uri="{FF2B5EF4-FFF2-40B4-BE49-F238E27FC236}">
                <a16:creationId xmlns:a16="http://schemas.microsoft.com/office/drawing/2014/main" id="{A3D3BD92-CBF5-4244-A5FC-D27A44CCBD7A}"/>
              </a:ext>
            </a:extLst>
          </p:cNvPr>
          <p:cNvSpPr>
            <a:spLocks noGrp="1"/>
          </p:cNvSpPr>
          <p:nvPr/>
        </p:nvSpPr>
        <p:spPr>
          <a:xfrm>
            <a:off x="438150" y="3054668"/>
            <a:ext cx="2857500" cy="205740"/>
          </a:xfrm>
          <a:prstGeom prst="rect">
            <a:avLst/>
          </a:prstGeom>
        </p:spPr>
        <p:txBody>
          <a:bodyPr lIns="0" tIns="0" rIns="0" bIns="0" anchor="t"/>
          <a:lstStyle/>
          <a:p>
            <a:pPr algn="l">
              <a:buNone/>
              <a:defRPr sz="1350" b="1">
                <a:solidFill>
                  <a:srgbClr val="071C2C"/>
                </a:solidFill>
                <a:latin typeface="Aptos"/>
                <a:ea typeface="Aptos"/>
                <a:cs typeface="Aptos"/>
              </a:defRPr>
            </a:pPr>
            <a:r>
              <a:t>CCB + Pillar 1</a:t>
            </a:r>
          </a:p>
        </p:txBody>
      </p:sp>
      <p:sp>
        <p:nvSpPr>
          <p:cNvPr id="10" name="Rectangle 9">
            <a:extLst>
              <a:ext uri="{FF2B5EF4-FFF2-40B4-BE49-F238E27FC236}">
                <a16:creationId xmlns:a16="http://schemas.microsoft.com/office/drawing/2014/main" id="{D7DC1082-A5A1-43B2-BA42-ACBC16840FA9}"/>
              </a:ext>
            </a:extLst>
          </p:cNvPr>
          <p:cNvSpPr>
            <a:spLocks noGrp="1"/>
          </p:cNvSpPr>
          <p:nvPr/>
        </p:nvSpPr>
        <p:spPr>
          <a:xfrm>
            <a:off x="3486150" y="3014663"/>
            <a:ext cx="2619375" cy="285750"/>
          </a:xfrm>
          <a:prstGeom prst="rect">
            <a:avLst/>
          </a:prstGeom>
          <a:solidFill>
            <a:srgbClr val="D39A2C"/>
          </a:solidFill>
        </p:spPr>
        <p:txBody>
          <a:bodyPr/>
          <a:lstStyle/>
          <a:p>
            <a:endParaRPr/>
          </a:p>
        </p:txBody>
      </p:sp>
      <p:sp>
        <p:nvSpPr>
          <p:cNvPr id="11" name="Rectangle 10">
            <a:extLst>
              <a:ext uri="{FF2B5EF4-FFF2-40B4-BE49-F238E27FC236}">
                <a16:creationId xmlns:a16="http://schemas.microsoft.com/office/drawing/2014/main" id="{73077BAF-DDDB-41EE-91BA-7D5CAD581348}"/>
              </a:ext>
            </a:extLst>
          </p:cNvPr>
          <p:cNvSpPr>
            <a:spLocks noGrp="1"/>
          </p:cNvSpPr>
          <p:nvPr/>
        </p:nvSpPr>
        <p:spPr>
          <a:xfrm>
            <a:off x="6296025" y="3060383"/>
            <a:ext cx="1714500" cy="194310"/>
          </a:xfrm>
          <a:prstGeom prst="rect">
            <a:avLst/>
          </a:prstGeom>
        </p:spPr>
        <p:txBody>
          <a:bodyPr lIns="0" tIns="0" rIns="0" bIns="0" anchor="t"/>
          <a:lstStyle/>
          <a:p>
            <a:pPr algn="l">
              <a:buNone/>
              <a:defRPr sz="1275" b="1">
                <a:solidFill>
                  <a:srgbClr val="D39A2C"/>
                </a:solidFill>
                <a:latin typeface="Aptos"/>
                <a:ea typeface="Aptos"/>
                <a:cs typeface="Aptos"/>
              </a:defRPr>
            </a:pPr>
            <a:r>
              <a:t>ca. 7–10,5 %</a:t>
            </a:r>
          </a:p>
        </p:txBody>
      </p:sp>
      <p:sp>
        <p:nvSpPr>
          <p:cNvPr id="12" name="Rectangle 11">
            <a:extLst>
              <a:ext uri="{FF2B5EF4-FFF2-40B4-BE49-F238E27FC236}">
                <a16:creationId xmlns:a16="http://schemas.microsoft.com/office/drawing/2014/main" id="{E29994B4-E904-4F33-B9C0-151AF68AF98F}"/>
              </a:ext>
            </a:extLst>
          </p:cNvPr>
          <p:cNvSpPr>
            <a:spLocks noGrp="1"/>
          </p:cNvSpPr>
          <p:nvPr/>
        </p:nvSpPr>
        <p:spPr>
          <a:xfrm>
            <a:off x="438150" y="3578543"/>
            <a:ext cx="2857500" cy="205740"/>
          </a:xfrm>
          <a:prstGeom prst="rect">
            <a:avLst/>
          </a:prstGeom>
        </p:spPr>
        <p:txBody>
          <a:bodyPr lIns="0" tIns="0" rIns="0" bIns="0" anchor="t"/>
          <a:lstStyle/>
          <a:p>
            <a:pPr algn="l">
              <a:buNone/>
              <a:defRPr sz="1350" b="1">
                <a:solidFill>
                  <a:srgbClr val="071C2C"/>
                </a:solidFill>
                <a:latin typeface="Aptos"/>
                <a:ea typeface="Aptos"/>
                <a:cs typeface="Aptos"/>
              </a:defRPr>
            </a:pPr>
            <a:r>
              <a:t>Pillar 1 CET1</a:t>
            </a:r>
          </a:p>
        </p:txBody>
      </p:sp>
      <p:sp>
        <p:nvSpPr>
          <p:cNvPr id="13" name="Rectangle 12">
            <a:extLst>
              <a:ext uri="{FF2B5EF4-FFF2-40B4-BE49-F238E27FC236}">
                <a16:creationId xmlns:a16="http://schemas.microsoft.com/office/drawing/2014/main" id="{EB90CDDD-DDA4-478F-B903-9D8950BBCE25}"/>
              </a:ext>
            </a:extLst>
          </p:cNvPr>
          <p:cNvSpPr>
            <a:spLocks noGrp="1"/>
          </p:cNvSpPr>
          <p:nvPr/>
        </p:nvSpPr>
        <p:spPr>
          <a:xfrm>
            <a:off x="3486150" y="3538538"/>
            <a:ext cx="1714500" cy="285750"/>
          </a:xfrm>
          <a:prstGeom prst="rect">
            <a:avLst/>
          </a:prstGeom>
          <a:solidFill>
            <a:srgbClr val="0B5A7A"/>
          </a:solidFill>
        </p:spPr>
        <p:txBody>
          <a:bodyPr/>
          <a:lstStyle/>
          <a:p>
            <a:endParaRPr/>
          </a:p>
        </p:txBody>
      </p:sp>
      <p:sp>
        <p:nvSpPr>
          <p:cNvPr id="14" name="Rectangle 13">
            <a:extLst>
              <a:ext uri="{FF2B5EF4-FFF2-40B4-BE49-F238E27FC236}">
                <a16:creationId xmlns:a16="http://schemas.microsoft.com/office/drawing/2014/main" id="{006A0C33-AE24-491D-8737-A069F679E997}"/>
              </a:ext>
            </a:extLst>
          </p:cNvPr>
          <p:cNvSpPr>
            <a:spLocks noGrp="1"/>
          </p:cNvSpPr>
          <p:nvPr/>
        </p:nvSpPr>
        <p:spPr>
          <a:xfrm>
            <a:off x="5391150" y="3584258"/>
            <a:ext cx="1714500" cy="194310"/>
          </a:xfrm>
          <a:prstGeom prst="rect">
            <a:avLst/>
          </a:prstGeom>
        </p:spPr>
        <p:txBody>
          <a:bodyPr lIns="0" tIns="0" rIns="0" bIns="0" anchor="t"/>
          <a:lstStyle/>
          <a:p>
            <a:pPr algn="l">
              <a:buNone/>
              <a:defRPr sz="1275" b="1">
                <a:solidFill>
                  <a:srgbClr val="0B5A7A"/>
                </a:solidFill>
                <a:latin typeface="Aptos"/>
                <a:ea typeface="Aptos"/>
                <a:cs typeface="Aptos"/>
              </a:defRPr>
            </a:pPr>
            <a:r>
              <a:t>4,5 %</a:t>
            </a:r>
          </a:p>
        </p:txBody>
      </p:sp>
      <p:sp>
        <p:nvSpPr>
          <p:cNvPr id="15" name="Rectangle 14">
            <a:extLst>
              <a:ext uri="{FF2B5EF4-FFF2-40B4-BE49-F238E27FC236}">
                <a16:creationId xmlns:a16="http://schemas.microsoft.com/office/drawing/2014/main" id="{F3A7CF72-3F70-4748-A4E7-A2081E62F699}"/>
              </a:ext>
            </a:extLst>
          </p:cNvPr>
          <p:cNvSpPr>
            <a:spLocks noGrp="1"/>
          </p:cNvSpPr>
          <p:nvPr/>
        </p:nvSpPr>
        <p:spPr>
          <a:xfrm>
            <a:off x="438150" y="4062413"/>
            <a:ext cx="11315700" cy="685800"/>
          </a:xfrm>
          <a:prstGeom prst="rect">
            <a:avLst/>
          </a:prstGeom>
          <a:solidFill>
            <a:srgbClr val="FFFFFF"/>
          </a:solidFill>
        </p:spPr>
        <p:txBody>
          <a:bodyPr/>
          <a:lstStyle/>
          <a:p>
            <a:endParaRPr/>
          </a:p>
        </p:txBody>
      </p:sp>
      <p:sp>
        <p:nvSpPr>
          <p:cNvPr id="16" name="Rectangle 15">
            <a:extLst>
              <a:ext uri="{FF2B5EF4-FFF2-40B4-BE49-F238E27FC236}">
                <a16:creationId xmlns:a16="http://schemas.microsoft.com/office/drawing/2014/main" id="{122C9BF4-57A1-4E1B-8ABD-2FB7E81ED406}"/>
              </a:ext>
            </a:extLst>
          </p:cNvPr>
          <p:cNvSpPr>
            <a:spLocks noGrp="1"/>
          </p:cNvSpPr>
          <p:nvPr/>
        </p:nvSpPr>
        <p:spPr>
          <a:xfrm>
            <a:off x="647700" y="4271963"/>
            <a:ext cx="10896600" cy="217170"/>
          </a:xfrm>
          <a:prstGeom prst="rect">
            <a:avLst/>
          </a:prstGeom>
        </p:spPr>
        <p:txBody>
          <a:bodyPr lIns="0" tIns="0" rIns="0" bIns="0" anchor="t"/>
          <a:lstStyle/>
          <a:p>
            <a:pPr algn="ctr">
              <a:buNone/>
              <a:defRPr sz="1425" b="1">
                <a:solidFill>
                  <a:srgbClr val="071C2C"/>
                </a:solidFill>
                <a:latin typeface="Aptos"/>
                <a:ea typeface="Aptos"/>
                <a:cs typeface="Aptos"/>
              </a:defRPr>
            </a:pPr>
            <a:r>
              <a:t>Interpretation: Breach, Buffer-Verbrauch oder weiterhin ausreichender Abstand?</a:t>
            </a:r>
          </a:p>
        </p:txBody>
      </p:sp>
      <p:sp>
        <p:nvSpPr>
          <p:cNvPr id="23" name="Rectangle 21">
            <a:extLst>
              <a:ext uri="{FF2B5EF4-FFF2-40B4-BE49-F238E27FC236}">
                <a16:creationId xmlns:a16="http://schemas.microsoft.com/office/drawing/2014/main" id="{F73672BE-6B61-0869-9349-9E1CF413BD43}"/>
              </a:ext>
            </a:extLst>
          </p:cNvPr>
          <p:cNvSpPr>
            <a:spLocks noGrp="1"/>
          </p:cNvSpPr>
          <p:nvPr/>
        </p:nvSpPr>
        <p:spPr>
          <a:xfrm>
            <a:off x="438150" y="6143625"/>
            <a:ext cx="9810750" cy="152400"/>
          </a:xfrm>
          <a:prstGeom prst="rect">
            <a:avLst/>
          </a:prstGeom>
        </p:spPr>
        <p:txBody>
          <a:bodyPr lIns="0" tIns="0" rIns="0" bIns="0" anchor="ctr"/>
          <a:lstStyle/>
          <a:p>
            <a:pPr algn="l">
              <a:buNone/>
              <a:defRPr sz="750" b="0">
                <a:solidFill>
                  <a:srgbClr val="8C8780"/>
                </a:solidFill>
                <a:latin typeface="Aptos"/>
                <a:ea typeface="Aptos"/>
                <a:cs typeface="Aptos"/>
              </a:defRPr>
            </a:pPr>
            <a:r>
              <a:t>EU Banking Credit Stress Cockpit ·</a:t>
            </a:r>
            <a:r>
              <a:rPr lang="de-DE"/>
              <a:t> Eigenkapital</a:t>
            </a:r>
            <a:endParaRPr/>
          </a:p>
        </p:txBody>
      </p:sp>
      <p:sp>
        <p:nvSpPr>
          <p:cNvPr id="2" name="CodexSlideNumber">
            <a:extLst>
              <a:ext uri="{FF2B5EF4-FFF2-40B4-BE49-F238E27FC236}">
                <a16:creationId xmlns:a16="http://schemas.microsoft.com/office/drawing/2014/main" id="{DE10323E-4276-5721-79D2-A01061E7C60D}"/>
              </a:ext>
            </a:extLst>
          </p:cNvPr>
          <p:cNvSpPr txBox="1"/>
          <p:nvPr/>
        </p:nvSpPr>
        <p:spPr>
          <a:xfrm>
            <a:off x="11226800" y="6553200"/>
            <a:ext cx="736600" cy="123111"/>
          </a:xfrm>
          <a:prstGeom prst="rect">
            <a:avLst/>
          </a:prstGeom>
          <a:noFill/>
        </p:spPr>
        <p:txBody>
          <a:bodyPr vert="horz" lIns="0" tIns="0" rIns="0" bIns="0" rtlCol="0">
            <a:spAutoFit/>
          </a:bodyPr>
          <a:lstStyle/>
          <a:p>
            <a:pPr algn="r"/>
            <a:r>
              <a:rPr lang="en-US" sz="800">
                <a:solidFill>
                  <a:srgbClr val="525252"/>
                </a:solidFill>
                <a:latin typeface="Arial" panose="020B0604020202020204" pitchFamily="34" charset="0"/>
              </a:rPr>
              <a:t>46 / 64</a:t>
            </a:r>
          </a:p>
        </p:txBody>
      </p:sp>
    </p:spTree>
    <p:extLst>
      <p:ext uri="{BB962C8B-B14F-4D97-AF65-F5344CB8AC3E}">
        <p14:creationId xmlns:p14="http://schemas.microsoft.com/office/powerpoint/2010/main" val="356970976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kicker-capital-label">
            <a:extLst>
              <a:ext uri="{FF2B5EF4-FFF2-40B4-BE49-F238E27FC236}">
                <a16:creationId xmlns:a16="http://schemas.microsoft.com/office/drawing/2014/main" id="{AE13FE1F-1131-4CB4-83F1-EA63DD1D8F6F}"/>
              </a:ext>
            </a:extLst>
          </p:cNvPr>
          <p:cNvSpPr>
            <a:spLocks noGrp="1"/>
          </p:cNvSpPr>
          <p:nvPr/>
        </p:nvSpPr>
        <p:spPr>
          <a:xfrm>
            <a:off x="600075" y="438150"/>
            <a:ext cx="2476500" cy="190500"/>
          </a:xfrm>
          <a:prstGeom prst="rect">
            <a:avLst/>
          </a:prstGeom>
        </p:spPr>
        <p:txBody>
          <a:bodyPr lIns="0" tIns="0" rIns="0" bIns="0" anchor="ctr"/>
          <a:lstStyle/>
          <a:p>
            <a:pPr algn="l">
              <a:buNone/>
              <a:defRPr sz="975" b="1">
                <a:solidFill>
                  <a:srgbClr val="5B666D"/>
                </a:solidFill>
                <a:latin typeface="Aptos"/>
                <a:ea typeface="Aptos"/>
                <a:cs typeface="Aptos"/>
              </a:defRPr>
            </a:pPr>
            <a:r>
              <a:rPr sz="863" b="1">
                <a:solidFill>
                  <a:schemeClr val="tx2"/>
                </a:solidFill>
                <a:latin typeface="Aptos"/>
                <a:ea typeface="Aptos"/>
                <a:cs typeface="Aptos"/>
              </a:rPr>
              <a:t>EIGENKAPITAL</a:t>
            </a:r>
          </a:p>
        </p:txBody>
      </p:sp>
      <p:sp>
        <p:nvSpPr>
          <p:cNvPr id="4" name="Rectangle 3">
            <a:extLst>
              <a:ext uri="{FF2B5EF4-FFF2-40B4-BE49-F238E27FC236}">
                <a16:creationId xmlns:a16="http://schemas.microsoft.com/office/drawing/2014/main" id="{AAD55B66-96F0-40BE-B407-D83485DCB7F6}"/>
              </a:ext>
            </a:extLst>
          </p:cNvPr>
          <p:cNvSpPr>
            <a:spLocks noGrp="1"/>
          </p:cNvSpPr>
          <p:nvPr/>
        </p:nvSpPr>
        <p:spPr>
          <a:xfrm>
            <a:off x="438150" y="695325"/>
            <a:ext cx="11315700" cy="647700"/>
          </a:xfrm>
          <a:prstGeom prst="rect">
            <a:avLst/>
          </a:prstGeom>
        </p:spPr>
        <p:txBody>
          <a:bodyPr lIns="0" tIns="0" rIns="0" bIns="0" anchor="t"/>
          <a:lstStyle/>
          <a:p>
            <a:pPr>
              <a:buNone/>
              <a:defRPr sz="2475" b="1" i="0">
                <a:solidFill>
                  <a:srgbClr val="051C2C"/>
                </a:solidFill>
                <a:latin typeface="Aptos Display"/>
                <a:ea typeface="Aptos Display"/>
                <a:cs typeface="Aptos Display"/>
              </a:defRPr>
            </a:pPr>
            <a:r>
              <a:rPr sz="2475" b="1">
                <a:solidFill>
                  <a:srgbClr val="051C2C"/>
                </a:solidFill>
                <a:latin typeface="Aptos Display"/>
                <a:ea typeface="Aptos Display"/>
                <a:cs typeface="Aptos Display"/>
              </a:rPr>
              <a:t>Unterschiedliche CET1-Effekte entstehen aus drei bankindividuellen Strukturen.</a:t>
            </a:r>
          </a:p>
        </p:txBody>
      </p:sp>
      <p:sp>
        <p:nvSpPr>
          <p:cNvPr id="5" name="Rectangle 4">
            <a:extLst>
              <a:ext uri="{FF2B5EF4-FFF2-40B4-BE49-F238E27FC236}">
                <a16:creationId xmlns:a16="http://schemas.microsoft.com/office/drawing/2014/main" id="{459D872A-72FC-448D-87F6-AF578409C11F}"/>
              </a:ext>
            </a:extLst>
          </p:cNvPr>
          <p:cNvSpPr>
            <a:spLocks noGrp="1"/>
          </p:cNvSpPr>
          <p:nvPr/>
        </p:nvSpPr>
        <p:spPr>
          <a:xfrm>
            <a:off x="438150" y="1161956"/>
            <a:ext cx="11315700" cy="209550"/>
          </a:xfrm>
          <a:prstGeom prst="rect">
            <a:avLst/>
          </a:prstGeom>
        </p:spPr>
        <p:txBody>
          <a:bodyPr lIns="0" tIns="0" rIns="0" bIns="0" anchor="t"/>
          <a:lstStyle/>
          <a:p>
            <a:pPr algn="l">
              <a:buNone/>
              <a:defRPr sz="1200" b="0">
                <a:solidFill>
                  <a:srgbClr val="5B666D"/>
                </a:solidFill>
                <a:latin typeface="Aptos"/>
                <a:ea typeface="Aptos"/>
                <a:cs typeface="Aptos"/>
              </a:defRPr>
            </a:pPr>
            <a:r>
              <a:rPr sz="1130"/>
              <a:t>Die App erklärt Streuung über Portfolio, Risikoqualität und Sovereign-Klassifizierung.</a:t>
            </a:r>
          </a:p>
        </p:txBody>
      </p:sp>
      <p:sp>
        <p:nvSpPr>
          <p:cNvPr id="6" name="Rectangle 5">
            <a:extLst>
              <a:ext uri="{FF2B5EF4-FFF2-40B4-BE49-F238E27FC236}">
                <a16:creationId xmlns:a16="http://schemas.microsoft.com/office/drawing/2014/main" id="{216DBA01-7314-4B63-B74D-8B972166ABCC}"/>
              </a:ext>
            </a:extLst>
          </p:cNvPr>
          <p:cNvSpPr>
            <a:spLocks noGrp="1"/>
          </p:cNvSpPr>
          <p:nvPr/>
        </p:nvSpPr>
        <p:spPr>
          <a:xfrm>
            <a:off x="1066800" y="2238375"/>
            <a:ext cx="3190875" cy="2190750"/>
          </a:xfrm>
          <a:prstGeom prst="rect">
            <a:avLst/>
          </a:prstGeom>
          <a:solidFill>
            <a:srgbClr val="DCEAF0"/>
          </a:solidFill>
        </p:spPr>
        <p:txBody>
          <a:bodyPr/>
          <a:lstStyle/>
          <a:p>
            <a:endParaRPr/>
          </a:p>
        </p:txBody>
      </p:sp>
      <p:sp>
        <p:nvSpPr>
          <p:cNvPr id="7" name="Rectangle 6">
            <a:extLst>
              <a:ext uri="{FF2B5EF4-FFF2-40B4-BE49-F238E27FC236}">
                <a16:creationId xmlns:a16="http://schemas.microsoft.com/office/drawing/2014/main" id="{69E660B6-5DFD-444C-A843-D5AD4F10A7D5}"/>
              </a:ext>
            </a:extLst>
          </p:cNvPr>
          <p:cNvSpPr>
            <a:spLocks noGrp="1"/>
          </p:cNvSpPr>
          <p:nvPr/>
        </p:nvSpPr>
        <p:spPr>
          <a:xfrm>
            <a:off x="1219200" y="2409825"/>
            <a:ext cx="2886075" cy="266700"/>
          </a:xfrm>
          <a:prstGeom prst="rect">
            <a:avLst/>
          </a:prstGeom>
        </p:spPr>
        <p:txBody>
          <a:bodyPr lIns="0" tIns="0" rIns="0" bIns="0" anchor="t"/>
          <a:lstStyle/>
          <a:p>
            <a:pPr algn="ctr">
              <a:buNone/>
              <a:defRPr sz="1425" b="1">
                <a:solidFill>
                  <a:srgbClr val="071C2C"/>
                </a:solidFill>
                <a:latin typeface="Aptos"/>
                <a:ea typeface="Aptos"/>
                <a:cs typeface="Aptos"/>
              </a:defRPr>
            </a:pPr>
            <a:r>
              <a:t>1 · Portfolio-Mix</a:t>
            </a:r>
          </a:p>
        </p:txBody>
      </p:sp>
      <p:sp>
        <p:nvSpPr>
          <p:cNvPr id="8" name="Rectangle 7">
            <a:extLst>
              <a:ext uri="{FF2B5EF4-FFF2-40B4-BE49-F238E27FC236}">
                <a16:creationId xmlns:a16="http://schemas.microsoft.com/office/drawing/2014/main" id="{239E6B5C-AC49-45D2-ABF9-F61C17CCFA9D}"/>
              </a:ext>
            </a:extLst>
          </p:cNvPr>
          <p:cNvSpPr>
            <a:spLocks noGrp="1"/>
          </p:cNvSpPr>
          <p:nvPr/>
        </p:nvSpPr>
        <p:spPr>
          <a:xfrm>
            <a:off x="1276350" y="2819400"/>
            <a:ext cx="2771775" cy="1409700"/>
          </a:xfrm>
          <a:prstGeom prst="rect">
            <a:avLst/>
          </a:prstGeom>
        </p:spPr>
        <p:txBody>
          <a:bodyPr lIns="0" tIns="0" rIns="0" bIns="0" anchor="t"/>
          <a:lstStyle/>
          <a:p>
            <a:pPr algn="l">
              <a:buNone/>
              <a:defRPr sz="1050" b="0">
                <a:solidFill>
                  <a:srgbClr val="5B666D"/>
                </a:solidFill>
                <a:latin typeface="Aptos"/>
                <a:ea typeface="Aptos"/>
                <a:cs typeface="Aptos"/>
              </a:defRPr>
            </a:pPr>
            <a:r>
              <a:t>• SME/Corporate: Ölpreis und Zinsen belasten Cashflows
• Mortgage/Retail: Zinsen drücken Tragfähigkeit und Nachfrage
• Der EAD-Anteil bestimmt, wo der Stress am stärksten wirkt</a:t>
            </a:r>
          </a:p>
        </p:txBody>
      </p:sp>
      <p:sp>
        <p:nvSpPr>
          <p:cNvPr id="9" name="Rectangle 8">
            <a:extLst>
              <a:ext uri="{FF2B5EF4-FFF2-40B4-BE49-F238E27FC236}">
                <a16:creationId xmlns:a16="http://schemas.microsoft.com/office/drawing/2014/main" id="{90E043B9-6F97-46B0-B119-D9AC69B0FEEC}"/>
              </a:ext>
            </a:extLst>
          </p:cNvPr>
          <p:cNvSpPr>
            <a:spLocks noGrp="1"/>
          </p:cNvSpPr>
          <p:nvPr/>
        </p:nvSpPr>
        <p:spPr>
          <a:xfrm>
            <a:off x="4467225" y="2238375"/>
            <a:ext cx="3190875" cy="2190750"/>
          </a:xfrm>
          <a:prstGeom prst="rect">
            <a:avLst/>
          </a:prstGeom>
          <a:solidFill>
            <a:srgbClr val="F2DEE2"/>
          </a:solidFill>
        </p:spPr>
        <p:txBody>
          <a:bodyPr/>
          <a:lstStyle/>
          <a:p>
            <a:endParaRPr/>
          </a:p>
        </p:txBody>
      </p:sp>
      <p:sp>
        <p:nvSpPr>
          <p:cNvPr id="10" name="Rectangle 9">
            <a:extLst>
              <a:ext uri="{FF2B5EF4-FFF2-40B4-BE49-F238E27FC236}">
                <a16:creationId xmlns:a16="http://schemas.microsoft.com/office/drawing/2014/main" id="{E3C400EC-66BC-4A53-85A7-C22527D3DD0F}"/>
              </a:ext>
            </a:extLst>
          </p:cNvPr>
          <p:cNvSpPr>
            <a:spLocks noGrp="1"/>
          </p:cNvSpPr>
          <p:nvPr/>
        </p:nvSpPr>
        <p:spPr>
          <a:xfrm>
            <a:off x="4619625" y="2409825"/>
            <a:ext cx="2886075" cy="266700"/>
          </a:xfrm>
          <a:prstGeom prst="rect">
            <a:avLst/>
          </a:prstGeom>
        </p:spPr>
        <p:txBody>
          <a:bodyPr lIns="0" tIns="0" rIns="0" bIns="0" anchor="t"/>
          <a:lstStyle/>
          <a:p>
            <a:pPr algn="ctr">
              <a:buNone/>
              <a:defRPr sz="1425" b="1">
                <a:solidFill>
                  <a:srgbClr val="071C2C"/>
                </a:solidFill>
                <a:latin typeface="Aptos"/>
                <a:ea typeface="Aptos"/>
                <a:cs typeface="Aptos"/>
              </a:defRPr>
            </a:pPr>
            <a:r>
              <a:t>2 · Baseline-Risiko</a:t>
            </a:r>
          </a:p>
        </p:txBody>
      </p:sp>
      <p:sp>
        <p:nvSpPr>
          <p:cNvPr id="11" name="Rectangle 10">
            <a:extLst>
              <a:ext uri="{FF2B5EF4-FFF2-40B4-BE49-F238E27FC236}">
                <a16:creationId xmlns:a16="http://schemas.microsoft.com/office/drawing/2014/main" id="{0D1E9E44-AF6A-4906-A8AF-58717558C49A}"/>
              </a:ext>
            </a:extLst>
          </p:cNvPr>
          <p:cNvSpPr>
            <a:spLocks noGrp="1"/>
          </p:cNvSpPr>
          <p:nvPr/>
        </p:nvSpPr>
        <p:spPr>
          <a:xfrm>
            <a:off x="4676775" y="2819400"/>
            <a:ext cx="2771775" cy="1409700"/>
          </a:xfrm>
          <a:prstGeom prst="rect">
            <a:avLst/>
          </a:prstGeom>
        </p:spPr>
        <p:txBody>
          <a:bodyPr lIns="0" tIns="0" rIns="0" bIns="0" anchor="t"/>
          <a:lstStyle/>
          <a:p>
            <a:pPr algn="l">
              <a:buNone/>
              <a:defRPr sz="1050" b="0">
                <a:solidFill>
                  <a:srgbClr val="5B666D"/>
                </a:solidFill>
                <a:latin typeface="Aptos"/>
                <a:ea typeface="Aptos"/>
                <a:cs typeface="Aptos"/>
              </a:defRPr>
            </a:pPr>
            <a:r>
              <a:t>• PD misst die Ausfallwahrscheinlichkeit
• LGD misst den Verlust bei einem Ausfall
• Hohe Ausgangswerte erhöhen Vorsorge und Kredit-RWA stärker</a:t>
            </a:r>
          </a:p>
        </p:txBody>
      </p:sp>
      <p:sp>
        <p:nvSpPr>
          <p:cNvPr id="12" name="Rectangle 11">
            <a:extLst>
              <a:ext uri="{FF2B5EF4-FFF2-40B4-BE49-F238E27FC236}">
                <a16:creationId xmlns:a16="http://schemas.microsoft.com/office/drawing/2014/main" id="{07CEA9A8-A746-4BE2-9F7D-F79AD3610108}"/>
              </a:ext>
            </a:extLst>
          </p:cNvPr>
          <p:cNvSpPr>
            <a:spLocks noGrp="1"/>
          </p:cNvSpPr>
          <p:nvPr/>
        </p:nvSpPr>
        <p:spPr>
          <a:xfrm>
            <a:off x="7867650" y="2238375"/>
            <a:ext cx="3190875" cy="2190750"/>
          </a:xfrm>
          <a:prstGeom prst="rect">
            <a:avLst/>
          </a:prstGeom>
          <a:solidFill>
            <a:srgbClr val="F3E7C8"/>
          </a:solidFill>
        </p:spPr>
        <p:txBody>
          <a:bodyPr/>
          <a:lstStyle/>
          <a:p>
            <a:endParaRPr/>
          </a:p>
        </p:txBody>
      </p:sp>
      <p:sp>
        <p:nvSpPr>
          <p:cNvPr id="13" name="Rectangle 12">
            <a:extLst>
              <a:ext uri="{FF2B5EF4-FFF2-40B4-BE49-F238E27FC236}">
                <a16:creationId xmlns:a16="http://schemas.microsoft.com/office/drawing/2014/main" id="{77FB6890-C2EA-4638-A047-FC36C555FEB9}"/>
              </a:ext>
            </a:extLst>
          </p:cNvPr>
          <p:cNvSpPr>
            <a:spLocks noGrp="1"/>
          </p:cNvSpPr>
          <p:nvPr/>
        </p:nvSpPr>
        <p:spPr>
          <a:xfrm>
            <a:off x="8020050" y="2409825"/>
            <a:ext cx="2886075" cy="266700"/>
          </a:xfrm>
          <a:prstGeom prst="rect">
            <a:avLst/>
          </a:prstGeom>
        </p:spPr>
        <p:txBody>
          <a:bodyPr lIns="0" tIns="0" rIns="0" bIns="0" anchor="t"/>
          <a:lstStyle/>
          <a:p>
            <a:pPr algn="ctr">
              <a:buNone/>
              <a:defRPr sz="1425" b="1">
                <a:solidFill>
                  <a:srgbClr val="071C2C"/>
                </a:solidFill>
                <a:latin typeface="Aptos"/>
                <a:ea typeface="Aptos"/>
                <a:cs typeface="Aptos"/>
              </a:defRPr>
            </a:pPr>
            <a:r>
              <a:t>3 · Sovereign-Mix</a:t>
            </a:r>
          </a:p>
        </p:txBody>
      </p:sp>
      <p:sp>
        <p:nvSpPr>
          <p:cNvPr id="14" name="Rectangle 13">
            <a:extLst>
              <a:ext uri="{FF2B5EF4-FFF2-40B4-BE49-F238E27FC236}">
                <a16:creationId xmlns:a16="http://schemas.microsoft.com/office/drawing/2014/main" id="{2F5CAF14-EFF0-4F89-B34A-20DC1BB9F414}"/>
              </a:ext>
            </a:extLst>
          </p:cNvPr>
          <p:cNvSpPr>
            <a:spLocks noGrp="1"/>
          </p:cNvSpPr>
          <p:nvPr/>
        </p:nvSpPr>
        <p:spPr>
          <a:xfrm>
            <a:off x="8077200" y="2819400"/>
            <a:ext cx="2771775" cy="1409700"/>
          </a:xfrm>
          <a:prstGeom prst="rect">
            <a:avLst/>
          </a:prstGeom>
        </p:spPr>
        <p:txBody>
          <a:bodyPr lIns="0" tIns="0" rIns="0" bIns="0" anchor="t"/>
          <a:lstStyle/>
          <a:p>
            <a:pPr algn="l">
              <a:buNone/>
              <a:defRPr sz="1050" b="0">
                <a:solidFill>
                  <a:srgbClr val="5B666D"/>
                </a:solidFill>
                <a:latin typeface="Aptos"/>
                <a:ea typeface="Aptos"/>
                <a:cs typeface="Aptos"/>
              </a:defRPr>
            </a:pPr>
            <a:r>
              <a:t>• Duration bestimmt die Zinssensitivität der Anleihen
• FVOCI/FVTPL-Bestände können CET1 direkt belasten
• Lange Laufzeiten verstärken den Sovereign-MtM-Verlust</a:t>
            </a:r>
          </a:p>
        </p:txBody>
      </p:sp>
      <p:sp>
        <p:nvSpPr>
          <p:cNvPr id="15" name="Rectangle 21">
            <a:extLst>
              <a:ext uri="{FF2B5EF4-FFF2-40B4-BE49-F238E27FC236}">
                <a16:creationId xmlns:a16="http://schemas.microsoft.com/office/drawing/2014/main" id="{050F4BA3-C761-78AC-EF00-80F2C667B281}"/>
              </a:ext>
            </a:extLst>
          </p:cNvPr>
          <p:cNvSpPr>
            <a:spLocks noGrp="1"/>
          </p:cNvSpPr>
          <p:nvPr/>
        </p:nvSpPr>
        <p:spPr>
          <a:xfrm>
            <a:off x="438150" y="6143625"/>
            <a:ext cx="9810750" cy="152400"/>
          </a:xfrm>
          <a:prstGeom prst="rect">
            <a:avLst/>
          </a:prstGeom>
        </p:spPr>
        <p:txBody>
          <a:bodyPr lIns="0" tIns="0" rIns="0" bIns="0" anchor="ctr"/>
          <a:lstStyle/>
          <a:p>
            <a:pPr algn="l">
              <a:buNone/>
              <a:defRPr sz="750" b="0">
                <a:solidFill>
                  <a:srgbClr val="8C8780"/>
                </a:solidFill>
                <a:latin typeface="Aptos"/>
                <a:ea typeface="Aptos"/>
                <a:cs typeface="Aptos"/>
              </a:defRPr>
            </a:pPr>
            <a:r>
              <a:t>EU Banking Credit Stress Cockpit ·</a:t>
            </a:r>
            <a:r>
              <a:rPr lang="de-DE"/>
              <a:t> Eigenkapital</a:t>
            </a:r>
            <a:endParaRPr/>
          </a:p>
        </p:txBody>
      </p:sp>
      <p:sp>
        <p:nvSpPr>
          <p:cNvPr id="2" name="CodexSlideNumber">
            <a:extLst>
              <a:ext uri="{FF2B5EF4-FFF2-40B4-BE49-F238E27FC236}">
                <a16:creationId xmlns:a16="http://schemas.microsoft.com/office/drawing/2014/main" id="{21C2620B-0F96-F60B-49C2-CBF814B4ACE3}"/>
              </a:ext>
            </a:extLst>
          </p:cNvPr>
          <p:cNvSpPr txBox="1"/>
          <p:nvPr/>
        </p:nvSpPr>
        <p:spPr>
          <a:xfrm>
            <a:off x="11226800" y="6553200"/>
            <a:ext cx="736600" cy="123111"/>
          </a:xfrm>
          <a:prstGeom prst="rect">
            <a:avLst/>
          </a:prstGeom>
          <a:noFill/>
        </p:spPr>
        <p:txBody>
          <a:bodyPr vert="horz" lIns="0" tIns="0" rIns="0" bIns="0" rtlCol="0">
            <a:spAutoFit/>
          </a:bodyPr>
          <a:lstStyle/>
          <a:p>
            <a:pPr algn="r"/>
            <a:r>
              <a:rPr lang="en-US" sz="800">
                <a:solidFill>
                  <a:srgbClr val="525252"/>
                </a:solidFill>
                <a:latin typeface="Arial" panose="020B0604020202020204" pitchFamily="34" charset="0"/>
              </a:rPr>
              <a:t>47 / 64</a:t>
            </a:r>
          </a:p>
        </p:txBody>
      </p:sp>
    </p:spTree>
    <p:extLst>
      <p:ext uri="{BB962C8B-B14F-4D97-AF65-F5344CB8AC3E}">
        <p14:creationId xmlns:p14="http://schemas.microsoft.com/office/powerpoint/2010/main" val="256098862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kicker-capital-label">
            <a:extLst>
              <a:ext uri="{FF2B5EF4-FFF2-40B4-BE49-F238E27FC236}">
                <a16:creationId xmlns:a16="http://schemas.microsoft.com/office/drawing/2014/main" id="{F45293CD-6F90-4151-A98A-93999D0A724F}"/>
              </a:ext>
            </a:extLst>
          </p:cNvPr>
          <p:cNvSpPr>
            <a:spLocks noGrp="1"/>
          </p:cNvSpPr>
          <p:nvPr/>
        </p:nvSpPr>
        <p:spPr>
          <a:xfrm>
            <a:off x="600075" y="438150"/>
            <a:ext cx="2476500" cy="190500"/>
          </a:xfrm>
          <a:prstGeom prst="rect">
            <a:avLst/>
          </a:prstGeom>
        </p:spPr>
        <p:txBody>
          <a:bodyPr lIns="0" tIns="0" rIns="0" bIns="0" anchor="ctr"/>
          <a:lstStyle/>
          <a:p>
            <a:pPr algn="l">
              <a:buNone/>
              <a:defRPr sz="975" b="1">
                <a:solidFill>
                  <a:srgbClr val="5B666D"/>
                </a:solidFill>
                <a:latin typeface="Aptos"/>
                <a:ea typeface="Aptos"/>
                <a:cs typeface="Aptos"/>
              </a:defRPr>
            </a:pPr>
            <a:r>
              <a:rPr lang="en-GB" sz="863" b="1">
                <a:solidFill>
                  <a:schemeClr val="tx2"/>
                </a:solidFill>
                <a:latin typeface="Aptos"/>
              </a:rPr>
              <a:t>EIGENKAPITAL</a:t>
            </a:r>
          </a:p>
        </p:txBody>
      </p:sp>
      <p:sp>
        <p:nvSpPr>
          <p:cNvPr id="4" name="Rectangle 3">
            <a:extLst>
              <a:ext uri="{FF2B5EF4-FFF2-40B4-BE49-F238E27FC236}">
                <a16:creationId xmlns:a16="http://schemas.microsoft.com/office/drawing/2014/main" id="{AE93EA1A-6CA8-4AC3-82CE-9402A1912105}"/>
              </a:ext>
            </a:extLst>
          </p:cNvPr>
          <p:cNvSpPr>
            <a:spLocks noGrp="1"/>
          </p:cNvSpPr>
          <p:nvPr/>
        </p:nvSpPr>
        <p:spPr>
          <a:xfrm>
            <a:off x="438150" y="695325"/>
            <a:ext cx="11315700" cy="647700"/>
          </a:xfrm>
          <a:prstGeom prst="rect">
            <a:avLst/>
          </a:prstGeom>
        </p:spPr>
        <p:txBody>
          <a:bodyPr lIns="0" tIns="0" rIns="0" bIns="0" anchor="t"/>
          <a:lstStyle/>
          <a:p>
            <a:pPr>
              <a:buNone/>
              <a:defRPr sz="2475" b="1" i="0">
                <a:solidFill>
                  <a:srgbClr val="051C2C"/>
                </a:solidFill>
                <a:latin typeface="Aptos Display"/>
                <a:ea typeface="Aptos Display"/>
                <a:cs typeface="Aptos Display"/>
              </a:defRPr>
            </a:pPr>
            <a:r>
              <a:rPr lang="en-US" sz="2475" b="1">
                <a:solidFill>
                  <a:srgbClr val="051C2C"/>
                </a:solidFill>
                <a:latin typeface="Aptos Display"/>
              </a:rPr>
              <a:t>Die </a:t>
            </a:r>
            <a:r>
              <a:rPr lang="en-US" sz="2475" b="1" err="1">
                <a:solidFill>
                  <a:srgbClr val="051C2C"/>
                </a:solidFill>
                <a:latin typeface="Aptos Display"/>
              </a:rPr>
              <a:t>Sensitivitätsansicht</a:t>
            </a:r>
            <a:r>
              <a:rPr lang="en-US" sz="2475" b="1">
                <a:solidFill>
                  <a:srgbClr val="051C2C"/>
                </a:solidFill>
                <a:latin typeface="Aptos Display"/>
              </a:rPr>
              <a:t> </a:t>
            </a:r>
            <a:r>
              <a:rPr lang="en-US" sz="2475" b="1" err="1">
                <a:solidFill>
                  <a:srgbClr val="051C2C"/>
                </a:solidFill>
                <a:latin typeface="Aptos Display"/>
              </a:rPr>
              <a:t>beantwortet</a:t>
            </a:r>
            <a:r>
              <a:rPr lang="en-US" sz="2475" b="1">
                <a:solidFill>
                  <a:srgbClr val="051C2C"/>
                </a:solidFill>
                <a:latin typeface="Aptos Display"/>
              </a:rPr>
              <a:t> die </a:t>
            </a:r>
            <a:r>
              <a:rPr lang="en-US" sz="2475" b="1" err="1">
                <a:solidFill>
                  <a:srgbClr val="051C2C"/>
                </a:solidFill>
                <a:latin typeface="Aptos Display"/>
              </a:rPr>
              <a:t>wichtigere</a:t>
            </a:r>
            <a:r>
              <a:rPr lang="en-US" sz="2475" b="1">
                <a:solidFill>
                  <a:srgbClr val="051C2C"/>
                </a:solidFill>
                <a:latin typeface="Aptos Display"/>
              </a:rPr>
              <a:t> Frage: Ab </a:t>
            </a:r>
            <a:r>
              <a:rPr lang="en-US" sz="2475" b="1" err="1">
                <a:solidFill>
                  <a:srgbClr val="051C2C"/>
                </a:solidFill>
                <a:latin typeface="Aptos Display"/>
              </a:rPr>
              <a:t>wann</a:t>
            </a:r>
            <a:r>
              <a:rPr lang="en-US" sz="2475" b="1">
                <a:solidFill>
                  <a:srgbClr val="051C2C"/>
                </a:solidFill>
                <a:latin typeface="Aptos Display"/>
              </a:rPr>
              <a:t> </a:t>
            </a:r>
            <a:r>
              <a:rPr lang="en-US" sz="2475" b="1" err="1">
                <a:solidFill>
                  <a:srgbClr val="051C2C"/>
                </a:solidFill>
                <a:latin typeface="Aptos Display"/>
              </a:rPr>
              <a:t>wird</a:t>
            </a:r>
            <a:r>
              <a:rPr lang="en-US" sz="2475" b="1">
                <a:solidFill>
                  <a:srgbClr val="051C2C"/>
                </a:solidFill>
                <a:latin typeface="Aptos Display"/>
              </a:rPr>
              <a:t> es </a:t>
            </a:r>
            <a:r>
              <a:rPr lang="en-US" sz="2475" b="1" err="1">
                <a:solidFill>
                  <a:srgbClr val="051C2C"/>
                </a:solidFill>
                <a:latin typeface="Aptos Display"/>
              </a:rPr>
              <a:t>kritisch</a:t>
            </a:r>
            <a:r>
              <a:rPr lang="en-US" sz="2475" b="1">
                <a:solidFill>
                  <a:srgbClr val="051C2C"/>
                </a:solidFill>
                <a:latin typeface="Aptos Display"/>
              </a:rPr>
              <a:t>?</a:t>
            </a:r>
          </a:p>
        </p:txBody>
      </p:sp>
      <p:sp>
        <p:nvSpPr>
          <p:cNvPr id="5" name="Rectangle 4">
            <a:extLst>
              <a:ext uri="{FF2B5EF4-FFF2-40B4-BE49-F238E27FC236}">
                <a16:creationId xmlns:a16="http://schemas.microsoft.com/office/drawing/2014/main" id="{F8691F0B-184B-4DD5-82C7-3FC0F4CA2AAC}"/>
              </a:ext>
            </a:extLst>
          </p:cNvPr>
          <p:cNvSpPr>
            <a:spLocks noGrp="1"/>
          </p:cNvSpPr>
          <p:nvPr/>
        </p:nvSpPr>
        <p:spPr>
          <a:xfrm>
            <a:off x="438150" y="1085850"/>
            <a:ext cx="11315700" cy="209550"/>
          </a:xfrm>
          <a:prstGeom prst="rect">
            <a:avLst/>
          </a:prstGeom>
        </p:spPr>
        <p:txBody>
          <a:bodyPr lIns="0" tIns="0" rIns="0" bIns="0" anchor="t"/>
          <a:lstStyle/>
          <a:p>
            <a:pPr algn="l">
              <a:buNone/>
              <a:defRPr sz="1200" b="0">
                <a:solidFill>
                  <a:srgbClr val="5B666D"/>
                </a:solidFill>
                <a:latin typeface="Aptos"/>
                <a:ea typeface="Aptos"/>
                <a:cs typeface="Aptos"/>
              </a:defRPr>
            </a:pPr>
            <a:r>
              <a:rPr lang="en-US" sz="1130"/>
              <a:t>Statt </a:t>
            </a:r>
            <a:r>
              <a:rPr lang="en-US" sz="1130" err="1"/>
              <a:t>nur</a:t>
            </a:r>
            <a:r>
              <a:rPr lang="en-US" sz="1130"/>
              <a:t> </a:t>
            </a:r>
            <a:r>
              <a:rPr lang="en-US" sz="1130" err="1"/>
              <a:t>einen</a:t>
            </a:r>
            <a:r>
              <a:rPr lang="en-US" sz="1130"/>
              <a:t> </a:t>
            </a:r>
            <a:r>
              <a:rPr lang="en-US" sz="1130" err="1"/>
              <a:t>Punkt</a:t>
            </a:r>
            <a:r>
              <a:rPr lang="en-US" sz="1130"/>
              <a:t> </a:t>
            </a:r>
            <a:r>
              <a:rPr lang="en-US" sz="1130" err="1"/>
              <a:t>zu</a:t>
            </a:r>
            <a:r>
              <a:rPr lang="en-US" sz="1130"/>
              <a:t> </a:t>
            </a:r>
            <a:r>
              <a:rPr lang="en-US" sz="1130" err="1"/>
              <a:t>zeigen</a:t>
            </a:r>
            <a:r>
              <a:rPr lang="en-US" sz="1130"/>
              <a:t>, </a:t>
            </a:r>
            <a:r>
              <a:rPr lang="en-US" sz="1130" err="1"/>
              <a:t>scannt</a:t>
            </a:r>
            <a:r>
              <a:rPr lang="en-US" sz="1130"/>
              <a:t> das Cockpit plausible Zins- und Brent-</a:t>
            </a:r>
            <a:r>
              <a:rPr lang="en-US" sz="1130" err="1"/>
              <a:t>Schocks</a:t>
            </a:r>
            <a:r>
              <a:rPr lang="en-US" sz="1130"/>
              <a:t>.</a:t>
            </a:r>
          </a:p>
        </p:txBody>
      </p:sp>
      <p:sp>
        <p:nvSpPr>
          <p:cNvPr id="6" name="Rectangle 5">
            <a:extLst>
              <a:ext uri="{FF2B5EF4-FFF2-40B4-BE49-F238E27FC236}">
                <a16:creationId xmlns:a16="http://schemas.microsoft.com/office/drawing/2014/main" id="{42077A2F-2089-4FBD-9702-01367E2368A0}"/>
              </a:ext>
            </a:extLst>
          </p:cNvPr>
          <p:cNvSpPr>
            <a:spLocks noGrp="1"/>
          </p:cNvSpPr>
          <p:nvPr/>
        </p:nvSpPr>
        <p:spPr>
          <a:xfrm>
            <a:off x="438150" y="1733550"/>
            <a:ext cx="6572250" cy="2333625"/>
          </a:xfrm>
          <a:prstGeom prst="rect">
            <a:avLst/>
          </a:prstGeom>
          <a:solidFill>
            <a:srgbClr val="FFFFFF"/>
          </a:solidFill>
        </p:spPr>
        <p:txBody>
          <a:bodyPr/>
          <a:lstStyle/>
          <a:p>
            <a:endParaRPr/>
          </a:p>
        </p:txBody>
      </p:sp>
      <p:sp>
        <p:nvSpPr>
          <p:cNvPr id="7" name="Rectangle 6">
            <a:extLst>
              <a:ext uri="{FF2B5EF4-FFF2-40B4-BE49-F238E27FC236}">
                <a16:creationId xmlns:a16="http://schemas.microsoft.com/office/drawing/2014/main" id="{C96EA83E-061D-423B-A4E2-3A62D8C229B2}"/>
              </a:ext>
            </a:extLst>
          </p:cNvPr>
          <p:cNvSpPr>
            <a:spLocks noGrp="1"/>
          </p:cNvSpPr>
          <p:nvPr/>
        </p:nvSpPr>
        <p:spPr>
          <a:xfrm>
            <a:off x="666750" y="1962150"/>
            <a:ext cx="6115050" cy="148590"/>
          </a:xfrm>
          <a:prstGeom prst="rect">
            <a:avLst/>
          </a:prstGeom>
        </p:spPr>
        <p:txBody>
          <a:bodyPr lIns="0" tIns="0" rIns="0" bIns="0" anchor="t"/>
          <a:lstStyle/>
          <a:p>
            <a:pPr algn="l">
              <a:buNone/>
              <a:defRPr sz="975" b="1">
                <a:solidFill>
                  <a:srgbClr val="A63B4D"/>
                </a:solidFill>
                <a:latin typeface="Aptos"/>
                <a:ea typeface="Aptos"/>
                <a:cs typeface="Aptos"/>
              </a:defRPr>
            </a:pPr>
            <a:r>
              <a:t>STRESS-GRID</a:t>
            </a:r>
          </a:p>
        </p:txBody>
      </p:sp>
      <p:sp>
        <p:nvSpPr>
          <p:cNvPr id="8" name="Rectangle 7">
            <a:extLst>
              <a:ext uri="{FF2B5EF4-FFF2-40B4-BE49-F238E27FC236}">
                <a16:creationId xmlns:a16="http://schemas.microsoft.com/office/drawing/2014/main" id="{8FB52E38-D39B-417D-B4E2-24AFD0A649C9}"/>
              </a:ext>
            </a:extLst>
          </p:cNvPr>
          <p:cNvSpPr>
            <a:spLocks noGrp="1"/>
          </p:cNvSpPr>
          <p:nvPr/>
        </p:nvSpPr>
        <p:spPr>
          <a:xfrm>
            <a:off x="666750" y="2263140"/>
            <a:ext cx="609600" cy="495300"/>
          </a:xfrm>
          <a:prstGeom prst="rect">
            <a:avLst/>
          </a:prstGeom>
          <a:solidFill>
            <a:srgbClr val="DCEBE5"/>
          </a:solidFill>
        </p:spPr>
        <p:txBody>
          <a:bodyPr/>
          <a:lstStyle/>
          <a:p>
            <a:endParaRPr/>
          </a:p>
        </p:txBody>
      </p:sp>
      <p:sp>
        <p:nvSpPr>
          <p:cNvPr id="9" name="Rectangle 8">
            <a:extLst>
              <a:ext uri="{FF2B5EF4-FFF2-40B4-BE49-F238E27FC236}">
                <a16:creationId xmlns:a16="http://schemas.microsoft.com/office/drawing/2014/main" id="{8DD8741B-80B4-4918-B3F9-D59BA0071F55}"/>
              </a:ext>
            </a:extLst>
          </p:cNvPr>
          <p:cNvSpPr>
            <a:spLocks noGrp="1"/>
          </p:cNvSpPr>
          <p:nvPr/>
        </p:nvSpPr>
        <p:spPr>
          <a:xfrm>
            <a:off x="819150" y="2415540"/>
            <a:ext cx="304800" cy="148590"/>
          </a:xfrm>
          <a:prstGeom prst="rect">
            <a:avLst/>
          </a:prstGeom>
        </p:spPr>
        <p:txBody>
          <a:bodyPr lIns="0" tIns="0" rIns="0" bIns="0" anchor="t"/>
          <a:lstStyle/>
          <a:p>
            <a:pPr algn="ctr">
              <a:buNone/>
              <a:defRPr sz="975" b="1">
                <a:solidFill>
                  <a:srgbClr val="071C2C"/>
                </a:solidFill>
                <a:latin typeface="Aptos"/>
                <a:ea typeface="Aptos"/>
                <a:cs typeface="Aptos"/>
              </a:defRPr>
            </a:pPr>
            <a:r>
              <a:t>−1 pp</a:t>
            </a:r>
          </a:p>
        </p:txBody>
      </p:sp>
      <p:sp>
        <p:nvSpPr>
          <p:cNvPr id="10" name="Rectangle 9">
            <a:extLst>
              <a:ext uri="{FF2B5EF4-FFF2-40B4-BE49-F238E27FC236}">
                <a16:creationId xmlns:a16="http://schemas.microsoft.com/office/drawing/2014/main" id="{D2D29A91-3399-4837-ADA6-1C22F6806926}"/>
              </a:ext>
            </a:extLst>
          </p:cNvPr>
          <p:cNvSpPr>
            <a:spLocks noGrp="1"/>
          </p:cNvSpPr>
          <p:nvPr/>
        </p:nvSpPr>
        <p:spPr>
          <a:xfrm>
            <a:off x="1352550" y="2263140"/>
            <a:ext cx="609600" cy="495300"/>
          </a:xfrm>
          <a:prstGeom prst="rect">
            <a:avLst/>
          </a:prstGeom>
          <a:solidFill>
            <a:srgbClr val="DCEBE5"/>
          </a:solidFill>
        </p:spPr>
        <p:txBody>
          <a:bodyPr/>
          <a:lstStyle/>
          <a:p>
            <a:endParaRPr/>
          </a:p>
        </p:txBody>
      </p:sp>
      <p:sp>
        <p:nvSpPr>
          <p:cNvPr id="11" name="Rectangle 10">
            <a:extLst>
              <a:ext uri="{FF2B5EF4-FFF2-40B4-BE49-F238E27FC236}">
                <a16:creationId xmlns:a16="http://schemas.microsoft.com/office/drawing/2014/main" id="{BE4693B7-205C-4125-9295-98B58DC0874F}"/>
              </a:ext>
            </a:extLst>
          </p:cNvPr>
          <p:cNvSpPr>
            <a:spLocks noGrp="1"/>
          </p:cNvSpPr>
          <p:nvPr/>
        </p:nvSpPr>
        <p:spPr>
          <a:xfrm>
            <a:off x="1504950" y="2415540"/>
            <a:ext cx="304800" cy="148590"/>
          </a:xfrm>
          <a:prstGeom prst="rect">
            <a:avLst/>
          </a:prstGeom>
        </p:spPr>
        <p:txBody>
          <a:bodyPr lIns="0" tIns="0" rIns="0" bIns="0" anchor="t"/>
          <a:lstStyle/>
          <a:p>
            <a:pPr algn="ctr">
              <a:buNone/>
              <a:defRPr sz="975" b="1">
                <a:solidFill>
                  <a:srgbClr val="071C2C"/>
                </a:solidFill>
                <a:latin typeface="Aptos"/>
                <a:ea typeface="Aptos"/>
                <a:cs typeface="Aptos"/>
              </a:defRPr>
            </a:pPr>
            <a:r>
              <a:t>0 pp</a:t>
            </a:r>
          </a:p>
        </p:txBody>
      </p:sp>
      <p:sp>
        <p:nvSpPr>
          <p:cNvPr id="12" name="Rectangle 11">
            <a:extLst>
              <a:ext uri="{FF2B5EF4-FFF2-40B4-BE49-F238E27FC236}">
                <a16:creationId xmlns:a16="http://schemas.microsoft.com/office/drawing/2014/main" id="{48E52DC4-7ACD-42AD-98A3-945B238D1493}"/>
              </a:ext>
            </a:extLst>
          </p:cNvPr>
          <p:cNvSpPr>
            <a:spLocks noGrp="1"/>
          </p:cNvSpPr>
          <p:nvPr/>
        </p:nvSpPr>
        <p:spPr>
          <a:xfrm>
            <a:off x="2038350" y="2263140"/>
            <a:ext cx="609600" cy="495300"/>
          </a:xfrm>
          <a:prstGeom prst="rect">
            <a:avLst/>
          </a:prstGeom>
          <a:solidFill>
            <a:srgbClr val="F3E7C8"/>
          </a:solidFill>
        </p:spPr>
        <p:txBody>
          <a:bodyPr/>
          <a:lstStyle/>
          <a:p>
            <a:endParaRPr/>
          </a:p>
        </p:txBody>
      </p:sp>
      <p:sp>
        <p:nvSpPr>
          <p:cNvPr id="13" name="Rectangle 12">
            <a:extLst>
              <a:ext uri="{FF2B5EF4-FFF2-40B4-BE49-F238E27FC236}">
                <a16:creationId xmlns:a16="http://schemas.microsoft.com/office/drawing/2014/main" id="{DC491A77-8A53-4BDD-BF02-C644E5B2FE18}"/>
              </a:ext>
            </a:extLst>
          </p:cNvPr>
          <p:cNvSpPr>
            <a:spLocks noGrp="1"/>
          </p:cNvSpPr>
          <p:nvPr/>
        </p:nvSpPr>
        <p:spPr>
          <a:xfrm>
            <a:off x="2190750" y="2415540"/>
            <a:ext cx="304800" cy="148590"/>
          </a:xfrm>
          <a:prstGeom prst="rect">
            <a:avLst/>
          </a:prstGeom>
        </p:spPr>
        <p:txBody>
          <a:bodyPr lIns="0" tIns="0" rIns="0" bIns="0" anchor="t"/>
          <a:lstStyle/>
          <a:p>
            <a:pPr algn="ctr">
              <a:buNone/>
              <a:defRPr sz="975" b="1">
                <a:solidFill>
                  <a:srgbClr val="071C2C"/>
                </a:solidFill>
                <a:latin typeface="Aptos"/>
                <a:ea typeface="Aptos"/>
                <a:cs typeface="Aptos"/>
              </a:defRPr>
            </a:pPr>
            <a:r>
              <a:t>+1 pp</a:t>
            </a:r>
          </a:p>
        </p:txBody>
      </p:sp>
      <p:sp>
        <p:nvSpPr>
          <p:cNvPr id="14" name="Rectangle 13">
            <a:extLst>
              <a:ext uri="{FF2B5EF4-FFF2-40B4-BE49-F238E27FC236}">
                <a16:creationId xmlns:a16="http://schemas.microsoft.com/office/drawing/2014/main" id="{A1EA9ABA-7B11-432F-8CC1-BBBACD554CF5}"/>
              </a:ext>
            </a:extLst>
          </p:cNvPr>
          <p:cNvSpPr>
            <a:spLocks noGrp="1"/>
          </p:cNvSpPr>
          <p:nvPr/>
        </p:nvSpPr>
        <p:spPr>
          <a:xfrm>
            <a:off x="2724150" y="2263140"/>
            <a:ext cx="609600" cy="495300"/>
          </a:xfrm>
          <a:prstGeom prst="rect">
            <a:avLst/>
          </a:prstGeom>
          <a:solidFill>
            <a:srgbClr val="F3E7C8"/>
          </a:solidFill>
        </p:spPr>
        <p:txBody>
          <a:bodyPr/>
          <a:lstStyle/>
          <a:p>
            <a:endParaRPr/>
          </a:p>
        </p:txBody>
      </p:sp>
      <p:sp>
        <p:nvSpPr>
          <p:cNvPr id="15" name="Rectangle 14">
            <a:extLst>
              <a:ext uri="{FF2B5EF4-FFF2-40B4-BE49-F238E27FC236}">
                <a16:creationId xmlns:a16="http://schemas.microsoft.com/office/drawing/2014/main" id="{C1EA5260-6B97-43D5-8B00-31E641CEBE44}"/>
              </a:ext>
            </a:extLst>
          </p:cNvPr>
          <p:cNvSpPr>
            <a:spLocks noGrp="1"/>
          </p:cNvSpPr>
          <p:nvPr/>
        </p:nvSpPr>
        <p:spPr>
          <a:xfrm>
            <a:off x="2876550" y="2415540"/>
            <a:ext cx="304800" cy="148590"/>
          </a:xfrm>
          <a:prstGeom prst="rect">
            <a:avLst/>
          </a:prstGeom>
        </p:spPr>
        <p:txBody>
          <a:bodyPr lIns="0" tIns="0" rIns="0" bIns="0" anchor="t"/>
          <a:lstStyle/>
          <a:p>
            <a:pPr algn="ctr">
              <a:buNone/>
              <a:defRPr sz="975" b="1">
                <a:solidFill>
                  <a:srgbClr val="071C2C"/>
                </a:solidFill>
                <a:latin typeface="Aptos"/>
                <a:ea typeface="Aptos"/>
                <a:cs typeface="Aptos"/>
              </a:defRPr>
            </a:pPr>
            <a:r>
              <a:t>+2 pp</a:t>
            </a:r>
          </a:p>
        </p:txBody>
      </p:sp>
      <p:sp>
        <p:nvSpPr>
          <p:cNvPr id="16" name="Rectangle 15">
            <a:extLst>
              <a:ext uri="{FF2B5EF4-FFF2-40B4-BE49-F238E27FC236}">
                <a16:creationId xmlns:a16="http://schemas.microsoft.com/office/drawing/2014/main" id="{A5FDD680-8A55-4887-9914-023A3711D83D}"/>
              </a:ext>
            </a:extLst>
          </p:cNvPr>
          <p:cNvSpPr>
            <a:spLocks noGrp="1"/>
          </p:cNvSpPr>
          <p:nvPr/>
        </p:nvSpPr>
        <p:spPr>
          <a:xfrm>
            <a:off x="3409950" y="2263140"/>
            <a:ext cx="609600" cy="495300"/>
          </a:xfrm>
          <a:prstGeom prst="rect">
            <a:avLst/>
          </a:prstGeom>
          <a:solidFill>
            <a:srgbClr val="A63B4D"/>
          </a:solidFill>
        </p:spPr>
        <p:txBody>
          <a:bodyPr/>
          <a:lstStyle/>
          <a:p>
            <a:endParaRPr/>
          </a:p>
        </p:txBody>
      </p:sp>
      <p:sp>
        <p:nvSpPr>
          <p:cNvPr id="17" name="Rectangle 16">
            <a:extLst>
              <a:ext uri="{FF2B5EF4-FFF2-40B4-BE49-F238E27FC236}">
                <a16:creationId xmlns:a16="http://schemas.microsoft.com/office/drawing/2014/main" id="{035D87A1-2C90-4227-AA8B-E5613E1AB572}"/>
              </a:ext>
            </a:extLst>
          </p:cNvPr>
          <p:cNvSpPr>
            <a:spLocks noGrp="1"/>
          </p:cNvSpPr>
          <p:nvPr/>
        </p:nvSpPr>
        <p:spPr>
          <a:xfrm>
            <a:off x="3562350" y="2415540"/>
            <a:ext cx="304800" cy="148590"/>
          </a:xfrm>
          <a:prstGeom prst="rect">
            <a:avLst/>
          </a:prstGeom>
        </p:spPr>
        <p:txBody>
          <a:bodyPr lIns="0" tIns="0" rIns="0" bIns="0" anchor="t"/>
          <a:lstStyle/>
          <a:p>
            <a:pPr algn="ctr">
              <a:buNone/>
              <a:defRPr sz="975" b="1">
                <a:solidFill>
                  <a:srgbClr val="FFFFFF"/>
                </a:solidFill>
                <a:latin typeface="Aptos"/>
                <a:ea typeface="Aptos"/>
                <a:cs typeface="Aptos"/>
              </a:defRPr>
            </a:pPr>
            <a:r>
              <a:t>+3 pp</a:t>
            </a:r>
          </a:p>
        </p:txBody>
      </p:sp>
      <p:sp>
        <p:nvSpPr>
          <p:cNvPr id="18" name="Rectangle 17">
            <a:extLst>
              <a:ext uri="{FF2B5EF4-FFF2-40B4-BE49-F238E27FC236}">
                <a16:creationId xmlns:a16="http://schemas.microsoft.com/office/drawing/2014/main" id="{9B1B9C9B-725F-4F41-B551-1BA527B50BDA}"/>
              </a:ext>
            </a:extLst>
          </p:cNvPr>
          <p:cNvSpPr>
            <a:spLocks noGrp="1"/>
          </p:cNvSpPr>
          <p:nvPr/>
        </p:nvSpPr>
        <p:spPr>
          <a:xfrm>
            <a:off x="4095750" y="2263140"/>
            <a:ext cx="609600" cy="495300"/>
          </a:xfrm>
          <a:prstGeom prst="rect">
            <a:avLst/>
          </a:prstGeom>
          <a:solidFill>
            <a:srgbClr val="A63B4D"/>
          </a:solidFill>
        </p:spPr>
        <p:txBody>
          <a:bodyPr/>
          <a:lstStyle/>
          <a:p>
            <a:endParaRPr/>
          </a:p>
        </p:txBody>
      </p:sp>
      <p:sp>
        <p:nvSpPr>
          <p:cNvPr id="19" name="Rectangle 18">
            <a:extLst>
              <a:ext uri="{FF2B5EF4-FFF2-40B4-BE49-F238E27FC236}">
                <a16:creationId xmlns:a16="http://schemas.microsoft.com/office/drawing/2014/main" id="{FC450ADF-8F4A-45A1-B83E-1A446136159F}"/>
              </a:ext>
            </a:extLst>
          </p:cNvPr>
          <p:cNvSpPr>
            <a:spLocks noGrp="1"/>
          </p:cNvSpPr>
          <p:nvPr/>
        </p:nvSpPr>
        <p:spPr>
          <a:xfrm>
            <a:off x="4248150" y="2415540"/>
            <a:ext cx="304800" cy="148590"/>
          </a:xfrm>
          <a:prstGeom prst="rect">
            <a:avLst/>
          </a:prstGeom>
        </p:spPr>
        <p:txBody>
          <a:bodyPr lIns="0" tIns="0" rIns="0" bIns="0" anchor="t"/>
          <a:lstStyle/>
          <a:p>
            <a:pPr algn="ctr">
              <a:buNone/>
              <a:defRPr sz="975" b="1">
                <a:solidFill>
                  <a:srgbClr val="FFFFFF"/>
                </a:solidFill>
                <a:latin typeface="Aptos"/>
                <a:ea typeface="Aptos"/>
                <a:cs typeface="Aptos"/>
              </a:defRPr>
            </a:pPr>
            <a:r>
              <a:t>+4 pp</a:t>
            </a:r>
          </a:p>
        </p:txBody>
      </p:sp>
      <p:sp>
        <p:nvSpPr>
          <p:cNvPr id="20" name="Rectangle 19">
            <a:extLst>
              <a:ext uri="{FF2B5EF4-FFF2-40B4-BE49-F238E27FC236}">
                <a16:creationId xmlns:a16="http://schemas.microsoft.com/office/drawing/2014/main" id="{112CB48D-CBEA-44E8-9243-1CEECBDCB100}"/>
              </a:ext>
            </a:extLst>
          </p:cNvPr>
          <p:cNvSpPr>
            <a:spLocks noGrp="1"/>
          </p:cNvSpPr>
          <p:nvPr/>
        </p:nvSpPr>
        <p:spPr>
          <a:xfrm>
            <a:off x="4781550" y="2263140"/>
            <a:ext cx="609600" cy="495300"/>
          </a:xfrm>
          <a:prstGeom prst="rect">
            <a:avLst/>
          </a:prstGeom>
          <a:solidFill>
            <a:srgbClr val="A63B4D"/>
          </a:solidFill>
        </p:spPr>
        <p:txBody>
          <a:bodyPr/>
          <a:lstStyle/>
          <a:p>
            <a:endParaRPr/>
          </a:p>
        </p:txBody>
      </p:sp>
      <p:sp>
        <p:nvSpPr>
          <p:cNvPr id="21" name="Rectangle 20">
            <a:extLst>
              <a:ext uri="{FF2B5EF4-FFF2-40B4-BE49-F238E27FC236}">
                <a16:creationId xmlns:a16="http://schemas.microsoft.com/office/drawing/2014/main" id="{B358CDDE-E542-4888-A9DB-6B80D29A4C92}"/>
              </a:ext>
            </a:extLst>
          </p:cNvPr>
          <p:cNvSpPr>
            <a:spLocks noGrp="1"/>
          </p:cNvSpPr>
          <p:nvPr/>
        </p:nvSpPr>
        <p:spPr>
          <a:xfrm>
            <a:off x="4933950" y="2415540"/>
            <a:ext cx="304800" cy="148590"/>
          </a:xfrm>
          <a:prstGeom prst="rect">
            <a:avLst/>
          </a:prstGeom>
        </p:spPr>
        <p:txBody>
          <a:bodyPr lIns="0" tIns="0" rIns="0" bIns="0" anchor="t"/>
          <a:lstStyle/>
          <a:p>
            <a:pPr algn="ctr">
              <a:buNone/>
              <a:defRPr sz="975" b="1">
                <a:solidFill>
                  <a:srgbClr val="FFFFFF"/>
                </a:solidFill>
                <a:latin typeface="Aptos"/>
                <a:ea typeface="Aptos"/>
                <a:cs typeface="Aptos"/>
              </a:defRPr>
            </a:pPr>
            <a:r>
              <a:t>+5 pp</a:t>
            </a:r>
          </a:p>
        </p:txBody>
      </p:sp>
      <p:sp>
        <p:nvSpPr>
          <p:cNvPr id="22" name="Rectangle 21">
            <a:extLst>
              <a:ext uri="{FF2B5EF4-FFF2-40B4-BE49-F238E27FC236}">
                <a16:creationId xmlns:a16="http://schemas.microsoft.com/office/drawing/2014/main" id="{94F92FDE-B3A7-4BF9-889C-C0486C0E9E99}"/>
              </a:ext>
            </a:extLst>
          </p:cNvPr>
          <p:cNvSpPr>
            <a:spLocks noGrp="1"/>
          </p:cNvSpPr>
          <p:nvPr/>
        </p:nvSpPr>
        <p:spPr>
          <a:xfrm>
            <a:off x="666750" y="2910840"/>
            <a:ext cx="6115050" cy="182880"/>
          </a:xfrm>
          <a:prstGeom prst="rect">
            <a:avLst/>
          </a:prstGeom>
        </p:spPr>
        <p:txBody>
          <a:bodyPr lIns="0" tIns="0" rIns="0" bIns="0" anchor="t"/>
          <a:lstStyle/>
          <a:p>
            <a:pPr algn="l">
              <a:buNone/>
              <a:defRPr sz="1200" b="0">
                <a:solidFill>
                  <a:srgbClr val="5B666D"/>
                </a:solidFill>
                <a:latin typeface="Aptos"/>
                <a:ea typeface="Aptos"/>
                <a:cs typeface="Aptos"/>
              </a:defRPr>
            </a:pPr>
            <a:r>
              <a:t>Für jeden Punkt: Kreditbuch neu rechnen + Sovereign-MtM neu rechnen + CET1 neu bilden.</a:t>
            </a:r>
          </a:p>
        </p:txBody>
      </p:sp>
      <p:sp>
        <p:nvSpPr>
          <p:cNvPr id="23" name="Rectangle 22">
            <a:extLst>
              <a:ext uri="{FF2B5EF4-FFF2-40B4-BE49-F238E27FC236}">
                <a16:creationId xmlns:a16="http://schemas.microsoft.com/office/drawing/2014/main" id="{5C3701B0-E6D8-44AE-9162-C20E88E20718}"/>
              </a:ext>
            </a:extLst>
          </p:cNvPr>
          <p:cNvSpPr>
            <a:spLocks noGrp="1"/>
          </p:cNvSpPr>
          <p:nvPr/>
        </p:nvSpPr>
        <p:spPr>
          <a:xfrm>
            <a:off x="7258050" y="1733550"/>
            <a:ext cx="3905250" cy="2333625"/>
          </a:xfrm>
          <a:prstGeom prst="rect">
            <a:avLst/>
          </a:prstGeom>
          <a:solidFill>
            <a:srgbClr val="F3E7C8"/>
          </a:solidFill>
        </p:spPr>
        <p:txBody>
          <a:bodyPr/>
          <a:lstStyle/>
          <a:p>
            <a:endParaRPr/>
          </a:p>
        </p:txBody>
      </p:sp>
      <p:sp>
        <p:nvSpPr>
          <p:cNvPr id="24" name="Rectangle 23">
            <a:extLst>
              <a:ext uri="{FF2B5EF4-FFF2-40B4-BE49-F238E27FC236}">
                <a16:creationId xmlns:a16="http://schemas.microsoft.com/office/drawing/2014/main" id="{C087B225-8865-4B1C-B1A9-05368B5E89BE}"/>
              </a:ext>
            </a:extLst>
          </p:cNvPr>
          <p:cNvSpPr>
            <a:spLocks noGrp="1"/>
          </p:cNvSpPr>
          <p:nvPr/>
        </p:nvSpPr>
        <p:spPr>
          <a:xfrm>
            <a:off x="7505700" y="1981200"/>
            <a:ext cx="3409950" cy="148590"/>
          </a:xfrm>
          <a:prstGeom prst="rect">
            <a:avLst/>
          </a:prstGeom>
        </p:spPr>
        <p:txBody>
          <a:bodyPr lIns="0" tIns="0" rIns="0" bIns="0" anchor="t"/>
          <a:lstStyle/>
          <a:p>
            <a:pPr algn="ctr">
              <a:buNone/>
              <a:defRPr sz="975" b="1">
                <a:solidFill>
                  <a:srgbClr val="D39A2C"/>
                </a:solidFill>
                <a:latin typeface="Aptos"/>
                <a:ea typeface="Aptos"/>
                <a:cs typeface="Aptos"/>
              </a:defRPr>
            </a:pPr>
            <a:r>
              <a:t>SCHWELLENFRAGE</a:t>
            </a:r>
          </a:p>
        </p:txBody>
      </p:sp>
      <p:sp>
        <p:nvSpPr>
          <p:cNvPr id="25" name="Rectangle 24">
            <a:extLst>
              <a:ext uri="{FF2B5EF4-FFF2-40B4-BE49-F238E27FC236}">
                <a16:creationId xmlns:a16="http://schemas.microsoft.com/office/drawing/2014/main" id="{2E76077C-B628-4EC8-9F1F-90900D7F1833}"/>
              </a:ext>
            </a:extLst>
          </p:cNvPr>
          <p:cNvSpPr>
            <a:spLocks noGrp="1"/>
          </p:cNvSpPr>
          <p:nvPr/>
        </p:nvSpPr>
        <p:spPr>
          <a:xfrm>
            <a:off x="7505700" y="2244090"/>
            <a:ext cx="3409950" cy="617220"/>
          </a:xfrm>
          <a:prstGeom prst="rect">
            <a:avLst/>
          </a:prstGeom>
        </p:spPr>
        <p:txBody>
          <a:bodyPr lIns="0" tIns="0" rIns="0" bIns="0" anchor="t"/>
          <a:lstStyle/>
          <a:p>
            <a:pPr algn="ctr">
              <a:buNone/>
              <a:defRPr sz="2025" b="1">
                <a:solidFill>
                  <a:srgbClr val="071C2C"/>
                </a:solidFill>
                <a:latin typeface="Aptos Display"/>
                <a:ea typeface="Aptos Display"/>
                <a:cs typeface="Aptos Display"/>
              </a:defRPr>
            </a:pPr>
            <a:r>
              <a:t>Bei welchem Schock wird der Kapitalpuffer aufgezehrt?</a:t>
            </a:r>
          </a:p>
        </p:txBody>
      </p:sp>
      <p:sp>
        <p:nvSpPr>
          <p:cNvPr id="32" name="Rectangle 21">
            <a:extLst>
              <a:ext uri="{FF2B5EF4-FFF2-40B4-BE49-F238E27FC236}">
                <a16:creationId xmlns:a16="http://schemas.microsoft.com/office/drawing/2014/main" id="{FDA63D6B-DA69-9066-E815-73CB7525E9CA}"/>
              </a:ext>
            </a:extLst>
          </p:cNvPr>
          <p:cNvSpPr>
            <a:spLocks noGrp="1"/>
          </p:cNvSpPr>
          <p:nvPr/>
        </p:nvSpPr>
        <p:spPr>
          <a:xfrm>
            <a:off x="438150" y="6143625"/>
            <a:ext cx="9810750" cy="152400"/>
          </a:xfrm>
          <a:prstGeom prst="rect">
            <a:avLst/>
          </a:prstGeom>
        </p:spPr>
        <p:txBody>
          <a:bodyPr lIns="0" tIns="0" rIns="0" bIns="0" anchor="ctr"/>
          <a:lstStyle/>
          <a:p>
            <a:pPr algn="l">
              <a:buNone/>
              <a:defRPr sz="750" b="0">
                <a:solidFill>
                  <a:srgbClr val="8C8780"/>
                </a:solidFill>
                <a:latin typeface="Aptos"/>
                <a:ea typeface="Aptos"/>
                <a:cs typeface="Aptos"/>
              </a:defRPr>
            </a:pPr>
            <a:r>
              <a:t>EU Banking Credit Stress Cockpit ·</a:t>
            </a:r>
            <a:r>
              <a:rPr lang="de-DE"/>
              <a:t> Eigenkapital</a:t>
            </a:r>
            <a:endParaRPr/>
          </a:p>
        </p:txBody>
      </p:sp>
      <p:sp>
        <p:nvSpPr>
          <p:cNvPr id="2" name="CodexSlideNumber">
            <a:extLst>
              <a:ext uri="{FF2B5EF4-FFF2-40B4-BE49-F238E27FC236}">
                <a16:creationId xmlns:a16="http://schemas.microsoft.com/office/drawing/2014/main" id="{2A6BA88F-09D8-B6D7-8906-24B88524E056}"/>
              </a:ext>
            </a:extLst>
          </p:cNvPr>
          <p:cNvSpPr txBox="1"/>
          <p:nvPr/>
        </p:nvSpPr>
        <p:spPr>
          <a:xfrm>
            <a:off x="11226800" y="6553200"/>
            <a:ext cx="736600" cy="123111"/>
          </a:xfrm>
          <a:prstGeom prst="rect">
            <a:avLst/>
          </a:prstGeom>
          <a:noFill/>
        </p:spPr>
        <p:txBody>
          <a:bodyPr vert="horz" lIns="0" tIns="0" rIns="0" bIns="0" rtlCol="0">
            <a:spAutoFit/>
          </a:bodyPr>
          <a:lstStyle/>
          <a:p>
            <a:pPr algn="r"/>
            <a:r>
              <a:rPr lang="en-US" sz="800">
                <a:solidFill>
                  <a:srgbClr val="525252"/>
                </a:solidFill>
                <a:latin typeface="Arial" panose="020B0604020202020204" pitchFamily="34" charset="0"/>
              </a:rPr>
              <a:t>48 / 64</a:t>
            </a:r>
          </a:p>
        </p:txBody>
      </p:sp>
    </p:spTree>
    <p:extLst>
      <p:ext uri="{BB962C8B-B14F-4D97-AF65-F5344CB8AC3E}">
        <p14:creationId xmlns:p14="http://schemas.microsoft.com/office/powerpoint/2010/main" val="114712321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kicker-capital-label">
            <a:extLst>
              <a:ext uri="{FF2B5EF4-FFF2-40B4-BE49-F238E27FC236}">
                <a16:creationId xmlns:a16="http://schemas.microsoft.com/office/drawing/2014/main" id="{AE13FE1F-1131-4CB4-83F1-EA63DD1D8F6F}"/>
              </a:ext>
            </a:extLst>
          </p:cNvPr>
          <p:cNvSpPr>
            <a:spLocks noGrp="1"/>
          </p:cNvSpPr>
          <p:nvPr/>
        </p:nvSpPr>
        <p:spPr>
          <a:xfrm>
            <a:off x="600075" y="438150"/>
            <a:ext cx="2476500" cy="190500"/>
          </a:xfrm>
          <a:prstGeom prst="rect">
            <a:avLst/>
          </a:prstGeom>
        </p:spPr>
        <p:txBody>
          <a:bodyPr lIns="0" tIns="0" rIns="0" bIns="0" anchor="ctr"/>
          <a:lstStyle/>
          <a:p>
            <a:pPr>
              <a:buNone/>
              <a:defRPr sz="975" b="1">
                <a:solidFill>
                  <a:srgbClr val="5B666D"/>
                </a:solidFill>
                <a:latin typeface="Aptos"/>
                <a:ea typeface="Aptos"/>
                <a:cs typeface="Aptos"/>
              </a:defRPr>
            </a:pPr>
            <a:r>
              <a:rPr sz="863" b="1">
                <a:solidFill>
                  <a:schemeClr val="tx2"/>
                </a:solidFill>
                <a:latin typeface="Aptos"/>
                <a:ea typeface="Aptos"/>
                <a:cs typeface="Aptos"/>
              </a:rPr>
              <a:t>EIGENKAPITAL · VORSTANDS-USE-CASE</a:t>
            </a:r>
          </a:p>
        </p:txBody>
      </p:sp>
      <p:sp>
        <p:nvSpPr>
          <p:cNvPr id="4" name="Rectangle 3">
            <a:extLst>
              <a:ext uri="{FF2B5EF4-FFF2-40B4-BE49-F238E27FC236}">
                <a16:creationId xmlns:a16="http://schemas.microsoft.com/office/drawing/2014/main" id="{AAD55B66-96F0-40BE-B407-D83485DCB7F6}"/>
              </a:ext>
            </a:extLst>
          </p:cNvPr>
          <p:cNvSpPr>
            <a:spLocks noGrp="1"/>
          </p:cNvSpPr>
          <p:nvPr/>
        </p:nvSpPr>
        <p:spPr>
          <a:xfrm>
            <a:off x="438150" y="695325"/>
            <a:ext cx="11315700" cy="647700"/>
          </a:xfrm>
          <a:prstGeom prst="rect">
            <a:avLst/>
          </a:prstGeom>
        </p:spPr>
        <p:txBody>
          <a:bodyPr lIns="0" tIns="0" rIns="0" bIns="0" anchor="t"/>
          <a:lstStyle/>
          <a:p>
            <a:pPr>
              <a:buNone/>
              <a:defRPr sz="2475" b="1" i="0">
                <a:solidFill>
                  <a:srgbClr val="051C2C"/>
                </a:solidFill>
                <a:latin typeface="Aptos Display"/>
                <a:ea typeface="Aptos Display"/>
                <a:cs typeface="Aptos Display"/>
              </a:defRPr>
            </a:pPr>
            <a:r>
              <a:rPr sz="2475" b="1">
                <a:solidFill>
                  <a:srgbClr val="051C2C"/>
                </a:solidFill>
                <a:latin typeface="Aptos Display"/>
                <a:ea typeface="Aptos Display"/>
                <a:cs typeface="Aptos Display"/>
              </a:rPr>
              <a:t>Vorstandsszenario: Kapital schützen oder Geschäftsplan fortsetzen?</a:t>
            </a:r>
          </a:p>
        </p:txBody>
      </p:sp>
      <p:sp>
        <p:nvSpPr>
          <p:cNvPr id="5" name="Rectangle 4">
            <a:extLst>
              <a:ext uri="{FF2B5EF4-FFF2-40B4-BE49-F238E27FC236}">
                <a16:creationId xmlns:a16="http://schemas.microsoft.com/office/drawing/2014/main" id="{459D872A-72FC-448D-87F6-AF578409C11F}"/>
              </a:ext>
            </a:extLst>
          </p:cNvPr>
          <p:cNvSpPr>
            <a:spLocks noGrp="1"/>
          </p:cNvSpPr>
          <p:nvPr/>
        </p:nvSpPr>
        <p:spPr>
          <a:xfrm>
            <a:off x="438150" y="1109040"/>
            <a:ext cx="11315700" cy="209550"/>
          </a:xfrm>
          <a:prstGeom prst="rect">
            <a:avLst/>
          </a:prstGeom>
        </p:spPr>
        <p:txBody>
          <a:bodyPr lIns="0" tIns="0" rIns="0" bIns="0" anchor="t"/>
          <a:lstStyle/>
          <a:p>
            <a:pPr algn="l">
              <a:buNone/>
              <a:defRPr sz="1200" b="0">
                <a:solidFill>
                  <a:srgbClr val="5B666D"/>
                </a:solidFill>
                <a:latin typeface="Aptos"/>
                <a:ea typeface="Aptos"/>
                <a:cs typeface="Aptos"/>
              </a:defRPr>
            </a:pPr>
            <a:r>
              <a:rPr sz="1130"/>
              <a:t>Die Deutsche Bank wird einem kombinierten Ölpreis- und Zinsschock ausgesetzt.</a:t>
            </a:r>
          </a:p>
        </p:txBody>
      </p:sp>
      <p:sp>
        <p:nvSpPr>
          <p:cNvPr id="6" name="Rectangle 5">
            <a:extLst>
              <a:ext uri="{FF2B5EF4-FFF2-40B4-BE49-F238E27FC236}">
                <a16:creationId xmlns:a16="http://schemas.microsoft.com/office/drawing/2014/main" id="{216DBA01-7314-4B63-B74D-8B972166ABCC}"/>
              </a:ext>
            </a:extLst>
          </p:cNvPr>
          <p:cNvSpPr>
            <a:spLocks noGrp="1"/>
          </p:cNvSpPr>
          <p:nvPr/>
        </p:nvSpPr>
        <p:spPr>
          <a:xfrm>
            <a:off x="1066800" y="2238375"/>
            <a:ext cx="3190875" cy="2190750"/>
          </a:xfrm>
          <a:prstGeom prst="rect">
            <a:avLst/>
          </a:prstGeom>
          <a:solidFill>
            <a:srgbClr val="DCEAF0"/>
          </a:solidFill>
        </p:spPr>
        <p:txBody>
          <a:bodyPr/>
          <a:lstStyle/>
          <a:p>
            <a:endParaRPr/>
          </a:p>
        </p:txBody>
      </p:sp>
      <p:sp>
        <p:nvSpPr>
          <p:cNvPr id="7" name="Rectangle 6">
            <a:extLst>
              <a:ext uri="{FF2B5EF4-FFF2-40B4-BE49-F238E27FC236}">
                <a16:creationId xmlns:a16="http://schemas.microsoft.com/office/drawing/2014/main" id="{69E660B6-5DFD-444C-A843-D5AD4F10A7D5}"/>
              </a:ext>
            </a:extLst>
          </p:cNvPr>
          <p:cNvSpPr>
            <a:spLocks noGrp="1"/>
          </p:cNvSpPr>
          <p:nvPr/>
        </p:nvSpPr>
        <p:spPr>
          <a:xfrm>
            <a:off x="1219200" y="2409825"/>
            <a:ext cx="2886075" cy="266700"/>
          </a:xfrm>
          <a:prstGeom prst="rect">
            <a:avLst/>
          </a:prstGeom>
        </p:spPr>
        <p:txBody>
          <a:bodyPr lIns="0" tIns="0" rIns="0" bIns="0" anchor="t"/>
          <a:lstStyle/>
          <a:p>
            <a:pPr algn="ctr">
              <a:buNone/>
              <a:defRPr sz="1425" b="1">
                <a:solidFill>
                  <a:srgbClr val="071C2C"/>
                </a:solidFill>
                <a:latin typeface="Aptos"/>
                <a:ea typeface="Aptos"/>
                <a:cs typeface="Aptos"/>
              </a:defRPr>
            </a:pPr>
            <a:r>
              <a:rPr sz="1425" b="1">
                <a:solidFill>
                  <a:srgbClr val="071C2C"/>
                </a:solidFill>
                <a:latin typeface="Aptos"/>
                <a:ea typeface="Aptos"/>
                <a:cs typeface="Aptos"/>
              </a:rPr>
              <a:t>1 · AUSGANGSLAGE</a:t>
            </a:r>
          </a:p>
        </p:txBody>
      </p:sp>
      <p:sp>
        <p:nvSpPr>
          <p:cNvPr id="8" name="Rectangle 7">
            <a:extLst>
              <a:ext uri="{FF2B5EF4-FFF2-40B4-BE49-F238E27FC236}">
                <a16:creationId xmlns:a16="http://schemas.microsoft.com/office/drawing/2014/main" id="{239E6B5C-AC49-45D2-ABF9-F61C17CCFA9D}"/>
              </a:ext>
            </a:extLst>
          </p:cNvPr>
          <p:cNvSpPr>
            <a:spLocks noGrp="1"/>
          </p:cNvSpPr>
          <p:nvPr/>
        </p:nvSpPr>
        <p:spPr>
          <a:xfrm>
            <a:off x="1276350" y="2819400"/>
            <a:ext cx="2771775" cy="1409700"/>
          </a:xfrm>
          <a:prstGeom prst="rect">
            <a:avLst/>
          </a:prstGeom>
        </p:spPr>
        <p:txBody>
          <a:bodyPr lIns="0" tIns="0" rIns="0" bIns="0" anchor="t"/>
          <a:lstStyle/>
          <a:p>
            <a:pPr algn="l">
              <a:buNone/>
              <a:defRPr sz="1050" b="0">
                <a:solidFill>
                  <a:srgbClr val="5B666D"/>
                </a:solidFill>
                <a:latin typeface="Aptos"/>
                <a:ea typeface="Aptos"/>
                <a:cs typeface="Aptos"/>
              </a:defRPr>
            </a:pPr>
            <a:r>
              <a:t>• CET1-Kapital vor Stress: 48,52 Mrd. €
• RWA vor Stress: 341 Mrd. €
• Ausgangsquote: 14,24 % mit zunächst deutlichem Puffer</a:t>
            </a:r>
          </a:p>
        </p:txBody>
      </p:sp>
      <p:sp>
        <p:nvSpPr>
          <p:cNvPr id="9" name="Rectangle 8">
            <a:extLst>
              <a:ext uri="{FF2B5EF4-FFF2-40B4-BE49-F238E27FC236}">
                <a16:creationId xmlns:a16="http://schemas.microsoft.com/office/drawing/2014/main" id="{90E043B9-6F97-46B0-B119-D9AC69B0FEEC}"/>
              </a:ext>
            </a:extLst>
          </p:cNvPr>
          <p:cNvSpPr>
            <a:spLocks noGrp="1"/>
          </p:cNvSpPr>
          <p:nvPr/>
        </p:nvSpPr>
        <p:spPr>
          <a:xfrm>
            <a:off x="4467225" y="2238375"/>
            <a:ext cx="3190875" cy="2190750"/>
          </a:xfrm>
          <a:prstGeom prst="rect">
            <a:avLst/>
          </a:prstGeom>
          <a:solidFill>
            <a:srgbClr val="F2DEE2"/>
          </a:solidFill>
        </p:spPr>
        <p:txBody>
          <a:bodyPr/>
          <a:lstStyle/>
          <a:p>
            <a:endParaRPr/>
          </a:p>
        </p:txBody>
      </p:sp>
      <p:sp>
        <p:nvSpPr>
          <p:cNvPr id="10" name="Rectangle 9">
            <a:extLst>
              <a:ext uri="{FF2B5EF4-FFF2-40B4-BE49-F238E27FC236}">
                <a16:creationId xmlns:a16="http://schemas.microsoft.com/office/drawing/2014/main" id="{E3C400EC-66BC-4A53-85A7-C22527D3DD0F}"/>
              </a:ext>
            </a:extLst>
          </p:cNvPr>
          <p:cNvSpPr>
            <a:spLocks noGrp="1"/>
          </p:cNvSpPr>
          <p:nvPr/>
        </p:nvSpPr>
        <p:spPr>
          <a:xfrm>
            <a:off x="4619625" y="2409825"/>
            <a:ext cx="2886075" cy="266700"/>
          </a:xfrm>
          <a:prstGeom prst="rect">
            <a:avLst/>
          </a:prstGeom>
        </p:spPr>
        <p:txBody>
          <a:bodyPr lIns="0" tIns="0" rIns="0" bIns="0" anchor="t"/>
          <a:lstStyle/>
          <a:p>
            <a:pPr algn="ctr">
              <a:buNone/>
              <a:defRPr sz="1425" b="1">
                <a:solidFill>
                  <a:srgbClr val="071C2C"/>
                </a:solidFill>
                <a:latin typeface="Aptos"/>
                <a:ea typeface="Aptos"/>
                <a:cs typeface="Aptos"/>
              </a:defRPr>
            </a:pPr>
            <a:r>
              <a:t>2 · STRESSSZENARIO</a:t>
            </a:r>
          </a:p>
        </p:txBody>
      </p:sp>
      <p:sp>
        <p:nvSpPr>
          <p:cNvPr id="11" name="Rectangle 10">
            <a:extLst>
              <a:ext uri="{FF2B5EF4-FFF2-40B4-BE49-F238E27FC236}">
                <a16:creationId xmlns:a16="http://schemas.microsoft.com/office/drawing/2014/main" id="{0D1E9E44-AF6A-4906-A8AF-58717558C49A}"/>
              </a:ext>
            </a:extLst>
          </p:cNvPr>
          <p:cNvSpPr>
            <a:spLocks noGrp="1"/>
          </p:cNvSpPr>
          <p:nvPr/>
        </p:nvSpPr>
        <p:spPr>
          <a:xfrm>
            <a:off x="4676775" y="2819400"/>
            <a:ext cx="2771775" cy="1409700"/>
          </a:xfrm>
          <a:prstGeom prst="rect">
            <a:avLst/>
          </a:prstGeom>
        </p:spPr>
        <p:txBody>
          <a:bodyPr lIns="0" tIns="0" rIns="0" bIns="0" anchor="t"/>
          <a:lstStyle/>
          <a:p>
            <a:pPr algn="l">
              <a:buNone/>
              <a:defRPr sz="1050" b="0">
                <a:solidFill>
                  <a:srgbClr val="5B666D"/>
                </a:solidFill>
                <a:latin typeface="Aptos"/>
                <a:ea typeface="Aptos"/>
                <a:cs typeface="Aptos"/>
              </a:defRPr>
            </a:pPr>
            <a:r>
              <a:t>• Brent-Ölpreis steigt um 65 %
• 10-Jahres-Zins steigt um 200 Basispunkte
• Das Modell berechnet EL, Sovereign-MtM, RWA und CET1 neu</a:t>
            </a:r>
          </a:p>
        </p:txBody>
      </p:sp>
      <p:sp>
        <p:nvSpPr>
          <p:cNvPr id="12" name="Rectangle 11">
            <a:extLst>
              <a:ext uri="{FF2B5EF4-FFF2-40B4-BE49-F238E27FC236}">
                <a16:creationId xmlns:a16="http://schemas.microsoft.com/office/drawing/2014/main" id="{07CEA9A8-A746-4BE2-9F7D-F79AD3610108}"/>
              </a:ext>
            </a:extLst>
          </p:cNvPr>
          <p:cNvSpPr>
            <a:spLocks noGrp="1"/>
          </p:cNvSpPr>
          <p:nvPr/>
        </p:nvSpPr>
        <p:spPr>
          <a:xfrm>
            <a:off x="7867650" y="2238375"/>
            <a:ext cx="3190875" cy="2190750"/>
          </a:xfrm>
          <a:prstGeom prst="rect">
            <a:avLst/>
          </a:prstGeom>
          <a:solidFill>
            <a:srgbClr val="F3E7C8"/>
          </a:solidFill>
        </p:spPr>
        <p:txBody>
          <a:bodyPr/>
          <a:lstStyle/>
          <a:p>
            <a:endParaRPr/>
          </a:p>
        </p:txBody>
      </p:sp>
      <p:sp>
        <p:nvSpPr>
          <p:cNvPr id="13" name="Rectangle 12">
            <a:extLst>
              <a:ext uri="{FF2B5EF4-FFF2-40B4-BE49-F238E27FC236}">
                <a16:creationId xmlns:a16="http://schemas.microsoft.com/office/drawing/2014/main" id="{77FB6890-C2EA-4638-A047-FC36C555FEB9}"/>
              </a:ext>
            </a:extLst>
          </p:cNvPr>
          <p:cNvSpPr>
            <a:spLocks noGrp="1"/>
          </p:cNvSpPr>
          <p:nvPr/>
        </p:nvSpPr>
        <p:spPr>
          <a:xfrm>
            <a:off x="8020050" y="2409825"/>
            <a:ext cx="2886075" cy="266700"/>
          </a:xfrm>
          <a:prstGeom prst="rect">
            <a:avLst/>
          </a:prstGeom>
        </p:spPr>
        <p:txBody>
          <a:bodyPr lIns="0" tIns="0" rIns="0" bIns="0" anchor="t"/>
          <a:lstStyle/>
          <a:p>
            <a:pPr algn="ctr">
              <a:buNone/>
              <a:defRPr sz="1425" b="1">
                <a:solidFill>
                  <a:srgbClr val="071C2C"/>
                </a:solidFill>
                <a:latin typeface="Aptos"/>
                <a:ea typeface="Aptos"/>
                <a:cs typeface="Aptos"/>
              </a:defRPr>
            </a:pPr>
            <a:r>
              <a:t>3 · VORSTANDSFRAGE</a:t>
            </a:r>
          </a:p>
        </p:txBody>
      </p:sp>
      <p:sp>
        <p:nvSpPr>
          <p:cNvPr id="14" name="Rectangle 13">
            <a:extLst>
              <a:ext uri="{FF2B5EF4-FFF2-40B4-BE49-F238E27FC236}">
                <a16:creationId xmlns:a16="http://schemas.microsoft.com/office/drawing/2014/main" id="{2F5CAF14-EFF0-4F89-B34A-20DC1BB9F414}"/>
              </a:ext>
            </a:extLst>
          </p:cNvPr>
          <p:cNvSpPr>
            <a:spLocks noGrp="1"/>
          </p:cNvSpPr>
          <p:nvPr/>
        </p:nvSpPr>
        <p:spPr>
          <a:xfrm>
            <a:off x="8077200" y="2819400"/>
            <a:ext cx="2771775" cy="1409700"/>
          </a:xfrm>
          <a:prstGeom prst="rect">
            <a:avLst/>
          </a:prstGeom>
        </p:spPr>
        <p:txBody>
          <a:bodyPr lIns="0" tIns="0" rIns="0" bIns="0" anchor="t"/>
          <a:lstStyle/>
          <a:p>
            <a:pPr algn="l">
              <a:buNone/>
              <a:defRPr sz="1050" b="0">
                <a:solidFill>
                  <a:srgbClr val="5B666D"/>
                </a:solidFill>
                <a:latin typeface="Aptos"/>
                <a:ea typeface="Aptos"/>
                <a:cs typeface="Aptos"/>
              </a:defRPr>
            </a:pPr>
            <a:r>
              <a:t>• Ausschüttungen und Rückkäufe fortsetzen?
• RWA-intensives Kreditwachstum weiterführen?
• Oder Kapital schützen und Risiken sofort reduzieren?</a:t>
            </a:r>
          </a:p>
        </p:txBody>
      </p:sp>
      <p:sp>
        <p:nvSpPr>
          <p:cNvPr id="15" name="Rectangle 21">
            <a:extLst>
              <a:ext uri="{FF2B5EF4-FFF2-40B4-BE49-F238E27FC236}">
                <a16:creationId xmlns:a16="http://schemas.microsoft.com/office/drawing/2014/main" id="{3826E76E-6947-069D-1183-A8B5607CC9E1}"/>
              </a:ext>
            </a:extLst>
          </p:cNvPr>
          <p:cNvSpPr>
            <a:spLocks noGrp="1"/>
          </p:cNvSpPr>
          <p:nvPr/>
        </p:nvSpPr>
        <p:spPr>
          <a:xfrm>
            <a:off x="438150" y="6143625"/>
            <a:ext cx="9810750" cy="152400"/>
          </a:xfrm>
          <a:prstGeom prst="rect">
            <a:avLst/>
          </a:prstGeom>
        </p:spPr>
        <p:txBody>
          <a:bodyPr lIns="0" tIns="0" rIns="0" bIns="0" anchor="ctr"/>
          <a:lstStyle/>
          <a:p>
            <a:pPr algn="l">
              <a:buNone/>
              <a:defRPr sz="750" b="0">
                <a:solidFill>
                  <a:srgbClr val="8C8780"/>
                </a:solidFill>
                <a:latin typeface="Aptos"/>
                <a:ea typeface="Aptos"/>
                <a:cs typeface="Aptos"/>
              </a:defRPr>
            </a:pPr>
            <a:r>
              <a:t>EU Banking Credit Stress Cockpit ·</a:t>
            </a:r>
            <a:r>
              <a:rPr lang="de-DE"/>
              <a:t> Eigenkapital</a:t>
            </a:r>
            <a:endParaRPr/>
          </a:p>
        </p:txBody>
      </p:sp>
      <p:sp>
        <p:nvSpPr>
          <p:cNvPr id="2" name="CodexSlideNumber">
            <a:extLst>
              <a:ext uri="{FF2B5EF4-FFF2-40B4-BE49-F238E27FC236}">
                <a16:creationId xmlns:a16="http://schemas.microsoft.com/office/drawing/2014/main" id="{BA2A5703-1172-8C14-D3A2-D94DF7E20136}"/>
              </a:ext>
            </a:extLst>
          </p:cNvPr>
          <p:cNvSpPr txBox="1"/>
          <p:nvPr/>
        </p:nvSpPr>
        <p:spPr>
          <a:xfrm>
            <a:off x="11226800" y="6553200"/>
            <a:ext cx="736600" cy="123111"/>
          </a:xfrm>
          <a:prstGeom prst="rect">
            <a:avLst/>
          </a:prstGeom>
          <a:noFill/>
        </p:spPr>
        <p:txBody>
          <a:bodyPr vert="horz" lIns="0" tIns="0" rIns="0" bIns="0" rtlCol="0">
            <a:spAutoFit/>
          </a:bodyPr>
          <a:lstStyle/>
          <a:p>
            <a:pPr algn="r"/>
            <a:r>
              <a:rPr lang="en-US" sz="800">
                <a:solidFill>
                  <a:srgbClr val="525252"/>
                </a:solidFill>
                <a:latin typeface="Arial" panose="020B0604020202020204" pitchFamily="34" charset="0"/>
              </a:rPr>
              <a:t>49 / 64</a:t>
            </a:r>
          </a:p>
        </p:txBody>
      </p:sp>
    </p:spTree>
    <p:extLst>
      <p:ext uri="{BB962C8B-B14F-4D97-AF65-F5344CB8AC3E}">
        <p14:creationId xmlns:p14="http://schemas.microsoft.com/office/powerpoint/2010/main" val="195114875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kicker-capital-label">
            <a:extLst>
              <a:ext uri="{FF2B5EF4-FFF2-40B4-BE49-F238E27FC236}">
                <a16:creationId xmlns:a16="http://schemas.microsoft.com/office/drawing/2014/main" id="{AE13FE1F-1131-4CB4-83F1-EA63DD1D8F6F}"/>
              </a:ext>
            </a:extLst>
          </p:cNvPr>
          <p:cNvSpPr>
            <a:spLocks noGrp="1"/>
          </p:cNvSpPr>
          <p:nvPr/>
        </p:nvSpPr>
        <p:spPr>
          <a:xfrm>
            <a:off x="600075" y="438150"/>
            <a:ext cx="2476500" cy="190500"/>
          </a:xfrm>
          <a:prstGeom prst="rect">
            <a:avLst/>
          </a:prstGeom>
        </p:spPr>
        <p:txBody>
          <a:bodyPr lIns="0" tIns="0" rIns="0" bIns="0" anchor="ctr"/>
          <a:lstStyle/>
          <a:p>
            <a:pPr>
              <a:defRPr sz="975" b="1">
                <a:solidFill>
                  <a:srgbClr val="5B666D"/>
                </a:solidFill>
                <a:latin typeface="Aptos"/>
                <a:ea typeface="Aptos"/>
                <a:cs typeface="Aptos"/>
              </a:defRPr>
            </a:pPr>
            <a:r>
              <a:rPr lang="en-GB" sz="863" b="1">
                <a:solidFill>
                  <a:schemeClr val="tx2"/>
                </a:solidFill>
                <a:latin typeface="Aptos"/>
              </a:rPr>
              <a:t>EIGENKAPITAL · VORSTANDS-USE-CASE</a:t>
            </a:r>
          </a:p>
        </p:txBody>
      </p:sp>
      <p:sp>
        <p:nvSpPr>
          <p:cNvPr id="4" name="Rectangle 3">
            <a:extLst>
              <a:ext uri="{FF2B5EF4-FFF2-40B4-BE49-F238E27FC236}">
                <a16:creationId xmlns:a16="http://schemas.microsoft.com/office/drawing/2014/main" id="{AAD55B66-96F0-40BE-B407-D83485DCB7F6}"/>
              </a:ext>
            </a:extLst>
          </p:cNvPr>
          <p:cNvSpPr>
            <a:spLocks noGrp="1"/>
          </p:cNvSpPr>
          <p:nvPr/>
        </p:nvSpPr>
        <p:spPr>
          <a:xfrm>
            <a:off x="438150" y="695325"/>
            <a:ext cx="11315700" cy="647700"/>
          </a:xfrm>
          <a:prstGeom prst="rect">
            <a:avLst/>
          </a:prstGeom>
        </p:spPr>
        <p:txBody>
          <a:bodyPr lIns="0" tIns="0" rIns="0" bIns="0" anchor="t"/>
          <a:lstStyle/>
          <a:p>
            <a:pPr>
              <a:buNone/>
              <a:defRPr sz="2475" b="1" i="0">
                <a:solidFill>
                  <a:srgbClr val="051C2C"/>
                </a:solidFill>
                <a:latin typeface="Aptos Display"/>
                <a:ea typeface="Aptos Display"/>
                <a:cs typeface="Aptos Display"/>
              </a:defRPr>
            </a:pPr>
            <a:r>
              <a:rPr lang="en-US" sz="2475" b="1">
                <a:solidFill>
                  <a:srgbClr val="051C2C"/>
                </a:solidFill>
                <a:latin typeface="Aptos Display"/>
              </a:rPr>
              <a:t>Der 2-Faktor-Schock </a:t>
            </a:r>
            <a:r>
              <a:rPr lang="en-US" sz="2475" b="1" err="1">
                <a:solidFill>
                  <a:srgbClr val="051C2C"/>
                </a:solidFill>
                <a:latin typeface="Aptos Display"/>
              </a:rPr>
              <a:t>senkt</a:t>
            </a:r>
            <a:r>
              <a:rPr lang="en-US" sz="2475" b="1">
                <a:solidFill>
                  <a:srgbClr val="051C2C"/>
                </a:solidFill>
                <a:latin typeface="Aptos Display"/>
              </a:rPr>
              <a:t> die </a:t>
            </a:r>
            <a:r>
              <a:rPr lang="en-US" sz="2475" b="1" err="1">
                <a:solidFill>
                  <a:srgbClr val="051C2C"/>
                </a:solidFill>
                <a:latin typeface="Aptos Display"/>
              </a:rPr>
              <a:t>Systemquote</a:t>
            </a:r>
            <a:r>
              <a:rPr lang="en-US" sz="2475" b="1">
                <a:solidFill>
                  <a:srgbClr val="051C2C"/>
                </a:solidFill>
                <a:latin typeface="Aptos Display"/>
              </a:rPr>
              <a:t> um 4,15 </a:t>
            </a:r>
            <a:r>
              <a:rPr lang="en-US" sz="2475" b="1" err="1">
                <a:solidFill>
                  <a:srgbClr val="051C2C"/>
                </a:solidFill>
                <a:latin typeface="Aptos Display"/>
              </a:rPr>
              <a:t>Prozentpunkte</a:t>
            </a:r>
            <a:r>
              <a:rPr lang="en-US" sz="2475" b="1">
                <a:solidFill>
                  <a:srgbClr val="051C2C"/>
                </a:solidFill>
                <a:latin typeface="Aptos Display"/>
              </a:rPr>
              <a:t>.</a:t>
            </a:r>
          </a:p>
        </p:txBody>
      </p:sp>
      <p:sp>
        <p:nvSpPr>
          <p:cNvPr id="5" name="Rectangle 4">
            <a:extLst>
              <a:ext uri="{FF2B5EF4-FFF2-40B4-BE49-F238E27FC236}">
                <a16:creationId xmlns:a16="http://schemas.microsoft.com/office/drawing/2014/main" id="{459D872A-72FC-448D-87F6-AF578409C11F}"/>
              </a:ext>
            </a:extLst>
          </p:cNvPr>
          <p:cNvSpPr>
            <a:spLocks noGrp="1"/>
          </p:cNvSpPr>
          <p:nvPr/>
        </p:nvSpPr>
        <p:spPr>
          <a:xfrm>
            <a:off x="438150" y="1128090"/>
            <a:ext cx="11315700" cy="209550"/>
          </a:xfrm>
          <a:prstGeom prst="rect">
            <a:avLst/>
          </a:prstGeom>
        </p:spPr>
        <p:txBody>
          <a:bodyPr lIns="0" tIns="0" rIns="0" bIns="0" anchor="t"/>
          <a:lstStyle/>
          <a:p>
            <a:pPr algn="l">
              <a:buNone/>
              <a:defRPr sz="1200" b="0">
                <a:solidFill>
                  <a:srgbClr val="5B666D"/>
                </a:solidFill>
                <a:latin typeface="Aptos"/>
                <a:ea typeface="Aptos"/>
                <a:cs typeface="Aptos"/>
              </a:defRPr>
            </a:pPr>
            <a:r>
              <a:rPr lang="en-US" sz="1130" err="1"/>
              <a:t>Aggregat</a:t>
            </a:r>
            <a:r>
              <a:rPr lang="en-US" sz="1130"/>
              <a:t> </a:t>
            </a:r>
            <a:r>
              <a:rPr lang="en-US" sz="1130" err="1"/>
              <a:t>über</a:t>
            </a:r>
            <a:r>
              <a:rPr lang="en-US" sz="1130"/>
              <a:t> </a:t>
            </a:r>
            <a:r>
              <a:rPr lang="en-US" sz="1130" err="1"/>
              <a:t>zehn</a:t>
            </a:r>
            <a:r>
              <a:rPr lang="en-US" sz="1130"/>
              <a:t> Banken: 15,17 % </a:t>
            </a:r>
            <a:r>
              <a:rPr lang="en-US" sz="1130" err="1"/>
              <a:t>vor</a:t>
            </a:r>
            <a:r>
              <a:rPr lang="en-US" sz="1130"/>
              <a:t> Stress und 11,02 % </a:t>
            </a:r>
            <a:r>
              <a:rPr lang="en-US" sz="1130" err="1"/>
              <a:t>danach</a:t>
            </a:r>
            <a:r>
              <a:rPr lang="en-US" sz="1130"/>
              <a:t>.</a:t>
            </a:r>
          </a:p>
        </p:txBody>
      </p:sp>
      <p:pic>
        <p:nvPicPr>
          <p:cNvPr id="48" name="Grafik 46"/>
          <p:cNvPicPr>
            <a:picLocks noChangeAspect="1"/>
          </p:cNvPicPr>
          <p:nvPr/>
        </p:nvPicPr>
        <p:blipFill>
          <a:blip r:embed="rId3"/>
          <a:srcRect l="-72" t="16313" r="-90" b="8672"/>
          <a:stretch>
            <a:fillRect/>
          </a:stretch>
        </p:blipFill>
        <p:spPr>
          <a:xfrm>
            <a:off x="438150" y="1752601"/>
            <a:ext cx="7181850" cy="2952682"/>
          </a:xfrm>
          <a:prstGeom prst="roundRect">
            <a:avLst>
              <a:gd name="adj" fmla="val 2182"/>
            </a:avLst>
          </a:prstGeom>
        </p:spPr>
      </p:pic>
      <p:sp>
        <p:nvSpPr>
          <p:cNvPr id="22" name="Rechteck: abgerundete Ecken 21">
            <a:extLst>
              <a:ext uri="{FF2B5EF4-FFF2-40B4-BE49-F238E27FC236}">
                <a16:creationId xmlns:a16="http://schemas.microsoft.com/office/drawing/2014/main" id="{8E548A22-7492-4DF7-861B-EF939E18776B}"/>
              </a:ext>
            </a:extLst>
          </p:cNvPr>
          <p:cNvSpPr>
            <a:spLocks noGrp="1"/>
          </p:cNvSpPr>
          <p:nvPr/>
        </p:nvSpPr>
        <p:spPr>
          <a:xfrm>
            <a:off x="8210550" y="1752600"/>
            <a:ext cx="3143250" cy="895350"/>
          </a:xfrm>
          <a:prstGeom prst="roundRect">
            <a:avLst>
              <a:gd name="adj" fmla="val 8511"/>
            </a:avLst>
          </a:prstGeom>
          <a:solidFill>
            <a:srgbClr val="FFFFFF"/>
          </a:solidFill>
          <a:ln w="9525">
            <a:solidFill>
              <a:srgbClr val="D9DEE2"/>
            </a:solidFill>
            <a:prstDash val="solid"/>
          </a:ln>
        </p:spPr>
        <p:txBody>
          <a:bodyPr/>
          <a:lstStyle/>
          <a:p>
            <a:endParaRPr/>
          </a:p>
        </p:txBody>
      </p:sp>
      <p:sp>
        <p:nvSpPr>
          <p:cNvPr id="23" name="Rechteck 22">
            <a:extLst>
              <a:ext uri="{FF2B5EF4-FFF2-40B4-BE49-F238E27FC236}">
                <a16:creationId xmlns:a16="http://schemas.microsoft.com/office/drawing/2014/main" id="{ADDD9DE8-1E8E-4ECE-A102-308AA7DB0A49}"/>
              </a:ext>
            </a:extLst>
          </p:cNvPr>
          <p:cNvSpPr>
            <a:spLocks noGrp="1"/>
          </p:cNvSpPr>
          <p:nvPr/>
        </p:nvSpPr>
        <p:spPr>
          <a:xfrm>
            <a:off x="8210550" y="1752600"/>
            <a:ext cx="47625" cy="895350"/>
          </a:xfrm>
          <a:prstGeom prst="rect">
            <a:avLst/>
          </a:prstGeom>
          <a:solidFill>
            <a:srgbClr val="AF3D55"/>
          </a:solidFill>
          <a:ln w="0">
            <a:solidFill>
              <a:srgbClr val="AF3D55"/>
            </a:solidFill>
            <a:prstDash val="solid"/>
          </a:ln>
        </p:spPr>
        <p:txBody>
          <a:bodyPr/>
          <a:lstStyle/>
          <a:p>
            <a:endParaRPr/>
          </a:p>
        </p:txBody>
      </p:sp>
      <p:sp>
        <p:nvSpPr>
          <p:cNvPr id="24" name="Rechteck 23">
            <a:extLst>
              <a:ext uri="{FF2B5EF4-FFF2-40B4-BE49-F238E27FC236}">
                <a16:creationId xmlns:a16="http://schemas.microsoft.com/office/drawing/2014/main" id="{CFFF43B6-DF99-41DD-BFAE-BF4A11156791}"/>
              </a:ext>
            </a:extLst>
          </p:cNvPr>
          <p:cNvSpPr>
            <a:spLocks noGrp="1"/>
          </p:cNvSpPr>
          <p:nvPr/>
        </p:nvSpPr>
        <p:spPr>
          <a:xfrm>
            <a:off x="8382000" y="1847850"/>
            <a:ext cx="2800350" cy="180975"/>
          </a:xfrm>
          <a:prstGeom prst="rect">
            <a:avLst/>
          </a:prstGeom>
          <a:noFill/>
          <a:ln w="0">
            <a:noFill/>
            <a:prstDash val="solid"/>
          </a:ln>
        </p:spPr>
        <p:txBody>
          <a:bodyPr anchor="ctr"/>
          <a:lstStyle/>
          <a:p>
            <a:pPr algn="l">
              <a:buNone/>
              <a:defRPr sz="900" b="1">
                <a:solidFill>
                  <a:srgbClr val="5B666D"/>
                </a:solidFill>
                <a:latin typeface="Aptos"/>
                <a:ea typeface="Aptos"/>
                <a:cs typeface="Aptos"/>
              </a:defRPr>
            </a:pPr>
            <a:r>
              <a:rPr sz="900" b="1">
                <a:solidFill>
                  <a:srgbClr val="5B666D"/>
                </a:solidFill>
                <a:latin typeface="Aptos"/>
                <a:ea typeface="Aptos"/>
                <a:cs typeface="Aptos"/>
              </a:rPr>
              <a:t>SYSTEMQUOTE</a:t>
            </a:r>
          </a:p>
        </p:txBody>
      </p:sp>
      <p:sp>
        <p:nvSpPr>
          <p:cNvPr id="25" name="Rechteck 24">
            <a:extLst>
              <a:ext uri="{FF2B5EF4-FFF2-40B4-BE49-F238E27FC236}">
                <a16:creationId xmlns:a16="http://schemas.microsoft.com/office/drawing/2014/main" id="{821801DC-1AA6-49B7-9903-476975B9D3EE}"/>
              </a:ext>
            </a:extLst>
          </p:cNvPr>
          <p:cNvSpPr>
            <a:spLocks noGrp="1"/>
          </p:cNvSpPr>
          <p:nvPr/>
        </p:nvSpPr>
        <p:spPr>
          <a:xfrm>
            <a:off x="8382000" y="2047875"/>
            <a:ext cx="2800350" cy="295275"/>
          </a:xfrm>
          <a:prstGeom prst="rect">
            <a:avLst/>
          </a:prstGeom>
          <a:noFill/>
          <a:ln w="0">
            <a:noFill/>
            <a:prstDash val="solid"/>
          </a:ln>
        </p:spPr>
        <p:txBody>
          <a:bodyPr anchor="ctr"/>
          <a:lstStyle/>
          <a:p>
            <a:pPr algn="l">
              <a:buNone/>
              <a:defRPr sz="1875" b="1">
                <a:solidFill>
                  <a:srgbClr val="071C2C"/>
                </a:solidFill>
                <a:latin typeface="Aptos"/>
                <a:ea typeface="Aptos"/>
                <a:cs typeface="Aptos"/>
              </a:defRPr>
            </a:pPr>
            <a:r>
              <a:rPr sz="1875" b="1">
                <a:solidFill>
                  <a:srgbClr val="071C2C"/>
                </a:solidFill>
                <a:latin typeface="Aptos"/>
                <a:ea typeface="Aptos"/>
                <a:cs typeface="Aptos"/>
              </a:rPr>
              <a:t>15,17 → 11,02 %</a:t>
            </a:r>
          </a:p>
        </p:txBody>
      </p:sp>
      <p:sp>
        <p:nvSpPr>
          <p:cNvPr id="26" name="Rechteck 25">
            <a:extLst>
              <a:ext uri="{FF2B5EF4-FFF2-40B4-BE49-F238E27FC236}">
                <a16:creationId xmlns:a16="http://schemas.microsoft.com/office/drawing/2014/main" id="{FF5CB26D-8690-48E2-A38F-99954559A72E}"/>
              </a:ext>
            </a:extLst>
          </p:cNvPr>
          <p:cNvSpPr>
            <a:spLocks noGrp="1"/>
          </p:cNvSpPr>
          <p:nvPr/>
        </p:nvSpPr>
        <p:spPr>
          <a:xfrm>
            <a:off x="8382000" y="2371725"/>
            <a:ext cx="2800350" cy="171450"/>
          </a:xfrm>
          <a:prstGeom prst="rect">
            <a:avLst/>
          </a:prstGeom>
          <a:noFill/>
          <a:ln w="0">
            <a:noFill/>
            <a:prstDash val="solid"/>
          </a:ln>
        </p:spPr>
        <p:txBody>
          <a:bodyPr anchor="ctr"/>
          <a:lstStyle/>
          <a:p>
            <a:pPr algn="l">
              <a:buNone/>
              <a:defRPr sz="825" b="0">
                <a:solidFill>
                  <a:srgbClr val="5B666D"/>
                </a:solidFill>
                <a:latin typeface="Aptos"/>
                <a:ea typeface="Aptos"/>
                <a:cs typeface="Aptos"/>
              </a:defRPr>
            </a:pPr>
            <a:r>
              <a:rPr sz="825" b="0">
                <a:solidFill>
                  <a:srgbClr val="5B666D"/>
                </a:solidFill>
                <a:latin typeface="Aptos"/>
                <a:ea typeface="Aptos"/>
                <a:cs typeface="Aptos"/>
              </a:rPr>
              <a:t>−4,15 Prozentpunkte</a:t>
            </a:r>
          </a:p>
        </p:txBody>
      </p:sp>
      <p:sp>
        <p:nvSpPr>
          <p:cNvPr id="27" name="Rechteck: abgerundete Ecken 26">
            <a:extLst>
              <a:ext uri="{FF2B5EF4-FFF2-40B4-BE49-F238E27FC236}">
                <a16:creationId xmlns:a16="http://schemas.microsoft.com/office/drawing/2014/main" id="{FB21B9BE-FA27-4C06-9EBD-7126241F05D6}"/>
              </a:ext>
            </a:extLst>
          </p:cNvPr>
          <p:cNvSpPr>
            <a:spLocks noGrp="1"/>
          </p:cNvSpPr>
          <p:nvPr/>
        </p:nvSpPr>
        <p:spPr>
          <a:xfrm>
            <a:off x="8210550" y="2781300"/>
            <a:ext cx="3143250" cy="895350"/>
          </a:xfrm>
          <a:prstGeom prst="roundRect">
            <a:avLst>
              <a:gd name="adj" fmla="val 8511"/>
            </a:avLst>
          </a:prstGeom>
          <a:solidFill>
            <a:srgbClr val="FFFFFF"/>
          </a:solidFill>
          <a:ln w="9525">
            <a:solidFill>
              <a:srgbClr val="D9DEE2"/>
            </a:solidFill>
            <a:prstDash val="solid"/>
          </a:ln>
        </p:spPr>
        <p:txBody>
          <a:bodyPr/>
          <a:lstStyle/>
          <a:p>
            <a:endParaRPr/>
          </a:p>
        </p:txBody>
      </p:sp>
      <p:sp>
        <p:nvSpPr>
          <p:cNvPr id="28" name="Rechteck 27">
            <a:extLst>
              <a:ext uri="{FF2B5EF4-FFF2-40B4-BE49-F238E27FC236}">
                <a16:creationId xmlns:a16="http://schemas.microsoft.com/office/drawing/2014/main" id="{C7180B1A-EC36-4744-94E3-F66ACDCF3EDD}"/>
              </a:ext>
            </a:extLst>
          </p:cNvPr>
          <p:cNvSpPr>
            <a:spLocks noGrp="1"/>
          </p:cNvSpPr>
          <p:nvPr/>
        </p:nvSpPr>
        <p:spPr>
          <a:xfrm>
            <a:off x="8210550" y="2781300"/>
            <a:ext cx="47625" cy="895350"/>
          </a:xfrm>
          <a:prstGeom prst="rect">
            <a:avLst/>
          </a:prstGeom>
          <a:solidFill>
            <a:srgbClr val="168C8C"/>
          </a:solidFill>
          <a:ln w="0">
            <a:solidFill>
              <a:srgbClr val="168C8C"/>
            </a:solidFill>
            <a:prstDash val="solid"/>
          </a:ln>
        </p:spPr>
        <p:txBody>
          <a:bodyPr/>
          <a:lstStyle/>
          <a:p>
            <a:endParaRPr/>
          </a:p>
        </p:txBody>
      </p:sp>
      <p:sp>
        <p:nvSpPr>
          <p:cNvPr id="29" name="Rechteck 28">
            <a:extLst>
              <a:ext uri="{FF2B5EF4-FFF2-40B4-BE49-F238E27FC236}">
                <a16:creationId xmlns:a16="http://schemas.microsoft.com/office/drawing/2014/main" id="{37BA08A5-31C1-4FD3-AD70-0A57B648EB37}"/>
              </a:ext>
            </a:extLst>
          </p:cNvPr>
          <p:cNvSpPr>
            <a:spLocks noGrp="1"/>
          </p:cNvSpPr>
          <p:nvPr/>
        </p:nvSpPr>
        <p:spPr>
          <a:xfrm>
            <a:off x="8382000" y="2876550"/>
            <a:ext cx="2800350" cy="180975"/>
          </a:xfrm>
          <a:prstGeom prst="rect">
            <a:avLst/>
          </a:prstGeom>
          <a:noFill/>
          <a:ln w="0">
            <a:noFill/>
            <a:prstDash val="solid"/>
          </a:ln>
        </p:spPr>
        <p:txBody>
          <a:bodyPr anchor="ctr"/>
          <a:lstStyle/>
          <a:p>
            <a:pPr algn="l">
              <a:buNone/>
              <a:defRPr sz="900" b="1">
                <a:solidFill>
                  <a:srgbClr val="5B666D"/>
                </a:solidFill>
                <a:latin typeface="Aptos"/>
                <a:ea typeface="Aptos"/>
                <a:cs typeface="Aptos"/>
              </a:defRPr>
            </a:pPr>
            <a:r>
              <a:rPr sz="900" b="1">
                <a:solidFill>
                  <a:srgbClr val="5B666D"/>
                </a:solidFill>
                <a:latin typeface="Aptos"/>
                <a:ea typeface="Aptos"/>
                <a:cs typeface="Aptos"/>
              </a:rPr>
              <a:t>HARTES MINIMUM</a:t>
            </a:r>
          </a:p>
        </p:txBody>
      </p:sp>
      <p:sp>
        <p:nvSpPr>
          <p:cNvPr id="30" name="Rechteck 29">
            <a:extLst>
              <a:ext uri="{FF2B5EF4-FFF2-40B4-BE49-F238E27FC236}">
                <a16:creationId xmlns:a16="http://schemas.microsoft.com/office/drawing/2014/main" id="{E4463D22-85BF-4AD5-A982-74409ACCC488}"/>
              </a:ext>
            </a:extLst>
          </p:cNvPr>
          <p:cNvSpPr>
            <a:spLocks noGrp="1"/>
          </p:cNvSpPr>
          <p:nvPr/>
        </p:nvSpPr>
        <p:spPr>
          <a:xfrm>
            <a:off x="8382000" y="3076575"/>
            <a:ext cx="2800350" cy="295275"/>
          </a:xfrm>
          <a:prstGeom prst="rect">
            <a:avLst/>
          </a:prstGeom>
          <a:noFill/>
          <a:ln w="0">
            <a:noFill/>
            <a:prstDash val="solid"/>
          </a:ln>
        </p:spPr>
        <p:txBody>
          <a:bodyPr anchor="ctr"/>
          <a:lstStyle/>
          <a:p>
            <a:pPr algn="l">
              <a:buNone/>
              <a:defRPr sz="1875" b="1">
                <a:solidFill>
                  <a:srgbClr val="071C2C"/>
                </a:solidFill>
                <a:latin typeface="Aptos"/>
                <a:ea typeface="Aptos"/>
                <a:cs typeface="Aptos"/>
              </a:defRPr>
            </a:pPr>
            <a:r>
              <a:rPr sz="1875" b="1">
                <a:solidFill>
                  <a:srgbClr val="071C2C"/>
                </a:solidFill>
                <a:latin typeface="Aptos"/>
                <a:ea typeface="Aptos"/>
                <a:cs typeface="Aptos"/>
              </a:rPr>
              <a:t>0 von 10</a:t>
            </a:r>
          </a:p>
        </p:txBody>
      </p:sp>
      <p:sp>
        <p:nvSpPr>
          <p:cNvPr id="31" name="Rechteck 30">
            <a:extLst>
              <a:ext uri="{FF2B5EF4-FFF2-40B4-BE49-F238E27FC236}">
                <a16:creationId xmlns:a16="http://schemas.microsoft.com/office/drawing/2014/main" id="{2B09E0D7-0BD2-4DD9-B10E-509A9BD99A71}"/>
              </a:ext>
            </a:extLst>
          </p:cNvPr>
          <p:cNvSpPr>
            <a:spLocks noGrp="1"/>
          </p:cNvSpPr>
          <p:nvPr/>
        </p:nvSpPr>
        <p:spPr>
          <a:xfrm>
            <a:off x="8382000" y="3400425"/>
            <a:ext cx="2800350" cy="171450"/>
          </a:xfrm>
          <a:prstGeom prst="rect">
            <a:avLst/>
          </a:prstGeom>
          <a:noFill/>
          <a:ln w="0">
            <a:noFill/>
            <a:prstDash val="solid"/>
          </a:ln>
        </p:spPr>
        <p:txBody>
          <a:bodyPr anchor="ctr"/>
          <a:lstStyle/>
          <a:p>
            <a:pPr algn="l">
              <a:buNone/>
              <a:defRPr sz="825" b="0">
                <a:solidFill>
                  <a:srgbClr val="5B666D"/>
                </a:solidFill>
                <a:latin typeface="Aptos"/>
                <a:ea typeface="Aptos"/>
                <a:cs typeface="Aptos"/>
              </a:defRPr>
            </a:pPr>
            <a:r>
              <a:rPr sz="825" b="0">
                <a:solidFill>
                  <a:srgbClr val="5B666D"/>
                </a:solidFill>
                <a:latin typeface="Aptos"/>
                <a:ea typeface="Aptos"/>
                <a:cs typeface="Aptos"/>
              </a:rPr>
              <a:t>keine Bank unter 4,5 %</a:t>
            </a:r>
          </a:p>
        </p:txBody>
      </p:sp>
      <p:sp>
        <p:nvSpPr>
          <p:cNvPr id="32" name="Rechteck: abgerundete Ecken 31">
            <a:extLst>
              <a:ext uri="{FF2B5EF4-FFF2-40B4-BE49-F238E27FC236}">
                <a16:creationId xmlns:a16="http://schemas.microsoft.com/office/drawing/2014/main" id="{442BA3A3-6663-437C-AE48-3D63BE6C1429}"/>
              </a:ext>
            </a:extLst>
          </p:cNvPr>
          <p:cNvSpPr>
            <a:spLocks noGrp="1"/>
          </p:cNvSpPr>
          <p:nvPr/>
        </p:nvSpPr>
        <p:spPr>
          <a:xfrm>
            <a:off x="8210550" y="3810000"/>
            <a:ext cx="3143250" cy="895350"/>
          </a:xfrm>
          <a:prstGeom prst="roundRect">
            <a:avLst>
              <a:gd name="adj" fmla="val 8511"/>
            </a:avLst>
          </a:prstGeom>
          <a:solidFill>
            <a:srgbClr val="FFFFFF"/>
          </a:solidFill>
          <a:ln w="9525">
            <a:solidFill>
              <a:srgbClr val="D9DEE2"/>
            </a:solidFill>
            <a:prstDash val="solid"/>
          </a:ln>
        </p:spPr>
        <p:txBody>
          <a:bodyPr/>
          <a:lstStyle/>
          <a:p>
            <a:endParaRPr/>
          </a:p>
        </p:txBody>
      </p:sp>
      <p:sp>
        <p:nvSpPr>
          <p:cNvPr id="33" name="Rechteck 32">
            <a:extLst>
              <a:ext uri="{FF2B5EF4-FFF2-40B4-BE49-F238E27FC236}">
                <a16:creationId xmlns:a16="http://schemas.microsoft.com/office/drawing/2014/main" id="{41E0AC84-384A-4060-A827-F5BB554BBB91}"/>
              </a:ext>
            </a:extLst>
          </p:cNvPr>
          <p:cNvSpPr>
            <a:spLocks noGrp="1"/>
          </p:cNvSpPr>
          <p:nvPr/>
        </p:nvSpPr>
        <p:spPr>
          <a:xfrm>
            <a:off x="8210550" y="3810000"/>
            <a:ext cx="47625" cy="895350"/>
          </a:xfrm>
          <a:prstGeom prst="rect">
            <a:avLst/>
          </a:prstGeom>
          <a:solidFill>
            <a:srgbClr val="D99F27"/>
          </a:solidFill>
          <a:ln w="0">
            <a:solidFill>
              <a:srgbClr val="D99F27"/>
            </a:solidFill>
            <a:prstDash val="solid"/>
          </a:ln>
        </p:spPr>
        <p:txBody>
          <a:bodyPr/>
          <a:lstStyle/>
          <a:p>
            <a:endParaRPr/>
          </a:p>
        </p:txBody>
      </p:sp>
      <p:sp>
        <p:nvSpPr>
          <p:cNvPr id="34" name="Rechteck 33">
            <a:extLst>
              <a:ext uri="{FF2B5EF4-FFF2-40B4-BE49-F238E27FC236}">
                <a16:creationId xmlns:a16="http://schemas.microsoft.com/office/drawing/2014/main" id="{C5F0A46E-5BCC-4AEF-A89A-5AA9C90E922E}"/>
              </a:ext>
            </a:extLst>
          </p:cNvPr>
          <p:cNvSpPr>
            <a:spLocks noGrp="1"/>
          </p:cNvSpPr>
          <p:nvPr/>
        </p:nvSpPr>
        <p:spPr>
          <a:xfrm>
            <a:off x="8382000" y="3905250"/>
            <a:ext cx="2800350" cy="180975"/>
          </a:xfrm>
          <a:prstGeom prst="rect">
            <a:avLst/>
          </a:prstGeom>
          <a:noFill/>
          <a:ln w="0">
            <a:noFill/>
            <a:prstDash val="solid"/>
          </a:ln>
        </p:spPr>
        <p:txBody>
          <a:bodyPr anchor="ctr"/>
          <a:lstStyle/>
          <a:p>
            <a:pPr algn="l">
              <a:buNone/>
              <a:defRPr sz="900" b="1">
                <a:solidFill>
                  <a:srgbClr val="5B666D"/>
                </a:solidFill>
                <a:latin typeface="Aptos"/>
                <a:ea typeface="Aptos"/>
                <a:cs typeface="Aptos"/>
              </a:defRPr>
            </a:pPr>
            <a:r>
              <a:rPr sz="900" b="1">
                <a:solidFill>
                  <a:srgbClr val="5B666D"/>
                </a:solidFill>
                <a:latin typeface="Aptos"/>
                <a:ea typeface="Aptos"/>
                <a:cs typeface="Aptos"/>
              </a:rPr>
              <a:t>BANKEN UNTER 8 %</a:t>
            </a:r>
          </a:p>
        </p:txBody>
      </p:sp>
      <p:sp>
        <p:nvSpPr>
          <p:cNvPr id="35" name="Rechteck 34">
            <a:extLst>
              <a:ext uri="{FF2B5EF4-FFF2-40B4-BE49-F238E27FC236}">
                <a16:creationId xmlns:a16="http://schemas.microsoft.com/office/drawing/2014/main" id="{83AC8F3E-1343-4D24-A247-2D9B0C40552D}"/>
              </a:ext>
            </a:extLst>
          </p:cNvPr>
          <p:cNvSpPr>
            <a:spLocks noGrp="1"/>
          </p:cNvSpPr>
          <p:nvPr/>
        </p:nvSpPr>
        <p:spPr>
          <a:xfrm>
            <a:off x="8382000" y="4105275"/>
            <a:ext cx="2800350" cy="295275"/>
          </a:xfrm>
          <a:prstGeom prst="rect">
            <a:avLst/>
          </a:prstGeom>
          <a:noFill/>
          <a:ln w="0">
            <a:noFill/>
            <a:prstDash val="solid"/>
          </a:ln>
        </p:spPr>
        <p:txBody>
          <a:bodyPr anchor="ctr"/>
          <a:lstStyle/>
          <a:p>
            <a:pPr algn="l">
              <a:buNone/>
              <a:defRPr sz="1875" b="1">
                <a:solidFill>
                  <a:srgbClr val="071C2C"/>
                </a:solidFill>
                <a:latin typeface="Aptos"/>
                <a:ea typeface="Aptos"/>
                <a:cs typeface="Aptos"/>
              </a:defRPr>
            </a:pPr>
            <a:r>
              <a:rPr sz="1875" b="1">
                <a:solidFill>
                  <a:srgbClr val="071C2C"/>
                </a:solidFill>
                <a:latin typeface="Aptos"/>
                <a:ea typeface="Aptos"/>
                <a:cs typeface="Aptos"/>
              </a:rPr>
              <a:t>2 von 10</a:t>
            </a:r>
          </a:p>
        </p:txBody>
      </p:sp>
      <p:sp>
        <p:nvSpPr>
          <p:cNvPr id="36" name="Rechteck 35">
            <a:extLst>
              <a:ext uri="{FF2B5EF4-FFF2-40B4-BE49-F238E27FC236}">
                <a16:creationId xmlns:a16="http://schemas.microsoft.com/office/drawing/2014/main" id="{C2D8ACCF-71A7-4E9F-B004-442E967889F9}"/>
              </a:ext>
            </a:extLst>
          </p:cNvPr>
          <p:cNvSpPr>
            <a:spLocks noGrp="1"/>
          </p:cNvSpPr>
          <p:nvPr/>
        </p:nvSpPr>
        <p:spPr>
          <a:xfrm>
            <a:off x="8382000" y="4429125"/>
            <a:ext cx="2800350" cy="171450"/>
          </a:xfrm>
          <a:prstGeom prst="rect">
            <a:avLst/>
          </a:prstGeom>
          <a:noFill/>
          <a:ln w="0">
            <a:noFill/>
            <a:prstDash val="solid"/>
          </a:ln>
        </p:spPr>
        <p:txBody>
          <a:bodyPr anchor="ctr"/>
          <a:lstStyle/>
          <a:p>
            <a:pPr algn="l">
              <a:buNone/>
              <a:defRPr sz="825" b="0">
                <a:solidFill>
                  <a:srgbClr val="5B666D"/>
                </a:solidFill>
                <a:latin typeface="Aptos"/>
                <a:ea typeface="Aptos"/>
                <a:cs typeface="Aptos"/>
              </a:defRPr>
            </a:pPr>
            <a:r>
              <a:rPr sz="825" b="0">
                <a:solidFill>
                  <a:srgbClr val="5B666D"/>
                </a:solidFill>
                <a:latin typeface="Aptos"/>
                <a:ea typeface="Aptos"/>
                <a:cs typeface="Aptos"/>
              </a:rPr>
              <a:t>Deutsche Bank und Société Générale</a:t>
            </a:r>
          </a:p>
        </p:txBody>
      </p:sp>
      <p:sp>
        <p:nvSpPr>
          <p:cNvPr id="6" name="Rectangle 21">
            <a:extLst>
              <a:ext uri="{FF2B5EF4-FFF2-40B4-BE49-F238E27FC236}">
                <a16:creationId xmlns:a16="http://schemas.microsoft.com/office/drawing/2014/main" id="{6C9E0797-D094-8A98-1AA3-7B93D945EB24}"/>
              </a:ext>
            </a:extLst>
          </p:cNvPr>
          <p:cNvSpPr>
            <a:spLocks noGrp="1"/>
          </p:cNvSpPr>
          <p:nvPr/>
        </p:nvSpPr>
        <p:spPr>
          <a:xfrm>
            <a:off x="438150" y="6143625"/>
            <a:ext cx="9810750" cy="152400"/>
          </a:xfrm>
          <a:prstGeom prst="rect">
            <a:avLst/>
          </a:prstGeom>
        </p:spPr>
        <p:txBody>
          <a:bodyPr lIns="0" tIns="0" rIns="0" bIns="0" anchor="ctr"/>
          <a:lstStyle/>
          <a:p>
            <a:pPr algn="l">
              <a:buNone/>
              <a:defRPr sz="750" b="0">
                <a:solidFill>
                  <a:srgbClr val="8C8780"/>
                </a:solidFill>
                <a:latin typeface="Aptos"/>
                <a:ea typeface="Aptos"/>
                <a:cs typeface="Aptos"/>
              </a:defRPr>
            </a:pPr>
            <a:r>
              <a:t>EU Banking Credit Stress Cockpit ·</a:t>
            </a:r>
            <a:r>
              <a:rPr lang="de-DE"/>
              <a:t> Eigenkapital</a:t>
            </a:r>
            <a:endParaRPr/>
          </a:p>
        </p:txBody>
      </p:sp>
      <p:sp>
        <p:nvSpPr>
          <p:cNvPr id="2" name="CodexSlideNumber">
            <a:extLst>
              <a:ext uri="{FF2B5EF4-FFF2-40B4-BE49-F238E27FC236}">
                <a16:creationId xmlns:a16="http://schemas.microsoft.com/office/drawing/2014/main" id="{9D5C22D7-1EDD-A72B-5DCB-5837C7BCE2FC}"/>
              </a:ext>
            </a:extLst>
          </p:cNvPr>
          <p:cNvSpPr txBox="1"/>
          <p:nvPr/>
        </p:nvSpPr>
        <p:spPr>
          <a:xfrm>
            <a:off x="11226800" y="6553200"/>
            <a:ext cx="736600" cy="123111"/>
          </a:xfrm>
          <a:prstGeom prst="rect">
            <a:avLst/>
          </a:prstGeom>
          <a:noFill/>
        </p:spPr>
        <p:txBody>
          <a:bodyPr vert="horz" lIns="0" tIns="0" rIns="0" bIns="0" rtlCol="0">
            <a:spAutoFit/>
          </a:bodyPr>
          <a:lstStyle/>
          <a:p>
            <a:pPr algn="r"/>
            <a:r>
              <a:rPr lang="en-US" sz="800">
                <a:solidFill>
                  <a:srgbClr val="525252"/>
                </a:solidFill>
                <a:latin typeface="Arial" panose="020B0604020202020204" pitchFamily="34" charset="0"/>
              </a:rPr>
              <a:t>50 / 64</a:t>
            </a:r>
          </a:p>
        </p:txBody>
      </p:sp>
    </p:spTree>
    <p:extLst>
      <p:ext uri="{BB962C8B-B14F-4D97-AF65-F5344CB8AC3E}">
        <p14:creationId xmlns:p14="http://schemas.microsoft.com/office/powerpoint/2010/main" val="807872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kicker-capital-label">
            <a:extLst>
              <a:ext uri="{FF2B5EF4-FFF2-40B4-BE49-F238E27FC236}">
                <a16:creationId xmlns:a16="http://schemas.microsoft.com/office/drawing/2014/main" id="{AE13FE1F-1131-4CB4-83F1-EA63DD1D8F6F}"/>
              </a:ext>
            </a:extLst>
          </p:cNvPr>
          <p:cNvSpPr>
            <a:spLocks noGrp="1"/>
          </p:cNvSpPr>
          <p:nvPr/>
        </p:nvSpPr>
        <p:spPr>
          <a:xfrm>
            <a:off x="600075" y="438150"/>
            <a:ext cx="2476500" cy="190500"/>
          </a:xfrm>
          <a:prstGeom prst="rect">
            <a:avLst/>
          </a:prstGeom>
        </p:spPr>
        <p:txBody>
          <a:bodyPr lIns="0" tIns="0" rIns="0" bIns="0" anchor="ctr"/>
          <a:lstStyle/>
          <a:p>
            <a:pPr>
              <a:defRPr sz="975" b="1">
                <a:solidFill>
                  <a:srgbClr val="5B666D"/>
                </a:solidFill>
                <a:latin typeface="Aptos"/>
                <a:ea typeface="Aptos"/>
                <a:cs typeface="Aptos"/>
              </a:defRPr>
            </a:pPr>
            <a:r>
              <a:rPr lang="en-GB" sz="863" b="1">
                <a:solidFill>
                  <a:schemeClr val="tx2"/>
                </a:solidFill>
                <a:latin typeface="Aptos"/>
              </a:rPr>
              <a:t>EIGENKAPITAL · VORSTANDS-USE-CASE</a:t>
            </a:r>
          </a:p>
        </p:txBody>
      </p:sp>
      <p:sp>
        <p:nvSpPr>
          <p:cNvPr id="4" name="Rectangle 3">
            <a:extLst>
              <a:ext uri="{FF2B5EF4-FFF2-40B4-BE49-F238E27FC236}">
                <a16:creationId xmlns:a16="http://schemas.microsoft.com/office/drawing/2014/main" id="{AAD55B66-96F0-40BE-B407-D83485DCB7F6}"/>
              </a:ext>
            </a:extLst>
          </p:cNvPr>
          <p:cNvSpPr>
            <a:spLocks noGrp="1"/>
          </p:cNvSpPr>
          <p:nvPr/>
        </p:nvSpPr>
        <p:spPr>
          <a:xfrm>
            <a:off x="438150" y="695325"/>
            <a:ext cx="11315700" cy="647700"/>
          </a:xfrm>
          <a:prstGeom prst="rect">
            <a:avLst/>
          </a:prstGeom>
        </p:spPr>
        <p:txBody>
          <a:bodyPr lIns="0" tIns="0" rIns="0" bIns="0" anchor="t"/>
          <a:lstStyle/>
          <a:p>
            <a:pPr>
              <a:defRPr sz="2475" b="1" i="0">
                <a:solidFill>
                  <a:srgbClr val="051C2C"/>
                </a:solidFill>
                <a:latin typeface="Aptos Display"/>
                <a:ea typeface="Aptos Display"/>
                <a:cs typeface="Aptos Display"/>
              </a:defRPr>
            </a:pPr>
            <a:r>
              <a:rPr lang="en-US" sz="2475" b="1">
                <a:solidFill>
                  <a:srgbClr val="051C2C"/>
                </a:solidFill>
                <a:latin typeface="Aptos Display"/>
              </a:rPr>
              <a:t>Deutsche Bank </a:t>
            </a:r>
            <a:r>
              <a:rPr lang="en-US" sz="2475" b="1" err="1">
                <a:solidFill>
                  <a:srgbClr val="051C2C"/>
                </a:solidFill>
                <a:latin typeface="Aptos Display"/>
              </a:rPr>
              <a:t>fällt</a:t>
            </a:r>
            <a:r>
              <a:rPr lang="en-US" sz="2475" b="1">
                <a:solidFill>
                  <a:srgbClr val="051C2C"/>
                </a:solidFill>
                <a:latin typeface="Aptos Display"/>
              </a:rPr>
              <a:t> </a:t>
            </a:r>
            <a:r>
              <a:rPr lang="en-US" sz="2475" b="1" err="1">
                <a:solidFill>
                  <a:srgbClr val="051C2C"/>
                </a:solidFill>
                <a:latin typeface="Aptos Display"/>
              </a:rPr>
              <a:t>unter</a:t>
            </a:r>
            <a:r>
              <a:rPr lang="en-US" sz="2475" b="1">
                <a:solidFill>
                  <a:srgbClr val="051C2C"/>
                </a:solidFill>
                <a:latin typeface="Aptos Display"/>
              </a:rPr>
              <a:t> 8 % und </a:t>
            </a:r>
            <a:r>
              <a:rPr lang="en-US" sz="2475" b="1" err="1">
                <a:solidFill>
                  <a:srgbClr val="051C2C"/>
                </a:solidFill>
                <a:latin typeface="Aptos Display"/>
              </a:rPr>
              <a:t>nähert</a:t>
            </a:r>
            <a:r>
              <a:rPr lang="en-US" sz="2475" b="1">
                <a:solidFill>
                  <a:srgbClr val="051C2C"/>
                </a:solidFill>
                <a:latin typeface="Aptos Display"/>
              </a:rPr>
              <a:t> </a:t>
            </a:r>
            <a:r>
              <a:rPr lang="en-US" sz="2475" b="1" err="1">
                <a:solidFill>
                  <a:srgbClr val="051C2C"/>
                </a:solidFill>
                <a:latin typeface="Aptos Display"/>
              </a:rPr>
              <a:t>sich</a:t>
            </a:r>
            <a:r>
              <a:rPr lang="en-US" sz="2475" b="1">
                <a:solidFill>
                  <a:srgbClr val="051C2C"/>
                </a:solidFill>
                <a:latin typeface="Aptos Display"/>
              </a:rPr>
              <a:t> dem Puffer.</a:t>
            </a:r>
          </a:p>
        </p:txBody>
      </p:sp>
      <p:sp>
        <p:nvSpPr>
          <p:cNvPr id="5" name="Rectangle 4">
            <a:extLst>
              <a:ext uri="{FF2B5EF4-FFF2-40B4-BE49-F238E27FC236}">
                <a16:creationId xmlns:a16="http://schemas.microsoft.com/office/drawing/2014/main" id="{459D872A-72FC-448D-87F6-AF578409C11F}"/>
              </a:ext>
            </a:extLst>
          </p:cNvPr>
          <p:cNvSpPr>
            <a:spLocks noGrp="1"/>
          </p:cNvSpPr>
          <p:nvPr/>
        </p:nvSpPr>
        <p:spPr>
          <a:xfrm>
            <a:off x="438150" y="1118565"/>
            <a:ext cx="11315700" cy="209550"/>
          </a:xfrm>
          <a:prstGeom prst="rect">
            <a:avLst/>
          </a:prstGeom>
        </p:spPr>
        <p:txBody>
          <a:bodyPr lIns="0" tIns="0" rIns="0" bIns="0" anchor="t"/>
          <a:lstStyle/>
          <a:p>
            <a:pPr algn="l">
              <a:buNone/>
              <a:defRPr sz="1200" b="0">
                <a:solidFill>
                  <a:srgbClr val="5B666D"/>
                </a:solidFill>
                <a:latin typeface="Aptos"/>
                <a:ea typeface="Aptos"/>
                <a:cs typeface="Aptos"/>
              </a:defRPr>
            </a:pPr>
            <a:r>
              <a:rPr lang="en-US" sz="1130"/>
              <a:t>Die CET1-Quote </a:t>
            </a:r>
            <a:r>
              <a:rPr lang="en-US" sz="1130" err="1"/>
              <a:t>fällt</a:t>
            </a:r>
            <a:r>
              <a:rPr lang="en-US" sz="1130"/>
              <a:t> von 14,24 % auf 7,20 % – </a:t>
            </a:r>
            <a:r>
              <a:rPr lang="en-US" sz="1130" err="1"/>
              <a:t>nur</a:t>
            </a:r>
            <a:r>
              <a:rPr lang="en-US" sz="1130"/>
              <a:t> 0,11 pp </a:t>
            </a:r>
            <a:r>
              <a:rPr lang="en-US" sz="1130" err="1"/>
              <a:t>oberhalb</a:t>
            </a:r>
            <a:r>
              <a:rPr lang="en-US" sz="1130"/>
              <a:t> von 7,09 %.</a:t>
            </a:r>
          </a:p>
        </p:txBody>
      </p:sp>
      <p:pic>
        <p:nvPicPr>
          <p:cNvPr id="48" name="Grafik 46"/>
          <p:cNvPicPr>
            <a:picLocks noChangeAspect="1"/>
          </p:cNvPicPr>
          <p:nvPr/>
        </p:nvPicPr>
        <p:blipFill>
          <a:blip r:embed="rId3"/>
          <a:srcRect l="5362" t="18889"/>
          <a:stretch>
            <a:fillRect/>
          </a:stretch>
        </p:blipFill>
        <p:spPr>
          <a:xfrm>
            <a:off x="438150" y="1752600"/>
            <a:ext cx="7286625" cy="2937840"/>
          </a:xfrm>
          <a:prstGeom prst="roundRect">
            <a:avLst>
              <a:gd name="adj" fmla="val 2347"/>
            </a:avLst>
          </a:prstGeom>
        </p:spPr>
      </p:pic>
      <p:sp>
        <p:nvSpPr>
          <p:cNvPr id="22" name="Rechteck: abgerundete Ecken 21">
            <a:extLst>
              <a:ext uri="{FF2B5EF4-FFF2-40B4-BE49-F238E27FC236}">
                <a16:creationId xmlns:a16="http://schemas.microsoft.com/office/drawing/2014/main" id="{AF059F36-C882-498B-A262-3F98941B6878}"/>
              </a:ext>
            </a:extLst>
          </p:cNvPr>
          <p:cNvSpPr>
            <a:spLocks noGrp="1"/>
          </p:cNvSpPr>
          <p:nvPr/>
        </p:nvSpPr>
        <p:spPr>
          <a:xfrm>
            <a:off x="8210550" y="1752600"/>
            <a:ext cx="3143250" cy="895350"/>
          </a:xfrm>
          <a:prstGeom prst="roundRect">
            <a:avLst>
              <a:gd name="adj" fmla="val 8511"/>
            </a:avLst>
          </a:prstGeom>
          <a:solidFill>
            <a:srgbClr val="FFFFFF"/>
          </a:solidFill>
          <a:ln w="9525">
            <a:solidFill>
              <a:srgbClr val="D9DEE2"/>
            </a:solidFill>
            <a:prstDash val="solid"/>
          </a:ln>
        </p:spPr>
        <p:txBody>
          <a:bodyPr/>
          <a:lstStyle/>
          <a:p>
            <a:endParaRPr/>
          </a:p>
        </p:txBody>
      </p:sp>
      <p:sp>
        <p:nvSpPr>
          <p:cNvPr id="23" name="Rechteck 22">
            <a:extLst>
              <a:ext uri="{FF2B5EF4-FFF2-40B4-BE49-F238E27FC236}">
                <a16:creationId xmlns:a16="http://schemas.microsoft.com/office/drawing/2014/main" id="{0F76FADC-E00A-40B2-A52C-A1841C5011B9}"/>
              </a:ext>
            </a:extLst>
          </p:cNvPr>
          <p:cNvSpPr>
            <a:spLocks noGrp="1"/>
          </p:cNvSpPr>
          <p:nvPr/>
        </p:nvSpPr>
        <p:spPr>
          <a:xfrm>
            <a:off x="8210550" y="1752600"/>
            <a:ext cx="47625" cy="895350"/>
          </a:xfrm>
          <a:prstGeom prst="rect">
            <a:avLst/>
          </a:prstGeom>
          <a:solidFill>
            <a:srgbClr val="AF3D55"/>
          </a:solidFill>
          <a:ln w="0">
            <a:solidFill>
              <a:srgbClr val="AF3D55"/>
            </a:solidFill>
            <a:prstDash val="solid"/>
          </a:ln>
        </p:spPr>
        <p:txBody>
          <a:bodyPr/>
          <a:lstStyle/>
          <a:p>
            <a:endParaRPr/>
          </a:p>
        </p:txBody>
      </p:sp>
      <p:sp>
        <p:nvSpPr>
          <p:cNvPr id="24" name="Rechteck 23">
            <a:extLst>
              <a:ext uri="{FF2B5EF4-FFF2-40B4-BE49-F238E27FC236}">
                <a16:creationId xmlns:a16="http://schemas.microsoft.com/office/drawing/2014/main" id="{62D41ADD-DF5C-4A34-8F98-5A10D1BACC28}"/>
              </a:ext>
            </a:extLst>
          </p:cNvPr>
          <p:cNvSpPr>
            <a:spLocks noGrp="1"/>
          </p:cNvSpPr>
          <p:nvPr/>
        </p:nvSpPr>
        <p:spPr>
          <a:xfrm>
            <a:off x="8382000" y="1847850"/>
            <a:ext cx="2800350" cy="180975"/>
          </a:xfrm>
          <a:prstGeom prst="rect">
            <a:avLst/>
          </a:prstGeom>
          <a:noFill/>
          <a:ln w="0">
            <a:noFill/>
            <a:prstDash val="solid"/>
          </a:ln>
        </p:spPr>
        <p:txBody>
          <a:bodyPr anchor="ctr"/>
          <a:lstStyle/>
          <a:p>
            <a:pPr algn="l">
              <a:buNone/>
              <a:defRPr sz="900" b="1">
                <a:solidFill>
                  <a:srgbClr val="5B666D"/>
                </a:solidFill>
                <a:latin typeface="Aptos"/>
                <a:ea typeface="Aptos"/>
                <a:cs typeface="Aptos"/>
              </a:defRPr>
            </a:pPr>
            <a:r>
              <a:rPr sz="900" b="1">
                <a:solidFill>
                  <a:srgbClr val="5B666D"/>
                </a:solidFill>
                <a:latin typeface="Aptos"/>
                <a:ea typeface="Aptos"/>
                <a:cs typeface="Aptos"/>
              </a:rPr>
              <a:t>KREDITVORSORGE</a:t>
            </a:r>
          </a:p>
        </p:txBody>
      </p:sp>
      <p:sp>
        <p:nvSpPr>
          <p:cNvPr id="25" name="Rechteck 24">
            <a:extLst>
              <a:ext uri="{FF2B5EF4-FFF2-40B4-BE49-F238E27FC236}">
                <a16:creationId xmlns:a16="http://schemas.microsoft.com/office/drawing/2014/main" id="{A1DBDD01-A066-4A0E-9272-4AF3E40A526F}"/>
              </a:ext>
            </a:extLst>
          </p:cNvPr>
          <p:cNvSpPr>
            <a:spLocks noGrp="1"/>
          </p:cNvSpPr>
          <p:nvPr/>
        </p:nvSpPr>
        <p:spPr>
          <a:xfrm>
            <a:off x="8382000" y="2047875"/>
            <a:ext cx="2800350" cy="295275"/>
          </a:xfrm>
          <a:prstGeom prst="rect">
            <a:avLst/>
          </a:prstGeom>
          <a:noFill/>
          <a:ln w="0">
            <a:noFill/>
            <a:prstDash val="solid"/>
          </a:ln>
        </p:spPr>
        <p:txBody>
          <a:bodyPr anchor="ctr"/>
          <a:lstStyle/>
          <a:p>
            <a:pPr algn="l">
              <a:buNone/>
              <a:defRPr sz="1875" b="1">
                <a:solidFill>
                  <a:srgbClr val="071C2C"/>
                </a:solidFill>
                <a:latin typeface="Aptos"/>
                <a:ea typeface="Aptos"/>
                <a:cs typeface="Aptos"/>
              </a:defRPr>
            </a:pPr>
            <a:r>
              <a:rPr sz="1875" b="1">
                <a:solidFill>
                  <a:srgbClr val="071C2C"/>
                </a:solidFill>
                <a:latin typeface="Aptos"/>
                <a:ea typeface="Aptos"/>
                <a:cs typeface="Aptos"/>
              </a:rPr>
              <a:t>−0,62 pp</a:t>
            </a:r>
          </a:p>
        </p:txBody>
      </p:sp>
      <p:sp>
        <p:nvSpPr>
          <p:cNvPr id="26" name="Rechteck 25">
            <a:extLst>
              <a:ext uri="{FF2B5EF4-FFF2-40B4-BE49-F238E27FC236}">
                <a16:creationId xmlns:a16="http://schemas.microsoft.com/office/drawing/2014/main" id="{AA15C079-09DD-4C12-B572-50537F77824A}"/>
              </a:ext>
            </a:extLst>
          </p:cNvPr>
          <p:cNvSpPr>
            <a:spLocks noGrp="1"/>
          </p:cNvSpPr>
          <p:nvPr/>
        </p:nvSpPr>
        <p:spPr>
          <a:xfrm>
            <a:off x="8382000" y="2371725"/>
            <a:ext cx="2800350" cy="171450"/>
          </a:xfrm>
          <a:prstGeom prst="rect">
            <a:avLst/>
          </a:prstGeom>
          <a:noFill/>
          <a:ln w="0">
            <a:noFill/>
            <a:prstDash val="solid"/>
          </a:ln>
        </p:spPr>
        <p:txBody>
          <a:bodyPr anchor="ctr"/>
          <a:lstStyle/>
          <a:p>
            <a:pPr algn="l">
              <a:buNone/>
              <a:defRPr sz="825" b="0">
                <a:solidFill>
                  <a:srgbClr val="5B666D"/>
                </a:solidFill>
                <a:latin typeface="Aptos"/>
                <a:ea typeface="Aptos"/>
                <a:cs typeface="Aptos"/>
              </a:defRPr>
            </a:pPr>
            <a:r>
              <a:rPr sz="825" b="0">
                <a:solidFill>
                  <a:srgbClr val="5B666D"/>
                </a:solidFill>
                <a:latin typeface="Aptos"/>
                <a:ea typeface="Aptos"/>
                <a:cs typeface="Aptos"/>
              </a:rPr>
              <a:t>Kreditvorsorge: −2,10 Mrd. €</a:t>
            </a:r>
          </a:p>
        </p:txBody>
      </p:sp>
      <p:sp>
        <p:nvSpPr>
          <p:cNvPr id="27" name="Rechteck: abgerundete Ecken 26">
            <a:extLst>
              <a:ext uri="{FF2B5EF4-FFF2-40B4-BE49-F238E27FC236}">
                <a16:creationId xmlns:a16="http://schemas.microsoft.com/office/drawing/2014/main" id="{19505F5E-DCF5-479F-891A-4FCA91F3F849}"/>
              </a:ext>
            </a:extLst>
          </p:cNvPr>
          <p:cNvSpPr>
            <a:spLocks noGrp="1"/>
          </p:cNvSpPr>
          <p:nvPr/>
        </p:nvSpPr>
        <p:spPr>
          <a:xfrm>
            <a:off x="8210550" y="2781300"/>
            <a:ext cx="3143250" cy="895350"/>
          </a:xfrm>
          <a:prstGeom prst="roundRect">
            <a:avLst>
              <a:gd name="adj" fmla="val 8511"/>
            </a:avLst>
          </a:prstGeom>
          <a:solidFill>
            <a:srgbClr val="FFFFFF"/>
          </a:solidFill>
          <a:ln w="9525">
            <a:solidFill>
              <a:srgbClr val="D9DEE2"/>
            </a:solidFill>
            <a:prstDash val="solid"/>
          </a:ln>
        </p:spPr>
        <p:txBody>
          <a:bodyPr/>
          <a:lstStyle/>
          <a:p>
            <a:endParaRPr/>
          </a:p>
        </p:txBody>
      </p:sp>
      <p:sp>
        <p:nvSpPr>
          <p:cNvPr id="28" name="Rechteck 27">
            <a:extLst>
              <a:ext uri="{FF2B5EF4-FFF2-40B4-BE49-F238E27FC236}">
                <a16:creationId xmlns:a16="http://schemas.microsoft.com/office/drawing/2014/main" id="{0A95366B-445C-4681-8075-6EAE2386F168}"/>
              </a:ext>
            </a:extLst>
          </p:cNvPr>
          <p:cNvSpPr>
            <a:spLocks noGrp="1"/>
          </p:cNvSpPr>
          <p:nvPr/>
        </p:nvSpPr>
        <p:spPr>
          <a:xfrm>
            <a:off x="8210550" y="2781300"/>
            <a:ext cx="47625" cy="895350"/>
          </a:xfrm>
          <a:prstGeom prst="rect">
            <a:avLst/>
          </a:prstGeom>
          <a:solidFill>
            <a:srgbClr val="D99F27"/>
          </a:solidFill>
          <a:ln w="0">
            <a:solidFill>
              <a:srgbClr val="D99F27"/>
            </a:solidFill>
            <a:prstDash val="solid"/>
          </a:ln>
        </p:spPr>
        <p:txBody>
          <a:bodyPr/>
          <a:lstStyle/>
          <a:p>
            <a:endParaRPr/>
          </a:p>
        </p:txBody>
      </p:sp>
      <p:sp>
        <p:nvSpPr>
          <p:cNvPr id="29" name="Rechteck 28">
            <a:extLst>
              <a:ext uri="{FF2B5EF4-FFF2-40B4-BE49-F238E27FC236}">
                <a16:creationId xmlns:a16="http://schemas.microsoft.com/office/drawing/2014/main" id="{1895F36E-79C6-4D45-94CC-75C4C8AB35D8}"/>
              </a:ext>
            </a:extLst>
          </p:cNvPr>
          <p:cNvSpPr>
            <a:spLocks noGrp="1"/>
          </p:cNvSpPr>
          <p:nvPr/>
        </p:nvSpPr>
        <p:spPr>
          <a:xfrm>
            <a:off x="8382000" y="2876550"/>
            <a:ext cx="2800350" cy="180975"/>
          </a:xfrm>
          <a:prstGeom prst="rect">
            <a:avLst/>
          </a:prstGeom>
          <a:noFill/>
          <a:ln w="0">
            <a:noFill/>
            <a:prstDash val="solid"/>
          </a:ln>
        </p:spPr>
        <p:txBody>
          <a:bodyPr anchor="ctr"/>
          <a:lstStyle/>
          <a:p>
            <a:pPr algn="l">
              <a:buNone/>
              <a:defRPr sz="900" b="1">
                <a:solidFill>
                  <a:srgbClr val="5B666D"/>
                </a:solidFill>
                <a:latin typeface="Aptos"/>
                <a:ea typeface="Aptos"/>
                <a:cs typeface="Aptos"/>
              </a:defRPr>
            </a:pPr>
            <a:r>
              <a:rPr sz="900" b="1">
                <a:solidFill>
                  <a:srgbClr val="5B666D"/>
                </a:solidFill>
                <a:latin typeface="Aptos"/>
                <a:ea typeface="Aptos"/>
                <a:cs typeface="Aptos"/>
              </a:rPr>
              <a:t>SOVEREIGN MtM</a:t>
            </a:r>
          </a:p>
        </p:txBody>
      </p:sp>
      <p:sp>
        <p:nvSpPr>
          <p:cNvPr id="30" name="Rechteck 29">
            <a:extLst>
              <a:ext uri="{FF2B5EF4-FFF2-40B4-BE49-F238E27FC236}">
                <a16:creationId xmlns:a16="http://schemas.microsoft.com/office/drawing/2014/main" id="{0B49132C-70AC-4485-B542-69C445F67EA5}"/>
              </a:ext>
            </a:extLst>
          </p:cNvPr>
          <p:cNvSpPr>
            <a:spLocks noGrp="1"/>
          </p:cNvSpPr>
          <p:nvPr/>
        </p:nvSpPr>
        <p:spPr>
          <a:xfrm>
            <a:off x="8382000" y="3076575"/>
            <a:ext cx="2800350" cy="295275"/>
          </a:xfrm>
          <a:prstGeom prst="rect">
            <a:avLst/>
          </a:prstGeom>
          <a:noFill/>
          <a:ln w="0">
            <a:noFill/>
            <a:prstDash val="solid"/>
          </a:ln>
        </p:spPr>
        <p:txBody>
          <a:bodyPr anchor="ctr"/>
          <a:lstStyle/>
          <a:p>
            <a:pPr algn="l">
              <a:buNone/>
              <a:defRPr sz="1875" b="1">
                <a:solidFill>
                  <a:srgbClr val="071C2C"/>
                </a:solidFill>
                <a:latin typeface="Aptos"/>
                <a:ea typeface="Aptos"/>
                <a:cs typeface="Aptos"/>
              </a:defRPr>
            </a:pPr>
            <a:r>
              <a:rPr sz="1875" b="1">
                <a:solidFill>
                  <a:srgbClr val="071C2C"/>
                </a:solidFill>
                <a:latin typeface="Aptos"/>
                <a:ea typeface="Aptos"/>
                <a:cs typeface="Aptos"/>
              </a:rPr>
              <a:t>−5,42 pp</a:t>
            </a:r>
          </a:p>
        </p:txBody>
      </p:sp>
      <p:sp>
        <p:nvSpPr>
          <p:cNvPr id="31" name="Rechteck 30">
            <a:extLst>
              <a:ext uri="{FF2B5EF4-FFF2-40B4-BE49-F238E27FC236}">
                <a16:creationId xmlns:a16="http://schemas.microsoft.com/office/drawing/2014/main" id="{22A10364-B309-46B1-8FA6-ABE64C062D60}"/>
              </a:ext>
            </a:extLst>
          </p:cNvPr>
          <p:cNvSpPr>
            <a:spLocks noGrp="1"/>
          </p:cNvSpPr>
          <p:nvPr/>
        </p:nvSpPr>
        <p:spPr>
          <a:xfrm>
            <a:off x="8382000" y="3400425"/>
            <a:ext cx="2800350" cy="171450"/>
          </a:xfrm>
          <a:prstGeom prst="rect">
            <a:avLst/>
          </a:prstGeom>
          <a:noFill/>
          <a:ln w="0">
            <a:noFill/>
            <a:prstDash val="solid"/>
          </a:ln>
        </p:spPr>
        <p:txBody>
          <a:bodyPr anchor="ctr"/>
          <a:lstStyle/>
          <a:p>
            <a:pPr algn="l">
              <a:buNone/>
              <a:defRPr sz="825" b="0">
                <a:solidFill>
                  <a:srgbClr val="5B666D"/>
                </a:solidFill>
                <a:latin typeface="Aptos"/>
                <a:ea typeface="Aptos"/>
                <a:cs typeface="Aptos"/>
              </a:defRPr>
            </a:pPr>
            <a:r>
              <a:rPr sz="825" b="0">
                <a:solidFill>
                  <a:srgbClr val="5B666D"/>
                </a:solidFill>
                <a:latin typeface="Aptos"/>
                <a:ea typeface="Aptos"/>
                <a:cs typeface="Aptos"/>
              </a:rPr>
              <a:t>größter Belastungskanal</a:t>
            </a:r>
          </a:p>
        </p:txBody>
      </p:sp>
      <p:sp>
        <p:nvSpPr>
          <p:cNvPr id="32" name="Rechteck: abgerundete Ecken 31">
            <a:extLst>
              <a:ext uri="{FF2B5EF4-FFF2-40B4-BE49-F238E27FC236}">
                <a16:creationId xmlns:a16="http://schemas.microsoft.com/office/drawing/2014/main" id="{25748CAD-365E-4CA8-8DBB-3165A8B382C1}"/>
              </a:ext>
            </a:extLst>
          </p:cNvPr>
          <p:cNvSpPr>
            <a:spLocks noGrp="1"/>
          </p:cNvSpPr>
          <p:nvPr/>
        </p:nvSpPr>
        <p:spPr>
          <a:xfrm>
            <a:off x="8210550" y="3810000"/>
            <a:ext cx="3143250" cy="895350"/>
          </a:xfrm>
          <a:prstGeom prst="roundRect">
            <a:avLst>
              <a:gd name="adj" fmla="val 8511"/>
            </a:avLst>
          </a:prstGeom>
          <a:solidFill>
            <a:srgbClr val="FFFFFF"/>
          </a:solidFill>
          <a:ln w="9525">
            <a:solidFill>
              <a:srgbClr val="D9DEE2"/>
            </a:solidFill>
            <a:prstDash val="solid"/>
          </a:ln>
        </p:spPr>
        <p:txBody>
          <a:bodyPr/>
          <a:lstStyle/>
          <a:p>
            <a:endParaRPr/>
          </a:p>
        </p:txBody>
      </p:sp>
      <p:sp>
        <p:nvSpPr>
          <p:cNvPr id="33" name="Rechteck 32">
            <a:extLst>
              <a:ext uri="{FF2B5EF4-FFF2-40B4-BE49-F238E27FC236}">
                <a16:creationId xmlns:a16="http://schemas.microsoft.com/office/drawing/2014/main" id="{B324D10D-D2D8-47D4-8104-4C1B2289FC0B}"/>
              </a:ext>
            </a:extLst>
          </p:cNvPr>
          <p:cNvSpPr>
            <a:spLocks noGrp="1"/>
          </p:cNvSpPr>
          <p:nvPr/>
        </p:nvSpPr>
        <p:spPr>
          <a:xfrm>
            <a:off x="8210550" y="3810000"/>
            <a:ext cx="47625" cy="895350"/>
          </a:xfrm>
          <a:prstGeom prst="rect">
            <a:avLst/>
          </a:prstGeom>
          <a:solidFill>
            <a:srgbClr val="AF3D55"/>
          </a:solidFill>
          <a:ln w="0">
            <a:solidFill>
              <a:srgbClr val="AF3D55"/>
            </a:solidFill>
            <a:prstDash val="solid"/>
          </a:ln>
        </p:spPr>
        <p:txBody>
          <a:bodyPr/>
          <a:lstStyle/>
          <a:p>
            <a:endParaRPr/>
          </a:p>
        </p:txBody>
      </p:sp>
      <p:sp>
        <p:nvSpPr>
          <p:cNvPr id="34" name="Rechteck 33">
            <a:extLst>
              <a:ext uri="{FF2B5EF4-FFF2-40B4-BE49-F238E27FC236}">
                <a16:creationId xmlns:a16="http://schemas.microsoft.com/office/drawing/2014/main" id="{37CE5E64-BECB-4B1C-84E8-13165A16249B}"/>
              </a:ext>
            </a:extLst>
          </p:cNvPr>
          <p:cNvSpPr>
            <a:spLocks noGrp="1"/>
          </p:cNvSpPr>
          <p:nvPr/>
        </p:nvSpPr>
        <p:spPr>
          <a:xfrm>
            <a:off x="8382000" y="3905250"/>
            <a:ext cx="2800350" cy="180975"/>
          </a:xfrm>
          <a:prstGeom prst="rect">
            <a:avLst/>
          </a:prstGeom>
          <a:noFill/>
          <a:ln w="0">
            <a:noFill/>
            <a:prstDash val="solid"/>
          </a:ln>
        </p:spPr>
        <p:txBody>
          <a:bodyPr anchor="ctr"/>
          <a:lstStyle/>
          <a:p>
            <a:pPr algn="l">
              <a:buNone/>
              <a:defRPr sz="900" b="1">
                <a:solidFill>
                  <a:srgbClr val="5B666D"/>
                </a:solidFill>
                <a:latin typeface="Aptos"/>
                <a:ea typeface="Aptos"/>
                <a:cs typeface="Aptos"/>
              </a:defRPr>
            </a:pPr>
            <a:r>
              <a:rPr sz="900" b="1">
                <a:solidFill>
                  <a:srgbClr val="5B666D"/>
                </a:solidFill>
                <a:latin typeface="Aptos"/>
                <a:ea typeface="Aptos"/>
                <a:cs typeface="Aptos"/>
              </a:rPr>
              <a:t>RWA-AUSWEITUNG</a:t>
            </a:r>
          </a:p>
        </p:txBody>
      </p:sp>
      <p:sp>
        <p:nvSpPr>
          <p:cNvPr id="35" name="Rechteck 34">
            <a:extLst>
              <a:ext uri="{FF2B5EF4-FFF2-40B4-BE49-F238E27FC236}">
                <a16:creationId xmlns:a16="http://schemas.microsoft.com/office/drawing/2014/main" id="{B33AF6EA-6617-4701-A3EC-FB19CF1221EB}"/>
              </a:ext>
            </a:extLst>
          </p:cNvPr>
          <p:cNvSpPr>
            <a:spLocks noGrp="1"/>
          </p:cNvSpPr>
          <p:nvPr/>
        </p:nvSpPr>
        <p:spPr>
          <a:xfrm>
            <a:off x="8382000" y="4105275"/>
            <a:ext cx="2800350" cy="295275"/>
          </a:xfrm>
          <a:prstGeom prst="rect">
            <a:avLst/>
          </a:prstGeom>
          <a:noFill/>
          <a:ln w="0">
            <a:noFill/>
            <a:prstDash val="solid"/>
          </a:ln>
        </p:spPr>
        <p:txBody>
          <a:bodyPr anchor="ctr"/>
          <a:lstStyle/>
          <a:p>
            <a:pPr algn="l">
              <a:buNone/>
              <a:defRPr sz="1875" b="1">
                <a:solidFill>
                  <a:srgbClr val="071C2C"/>
                </a:solidFill>
                <a:latin typeface="Aptos"/>
                <a:ea typeface="Aptos"/>
                <a:cs typeface="Aptos"/>
              </a:defRPr>
            </a:pPr>
            <a:r>
              <a:rPr sz="1875" b="1">
                <a:solidFill>
                  <a:srgbClr val="071C2C"/>
                </a:solidFill>
                <a:latin typeface="Aptos"/>
                <a:ea typeface="Aptos"/>
                <a:cs typeface="Aptos"/>
              </a:rPr>
              <a:t>−1,00 pp</a:t>
            </a:r>
          </a:p>
        </p:txBody>
      </p:sp>
      <p:sp>
        <p:nvSpPr>
          <p:cNvPr id="36" name="Rechteck 35">
            <a:extLst>
              <a:ext uri="{FF2B5EF4-FFF2-40B4-BE49-F238E27FC236}">
                <a16:creationId xmlns:a16="http://schemas.microsoft.com/office/drawing/2014/main" id="{412C5B2D-D698-4510-BD13-DD4AC15D63BD}"/>
              </a:ext>
            </a:extLst>
          </p:cNvPr>
          <p:cNvSpPr>
            <a:spLocks noGrp="1"/>
          </p:cNvSpPr>
          <p:nvPr/>
        </p:nvSpPr>
        <p:spPr>
          <a:xfrm>
            <a:off x="8382000" y="4429125"/>
            <a:ext cx="2800350" cy="171450"/>
          </a:xfrm>
          <a:prstGeom prst="rect">
            <a:avLst/>
          </a:prstGeom>
          <a:noFill/>
          <a:ln w="0">
            <a:noFill/>
            <a:prstDash val="solid"/>
          </a:ln>
        </p:spPr>
        <p:txBody>
          <a:bodyPr anchor="ctr"/>
          <a:lstStyle/>
          <a:p>
            <a:pPr algn="l">
              <a:buNone/>
              <a:defRPr sz="825" b="0">
                <a:solidFill>
                  <a:srgbClr val="5B666D"/>
                </a:solidFill>
                <a:latin typeface="Aptos"/>
                <a:ea typeface="Aptos"/>
                <a:cs typeface="Aptos"/>
              </a:defRPr>
            </a:pPr>
            <a:r>
              <a:rPr sz="825" b="0">
                <a:solidFill>
                  <a:srgbClr val="5B666D"/>
                </a:solidFill>
                <a:latin typeface="Aptos"/>
                <a:ea typeface="Aptos"/>
                <a:cs typeface="Aptos"/>
              </a:rPr>
              <a:t>RWA steigen auf 388 Mrd. €</a:t>
            </a:r>
          </a:p>
        </p:txBody>
      </p:sp>
      <p:sp>
        <p:nvSpPr>
          <p:cNvPr id="6" name="Rectangle 21">
            <a:extLst>
              <a:ext uri="{FF2B5EF4-FFF2-40B4-BE49-F238E27FC236}">
                <a16:creationId xmlns:a16="http://schemas.microsoft.com/office/drawing/2014/main" id="{DE5067FC-5C07-3853-8BF8-ACB7F2BBAC9D}"/>
              </a:ext>
            </a:extLst>
          </p:cNvPr>
          <p:cNvSpPr>
            <a:spLocks noGrp="1"/>
          </p:cNvSpPr>
          <p:nvPr/>
        </p:nvSpPr>
        <p:spPr>
          <a:xfrm>
            <a:off x="438150" y="6143625"/>
            <a:ext cx="9810750" cy="152400"/>
          </a:xfrm>
          <a:prstGeom prst="rect">
            <a:avLst/>
          </a:prstGeom>
        </p:spPr>
        <p:txBody>
          <a:bodyPr lIns="0" tIns="0" rIns="0" bIns="0" anchor="ctr"/>
          <a:lstStyle/>
          <a:p>
            <a:pPr algn="l">
              <a:buNone/>
              <a:defRPr sz="750" b="0">
                <a:solidFill>
                  <a:srgbClr val="8C8780"/>
                </a:solidFill>
                <a:latin typeface="Aptos"/>
                <a:ea typeface="Aptos"/>
                <a:cs typeface="Aptos"/>
              </a:defRPr>
            </a:pPr>
            <a:r>
              <a:t>EU Banking Credit Stress Cockpit ·</a:t>
            </a:r>
            <a:r>
              <a:rPr lang="de-DE"/>
              <a:t> Eigenkapital</a:t>
            </a:r>
            <a:endParaRPr/>
          </a:p>
        </p:txBody>
      </p:sp>
      <p:sp>
        <p:nvSpPr>
          <p:cNvPr id="2" name="CodexSlideNumber">
            <a:extLst>
              <a:ext uri="{FF2B5EF4-FFF2-40B4-BE49-F238E27FC236}">
                <a16:creationId xmlns:a16="http://schemas.microsoft.com/office/drawing/2014/main" id="{46493AFC-D235-BA93-65C4-2B3DE3F507FA}"/>
              </a:ext>
            </a:extLst>
          </p:cNvPr>
          <p:cNvSpPr txBox="1"/>
          <p:nvPr/>
        </p:nvSpPr>
        <p:spPr>
          <a:xfrm>
            <a:off x="11226800" y="6553200"/>
            <a:ext cx="736600" cy="123111"/>
          </a:xfrm>
          <a:prstGeom prst="rect">
            <a:avLst/>
          </a:prstGeom>
          <a:noFill/>
        </p:spPr>
        <p:txBody>
          <a:bodyPr vert="horz" lIns="0" tIns="0" rIns="0" bIns="0" rtlCol="0">
            <a:spAutoFit/>
          </a:bodyPr>
          <a:lstStyle/>
          <a:p>
            <a:pPr algn="r"/>
            <a:r>
              <a:rPr lang="en-US" sz="800">
                <a:solidFill>
                  <a:srgbClr val="525252"/>
                </a:solidFill>
                <a:latin typeface="Arial" panose="020B0604020202020204" pitchFamily="34" charset="0"/>
              </a:rPr>
              <a:t>51 / 64</a:t>
            </a:r>
          </a:p>
        </p:txBody>
      </p:sp>
    </p:spTree>
    <p:extLst>
      <p:ext uri="{BB962C8B-B14F-4D97-AF65-F5344CB8AC3E}">
        <p14:creationId xmlns:p14="http://schemas.microsoft.com/office/powerpoint/2010/main" val="366628926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kicker-capital-label">
            <a:extLst>
              <a:ext uri="{FF2B5EF4-FFF2-40B4-BE49-F238E27FC236}">
                <a16:creationId xmlns:a16="http://schemas.microsoft.com/office/drawing/2014/main" id="{AE13FE1F-1131-4CB4-83F1-EA63DD1D8F6F}"/>
              </a:ext>
            </a:extLst>
          </p:cNvPr>
          <p:cNvSpPr>
            <a:spLocks noGrp="1"/>
          </p:cNvSpPr>
          <p:nvPr/>
        </p:nvSpPr>
        <p:spPr>
          <a:xfrm>
            <a:off x="600075" y="438150"/>
            <a:ext cx="2476500" cy="190500"/>
          </a:xfrm>
          <a:prstGeom prst="rect">
            <a:avLst/>
          </a:prstGeom>
        </p:spPr>
        <p:txBody>
          <a:bodyPr lIns="0" tIns="0" rIns="0" bIns="0" anchor="ctr"/>
          <a:lstStyle/>
          <a:p>
            <a:pPr>
              <a:defRPr sz="975" b="1">
                <a:solidFill>
                  <a:srgbClr val="5B666D"/>
                </a:solidFill>
                <a:latin typeface="Aptos"/>
                <a:ea typeface="Aptos"/>
                <a:cs typeface="Aptos"/>
              </a:defRPr>
            </a:pPr>
            <a:r>
              <a:rPr lang="en-GB" sz="863" b="1">
                <a:solidFill>
                  <a:schemeClr val="tx2"/>
                </a:solidFill>
                <a:latin typeface="Aptos"/>
              </a:rPr>
              <a:t>EIGENKAPITAL · VORSTANDS-USE-CASE</a:t>
            </a:r>
          </a:p>
        </p:txBody>
      </p:sp>
      <p:sp>
        <p:nvSpPr>
          <p:cNvPr id="4" name="Rectangle 3">
            <a:extLst>
              <a:ext uri="{FF2B5EF4-FFF2-40B4-BE49-F238E27FC236}">
                <a16:creationId xmlns:a16="http://schemas.microsoft.com/office/drawing/2014/main" id="{AAD55B66-96F0-40BE-B407-D83485DCB7F6}"/>
              </a:ext>
            </a:extLst>
          </p:cNvPr>
          <p:cNvSpPr>
            <a:spLocks noGrp="1"/>
          </p:cNvSpPr>
          <p:nvPr/>
        </p:nvSpPr>
        <p:spPr>
          <a:xfrm>
            <a:off x="438150" y="695325"/>
            <a:ext cx="11315700" cy="647700"/>
          </a:xfrm>
          <a:prstGeom prst="rect">
            <a:avLst/>
          </a:prstGeom>
        </p:spPr>
        <p:txBody>
          <a:bodyPr lIns="0" tIns="0" rIns="0" bIns="0" anchor="t"/>
          <a:lstStyle/>
          <a:p>
            <a:pPr>
              <a:buNone/>
              <a:defRPr sz="2475" b="1" i="0">
                <a:solidFill>
                  <a:srgbClr val="051C2C"/>
                </a:solidFill>
                <a:latin typeface="Aptos Display"/>
                <a:ea typeface="Aptos Display"/>
                <a:cs typeface="Aptos Display"/>
              </a:defRPr>
            </a:pPr>
            <a:r>
              <a:rPr lang="en-US" sz="2475" b="1">
                <a:solidFill>
                  <a:srgbClr val="051C2C"/>
                </a:solidFill>
                <a:latin typeface="Aptos Display"/>
              </a:rPr>
              <a:t>7,20 % </a:t>
            </a:r>
            <a:r>
              <a:rPr lang="en-US" sz="2475" b="1" err="1">
                <a:solidFill>
                  <a:srgbClr val="051C2C"/>
                </a:solidFill>
                <a:latin typeface="Aptos Display"/>
              </a:rPr>
              <a:t>macht</a:t>
            </a:r>
            <a:r>
              <a:rPr lang="en-US" sz="2475" b="1">
                <a:solidFill>
                  <a:srgbClr val="051C2C"/>
                </a:solidFill>
                <a:latin typeface="Aptos Display"/>
              </a:rPr>
              <a:t> </a:t>
            </a:r>
            <a:r>
              <a:rPr lang="en-US" sz="2475" b="1" err="1">
                <a:solidFill>
                  <a:srgbClr val="051C2C"/>
                </a:solidFill>
                <a:latin typeface="Aptos Display"/>
              </a:rPr>
              <a:t>sofortige</a:t>
            </a:r>
            <a:r>
              <a:rPr lang="en-US" sz="2475" b="1">
                <a:solidFill>
                  <a:srgbClr val="051C2C"/>
                </a:solidFill>
                <a:latin typeface="Aptos Display"/>
              </a:rPr>
              <a:t> </a:t>
            </a:r>
            <a:r>
              <a:rPr lang="en-US" sz="2475" b="1" err="1">
                <a:solidFill>
                  <a:srgbClr val="051C2C"/>
                </a:solidFill>
                <a:latin typeface="Aptos Display"/>
              </a:rPr>
              <a:t>Kapitalsteuerung</a:t>
            </a:r>
            <a:r>
              <a:rPr lang="en-US" sz="2475" b="1">
                <a:solidFill>
                  <a:srgbClr val="051C2C"/>
                </a:solidFill>
                <a:latin typeface="Aptos Display"/>
              </a:rPr>
              <a:t> </a:t>
            </a:r>
            <a:r>
              <a:rPr lang="en-US" sz="2475" b="1" err="1">
                <a:solidFill>
                  <a:srgbClr val="051C2C"/>
                </a:solidFill>
                <a:latin typeface="Aptos Display"/>
              </a:rPr>
              <a:t>notwendig</a:t>
            </a:r>
            <a:r>
              <a:rPr lang="en-US" sz="2475" b="1">
                <a:solidFill>
                  <a:srgbClr val="051C2C"/>
                </a:solidFill>
                <a:latin typeface="Aptos Display"/>
              </a:rPr>
              <a:t>.</a:t>
            </a:r>
          </a:p>
        </p:txBody>
      </p:sp>
      <p:sp>
        <p:nvSpPr>
          <p:cNvPr id="5" name="Rectangle 4">
            <a:extLst>
              <a:ext uri="{FF2B5EF4-FFF2-40B4-BE49-F238E27FC236}">
                <a16:creationId xmlns:a16="http://schemas.microsoft.com/office/drawing/2014/main" id="{459D872A-72FC-448D-87F6-AF578409C11F}"/>
              </a:ext>
            </a:extLst>
          </p:cNvPr>
          <p:cNvSpPr>
            <a:spLocks noGrp="1"/>
          </p:cNvSpPr>
          <p:nvPr/>
        </p:nvSpPr>
        <p:spPr>
          <a:xfrm>
            <a:off x="438150" y="1118565"/>
            <a:ext cx="11315700" cy="209550"/>
          </a:xfrm>
          <a:prstGeom prst="rect">
            <a:avLst/>
          </a:prstGeom>
        </p:spPr>
        <p:txBody>
          <a:bodyPr lIns="0" tIns="0" rIns="0" bIns="0" anchor="t"/>
          <a:lstStyle/>
          <a:p>
            <a:pPr algn="l">
              <a:buNone/>
              <a:defRPr sz="1200" b="0">
                <a:solidFill>
                  <a:srgbClr val="5B666D"/>
                </a:solidFill>
                <a:latin typeface="Aptos"/>
                <a:ea typeface="Aptos"/>
                <a:cs typeface="Aptos"/>
              </a:defRPr>
            </a:pPr>
            <a:r>
              <a:rPr lang="de-DE" sz="1130"/>
              <a:t>Deutsche Bank liegt unter dem 8-%-Ziel und nur 0,11 pp über dem Kapitalpuffer von 7,09 %.</a:t>
            </a:r>
          </a:p>
        </p:txBody>
      </p:sp>
      <p:pic>
        <p:nvPicPr>
          <p:cNvPr id="48" name="Grafik 46"/>
          <p:cNvPicPr>
            <a:picLocks noChangeAspect="1"/>
          </p:cNvPicPr>
          <p:nvPr/>
        </p:nvPicPr>
        <p:blipFill>
          <a:blip r:embed="rId4"/>
          <a:srcRect l="2801" t="22572" r="975" b="2393"/>
          <a:stretch>
            <a:fillRect/>
          </a:stretch>
        </p:blipFill>
        <p:spPr>
          <a:xfrm>
            <a:off x="438150" y="1752600"/>
            <a:ext cx="7524750" cy="3514726"/>
          </a:xfrm>
          <a:prstGeom prst="roundRect">
            <a:avLst>
              <a:gd name="adj" fmla="val 1626"/>
            </a:avLst>
          </a:prstGeom>
        </p:spPr>
      </p:pic>
      <p:sp>
        <p:nvSpPr>
          <p:cNvPr id="22" name="Rechteck: abgerundete Ecken 21">
            <a:extLst>
              <a:ext uri="{FF2B5EF4-FFF2-40B4-BE49-F238E27FC236}">
                <a16:creationId xmlns:a16="http://schemas.microsoft.com/office/drawing/2014/main" id="{C64190C2-08A0-4F2A-94F1-CD2AD5A1FE55}"/>
              </a:ext>
            </a:extLst>
          </p:cNvPr>
          <p:cNvSpPr>
            <a:spLocks noGrp="1"/>
          </p:cNvSpPr>
          <p:nvPr/>
        </p:nvSpPr>
        <p:spPr>
          <a:xfrm>
            <a:off x="8210550" y="1752600"/>
            <a:ext cx="3143250" cy="895350"/>
          </a:xfrm>
          <a:prstGeom prst="roundRect">
            <a:avLst>
              <a:gd name="adj" fmla="val 8511"/>
            </a:avLst>
          </a:prstGeom>
          <a:solidFill>
            <a:srgbClr val="FFFFFF"/>
          </a:solidFill>
          <a:ln w="9525">
            <a:solidFill>
              <a:srgbClr val="D9DEE2"/>
            </a:solidFill>
            <a:prstDash val="solid"/>
          </a:ln>
        </p:spPr>
        <p:txBody>
          <a:bodyPr/>
          <a:lstStyle/>
          <a:p>
            <a:endParaRPr/>
          </a:p>
        </p:txBody>
      </p:sp>
      <p:sp>
        <p:nvSpPr>
          <p:cNvPr id="23" name="Rechteck 22">
            <a:extLst>
              <a:ext uri="{FF2B5EF4-FFF2-40B4-BE49-F238E27FC236}">
                <a16:creationId xmlns:a16="http://schemas.microsoft.com/office/drawing/2014/main" id="{2009554B-331C-4FD4-8EB2-E49076992D03}"/>
              </a:ext>
            </a:extLst>
          </p:cNvPr>
          <p:cNvSpPr>
            <a:spLocks noGrp="1"/>
          </p:cNvSpPr>
          <p:nvPr/>
        </p:nvSpPr>
        <p:spPr>
          <a:xfrm>
            <a:off x="8210550" y="1752600"/>
            <a:ext cx="47625" cy="895350"/>
          </a:xfrm>
          <a:prstGeom prst="rect">
            <a:avLst/>
          </a:prstGeom>
          <a:solidFill>
            <a:srgbClr val="AF3D55"/>
          </a:solidFill>
          <a:ln w="0">
            <a:solidFill>
              <a:srgbClr val="AF3D55"/>
            </a:solidFill>
            <a:prstDash val="solid"/>
          </a:ln>
        </p:spPr>
        <p:txBody>
          <a:bodyPr/>
          <a:lstStyle/>
          <a:p>
            <a:endParaRPr/>
          </a:p>
        </p:txBody>
      </p:sp>
      <p:sp>
        <p:nvSpPr>
          <p:cNvPr id="24" name="Rechteck 23">
            <a:extLst>
              <a:ext uri="{FF2B5EF4-FFF2-40B4-BE49-F238E27FC236}">
                <a16:creationId xmlns:a16="http://schemas.microsoft.com/office/drawing/2014/main" id="{60275F98-54B8-4D34-838B-D4A8ACFE5180}"/>
              </a:ext>
            </a:extLst>
          </p:cNvPr>
          <p:cNvSpPr>
            <a:spLocks noGrp="1"/>
          </p:cNvSpPr>
          <p:nvPr/>
        </p:nvSpPr>
        <p:spPr>
          <a:xfrm>
            <a:off x="8382000" y="1847850"/>
            <a:ext cx="2800350" cy="180975"/>
          </a:xfrm>
          <a:prstGeom prst="rect">
            <a:avLst/>
          </a:prstGeom>
          <a:noFill/>
          <a:ln w="0">
            <a:noFill/>
            <a:prstDash val="solid"/>
          </a:ln>
        </p:spPr>
        <p:txBody>
          <a:bodyPr anchor="ctr"/>
          <a:lstStyle/>
          <a:p>
            <a:pPr algn="l">
              <a:buNone/>
              <a:defRPr sz="900" b="1">
                <a:solidFill>
                  <a:srgbClr val="5B666D"/>
                </a:solidFill>
                <a:latin typeface="Aptos"/>
                <a:ea typeface="Aptos"/>
                <a:cs typeface="Aptos"/>
              </a:defRPr>
            </a:pPr>
            <a:r>
              <a:rPr sz="900" b="1">
                <a:solidFill>
                  <a:srgbClr val="5B666D"/>
                </a:solidFill>
                <a:latin typeface="Aptos"/>
                <a:ea typeface="Aptos"/>
                <a:cs typeface="Aptos"/>
              </a:rPr>
              <a:t>UNTER 8 %</a:t>
            </a:r>
          </a:p>
        </p:txBody>
      </p:sp>
      <p:sp>
        <p:nvSpPr>
          <p:cNvPr id="25" name="Rechteck 24">
            <a:extLst>
              <a:ext uri="{FF2B5EF4-FFF2-40B4-BE49-F238E27FC236}">
                <a16:creationId xmlns:a16="http://schemas.microsoft.com/office/drawing/2014/main" id="{4AD9CA2B-E67B-42B5-9B9F-89A3F9FA3F74}"/>
              </a:ext>
            </a:extLst>
          </p:cNvPr>
          <p:cNvSpPr>
            <a:spLocks noGrp="1"/>
          </p:cNvSpPr>
          <p:nvPr/>
        </p:nvSpPr>
        <p:spPr>
          <a:xfrm>
            <a:off x="8382000" y="2047875"/>
            <a:ext cx="2800350" cy="295275"/>
          </a:xfrm>
          <a:prstGeom prst="rect">
            <a:avLst/>
          </a:prstGeom>
          <a:noFill/>
          <a:ln w="0">
            <a:noFill/>
            <a:prstDash val="solid"/>
          </a:ln>
        </p:spPr>
        <p:txBody>
          <a:bodyPr anchor="ctr"/>
          <a:lstStyle/>
          <a:p>
            <a:pPr algn="l">
              <a:buNone/>
              <a:defRPr sz="1875" b="1">
                <a:solidFill>
                  <a:srgbClr val="071C2C"/>
                </a:solidFill>
                <a:latin typeface="Aptos"/>
                <a:ea typeface="Aptos"/>
                <a:cs typeface="Aptos"/>
              </a:defRPr>
            </a:pPr>
            <a:r>
              <a:rPr sz="1875" b="1">
                <a:solidFill>
                  <a:srgbClr val="071C2C"/>
                </a:solidFill>
                <a:latin typeface="Aptos"/>
                <a:ea typeface="Aptos"/>
                <a:cs typeface="Aptos"/>
              </a:rPr>
              <a:t>2 von 10</a:t>
            </a:r>
          </a:p>
        </p:txBody>
      </p:sp>
      <p:sp>
        <p:nvSpPr>
          <p:cNvPr id="26" name="Rechteck 25">
            <a:extLst>
              <a:ext uri="{FF2B5EF4-FFF2-40B4-BE49-F238E27FC236}">
                <a16:creationId xmlns:a16="http://schemas.microsoft.com/office/drawing/2014/main" id="{72197A8A-C384-459B-8E56-0E574BBF76B7}"/>
              </a:ext>
            </a:extLst>
          </p:cNvPr>
          <p:cNvSpPr>
            <a:spLocks noGrp="1"/>
          </p:cNvSpPr>
          <p:nvPr/>
        </p:nvSpPr>
        <p:spPr>
          <a:xfrm>
            <a:off x="8382000" y="2371725"/>
            <a:ext cx="2800350" cy="171450"/>
          </a:xfrm>
          <a:prstGeom prst="rect">
            <a:avLst/>
          </a:prstGeom>
          <a:noFill/>
          <a:ln w="0">
            <a:noFill/>
            <a:prstDash val="solid"/>
          </a:ln>
        </p:spPr>
        <p:txBody>
          <a:bodyPr anchor="ctr"/>
          <a:lstStyle/>
          <a:p>
            <a:pPr algn="l">
              <a:buNone/>
              <a:defRPr sz="825" b="0">
                <a:solidFill>
                  <a:srgbClr val="5B666D"/>
                </a:solidFill>
                <a:latin typeface="Aptos"/>
                <a:ea typeface="Aptos"/>
                <a:cs typeface="Aptos"/>
              </a:defRPr>
            </a:pPr>
            <a:r>
              <a:rPr sz="825" b="0">
                <a:solidFill>
                  <a:srgbClr val="5B666D"/>
                </a:solidFill>
                <a:latin typeface="Aptos"/>
                <a:ea typeface="Aptos"/>
                <a:cs typeface="Aptos"/>
              </a:rPr>
              <a:t>Deutsche Bank und Société Générale</a:t>
            </a:r>
          </a:p>
        </p:txBody>
      </p:sp>
      <p:sp>
        <p:nvSpPr>
          <p:cNvPr id="27" name="Rechteck: abgerundete Ecken 26">
            <a:extLst>
              <a:ext uri="{FF2B5EF4-FFF2-40B4-BE49-F238E27FC236}">
                <a16:creationId xmlns:a16="http://schemas.microsoft.com/office/drawing/2014/main" id="{6915AEDE-CE3E-4F63-9E36-2A1AE28E6E06}"/>
              </a:ext>
            </a:extLst>
          </p:cNvPr>
          <p:cNvSpPr>
            <a:spLocks noGrp="1"/>
          </p:cNvSpPr>
          <p:nvPr/>
        </p:nvSpPr>
        <p:spPr>
          <a:xfrm>
            <a:off x="8210550" y="2781300"/>
            <a:ext cx="3143250" cy="895350"/>
          </a:xfrm>
          <a:prstGeom prst="roundRect">
            <a:avLst>
              <a:gd name="adj" fmla="val 8511"/>
            </a:avLst>
          </a:prstGeom>
          <a:solidFill>
            <a:srgbClr val="FFFFFF"/>
          </a:solidFill>
          <a:ln w="9525">
            <a:solidFill>
              <a:srgbClr val="D9DEE2"/>
            </a:solidFill>
            <a:prstDash val="solid"/>
          </a:ln>
        </p:spPr>
        <p:txBody>
          <a:bodyPr/>
          <a:lstStyle/>
          <a:p>
            <a:endParaRPr/>
          </a:p>
        </p:txBody>
      </p:sp>
      <p:sp>
        <p:nvSpPr>
          <p:cNvPr id="28" name="Rechteck 27">
            <a:extLst>
              <a:ext uri="{FF2B5EF4-FFF2-40B4-BE49-F238E27FC236}">
                <a16:creationId xmlns:a16="http://schemas.microsoft.com/office/drawing/2014/main" id="{4926F579-6F54-430C-8CA6-96C0B58320CD}"/>
              </a:ext>
            </a:extLst>
          </p:cNvPr>
          <p:cNvSpPr>
            <a:spLocks noGrp="1"/>
          </p:cNvSpPr>
          <p:nvPr/>
        </p:nvSpPr>
        <p:spPr>
          <a:xfrm>
            <a:off x="8210550" y="2781300"/>
            <a:ext cx="47625" cy="895350"/>
          </a:xfrm>
          <a:prstGeom prst="rect">
            <a:avLst/>
          </a:prstGeom>
          <a:solidFill>
            <a:srgbClr val="D99F27"/>
          </a:solidFill>
          <a:ln w="0">
            <a:solidFill>
              <a:srgbClr val="D99F27"/>
            </a:solidFill>
            <a:prstDash val="solid"/>
          </a:ln>
        </p:spPr>
        <p:txBody>
          <a:bodyPr/>
          <a:lstStyle/>
          <a:p>
            <a:endParaRPr/>
          </a:p>
        </p:txBody>
      </p:sp>
      <p:sp>
        <p:nvSpPr>
          <p:cNvPr id="29" name="Rechteck 28">
            <a:extLst>
              <a:ext uri="{FF2B5EF4-FFF2-40B4-BE49-F238E27FC236}">
                <a16:creationId xmlns:a16="http://schemas.microsoft.com/office/drawing/2014/main" id="{3CCE49BA-7B18-449D-AA27-842EB0222D6A}"/>
              </a:ext>
            </a:extLst>
          </p:cNvPr>
          <p:cNvSpPr>
            <a:spLocks noGrp="1"/>
          </p:cNvSpPr>
          <p:nvPr/>
        </p:nvSpPr>
        <p:spPr>
          <a:xfrm>
            <a:off x="8382000" y="2876550"/>
            <a:ext cx="2800350" cy="180975"/>
          </a:xfrm>
          <a:prstGeom prst="rect">
            <a:avLst/>
          </a:prstGeom>
          <a:noFill/>
          <a:ln w="0">
            <a:noFill/>
            <a:prstDash val="solid"/>
          </a:ln>
        </p:spPr>
        <p:txBody>
          <a:bodyPr anchor="ctr"/>
          <a:lstStyle/>
          <a:p>
            <a:pPr algn="l">
              <a:buNone/>
              <a:defRPr sz="900" b="1">
                <a:solidFill>
                  <a:srgbClr val="5B666D"/>
                </a:solidFill>
                <a:latin typeface="Aptos"/>
                <a:ea typeface="Aptos"/>
                <a:cs typeface="Aptos"/>
              </a:defRPr>
            </a:pPr>
            <a:r>
              <a:rPr sz="900" b="1">
                <a:solidFill>
                  <a:srgbClr val="5B666D"/>
                </a:solidFill>
                <a:latin typeface="Aptos"/>
                <a:ea typeface="Aptos"/>
                <a:cs typeface="Aptos"/>
              </a:rPr>
              <a:t>DB ZUM 8-%-ZIEL</a:t>
            </a:r>
          </a:p>
        </p:txBody>
      </p:sp>
      <p:sp>
        <p:nvSpPr>
          <p:cNvPr id="30" name="Rechteck 29">
            <a:extLst>
              <a:ext uri="{FF2B5EF4-FFF2-40B4-BE49-F238E27FC236}">
                <a16:creationId xmlns:a16="http://schemas.microsoft.com/office/drawing/2014/main" id="{9BA1EB73-9A1A-49F3-B9D9-0333E898078C}"/>
              </a:ext>
            </a:extLst>
          </p:cNvPr>
          <p:cNvSpPr>
            <a:spLocks noGrp="1"/>
          </p:cNvSpPr>
          <p:nvPr/>
        </p:nvSpPr>
        <p:spPr>
          <a:xfrm>
            <a:off x="8382000" y="3076575"/>
            <a:ext cx="2800350" cy="295275"/>
          </a:xfrm>
          <a:prstGeom prst="rect">
            <a:avLst/>
          </a:prstGeom>
          <a:noFill/>
          <a:ln w="0">
            <a:noFill/>
            <a:prstDash val="solid"/>
          </a:ln>
        </p:spPr>
        <p:txBody>
          <a:bodyPr anchor="ctr"/>
          <a:lstStyle/>
          <a:p>
            <a:pPr algn="l">
              <a:buNone/>
              <a:defRPr sz="1875" b="1">
                <a:solidFill>
                  <a:srgbClr val="071C2C"/>
                </a:solidFill>
                <a:latin typeface="Aptos"/>
                <a:ea typeface="Aptos"/>
                <a:cs typeface="Aptos"/>
              </a:defRPr>
            </a:pPr>
            <a:r>
              <a:rPr sz="1875" b="1">
                <a:solidFill>
                  <a:srgbClr val="071C2C"/>
                </a:solidFill>
                <a:latin typeface="Aptos"/>
                <a:ea typeface="Aptos"/>
                <a:cs typeface="Aptos"/>
              </a:rPr>
              <a:t>−0,80 pp</a:t>
            </a:r>
          </a:p>
        </p:txBody>
      </p:sp>
      <p:sp>
        <p:nvSpPr>
          <p:cNvPr id="31" name="Rechteck 30">
            <a:extLst>
              <a:ext uri="{FF2B5EF4-FFF2-40B4-BE49-F238E27FC236}">
                <a16:creationId xmlns:a16="http://schemas.microsoft.com/office/drawing/2014/main" id="{0606CDBF-ACA9-4584-BDD0-25699BB40DDE}"/>
              </a:ext>
            </a:extLst>
          </p:cNvPr>
          <p:cNvSpPr>
            <a:spLocks noGrp="1"/>
          </p:cNvSpPr>
          <p:nvPr/>
        </p:nvSpPr>
        <p:spPr>
          <a:xfrm>
            <a:off x="8382000" y="3400425"/>
            <a:ext cx="2800350" cy="171450"/>
          </a:xfrm>
          <a:prstGeom prst="rect">
            <a:avLst/>
          </a:prstGeom>
          <a:noFill/>
          <a:ln w="0">
            <a:noFill/>
            <a:prstDash val="solid"/>
          </a:ln>
        </p:spPr>
        <p:txBody>
          <a:bodyPr anchor="ctr"/>
          <a:lstStyle/>
          <a:p>
            <a:pPr algn="l">
              <a:buNone/>
              <a:defRPr sz="825" b="0">
                <a:solidFill>
                  <a:srgbClr val="5B666D"/>
                </a:solidFill>
                <a:latin typeface="Aptos"/>
                <a:ea typeface="Aptos"/>
                <a:cs typeface="Aptos"/>
              </a:defRPr>
            </a:pPr>
            <a:r>
              <a:rPr sz="825" b="0">
                <a:solidFill>
                  <a:srgbClr val="5B666D"/>
                </a:solidFill>
                <a:latin typeface="Aptos"/>
                <a:ea typeface="Aptos"/>
                <a:cs typeface="Aptos"/>
              </a:rPr>
              <a:t>7,20 % versus 8,00 %</a:t>
            </a:r>
          </a:p>
        </p:txBody>
      </p:sp>
      <p:sp>
        <p:nvSpPr>
          <p:cNvPr id="32" name="Rechteck: abgerundete Ecken 31">
            <a:extLst>
              <a:ext uri="{FF2B5EF4-FFF2-40B4-BE49-F238E27FC236}">
                <a16:creationId xmlns:a16="http://schemas.microsoft.com/office/drawing/2014/main" id="{884C22C0-82A4-4D69-A915-35BB2C77B8C7}"/>
              </a:ext>
            </a:extLst>
          </p:cNvPr>
          <p:cNvSpPr>
            <a:spLocks noGrp="1"/>
          </p:cNvSpPr>
          <p:nvPr/>
        </p:nvSpPr>
        <p:spPr>
          <a:xfrm>
            <a:off x="8210550" y="3810000"/>
            <a:ext cx="3143250" cy="895350"/>
          </a:xfrm>
          <a:prstGeom prst="roundRect">
            <a:avLst>
              <a:gd name="adj" fmla="val 8511"/>
            </a:avLst>
          </a:prstGeom>
          <a:solidFill>
            <a:srgbClr val="FFFFFF"/>
          </a:solidFill>
          <a:ln w="9525">
            <a:solidFill>
              <a:srgbClr val="D9DEE2"/>
            </a:solidFill>
            <a:prstDash val="solid"/>
          </a:ln>
        </p:spPr>
        <p:txBody>
          <a:bodyPr/>
          <a:lstStyle/>
          <a:p>
            <a:endParaRPr/>
          </a:p>
        </p:txBody>
      </p:sp>
      <p:sp>
        <p:nvSpPr>
          <p:cNvPr id="33" name="Rechteck 32">
            <a:extLst>
              <a:ext uri="{FF2B5EF4-FFF2-40B4-BE49-F238E27FC236}">
                <a16:creationId xmlns:a16="http://schemas.microsoft.com/office/drawing/2014/main" id="{06CF1896-3DA3-40E0-8629-4F0F3DC646A1}"/>
              </a:ext>
            </a:extLst>
          </p:cNvPr>
          <p:cNvSpPr>
            <a:spLocks noGrp="1"/>
          </p:cNvSpPr>
          <p:nvPr/>
        </p:nvSpPr>
        <p:spPr>
          <a:xfrm>
            <a:off x="8210550" y="3810000"/>
            <a:ext cx="47625" cy="895350"/>
          </a:xfrm>
          <a:prstGeom prst="rect">
            <a:avLst/>
          </a:prstGeom>
          <a:solidFill>
            <a:srgbClr val="168C8C"/>
          </a:solidFill>
          <a:ln w="0">
            <a:solidFill>
              <a:srgbClr val="168C8C"/>
            </a:solidFill>
            <a:prstDash val="solid"/>
          </a:ln>
        </p:spPr>
        <p:txBody>
          <a:bodyPr/>
          <a:lstStyle/>
          <a:p>
            <a:endParaRPr/>
          </a:p>
        </p:txBody>
      </p:sp>
      <p:sp>
        <p:nvSpPr>
          <p:cNvPr id="34" name="Rechteck 33">
            <a:extLst>
              <a:ext uri="{FF2B5EF4-FFF2-40B4-BE49-F238E27FC236}">
                <a16:creationId xmlns:a16="http://schemas.microsoft.com/office/drawing/2014/main" id="{1485B086-293D-4EC6-905A-9198C9D2F582}"/>
              </a:ext>
            </a:extLst>
          </p:cNvPr>
          <p:cNvSpPr>
            <a:spLocks noGrp="1"/>
          </p:cNvSpPr>
          <p:nvPr/>
        </p:nvSpPr>
        <p:spPr>
          <a:xfrm>
            <a:off x="8382000" y="3905250"/>
            <a:ext cx="2800350" cy="180975"/>
          </a:xfrm>
          <a:prstGeom prst="rect">
            <a:avLst/>
          </a:prstGeom>
          <a:noFill/>
          <a:ln w="0">
            <a:noFill/>
            <a:prstDash val="solid"/>
          </a:ln>
        </p:spPr>
        <p:txBody>
          <a:bodyPr anchor="ctr"/>
          <a:lstStyle/>
          <a:p>
            <a:pPr algn="l">
              <a:buNone/>
              <a:defRPr sz="900" b="1">
                <a:solidFill>
                  <a:srgbClr val="5B666D"/>
                </a:solidFill>
                <a:latin typeface="Aptos"/>
                <a:ea typeface="Aptos"/>
                <a:cs typeface="Aptos"/>
              </a:defRPr>
            </a:pPr>
            <a:r>
              <a:rPr sz="900" b="1">
                <a:solidFill>
                  <a:srgbClr val="5B666D"/>
                </a:solidFill>
                <a:latin typeface="Aptos"/>
                <a:ea typeface="Aptos"/>
                <a:cs typeface="Aptos"/>
              </a:rPr>
              <a:t>DB ZUM PUFFER</a:t>
            </a:r>
          </a:p>
        </p:txBody>
      </p:sp>
      <p:sp>
        <p:nvSpPr>
          <p:cNvPr id="35" name="Rechteck 34">
            <a:extLst>
              <a:ext uri="{FF2B5EF4-FFF2-40B4-BE49-F238E27FC236}">
                <a16:creationId xmlns:a16="http://schemas.microsoft.com/office/drawing/2014/main" id="{503F5568-9027-4353-A6B9-5FE241ACE080}"/>
              </a:ext>
            </a:extLst>
          </p:cNvPr>
          <p:cNvSpPr>
            <a:spLocks noGrp="1"/>
          </p:cNvSpPr>
          <p:nvPr/>
        </p:nvSpPr>
        <p:spPr>
          <a:xfrm>
            <a:off x="8382000" y="4105275"/>
            <a:ext cx="2800350" cy="295275"/>
          </a:xfrm>
          <a:prstGeom prst="rect">
            <a:avLst/>
          </a:prstGeom>
          <a:noFill/>
          <a:ln w="0">
            <a:noFill/>
            <a:prstDash val="solid"/>
          </a:ln>
        </p:spPr>
        <p:txBody>
          <a:bodyPr anchor="ctr"/>
          <a:lstStyle/>
          <a:p>
            <a:pPr algn="l">
              <a:buNone/>
              <a:defRPr sz="1875" b="1">
                <a:solidFill>
                  <a:srgbClr val="071C2C"/>
                </a:solidFill>
                <a:latin typeface="Aptos"/>
                <a:ea typeface="Aptos"/>
                <a:cs typeface="Aptos"/>
              </a:defRPr>
            </a:pPr>
            <a:r>
              <a:rPr sz="1875" b="1">
                <a:solidFill>
                  <a:srgbClr val="071C2C"/>
                </a:solidFill>
                <a:latin typeface="Aptos"/>
                <a:ea typeface="Aptos"/>
                <a:cs typeface="Aptos"/>
              </a:rPr>
              <a:t>+0,11 pp</a:t>
            </a:r>
          </a:p>
        </p:txBody>
      </p:sp>
      <p:sp>
        <p:nvSpPr>
          <p:cNvPr id="36" name="Rechteck 35">
            <a:extLst>
              <a:ext uri="{FF2B5EF4-FFF2-40B4-BE49-F238E27FC236}">
                <a16:creationId xmlns:a16="http://schemas.microsoft.com/office/drawing/2014/main" id="{03EBBE1D-40A5-486B-ABAA-FE2313796D1D}"/>
              </a:ext>
            </a:extLst>
          </p:cNvPr>
          <p:cNvSpPr>
            <a:spLocks noGrp="1"/>
          </p:cNvSpPr>
          <p:nvPr/>
        </p:nvSpPr>
        <p:spPr>
          <a:xfrm>
            <a:off x="8382000" y="4429125"/>
            <a:ext cx="2800350" cy="171450"/>
          </a:xfrm>
          <a:prstGeom prst="rect">
            <a:avLst/>
          </a:prstGeom>
          <a:noFill/>
          <a:ln w="0">
            <a:noFill/>
            <a:prstDash val="solid"/>
          </a:ln>
        </p:spPr>
        <p:txBody>
          <a:bodyPr anchor="ctr"/>
          <a:lstStyle/>
          <a:p>
            <a:pPr algn="l">
              <a:buNone/>
              <a:defRPr sz="825" b="0">
                <a:solidFill>
                  <a:srgbClr val="5B666D"/>
                </a:solidFill>
                <a:latin typeface="Aptos"/>
                <a:ea typeface="Aptos"/>
                <a:cs typeface="Aptos"/>
              </a:defRPr>
            </a:pPr>
            <a:r>
              <a:rPr sz="825" b="0">
                <a:solidFill>
                  <a:srgbClr val="5B666D"/>
                </a:solidFill>
                <a:latin typeface="Aptos"/>
                <a:ea typeface="Aptos"/>
                <a:cs typeface="Aptos"/>
              </a:rPr>
              <a:t>7,20 % versus 7,09 %</a:t>
            </a:r>
          </a:p>
        </p:txBody>
      </p:sp>
      <p:sp>
        <p:nvSpPr>
          <p:cNvPr id="6" name="Rectangle 21">
            <a:extLst>
              <a:ext uri="{FF2B5EF4-FFF2-40B4-BE49-F238E27FC236}">
                <a16:creationId xmlns:a16="http://schemas.microsoft.com/office/drawing/2014/main" id="{6C038D9B-7884-BE81-A022-97566FFECD84}"/>
              </a:ext>
            </a:extLst>
          </p:cNvPr>
          <p:cNvSpPr>
            <a:spLocks noGrp="1"/>
          </p:cNvSpPr>
          <p:nvPr/>
        </p:nvSpPr>
        <p:spPr>
          <a:xfrm>
            <a:off x="438150" y="6143625"/>
            <a:ext cx="9810750" cy="152400"/>
          </a:xfrm>
          <a:prstGeom prst="rect">
            <a:avLst/>
          </a:prstGeom>
        </p:spPr>
        <p:txBody>
          <a:bodyPr lIns="0" tIns="0" rIns="0" bIns="0" anchor="ctr"/>
          <a:lstStyle/>
          <a:p>
            <a:pPr algn="l">
              <a:buNone/>
              <a:defRPr sz="750" b="0">
                <a:solidFill>
                  <a:srgbClr val="8C8780"/>
                </a:solidFill>
                <a:latin typeface="Aptos"/>
                <a:ea typeface="Aptos"/>
                <a:cs typeface="Aptos"/>
              </a:defRPr>
            </a:pPr>
            <a:r>
              <a:t>EU Banking Credit Stress Cockpit ·</a:t>
            </a:r>
            <a:r>
              <a:rPr lang="de-DE"/>
              <a:t> Eigenkapital</a:t>
            </a:r>
            <a:endParaRPr/>
          </a:p>
        </p:txBody>
      </p:sp>
      <p:sp>
        <p:nvSpPr>
          <p:cNvPr id="2" name="CodexSlideNumber">
            <a:extLst>
              <a:ext uri="{FF2B5EF4-FFF2-40B4-BE49-F238E27FC236}">
                <a16:creationId xmlns:a16="http://schemas.microsoft.com/office/drawing/2014/main" id="{8F2A5D53-0E9B-26CC-E4B8-0FFDE70972F8}"/>
              </a:ext>
            </a:extLst>
          </p:cNvPr>
          <p:cNvSpPr txBox="1"/>
          <p:nvPr/>
        </p:nvSpPr>
        <p:spPr>
          <a:xfrm>
            <a:off x="11226800" y="6553200"/>
            <a:ext cx="736600" cy="123111"/>
          </a:xfrm>
          <a:prstGeom prst="rect">
            <a:avLst/>
          </a:prstGeom>
          <a:noFill/>
        </p:spPr>
        <p:txBody>
          <a:bodyPr vert="horz" lIns="0" tIns="0" rIns="0" bIns="0" rtlCol="0">
            <a:spAutoFit/>
          </a:bodyPr>
          <a:lstStyle/>
          <a:p>
            <a:pPr algn="r"/>
            <a:r>
              <a:rPr lang="en-US" sz="800">
                <a:solidFill>
                  <a:srgbClr val="525252"/>
                </a:solidFill>
                <a:latin typeface="Arial" panose="020B0604020202020204" pitchFamily="34" charset="0"/>
              </a:rPr>
              <a:t>52 / 64</a:t>
            </a:r>
          </a:p>
        </p:txBody>
      </p:sp>
    </p:spTree>
    <p:extLst>
      <p:ext uri="{BB962C8B-B14F-4D97-AF65-F5344CB8AC3E}">
        <p14:creationId xmlns:p14="http://schemas.microsoft.com/office/powerpoint/2010/main" val="2337056869"/>
      </p:ext>
    </p:extLst>
  </p:cSld>
  <p:clrMapOvr>
    <a:overrideClrMapping bg1="lt1" tx1="dk1" bg2="lt2" tx2="dk2" accent1="accent1" accent2="accent2" accent3="accent3" accent4="accent4" accent5="accent5" accent6="accent6" hlink="hlink" folHlink="folHlink"/>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kicker-capital-label">
            <a:extLst>
              <a:ext uri="{FF2B5EF4-FFF2-40B4-BE49-F238E27FC236}">
                <a16:creationId xmlns:a16="http://schemas.microsoft.com/office/drawing/2014/main" id="{AE13FE1F-1131-4CB4-83F1-EA63DD1D8F6F}"/>
              </a:ext>
            </a:extLst>
          </p:cNvPr>
          <p:cNvSpPr>
            <a:spLocks noGrp="1"/>
          </p:cNvSpPr>
          <p:nvPr/>
        </p:nvSpPr>
        <p:spPr>
          <a:xfrm>
            <a:off x="600075" y="438150"/>
            <a:ext cx="2476500" cy="190500"/>
          </a:xfrm>
          <a:prstGeom prst="rect">
            <a:avLst/>
          </a:prstGeom>
        </p:spPr>
        <p:txBody>
          <a:bodyPr lIns="0" tIns="0" rIns="0" bIns="0" anchor="ctr"/>
          <a:lstStyle/>
          <a:p>
            <a:pPr>
              <a:defRPr sz="975" b="1">
                <a:solidFill>
                  <a:srgbClr val="5B666D"/>
                </a:solidFill>
                <a:latin typeface="Aptos"/>
                <a:ea typeface="Aptos"/>
                <a:cs typeface="Aptos"/>
              </a:defRPr>
            </a:pPr>
            <a:r>
              <a:rPr lang="en-GB" sz="863" b="1">
                <a:solidFill>
                  <a:schemeClr val="tx2"/>
                </a:solidFill>
                <a:latin typeface="Aptos"/>
              </a:rPr>
              <a:t>EIGENKAPITAL · VORSTANDS-USE-CASE</a:t>
            </a:r>
          </a:p>
        </p:txBody>
      </p:sp>
      <p:sp>
        <p:nvSpPr>
          <p:cNvPr id="4" name="Rectangle 3">
            <a:extLst>
              <a:ext uri="{FF2B5EF4-FFF2-40B4-BE49-F238E27FC236}">
                <a16:creationId xmlns:a16="http://schemas.microsoft.com/office/drawing/2014/main" id="{AAD55B66-96F0-40BE-B407-D83485DCB7F6}"/>
              </a:ext>
            </a:extLst>
          </p:cNvPr>
          <p:cNvSpPr>
            <a:spLocks noGrp="1"/>
          </p:cNvSpPr>
          <p:nvPr/>
        </p:nvSpPr>
        <p:spPr>
          <a:xfrm>
            <a:off x="438150" y="695325"/>
            <a:ext cx="11315700" cy="647700"/>
          </a:xfrm>
          <a:prstGeom prst="rect">
            <a:avLst/>
          </a:prstGeom>
        </p:spPr>
        <p:txBody>
          <a:bodyPr lIns="0" tIns="0" rIns="0" bIns="0" anchor="t"/>
          <a:lstStyle/>
          <a:p>
            <a:pPr>
              <a:defRPr sz="2475" b="1" i="0">
                <a:solidFill>
                  <a:srgbClr val="051C2C"/>
                </a:solidFill>
                <a:latin typeface="Aptos Display"/>
                <a:ea typeface="Aptos Display"/>
                <a:cs typeface="Aptos Display"/>
              </a:defRPr>
            </a:pPr>
            <a:r>
              <a:rPr lang="en-US" sz="2475" b="1">
                <a:solidFill>
                  <a:srgbClr val="051C2C"/>
                </a:solidFill>
                <a:latin typeface="Aptos Display"/>
              </a:rPr>
              <a:t>Das </a:t>
            </a:r>
            <a:r>
              <a:rPr lang="en-US" sz="2475" b="1" err="1">
                <a:solidFill>
                  <a:srgbClr val="051C2C"/>
                </a:solidFill>
                <a:latin typeface="Aptos Display"/>
              </a:rPr>
              <a:t>Aggregat</a:t>
            </a:r>
            <a:r>
              <a:rPr lang="en-US" sz="2475" b="1">
                <a:solidFill>
                  <a:srgbClr val="051C2C"/>
                </a:solidFill>
                <a:latin typeface="Aptos Display"/>
              </a:rPr>
              <a:t> </a:t>
            </a:r>
            <a:r>
              <a:rPr lang="en-US" sz="2475" b="1" err="1">
                <a:solidFill>
                  <a:srgbClr val="051C2C"/>
                </a:solidFill>
                <a:latin typeface="Aptos Display"/>
              </a:rPr>
              <a:t>hält</a:t>
            </a:r>
            <a:r>
              <a:rPr lang="en-US" sz="2475" b="1">
                <a:solidFill>
                  <a:srgbClr val="051C2C"/>
                </a:solidFill>
                <a:latin typeface="Aptos Display"/>
              </a:rPr>
              <a:t> </a:t>
            </a:r>
            <a:r>
              <a:rPr lang="en-US" sz="2475" b="1" err="1">
                <a:solidFill>
                  <a:srgbClr val="051C2C"/>
                </a:solidFill>
                <a:latin typeface="Aptos Display"/>
              </a:rPr>
              <a:t>Abstand</a:t>
            </a:r>
            <a:r>
              <a:rPr lang="en-US" sz="2475" b="1">
                <a:solidFill>
                  <a:srgbClr val="051C2C"/>
                </a:solidFill>
                <a:latin typeface="Aptos Display"/>
              </a:rPr>
              <a:t>, die Deutsche Bank </a:t>
            </a:r>
            <a:r>
              <a:rPr lang="en-US" sz="2475" b="1" err="1">
                <a:solidFill>
                  <a:srgbClr val="051C2C"/>
                </a:solidFill>
                <a:latin typeface="Aptos Display"/>
              </a:rPr>
              <a:t>ist</a:t>
            </a:r>
            <a:r>
              <a:rPr lang="en-US" sz="2475" b="1">
                <a:solidFill>
                  <a:srgbClr val="051C2C"/>
                </a:solidFill>
                <a:latin typeface="Aptos Display"/>
              </a:rPr>
              <a:t> </a:t>
            </a:r>
            <a:r>
              <a:rPr lang="en-US" sz="2475" b="1" err="1">
                <a:solidFill>
                  <a:srgbClr val="051C2C"/>
                </a:solidFill>
                <a:latin typeface="Aptos Display"/>
              </a:rPr>
              <a:t>bereits</a:t>
            </a:r>
            <a:r>
              <a:rPr lang="en-US" sz="2475" b="1">
                <a:solidFill>
                  <a:srgbClr val="051C2C"/>
                </a:solidFill>
                <a:latin typeface="Aptos Display"/>
              </a:rPr>
              <a:t> </a:t>
            </a:r>
            <a:r>
              <a:rPr lang="en-US" sz="2475" b="1" err="1">
                <a:solidFill>
                  <a:srgbClr val="051C2C"/>
                </a:solidFill>
                <a:latin typeface="Aptos Display"/>
              </a:rPr>
              <a:t>im</a:t>
            </a:r>
            <a:r>
              <a:rPr lang="en-US" sz="2475" b="1">
                <a:solidFill>
                  <a:srgbClr val="051C2C"/>
                </a:solidFill>
                <a:latin typeface="Aptos Display"/>
              </a:rPr>
              <a:t> </a:t>
            </a:r>
            <a:r>
              <a:rPr lang="en-US" sz="2475" b="1" err="1">
                <a:solidFill>
                  <a:srgbClr val="051C2C"/>
                </a:solidFill>
                <a:latin typeface="Aptos Display"/>
              </a:rPr>
              <a:t>Warnbereich</a:t>
            </a:r>
            <a:r>
              <a:rPr lang="en-US" sz="2475" b="1">
                <a:solidFill>
                  <a:srgbClr val="051C2C"/>
                </a:solidFill>
                <a:latin typeface="Aptos Display"/>
              </a:rPr>
              <a:t>.</a:t>
            </a:r>
          </a:p>
        </p:txBody>
      </p:sp>
      <p:sp>
        <p:nvSpPr>
          <p:cNvPr id="5" name="Rectangle 4">
            <a:extLst>
              <a:ext uri="{FF2B5EF4-FFF2-40B4-BE49-F238E27FC236}">
                <a16:creationId xmlns:a16="http://schemas.microsoft.com/office/drawing/2014/main" id="{459D872A-72FC-448D-87F6-AF578409C11F}"/>
              </a:ext>
            </a:extLst>
          </p:cNvPr>
          <p:cNvSpPr>
            <a:spLocks noGrp="1"/>
          </p:cNvSpPr>
          <p:nvPr/>
        </p:nvSpPr>
        <p:spPr>
          <a:xfrm>
            <a:off x="438150" y="1137615"/>
            <a:ext cx="11315700" cy="209550"/>
          </a:xfrm>
          <a:prstGeom prst="rect">
            <a:avLst/>
          </a:prstGeom>
        </p:spPr>
        <p:txBody>
          <a:bodyPr lIns="0" tIns="0" rIns="0" bIns="0" anchor="t"/>
          <a:lstStyle/>
          <a:p>
            <a:pPr algn="l">
              <a:buNone/>
              <a:defRPr sz="1200" b="0">
                <a:solidFill>
                  <a:srgbClr val="5B666D"/>
                </a:solidFill>
                <a:latin typeface="Aptos"/>
                <a:ea typeface="Aptos"/>
                <a:cs typeface="Aptos"/>
              </a:defRPr>
            </a:pPr>
            <a:r>
              <a:rPr lang="en-US" sz="1130"/>
              <a:t>Bei +65 % Brent und +200 bp </a:t>
            </a:r>
            <a:r>
              <a:rPr lang="en-US" sz="1130" err="1"/>
              <a:t>liegt</a:t>
            </a:r>
            <a:r>
              <a:rPr lang="en-US" sz="1130"/>
              <a:t> das </a:t>
            </a:r>
            <a:r>
              <a:rPr lang="en-US" sz="1130" err="1"/>
              <a:t>Aggregat</a:t>
            </a:r>
            <a:r>
              <a:rPr lang="en-US" sz="1130"/>
              <a:t> </a:t>
            </a:r>
            <a:r>
              <a:rPr lang="en-US" sz="1130" err="1"/>
              <a:t>bei</a:t>
            </a:r>
            <a:r>
              <a:rPr lang="en-US" sz="1130"/>
              <a:t> 11,02 %, die Deutsche Bank </a:t>
            </a:r>
            <a:r>
              <a:rPr lang="en-US" sz="1130" err="1"/>
              <a:t>jedoch</a:t>
            </a:r>
            <a:r>
              <a:rPr lang="en-US" sz="1130"/>
              <a:t> </a:t>
            </a:r>
            <a:r>
              <a:rPr lang="en-US" sz="1130" err="1"/>
              <a:t>bei</a:t>
            </a:r>
            <a:r>
              <a:rPr lang="en-US" sz="1130"/>
              <a:t> 7,20 %.</a:t>
            </a:r>
          </a:p>
        </p:txBody>
      </p:sp>
      <p:pic>
        <p:nvPicPr>
          <p:cNvPr id="48" name="Grafik 46"/>
          <p:cNvPicPr>
            <a:picLocks noChangeAspect="1"/>
          </p:cNvPicPr>
          <p:nvPr/>
        </p:nvPicPr>
        <p:blipFill>
          <a:blip r:embed="rId3"/>
          <a:srcRect t="26405"/>
          <a:stretch>
            <a:fillRect/>
          </a:stretch>
        </p:blipFill>
        <p:spPr>
          <a:xfrm>
            <a:off x="438150" y="1752600"/>
            <a:ext cx="7524750" cy="2836381"/>
          </a:xfrm>
          <a:prstGeom prst="roundRect">
            <a:avLst>
              <a:gd name="adj" fmla="val 2234"/>
            </a:avLst>
          </a:prstGeom>
        </p:spPr>
      </p:pic>
      <p:sp>
        <p:nvSpPr>
          <p:cNvPr id="22" name="Rechteck: abgerundete Ecken 21">
            <a:extLst>
              <a:ext uri="{FF2B5EF4-FFF2-40B4-BE49-F238E27FC236}">
                <a16:creationId xmlns:a16="http://schemas.microsoft.com/office/drawing/2014/main" id="{24D0FBD3-38A4-48CE-9789-A0EB48D2620D}"/>
              </a:ext>
            </a:extLst>
          </p:cNvPr>
          <p:cNvSpPr>
            <a:spLocks noGrp="1"/>
          </p:cNvSpPr>
          <p:nvPr/>
        </p:nvSpPr>
        <p:spPr>
          <a:xfrm>
            <a:off x="8210550" y="1752600"/>
            <a:ext cx="3143250" cy="895350"/>
          </a:xfrm>
          <a:prstGeom prst="roundRect">
            <a:avLst>
              <a:gd name="adj" fmla="val 8511"/>
            </a:avLst>
          </a:prstGeom>
          <a:solidFill>
            <a:srgbClr val="FFFFFF"/>
          </a:solidFill>
          <a:ln w="9525">
            <a:solidFill>
              <a:srgbClr val="D9DEE2"/>
            </a:solidFill>
            <a:prstDash val="solid"/>
          </a:ln>
        </p:spPr>
        <p:txBody>
          <a:bodyPr/>
          <a:lstStyle/>
          <a:p>
            <a:endParaRPr/>
          </a:p>
        </p:txBody>
      </p:sp>
      <p:sp>
        <p:nvSpPr>
          <p:cNvPr id="23" name="Rechteck 22">
            <a:extLst>
              <a:ext uri="{FF2B5EF4-FFF2-40B4-BE49-F238E27FC236}">
                <a16:creationId xmlns:a16="http://schemas.microsoft.com/office/drawing/2014/main" id="{B6488747-D0ED-4952-9C3B-D93AA423B543}"/>
              </a:ext>
            </a:extLst>
          </p:cNvPr>
          <p:cNvSpPr>
            <a:spLocks noGrp="1"/>
          </p:cNvSpPr>
          <p:nvPr/>
        </p:nvSpPr>
        <p:spPr>
          <a:xfrm>
            <a:off x="8210550" y="1752600"/>
            <a:ext cx="47625" cy="895350"/>
          </a:xfrm>
          <a:prstGeom prst="rect">
            <a:avLst/>
          </a:prstGeom>
          <a:solidFill>
            <a:srgbClr val="0D617F"/>
          </a:solidFill>
          <a:ln w="0">
            <a:solidFill>
              <a:srgbClr val="0D617F"/>
            </a:solidFill>
            <a:prstDash val="solid"/>
          </a:ln>
        </p:spPr>
        <p:txBody>
          <a:bodyPr/>
          <a:lstStyle/>
          <a:p>
            <a:endParaRPr/>
          </a:p>
        </p:txBody>
      </p:sp>
      <p:sp>
        <p:nvSpPr>
          <p:cNvPr id="24" name="Rechteck 23">
            <a:extLst>
              <a:ext uri="{FF2B5EF4-FFF2-40B4-BE49-F238E27FC236}">
                <a16:creationId xmlns:a16="http://schemas.microsoft.com/office/drawing/2014/main" id="{2A3DCC3A-9F7A-45AF-AD58-6DAD6D1A172D}"/>
              </a:ext>
            </a:extLst>
          </p:cNvPr>
          <p:cNvSpPr>
            <a:spLocks noGrp="1"/>
          </p:cNvSpPr>
          <p:nvPr/>
        </p:nvSpPr>
        <p:spPr>
          <a:xfrm>
            <a:off x="8382000" y="1847850"/>
            <a:ext cx="2800350" cy="180975"/>
          </a:xfrm>
          <a:prstGeom prst="rect">
            <a:avLst/>
          </a:prstGeom>
          <a:noFill/>
          <a:ln w="0">
            <a:noFill/>
            <a:prstDash val="solid"/>
          </a:ln>
        </p:spPr>
        <p:txBody>
          <a:bodyPr anchor="ctr"/>
          <a:lstStyle/>
          <a:p>
            <a:pPr algn="l">
              <a:buNone/>
              <a:defRPr sz="900" b="1">
                <a:solidFill>
                  <a:srgbClr val="5B666D"/>
                </a:solidFill>
                <a:latin typeface="Aptos"/>
                <a:ea typeface="Aptos"/>
                <a:cs typeface="Aptos"/>
              </a:defRPr>
            </a:pPr>
            <a:r>
              <a:rPr sz="900" b="1">
                <a:solidFill>
                  <a:srgbClr val="5B666D"/>
                </a:solidFill>
                <a:latin typeface="Aptos"/>
                <a:ea typeface="Aptos"/>
                <a:cs typeface="Aptos"/>
              </a:rPr>
              <a:t>AKTUELLER SCHOCK</a:t>
            </a:r>
          </a:p>
        </p:txBody>
      </p:sp>
      <p:sp>
        <p:nvSpPr>
          <p:cNvPr id="25" name="Rechteck 24">
            <a:extLst>
              <a:ext uri="{FF2B5EF4-FFF2-40B4-BE49-F238E27FC236}">
                <a16:creationId xmlns:a16="http://schemas.microsoft.com/office/drawing/2014/main" id="{3A1E7012-5F5F-4FB8-BB1A-C69F72DAE7A2}"/>
              </a:ext>
            </a:extLst>
          </p:cNvPr>
          <p:cNvSpPr>
            <a:spLocks noGrp="1"/>
          </p:cNvSpPr>
          <p:nvPr/>
        </p:nvSpPr>
        <p:spPr>
          <a:xfrm>
            <a:off x="8382000" y="2047875"/>
            <a:ext cx="2800350" cy="295275"/>
          </a:xfrm>
          <a:prstGeom prst="rect">
            <a:avLst/>
          </a:prstGeom>
          <a:noFill/>
          <a:ln w="0">
            <a:noFill/>
            <a:prstDash val="solid"/>
          </a:ln>
        </p:spPr>
        <p:txBody>
          <a:bodyPr anchor="ctr"/>
          <a:lstStyle/>
          <a:p>
            <a:pPr algn="l">
              <a:buNone/>
              <a:defRPr sz="1875" b="1">
                <a:solidFill>
                  <a:srgbClr val="071C2C"/>
                </a:solidFill>
                <a:latin typeface="Aptos"/>
                <a:ea typeface="Aptos"/>
                <a:cs typeface="Aptos"/>
              </a:defRPr>
            </a:pPr>
            <a:r>
              <a:rPr sz="1875" b="1">
                <a:solidFill>
                  <a:srgbClr val="071C2C"/>
                </a:solidFill>
                <a:latin typeface="Aptos"/>
                <a:ea typeface="Aptos"/>
                <a:cs typeface="Aptos"/>
              </a:rPr>
              <a:t>+200 bp</a:t>
            </a:r>
          </a:p>
        </p:txBody>
      </p:sp>
      <p:sp>
        <p:nvSpPr>
          <p:cNvPr id="26" name="Rechteck 25">
            <a:extLst>
              <a:ext uri="{FF2B5EF4-FFF2-40B4-BE49-F238E27FC236}">
                <a16:creationId xmlns:a16="http://schemas.microsoft.com/office/drawing/2014/main" id="{A8246C68-5D69-42E0-B07D-6714D704FC9C}"/>
              </a:ext>
            </a:extLst>
          </p:cNvPr>
          <p:cNvSpPr>
            <a:spLocks noGrp="1"/>
          </p:cNvSpPr>
          <p:nvPr/>
        </p:nvSpPr>
        <p:spPr>
          <a:xfrm>
            <a:off x="8382000" y="2371725"/>
            <a:ext cx="2800350" cy="171450"/>
          </a:xfrm>
          <a:prstGeom prst="rect">
            <a:avLst/>
          </a:prstGeom>
          <a:noFill/>
          <a:ln w="0">
            <a:noFill/>
            <a:prstDash val="solid"/>
          </a:ln>
        </p:spPr>
        <p:txBody>
          <a:bodyPr anchor="ctr"/>
          <a:lstStyle/>
          <a:p>
            <a:pPr algn="l">
              <a:buNone/>
              <a:defRPr sz="825" b="0">
                <a:solidFill>
                  <a:srgbClr val="5B666D"/>
                </a:solidFill>
                <a:latin typeface="Aptos"/>
                <a:ea typeface="Aptos"/>
                <a:cs typeface="Aptos"/>
              </a:defRPr>
            </a:pPr>
            <a:r>
              <a:rPr sz="825" b="0">
                <a:solidFill>
                  <a:srgbClr val="5B666D"/>
                </a:solidFill>
                <a:latin typeface="Aptos"/>
                <a:ea typeface="Aptos"/>
                <a:cs typeface="Aptos"/>
              </a:rPr>
              <a:t>Aggregat bei 11,02 %</a:t>
            </a:r>
          </a:p>
        </p:txBody>
      </p:sp>
      <p:sp>
        <p:nvSpPr>
          <p:cNvPr id="27" name="Rechteck: abgerundete Ecken 26">
            <a:extLst>
              <a:ext uri="{FF2B5EF4-FFF2-40B4-BE49-F238E27FC236}">
                <a16:creationId xmlns:a16="http://schemas.microsoft.com/office/drawing/2014/main" id="{08DB9624-4238-439B-B91D-C449225C4D85}"/>
              </a:ext>
            </a:extLst>
          </p:cNvPr>
          <p:cNvSpPr>
            <a:spLocks noGrp="1"/>
          </p:cNvSpPr>
          <p:nvPr/>
        </p:nvSpPr>
        <p:spPr>
          <a:xfrm>
            <a:off x="8210550" y="2781300"/>
            <a:ext cx="3143250" cy="895350"/>
          </a:xfrm>
          <a:prstGeom prst="roundRect">
            <a:avLst>
              <a:gd name="adj" fmla="val 8511"/>
            </a:avLst>
          </a:prstGeom>
          <a:solidFill>
            <a:srgbClr val="FFFFFF"/>
          </a:solidFill>
          <a:ln w="9525">
            <a:solidFill>
              <a:srgbClr val="D9DEE2"/>
            </a:solidFill>
            <a:prstDash val="solid"/>
          </a:ln>
        </p:spPr>
        <p:txBody>
          <a:bodyPr/>
          <a:lstStyle/>
          <a:p>
            <a:endParaRPr/>
          </a:p>
        </p:txBody>
      </p:sp>
      <p:sp>
        <p:nvSpPr>
          <p:cNvPr id="28" name="Rechteck 27">
            <a:extLst>
              <a:ext uri="{FF2B5EF4-FFF2-40B4-BE49-F238E27FC236}">
                <a16:creationId xmlns:a16="http://schemas.microsoft.com/office/drawing/2014/main" id="{10789E2C-B285-464D-9A33-0CFC7DF02412}"/>
              </a:ext>
            </a:extLst>
          </p:cNvPr>
          <p:cNvSpPr>
            <a:spLocks noGrp="1"/>
          </p:cNvSpPr>
          <p:nvPr/>
        </p:nvSpPr>
        <p:spPr>
          <a:xfrm>
            <a:off x="8210550" y="2781300"/>
            <a:ext cx="47625" cy="895350"/>
          </a:xfrm>
          <a:prstGeom prst="rect">
            <a:avLst/>
          </a:prstGeom>
          <a:solidFill>
            <a:srgbClr val="D99F27"/>
          </a:solidFill>
          <a:ln w="0">
            <a:solidFill>
              <a:srgbClr val="D99F27"/>
            </a:solidFill>
            <a:prstDash val="solid"/>
          </a:ln>
        </p:spPr>
        <p:txBody>
          <a:bodyPr/>
          <a:lstStyle/>
          <a:p>
            <a:endParaRPr/>
          </a:p>
        </p:txBody>
      </p:sp>
      <p:sp>
        <p:nvSpPr>
          <p:cNvPr id="29" name="Rechteck 28">
            <a:extLst>
              <a:ext uri="{FF2B5EF4-FFF2-40B4-BE49-F238E27FC236}">
                <a16:creationId xmlns:a16="http://schemas.microsoft.com/office/drawing/2014/main" id="{B4B4C6C7-1892-4509-8A3E-16110DF7EFCF}"/>
              </a:ext>
            </a:extLst>
          </p:cNvPr>
          <p:cNvSpPr>
            <a:spLocks noGrp="1"/>
          </p:cNvSpPr>
          <p:nvPr/>
        </p:nvSpPr>
        <p:spPr>
          <a:xfrm>
            <a:off x="8382000" y="2876550"/>
            <a:ext cx="2800350" cy="180975"/>
          </a:xfrm>
          <a:prstGeom prst="rect">
            <a:avLst/>
          </a:prstGeom>
          <a:noFill/>
          <a:ln w="0">
            <a:noFill/>
            <a:prstDash val="solid"/>
          </a:ln>
        </p:spPr>
        <p:txBody>
          <a:bodyPr anchor="ctr"/>
          <a:lstStyle/>
          <a:p>
            <a:pPr algn="l">
              <a:buNone/>
              <a:defRPr sz="900" b="1">
                <a:solidFill>
                  <a:srgbClr val="5B666D"/>
                </a:solidFill>
                <a:latin typeface="Aptos"/>
                <a:ea typeface="Aptos"/>
                <a:cs typeface="Aptos"/>
              </a:defRPr>
            </a:pPr>
            <a:r>
              <a:rPr sz="900" b="1">
                <a:solidFill>
                  <a:srgbClr val="5B666D"/>
                </a:solidFill>
                <a:latin typeface="Aptos"/>
                <a:ea typeface="Aptos"/>
                <a:cs typeface="Aptos"/>
              </a:rPr>
              <a:t>8-%-SCHWELLE</a:t>
            </a:r>
          </a:p>
        </p:txBody>
      </p:sp>
      <p:sp>
        <p:nvSpPr>
          <p:cNvPr id="30" name="Rechteck 29">
            <a:extLst>
              <a:ext uri="{FF2B5EF4-FFF2-40B4-BE49-F238E27FC236}">
                <a16:creationId xmlns:a16="http://schemas.microsoft.com/office/drawing/2014/main" id="{843D6F3A-49C3-4DD3-9ED7-8EE5FF05F5C3}"/>
              </a:ext>
            </a:extLst>
          </p:cNvPr>
          <p:cNvSpPr>
            <a:spLocks noGrp="1"/>
          </p:cNvSpPr>
          <p:nvPr/>
        </p:nvSpPr>
        <p:spPr>
          <a:xfrm>
            <a:off x="8382000" y="3076575"/>
            <a:ext cx="2800350" cy="295275"/>
          </a:xfrm>
          <a:prstGeom prst="rect">
            <a:avLst/>
          </a:prstGeom>
          <a:noFill/>
          <a:ln w="0">
            <a:noFill/>
            <a:prstDash val="solid"/>
          </a:ln>
        </p:spPr>
        <p:txBody>
          <a:bodyPr anchor="ctr"/>
          <a:lstStyle/>
          <a:p>
            <a:pPr algn="l">
              <a:buNone/>
              <a:defRPr sz="1875" b="1">
                <a:solidFill>
                  <a:srgbClr val="071C2C"/>
                </a:solidFill>
                <a:latin typeface="Aptos"/>
                <a:ea typeface="Aptos"/>
                <a:cs typeface="Aptos"/>
              </a:defRPr>
            </a:pPr>
            <a:r>
              <a:rPr sz="1875" b="1">
                <a:solidFill>
                  <a:srgbClr val="071C2C"/>
                </a:solidFill>
                <a:latin typeface="Aptos"/>
                <a:ea typeface="Aptos"/>
                <a:cs typeface="Aptos"/>
              </a:rPr>
              <a:t>ca. +400 bp</a:t>
            </a:r>
          </a:p>
        </p:txBody>
      </p:sp>
      <p:sp>
        <p:nvSpPr>
          <p:cNvPr id="31" name="Rechteck 30">
            <a:extLst>
              <a:ext uri="{FF2B5EF4-FFF2-40B4-BE49-F238E27FC236}">
                <a16:creationId xmlns:a16="http://schemas.microsoft.com/office/drawing/2014/main" id="{28E8EEEF-9A1D-4BF5-B4CC-38A927135724}"/>
              </a:ext>
            </a:extLst>
          </p:cNvPr>
          <p:cNvSpPr>
            <a:spLocks noGrp="1"/>
          </p:cNvSpPr>
          <p:nvPr/>
        </p:nvSpPr>
        <p:spPr>
          <a:xfrm>
            <a:off x="8382000" y="3400425"/>
            <a:ext cx="2800350" cy="171450"/>
          </a:xfrm>
          <a:prstGeom prst="rect">
            <a:avLst/>
          </a:prstGeom>
          <a:noFill/>
          <a:ln w="0">
            <a:noFill/>
            <a:prstDash val="solid"/>
          </a:ln>
        </p:spPr>
        <p:txBody>
          <a:bodyPr anchor="ctr"/>
          <a:lstStyle/>
          <a:p>
            <a:pPr algn="l">
              <a:buNone/>
              <a:defRPr sz="825" b="0">
                <a:solidFill>
                  <a:srgbClr val="5B666D"/>
                </a:solidFill>
                <a:latin typeface="Aptos"/>
                <a:ea typeface="Aptos"/>
                <a:cs typeface="Aptos"/>
              </a:defRPr>
            </a:pPr>
            <a:r>
              <a:rPr sz="825" b="0">
                <a:solidFill>
                  <a:srgbClr val="5B666D"/>
                </a:solidFill>
                <a:latin typeface="Aptos"/>
                <a:ea typeface="Aptos"/>
                <a:cs typeface="Aptos"/>
              </a:rPr>
              <a:t>bei Brent konstant +65 %</a:t>
            </a:r>
          </a:p>
        </p:txBody>
      </p:sp>
      <p:sp>
        <p:nvSpPr>
          <p:cNvPr id="32" name="Rechteck: abgerundete Ecken 31">
            <a:extLst>
              <a:ext uri="{FF2B5EF4-FFF2-40B4-BE49-F238E27FC236}">
                <a16:creationId xmlns:a16="http://schemas.microsoft.com/office/drawing/2014/main" id="{AFB9E42E-CB63-489E-81BC-3222ADA1C7BC}"/>
              </a:ext>
            </a:extLst>
          </p:cNvPr>
          <p:cNvSpPr>
            <a:spLocks noGrp="1"/>
          </p:cNvSpPr>
          <p:nvPr/>
        </p:nvSpPr>
        <p:spPr>
          <a:xfrm>
            <a:off x="8210550" y="3810000"/>
            <a:ext cx="3143250" cy="895350"/>
          </a:xfrm>
          <a:prstGeom prst="roundRect">
            <a:avLst>
              <a:gd name="adj" fmla="val 8511"/>
            </a:avLst>
          </a:prstGeom>
          <a:solidFill>
            <a:srgbClr val="FFFFFF"/>
          </a:solidFill>
          <a:ln w="9525">
            <a:solidFill>
              <a:srgbClr val="D9DEE2"/>
            </a:solidFill>
            <a:prstDash val="solid"/>
          </a:ln>
        </p:spPr>
        <p:txBody>
          <a:bodyPr/>
          <a:lstStyle/>
          <a:p>
            <a:endParaRPr/>
          </a:p>
        </p:txBody>
      </p:sp>
      <p:sp>
        <p:nvSpPr>
          <p:cNvPr id="33" name="Rechteck 32">
            <a:extLst>
              <a:ext uri="{FF2B5EF4-FFF2-40B4-BE49-F238E27FC236}">
                <a16:creationId xmlns:a16="http://schemas.microsoft.com/office/drawing/2014/main" id="{A25461BE-EBFD-416C-BB6F-1C4EBF3BE638}"/>
              </a:ext>
            </a:extLst>
          </p:cNvPr>
          <p:cNvSpPr>
            <a:spLocks noGrp="1"/>
          </p:cNvSpPr>
          <p:nvPr/>
        </p:nvSpPr>
        <p:spPr>
          <a:xfrm>
            <a:off x="8210550" y="3810000"/>
            <a:ext cx="47625" cy="895350"/>
          </a:xfrm>
          <a:prstGeom prst="rect">
            <a:avLst/>
          </a:prstGeom>
          <a:solidFill>
            <a:srgbClr val="AF3D55"/>
          </a:solidFill>
          <a:ln w="0">
            <a:solidFill>
              <a:srgbClr val="AF3D55"/>
            </a:solidFill>
            <a:prstDash val="solid"/>
          </a:ln>
        </p:spPr>
        <p:txBody>
          <a:bodyPr/>
          <a:lstStyle/>
          <a:p>
            <a:endParaRPr/>
          </a:p>
        </p:txBody>
      </p:sp>
      <p:sp>
        <p:nvSpPr>
          <p:cNvPr id="34" name="Rechteck 33">
            <a:extLst>
              <a:ext uri="{FF2B5EF4-FFF2-40B4-BE49-F238E27FC236}">
                <a16:creationId xmlns:a16="http://schemas.microsoft.com/office/drawing/2014/main" id="{907362EC-1A5E-4AC1-9BBD-624C828DF2AA}"/>
              </a:ext>
            </a:extLst>
          </p:cNvPr>
          <p:cNvSpPr>
            <a:spLocks noGrp="1"/>
          </p:cNvSpPr>
          <p:nvPr/>
        </p:nvSpPr>
        <p:spPr>
          <a:xfrm>
            <a:off x="8382000" y="3905250"/>
            <a:ext cx="2800350" cy="180975"/>
          </a:xfrm>
          <a:prstGeom prst="rect">
            <a:avLst/>
          </a:prstGeom>
          <a:noFill/>
          <a:ln w="0">
            <a:noFill/>
            <a:prstDash val="solid"/>
          </a:ln>
        </p:spPr>
        <p:txBody>
          <a:bodyPr anchor="ctr"/>
          <a:lstStyle/>
          <a:p>
            <a:pPr algn="l">
              <a:buNone/>
              <a:defRPr sz="900" b="1">
                <a:solidFill>
                  <a:srgbClr val="5B666D"/>
                </a:solidFill>
                <a:latin typeface="Aptos"/>
                <a:ea typeface="Aptos"/>
                <a:cs typeface="Aptos"/>
              </a:defRPr>
            </a:pPr>
            <a:r>
              <a:rPr sz="900" b="1">
                <a:solidFill>
                  <a:srgbClr val="5B666D"/>
                </a:solidFill>
                <a:latin typeface="Aptos"/>
                <a:ea typeface="Aptos"/>
                <a:cs typeface="Aptos"/>
              </a:rPr>
              <a:t>DEUTSCHE BANK</a:t>
            </a:r>
          </a:p>
        </p:txBody>
      </p:sp>
      <p:sp>
        <p:nvSpPr>
          <p:cNvPr id="35" name="Rechteck 34">
            <a:extLst>
              <a:ext uri="{FF2B5EF4-FFF2-40B4-BE49-F238E27FC236}">
                <a16:creationId xmlns:a16="http://schemas.microsoft.com/office/drawing/2014/main" id="{1ABB5EF8-7E11-4FB4-8BEA-990FD92B4022}"/>
              </a:ext>
            </a:extLst>
          </p:cNvPr>
          <p:cNvSpPr>
            <a:spLocks noGrp="1"/>
          </p:cNvSpPr>
          <p:nvPr/>
        </p:nvSpPr>
        <p:spPr>
          <a:xfrm>
            <a:off x="8382000" y="4105275"/>
            <a:ext cx="2800350" cy="295275"/>
          </a:xfrm>
          <a:prstGeom prst="rect">
            <a:avLst/>
          </a:prstGeom>
          <a:noFill/>
          <a:ln w="0">
            <a:noFill/>
            <a:prstDash val="solid"/>
          </a:ln>
        </p:spPr>
        <p:txBody>
          <a:bodyPr anchor="ctr"/>
          <a:lstStyle/>
          <a:p>
            <a:pPr algn="l">
              <a:buNone/>
              <a:defRPr sz="1875" b="1">
                <a:solidFill>
                  <a:srgbClr val="071C2C"/>
                </a:solidFill>
                <a:latin typeface="Aptos"/>
                <a:ea typeface="Aptos"/>
                <a:cs typeface="Aptos"/>
              </a:defRPr>
            </a:pPr>
            <a:r>
              <a:rPr sz="1875" b="1">
                <a:solidFill>
                  <a:srgbClr val="071C2C"/>
                </a:solidFill>
                <a:latin typeface="Aptos"/>
                <a:ea typeface="Aptos"/>
                <a:cs typeface="Aptos"/>
              </a:rPr>
              <a:t>7,20 % jetzt</a:t>
            </a:r>
          </a:p>
        </p:txBody>
      </p:sp>
      <p:sp>
        <p:nvSpPr>
          <p:cNvPr id="36" name="Rechteck 35">
            <a:extLst>
              <a:ext uri="{FF2B5EF4-FFF2-40B4-BE49-F238E27FC236}">
                <a16:creationId xmlns:a16="http://schemas.microsoft.com/office/drawing/2014/main" id="{7536991E-1053-45AE-BD72-AF9B16300298}"/>
              </a:ext>
            </a:extLst>
          </p:cNvPr>
          <p:cNvSpPr>
            <a:spLocks noGrp="1"/>
          </p:cNvSpPr>
          <p:nvPr/>
        </p:nvSpPr>
        <p:spPr>
          <a:xfrm>
            <a:off x="8382000" y="4429125"/>
            <a:ext cx="2800350" cy="171450"/>
          </a:xfrm>
          <a:prstGeom prst="rect">
            <a:avLst/>
          </a:prstGeom>
          <a:noFill/>
          <a:ln w="0">
            <a:noFill/>
            <a:prstDash val="solid"/>
          </a:ln>
        </p:spPr>
        <p:txBody>
          <a:bodyPr anchor="ctr"/>
          <a:lstStyle/>
          <a:p>
            <a:pPr algn="l">
              <a:buNone/>
              <a:defRPr sz="825" b="0">
                <a:solidFill>
                  <a:srgbClr val="5B666D"/>
                </a:solidFill>
                <a:latin typeface="Aptos"/>
                <a:ea typeface="Aptos"/>
                <a:cs typeface="Aptos"/>
              </a:defRPr>
            </a:pPr>
            <a:r>
              <a:rPr sz="825" b="0">
                <a:solidFill>
                  <a:srgbClr val="5B666D"/>
                </a:solidFill>
                <a:latin typeface="Aptos"/>
                <a:ea typeface="Aptos"/>
                <a:cs typeface="Aptos"/>
              </a:rPr>
              <a:t>bereits unter dem 8-%-Ziel</a:t>
            </a:r>
          </a:p>
        </p:txBody>
      </p:sp>
      <p:sp>
        <p:nvSpPr>
          <p:cNvPr id="6" name="Rectangle 21">
            <a:extLst>
              <a:ext uri="{FF2B5EF4-FFF2-40B4-BE49-F238E27FC236}">
                <a16:creationId xmlns:a16="http://schemas.microsoft.com/office/drawing/2014/main" id="{921C87E7-978E-20EE-2F65-F765D32D64BD}"/>
              </a:ext>
            </a:extLst>
          </p:cNvPr>
          <p:cNvSpPr>
            <a:spLocks noGrp="1"/>
          </p:cNvSpPr>
          <p:nvPr/>
        </p:nvSpPr>
        <p:spPr>
          <a:xfrm>
            <a:off x="438150" y="6143625"/>
            <a:ext cx="9810750" cy="152400"/>
          </a:xfrm>
          <a:prstGeom prst="rect">
            <a:avLst/>
          </a:prstGeom>
        </p:spPr>
        <p:txBody>
          <a:bodyPr lIns="0" tIns="0" rIns="0" bIns="0" anchor="ctr"/>
          <a:lstStyle/>
          <a:p>
            <a:pPr algn="l">
              <a:buNone/>
              <a:defRPr sz="750" b="0">
                <a:solidFill>
                  <a:srgbClr val="8C8780"/>
                </a:solidFill>
                <a:latin typeface="Aptos"/>
                <a:ea typeface="Aptos"/>
                <a:cs typeface="Aptos"/>
              </a:defRPr>
            </a:pPr>
            <a:r>
              <a:t>EU Banking Credit Stress Cockpit ·</a:t>
            </a:r>
            <a:r>
              <a:rPr lang="de-DE"/>
              <a:t> Eigenkapital</a:t>
            </a:r>
            <a:endParaRPr/>
          </a:p>
        </p:txBody>
      </p:sp>
      <p:sp>
        <p:nvSpPr>
          <p:cNvPr id="2" name="CodexSlideNumber">
            <a:extLst>
              <a:ext uri="{FF2B5EF4-FFF2-40B4-BE49-F238E27FC236}">
                <a16:creationId xmlns:a16="http://schemas.microsoft.com/office/drawing/2014/main" id="{64972E80-0D2C-62E7-0DCF-D760F56908B2}"/>
              </a:ext>
            </a:extLst>
          </p:cNvPr>
          <p:cNvSpPr txBox="1"/>
          <p:nvPr/>
        </p:nvSpPr>
        <p:spPr>
          <a:xfrm>
            <a:off x="11226800" y="6553200"/>
            <a:ext cx="736600" cy="123111"/>
          </a:xfrm>
          <a:prstGeom prst="rect">
            <a:avLst/>
          </a:prstGeom>
          <a:noFill/>
        </p:spPr>
        <p:txBody>
          <a:bodyPr vert="horz" lIns="0" tIns="0" rIns="0" bIns="0" rtlCol="0">
            <a:spAutoFit/>
          </a:bodyPr>
          <a:lstStyle/>
          <a:p>
            <a:pPr algn="r"/>
            <a:r>
              <a:rPr lang="en-US" sz="800">
                <a:solidFill>
                  <a:srgbClr val="525252"/>
                </a:solidFill>
                <a:latin typeface="Arial" panose="020B0604020202020204" pitchFamily="34" charset="0"/>
              </a:rPr>
              <a:t>53 / 64</a:t>
            </a:r>
          </a:p>
        </p:txBody>
      </p:sp>
    </p:spTree>
    <p:extLst>
      <p:ext uri="{BB962C8B-B14F-4D97-AF65-F5344CB8AC3E}">
        <p14:creationId xmlns:p14="http://schemas.microsoft.com/office/powerpoint/2010/main" val="235418997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kicker-capital-label">
            <a:extLst>
              <a:ext uri="{FF2B5EF4-FFF2-40B4-BE49-F238E27FC236}">
                <a16:creationId xmlns:a16="http://schemas.microsoft.com/office/drawing/2014/main" id="{AE13FE1F-1131-4CB4-83F1-EA63DD1D8F6F}"/>
              </a:ext>
            </a:extLst>
          </p:cNvPr>
          <p:cNvSpPr>
            <a:spLocks noGrp="1"/>
          </p:cNvSpPr>
          <p:nvPr/>
        </p:nvSpPr>
        <p:spPr>
          <a:xfrm>
            <a:off x="600075" y="438150"/>
            <a:ext cx="2476500" cy="190500"/>
          </a:xfrm>
          <a:prstGeom prst="rect">
            <a:avLst/>
          </a:prstGeom>
        </p:spPr>
        <p:txBody>
          <a:bodyPr lIns="0" tIns="0" rIns="0" bIns="0" anchor="ctr"/>
          <a:lstStyle/>
          <a:p>
            <a:pPr>
              <a:buNone/>
              <a:defRPr sz="975" b="1">
                <a:solidFill>
                  <a:srgbClr val="5B666D"/>
                </a:solidFill>
                <a:latin typeface="Aptos"/>
                <a:ea typeface="Aptos"/>
                <a:cs typeface="Aptos"/>
              </a:defRPr>
            </a:pPr>
            <a:r>
              <a:rPr sz="863" b="1">
                <a:solidFill>
                  <a:schemeClr val="tx2"/>
                </a:solidFill>
                <a:latin typeface="Aptos"/>
                <a:ea typeface="Aptos"/>
                <a:cs typeface="Aptos"/>
              </a:rPr>
              <a:t>EIGENKAPITAL · VORSTANDS-USE-CASE</a:t>
            </a:r>
          </a:p>
        </p:txBody>
      </p:sp>
      <p:sp>
        <p:nvSpPr>
          <p:cNvPr id="4" name="Rectangle 3">
            <a:extLst>
              <a:ext uri="{FF2B5EF4-FFF2-40B4-BE49-F238E27FC236}">
                <a16:creationId xmlns:a16="http://schemas.microsoft.com/office/drawing/2014/main" id="{AAD55B66-96F0-40BE-B407-D83485DCB7F6}"/>
              </a:ext>
            </a:extLst>
          </p:cNvPr>
          <p:cNvSpPr>
            <a:spLocks noGrp="1"/>
          </p:cNvSpPr>
          <p:nvPr/>
        </p:nvSpPr>
        <p:spPr>
          <a:xfrm>
            <a:off x="438150" y="695325"/>
            <a:ext cx="11315700" cy="647700"/>
          </a:xfrm>
          <a:prstGeom prst="rect">
            <a:avLst/>
          </a:prstGeom>
        </p:spPr>
        <p:txBody>
          <a:bodyPr lIns="0" tIns="0" rIns="0" bIns="0" anchor="t"/>
          <a:lstStyle/>
          <a:p>
            <a:pPr>
              <a:buNone/>
              <a:defRPr sz="2475" b="1" i="0">
                <a:solidFill>
                  <a:srgbClr val="051C2C"/>
                </a:solidFill>
                <a:latin typeface="Aptos Display"/>
                <a:ea typeface="Aptos Display"/>
                <a:cs typeface="Aptos Display"/>
              </a:defRPr>
            </a:pPr>
            <a:r>
              <a:rPr sz="2475" b="1">
                <a:solidFill>
                  <a:srgbClr val="051C2C"/>
                </a:solidFill>
                <a:latin typeface="Aptos Display"/>
                <a:ea typeface="Aptos Display"/>
                <a:cs typeface="Aptos Display"/>
              </a:rPr>
              <a:t>Vorstandsbeschluss: Kapitalpuffer kurzfristig wieder über 8 % bringen.</a:t>
            </a:r>
          </a:p>
        </p:txBody>
      </p:sp>
      <p:sp>
        <p:nvSpPr>
          <p:cNvPr id="5" name="Rectangle 4">
            <a:extLst>
              <a:ext uri="{FF2B5EF4-FFF2-40B4-BE49-F238E27FC236}">
                <a16:creationId xmlns:a16="http://schemas.microsoft.com/office/drawing/2014/main" id="{459D872A-72FC-448D-87F6-AF578409C11F}"/>
              </a:ext>
            </a:extLst>
          </p:cNvPr>
          <p:cNvSpPr>
            <a:spLocks noGrp="1"/>
          </p:cNvSpPr>
          <p:nvPr/>
        </p:nvSpPr>
        <p:spPr>
          <a:xfrm>
            <a:off x="438150" y="1119623"/>
            <a:ext cx="11315700" cy="209550"/>
          </a:xfrm>
          <a:prstGeom prst="rect">
            <a:avLst/>
          </a:prstGeom>
        </p:spPr>
        <p:txBody>
          <a:bodyPr lIns="0" tIns="0" rIns="0" bIns="0" anchor="t"/>
          <a:lstStyle/>
          <a:p>
            <a:pPr algn="l">
              <a:buNone/>
              <a:defRPr sz="1200" b="0">
                <a:solidFill>
                  <a:srgbClr val="5B666D"/>
                </a:solidFill>
                <a:latin typeface="Aptos"/>
                <a:ea typeface="Aptos"/>
                <a:cs typeface="Aptos"/>
              </a:defRPr>
            </a:pPr>
            <a:r>
              <a:rPr sz="1130"/>
              <a:t>Bei unveränderten RWA fehlen im Modell rund 3,1 Mrd. € CET1 bis zur 8-%-Marke.</a:t>
            </a:r>
          </a:p>
        </p:txBody>
      </p:sp>
      <p:sp>
        <p:nvSpPr>
          <p:cNvPr id="6" name="Rectangle 5">
            <a:extLst>
              <a:ext uri="{FF2B5EF4-FFF2-40B4-BE49-F238E27FC236}">
                <a16:creationId xmlns:a16="http://schemas.microsoft.com/office/drawing/2014/main" id="{216DBA01-7314-4B63-B74D-8B972166ABCC}"/>
              </a:ext>
            </a:extLst>
          </p:cNvPr>
          <p:cNvSpPr>
            <a:spLocks noGrp="1"/>
          </p:cNvSpPr>
          <p:nvPr/>
        </p:nvSpPr>
        <p:spPr>
          <a:xfrm>
            <a:off x="1066800" y="2238375"/>
            <a:ext cx="3190875" cy="2190750"/>
          </a:xfrm>
          <a:prstGeom prst="rect">
            <a:avLst/>
          </a:prstGeom>
          <a:solidFill>
            <a:srgbClr val="DCEAF0"/>
          </a:solidFill>
        </p:spPr>
        <p:txBody>
          <a:bodyPr/>
          <a:lstStyle/>
          <a:p>
            <a:endParaRPr/>
          </a:p>
        </p:txBody>
      </p:sp>
      <p:sp>
        <p:nvSpPr>
          <p:cNvPr id="7" name="Rectangle 6">
            <a:extLst>
              <a:ext uri="{FF2B5EF4-FFF2-40B4-BE49-F238E27FC236}">
                <a16:creationId xmlns:a16="http://schemas.microsoft.com/office/drawing/2014/main" id="{69E660B6-5DFD-444C-A843-D5AD4F10A7D5}"/>
              </a:ext>
            </a:extLst>
          </p:cNvPr>
          <p:cNvSpPr>
            <a:spLocks noGrp="1"/>
          </p:cNvSpPr>
          <p:nvPr/>
        </p:nvSpPr>
        <p:spPr>
          <a:xfrm>
            <a:off x="1219200" y="2409825"/>
            <a:ext cx="2886075" cy="266700"/>
          </a:xfrm>
          <a:prstGeom prst="rect">
            <a:avLst/>
          </a:prstGeom>
        </p:spPr>
        <p:txBody>
          <a:bodyPr lIns="0" tIns="0" rIns="0" bIns="0" anchor="t"/>
          <a:lstStyle/>
          <a:p>
            <a:pPr algn="ctr">
              <a:buNone/>
              <a:defRPr sz="1425" b="1">
                <a:solidFill>
                  <a:srgbClr val="071C2C"/>
                </a:solidFill>
                <a:latin typeface="Aptos"/>
                <a:ea typeface="Aptos"/>
                <a:cs typeface="Aptos"/>
              </a:defRPr>
            </a:pPr>
            <a:r>
              <a:t>1 · SOFORT · 0–30 TAGE</a:t>
            </a:r>
          </a:p>
        </p:txBody>
      </p:sp>
      <p:sp>
        <p:nvSpPr>
          <p:cNvPr id="8" name="Rectangle 7">
            <a:extLst>
              <a:ext uri="{FF2B5EF4-FFF2-40B4-BE49-F238E27FC236}">
                <a16:creationId xmlns:a16="http://schemas.microsoft.com/office/drawing/2014/main" id="{239E6B5C-AC49-45D2-ABF9-F61C17CCFA9D}"/>
              </a:ext>
            </a:extLst>
          </p:cNvPr>
          <p:cNvSpPr>
            <a:spLocks noGrp="1"/>
          </p:cNvSpPr>
          <p:nvPr/>
        </p:nvSpPr>
        <p:spPr>
          <a:xfrm>
            <a:off x="1276350" y="2819400"/>
            <a:ext cx="2771775" cy="1409700"/>
          </a:xfrm>
          <a:prstGeom prst="rect">
            <a:avLst/>
          </a:prstGeom>
        </p:spPr>
        <p:txBody>
          <a:bodyPr lIns="0" tIns="0" rIns="0" bIns="0" anchor="t"/>
          <a:lstStyle/>
          <a:p>
            <a:pPr algn="l">
              <a:buNone/>
              <a:defRPr sz="1050" b="0">
                <a:solidFill>
                  <a:srgbClr val="5B666D"/>
                </a:solidFill>
                <a:latin typeface="Aptos"/>
                <a:ea typeface="Aptos"/>
                <a:cs typeface="Aptos"/>
              </a:defRPr>
            </a:pPr>
            <a:r>
              <a:t>• Weitere Aktienrückkäufe aussetzen
• Dividendenplanung neu prüfen
• Gewinne einbehalten
• RWA-intensives Neugeschäft vorläufig begrenzen</a:t>
            </a:r>
          </a:p>
        </p:txBody>
      </p:sp>
      <p:sp>
        <p:nvSpPr>
          <p:cNvPr id="9" name="Rectangle 8">
            <a:extLst>
              <a:ext uri="{FF2B5EF4-FFF2-40B4-BE49-F238E27FC236}">
                <a16:creationId xmlns:a16="http://schemas.microsoft.com/office/drawing/2014/main" id="{90E043B9-6F97-46B0-B119-D9AC69B0FEEC}"/>
              </a:ext>
            </a:extLst>
          </p:cNvPr>
          <p:cNvSpPr>
            <a:spLocks noGrp="1"/>
          </p:cNvSpPr>
          <p:nvPr/>
        </p:nvSpPr>
        <p:spPr>
          <a:xfrm>
            <a:off x="4467225" y="2238375"/>
            <a:ext cx="3190875" cy="2190750"/>
          </a:xfrm>
          <a:prstGeom prst="rect">
            <a:avLst/>
          </a:prstGeom>
          <a:solidFill>
            <a:srgbClr val="F2DEE2"/>
          </a:solidFill>
        </p:spPr>
        <p:txBody>
          <a:bodyPr/>
          <a:lstStyle/>
          <a:p>
            <a:endParaRPr/>
          </a:p>
        </p:txBody>
      </p:sp>
      <p:sp>
        <p:nvSpPr>
          <p:cNvPr id="10" name="Rectangle 9">
            <a:extLst>
              <a:ext uri="{FF2B5EF4-FFF2-40B4-BE49-F238E27FC236}">
                <a16:creationId xmlns:a16="http://schemas.microsoft.com/office/drawing/2014/main" id="{E3C400EC-66BC-4A53-85A7-C22527D3DD0F}"/>
              </a:ext>
            </a:extLst>
          </p:cNvPr>
          <p:cNvSpPr>
            <a:spLocks noGrp="1"/>
          </p:cNvSpPr>
          <p:nvPr/>
        </p:nvSpPr>
        <p:spPr>
          <a:xfrm>
            <a:off x="4619625" y="2409825"/>
            <a:ext cx="2886075" cy="266700"/>
          </a:xfrm>
          <a:prstGeom prst="rect">
            <a:avLst/>
          </a:prstGeom>
        </p:spPr>
        <p:txBody>
          <a:bodyPr lIns="0" tIns="0" rIns="0" bIns="0" anchor="t"/>
          <a:lstStyle/>
          <a:p>
            <a:pPr algn="ctr">
              <a:buNone/>
              <a:defRPr sz="1425" b="1">
                <a:solidFill>
                  <a:srgbClr val="071C2C"/>
                </a:solidFill>
                <a:latin typeface="Aptos"/>
                <a:ea typeface="Aptos"/>
                <a:cs typeface="Aptos"/>
              </a:defRPr>
            </a:pPr>
            <a:r>
              <a:t>2 · BILANZ · 30–90 TAGE</a:t>
            </a:r>
          </a:p>
        </p:txBody>
      </p:sp>
      <p:sp>
        <p:nvSpPr>
          <p:cNvPr id="11" name="Rectangle 10">
            <a:extLst>
              <a:ext uri="{FF2B5EF4-FFF2-40B4-BE49-F238E27FC236}">
                <a16:creationId xmlns:a16="http://schemas.microsoft.com/office/drawing/2014/main" id="{0D1E9E44-AF6A-4906-A8AF-58717558C49A}"/>
              </a:ext>
            </a:extLst>
          </p:cNvPr>
          <p:cNvSpPr>
            <a:spLocks noGrp="1"/>
          </p:cNvSpPr>
          <p:nvPr/>
        </p:nvSpPr>
        <p:spPr>
          <a:xfrm>
            <a:off x="4676775" y="2819400"/>
            <a:ext cx="2771775" cy="1409700"/>
          </a:xfrm>
          <a:prstGeom prst="rect">
            <a:avLst/>
          </a:prstGeom>
        </p:spPr>
        <p:txBody>
          <a:bodyPr lIns="0" tIns="0" rIns="0" bIns="0" anchor="t"/>
          <a:lstStyle/>
          <a:p>
            <a:pPr algn="l">
              <a:buNone/>
              <a:defRPr sz="1050" b="0">
                <a:solidFill>
                  <a:srgbClr val="5B666D"/>
                </a:solidFill>
                <a:latin typeface="Aptos"/>
                <a:ea typeface="Aptos"/>
                <a:cs typeface="Aptos"/>
              </a:defRPr>
            </a:pPr>
            <a:r>
              <a:t>• Sovereign-Duration reduzieren oder hedgen
• Limits für ölpreissensible Branchen verschärfen
• Kredite risikoadäquat neu bepreisen
• Kapitalarmes Geschäft priorisieren</a:t>
            </a:r>
          </a:p>
        </p:txBody>
      </p:sp>
      <p:sp>
        <p:nvSpPr>
          <p:cNvPr id="12" name="Rectangle 11">
            <a:extLst>
              <a:ext uri="{FF2B5EF4-FFF2-40B4-BE49-F238E27FC236}">
                <a16:creationId xmlns:a16="http://schemas.microsoft.com/office/drawing/2014/main" id="{07CEA9A8-A746-4BE2-9F7D-F79AD3610108}"/>
              </a:ext>
            </a:extLst>
          </p:cNvPr>
          <p:cNvSpPr>
            <a:spLocks noGrp="1"/>
          </p:cNvSpPr>
          <p:nvPr/>
        </p:nvSpPr>
        <p:spPr>
          <a:xfrm>
            <a:off x="7867650" y="2238375"/>
            <a:ext cx="3190875" cy="2190750"/>
          </a:xfrm>
          <a:prstGeom prst="rect">
            <a:avLst/>
          </a:prstGeom>
          <a:solidFill>
            <a:srgbClr val="F3E7C8"/>
          </a:solidFill>
        </p:spPr>
        <p:txBody>
          <a:bodyPr/>
          <a:lstStyle/>
          <a:p>
            <a:endParaRPr/>
          </a:p>
        </p:txBody>
      </p:sp>
      <p:sp>
        <p:nvSpPr>
          <p:cNvPr id="13" name="Rectangle 12">
            <a:extLst>
              <a:ext uri="{FF2B5EF4-FFF2-40B4-BE49-F238E27FC236}">
                <a16:creationId xmlns:a16="http://schemas.microsoft.com/office/drawing/2014/main" id="{77FB6890-C2EA-4638-A047-FC36C555FEB9}"/>
              </a:ext>
            </a:extLst>
          </p:cNvPr>
          <p:cNvSpPr>
            <a:spLocks noGrp="1"/>
          </p:cNvSpPr>
          <p:nvPr/>
        </p:nvSpPr>
        <p:spPr>
          <a:xfrm>
            <a:off x="8020050" y="2409825"/>
            <a:ext cx="2886075" cy="266700"/>
          </a:xfrm>
          <a:prstGeom prst="rect">
            <a:avLst/>
          </a:prstGeom>
        </p:spPr>
        <p:txBody>
          <a:bodyPr lIns="0" tIns="0" rIns="0" bIns="0" anchor="t"/>
          <a:lstStyle/>
          <a:p>
            <a:pPr algn="ctr">
              <a:buNone/>
              <a:defRPr sz="1425" b="1">
                <a:solidFill>
                  <a:srgbClr val="071C2C"/>
                </a:solidFill>
                <a:latin typeface="Aptos"/>
                <a:ea typeface="Aptos"/>
                <a:cs typeface="Aptos"/>
              </a:defRPr>
            </a:pPr>
            <a:r>
              <a:t>3 · GOVERNANCE &amp; AUFSICHT</a:t>
            </a:r>
          </a:p>
        </p:txBody>
      </p:sp>
      <p:sp>
        <p:nvSpPr>
          <p:cNvPr id="14" name="Rectangle 13">
            <a:extLst>
              <a:ext uri="{FF2B5EF4-FFF2-40B4-BE49-F238E27FC236}">
                <a16:creationId xmlns:a16="http://schemas.microsoft.com/office/drawing/2014/main" id="{2F5CAF14-EFF0-4F89-B34A-20DC1BB9F414}"/>
              </a:ext>
            </a:extLst>
          </p:cNvPr>
          <p:cNvSpPr>
            <a:spLocks noGrp="1"/>
          </p:cNvSpPr>
          <p:nvPr/>
        </p:nvSpPr>
        <p:spPr>
          <a:xfrm>
            <a:off x="8077200" y="2819400"/>
            <a:ext cx="2771775" cy="1409700"/>
          </a:xfrm>
          <a:prstGeom prst="rect">
            <a:avLst/>
          </a:prstGeom>
        </p:spPr>
        <p:txBody>
          <a:bodyPr lIns="0" tIns="0" rIns="0" bIns="0" anchor="t"/>
          <a:lstStyle/>
          <a:p>
            <a:pPr algn="l">
              <a:buNone/>
              <a:defRPr sz="1050" b="0">
                <a:solidFill>
                  <a:srgbClr val="5B666D"/>
                </a:solidFill>
                <a:latin typeface="Aptos"/>
                <a:ea typeface="Aptos"/>
                <a:cs typeface="Aptos"/>
              </a:defRPr>
            </a:pPr>
            <a:r>
              <a:t>• Kapitallage wöchentlich im Vorstand steuern
• ECB/JST frühzeitig einbinden
• Stressrechnung monatlich aktualisieren
• Recovery-Optionen bei ≤ 7,09 % aktivieren</a:t>
            </a:r>
          </a:p>
        </p:txBody>
      </p:sp>
      <p:sp>
        <p:nvSpPr>
          <p:cNvPr id="21" name="Rechteck: abgerundete Ecken 20">
            <a:extLst>
              <a:ext uri="{FF2B5EF4-FFF2-40B4-BE49-F238E27FC236}">
                <a16:creationId xmlns:a16="http://schemas.microsoft.com/office/drawing/2014/main" id="{77B1E257-5AB0-49D2-A720-1097DC7FA26B}"/>
              </a:ext>
            </a:extLst>
          </p:cNvPr>
          <p:cNvSpPr>
            <a:spLocks noGrp="1"/>
          </p:cNvSpPr>
          <p:nvPr/>
        </p:nvSpPr>
        <p:spPr>
          <a:xfrm>
            <a:off x="952500" y="4619625"/>
            <a:ext cx="10287000" cy="590550"/>
          </a:xfrm>
          <a:prstGeom prst="roundRect">
            <a:avLst>
              <a:gd name="adj" fmla="val 12903"/>
            </a:avLst>
          </a:prstGeom>
          <a:solidFill>
            <a:srgbClr val="071C2C"/>
          </a:solidFill>
          <a:ln w="0">
            <a:solidFill>
              <a:srgbClr val="071C2C"/>
            </a:solidFill>
            <a:prstDash val="solid"/>
          </a:ln>
        </p:spPr>
        <p:txBody>
          <a:bodyPr/>
          <a:lstStyle/>
          <a:p>
            <a:endParaRPr/>
          </a:p>
        </p:txBody>
      </p:sp>
      <p:sp>
        <p:nvSpPr>
          <p:cNvPr id="22" name="Rechteck 21">
            <a:extLst>
              <a:ext uri="{FF2B5EF4-FFF2-40B4-BE49-F238E27FC236}">
                <a16:creationId xmlns:a16="http://schemas.microsoft.com/office/drawing/2014/main" id="{1E97BA6A-6924-4397-AFE1-A7BE2F962EB4}"/>
              </a:ext>
            </a:extLst>
          </p:cNvPr>
          <p:cNvSpPr>
            <a:spLocks noGrp="1"/>
          </p:cNvSpPr>
          <p:nvPr/>
        </p:nvSpPr>
        <p:spPr>
          <a:xfrm>
            <a:off x="1143000" y="4743450"/>
            <a:ext cx="9906000" cy="342900"/>
          </a:xfrm>
          <a:prstGeom prst="rect">
            <a:avLst/>
          </a:prstGeom>
          <a:noFill/>
          <a:ln w="0">
            <a:noFill/>
            <a:prstDash val="solid"/>
          </a:ln>
        </p:spPr>
        <p:txBody>
          <a:bodyPr anchor="ctr"/>
          <a:lstStyle/>
          <a:p>
            <a:pPr algn="l">
              <a:buNone/>
              <a:defRPr sz="1125" b="1">
                <a:solidFill>
                  <a:srgbClr val="FFFFFF"/>
                </a:solidFill>
                <a:latin typeface="Aptos"/>
                <a:ea typeface="Aptos"/>
                <a:cs typeface="Aptos"/>
              </a:defRPr>
            </a:pPr>
            <a:r>
              <a:rPr sz="1200" b="1">
                <a:solidFill>
                  <a:srgbClr val="FFFFFF"/>
                </a:solidFill>
                <a:latin typeface="Aptos"/>
                <a:ea typeface="Aptos"/>
                <a:cs typeface="Aptos"/>
              </a:rPr>
              <a:t>ZIELBILD  &gt; 8,0 % plus </a:t>
            </a:r>
            <a:r>
              <a:rPr sz="1200" b="1" err="1">
                <a:solidFill>
                  <a:srgbClr val="FFFFFF"/>
                </a:solidFill>
                <a:latin typeface="Aptos"/>
                <a:ea typeface="Aptos"/>
                <a:cs typeface="Aptos"/>
              </a:rPr>
              <a:t>Managementpuffer</a:t>
            </a:r>
            <a:r>
              <a:rPr sz="1200" b="1">
                <a:solidFill>
                  <a:srgbClr val="FFFFFF"/>
                </a:solidFill>
                <a:latin typeface="Aptos"/>
                <a:ea typeface="Aptos"/>
                <a:cs typeface="Aptos"/>
              </a:rPr>
              <a:t>. </a:t>
            </a:r>
            <a:r>
              <a:rPr sz="1200" b="1" err="1">
                <a:solidFill>
                  <a:srgbClr val="FFFFFF"/>
                </a:solidFill>
                <a:latin typeface="Aptos"/>
                <a:ea typeface="Aptos"/>
                <a:cs typeface="Aptos"/>
              </a:rPr>
              <a:t>Modelllücke</a:t>
            </a:r>
            <a:r>
              <a:rPr sz="1200" b="1">
                <a:solidFill>
                  <a:srgbClr val="FFFFFF"/>
                </a:solidFill>
                <a:latin typeface="Aptos"/>
                <a:ea typeface="Aptos"/>
                <a:cs typeface="Aptos"/>
              </a:rPr>
              <a:t>: </a:t>
            </a:r>
            <a:r>
              <a:rPr sz="1200" b="1" err="1">
                <a:solidFill>
                  <a:srgbClr val="FFFFFF"/>
                </a:solidFill>
                <a:latin typeface="Aptos"/>
                <a:ea typeface="Aptos"/>
                <a:cs typeface="Aptos"/>
              </a:rPr>
              <a:t>rund</a:t>
            </a:r>
            <a:r>
              <a:rPr sz="1200" b="1">
                <a:solidFill>
                  <a:srgbClr val="FFFFFF"/>
                </a:solidFill>
                <a:latin typeface="Aptos"/>
                <a:ea typeface="Aptos"/>
                <a:cs typeface="Aptos"/>
              </a:rPr>
              <a:t> 3,1 </a:t>
            </a:r>
            <a:r>
              <a:rPr sz="1200" b="1" err="1">
                <a:solidFill>
                  <a:srgbClr val="FFFFFF"/>
                </a:solidFill>
                <a:latin typeface="Aptos"/>
                <a:ea typeface="Aptos"/>
                <a:cs typeface="Aptos"/>
              </a:rPr>
              <a:t>Mrd</a:t>
            </a:r>
            <a:r>
              <a:rPr sz="1200" b="1">
                <a:solidFill>
                  <a:srgbClr val="FFFFFF"/>
                </a:solidFill>
                <a:latin typeface="Aptos"/>
                <a:ea typeface="Aptos"/>
                <a:cs typeface="Aptos"/>
              </a:rPr>
              <a:t>. € CET1 </a:t>
            </a:r>
            <a:r>
              <a:rPr sz="1200" b="1" err="1">
                <a:solidFill>
                  <a:srgbClr val="FFFFFF"/>
                </a:solidFill>
                <a:latin typeface="Aptos"/>
                <a:ea typeface="Aptos"/>
                <a:cs typeface="Aptos"/>
              </a:rPr>
              <a:t>oder</a:t>
            </a:r>
            <a:r>
              <a:rPr sz="1200" b="1">
                <a:solidFill>
                  <a:srgbClr val="FFFFFF"/>
                </a:solidFill>
                <a:latin typeface="Aptos"/>
                <a:ea typeface="Aptos"/>
                <a:cs typeface="Aptos"/>
              </a:rPr>
              <a:t> </a:t>
            </a:r>
            <a:r>
              <a:rPr sz="1200" b="1" err="1">
                <a:solidFill>
                  <a:srgbClr val="FFFFFF"/>
                </a:solidFill>
                <a:latin typeface="Aptos"/>
                <a:ea typeface="Aptos"/>
                <a:cs typeface="Aptos"/>
              </a:rPr>
              <a:t>rund</a:t>
            </a:r>
            <a:r>
              <a:rPr sz="1200" b="1">
                <a:solidFill>
                  <a:srgbClr val="FFFFFF"/>
                </a:solidFill>
                <a:latin typeface="Aptos"/>
                <a:ea typeface="Aptos"/>
                <a:cs typeface="Aptos"/>
              </a:rPr>
              <a:t> 39 </a:t>
            </a:r>
            <a:r>
              <a:rPr sz="1200" b="1" err="1">
                <a:solidFill>
                  <a:srgbClr val="FFFFFF"/>
                </a:solidFill>
                <a:latin typeface="Aptos"/>
                <a:ea typeface="Aptos"/>
                <a:cs typeface="Aptos"/>
              </a:rPr>
              <a:t>Mrd</a:t>
            </a:r>
            <a:r>
              <a:rPr sz="1200" b="1">
                <a:solidFill>
                  <a:srgbClr val="FFFFFF"/>
                </a:solidFill>
                <a:latin typeface="Aptos"/>
                <a:ea typeface="Aptos"/>
                <a:cs typeface="Aptos"/>
              </a:rPr>
              <a:t>. € RWA-</a:t>
            </a:r>
            <a:r>
              <a:rPr sz="1200" b="1" err="1">
                <a:solidFill>
                  <a:srgbClr val="FFFFFF"/>
                </a:solidFill>
                <a:latin typeface="Aptos"/>
                <a:ea typeface="Aptos"/>
                <a:cs typeface="Aptos"/>
              </a:rPr>
              <a:t>Abbau</a:t>
            </a:r>
            <a:r>
              <a:rPr lang="de-DE" sz="1200" b="1">
                <a:solidFill>
                  <a:srgbClr val="FFFFFF"/>
                </a:solidFill>
                <a:latin typeface="Aptos"/>
                <a:ea typeface="Aptos"/>
                <a:cs typeface="Aptos"/>
              </a:rPr>
              <a:t>.</a:t>
            </a:r>
            <a:r>
              <a:rPr sz="1200" b="1">
                <a:solidFill>
                  <a:srgbClr val="FFFFFF"/>
                </a:solidFill>
                <a:latin typeface="Aptos"/>
                <a:ea typeface="Aptos"/>
                <a:cs typeface="Aptos"/>
              </a:rPr>
              <a:t> </a:t>
            </a:r>
            <a:r>
              <a:rPr lang="de-DE" sz="1200" b="1">
                <a:solidFill>
                  <a:srgbClr val="FFFFFF"/>
                </a:solidFill>
                <a:latin typeface="Aptos"/>
                <a:ea typeface="Aptos"/>
                <a:cs typeface="Aptos"/>
              </a:rPr>
              <a:t>P</a:t>
            </a:r>
            <a:r>
              <a:rPr sz="1200" b="1" err="1">
                <a:solidFill>
                  <a:srgbClr val="FFFFFF"/>
                </a:solidFill>
                <a:latin typeface="Aptos"/>
                <a:ea typeface="Aptos"/>
                <a:cs typeface="Aptos"/>
              </a:rPr>
              <a:t>raktisch</a:t>
            </a:r>
            <a:r>
              <a:rPr sz="1200" b="1">
                <a:solidFill>
                  <a:srgbClr val="FFFFFF"/>
                </a:solidFill>
                <a:latin typeface="Aptos"/>
                <a:ea typeface="Aptos"/>
                <a:cs typeface="Aptos"/>
              </a:rPr>
              <a:t> </a:t>
            </a:r>
            <a:r>
              <a:rPr sz="1200" b="1" err="1">
                <a:solidFill>
                  <a:srgbClr val="FFFFFF"/>
                </a:solidFill>
                <a:latin typeface="Aptos"/>
                <a:ea typeface="Aptos"/>
                <a:cs typeface="Aptos"/>
              </a:rPr>
              <a:t>als</a:t>
            </a:r>
            <a:r>
              <a:rPr sz="1200" b="1">
                <a:solidFill>
                  <a:srgbClr val="FFFFFF"/>
                </a:solidFill>
                <a:latin typeface="Aptos"/>
                <a:ea typeface="Aptos"/>
                <a:cs typeface="Aptos"/>
              </a:rPr>
              <a:t> </a:t>
            </a:r>
            <a:r>
              <a:rPr sz="1200" b="1" err="1">
                <a:solidFill>
                  <a:srgbClr val="FFFFFF"/>
                </a:solidFill>
                <a:latin typeface="Aptos"/>
                <a:ea typeface="Aptos"/>
                <a:cs typeface="Aptos"/>
              </a:rPr>
              <a:t>Maßnahmenmix</a:t>
            </a:r>
            <a:r>
              <a:rPr sz="1200" b="1">
                <a:solidFill>
                  <a:srgbClr val="FFFFFF"/>
                </a:solidFill>
                <a:latin typeface="Aptos"/>
                <a:ea typeface="Aptos"/>
                <a:cs typeface="Aptos"/>
              </a:rPr>
              <a:t>.</a:t>
            </a:r>
          </a:p>
        </p:txBody>
      </p:sp>
      <p:sp>
        <p:nvSpPr>
          <p:cNvPr id="2" name="Rectangle 21">
            <a:extLst>
              <a:ext uri="{FF2B5EF4-FFF2-40B4-BE49-F238E27FC236}">
                <a16:creationId xmlns:a16="http://schemas.microsoft.com/office/drawing/2014/main" id="{D39E72A9-AC5C-AED4-3339-A2702F40BC9E}"/>
              </a:ext>
            </a:extLst>
          </p:cNvPr>
          <p:cNvSpPr>
            <a:spLocks noGrp="1"/>
          </p:cNvSpPr>
          <p:nvPr/>
        </p:nvSpPr>
        <p:spPr>
          <a:xfrm>
            <a:off x="438150" y="6143625"/>
            <a:ext cx="9810750" cy="152400"/>
          </a:xfrm>
          <a:prstGeom prst="rect">
            <a:avLst/>
          </a:prstGeom>
        </p:spPr>
        <p:txBody>
          <a:bodyPr lIns="0" tIns="0" rIns="0" bIns="0" anchor="ctr"/>
          <a:lstStyle/>
          <a:p>
            <a:pPr algn="l">
              <a:buNone/>
              <a:defRPr sz="750" b="0">
                <a:solidFill>
                  <a:srgbClr val="8C8780"/>
                </a:solidFill>
                <a:latin typeface="Aptos"/>
                <a:ea typeface="Aptos"/>
                <a:cs typeface="Aptos"/>
              </a:defRPr>
            </a:pPr>
            <a:r>
              <a:t>EU Banking Credit Stress Cockpit ·</a:t>
            </a:r>
            <a:r>
              <a:rPr lang="de-DE"/>
              <a:t> Eigenkapital</a:t>
            </a:r>
            <a:endParaRPr/>
          </a:p>
        </p:txBody>
      </p:sp>
      <p:sp>
        <p:nvSpPr>
          <p:cNvPr id="15" name="CodexSlideNumber">
            <a:extLst>
              <a:ext uri="{FF2B5EF4-FFF2-40B4-BE49-F238E27FC236}">
                <a16:creationId xmlns:a16="http://schemas.microsoft.com/office/drawing/2014/main" id="{ED7AC6A9-319B-CD65-729F-6F9296A1AA80}"/>
              </a:ext>
            </a:extLst>
          </p:cNvPr>
          <p:cNvSpPr txBox="1"/>
          <p:nvPr/>
        </p:nvSpPr>
        <p:spPr>
          <a:xfrm>
            <a:off x="11226800" y="6553200"/>
            <a:ext cx="736600" cy="123111"/>
          </a:xfrm>
          <a:prstGeom prst="rect">
            <a:avLst/>
          </a:prstGeom>
          <a:noFill/>
        </p:spPr>
        <p:txBody>
          <a:bodyPr vert="horz" lIns="0" tIns="0" rIns="0" bIns="0" rtlCol="0">
            <a:spAutoFit/>
          </a:bodyPr>
          <a:lstStyle/>
          <a:p>
            <a:pPr algn="r"/>
            <a:r>
              <a:rPr lang="en-US" sz="800">
                <a:solidFill>
                  <a:srgbClr val="525252"/>
                </a:solidFill>
                <a:latin typeface="Arial" panose="020B0604020202020204" pitchFamily="34" charset="0"/>
              </a:rPr>
              <a:t>54 / 64</a:t>
            </a:r>
          </a:p>
        </p:txBody>
      </p:sp>
    </p:spTree>
    <p:extLst>
      <p:ext uri="{BB962C8B-B14F-4D97-AF65-F5344CB8AC3E}">
        <p14:creationId xmlns:p14="http://schemas.microsoft.com/office/powerpoint/2010/main" val="382589542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0AA67CA-F11C-F9A5-5DD5-965D9E99908F}"/>
              </a:ext>
            </a:extLst>
          </p:cNvPr>
          <p:cNvSpPr>
            <a:spLocks noGrp="1"/>
          </p:cNvSpPr>
          <p:nvPr/>
        </p:nvSpPr>
        <p:spPr>
          <a:xfrm>
            <a:off x="0" y="7620"/>
            <a:ext cx="12192000" cy="6858000"/>
          </a:xfrm>
          <a:prstGeom prst="rect">
            <a:avLst/>
          </a:prstGeom>
          <a:solidFill>
            <a:srgbClr val="071C2C"/>
          </a:solidFill>
        </p:spPr>
        <p:txBody>
          <a:bodyPr/>
          <a:lstStyle/>
          <a:p>
            <a:endParaRPr lang="en-US"/>
          </a:p>
        </p:txBody>
      </p:sp>
      <p:sp>
        <p:nvSpPr>
          <p:cNvPr id="3" name="Text 1"/>
          <p:cNvSpPr/>
          <p:nvPr/>
        </p:nvSpPr>
        <p:spPr>
          <a:xfrm>
            <a:off x="685800" y="1234440"/>
            <a:ext cx="10515600" cy="256032"/>
          </a:xfrm>
          <a:prstGeom prst="rect">
            <a:avLst/>
          </a:prstGeom>
          <a:noFill/>
          <a:ln/>
        </p:spPr>
        <p:txBody>
          <a:bodyPr wrap="square" lIns="0" tIns="0" rIns="0" bIns="0" rtlCol="0" anchor="ctr"/>
          <a:lstStyle/>
          <a:p>
            <a:pPr marL="0" indent="0">
              <a:buNone/>
            </a:pPr>
            <a:r>
              <a:rPr lang="en-US" sz="1100" b="1">
                <a:solidFill>
                  <a:srgbClr val="B9C2D0"/>
                </a:solidFill>
                <a:latin typeface="Aptos" pitchFamily="34" charset="0"/>
                <a:ea typeface="Aptos" pitchFamily="34" charset="-122"/>
                <a:cs typeface="Aptos" pitchFamily="34" charset="-120"/>
              </a:rPr>
              <a:t>VALIDIERUNG</a:t>
            </a:r>
            <a:endParaRPr lang="en-US" sz="1100"/>
          </a:p>
        </p:txBody>
      </p:sp>
      <p:sp>
        <p:nvSpPr>
          <p:cNvPr id="4" name="Text 2"/>
          <p:cNvSpPr/>
          <p:nvPr/>
        </p:nvSpPr>
        <p:spPr>
          <a:xfrm>
            <a:off x="685800" y="1645920"/>
            <a:ext cx="9875520" cy="621792"/>
          </a:xfrm>
          <a:prstGeom prst="rect">
            <a:avLst/>
          </a:prstGeom>
          <a:noFill/>
          <a:ln/>
        </p:spPr>
        <p:txBody>
          <a:bodyPr wrap="square" lIns="0" tIns="0" rIns="0" bIns="0" rtlCol="0" anchor="ctr">
            <a:normAutofit/>
          </a:bodyPr>
          <a:lstStyle/>
          <a:p>
            <a:pPr marL="0" indent="0">
              <a:buNone/>
            </a:pPr>
            <a:r>
              <a:rPr lang="en-US" sz="2500" b="1">
                <a:solidFill>
                  <a:srgbClr val="FFFFFF"/>
                </a:solidFill>
                <a:latin typeface="Georgia" pitchFamily="34" charset="0"/>
                <a:ea typeface="Georgia" pitchFamily="34" charset="-122"/>
                <a:cs typeface="Georgia" pitchFamily="34" charset="-120"/>
              </a:rPr>
              <a:t>Validierung &amp; Methodologie</a:t>
            </a:r>
            <a:endParaRPr lang="en-US" sz="2500"/>
          </a:p>
        </p:txBody>
      </p:sp>
      <p:sp>
        <p:nvSpPr>
          <p:cNvPr id="5" name="Text 3"/>
          <p:cNvSpPr/>
          <p:nvPr/>
        </p:nvSpPr>
        <p:spPr>
          <a:xfrm>
            <a:off x="685800" y="2404872"/>
            <a:ext cx="9418320" cy="438912"/>
          </a:xfrm>
          <a:prstGeom prst="rect">
            <a:avLst/>
          </a:prstGeom>
          <a:noFill/>
          <a:ln/>
        </p:spPr>
        <p:txBody>
          <a:bodyPr wrap="square" lIns="0" tIns="0" rIns="0" bIns="0" rtlCol="0" anchor="ctr">
            <a:normAutofit/>
          </a:bodyPr>
          <a:lstStyle/>
          <a:p>
            <a:pPr marL="0" indent="0">
              <a:buNone/>
            </a:pPr>
            <a:r>
              <a:rPr lang="en-US" sz="1200" i="1">
                <a:solidFill>
                  <a:srgbClr val="D6DCE6"/>
                </a:solidFill>
                <a:latin typeface="Georgia" pitchFamily="34" charset="0"/>
                <a:ea typeface="Georgia" pitchFamily="34" charset="-122"/>
                <a:cs typeface="Georgia" pitchFamily="34" charset="-120"/>
              </a:rPr>
              <a:t>Was der Walk-Forward-Backtest </a:t>
            </a:r>
            <a:r>
              <a:rPr lang="en-US" sz="1200" i="1" err="1">
                <a:solidFill>
                  <a:srgbClr val="D6DCE6"/>
                </a:solidFill>
                <a:latin typeface="Georgia" pitchFamily="34" charset="0"/>
                <a:ea typeface="Georgia" pitchFamily="34" charset="-122"/>
                <a:cs typeface="Georgia" pitchFamily="34" charset="-120"/>
              </a:rPr>
              <a:t>leistet</a:t>
            </a:r>
            <a:r>
              <a:rPr lang="en-US" sz="1200" i="1">
                <a:solidFill>
                  <a:srgbClr val="D6DCE6"/>
                </a:solidFill>
                <a:latin typeface="Georgia" pitchFamily="34" charset="0"/>
                <a:ea typeface="Georgia" pitchFamily="34" charset="-122"/>
                <a:cs typeface="Georgia" pitchFamily="34" charset="-120"/>
              </a:rPr>
              <a:t>  und was er bewusst nicht beweist.</a:t>
            </a:r>
            <a:endParaRPr lang="en-US" sz="1200"/>
          </a:p>
        </p:txBody>
      </p:sp>
      <p:sp>
        <p:nvSpPr>
          <p:cNvPr id="6" name="Text 4"/>
          <p:cNvSpPr/>
          <p:nvPr/>
        </p:nvSpPr>
        <p:spPr>
          <a:xfrm>
            <a:off x="685800" y="5148072"/>
            <a:ext cx="10424160" cy="897636"/>
          </a:xfrm>
          <a:prstGeom prst="rect">
            <a:avLst/>
          </a:prstGeom>
          <a:noFill/>
          <a:ln/>
        </p:spPr>
        <p:txBody>
          <a:bodyPr wrap="square" lIns="0" tIns="0" rIns="0" bIns="0" rtlCol="0" anchor="ctr">
            <a:normAutofit/>
          </a:bodyPr>
          <a:lstStyle/>
          <a:p>
            <a:pPr marL="0" indent="0">
              <a:buNone/>
            </a:pPr>
            <a:r>
              <a:rPr lang="en-US" sz="1200" b="1">
                <a:solidFill>
                  <a:srgbClr val="D6DCE6"/>
                </a:solidFill>
                <a:latin typeface="Aptos" pitchFamily="34" charset="0"/>
                <a:ea typeface="Aptos" pitchFamily="34" charset="-122"/>
                <a:cs typeface="Aptos" pitchFamily="34" charset="-120"/>
              </a:rPr>
              <a:t>Drei Ebenen: Datenbasis · Stress-Treiber &amp; Struktur · Outcomes. </a:t>
            </a:r>
          </a:p>
          <a:p>
            <a:pPr marL="0" indent="0">
              <a:buNone/>
            </a:pPr>
            <a:endParaRPr lang="en-US" sz="1600" b="1">
              <a:solidFill>
                <a:srgbClr val="D6DCE6"/>
              </a:solidFill>
              <a:latin typeface="Aptos" pitchFamily="34" charset="0"/>
              <a:ea typeface="Aptos" pitchFamily="34" charset="-122"/>
              <a:cs typeface="Aptos" pitchFamily="34" charset="-120"/>
            </a:endParaRPr>
          </a:p>
          <a:p>
            <a:pPr marL="0" indent="0">
              <a:buNone/>
            </a:pPr>
            <a:r>
              <a:rPr lang="en-US" sz="1200" b="1">
                <a:solidFill>
                  <a:srgbClr val="D6DCE6"/>
                </a:solidFill>
                <a:latin typeface="Aptos" pitchFamily="34" charset="0"/>
                <a:ea typeface="Aptos" pitchFamily="34" charset="-122"/>
                <a:cs typeface="Aptos" pitchFamily="34" charset="-120"/>
              </a:rPr>
              <a:t>Ziel ist keine perfekte Quartalsprognose, sondern eine belastbare Solvenz- und Frühwarnlogik.</a:t>
            </a:r>
            <a:endParaRPr lang="en-US" sz="1200" b="1"/>
          </a:p>
        </p:txBody>
      </p:sp>
      <p:sp>
        <p:nvSpPr>
          <p:cNvPr id="7" name="Text 5"/>
          <p:cNvSpPr/>
          <p:nvPr/>
        </p:nvSpPr>
        <p:spPr>
          <a:xfrm>
            <a:off x="685800" y="5696712"/>
            <a:ext cx="2743200" cy="228600"/>
          </a:xfrm>
          <a:prstGeom prst="rect">
            <a:avLst/>
          </a:prstGeom>
          <a:noFill/>
          <a:ln/>
        </p:spPr>
        <p:txBody>
          <a:bodyPr wrap="square" lIns="0" tIns="0" rIns="0" bIns="0" rtlCol="0" anchor="ctr"/>
          <a:lstStyle/>
          <a:p>
            <a:pPr marL="0" indent="0">
              <a:buNone/>
            </a:pPr>
            <a:endParaRPr lang="en-US" sz="1000"/>
          </a:p>
        </p:txBody>
      </p:sp>
      <p:sp>
        <p:nvSpPr>
          <p:cNvPr id="2" name="CodexSlideNumber">
            <a:extLst>
              <a:ext uri="{FF2B5EF4-FFF2-40B4-BE49-F238E27FC236}">
                <a16:creationId xmlns:a16="http://schemas.microsoft.com/office/drawing/2014/main" id="{C2E68241-0C53-BCF7-B399-01877CBC5F35}"/>
              </a:ext>
            </a:extLst>
          </p:cNvPr>
          <p:cNvSpPr txBox="1"/>
          <p:nvPr/>
        </p:nvSpPr>
        <p:spPr>
          <a:xfrm>
            <a:off x="11226800" y="6553200"/>
            <a:ext cx="736600" cy="123111"/>
          </a:xfrm>
          <a:prstGeom prst="rect">
            <a:avLst/>
          </a:prstGeom>
          <a:noFill/>
        </p:spPr>
        <p:txBody>
          <a:bodyPr vert="horz" lIns="0" tIns="0" rIns="0" bIns="0" rtlCol="0">
            <a:spAutoFit/>
          </a:bodyPr>
          <a:lstStyle/>
          <a:p>
            <a:pPr algn="r"/>
            <a:r>
              <a:rPr lang="en-US" sz="800">
                <a:solidFill>
                  <a:srgbClr val="525252"/>
                </a:solidFill>
                <a:latin typeface="Arial" panose="020B0604020202020204" pitchFamily="34" charset="0"/>
              </a:rPr>
              <a:t>55 / 64</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502920" y="502920"/>
            <a:ext cx="10789920" cy="201168"/>
          </a:xfrm>
          <a:prstGeom prst="rect">
            <a:avLst/>
          </a:prstGeom>
          <a:noFill/>
          <a:ln/>
        </p:spPr>
        <p:txBody>
          <a:bodyPr wrap="square" lIns="0" tIns="0" rIns="0" bIns="0" rtlCol="0" anchor="ctr">
            <a:normAutofit/>
          </a:bodyPr>
          <a:lstStyle/>
          <a:p>
            <a:pPr>
              <a:defRPr sz="975" b="1">
                <a:solidFill>
                  <a:srgbClr val="5B666D"/>
                </a:solidFill>
                <a:latin typeface="Aptos"/>
                <a:ea typeface="Aptos"/>
                <a:cs typeface="Aptos"/>
              </a:defRPr>
            </a:pPr>
            <a:r>
              <a:rPr lang="en-US" sz="863" b="1" dirty="0">
                <a:solidFill>
                  <a:schemeClr val="tx2"/>
                </a:solidFill>
                <a:latin typeface="Aptos"/>
              </a:rPr>
              <a:t>TAB 5 · BACKTEST-LOGIK</a:t>
            </a:r>
          </a:p>
        </p:txBody>
      </p:sp>
      <p:sp>
        <p:nvSpPr>
          <p:cNvPr id="4" name="Text 2"/>
          <p:cNvSpPr/>
          <p:nvPr/>
        </p:nvSpPr>
        <p:spPr>
          <a:xfrm>
            <a:off x="502920" y="749808"/>
            <a:ext cx="10972800" cy="384048"/>
          </a:xfrm>
          <a:prstGeom prst="rect">
            <a:avLst/>
          </a:prstGeom>
          <a:noFill/>
          <a:ln/>
        </p:spPr>
        <p:txBody>
          <a:bodyPr wrap="square" lIns="0" tIns="0" rIns="0" bIns="0" rtlCol="0" anchor="ctr">
            <a:normAutofit/>
          </a:bodyPr>
          <a:lstStyle/>
          <a:p>
            <a:pPr marL="0" indent="0">
              <a:buNone/>
            </a:pPr>
            <a:r>
              <a:rPr lang="en-US" sz="2000" b="1">
                <a:solidFill>
                  <a:srgbClr val="102333"/>
                </a:solidFill>
                <a:latin typeface="Georgia" pitchFamily="34" charset="0"/>
                <a:ea typeface="Georgia" pitchFamily="34" charset="-122"/>
                <a:cs typeface="Georgia" pitchFamily="34" charset="-120"/>
              </a:rPr>
              <a:t>No-Look-Ahead: Das Modell wird Jahr für Jahr zurück in die Vergangenheit gesetzt</a:t>
            </a:r>
            <a:endParaRPr lang="en-US" sz="2000"/>
          </a:p>
        </p:txBody>
      </p:sp>
      <p:sp>
        <p:nvSpPr>
          <p:cNvPr id="5" name="Text 3"/>
          <p:cNvSpPr/>
          <p:nvPr/>
        </p:nvSpPr>
        <p:spPr>
          <a:xfrm>
            <a:off x="502920" y="1298448"/>
            <a:ext cx="10881360" cy="256032"/>
          </a:xfrm>
          <a:prstGeom prst="rect">
            <a:avLst/>
          </a:prstGeom>
          <a:noFill/>
          <a:ln/>
        </p:spPr>
        <p:txBody>
          <a:bodyPr wrap="square" lIns="0" tIns="0" rIns="0" bIns="0" rtlCol="0" anchor="ctr">
            <a:normAutofit/>
          </a:bodyPr>
          <a:lstStyle/>
          <a:p>
            <a:pPr marL="0" indent="0">
              <a:buNone/>
            </a:pPr>
            <a:r>
              <a:rPr lang="en-US" sz="1020" i="1">
                <a:solidFill>
                  <a:srgbClr val="667085"/>
                </a:solidFill>
                <a:latin typeface="Georgia" pitchFamily="34" charset="0"/>
                <a:ea typeface="Georgia" pitchFamily="34" charset="-122"/>
                <a:cs typeface="Georgia" pitchFamily="34" charset="-120"/>
              </a:rPr>
              <a:t>Für jeden historischen Stichtag bekommt das Modell nur die damals bekannten Pillar-3-Informationen.</a:t>
            </a:r>
            <a:endParaRPr lang="en-US" sz="1020"/>
          </a:p>
        </p:txBody>
      </p:sp>
      <p:sp>
        <p:nvSpPr>
          <p:cNvPr id="6" name="Text 4"/>
          <p:cNvSpPr/>
          <p:nvPr/>
        </p:nvSpPr>
        <p:spPr>
          <a:xfrm>
            <a:off x="502920" y="6528816"/>
            <a:ext cx="6492240" cy="164592"/>
          </a:xfrm>
          <a:prstGeom prst="rect">
            <a:avLst/>
          </a:prstGeom>
          <a:noFill/>
          <a:ln/>
        </p:spPr>
        <p:txBody>
          <a:bodyPr wrap="square" lIns="0" tIns="0" rIns="0" bIns="0" rtlCol="0" anchor="ctr"/>
          <a:lstStyle/>
          <a:p>
            <a:pPr marL="0" indent="0">
              <a:buNone/>
            </a:pPr>
            <a:r>
              <a:rPr lang="en-US" sz="750">
                <a:solidFill>
                  <a:srgbClr val="667085"/>
                </a:solidFill>
                <a:latin typeface="Aptos" pitchFamily="34" charset="0"/>
                <a:ea typeface="Aptos" pitchFamily="34" charset="-122"/>
                <a:cs typeface="Aptos" pitchFamily="34" charset="-120"/>
              </a:rPr>
              <a:t>EU Banking Credit Stress Cockpit · Studienprojekt 2026</a:t>
            </a:r>
            <a:endParaRPr lang="en-US" sz="750"/>
          </a:p>
        </p:txBody>
      </p:sp>
      <p:sp>
        <p:nvSpPr>
          <p:cNvPr id="8" name="Shape 6"/>
          <p:cNvSpPr/>
          <p:nvPr/>
        </p:nvSpPr>
        <p:spPr>
          <a:xfrm>
            <a:off x="594360" y="1874520"/>
            <a:ext cx="2697480" cy="1645920"/>
          </a:xfrm>
          <a:prstGeom prst="roundRect">
            <a:avLst>
              <a:gd name="adj" fmla="val 2222"/>
            </a:avLst>
          </a:prstGeom>
          <a:solidFill>
            <a:srgbClr val="FFFFFF">
              <a:alpha val="0"/>
            </a:srgbClr>
          </a:solidFill>
          <a:ln w="8890">
            <a:solidFill>
              <a:srgbClr val="D9DEE7"/>
            </a:solidFill>
            <a:prstDash val="solid"/>
          </a:ln>
        </p:spPr>
        <p:txBody>
          <a:bodyPr/>
          <a:lstStyle/>
          <a:p>
            <a:endParaRPr lang="de-DE"/>
          </a:p>
        </p:txBody>
      </p:sp>
      <p:sp>
        <p:nvSpPr>
          <p:cNvPr id="9" name="Shape 7"/>
          <p:cNvSpPr/>
          <p:nvPr/>
        </p:nvSpPr>
        <p:spPr>
          <a:xfrm>
            <a:off x="603504" y="1947672"/>
            <a:ext cx="0" cy="1499616"/>
          </a:xfrm>
          <a:prstGeom prst="line">
            <a:avLst/>
          </a:prstGeom>
          <a:noFill/>
          <a:ln w="14605">
            <a:solidFill>
              <a:srgbClr val="4656D8"/>
            </a:solidFill>
            <a:prstDash val="solid"/>
          </a:ln>
        </p:spPr>
        <p:txBody>
          <a:bodyPr/>
          <a:lstStyle/>
          <a:p>
            <a:endParaRPr lang="de-DE"/>
          </a:p>
        </p:txBody>
      </p:sp>
      <p:sp>
        <p:nvSpPr>
          <p:cNvPr id="10" name="Text 8"/>
          <p:cNvSpPr/>
          <p:nvPr/>
        </p:nvSpPr>
        <p:spPr>
          <a:xfrm>
            <a:off x="722376" y="1956816"/>
            <a:ext cx="2496312" cy="1536192"/>
          </a:xfrm>
          <a:prstGeom prst="rect">
            <a:avLst/>
          </a:prstGeom>
          <a:noFill/>
          <a:ln/>
        </p:spPr>
        <p:txBody>
          <a:bodyPr wrap="square" lIns="0" tIns="0" rIns="0" bIns="0" rtlCol="0" anchor="t">
            <a:normAutofit/>
          </a:bodyPr>
          <a:lstStyle/>
          <a:p>
            <a:pPr marL="0" indent="0">
              <a:buNone/>
            </a:pPr>
            <a:r>
              <a:rPr lang="en-US" sz="1200" b="1">
                <a:solidFill>
                  <a:srgbClr val="102333"/>
                </a:solidFill>
                <a:latin typeface="Aptos" pitchFamily="34" charset="0"/>
                <a:ea typeface="Aptos" pitchFamily="34" charset="-122"/>
                <a:cs typeface="Aptos" pitchFamily="34" charset="-120"/>
              </a:rPr>
              <a:t>Portfolio einfrieren
</a:t>
            </a:r>
            <a:r>
              <a:rPr lang="en-US" sz="1200">
                <a:solidFill>
                  <a:srgbClr val="667085"/>
                </a:solidFill>
                <a:latin typeface="Aptos" pitchFamily="34" charset="0"/>
                <a:ea typeface="Aptos" pitchFamily="34" charset="-122"/>
                <a:cs typeface="Aptos" pitchFamily="34" charset="-120"/>
              </a:rPr>
              <a:t>PD, LGD und EAD aus dem damaligen Pillar-3-Report.</a:t>
            </a:r>
            <a:endParaRPr lang="en-US" sz="1200"/>
          </a:p>
        </p:txBody>
      </p:sp>
      <p:sp>
        <p:nvSpPr>
          <p:cNvPr id="11" name="Shape 9"/>
          <p:cNvSpPr/>
          <p:nvPr/>
        </p:nvSpPr>
        <p:spPr>
          <a:xfrm>
            <a:off x="406908" y="1746505"/>
            <a:ext cx="310896" cy="310896"/>
          </a:xfrm>
          <a:prstGeom prst="ellipse">
            <a:avLst/>
          </a:prstGeom>
          <a:solidFill>
            <a:srgbClr val="4656D8"/>
          </a:solidFill>
          <a:ln w="12700">
            <a:solidFill>
              <a:srgbClr val="4656D8"/>
            </a:solidFill>
            <a:prstDash val="solid"/>
          </a:ln>
        </p:spPr>
        <p:txBody>
          <a:bodyPr/>
          <a:lstStyle/>
          <a:p>
            <a:endParaRPr lang="de-DE"/>
          </a:p>
        </p:txBody>
      </p:sp>
      <p:sp>
        <p:nvSpPr>
          <p:cNvPr id="12" name="Text 10"/>
          <p:cNvSpPr/>
          <p:nvPr/>
        </p:nvSpPr>
        <p:spPr>
          <a:xfrm>
            <a:off x="388620" y="1865377"/>
            <a:ext cx="310896" cy="109728"/>
          </a:xfrm>
          <a:prstGeom prst="rect">
            <a:avLst/>
          </a:prstGeom>
          <a:noFill/>
          <a:ln/>
        </p:spPr>
        <p:txBody>
          <a:bodyPr wrap="square" lIns="0" tIns="0" rIns="0" bIns="0" rtlCol="0" anchor="ctr"/>
          <a:lstStyle/>
          <a:p>
            <a:pPr marL="0" indent="0" algn="ctr">
              <a:buNone/>
            </a:pPr>
            <a:r>
              <a:rPr lang="en-US" sz="700" b="1">
                <a:solidFill>
                  <a:schemeClr val="bg1"/>
                </a:solidFill>
                <a:latin typeface="Aptos" pitchFamily="34" charset="0"/>
                <a:ea typeface="Aptos" pitchFamily="34" charset="-122"/>
                <a:cs typeface="Aptos" pitchFamily="34" charset="-120"/>
              </a:rPr>
              <a:t>1</a:t>
            </a:r>
            <a:endParaRPr lang="en-US" sz="700">
              <a:solidFill>
                <a:schemeClr val="bg1"/>
              </a:solidFill>
            </a:endParaRPr>
          </a:p>
        </p:txBody>
      </p:sp>
      <p:sp>
        <p:nvSpPr>
          <p:cNvPr id="13" name="Text 11"/>
          <p:cNvSpPr/>
          <p:nvPr/>
        </p:nvSpPr>
        <p:spPr>
          <a:xfrm>
            <a:off x="3342132" y="2606040"/>
            <a:ext cx="182880" cy="182880"/>
          </a:xfrm>
          <a:prstGeom prst="rect">
            <a:avLst/>
          </a:prstGeom>
          <a:noFill/>
          <a:ln/>
        </p:spPr>
        <p:txBody>
          <a:bodyPr wrap="square" lIns="0" tIns="0" rIns="0" bIns="0" rtlCol="0" anchor="ctr"/>
          <a:lstStyle/>
          <a:p>
            <a:pPr marL="0" indent="0">
              <a:buNone/>
            </a:pPr>
            <a:r>
              <a:rPr lang="en-US" sz="1400">
                <a:solidFill>
                  <a:srgbClr val="667085"/>
                </a:solidFill>
                <a:latin typeface="Aptos" pitchFamily="34" charset="0"/>
                <a:ea typeface="Aptos" pitchFamily="34" charset="-122"/>
                <a:cs typeface="Aptos" pitchFamily="34" charset="-120"/>
              </a:rPr>
              <a:t>→</a:t>
            </a:r>
            <a:endParaRPr lang="en-US" sz="1400"/>
          </a:p>
        </p:txBody>
      </p:sp>
      <p:sp>
        <p:nvSpPr>
          <p:cNvPr id="14" name="Shape 12"/>
          <p:cNvSpPr/>
          <p:nvPr/>
        </p:nvSpPr>
        <p:spPr>
          <a:xfrm>
            <a:off x="3547872" y="1874520"/>
            <a:ext cx="2697480" cy="1645920"/>
          </a:xfrm>
          <a:prstGeom prst="roundRect">
            <a:avLst>
              <a:gd name="adj" fmla="val 2222"/>
            </a:avLst>
          </a:prstGeom>
          <a:solidFill>
            <a:srgbClr val="FFFFFF">
              <a:alpha val="0"/>
            </a:srgbClr>
          </a:solidFill>
          <a:ln w="8890">
            <a:solidFill>
              <a:srgbClr val="D9DEE7"/>
            </a:solidFill>
            <a:prstDash val="solid"/>
          </a:ln>
        </p:spPr>
        <p:txBody>
          <a:bodyPr/>
          <a:lstStyle/>
          <a:p>
            <a:endParaRPr lang="de-DE"/>
          </a:p>
        </p:txBody>
      </p:sp>
      <p:sp>
        <p:nvSpPr>
          <p:cNvPr id="15" name="Shape 13"/>
          <p:cNvSpPr/>
          <p:nvPr/>
        </p:nvSpPr>
        <p:spPr>
          <a:xfrm>
            <a:off x="3557016" y="1947672"/>
            <a:ext cx="0" cy="1499616"/>
          </a:xfrm>
          <a:prstGeom prst="line">
            <a:avLst/>
          </a:prstGeom>
          <a:noFill/>
          <a:ln w="14605">
            <a:solidFill>
              <a:srgbClr val="C79A1E"/>
            </a:solidFill>
            <a:prstDash val="solid"/>
          </a:ln>
        </p:spPr>
        <p:txBody>
          <a:bodyPr/>
          <a:lstStyle/>
          <a:p>
            <a:endParaRPr lang="de-DE"/>
          </a:p>
        </p:txBody>
      </p:sp>
      <p:sp>
        <p:nvSpPr>
          <p:cNvPr id="16" name="Text 14"/>
          <p:cNvSpPr/>
          <p:nvPr/>
        </p:nvSpPr>
        <p:spPr>
          <a:xfrm>
            <a:off x="3675888" y="1956816"/>
            <a:ext cx="2496312" cy="1536192"/>
          </a:xfrm>
          <a:prstGeom prst="rect">
            <a:avLst/>
          </a:prstGeom>
          <a:noFill/>
          <a:ln/>
        </p:spPr>
        <p:txBody>
          <a:bodyPr wrap="square" lIns="0" tIns="0" rIns="0" bIns="0" rtlCol="0" anchor="t">
            <a:normAutofit/>
          </a:bodyPr>
          <a:lstStyle/>
          <a:p>
            <a:pPr marL="0" indent="0">
              <a:buNone/>
            </a:pPr>
            <a:r>
              <a:rPr lang="en-US" sz="1200" b="1">
                <a:solidFill>
                  <a:srgbClr val="102333"/>
                </a:solidFill>
                <a:latin typeface="Aptos" pitchFamily="34" charset="0"/>
                <a:ea typeface="Aptos" pitchFamily="34" charset="-122"/>
                <a:cs typeface="Aptos" pitchFamily="34" charset="-120"/>
              </a:rPr>
              <a:t>Schocks messen
</a:t>
            </a:r>
            <a:r>
              <a:rPr lang="en-US" sz="1200">
                <a:solidFill>
                  <a:srgbClr val="667085"/>
                </a:solidFill>
                <a:latin typeface="Aptos" pitchFamily="34" charset="0"/>
                <a:ea typeface="Aptos" pitchFamily="34" charset="-122"/>
                <a:cs typeface="Aptos" pitchFamily="34" charset="-120"/>
              </a:rPr>
              <a:t>Reale ΔBrent- und Δr10J-Bewegung bis zum nächsten Stichtag.</a:t>
            </a:r>
            <a:endParaRPr lang="en-US" sz="1200"/>
          </a:p>
        </p:txBody>
      </p:sp>
      <p:sp>
        <p:nvSpPr>
          <p:cNvPr id="17" name="Shape 15"/>
          <p:cNvSpPr/>
          <p:nvPr/>
        </p:nvSpPr>
        <p:spPr>
          <a:xfrm>
            <a:off x="3337560" y="1746702"/>
            <a:ext cx="310896" cy="310896"/>
          </a:xfrm>
          <a:prstGeom prst="ellipse">
            <a:avLst/>
          </a:prstGeom>
          <a:solidFill>
            <a:srgbClr val="C79A1E"/>
          </a:solidFill>
          <a:ln w="12700">
            <a:solidFill>
              <a:srgbClr val="C79A1E"/>
            </a:solidFill>
            <a:prstDash val="solid"/>
          </a:ln>
        </p:spPr>
        <p:txBody>
          <a:bodyPr/>
          <a:lstStyle/>
          <a:p>
            <a:endParaRPr lang="de-DE"/>
          </a:p>
        </p:txBody>
      </p:sp>
      <p:sp>
        <p:nvSpPr>
          <p:cNvPr id="18" name="Text 16"/>
          <p:cNvSpPr/>
          <p:nvPr/>
        </p:nvSpPr>
        <p:spPr>
          <a:xfrm>
            <a:off x="3364992" y="1865377"/>
            <a:ext cx="310896" cy="109728"/>
          </a:xfrm>
          <a:prstGeom prst="rect">
            <a:avLst/>
          </a:prstGeom>
          <a:noFill/>
          <a:ln/>
        </p:spPr>
        <p:txBody>
          <a:bodyPr wrap="square" lIns="0" tIns="0" rIns="0" bIns="0" rtlCol="0" anchor="ctr"/>
          <a:lstStyle/>
          <a:p>
            <a:pPr marL="0" indent="0" algn="ctr">
              <a:buNone/>
            </a:pPr>
            <a:r>
              <a:rPr lang="en-US" sz="700" b="1">
                <a:solidFill>
                  <a:schemeClr val="bg1"/>
                </a:solidFill>
                <a:latin typeface="Aptos" pitchFamily="34" charset="0"/>
                <a:ea typeface="Aptos" pitchFamily="34" charset="-122"/>
                <a:cs typeface="Aptos" pitchFamily="34" charset="-120"/>
              </a:rPr>
              <a:t>2</a:t>
            </a:r>
            <a:endParaRPr lang="en-US" sz="700">
              <a:solidFill>
                <a:schemeClr val="bg1"/>
              </a:solidFill>
            </a:endParaRPr>
          </a:p>
        </p:txBody>
      </p:sp>
      <p:sp>
        <p:nvSpPr>
          <p:cNvPr id="19" name="Text 17"/>
          <p:cNvSpPr/>
          <p:nvPr/>
        </p:nvSpPr>
        <p:spPr>
          <a:xfrm>
            <a:off x="6295644" y="2606040"/>
            <a:ext cx="182880" cy="182880"/>
          </a:xfrm>
          <a:prstGeom prst="rect">
            <a:avLst/>
          </a:prstGeom>
          <a:noFill/>
          <a:ln/>
        </p:spPr>
        <p:txBody>
          <a:bodyPr wrap="square" lIns="0" tIns="0" rIns="0" bIns="0" rtlCol="0" anchor="ctr"/>
          <a:lstStyle/>
          <a:p>
            <a:pPr marL="0" indent="0">
              <a:buNone/>
            </a:pPr>
            <a:r>
              <a:rPr lang="en-US" sz="1400">
                <a:solidFill>
                  <a:srgbClr val="667085"/>
                </a:solidFill>
                <a:latin typeface="Aptos" pitchFamily="34" charset="0"/>
                <a:ea typeface="Aptos" pitchFamily="34" charset="-122"/>
                <a:cs typeface="Aptos" pitchFamily="34" charset="-120"/>
              </a:rPr>
              <a:t>→</a:t>
            </a:r>
            <a:endParaRPr lang="en-US" sz="1400"/>
          </a:p>
        </p:txBody>
      </p:sp>
      <p:sp>
        <p:nvSpPr>
          <p:cNvPr id="20" name="Shape 18"/>
          <p:cNvSpPr/>
          <p:nvPr/>
        </p:nvSpPr>
        <p:spPr>
          <a:xfrm>
            <a:off x="6501384" y="1874520"/>
            <a:ext cx="2697480" cy="1645920"/>
          </a:xfrm>
          <a:prstGeom prst="roundRect">
            <a:avLst>
              <a:gd name="adj" fmla="val 2222"/>
            </a:avLst>
          </a:prstGeom>
          <a:solidFill>
            <a:srgbClr val="FFFFFF">
              <a:alpha val="0"/>
            </a:srgbClr>
          </a:solidFill>
          <a:ln w="8890">
            <a:solidFill>
              <a:srgbClr val="D9DEE7"/>
            </a:solidFill>
            <a:prstDash val="solid"/>
          </a:ln>
        </p:spPr>
        <p:txBody>
          <a:bodyPr/>
          <a:lstStyle/>
          <a:p>
            <a:endParaRPr lang="de-DE"/>
          </a:p>
        </p:txBody>
      </p:sp>
      <p:sp>
        <p:nvSpPr>
          <p:cNvPr id="21" name="Shape 19"/>
          <p:cNvSpPr/>
          <p:nvPr/>
        </p:nvSpPr>
        <p:spPr>
          <a:xfrm>
            <a:off x="6510528" y="1947672"/>
            <a:ext cx="0" cy="1499616"/>
          </a:xfrm>
          <a:prstGeom prst="line">
            <a:avLst/>
          </a:prstGeom>
          <a:noFill/>
          <a:ln w="14605">
            <a:solidFill>
              <a:srgbClr val="B24462"/>
            </a:solidFill>
            <a:prstDash val="solid"/>
          </a:ln>
        </p:spPr>
        <p:txBody>
          <a:bodyPr/>
          <a:lstStyle/>
          <a:p>
            <a:endParaRPr lang="de-DE"/>
          </a:p>
        </p:txBody>
      </p:sp>
      <p:sp>
        <p:nvSpPr>
          <p:cNvPr id="22" name="Text 20"/>
          <p:cNvSpPr/>
          <p:nvPr/>
        </p:nvSpPr>
        <p:spPr>
          <a:xfrm>
            <a:off x="6629400" y="1956816"/>
            <a:ext cx="2496312" cy="1536192"/>
          </a:xfrm>
          <a:prstGeom prst="rect">
            <a:avLst/>
          </a:prstGeom>
          <a:noFill/>
          <a:ln/>
        </p:spPr>
        <p:txBody>
          <a:bodyPr wrap="square" lIns="0" tIns="0" rIns="0" bIns="0" rtlCol="0" anchor="t">
            <a:normAutofit/>
          </a:bodyPr>
          <a:lstStyle/>
          <a:p>
            <a:pPr marL="0" indent="0">
              <a:buNone/>
            </a:pPr>
            <a:r>
              <a:rPr lang="en-US" sz="1200" b="1">
                <a:solidFill>
                  <a:srgbClr val="102333"/>
                </a:solidFill>
                <a:latin typeface="Aptos" pitchFamily="34" charset="0"/>
                <a:ea typeface="Aptos" pitchFamily="34" charset="-122"/>
                <a:cs typeface="Aptos" pitchFamily="34" charset="-120"/>
              </a:rPr>
              <a:t>Modell laufen lassen
</a:t>
            </a:r>
            <a:r>
              <a:rPr lang="en-US" sz="1200">
                <a:solidFill>
                  <a:srgbClr val="667085"/>
                </a:solidFill>
                <a:latin typeface="Aptos" pitchFamily="34" charset="0"/>
                <a:ea typeface="Aptos" pitchFamily="34" charset="-122"/>
                <a:cs typeface="Aptos" pitchFamily="34" charset="-120"/>
              </a:rPr>
              <a:t>2-Faktor-Transmission und IRB-Mechanik berechnen.</a:t>
            </a:r>
            <a:endParaRPr lang="en-US" sz="1200"/>
          </a:p>
        </p:txBody>
      </p:sp>
      <p:sp>
        <p:nvSpPr>
          <p:cNvPr id="23" name="Shape 21"/>
          <p:cNvSpPr/>
          <p:nvPr/>
        </p:nvSpPr>
        <p:spPr>
          <a:xfrm>
            <a:off x="6300216" y="1760023"/>
            <a:ext cx="310896" cy="310896"/>
          </a:xfrm>
          <a:prstGeom prst="ellipse">
            <a:avLst/>
          </a:prstGeom>
          <a:solidFill>
            <a:srgbClr val="B24462"/>
          </a:solidFill>
          <a:ln w="12700">
            <a:solidFill>
              <a:srgbClr val="B24462"/>
            </a:solidFill>
            <a:prstDash val="solid"/>
          </a:ln>
        </p:spPr>
        <p:txBody>
          <a:bodyPr/>
          <a:lstStyle/>
          <a:p>
            <a:endParaRPr lang="de-DE"/>
          </a:p>
        </p:txBody>
      </p:sp>
      <p:sp>
        <p:nvSpPr>
          <p:cNvPr id="24" name="Text 22"/>
          <p:cNvSpPr/>
          <p:nvPr/>
        </p:nvSpPr>
        <p:spPr>
          <a:xfrm>
            <a:off x="6313932" y="1872111"/>
            <a:ext cx="310896" cy="109728"/>
          </a:xfrm>
          <a:prstGeom prst="rect">
            <a:avLst/>
          </a:prstGeom>
          <a:noFill/>
          <a:ln/>
        </p:spPr>
        <p:txBody>
          <a:bodyPr wrap="square" lIns="0" tIns="0" rIns="0" bIns="0" rtlCol="0" anchor="ctr"/>
          <a:lstStyle/>
          <a:p>
            <a:pPr marL="0" indent="0" algn="ctr">
              <a:buNone/>
            </a:pPr>
            <a:r>
              <a:rPr lang="en-US" sz="700" b="1">
                <a:solidFill>
                  <a:schemeClr val="bg1"/>
                </a:solidFill>
                <a:latin typeface="Aptos" pitchFamily="34" charset="0"/>
                <a:ea typeface="Aptos" pitchFamily="34" charset="-122"/>
                <a:cs typeface="Aptos" pitchFamily="34" charset="-120"/>
              </a:rPr>
              <a:t>3</a:t>
            </a:r>
            <a:endParaRPr lang="en-US" sz="700">
              <a:solidFill>
                <a:schemeClr val="bg1"/>
              </a:solidFill>
            </a:endParaRPr>
          </a:p>
        </p:txBody>
      </p:sp>
      <p:sp>
        <p:nvSpPr>
          <p:cNvPr id="25" name="Text 23"/>
          <p:cNvSpPr/>
          <p:nvPr/>
        </p:nvSpPr>
        <p:spPr>
          <a:xfrm>
            <a:off x="9249156" y="2606040"/>
            <a:ext cx="182880" cy="182880"/>
          </a:xfrm>
          <a:prstGeom prst="rect">
            <a:avLst/>
          </a:prstGeom>
          <a:noFill/>
          <a:ln/>
        </p:spPr>
        <p:txBody>
          <a:bodyPr wrap="square" lIns="0" tIns="0" rIns="0" bIns="0" rtlCol="0" anchor="ctr"/>
          <a:lstStyle/>
          <a:p>
            <a:pPr marL="0" indent="0">
              <a:buNone/>
            </a:pPr>
            <a:r>
              <a:rPr lang="en-US" sz="1400">
                <a:solidFill>
                  <a:srgbClr val="667085"/>
                </a:solidFill>
                <a:latin typeface="Aptos" pitchFamily="34" charset="0"/>
                <a:ea typeface="Aptos" pitchFamily="34" charset="-122"/>
                <a:cs typeface="Aptos" pitchFamily="34" charset="-120"/>
              </a:rPr>
              <a:t>→</a:t>
            </a:r>
            <a:endParaRPr lang="en-US" sz="1400"/>
          </a:p>
        </p:txBody>
      </p:sp>
      <p:sp>
        <p:nvSpPr>
          <p:cNvPr id="26" name="Shape 24"/>
          <p:cNvSpPr/>
          <p:nvPr/>
        </p:nvSpPr>
        <p:spPr>
          <a:xfrm>
            <a:off x="9454896" y="1874520"/>
            <a:ext cx="2606038" cy="1554480"/>
          </a:xfrm>
          <a:prstGeom prst="roundRect">
            <a:avLst>
              <a:gd name="adj" fmla="val 2222"/>
            </a:avLst>
          </a:prstGeom>
          <a:solidFill>
            <a:srgbClr val="FFFFFF">
              <a:alpha val="0"/>
            </a:srgbClr>
          </a:solidFill>
          <a:ln w="8890">
            <a:solidFill>
              <a:srgbClr val="D9DEE7"/>
            </a:solidFill>
            <a:prstDash val="solid"/>
          </a:ln>
        </p:spPr>
        <p:txBody>
          <a:bodyPr/>
          <a:lstStyle/>
          <a:p>
            <a:endParaRPr lang="de-DE"/>
          </a:p>
        </p:txBody>
      </p:sp>
      <p:sp>
        <p:nvSpPr>
          <p:cNvPr id="27" name="Shape 25"/>
          <p:cNvSpPr/>
          <p:nvPr/>
        </p:nvSpPr>
        <p:spPr>
          <a:xfrm>
            <a:off x="9464040" y="1947672"/>
            <a:ext cx="0" cy="1499616"/>
          </a:xfrm>
          <a:prstGeom prst="line">
            <a:avLst/>
          </a:prstGeom>
          <a:noFill/>
          <a:ln w="14605">
            <a:solidFill>
              <a:srgbClr val="168A8C"/>
            </a:solidFill>
            <a:prstDash val="solid"/>
          </a:ln>
        </p:spPr>
        <p:txBody>
          <a:bodyPr/>
          <a:lstStyle/>
          <a:p>
            <a:endParaRPr lang="de-DE"/>
          </a:p>
        </p:txBody>
      </p:sp>
      <p:sp>
        <p:nvSpPr>
          <p:cNvPr id="28" name="Text 26"/>
          <p:cNvSpPr/>
          <p:nvPr/>
        </p:nvSpPr>
        <p:spPr>
          <a:xfrm>
            <a:off x="9582912" y="1956816"/>
            <a:ext cx="2496312" cy="1536192"/>
          </a:xfrm>
          <a:prstGeom prst="rect">
            <a:avLst/>
          </a:prstGeom>
          <a:noFill/>
          <a:ln/>
        </p:spPr>
        <p:txBody>
          <a:bodyPr wrap="square" lIns="0" tIns="0" rIns="0" bIns="0" rtlCol="0" anchor="t">
            <a:normAutofit/>
          </a:bodyPr>
          <a:lstStyle/>
          <a:p>
            <a:pPr marL="0" indent="0">
              <a:buNone/>
            </a:pPr>
            <a:r>
              <a:rPr lang="en-US" sz="1200" b="1">
                <a:solidFill>
                  <a:srgbClr val="102333"/>
                </a:solidFill>
                <a:latin typeface="Aptos" pitchFamily="34" charset="0"/>
                <a:ea typeface="Aptos" pitchFamily="34" charset="-122"/>
                <a:cs typeface="Aptos" pitchFamily="34" charset="-120"/>
              </a:rPr>
              <a:t>Mit Realität vergleichen
</a:t>
            </a:r>
            <a:r>
              <a:rPr lang="en-US" sz="1200">
                <a:solidFill>
                  <a:srgbClr val="667085"/>
                </a:solidFill>
                <a:latin typeface="Aptos" pitchFamily="34" charset="0"/>
                <a:ea typeface="Aptos" pitchFamily="34" charset="-122"/>
                <a:cs typeface="Aptos" pitchFamily="34" charset="-120"/>
              </a:rPr>
              <a:t>Gemeldete Entwicklung und bereinigte Wirkung gegenüberstellen.</a:t>
            </a:r>
            <a:endParaRPr lang="en-US" sz="1200"/>
          </a:p>
        </p:txBody>
      </p:sp>
      <p:sp>
        <p:nvSpPr>
          <p:cNvPr id="29" name="Shape 27"/>
          <p:cNvSpPr/>
          <p:nvPr/>
        </p:nvSpPr>
        <p:spPr>
          <a:xfrm>
            <a:off x="9253728" y="1772854"/>
            <a:ext cx="310896" cy="310896"/>
          </a:xfrm>
          <a:prstGeom prst="ellipse">
            <a:avLst/>
          </a:prstGeom>
          <a:solidFill>
            <a:srgbClr val="168A8C"/>
          </a:solidFill>
          <a:ln w="12700">
            <a:solidFill>
              <a:srgbClr val="168A8C"/>
            </a:solidFill>
            <a:prstDash val="solid"/>
          </a:ln>
        </p:spPr>
        <p:txBody>
          <a:bodyPr/>
          <a:lstStyle/>
          <a:p>
            <a:endParaRPr lang="de-DE"/>
          </a:p>
        </p:txBody>
      </p:sp>
      <p:sp>
        <p:nvSpPr>
          <p:cNvPr id="30" name="Text 28"/>
          <p:cNvSpPr/>
          <p:nvPr/>
        </p:nvSpPr>
        <p:spPr>
          <a:xfrm>
            <a:off x="9267444" y="1908343"/>
            <a:ext cx="310896" cy="109728"/>
          </a:xfrm>
          <a:prstGeom prst="rect">
            <a:avLst/>
          </a:prstGeom>
          <a:noFill/>
          <a:ln/>
        </p:spPr>
        <p:txBody>
          <a:bodyPr wrap="square" lIns="0" tIns="0" rIns="0" bIns="0" rtlCol="0" anchor="ctr"/>
          <a:lstStyle/>
          <a:p>
            <a:pPr marL="0" indent="0" algn="ctr">
              <a:buNone/>
            </a:pPr>
            <a:r>
              <a:rPr lang="en-US" sz="700" b="1">
                <a:solidFill>
                  <a:schemeClr val="bg1"/>
                </a:solidFill>
                <a:latin typeface="Aptos" pitchFamily="34" charset="0"/>
                <a:ea typeface="Aptos" pitchFamily="34" charset="-122"/>
                <a:cs typeface="Aptos" pitchFamily="34" charset="-120"/>
              </a:rPr>
              <a:t>4</a:t>
            </a:r>
            <a:endParaRPr lang="en-US" sz="700">
              <a:solidFill>
                <a:schemeClr val="bg1"/>
              </a:solidFill>
            </a:endParaRPr>
          </a:p>
        </p:txBody>
      </p:sp>
      <p:sp>
        <p:nvSpPr>
          <p:cNvPr id="31" name="Shape 29"/>
          <p:cNvSpPr/>
          <p:nvPr/>
        </p:nvSpPr>
        <p:spPr>
          <a:xfrm>
            <a:off x="594360" y="4160520"/>
            <a:ext cx="10972800" cy="1188720"/>
          </a:xfrm>
          <a:prstGeom prst="roundRect">
            <a:avLst>
              <a:gd name="adj" fmla="val 3077"/>
            </a:avLst>
          </a:prstGeom>
          <a:solidFill>
            <a:srgbClr val="F4F6F8"/>
          </a:solidFill>
          <a:ln w="8890">
            <a:solidFill>
              <a:srgbClr val="D9DEE7"/>
            </a:solidFill>
            <a:prstDash val="solid"/>
          </a:ln>
        </p:spPr>
        <p:txBody>
          <a:bodyPr/>
          <a:lstStyle/>
          <a:p>
            <a:endParaRPr lang="de-DE"/>
          </a:p>
        </p:txBody>
      </p:sp>
      <p:sp>
        <p:nvSpPr>
          <p:cNvPr id="32" name="Shape 30"/>
          <p:cNvSpPr/>
          <p:nvPr/>
        </p:nvSpPr>
        <p:spPr>
          <a:xfrm>
            <a:off x="603504" y="4233672"/>
            <a:ext cx="0" cy="1042416"/>
          </a:xfrm>
          <a:prstGeom prst="line">
            <a:avLst/>
          </a:prstGeom>
          <a:noFill/>
          <a:ln w="14605">
            <a:solidFill>
              <a:srgbClr val="4656D8"/>
            </a:solidFill>
            <a:prstDash val="solid"/>
          </a:ln>
        </p:spPr>
        <p:txBody>
          <a:bodyPr/>
          <a:lstStyle/>
          <a:p>
            <a:endParaRPr lang="de-DE"/>
          </a:p>
        </p:txBody>
      </p:sp>
      <p:sp>
        <p:nvSpPr>
          <p:cNvPr id="33" name="Text 31"/>
          <p:cNvSpPr/>
          <p:nvPr/>
        </p:nvSpPr>
        <p:spPr>
          <a:xfrm>
            <a:off x="722376" y="4242816"/>
            <a:ext cx="10771632" cy="1078992"/>
          </a:xfrm>
          <a:prstGeom prst="rect">
            <a:avLst/>
          </a:prstGeom>
          <a:noFill/>
          <a:ln/>
        </p:spPr>
        <p:txBody>
          <a:bodyPr wrap="square" lIns="0" tIns="0" rIns="0" bIns="0" rtlCol="0" anchor="t">
            <a:normAutofit/>
          </a:bodyPr>
          <a:lstStyle/>
          <a:p>
            <a:pPr marL="0" indent="0">
              <a:buNone/>
            </a:pPr>
            <a:r>
              <a:rPr lang="en-US" sz="1200" b="1">
                <a:solidFill>
                  <a:srgbClr val="102333"/>
                </a:solidFill>
                <a:latin typeface="Aptos" pitchFamily="34" charset="0"/>
                <a:ea typeface="Aptos" pitchFamily="34" charset="-122"/>
                <a:cs typeface="Aptos" pitchFamily="34" charset="-120"/>
              </a:rPr>
              <a:t>Kernidee
</a:t>
            </a:r>
            <a:r>
              <a:rPr lang="en-US" sz="1200">
                <a:solidFill>
                  <a:srgbClr val="667085"/>
                </a:solidFill>
                <a:latin typeface="Aptos" pitchFamily="34" charset="0"/>
                <a:ea typeface="Aptos" pitchFamily="34" charset="-122"/>
                <a:cs typeface="Aptos" pitchFamily="34" charset="-120"/>
              </a:rPr>
              <a:t>Realität = tatsächlich gemeldete PD/LGD/CET1. Modell = hypothetische Entwicklung, wenn der reale Zins- und Ölpreisschock in das Modell eingespeist wird. Dadurch entsteht ein historischer Vergleich ohne Blick in die Zukunft.</a:t>
            </a:r>
            <a:endParaRPr lang="en-US" sz="1200"/>
          </a:p>
        </p:txBody>
      </p:sp>
      <p:sp>
        <p:nvSpPr>
          <p:cNvPr id="34" name="Shape 32"/>
          <p:cNvSpPr/>
          <p:nvPr/>
        </p:nvSpPr>
        <p:spPr>
          <a:xfrm>
            <a:off x="502920" y="6089904"/>
            <a:ext cx="11155680" cy="0"/>
          </a:xfrm>
          <a:prstGeom prst="line">
            <a:avLst/>
          </a:prstGeom>
          <a:noFill/>
          <a:ln w="10160">
            <a:solidFill>
              <a:srgbClr val="D9DEE7"/>
            </a:solidFill>
            <a:prstDash val="solid"/>
          </a:ln>
        </p:spPr>
        <p:txBody>
          <a:bodyPr/>
          <a:lstStyle/>
          <a:p>
            <a:endParaRPr lang="de-DE"/>
          </a:p>
        </p:txBody>
      </p:sp>
      <p:sp>
        <p:nvSpPr>
          <p:cNvPr id="35" name="Text 33"/>
          <p:cNvSpPr/>
          <p:nvPr/>
        </p:nvSpPr>
        <p:spPr>
          <a:xfrm>
            <a:off x="502920" y="6144768"/>
            <a:ext cx="10972800" cy="201168"/>
          </a:xfrm>
          <a:prstGeom prst="rect">
            <a:avLst/>
          </a:prstGeom>
          <a:noFill/>
          <a:ln/>
        </p:spPr>
        <p:txBody>
          <a:bodyPr wrap="square" lIns="0" tIns="0" rIns="0" bIns="0" rtlCol="0" anchor="ctr">
            <a:normAutofit/>
          </a:bodyPr>
          <a:lstStyle/>
          <a:p>
            <a:pPr marL="0" indent="0">
              <a:buNone/>
            </a:pPr>
            <a:r>
              <a:rPr lang="en-US" sz="1000" b="1">
                <a:solidFill>
                  <a:srgbClr val="667085"/>
                </a:solidFill>
                <a:latin typeface="Aptos" pitchFamily="34" charset="0"/>
                <a:ea typeface="Aptos" pitchFamily="34" charset="-122"/>
                <a:cs typeface="Aptos" pitchFamily="34" charset="-120"/>
              </a:rPr>
              <a:t>SPRECHANKER  </a:t>
            </a:r>
            <a:r>
              <a:rPr lang="en-US" sz="1000">
                <a:solidFill>
                  <a:srgbClr val="667085"/>
                </a:solidFill>
                <a:latin typeface="Aptos" pitchFamily="34" charset="0"/>
                <a:ea typeface="Aptos" pitchFamily="34" charset="-122"/>
                <a:cs typeface="Aptos" pitchFamily="34" charset="-120"/>
              </a:rPr>
              <a:t>Erst einfrieren, dann Schock messen, dann rechnen, dann mit der nächsten Realität vergleichen.</a:t>
            </a:r>
            <a:endParaRPr lang="en-US" sz="1000"/>
          </a:p>
        </p:txBody>
      </p:sp>
      <p:sp>
        <p:nvSpPr>
          <p:cNvPr id="2" name="CodexSlideNumber">
            <a:extLst>
              <a:ext uri="{FF2B5EF4-FFF2-40B4-BE49-F238E27FC236}">
                <a16:creationId xmlns:a16="http://schemas.microsoft.com/office/drawing/2014/main" id="{1670904D-CDB5-5E76-5B6B-A475BB46C2DA}"/>
              </a:ext>
            </a:extLst>
          </p:cNvPr>
          <p:cNvSpPr txBox="1"/>
          <p:nvPr/>
        </p:nvSpPr>
        <p:spPr>
          <a:xfrm>
            <a:off x="11226800" y="6553200"/>
            <a:ext cx="736600" cy="123111"/>
          </a:xfrm>
          <a:prstGeom prst="rect">
            <a:avLst/>
          </a:prstGeom>
          <a:noFill/>
        </p:spPr>
        <p:txBody>
          <a:bodyPr vert="horz" lIns="0" tIns="0" rIns="0" bIns="0" rtlCol="0">
            <a:spAutoFit/>
          </a:bodyPr>
          <a:lstStyle/>
          <a:p>
            <a:pPr algn="r"/>
            <a:r>
              <a:rPr lang="en-US" sz="800">
                <a:solidFill>
                  <a:srgbClr val="525252"/>
                </a:solidFill>
                <a:latin typeface="Arial" panose="020B0604020202020204" pitchFamily="34" charset="0"/>
              </a:rPr>
              <a:t>56 / 64</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CD7F63DC-DFFB-4A11-A0D6-754404602C49}"/>
              </a:ext>
            </a:extLst>
          </p:cNvPr>
          <p:cNvSpPr>
            <a:spLocks noGrp="1"/>
          </p:cNvSpPr>
          <p:nvPr/>
        </p:nvSpPr>
        <p:spPr>
          <a:xfrm>
            <a:off x="609600" y="819150"/>
            <a:ext cx="9525000" cy="457200"/>
          </a:xfrm>
          <a:prstGeom prst="rect">
            <a:avLst/>
          </a:prstGeom>
          <a:noFill/>
          <a:ln w="0">
            <a:noFill/>
            <a:prstDash val="solid"/>
          </a:ln>
        </p:spPr>
        <p:txBody>
          <a:bodyPr wrap="square" lIns="0" tIns="0" rIns="0" bIns="0" anchor="t"/>
          <a:lstStyle/>
          <a:p>
            <a:pPr algn="l">
              <a:defRPr sz="2475" b="1">
                <a:solidFill>
                  <a:srgbClr val="061D2D"/>
                </a:solidFill>
                <a:latin typeface="Aptos"/>
                <a:ea typeface="Aptos"/>
                <a:cs typeface="Aptos"/>
              </a:defRPr>
            </a:pPr>
            <a:r>
              <a:rPr sz="2475" b="1">
                <a:solidFill>
                  <a:srgbClr val="061D2D"/>
                </a:solidFill>
                <a:latin typeface="Aptos"/>
                <a:ea typeface="Aptos"/>
                <a:cs typeface="Aptos"/>
              </a:rPr>
              <a:t>Backtest ohne Zukunftsblick: Vorjahr einfrieren, Folgejahr prüfen</a:t>
            </a:r>
          </a:p>
        </p:txBody>
      </p:sp>
      <p:sp>
        <p:nvSpPr>
          <p:cNvPr id="4" name="subtitle">
            <a:extLst>
              <a:ext uri="{FF2B5EF4-FFF2-40B4-BE49-F238E27FC236}">
                <a16:creationId xmlns:a16="http://schemas.microsoft.com/office/drawing/2014/main" id="{49064110-8133-4D6A-A0F0-4CF8F7598A20}"/>
              </a:ext>
            </a:extLst>
          </p:cNvPr>
          <p:cNvSpPr>
            <a:spLocks noGrp="1"/>
          </p:cNvSpPr>
          <p:nvPr/>
        </p:nvSpPr>
        <p:spPr>
          <a:xfrm>
            <a:off x="609600" y="1295400"/>
            <a:ext cx="10001250" cy="323850"/>
          </a:xfrm>
          <a:prstGeom prst="rect">
            <a:avLst/>
          </a:prstGeom>
          <a:noFill/>
          <a:ln w="0">
            <a:noFill/>
            <a:prstDash val="solid"/>
          </a:ln>
        </p:spPr>
        <p:txBody>
          <a:bodyPr wrap="square" lIns="0" tIns="0" rIns="0" bIns="0" anchor="t"/>
          <a:lstStyle/>
          <a:p>
            <a:pPr algn="l">
              <a:defRPr sz="1350" b="0">
                <a:solidFill>
                  <a:srgbClr val="5F7F93"/>
                </a:solidFill>
                <a:latin typeface="Aptos"/>
                <a:ea typeface="Aptos"/>
                <a:cs typeface="Aptos"/>
              </a:defRPr>
            </a:pPr>
            <a:r>
              <a:rPr sz="1350" b="0">
                <a:solidFill>
                  <a:srgbClr val="5F7F93"/>
                </a:solidFill>
                <a:latin typeface="Aptos"/>
                <a:ea typeface="Aptos"/>
                <a:cs typeface="Aptos"/>
              </a:rPr>
              <a:t>Die Validierung vergleicht die Stress-CET1 aus Informationsstand t erst dann mit der gemeldeten CET1, wenn t+1 veröffentlicht ist.</a:t>
            </a:r>
          </a:p>
        </p:txBody>
      </p:sp>
      <p:sp>
        <p:nvSpPr>
          <p:cNvPr id="5" name="timeline-axis">
            <a:extLst>
              <a:ext uri="{FF2B5EF4-FFF2-40B4-BE49-F238E27FC236}">
                <a16:creationId xmlns:a16="http://schemas.microsoft.com/office/drawing/2014/main" id="{58E11178-D570-40B0-8B79-E2E82DE89D75}"/>
              </a:ext>
            </a:extLst>
          </p:cNvPr>
          <p:cNvSpPr>
            <a:spLocks noGrp="1"/>
          </p:cNvSpPr>
          <p:nvPr/>
        </p:nvSpPr>
        <p:spPr>
          <a:xfrm>
            <a:off x="742950" y="5124450"/>
            <a:ext cx="10725150" cy="123825"/>
          </a:xfrm>
          <a:prstGeom prst="rightArrow">
            <a:avLst/>
          </a:prstGeom>
          <a:solidFill>
            <a:srgbClr val="061D2D"/>
          </a:solidFill>
          <a:ln w="0">
            <a:solidFill>
              <a:srgbClr val="061D2D"/>
            </a:solidFill>
            <a:prstDash val="solid"/>
          </a:ln>
        </p:spPr>
        <p:txBody>
          <a:bodyPr/>
          <a:lstStyle/>
          <a:p>
            <a:endParaRPr lang="en-US"/>
          </a:p>
        </p:txBody>
      </p:sp>
      <p:sp>
        <p:nvSpPr>
          <p:cNvPr id="6" name="tick-164">
            <a:extLst>
              <a:ext uri="{FF2B5EF4-FFF2-40B4-BE49-F238E27FC236}">
                <a16:creationId xmlns:a16="http://schemas.microsoft.com/office/drawing/2014/main" id="{7D30EDB5-A344-418C-AEE7-B77C20CA41B0}"/>
              </a:ext>
            </a:extLst>
          </p:cNvPr>
          <p:cNvSpPr>
            <a:spLocks noGrp="1"/>
          </p:cNvSpPr>
          <p:nvPr/>
        </p:nvSpPr>
        <p:spPr>
          <a:xfrm>
            <a:off x="1533525" y="4914900"/>
            <a:ext cx="57150" cy="533400"/>
          </a:xfrm>
          <a:prstGeom prst="rect">
            <a:avLst/>
          </a:prstGeom>
          <a:solidFill>
            <a:srgbClr val="061D2D"/>
          </a:solidFill>
          <a:ln w="0">
            <a:solidFill>
              <a:srgbClr val="061D2D"/>
            </a:solidFill>
            <a:prstDash val="solid"/>
          </a:ln>
        </p:spPr>
        <p:txBody>
          <a:bodyPr/>
          <a:lstStyle/>
          <a:p>
            <a:endParaRPr lang="en-US"/>
          </a:p>
        </p:txBody>
      </p:sp>
      <p:sp>
        <p:nvSpPr>
          <p:cNvPr id="7" name="date-31.12.2021">
            <a:extLst>
              <a:ext uri="{FF2B5EF4-FFF2-40B4-BE49-F238E27FC236}">
                <a16:creationId xmlns:a16="http://schemas.microsoft.com/office/drawing/2014/main" id="{817458EA-DB96-46C1-8D6C-2E842763B546}"/>
              </a:ext>
            </a:extLst>
          </p:cNvPr>
          <p:cNvSpPr>
            <a:spLocks noGrp="1"/>
          </p:cNvSpPr>
          <p:nvPr/>
        </p:nvSpPr>
        <p:spPr>
          <a:xfrm>
            <a:off x="838200" y="5562600"/>
            <a:ext cx="1447800" cy="247650"/>
          </a:xfrm>
          <a:prstGeom prst="rect">
            <a:avLst/>
          </a:prstGeom>
          <a:noFill/>
          <a:ln w="0">
            <a:noFill/>
            <a:prstDash val="solid"/>
          </a:ln>
        </p:spPr>
        <p:txBody>
          <a:bodyPr wrap="square" lIns="0" tIns="0" rIns="0" bIns="0" anchor="t"/>
          <a:lstStyle/>
          <a:p>
            <a:pPr algn="ctr">
              <a:defRPr sz="1350" b="1">
                <a:solidFill>
                  <a:srgbClr val="061D2D"/>
                </a:solidFill>
                <a:latin typeface="Aptos"/>
                <a:ea typeface="Aptos"/>
                <a:cs typeface="Aptos"/>
              </a:defRPr>
            </a:pPr>
            <a:r>
              <a:rPr sz="1350" b="1">
                <a:solidFill>
                  <a:srgbClr val="061D2D"/>
                </a:solidFill>
                <a:latin typeface="Aptos"/>
                <a:ea typeface="Aptos"/>
                <a:cs typeface="Aptos"/>
              </a:rPr>
              <a:t>31.12.2021</a:t>
            </a:r>
          </a:p>
        </p:txBody>
      </p:sp>
      <p:sp>
        <p:nvSpPr>
          <p:cNvPr id="8" name="tick-498">
            <a:extLst>
              <a:ext uri="{FF2B5EF4-FFF2-40B4-BE49-F238E27FC236}">
                <a16:creationId xmlns:a16="http://schemas.microsoft.com/office/drawing/2014/main" id="{D2F8968A-03EC-40C8-A32D-B314CB0154E0}"/>
              </a:ext>
            </a:extLst>
          </p:cNvPr>
          <p:cNvSpPr>
            <a:spLocks noGrp="1"/>
          </p:cNvSpPr>
          <p:nvPr/>
        </p:nvSpPr>
        <p:spPr>
          <a:xfrm>
            <a:off x="4714875" y="4914900"/>
            <a:ext cx="57150" cy="533400"/>
          </a:xfrm>
          <a:prstGeom prst="rect">
            <a:avLst/>
          </a:prstGeom>
          <a:solidFill>
            <a:srgbClr val="061D2D"/>
          </a:solidFill>
          <a:ln w="0">
            <a:solidFill>
              <a:srgbClr val="061D2D"/>
            </a:solidFill>
            <a:prstDash val="solid"/>
          </a:ln>
        </p:spPr>
        <p:txBody>
          <a:bodyPr/>
          <a:lstStyle/>
          <a:p>
            <a:endParaRPr lang="en-US"/>
          </a:p>
        </p:txBody>
      </p:sp>
      <p:sp>
        <p:nvSpPr>
          <p:cNvPr id="9" name="date-31.12.2022">
            <a:extLst>
              <a:ext uri="{FF2B5EF4-FFF2-40B4-BE49-F238E27FC236}">
                <a16:creationId xmlns:a16="http://schemas.microsoft.com/office/drawing/2014/main" id="{A9E86B99-FEB5-47A8-A021-5D009F65F5F9}"/>
              </a:ext>
            </a:extLst>
          </p:cNvPr>
          <p:cNvSpPr>
            <a:spLocks noGrp="1"/>
          </p:cNvSpPr>
          <p:nvPr/>
        </p:nvSpPr>
        <p:spPr>
          <a:xfrm>
            <a:off x="4019550" y="5562600"/>
            <a:ext cx="1447800" cy="247650"/>
          </a:xfrm>
          <a:prstGeom prst="rect">
            <a:avLst/>
          </a:prstGeom>
          <a:noFill/>
          <a:ln w="0">
            <a:noFill/>
            <a:prstDash val="solid"/>
          </a:ln>
        </p:spPr>
        <p:txBody>
          <a:bodyPr wrap="square" lIns="0" tIns="0" rIns="0" bIns="0" anchor="t"/>
          <a:lstStyle/>
          <a:p>
            <a:pPr algn="ctr">
              <a:defRPr sz="1350" b="1">
                <a:solidFill>
                  <a:srgbClr val="061D2D"/>
                </a:solidFill>
                <a:latin typeface="Aptos"/>
                <a:ea typeface="Aptos"/>
                <a:cs typeface="Aptos"/>
              </a:defRPr>
            </a:pPr>
            <a:r>
              <a:rPr sz="1350" b="1">
                <a:solidFill>
                  <a:srgbClr val="061D2D"/>
                </a:solidFill>
                <a:latin typeface="Aptos"/>
                <a:ea typeface="Aptos"/>
                <a:cs typeface="Aptos"/>
              </a:rPr>
              <a:t>31.12.2022</a:t>
            </a:r>
          </a:p>
        </p:txBody>
      </p:sp>
      <p:sp>
        <p:nvSpPr>
          <p:cNvPr id="10" name="tick-832">
            <a:extLst>
              <a:ext uri="{FF2B5EF4-FFF2-40B4-BE49-F238E27FC236}">
                <a16:creationId xmlns:a16="http://schemas.microsoft.com/office/drawing/2014/main" id="{7FEB4A9D-FBEE-44F7-BFDA-5C4A5B34E6EF}"/>
              </a:ext>
            </a:extLst>
          </p:cNvPr>
          <p:cNvSpPr>
            <a:spLocks noGrp="1"/>
          </p:cNvSpPr>
          <p:nvPr/>
        </p:nvSpPr>
        <p:spPr>
          <a:xfrm>
            <a:off x="7896225" y="4914900"/>
            <a:ext cx="57150" cy="533400"/>
          </a:xfrm>
          <a:prstGeom prst="rect">
            <a:avLst/>
          </a:prstGeom>
          <a:solidFill>
            <a:srgbClr val="061D2D"/>
          </a:solidFill>
          <a:ln w="0">
            <a:solidFill>
              <a:srgbClr val="061D2D"/>
            </a:solidFill>
            <a:prstDash val="solid"/>
          </a:ln>
        </p:spPr>
        <p:txBody>
          <a:bodyPr/>
          <a:lstStyle/>
          <a:p>
            <a:endParaRPr lang="en-US"/>
          </a:p>
        </p:txBody>
      </p:sp>
      <p:sp>
        <p:nvSpPr>
          <p:cNvPr id="11" name="date-31.12.2023">
            <a:extLst>
              <a:ext uri="{FF2B5EF4-FFF2-40B4-BE49-F238E27FC236}">
                <a16:creationId xmlns:a16="http://schemas.microsoft.com/office/drawing/2014/main" id="{2355FC9A-E728-42F8-824F-0177F5FEBC95}"/>
              </a:ext>
            </a:extLst>
          </p:cNvPr>
          <p:cNvSpPr>
            <a:spLocks noGrp="1"/>
          </p:cNvSpPr>
          <p:nvPr/>
        </p:nvSpPr>
        <p:spPr>
          <a:xfrm>
            <a:off x="7200900" y="5562600"/>
            <a:ext cx="1447800" cy="247650"/>
          </a:xfrm>
          <a:prstGeom prst="rect">
            <a:avLst/>
          </a:prstGeom>
          <a:noFill/>
          <a:ln w="0">
            <a:noFill/>
            <a:prstDash val="solid"/>
          </a:ln>
        </p:spPr>
        <p:txBody>
          <a:bodyPr wrap="square" lIns="0" tIns="0" rIns="0" bIns="0" anchor="t"/>
          <a:lstStyle/>
          <a:p>
            <a:pPr algn="ctr">
              <a:defRPr sz="1350" b="1">
                <a:solidFill>
                  <a:srgbClr val="061D2D"/>
                </a:solidFill>
                <a:latin typeface="Aptos"/>
                <a:ea typeface="Aptos"/>
                <a:cs typeface="Aptos"/>
              </a:defRPr>
            </a:pPr>
            <a:r>
              <a:rPr sz="1350" b="1">
                <a:solidFill>
                  <a:srgbClr val="061D2D"/>
                </a:solidFill>
                <a:latin typeface="Aptos"/>
                <a:ea typeface="Aptos"/>
                <a:cs typeface="Aptos"/>
              </a:rPr>
              <a:t>31.12.2023</a:t>
            </a:r>
          </a:p>
        </p:txBody>
      </p:sp>
      <p:sp>
        <p:nvSpPr>
          <p:cNvPr id="12" name="tick-1166">
            <a:extLst>
              <a:ext uri="{FF2B5EF4-FFF2-40B4-BE49-F238E27FC236}">
                <a16:creationId xmlns:a16="http://schemas.microsoft.com/office/drawing/2014/main" id="{83FF4214-B4B5-464C-B3E6-CF7AB2B23DB4}"/>
              </a:ext>
            </a:extLst>
          </p:cNvPr>
          <p:cNvSpPr>
            <a:spLocks noGrp="1"/>
          </p:cNvSpPr>
          <p:nvPr/>
        </p:nvSpPr>
        <p:spPr>
          <a:xfrm>
            <a:off x="11077575" y="4914900"/>
            <a:ext cx="57150" cy="533400"/>
          </a:xfrm>
          <a:prstGeom prst="rect">
            <a:avLst/>
          </a:prstGeom>
          <a:solidFill>
            <a:srgbClr val="061D2D"/>
          </a:solidFill>
          <a:ln w="0">
            <a:solidFill>
              <a:srgbClr val="061D2D"/>
            </a:solidFill>
            <a:prstDash val="solid"/>
          </a:ln>
        </p:spPr>
        <p:txBody>
          <a:bodyPr/>
          <a:lstStyle/>
          <a:p>
            <a:endParaRPr lang="en-US"/>
          </a:p>
        </p:txBody>
      </p:sp>
      <p:sp>
        <p:nvSpPr>
          <p:cNvPr id="13" name="date-31.12.2024">
            <a:extLst>
              <a:ext uri="{FF2B5EF4-FFF2-40B4-BE49-F238E27FC236}">
                <a16:creationId xmlns:a16="http://schemas.microsoft.com/office/drawing/2014/main" id="{F5E9371C-F4C1-4730-A1BB-BB3316508F23}"/>
              </a:ext>
            </a:extLst>
          </p:cNvPr>
          <p:cNvSpPr>
            <a:spLocks noGrp="1"/>
          </p:cNvSpPr>
          <p:nvPr/>
        </p:nvSpPr>
        <p:spPr>
          <a:xfrm>
            <a:off x="10382250" y="5562600"/>
            <a:ext cx="1447800" cy="247650"/>
          </a:xfrm>
          <a:prstGeom prst="rect">
            <a:avLst/>
          </a:prstGeom>
          <a:noFill/>
          <a:ln w="0">
            <a:noFill/>
            <a:prstDash val="solid"/>
          </a:ln>
        </p:spPr>
        <p:txBody>
          <a:bodyPr wrap="square" lIns="0" tIns="0" rIns="0" bIns="0" anchor="t"/>
          <a:lstStyle/>
          <a:p>
            <a:pPr algn="ctr">
              <a:defRPr sz="1350" b="1">
                <a:solidFill>
                  <a:srgbClr val="061D2D"/>
                </a:solidFill>
                <a:latin typeface="Aptos"/>
                <a:ea typeface="Aptos"/>
                <a:cs typeface="Aptos"/>
              </a:defRPr>
            </a:pPr>
            <a:r>
              <a:rPr sz="1350" b="1">
                <a:solidFill>
                  <a:srgbClr val="061D2D"/>
                </a:solidFill>
                <a:latin typeface="Aptos"/>
                <a:ea typeface="Aptos"/>
                <a:cs typeface="Aptos"/>
              </a:rPr>
              <a:t>31.12.2024</a:t>
            </a:r>
          </a:p>
        </p:txBody>
      </p:sp>
      <p:sp>
        <p:nvSpPr>
          <p:cNvPr id="14" name="freeze-arrow-1-shaft">
            <a:extLst>
              <a:ext uri="{FF2B5EF4-FFF2-40B4-BE49-F238E27FC236}">
                <a16:creationId xmlns:a16="http://schemas.microsoft.com/office/drawing/2014/main" id="{7F96EC58-05E4-4189-8F85-3582E0E1F63E}"/>
              </a:ext>
            </a:extLst>
          </p:cNvPr>
          <p:cNvSpPr>
            <a:spLocks noGrp="1"/>
          </p:cNvSpPr>
          <p:nvPr/>
        </p:nvSpPr>
        <p:spPr>
          <a:xfrm>
            <a:off x="1543050" y="2647950"/>
            <a:ext cx="38100" cy="2324100"/>
          </a:xfrm>
          <a:prstGeom prst="rect">
            <a:avLst/>
          </a:prstGeom>
          <a:solidFill>
            <a:srgbClr val="005174"/>
          </a:solidFill>
          <a:ln w="0">
            <a:solidFill>
              <a:srgbClr val="005174"/>
            </a:solidFill>
            <a:prstDash val="solid"/>
          </a:ln>
        </p:spPr>
        <p:txBody>
          <a:bodyPr/>
          <a:lstStyle/>
          <a:p>
            <a:endParaRPr lang="en-US"/>
          </a:p>
        </p:txBody>
      </p:sp>
      <p:sp>
        <p:nvSpPr>
          <p:cNvPr id="15" name="freeze-arrow-1-head">
            <a:extLst>
              <a:ext uri="{FF2B5EF4-FFF2-40B4-BE49-F238E27FC236}">
                <a16:creationId xmlns:a16="http://schemas.microsoft.com/office/drawing/2014/main" id="{D14420F2-F1B1-4096-B9D4-A28C40DC68A5}"/>
              </a:ext>
            </a:extLst>
          </p:cNvPr>
          <p:cNvSpPr>
            <a:spLocks noGrp="1"/>
          </p:cNvSpPr>
          <p:nvPr/>
        </p:nvSpPr>
        <p:spPr>
          <a:xfrm rot="10800000">
            <a:off x="1466850" y="4962525"/>
            <a:ext cx="190500" cy="152400"/>
          </a:xfrm>
          <a:prstGeom prst="triangle">
            <a:avLst/>
          </a:prstGeom>
          <a:solidFill>
            <a:srgbClr val="005174"/>
          </a:solidFill>
          <a:ln w="0">
            <a:solidFill>
              <a:srgbClr val="005174"/>
            </a:solidFill>
            <a:prstDash val="solid"/>
          </a:ln>
        </p:spPr>
        <p:txBody>
          <a:bodyPr/>
          <a:lstStyle/>
          <a:p>
            <a:endParaRPr lang="en-US"/>
          </a:p>
        </p:txBody>
      </p:sp>
      <p:sp>
        <p:nvSpPr>
          <p:cNvPr id="16" name="compare-arrow-1-shaft">
            <a:extLst>
              <a:ext uri="{FF2B5EF4-FFF2-40B4-BE49-F238E27FC236}">
                <a16:creationId xmlns:a16="http://schemas.microsoft.com/office/drawing/2014/main" id="{A2B77E87-A162-4138-BE15-BB6490F028BC}"/>
              </a:ext>
            </a:extLst>
          </p:cNvPr>
          <p:cNvSpPr>
            <a:spLocks noGrp="1"/>
          </p:cNvSpPr>
          <p:nvPr/>
        </p:nvSpPr>
        <p:spPr>
          <a:xfrm>
            <a:off x="4724400" y="4857750"/>
            <a:ext cx="38100" cy="114300"/>
          </a:xfrm>
          <a:prstGeom prst="rect">
            <a:avLst/>
          </a:prstGeom>
          <a:solidFill>
            <a:srgbClr val="005174"/>
          </a:solidFill>
          <a:ln w="0">
            <a:solidFill>
              <a:srgbClr val="005174"/>
            </a:solidFill>
            <a:prstDash val="solid"/>
          </a:ln>
        </p:spPr>
        <p:txBody>
          <a:bodyPr/>
          <a:lstStyle/>
          <a:p>
            <a:endParaRPr lang="en-US"/>
          </a:p>
        </p:txBody>
      </p:sp>
      <p:sp>
        <p:nvSpPr>
          <p:cNvPr id="17" name="compare-arrow-1-head">
            <a:extLst>
              <a:ext uri="{FF2B5EF4-FFF2-40B4-BE49-F238E27FC236}">
                <a16:creationId xmlns:a16="http://schemas.microsoft.com/office/drawing/2014/main" id="{E37F7FDF-829F-4E69-868A-057E3204DD7D}"/>
              </a:ext>
            </a:extLst>
          </p:cNvPr>
          <p:cNvSpPr>
            <a:spLocks noGrp="1"/>
          </p:cNvSpPr>
          <p:nvPr/>
        </p:nvSpPr>
        <p:spPr>
          <a:xfrm rot="10800000">
            <a:off x="4648200" y="4962525"/>
            <a:ext cx="190500" cy="152400"/>
          </a:xfrm>
          <a:prstGeom prst="triangle">
            <a:avLst/>
          </a:prstGeom>
          <a:solidFill>
            <a:srgbClr val="005174"/>
          </a:solidFill>
          <a:ln w="0">
            <a:solidFill>
              <a:srgbClr val="005174"/>
            </a:solidFill>
            <a:prstDash val="solid"/>
          </a:ln>
        </p:spPr>
        <p:txBody>
          <a:bodyPr/>
          <a:lstStyle/>
          <a:p>
            <a:endParaRPr lang="en-US"/>
          </a:p>
        </p:txBody>
      </p:sp>
      <p:sp>
        <p:nvSpPr>
          <p:cNvPr id="18" name="freeze-arrow-2-shaft">
            <a:extLst>
              <a:ext uri="{FF2B5EF4-FFF2-40B4-BE49-F238E27FC236}">
                <a16:creationId xmlns:a16="http://schemas.microsoft.com/office/drawing/2014/main" id="{371B19D5-8076-489D-A220-68E1C725FA1A}"/>
              </a:ext>
            </a:extLst>
          </p:cNvPr>
          <p:cNvSpPr>
            <a:spLocks noGrp="1"/>
          </p:cNvSpPr>
          <p:nvPr/>
        </p:nvSpPr>
        <p:spPr>
          <a:xfrm>
            <a:off x="4724400" y="2647950"/>
            <a:ext cx="38100" cy="2324100"/>
          </a:xfrm>
          <a:prstGeom prst="rect">
            <a:avLst/>
          </a:prstGeom>
          <a:solidFill>
            <a:srgbClr val="005174"/>
          </a:solidFill>
          <a:ln w="0">
            <a:solidFill>
              <a:srgbClr val="005174"/>
            </a:solidFill>
            <a:prstDash val="solid"/>
          </a:ln>
        </p:spPr>
        <p:txBody>
          <a:bodyPr/>
          <a:lstStyle/>
          <a:p>
            <a:endParaRPr lang="en-US"/>
          </a:p>
        </p:txBody>
      </p:sp>
      <p:sp>
        <p:nvSpPr>
          <p:cNvPr id="19" name="freeze-arrow-2-head">
            <a:extLst>
              <a:ext uri="{FF2B5EF4-FFF2-40B4-BE49-F238E27FC236}">
                <a16:creationId xmlns:a16="http://schemas.microsoft.com/office/drawing/2014/main" id="{FB4CEEFE-F139-4AC2-8F60-203B24401D20}"/>
              </a:ext>
            </a:extLst>
          </p:cNvPr>
          <p:cNvSpPr>
            <a:spLocks noGrp="1"/>
          </p:cNvSpPr>
          <p:nvPr/>
        </p:nvSpPr>
        <p:spPr>
          <a:xfrm rot="10800000">
            <a:off x="4648200" y="4962525"/>
            <a:ext cx="190500" cy="152400"/>
          </a:xfrm>
          <a:prstGeom prst="triangle">
            <a:avLst/>
          </a:prstGeom>
          <a:solidFill>
            <a:srgbClr val="005174"/>
          </a:solidFill>
          <a:ln w="0">
            <a:solidFill>
              <a:srgbClr val="005174"/>
            </a:solidFill>
            <a:prstDash val="solid"/>
          </a:ln>
        </p:spPr>
        <p:txBody>
          <a:bodyPr/>
          <a:lstStyle/>
          <a:p>
            <a:endParaRPr lang="en-US"/>
          </a:p>
        </p:txBody>
      </p:sp>
      <p:sp>
        <p:nvSpPr>
          <p:cNvPr id="20" name="compare-arrow-2-shaft">
            <a:extLst>
              <a:ext uri="{FF2B5EF4-FFF2-40B4-BE49-F238E27FC236}">
                <a16:creationId xmlns:a16="http://schemas.microsoft.com/office/drawing/2014/main" id="{E649194D-82D4-4BF1-ACA3-CE34F3F7343C}"/>
              </a:ext>
            </a:extLst>
          </p:cNvPr>
          <p:cNvSpPr>
            <a:spLocks noGrp="1"/>
          </p:cNvSpPr>
          <p:nvPr/>
        </p:nvSpPr>
        <p:spPr>
          <a:xfrm>
            <a:off x="7905750" y="4857750"/>
            <a:ext cx="38100" cy="114300"/>
          </a:xfrm>
          <a:prstGeom prst="rect">
            <a:avLst/>
          </a:prstGeom>
          <a:solidFill>
            <a:srgbClr val="005174"/>
          </a:solidFill>
          <a:ln w="0">
            <a:solidFill>
              <a:srgbClr val="005174"/>
            </a:solidFill>
            <a:prstDash val="solid"/>
          </a:ln>
        </p:spPr>
        <p:txBody>
          <a:bodyPr/>
          <a:lstStyle/>
          <a:p>
            <a:endParaRPr lang="en-US"/>
          </a:p>
        </p:txBody>
      </p:sp>
      <p:sp>
        <p:nvSpPr>
          <p:cNvPr id="21" name="compare-arrow-2-head">
            <a:extLst>
              <a:ext uri="{FF2B5EF4-FFF2-40B4-BE49-F238E27FC236}">
                <a16:creationId xmlns:a16="http://schemas.microsoft.com/office/drawing/2014/main" id="{76011BA5-158C-468B-BB5E-3816CB4E1739}"/>
              </a:ext>
            </a:extLst>
          </p:cNvPr>
          <p:cNvSpPr>
            <a:spLocks noGrp="1"/>
          </p:cNvSpPr>
          <p:nvPr/>
        </p:nvSpPr>
        <p:spPr>
          <a:xfrm rot="10800000">
            <a:off x="7829550" y="4962525"/>
            <a:ext cx="190500" cy="152400"/>
          </a:xfrm>
          <a:prstGeom prst="triangle">
            <a:avLst/>
          </a:prstGeom>
          <a:solidFill>
            <a:srgbClr val="005174"/>
          </a:solidFill>
          <a:ln w="0">
            <a:solidFill>
              <a:srgbClr val="005174"/>
            </a:solidFill>
            <a:prstDash val="solid"/>
          </a:ln>
        </p:spPr>
        <p:txBody>
          <a:bodyPr/>
          <a:lstStyle/>
          <a:p>
            <a:endParaRPr lang="en-US"/>
          </a:p>
        </p:txBody>
      </p:sp>
      <p:sp>
        <p:nvSpPr>
          <p:cNvPr id="22" name="freeze-arrow-3-shaft">
            <a:extLst>
              <a:ext uri="{FF2B5EF4-FFF2-40B4-BE49-F238E27FC236}">
                <a16:creationId xmlns:a16="http://schemas.microsoft.com/office/drawing/2014/main" id="{00C0C6AD-47AB-49B2-9920-8E2B30A243E6}"/>
              </a:ext>
            </a:extLst>
          </p:cNvPr>
          <p:cNvSpPr>
            <a:spLocks noGrp="1"/>
          </p:cNvSpPr>
          <p:nvPr/>
        </p:nvSpPr>
        <p:spPr>
          <a:xfrm>
            <a:off x="7905750" y="2647950"/>
            <a:ext cx="38100" cy="2324100"/>
          </a:xfrm>
          <a:prstGeom prst="rect">
            <a:avLst/>
          </a:prstGeom>
          <a:solidFill>
            <a:srgbClr val="005174"/>
          </a:solidFill>
          <a:ln w="0">
            <a:solidFill>
              <a:srgbClr val="005174"/>
            </a:solidFill>
            <a:prstDash val="solid"/>
          </a:ln>
        </p:spPr>
        <p:txBody>
          <a:bodyPr/>
          <a:lstStyle/>
          <a:p>
            <a:endParaRPr lang="en-US"/>
          </a:p>
        </p:txBody>
      </p:sp>
      <p:sp>
        <p:nvSpPr>
          <p:cNvPr id="23" name="freeze-arrow-3-head">
            <a:extLst>
              <a:ext uri="{FF2B5EF4-FFF2-40B4-BE49-F238E27FC236}">
                <a16:creationId xmlns:a16="http://schemas.microsoft.com/office/drawing/2014/main" id="{B5D985A3-D840-40EA-9963-53C9C06DBB5A}"/>
              </a:ext>
            </a:extLst>
          </p:cNvPr>
          <p:cNvSpPr>
            <a:spLocks noGrp="1"/>
          </p:cNvSpPr>
          <p:nvPr/>
        </p:nvSpPr>
        <p:spPr>
          <a:xfrm rot="10800000">
            <a:off x="7829550" y="4962525"/>
            <a:ext cx="190500" cy="152400"/>
          </a:xfrm>
          <a:prstGeom prst="triangle">
            <a:avLst/>
          </a:prstGeom>
          <a:solidFill>
            <a:srgbClr val="005174"/>
          </a:solidFill>
          <a:ln w="0">
            <a:solidFill>
              <a:srgbClr val="005174"/>
            </a:solidFill>
            <a:prstDash val="solid"/>
          </a:ln>
        </p:spPr>
        <p:txBody>
          <a:bodyPr/>
          <a:lstStyle/>
          <a:p>
            <a:endParaRPr lang="en-US"/>
          </a:p>
        </p:txBody>
      </p:sp>
      <p:sp>
        <p:nvSpPr>
          <p:cNvPr id="24" name="compare-arrow-3-shaft">
            <a:extLst>
              <a:ext uri="{FF2B5EF4-FFF2-40B4-BE49-F238E27FC236}">
                <a16:creationId xmlns:a16="http://schemas.microsoft.com/office/drawing/2014/main" id="{74D9A24B-C31F-4ABB-938B-A05FDF1146EE}"/>
              </a:ext>
            </a:extLst>
          </p:cNvPr>
          <p:cNvSpPr>
            <a:spLocks noGrp="1"/>
          </p:cNvSpPr>
          <p:nvPr/>
        </p:nvSpPr>
        <p:spPr>
          <a:xfrm>
            <a:off x="11087100" y="4857750"/>
            <a:ext cx="38100" cy="114300"/>
          </a:xfrm>
          <a:prstGeom prst="rect">
            <a:avLst/>
          </a:prstGeom>
          <a:solidFill>
            <a:srgbClr val="005174"/>
          </a:solidFill>
          <a:ln w="0">
            <a:solidFill>
              <a:srgbClr val="005174"/>
            </a:solidFill>
            <a:prstDash val="solid"/>
          </a:ln>
        </p:spPr>
        <p:txBody>
          <a:bodyPr/>
          <a:lstStyle/>
          <a:p>
            <a:endParaRPr lang="en-US"/>
          </a:p>
        </p:txBody>
      </p:sp>
      <p:sp>
        <p:nvSpPr>
          <p:cNvPr id="25" name="compare-arrow-3-head">
            <a:extLst>
              <a:ext uri="{FF2B5EF4-FFF2-40B4-BE49-F238E27FC236}">
                <a16:creationId xmlns:a16="http://schemas.microsoft.com/office/drawing/2014/main" id="{7685CD78-FE26-40DE-A760-174BBCF58459}"/>
              </a:ext>
            </a:extLst>
          </p:cNvPr>
          <p:cNvSpPr>
            <a:spLocks noGrp="1"/>
          </p:cNvSpPr>
          <p:nvPr/>
        </p:nvSpPr>
        <p:spPr>
          <a:xfrm rot="10800000">
            <a:off x="11010900" y="4962525"/>
            <a:ext cx="190500" cy="152400"/>
          </a:xfrm>
          <a:prstGeom prst="triangle">
            <a:avLst/>
          </a:prstGeom>
          <a:solidFill>
            <a:srgbClr val="005174"/>
          </a:solidFill>
          <a:ln w="0">
            <a:solidFill>
              <a:srgbClr val="005174"/>
            </a:solidFill>
            <a:prstDash val="solid"/>
          </a:ln>
        </p:spPr>
        <p:txBody>
          <a:bodyPr/>
          <a:lstStyle/>
          <a:p>
            <a:endParaRPr lang="en-US"/>
          </a:p>
        </p:txBody>
      </p:sp>
      <p:sp>
        <p:nvSpPr>
          <p:cNvPr id="26" name="freeze-1">
            <a:extLst>
              <a:ext uri="{FF2B5EF4-FFF2-40B4-BE49-F238E27FC236}">
                <a16:creationId xmlns:a16="http://schemas.microsoft.com/office/drawing/2014/main" id="{3BD74A90-DAC0-4F5E-834C-22B5B753BAEE}"/>
              </a:ext>
            </a:extLst>
          </p:cNvPr>
          <p:cNvSpPr>
            <a:spLocks noGrp="1"/>
          </p:cNvSpPr>
          <p:nvPr/>
        </p:nvSpPr>
        <p:spPr>
          <a:xfrm>
            <a:off x="514350" y="1866900"/>
            <a:ext cx="2095500" cy="704850"/>
          </a:xfrm>
          <a:prstGeom prst="roundRect">
            <a:avLst>
              <a:gd name="adj" fmla="val 8108"/>
            </a:avLst>
          </a:prstGeom>
          <a:solidFill>
            <a:srgbClr val="005174"/>
          </a:solidFill>
          <a:ln w="0">
            <a:solidFill>
              <a:srgbClr val="005174"/>
            </a:solidFill>
            <a:prstDash val="solid"/>
          </a:ln>
        </p:spPr>
        <p:txBody>
          <a:bodyPr wrap="square" lIns="114300" tIns="76200" rIns="114300" bIns="76200" anchor="ctr"/>
          <a:lstStyle/>
          <a:p>
            <a:pPr algn="ctr">
              <a:defRPr sz="1350" b="1">
                <a:solidFill>
                  <a:srgbClr val="FFFFFF"/>
                </a:solidFill>
                <a:latin typeface="Aptos"/>
                <a:ea typeface="Aptos"/>
                <a:cs typeface="Aptos"/>
              </a:defRPr>
            </a:pPr>
            <a:r>
              <a:rPr sz="1350" b="1">
                <a:solidFill>
                  <a:srgbClr val="FFFFFF"/>
                </a:solidFill>
                <a:latin typeface="Aptos"/>
                <a:ea typeface="Aptos"/>
                <a:cs typeface="Aptos"/>
              </a:rPr>
              <a:t>Portfolio einfrieren</a:t>
            </a:r>
          </a:p>
          <a:p>
            <a:pPr algn="ctr">
              <a:defRPr sz="1350" b="1">
                <a:solidFill>
                  <a:srgbClr val="FFFFFF"/>
                </a:solidFill>
                <a:latin typeface="Aptos"/>
                <a:ea typeface="Aptos"/>
                <a:cs typeface="Aptos"/>
              </a:defRPr>
            </a:pPr>
            <a:r>
              <a:rPr sz="1350" b="1">
                <a:solidFill>
                  <a:srgbClr val="FFFFFF"/>
                </a:solidFill>
                <a:latin typeface="Aptos"/>
                <a:ea typeface="Aptos"/>
                <a:cs typeface="Aptos"/>
              </a:rPr>
              <a:t>(PD/LGD/EAD 2021)</a:t>
            </a:r>
          </a:p>
        </p:txBody>
      </p:sp>
      <p:sp>
        <p:nvSpPr>
          <p:cNvPr id="27" name="shock-1">
            <a:extLst>
              <a:ext uri="{FF2B5EF4-FFF2-40B4-BE49-F238E27FC236}">
                <a16:creationId xmlns:a16="http://schemas.microsoft.com/office/drawing/2014/main" id="{59005F84-7E2D-4636-B153-C02E25869716}"/>
              </a:ext>
            </a:extLst>
          </p:cNvPr>
          <p:cNvSpPr>
            <a:spLocks noGrp="1"/>
          </p:cNvSpPr>
          <p:nvPr/>
        </p:nvSpPr>
        <p:spPr>
          <a:xfrm>
            <a:off x="2247900" y="3048000"/>
            <a:ext cx="2343150" cy="609600"/>
          </a:xfrm>
          <a:prstGeom prst="roundRect">
            <a:avLst>
              <a:gd name="adj" fmla="val 9375"/>
            </a:avLst>
          </a:prstGeom>
          <a:solidFill>
            <a:srgbClr val="D1AC22"/>
          </a:solidFill>
          <a:ln w="0">
            <a:solidFill>
              <a:srgbClr val="D1AC22"/>
            </a:solidFill>
            <a:prstDash val="solid"/>
          </a:ln>
        </p:spPr>
        <p:txBody>
          <a:bodyPr wrap="square" lIns="114300" tIns="76200" rIns="114300" bIns="76200" anchor="ctr"/>
          <a:lstStyle/>
          <a:p>
            <a:pPr algn="ctr">
              <a:defRPr sz="1275" b="1">
                <a:solidFill>
                  <a:srgbClr val="111111"/>
                </a:solidFill>
                <a:latin typeface="Aptos"/>
                <a:ea typeface="Aptos"/>
                <a:cs typeface="Aptos"/>
              </a:defRPr>
            </a:pPr>
            <a:r>
              <a:rPr sz="1275" b="1">
                <a:solidFill>
                  <a:srgbClr val="111111"/>
                </a:solidFill>
                <a:latin typeface="Aptos"/>
                <a:ea typeface="Aptos"/>
                <a:cs typeface="Aptos"/>
              </a:rPr>
              <a:t>realer Öl-/Zins-Schock</a:t>
            </a:r>
          </a:p>
          <a:p>
            <a:pPr algn="ctr">
              <a:defRPr sz="1275" b="1">
                <a:solidFill>
                  <a:srgbClr val="111111"/>
                </a:solidFill>
                <a:latin typeface="Aptos"/>
                <a:ea typeface="Aptos"/>
                <a:cs typeface="Aptos"/>
              </a:defRPr>
            </a:pPr>
            <a:r>
              <a:rPr sz="1275" b="1">
                <a:solidFill>
                  <a:srgbClr val="111111"/>
                </a:solidFill>
                <a:latin typeface="Aptos"/>
                <a:ea typeface="Aptos"/>
                <a:cs typeface="Aptos"/>
              </a:rPr>
              <a:t>2022 einspielen</a:t>
            </a:r>
          </a:p>
        </p:txBody>
      </p:sp>
      <p:sp>
        <p:nvSpPr>
          <p:cNvPr id="28" name="compare-1">
            <a:extLst>
              <a:ext uri="{FF2B5EF4-FFF2-40B4-BE49-F238E27FC236}">
                <a16:creationId xmlns:a16="http://schemas.microsoft.com/office/drawing/2014/main" id="{5751EA09-73F7-4148-8384-E9AF536F084A}"/>
              </a:ext>
            </a:extLst>
          </p:cNvPr>
          <p:cNvSpPr>
            <a:spLocks noGrp="1"/>
          </p:cNvSpPr>
          <p:nvPr/>
        </p:nvSpPr>
        <p:spPr>
          <a:xfrm>
            <a:off x="3771900" y="4133850"/>
            <a:ext cx="1943100" cy="666750"/>
          </a:xfrm>
          <a:prstGeom prst="roundRect">
            <a:avLst>
              <a:gd name="adj" fmla="val 8571"/>
            </a:avLst>
          </a:prstGeom>
          <a:solidFill>
            <a:srgbClr val="08A9A5"/>
          </a:solidFill>
          <a:ln w="0">
            <a:solidFill>
              <a:srgbClr val="08A9A5"/>
            </a:solidFill>
            <a:prstDash val="solid"/>
          </a:ln>
        </p:spPr>
        <p:txBody>
          <a:bodyPr wrap="square" lIns="114300" tIns="76200" rIns="114300" bIns="76200" anchor="ctr"/>
          <a:lstStyle/>
          <a:p>
            <a:pPr algn="ctr">
              <a:defRPr sz="1200" b="1">
                <a:solidFill>
                  <a:srgbClr val="FFFFFF"/>
                </a:solidFill>
                <a:latin typeface="Aptos"/>
                <a:ea typeface="Aptos"/>
                <a:cs typeface="Aptos"/>
              </a:defRPr>
            </a:pPr>
            <a:r>
              <a:rPr sz="1200" b="1">
                <a:solidFill>
                  <a:srgbClr val="FFFFFF"/>
                </a:solidFill>
                <a:latin typeface="Aptos"/>
                <a:ea typeface="Aptos"/>
                <a:cs typeface="Aptos"/>
              </a:rPr>
              <a:t>Prognose</a:t>
            </a:r>
          </a:p>
          <a:p>
            <a:pPr algn="ctr">
              <a:defRPr sz="1200" b="1">
                <a:solidFill>
                  <a:srgbClr val="FFFFFF"/>
                </a:solidFill>
                <a:latin typeface="Aptos"/>
                <a:ea typeface="Aptos"/>
                <a:cs typeface="Aptos"/>
              </a:defRPr>
            </a:pPr>
            <a:r>
              <a:rPr sz="1200" b="1">
                <a:solidFill>
                  <a:srgbClr val="FFFFFF"/>
                </a:solidFill>
                <a:latin typeface="Aptos"/>
                <a:ea typeface="Aptos"/>
                <a:cs typeface="Aptos"/>
              </a:rPr>
              <a:t>vs. gemeldete</a:t>
            </a:r>
          </a:p>
          <a:p>
            <a:pPr algn="ctr">
              <a:defRPr sz="1200" b="1">
                <a:solidFill>
                  <a:srgbClr val="FFFFFF"/>
                </a:solidFill>
                <a:latin typeface="Aptos"/>
                <a:ea typeface="Aptos"/>
                <a:cs typeface="Aptos"/>
              </a:defRPr>
            </a:pPr>
            <a:r>
              <a:rPr sz="1200" b="1">
                <a:solidFill>
                  <a:srgbClr val="FFFFFF"/>
                </a:solidFill>
                <a:latin typeface="Aptos"/>
                <a:ea typeface="Aptos"/>
                <a:cs typeface="Aptos"/>
              </a:rPr>
              <a:t>CET1 2022</a:t>
            </a:r>
          </a:p>
        </p:txBody>
      </p:sp>
      <p:cxnSp>
        <p:nvCxnSpPr>
          <p:cNvPr id="80" name="Straight Arrow Connector 79"/>
          <p:cNvCxnSpPr>
            <a:stCxn id="27" idx="3"/>
            <a:endCxn id="28" idx="0"/>
          </p:cNvCxnSpPr>
          <p:nvPr/>
        </p:nvCxnSpPr>
        <p:spPr>
          <a:xfrm>
            <a:off x="4591050" y="3352800"/>
            <a:ext cx="152400" cy="781050"/>
          </a:xfrm>
          <a:prstGeom prst="straightConnector1">
            <a:avLst/>
          </a:prstGeom>
          <a:ln w="28575">
            <a:solidFill>
              <a:srgbClr val="08A9A5"/>
            </a:solidFill>
            <a:prstDash val="solid"/>
          </a:ln>
        </p:spPr>
      </p:cxnSp>
      <p:sp>
        <p:nvSpPr>
          <p:cNvPr id="30" name="roll-forward-1">
            <a:extLst>
              <a:ext uri="{FF2B5EF4-FFF2-40B4-BE49-F238E27FC236}">
                <a16:creationId xmlns:a16="http://schemas.microsoft.com/office/drawing/2014/main" id="{065FD352-7F26-4514-9284-11B049BE254B}"/>
              </a:ext>
            </a:extLst>
          </p:cNvPr>
          <p:cNvSpPr>
            <a:spLocks noGrp="1"/>
          </p:cNvSpPr>
          <p:nvPr/>
        </p:nvSpPr>
        <p:spPr>
          <a:xfrm>
            <a:off x="4972050" y="2800350"/>
            <a:ext cx="742950" cy="0"/>
          </a:xfrm>
          <a:prstGeom prst="line">
            <a:avLst/>
          </a:prstGeom>
          <a:noFill/>
          <a:ln w="19050">
            <a:solidFill>
              <a:srgbClr val="5F7F93"/>
            </a:solidFill>
            <a:prstDash val="dash"/>
          </a:ln>
        </p:spPr>
        <p:txBody>
          <a:bodyPr/>
          <a:lstStyle/>
          <a:p>
            <a:endParaRPr lang="en-US"/>
          </a:p>
        </p:txBody>
      </p:sp>
      <p:sp>
        <p:nvSpPr>
          <p:cNvPr id="31" name="roll-forward-head-1">
            <a:extLst>
              <a:ext uri="{FF2B5EF4-FFF2-40B4-BE49-F238E27FC236}">
                <a16:creationId xmlns:a16="http://schemas.microsoft.com/office/drawing/2014/main" id="{29D2F0BA-FE80-426E-97A0-E30A7E40FED7}"/>
              </a:ext>
            </a:extLst>
          </p:cNvPr>
          <p:cNvSpPr>
            <a:spLocks noGrp="1"/>
          </p:cNvSpPr>
          <p:nvPr/>
        </p:nvSpPr>
        <p:spPr>
          <a:xfrm rot="5400000">
            <a:off x="5638800" y="2743200"/>
            <a:ext cx="123825" cy="123825"/>
          </a:xfrm>
          <a:prstGeom prst="triangle">
            <a:avLst/>
          </a:prstGeom>
          <a:solidFill>
            <a:srgbClr val="5F7F93"/>
          </a:solidFill>
          <a:ln w="0">
            <a:solidFill>
              <a:srgbClr val="5F7F93"/>
            </a:solidFill>
            <a:prstDash val="solid"/>
          </a:ln>
        </p:spPr>
        <p:txBody>
          <a:bodyPr/>
          <a:lstStyle/>
          <a:p>
            <a:endParaRPr lang="en-US"/>
          </a:p>
        </p:txBody>
      </p:sp>
      <p:sp>
        <p:nvSpPr>
          <p:cNvPr id="32" name="roll-forward-label-1">
            <a:extLst>
              <a:ext uri="{FF2B5EF4-FFF2-40B4-BE49-F238E27FC236}">
                <a16:creationId xmlns:a16="http://schemas.microsoft.com/office/drawing/2014/main" id="{90BF81B3-66A8-44D3-9DC1-5E7978ABC2F3}"/>
              </a:ext>
            </a:extLst>
          </p:cNvPr>
          <p:cNvSpPr>
            <a:spLocks noGrp="1"/>
          </p:cNvSpPr>
          <p:nvPr/>
        </p:nvSpPr>
        <p:spPr>
          <a:xfrm>
            <a:off x="4800600" y="2552700"/>
            <a:ext cx="1143000" cy="171450"/>
          </a:xfrm>
          <a:prstGeom prst="rect">
            <a:avLst/>
          </a:prstGeom>
          <a:noFill/>
          <a:ln w="0">
            <a:noFill/>
            <a:prstDash val="solid"/>
          </a:ln>
        </p:spPr>
        <p:txBody>
          <a:bodyPr wrap="square" lIns="0" tIns="0" rIns="0" bIns="0" anchor="t"/>
          <a:lstStyle/>
          <a:p>
            <a:pPr algn="ctr">
              <a:defRPr sz="900" b="0">
                <a:solidFill>
                  <a:srgbClr val="5F7F93"/>
                </a:solidFill>
                <a:latin typeface="Aptos"/>
                <a:ea typeface="Aptos"/>
                <a:cs typeface="Aptos"/>
              </a:defRPr>
            </a:pPr>
            <a:r>
              <a:rPr sz="900" b="0">
                <a:solidFill>
                  <a:srgbClr val="5F7F93"/>
                </a:solidFill>
                <a:latin typeface="Aptos"/>
                <a:ea typeface="Aptos"/>
                <a:cs typeface="Aptos"/>
              </a:rPr>
              <a:t>weiterrollen</a:t>
            </a:r>
          </a:p>
        </p:txBody>
      </p:sp>
      <p:sp>
        <p:nvSpPr>
          <p:cNvPr id="33" name="freeze-2">
            <a:extLst>
              <a:ext uri="{FF2B5EF4-FFF2-40B4-BE49-F238E27FC236}">
                <a16:creationId xmlns:a16="http://schemas.microsoft.com/office/drawing/2014/main" id="{C282D575-0B0E-416B-BC23-42ABCFD963E0}"/>
              </a:ext>
            </a:extLst>
          </p:cNvPr>
          <p:cNvSpPr>
            <a:spLocks noGrp="1"/>
          </p:cNvSpPr>
          <p:nvPr/>
        </p:nvSpPr>
        <p:spPr>
          <a:xfrm>
            <a:off x="3695700" y="1866900"/>
            <a:ext cx="2095500" cy="704850"/>
          </a:xfrm>
          <a:prstGeom prst="roundRect">
            <a:avLst>
              <a:gd name="adj" fmla="val 8108"/>
            </a:avLst>
          </a:prstGeom>
          <a:solidFill>
            <a:srgbClr val="005174"/>
          </a:solidFill>
          <a:ln w="0">
            <a:solidFill>
              <a:srgbClr val="005174"/>
            </a:solidFill>
            <a:prstDash val="solid"/>
          </a:ln>
        </p:spPr>
        <p:txBody>
          <a:bodyPr wrap="square" lIns="114300" tIns="76200" rIns="114300" bIns="76200" anchor="ctr"/>
          <a:lstStyle/>
          <a:p>
            <a:pPr algn="ctr">
              <a:defRPr sz="1350" b="1">
                <a:solidFill>
                  <a:srgbClr val="FFFFFF"/>
                </a:solidFill>
                <a:latin typeface="Aptos"/>
                <a:ea typeface="Aptos"/>
                <a:cs typeface="Aptos"/>
              </a:defRPr>
            </a:pPr>
            <a:r>
              <a:rPr sz="1350" b="1">
                <a:solidFill>
                  <a:srgbClr val="FFFFFF"/>
                </a:solidFill>
                <a:latin typeface="Aptos"/>
                <a:ea typeface="Aptos"/>
                <a:cs typeface="Aptos"/>
              </a:rPr>
              <a:t>Portfolio einfrieren</a:t>
            </a:r>
          </a:p>
          <a:p>
            <a:pPr algn="ctr">
              <a:defRPr sz="1350" b="1">
                <a:solidFill>
                  <a:srgbClr val="FFFFFF"/>
                </a:solidFill>
                <a:latin typeface="Aptos"/>
                <a:ea typeface="Aptos"/>
                <a:cs typeface="Aptos"/>
              </a:defRPr>
            </a:pPr>
            <a:r>
              <a:rPr sz="1350" b="1">
                <a:solidFill>
                  <a:srgbClr val="FFFFFF"/>
                </a:solidFill>
                <a:latin typeface="Aptos"/>
                <a:ea typeface="Aptos"/>
                <a:cs typeface="Aptos"/>
              </a:rPr>
              <a:t>(PD/LGD/EAD 2022)</a:t>
            </a:r>
          </a:p>
        </p:txBody>
      </p:sp>
      <p:sp>
        <p:nvSpPr>
          <p:cNvPr id="34" name="shock-2">
            <a:extLst>
              <a:ext uri="{FF2B5EF4-FFF2-40B4-BE49-F238E27FC236}">
                <a16:creationId xmlns:a16="http://schemas.microsoft.com/office/drawing/2014/main" id="{1992946C-725C-452A-A061-781DD137E86F}"/>
              </a:ext>
            </a:extLst>
          </p:cNvPr>
          <p:cNvSpPr>
            <a:spLocks noGrp="1"/>
          </p:cNvSpPr>
          <p:nvPr/>
        </p:nvSpPr>
        <p:spPr>
          <a:xfrm>
            <a:off x="5429250" y="3048000"/>
            <a:ext cx="2343150" cy="609600"/>
          </a:xfrm>
          <a:prstGeom prst="roundRect">
            <a:avLst>
              <a:gd name="adj" fmla="val 9375"/>
            </a:avLst>
          </a:prstGeom>
          <a:solidFill>
            <a:srgbClr val="D1AC22"/>
          </a:solidFill>
          <a:ln w="0">
            <a:solidFill>
              <a:srgbClr val="D1AC22"/>
            </a:solidFill>
            <a:prstDash val="solid"/>
          </a:ln>
        </p:spPr>
        <p:txBody>
          <a:bodyPr wrap="square" lIns="114300" tIns="76200" rIns="114300" bIns="76200" anchor="ctr"/>
          <a:lstStyle/>
          <a:p>
            <a:pPr algn="ctr">
              <a:defRPr sz="1275" b="1">
                <a:solidFill>
                  <a:srgbClr val="111111"/>
                </a:solidFill>
                <a:latin typeface="Aptos"/>
                <a:ea typeface="Aptos"/>
                <a:cs typeface="Aptos"/>
              </a:defRPr>
            </a:pPr>
            <a:r>
              <a:rPr sz="1275" b="1">
                <a:solidFill>
                  <a:srgbClr val="111111"/>
                </a:solidFill>
                <a:latin typeface="Aptos"/>
                <a:ea typeface="Aptos"/>
                <a:cs typeface="Aptos"/>
              </a:rPr>
              <a:t>realer Öl-/Zins-Schock</a:t>
            </a:r>
          </a:p>
          <a:p>
            <a:pPr algn="ctr">
              <a:defRPr sz="1275" b="1">
                <a:solidFill>
                  <a:srgbClr val="111111"/>
                </a:solidFill>
                <a:latin typeface="Aptos"/>
                <a:ea typeface="Aptos"/>
                <a:cs typeface="Aptos"/>
              </a:defRPr>
            </a:pPr>
            <a:r>
              <a:rPr sz="1275" b="1">
                <a:solidFill>
                  <a:srgbClr val="111111"/>
                </a:solidFill>
                <a:latin typeface="Aptos"/>
                <a:ea typeface="Aptos"/>
                <a:cs typeface="Aptos"/>
              </a:rPr>
              <a:t>2023 einspielen</a:t>
            </a:r>
          </a:p>
        </p:txBody>
      </p:sp>
      <p:sp>
        <p:nvSpPr>
          <p:cNvPr id="35" name="compare-2">
            <a:extLst>
              <a:ext uri="{FF2B5EF4-FFF2-40B4-BE49-F238E27FC236}">
                <a16:creationId xmlns:a16="http://schemas.microsoft.com/office/drawing/2014/main" id="{AB062A20-40F0-458C-82FA-0CAEE865F0BC}"/>
              </a:ext>
            </a:extLst>
          </p:cNvPr>
          <p:cNvSpPr>
            <a:spLocks noGrp="1"/>
          </p:cNvSpPr>
          <p:nvPr/>
        </p:nvSpPr>
        <p:spPr>
          <a:xfrm>
            <a:off x="6953250" y="4133850"/>
            <a:ext cx="1943100" cy="666750"/>
          </a:xfrm>
          <a:prstGeom prst="roundRect">
            <a:avLst>
              <a:gd name="adj" fmla="val 8571"/>
            </a:avLst>
          </a:prstGeom>
          <a:solidFill>
            <a:srgbClr val="08A9A5"/>
          </a:solidFill>
          <a:ln w="0">
            <a:solidFill>
              <a:srgbClr val="08A9A5"/>
            </a:solidFill>
            <a:prstDash val="solid"/>
          </a:ln>
        </p:spPr>
        <p:txBody>
          <a:bodyPr wrap="square" lIns="114300" tIns="76200" rIns="114300" bIns="76200" anchor="ctr"/>
          <a:lstStyle/>
          <a:p>
            <a:pPr algn="ctr">
              <a:defRPr sz="1200" b="1">
                <a:solidFill>
                  <a:srgbClr val="FFFFFF"/>
                </a:solidFill>
                <a:latin typeface="Aptos"/>
                <a:ea typeface="Aptos"/>
                <a:cs typeface="Aptos"/>
              </a:defRPr>
            </a:pPr>
            <a:r>
              <a:rPr sz="1200" b="1">
                <a:solidFill>
                  <a:srgbClr val="FFFFFF"/>
                </a:solidFill>
                <a:latin typeface="Aptos"/>
                <a:ea typeface="Aptos"/>
                <a:cs typeface="Aptos"/>
              </a:rPr>
              <a:t>Prognose</a:t>
            </a:r>
          </a:p>
          <a:p>
            <a:pPr algn="ctr">
              <a:defRPr sz="1200" b="1">
                <a:solidFill>
                  <a:srgbClr val="FFFFFF"/>
                </a:solidFill>
                <a:latin typeface="Aptos"/>
                <a:ea typeface="Aptos"/>
                <a:cs typeface="Aptos"/>
              </a:defRPr>
            </a:pPr>
            <a:r>
              <a:rPr sz="1200" b="1">
                <a:solidFill>
                  <a:srgbClr val="FFFFFF"/>
                </a:solidFill>
                <a:latin typeface="Aptos"/>
                <a:ea typeface="Aptos"/>
                <a:cs typeface="Aptos"/>
              </a:rPr>
              <a:t>vs. gemeldete</a:t>
            </a:r>
          </a:p>
          <a:p>
            <a:pPr algn="ctr">
              <a:defRPr sz="1200" b="1">
                <a:solidFill>
                  <a:srgbClr val="FFFFFF"/>
                </a:solidFill>
                <a:latin typeface="Aptos"/>
                <a:ea typeface="Aptos"/>
                <a:cs typeface="Aptos"/>
              </a:defRPr>
            </a:pPr>
            <a:r>
              <a:rPr sz="1200" b="1">
                <a:solidFill>
                  <a:srgbClr val="FFFFFF"/>
                </a:solidFill>
                <a:latin typeface="Aptos"/>
                <a:ea typeface="Aptos"/>
                <a:cs typeface="Aptos"/>
              </a:rPr>
              <a:t>CET1 2023</a:t>
            </a:r>
          </a:p>
        </p:txBody>
      </p:sp>
      <p:cxnSp>
        <p:nvCxnSpPr>
          <p:cNvPr id="87" name="Straight Arrow Connector 86"/>
          <p:cNvCxnSpPr>
            <a:stCxn id="34" idx="3"/>
            <a:endCxn id="35" idx="0"/>
          </p:cNvCxnSpPr>
          <p:nvPr/>
        </p:nvCxnSpPr>
        <p:spPr>
          <a:xfrm>
            <a:off x="7772400" y="3352800"/>
            <a:ext cx="152400" cy="781050"/>
          </a:xfrm>
          <a:prstGeom prst="straightConnector1">
            <a:avLst/>
          </a:prstGeom>
          <a:ln w="28575">
            <a:solidFill>
              <a:srgbClr val="08A9A5"/>
            </a:solidFill>
            <a:prstDash val="solid"/>
          </a:ln>
        </p:spPr>
      </p:cxnSp>
      <p:sp>
        <p:nvSpPr>
          <p:cNvPr id="37" name="roll-forward-2">
            <a:extLst>
              <a:ext uri="{FF2B5EF4-FFF2-40B4-BE49-F238E27FC236}">
                <a16:creationId xmlns:a16="http://schemas.microsoft.com/office/drawing/2014/main" id="{154424AD-E8F2-4E57-9244-1EE89A2C8E92}"/>
              </a:ext>
            </a:extLst>
          </p:cNvPr>
          <p:cNvSpPr>
            <a:spLocks noGrp="1"/>
          </p:cNvSpPr>
          <p:nvPr/>
        </p:nvSpPr>
        <p:spPr>
          <a:xfrm>
            <a:off x="8153400" y="2800350"/>
            <a:ext cx="742950" cy="0"/>
          </a:xfrm>
          <a:prstGeom prst="line">
            <a:avLst/>
          </a:prstGeom>
          <a:noFill/>
          <a:ln w="19050">
            <a:solidFill>
              <a:srgbClr val="5F7F93"/>
            </a:solidFill>
            <a:prstDash val="dash"/>
          </a:ln>
        </p:spPr>
        <p:txBody>
          <a:bodyPr/>
          <a:lstStyle/>
          <a:p>
            <a:endParaRPr lang="en-US"/>
          </a:p>
        </p:txBody>
      </p:sp>
      <p:sp>
        <p:nvSpPr>
          <p:cNvPr id="38" name="roll-forward-head-2">
            <a:extLst>
              <a:ext uri="{FF2B5EF4-FFF2-40B4-BE49-F238E27FC236}">
                <a16:creationId xmlns:a16="http://schemas.microsoft.com/office/drawing/2014/main" id="{BCCFD27B-5BFC-455C-A925-EDCB4EE758C3}"/>
              </a:ext>
            </a:extLst>
          </p:cNvPr>
          <p:cNvSpPr>
            <a:spLocks noGrp="1"/>
          </p:cNvSpPr>
          <p:nvPr/>
        </p:nvSpPr>
        <p:spPr>
          <a:xfrm rot="5400000">
            <a:off x="8820150" y="2743200"/>
            <a:ext cx="123825" cy="123825"/>
          </a:xfrm>
          <a:prstGeom prst="triangle">
            <a:avLst/>
          </a:prstGeom>
          <a:solidFill>
            <a:srgbClr val="5F7F93"/>
          </a:solidFill>
          <a:ln w="0">
            <a:solidFill>
              <a:srgbClr val="5F7F93"/>
            </a:solidFill>
            <a:prstDash val="solid"/>
          </a:ln>
        </p:spPr>
        <p:txBody>
          <a:bodyPr/>
          <a:lstStyle/>
          <a:p>
            <a:endParaRPr lang="en-US"/>
          </a:p>
        </p:txBody>
      </p:sp>
      <p:sp>
        <p:nvSpPr>
          <p:cNvPr id="39" name="roll-forward-label-2">
            <a:extLst>
              <a:ext uri="{FF2B5EF4-FFF2-40B4-BE49-F238E27FC236}">
                <a16:creationId xmlns:a16="http://schemas.microsoft.com/office/drawing/2014/main" id="{1C5E7CB8-564D-4203-862B-CEFD70918288}"/>
              </a:ext>
            </a:extLst>
          </p:cNvPr>
          <p:cNvSpPr>
            <a:spLocks noGrp="1"/>
          </p:cNvSpPr>
          <p:nvPr/>
        </p:nvSpPr>
        <p:spPr>
          <a:xfrm>
            <a:off x="7981950" y="2552700"/>
            <a:ext cx="1143000" cy="171450"/>
          </a:xfrm>
          <a:prstGeom prst="rect">
            <a:avLst/>
          </a:prstGeom>
          <a:noFill/>
          <a:ln w="0">
            <a:noFill/>
            <a:prstDash val="solid"/>
          </a:ln>
        </p:spPr>
        <p:txBody>
          <a:bodyPr wrap="square" lIns="0" tIns="0" rIns="0" bIns="0" anchor="t"/>
          <a:lstStyle/>
          <a:p>
            <a:pPr algn="ctr">
              <a:defRPr sz="900" b="0">
                <a:solidFill>
                  <a:srgbClr val="5F7F93"/>
                </a:solidFill>
                <a:latin typeface="Aptos"/>
                <a:ea typeface="Aptos"/>
                <a:cs typeface="Aptos"/>
              </a:defRPr>
            </a:pPr>
            <a:r>
              <a:rPr sz="900" b="0">
                <a:solidFill>
                  <a:srgbClr val="5F7F93"/>
                </a:solidFill>
                <a:latin typeface="Aptos"/>
                <a:ea typeface="Aptos"/>
                <a:cs typeface="Aptos"/>
              </a:rPr>
              <a:t>weiterrollen</a:t>
            </a:r>
          </a:p>
        </p:txBody>
      </p:sp>
      <p:sp>
        <p:nvSpPr>
          <p:cNvPr id="40" name="freeze-3">
            <a:extLst>
              <a:ext uri="{FF2B5EF4-FFF2-40B4-BE49-F238E27FC236}">
                <a16:creationId xmlns:a16="http://schemas.microsoft.com/office/drawing/2014/main" id="{DE5246FB-7006-4154-9E5D-2EA2E7D8C1CD}"/>
              </a:ext>
            </a:extLst>
          </p:cNvPr>
          <p:cNvSpPr>
            <a:spLocks noGrp="1"/>
          </p:cNvSpPr>
          <p:nvPr/>
        </p:nvSpPr>
        <p:spPr>
          <a:xfrm>
            <a:off x="6877050" y="1866900"/>
            <a:ext cx="2095500" cy="704850"/>
          </a:xfrm>
          <a:prstGeom prst="roundRect">
            <a:avLst>
              <a:gd name="adj" fmla="val 8108"/>
            </a:avLst>
          </a:prstGeom>
          <a:solidFill>
            <a:srgbClr val="005174"/>
          </a:solidFill>
          <a:ln w="0">
            <a:solidFill>
              <a:srgbClr val="005174"/>
            </a:solidFill>
            <a:prstDash val="solid"/>
          </a:ln>
        </p:spPr>
        <p:txBody>
          <a:bodyPr wrap="square" lIns="114300" tIns="76200" rIns="114300" bIns="76200" anchor="ctr"/>
          <a:lstStyle/>
          <a:p>
            <a:pPr algn="ctr">
              <a:defRPr sz="1350" b="1">
                <a:solidFill>
                  <a:srgbClr val="FFFFFF"/>
                </a:solidFill>
                <a:latin typeface="Aptos"/>
                <a:ea typeface="Aptos"/>
                <a:cs typeface="Aptos"/>
              </a:defRPr>
            </a:pPr>
            <a:r>
              <a:rPr sz="1350" b="1">
                <a:solidFill>
                  <a:srgbClr val="FFFFFF"/>
                </a:solidFill>
                <a:latin typeface="Aptos"/>
                <a:ea typeface="Aptos"/>
                <a:cs typeface="Aptos"/>
              </a:rPr>
              <a:t>Portfolio einfrieren</a:t>
            </a:r>
          </a:p>
          <a:p>
            <a:pPr algn="ctr">
              <a:defRPr sz="1350" b="1">
                <a:solidFill>
                  <a:srgbClr val="FFFFFF"/>
                </a:solidFill>
                <a:latin typeface="Aptos"/>
                <a:ea typeface="Aptos"/>
                <a:cs typeface="Aptos"/>
              </a:defRPr>
            </a:pPr>
            <a:r>
              <a:rPr sz="1350" b="1">
                <a:solidFill>
                  <a:srgbClr val="FFFFFF"/>
                </a:solidFill>
                <a:latin typeface="Aptos"/>
                <a:ea typeface="Aptos"/>
                <a:cs typeface="Aptos"/>
              </a:rPr>
              <a:t>(PD/LGD/EAD 2023)</a:t>
            </a:r>
          </a:p>
        </p:txBody>
      </p:sp>
      <p:sp>
        <p:nvSpPr>
          <p:cNvPr id="41" name="shock-3">
            <a:extLst>
              <a:ext uri="{FF2B5EF4-FFF2-40B4-BE49-F238E27FC236}">
                <a16:creationId xmlns:a16="http://schemas.microsoft.com/office/drawing/2014/main" id="{04BD755D-CDBD-46EF-9481-29B850C9D9B4}"/>
              </a:ext>
            </a:extLst>
          </p:cNvPr>
          <p:cNvSpPr>
            <a:spLocks noGrp="1"/>
          </p:cNvSpPr>
          <p:nvPr/>
        </p:nvSpPr>
        <p:spPr>
          <a:xfrm>
            <a:off x="8610600" y="3048000"/>
            <a:ext cx="2343150" cy="609600"/>
          </a:xfrm>
          <a:prstGeom prst="roundRect">
            <a:avLst>
              <a:gd name="adj" fmla="val 9375"/>
            </a:avLst>
          </a:prstGeom>
          <a:solidFill>
            <a:srgbClr val="D1AC22"/>
          </a:solidFill>
          <a:ln w="0">
            <a:solidFill>
              <a:srgbClr val="D1AC22"/>
            </a:solidFill>
            <a:prstDash val="solid"/>
          </a:ln>
        </p:spPr>
        <p:txBody>
          <a:bodyPr wrap="square" lIns="114300" tIns="76200" rIns="114300" bIns="76200" anchor="ctr"/>
          <a:lstStyle/>
          <a:p>
            <a:pPr algn="ctr">
              <a:defRPr sz="1275" b="1">
                <a:solidFill>
                  <a:srgbClr val="111111"/>
                </a:solidFill>
                <a:latin typeface="Aptos"/>
                <a:ea typeface="Aptos"/>
                <a:cs typeface="Aptos"/>
              </a:defRPr>
            </a:pPr>
            <a:r>
              <a:rPr sz="1275" b="1">
                <a:solidFill>
                  <a:srgbClr val="111111"/>
                </a:solidFill>
                <a:latin typeface="Aptos"/>
                <a:ea typeface="Aptos"/>
                <a:cs typeface="Aptos"/>
              </a:rPr>
              <a:t>realer Öl-/Zins-Schock</a:t>
            </a:r>
          </a:p>
          <a:p>
            <a:pPr algn="ctr">
              <a:defRPr sz="1275" b="1">
                <a:solidFill>
                  <a:srgbClr val="111111"/>
                </a:solidFill>
                <a:latin typeface="Aptos"/>
                <a:ea typeface="Aptos"/>
                <a:cs typeface="Aptos"/>
              </a:defRPr>
            </a:pPr>
            <a:r>
              <a:rPr sz="1275" b="1">
                <a:solidFill>
                  <a:srgbClr val="111111"/>
                </a:solidFill>
                <a:latin typeface="Aptos"/>
                <a:ea typeface="Aptos"/>
                <a:cs typeface="Aptos"/>
              </a:rPr>
              <a:t>2024 einspielen</a:t>
            </a:r>
          </a:p>
        </p:txBody>
      </p:sp>
      <p:sp>
        <p:nvSpPr>
          <p:cNvPr id="42" name="compare-3">
            <a:extLst>
              <a:ext uri="{FF2B5EF4-FFF2-40B4-BE49-F238E27FC236}">
                <a16:creationId xmlns:a16="http://schemas.microsoft.com/office/drawing/2014/main" id="{C226A321-6368-4E4E-8566-DF84A5BD64CF}"/>
              </a:ext>
            </a:extLst>
          </p:cNvPr>
          <p:cNvSpPr>
            <a:spLocks noGrp="1"/>
          </p:cNvSpPr>
          <p:nvPr/>
        </p:nvSpPr>
        <p:spPr>
          <a:xfrm>
            <a:off x="10096500" y="4133850"/>
            <a:ext cx="1943100" cy="666750"/>
          </a:xfrm>
          <a:prstGeom prst="roundRect">
            <a:avLst>
              <a:gd name="adj" fmla="val 8571"/>
            </a:avLst>
          </a:prstGeom>
          <a:solidFill>
            <a:srgbClr val="08A9A5"/>
          </a:solidFill>
          <a:ln w="0">
            <a:solidFill>
              <a:srgbClr val="08A9A5"/>
            </a:solidFill>
            <a:prstDash val="solid"/>
          </a:ln>
        </p:spPr>
        <p:txBody>
          <a:bodyPr wrap="square" lIns="114300" tIns="76200" rIns="114300" bIns="76200" anchor="ctr"/>
          <a:lstStyle/>
          <a:p>
            <a:pPr algn="ctr">
              <a:defRPr sz="1200" b="1">
                <a:solidFill>
                  <a:srgbClr val="FFFFFF"/>
                </a:solidFill>
                <a:latin typeface="Aptos"/>
                <a:ea typeface="Aptos"/>
                <a:cs typeface="Aptos"/>
              </a:defRPr>
            </a:pPr>
            <a:r>
              <a:rPr sz="1200" b="1">
                <a:solidFill>
                  <a:srgbClr val="FFFFFF"/>
                </a:solidFill>
                <a:latin typeface="Aptos"/>
                <a:ea typeface="Aptos"/>
                <a:cs typeface="Aptos"/>
              </a:rPr>
              <a:t>Prognose</a:t>
            </a:r>
          </a:p>
          <a:p>
            <a:pPr algn="ctr">
              <a:defRPr sz="1200" b="1">
                <a:solidFill>
                  <a:srgbClr val="FFFFFF"/>
                </a:solidFill>
                <a:latin typeface="Aptos"/>
                <a:ea typeface="Aptos"/>
                <a:cs typeface="Aptos"/>
              </a:defRPr>
            </a:pPr>
            <a:r>
              <a:rPr sz="1200" b="1">
                <a:solidFill>
                  <a:srgbClr val="FFFFFF"/>
                </a:solidFill>
                <a:latin typeface="Aptos"/>
                <a:ea typeface="Aptos"/>
                <a:cs typeface="Aptos"/>
              </a:rPr>
              <a:t>vs. gemeldete</a:t>
            </a:r>
          </a:p>
          <a:p>
            <a:pPr algn="ctr">
              <a:defRPr sz="1200" b="1">
                <a:solidFill>
                  <a:srgbClr val="FFFFFF"/>
                </a:solidFill>
                <a:latin typeface="Aptos"/>
                <a:ea typeface="Aptos"/>
                <a:cs typeface="Aptos"/>
              </a:defRPr>
            </a:pPr>
            <a:r>
              <a:rPr sz="1200" b="1">
                <a:solidFill>
                  <a:srgbClr val="FFFFFF"/>
                </a:solidFill>
                <a:latin typeface="Aptos"/>
                <a:ea typeface="Aptos"/>
                <a:cs typeface="Aptos"/>
              </a:rPr>
              <a:t>CET1 2024</a:t>
            </a:r>
          </a:p>
        </p:txBody>
      </p:sp>
      <p:cxnSp>
        <p:nvCxnSpPr>
          <p:cNvPr id="94" name="Straight Arrow Connector 93"/>
          <p:cNvCxnSpPr>
            <a:stCxn id="41" idx="3"/>
            <a:endCxn id="42" idx="0"/>
          </p:cNvCxnSpPr>
          <p:nvPr/>
        </p:nvCxnSpPr>
        <p:spPr>
          <a:xfrm>
            <a:off x="10953750" y="3352800"/>
            <a:ext cx="114300" cy="781050"/>
          </a:xfrm>
          <a:prstGeom prst="straightConnector1">
            <a:avLst/>
          </a:prstGeom>
          <a:ln w="28575">
            <a:solidFill>
              <a:srgbClr val="08A9A5"/>
            </a:solidFill>
            <a:prstDash val="solid"/>
          </a:ln>
        </p:spPr>
      </p:cxnSp>
      <p:sp>
        <p:nvSpPr>
          <p:cNvPr id="44" name="bottom-note-band">
            <a:extLst>
              <a:ext uri="{FF2B5EF4-FFF2-40B4-BE49-F238E27FC236}">
                <a16:creationId xmlns:a16="http://schemas.microsoft.com/office/drawing/2014/main" id="{3773E671-D919-498A-B03C-9984173A88E9}"/>
              </a:ext>
            </a:extLst>
          </p:cNvPr>
          <p:cNvSpPr>
            <a:spLocks noGrp="1"/>
          </p:cNvSpPr>
          <p:nvPr/>
        </p:nvSpPr>
        <p:spPr>
          <a:xfrm>
            <a:off x="609600" y="5772150"/>
            <a:ext cx="10972800" cy="609600"/>
          </a:xfrm>
          <a:prstGeom prst="rect">
            <a:avLst/>
          </a:prstGeom>
          <a:solidFill>
            <a:srgbClr val="F4F7F8"/>
          </a:solidFill>
          <a:ln w="9525">
            <a:solidFill>
              <a:srgbClr val="D9E2E7"/>
            </a:solidFill>
            <a:prstDash val="solid"/>
          </a:ln>
        </p:spPr>
        <p:txBody>
          <a:bodyPr/>
          <a:lstStyle/>
          <a:p>
            <a:endParaRPr lang="en-US"/>
          </a:p>
        </p:txBody>
      </p:sp>
      <p:sp>
        <p:nvSpPr>
          <p:cNvPr id="45" name="step-1-dot">
            <a:extLst>
              <a:ext uri="{FF2B5EF4-FFF2-40B4-BE49-F238E27FC236}">
                <a16:creationId xmlns:a16="http://schemas.microsoft.com/office/drawing/2014/main" id="{97B77435-3AC1-407F-8E24-F660116FF947}"/>
              </a:ext>
            </a:extLst>
          </p:cNvPr>
          <p:cNvSpPr>
            <a:spLocks noGrp="1"/>
          </p:cNvSpPr>
          <p:nvPr/>
        </p:nvSpPr>
        <p:spPr>
          <a:xfrm>
            <a:off x="876300" y="5905500"/>
            <a:ext cx="247650" cy="247650"/>
          </a:xfrm>
          <a:prstGeom prst="ellipse">
            <a:avLst/>
          </a:prstGeom>
          <a:solidFill>
            <a:srgbClr val="061D2D"/>
          </a:solidFill>
          <a:ln w="0">
            <a:solidFill>
              <a:srgbClr val="061D2D"/>
            </a:solidFill>
            <a:prstDash val="solid"/>
          </a:ln>
        </p:spPr>
        <p:txBody>
          <a:bodyPr lIns="0" tIns="0" rIns="0" bIns="0" anchor="ctr"/>
          <a:lstStyle/>
          <a:p>
            <a:pPr algn="ctr">
              <a:defRPr sz="1050" b="1">
                <a:solidFill>
                  <a:srgbClr val="FFFFFF"/>
                </a:solidFill>
              </a:defRPr>
            </a:pPr>
            <a:r>
              <a:rPr sz="1050" b="1">
                <a:solidFill>
                  <a:srgbClr val="FFFFFF"/>
                </a:solidFill>
              </a:rPr>
              <a:t>1</a:t>
            </a:r>
          </a:p>
        </p:txBody>
      </p:sp>
      <p:sp>
        <p:nvSpPr>
          <p:cNvPr id="46" name="step-1-label">
            <a:extLst>
              <a:ext uri="{FF2B5EF4-FFF2-40B4-BE49-F238E27FC236}">
                <a16:creationId xmlns:a16="http://schemas.microsoft.com/office/drawing/2014/main" id="{900179C8-4A4F-41E2-9177-FC1B1F5BA3AA}"/>
              </a:ext>
            </a:extLst>
          </p:cNvPr>
          <p:cNvSpPr>
            <a:spLocks noGrp="1"/>
          </p:cNvSpPr>
          <p:nvPr/>
        </p:nvSpPr>
        <p:spPr>
          <a:xfrm>
            <a:off x="1219200" y="5857875"/>
            <a:ext cx="2571750" cy="381000"/>
          </a:xfrm>
          <a:prstGeom prst="rect">
            <a:avLst/>
          </a:prstGeom>
          <a:noFill/>
          <a:ln w="0">
            <a:noFill/>
            <a:prstDash val="solid"/>
          </a:ln>
        </p:spPr>
        <p:txBody>
          <a:bodyPr wrap="square" lIns="0" tIns="0" rIns="0" bIns="0" anchor="t"/>
          <a:lstStyle/>
          <a:p>
            <a:pPr algn="l">
              <a:defRPr sz="1125" b="0">
                <a:solidFill>
                  <a:srgbClr val="061D2D"/>
                </a:solidFill>
                <a:latin typeface="Aptos"/>
                <a:ea typeface="Aptos"/>
                <a:cs typeface="Aptos"/>
              </a:defRPr>
            </a:pPr>
            <a:r>
              <a:rPr sz="1125" b="0">
                <a:solidFill>
                  <a:srgbClr val="061D2D"/>
                </a:solidFill>
                <a:latin typeface="Aptos"/>
                <a:ea typeface="Aptos"/>
                <a:cs typeface="Aptos"/>
              </a:rPr>
              <a:t>Datenstand t wird eingefroren</a:t>
            </a:r>
          </a:p>
        </p:txBody>
      </p:sp>
      <p:sp>
        <p:nvSpPr>
          <p:cNvPr id="47" name="step-2-dot">
            <a:extLst>
              <a:ext uri="{FF2B5EF4-FFF2-40B4-BE49-F238E27FC236}">
                <a16:creationId xmlns:a16="http://schemas.microsoft.com/office/drawing/2014/main" id="{ED673C3A-E718-4AAF-9B50-6D1A623DCC78}"/>
              </a:ext>
            </a:extLst>
          </p:cNvPr>
          <p:cNvSpPr>
            <a:spLocks noGrp="1"/>
          </p:cNvSpPr>
          <p:nvPr/>
        </p:nvSpPr>
        <p:spPr>
          <a:xfrm>
            <a:off x="3905250" y="5905500"/>
            <a:ext cx="247650" cy="247650"/>
          </a:xfrm>
          <a:prstGeom prst="ellipse">
            <a:avLst/>
          </a:prstGeom>
          <a:solidFill>
            <a:srgbClr val="061D2D"/>
          </a:solidFill>
          <a:ln w="0">
            <a:solidFill>
              <a:srgbClr val="061D2D"/>
            </a:solidFill>
            <a:prstDash val="solid"/>
          </a:ln>
        </p:spPr>
        <p:txBody>
          <a:bodyPr lIns="0" tIns="0" rIns="0" bIns="0" anchor="ctr"/>
          <a:lstStyle/>
          <a:p>
            <a:pPr algn="ctr">
              <a:defRPr sz="1050" b="1">
                <a:solidFill>
                  <a:srgbClr val="FFFFFF"/>
                </a:solidFill>
              </a:defRPr>
            </a:pPr>
            <a:r>
              <a:rPr sz="1050" b="1">
                <a:solidFill>
                  <a:srgbClr val="FFFFFF"/>
                </a:solidFill>
              </a:rPr>
              <a:t>2</a:t>
            </a:r>
          </a:p>
        </p:txBody>
      </p:sp>
      <p:sp>
        <p:nvSpPr>
          <p:cNvPr id="48" name="step-2-label">
            <a:extLst>
              <a:ext uri="{FF2B5EF4-FFF2-40B4-BE49-F238E27FC236}">
                <a16:creationId xmlns:a16="http://schemas.microsoft.com/office/drawing/2014/main" id="{45632AC7-898B-4096-BFE3-04585667653D}"/>
              </a:ext>
            </a:extLst>
          </p:cNvPr>
          <p:cNvSpPr>
            <a:spLocks noGrp="1"/>
          </p:cNvSpPr>
          <p:nvPr/>
        </p:nvSpPr>
        <p:spPr>
          <a:xfrm>
            <a:off x="4248150" y="5857875"/>
            <a:ext cx="2571750" cy="381000"/>
          </a:xfrm>
          <a:prstGeom prst="rect">
            <a:avLst/>
          </a:prstGeom>
          <a:noFill/>
          <a:ln w="0">
            <a:noFill/>
            <a:prstDash val="solid"/>
          </a:ln>
        </p:spPr>
        <p:txBody>
          <a:bodyPr wrap="square" lIns="0" tIns="0" rIns="0" bIns="0" anchor="t"/>
          <a:lstStyle/>
          <a:p>
            <a:pPr algn="l">
              <a:defRPr sz="1125" b="0">
                <a:solidFill>
                  <a:srgbClr val="061D2D"/>
                </a:solidFill>
                <a:latin typeface="Aptos"/>
                <a:ea typeface="Aptos"/>
                <a:cs typeface="Aptos"/>
              </a:defRPr>
            </a:pPr>
            <a:r>
              <a:rPr sz="1125" b="0">
                <a:solidFill>
                  <a:srgbClr val="061D2D"/>
                </a:solidFill>
                <a:latin typeface="Aptos"/>
                <a:ea typeface="Aptos"/>
                <a:cs typeface="Aptos"/>
              </a:rPr>
              <a:t>Realer Schock aus t+1 wird nachträglich eingespielt</a:t>
            </a:r>
          </a:p>
        </p:txBody>
      </p:sp>
      <p:sp>
        <p:nvSpPr>
          <p:cNvPr id="49" name="step-3-dot">
            <a:extLst>
              <a:ext uri="{FF2B5EF4-FFF2-40B4-BE49-F238E27FC236}">
                <a16:creationId xmlns:a16="http://schemas.microsoft.com/office/drawing/2014/main" id="{6FD82D7E-A431-43BF-B028-E3EB6DBDA170}"/>
              </a:ext>
            </a:extLst>
          </p:cNvPr>
          <p:cNvSpPr>
            <a:spLocks noGrp="1"/>
          </p:cNvSpPr>
          <p:nvPr/>
        </p:nvSpPr>
        <p:spPr>
          <a:xfrm>
            <a:off x="7448550" y="5905500"/>
            <a:ext cx="247650" cy="247650"/>
          </a:xfrm>
          <a:prstGeom prst="ellipse">
            <a:avLst/>
          </a:prstGeom>
          <a:solidFill>
            <a:srgbClr val="061D2D"/>
          </a:solidFill>
          <a:ln w="0">
            <a:solidFill>
              <a:srgbClr val="061D2D"/>
            </a:solidFill>
            <a:prstDash val="solid"/>
          </a:ln>
        </p:spPr>
        <p:txBody>
          <a:bodyPr lIns="0" tIns="0" rIns="0" bIns="0" anchor="ctr"/>
          <a:lstStyle/>
          <a:p>
            <a:pPr algn="ctr">
              <a:defRPr sz="1050" b="1">
                <a:solidFill>
                  <a:srgbClr val="FFFFFF"/>
                </a:solidFill>
              </a:defRPr>
            </a:pPr>
            <a:r>
              <a:rPr sz="1050" b="1">
                <a:solidFill>
                  <a:srgbClr val="FFFFFF"/>
                </a:solidFill>
              </a:rPr>
              <a:t>3</a:t>
            </a:r>
          </a:p>
        </p:txBody>
      </p:sp>
      <p:sp>
        <p:nvSpPr>
          <p:cNvPr id="50" name="step-3-label">
            <a:extLst>
              <a:ext uri="{FF2B5EF4-FFF2-40B4-BE49-F238E27FC236}">
                <a16:creationId xmlns:a16="http://schemas.microsoft.com/office/drawing/2014/main" id="{9A7FD9A3-68F1-4181-A045-EAB353945AE5}"/>
              </a:ext>
            </a:extLst>
          </p:cNvPr>
          <p:cNvSpPr>
            <a:spLocks noGrp="1"/>
          </p:cNvSpPr>
          <p:nvPr/>
        </p:nvSpPr>
        <p:spPr>
          <a:xfrm>
            <a:off x="7791450" y="5857875"/>
            <a:ext cx="2571750" cy="381000"/>
          </a:xfrm>
          <a:prstGeom prst="rect">
            <a:avLst/>
          </a:prstGeom>
          <a:noFill/>
          <a:ln w="0">
            <a:noFill/>
            <a:prstDash val="solid"/>
          </a:ln>
        </p:spPr>
        <p:txBody>
          <a:bodyPr wrap="square" lIns="0" tIns="0" rIns="0" bIns="0" anchor="t"/>
          <a:lstStyle/>
          <a:p>
            <a:pPr algn="l">
              <a:defRPr sz="1125" b="0">
                <a:solidFill>
                  <a:srgbClr val="061D2D"/>
                </a:solidFill>
                <a:latin typeface="Aptos"/>
                <a:ea typeface="Aptos"/>
                <a:cs typeface="Aptos"/>
              </a:defRPr>
            </a:pPr>
            <a:r>
              <a:rPr sz="1125" b="0">
                <a:solidFill>
                  <a:srgbClr val="061D2D"/>
                </a:solidFill>
                <a:latin typeface="Aptos"/>
                <a:ea typeface="Aptos"/>
                <a:cs typeface="Aptos"/>
              </a:rPr>
              <a:t>Vergleich mit gemeldeter CET1 t+1</a:t>
            </a:r>
          </a:p>
        </p:txBody>
      </p:sp>
      <p:sp>
        <p:nvSpPr>
          <p:cNvPr id="51" name="bottom-claim">
            <a:extLst>
              <a:ext uri="{FF2B5EF4-FFF2-40B4-BE49-F238E27FC236}">
                <a16:creationId xmlns:a16="http://schemas.microsoft.com/office/drawing/2014/main" id="{3FC248CD-2BDA-4D59-A311-DA590C008198}"/>
              </a:ext>
            </a:extLst>
          </p:cNvPr>
          <p:cNvSpPr>
            <a:spLocks noGrp="1"/>
          </p:cNvSpPr>
          <p:nvPr/>
        </p:nvSpPr>
        <p:spPr>
          <a:xfrm>
            <a:off x="876300" y="6419850"/>
            <a:ext cx="10287000" cy="228600"/>
          </a:xfrm>
          <a:prstGeom prst="rect">
            <a:avLst/>
          </a:prstGeom>
          <a:noFill/>
          <a:ln w="0">
            <a:noFill/>
            <a:prstDash val="solid"/>
          </a:ln>
        </p:spPr>
        <p:txBody>
          <a:bodyPr wrap="square" lIns="0" tIns="0" rIns="0" bIns="0" anchor="t"/>
          <a:lstStyle/>
          <a:p>
            <a:pPr algn="ctr">
              <a:defRPr sz="1050" b="1">
                <a:solidFill>
                  <a:srgbClr val="061D2D"/>
                </a:solidFill>
                <a:latin typeface="Aptos"/>
                <a:ea typeface="Aptos"/>
                <a:cs typeface="Aptos"/>
              </a:defRPr>
            </a:pPr>
            <a:r>
              <a:rPr sz="1050" b="1">
                <a:solidFill>
                  <a:srgbClr val="061D2D"/>
                </a:solidFill>
                <a:latin typeface="Aptos"/>
                <a:ea typeface="Aptos"/>
                <a:cs typeface="Aptos"/>
              </a:rPr>
              <a:t>Kernaussage: Der Backtest ist bewusst zeitlich versetzt. Dadurch misst er Prognosegüte statt nachträglicher Kalibrierung.</a:t>
            </a:r>
          </a:p>
        </p:txBody>
      </p:sp>
      <p:sp>
        <p:nvSpPr>
          <p:cNvPr id="53" name="Text 1">
            <a:extLst>
              <a:ext uri="{FF2B5EF4-FFF2-40B4-BE49-F238E27FC236}">
                <a16:creationId xmlns:a16="http://schemas.microsoft.com/office/drawing/2014/main" id="{7975FA09-AC8A-DE3E-2E28-8F8FEF1E0362}"/>
              </a:ext>
            </a:extLst>
          </p:cNvPr>
          <p:cNvSpPr/>
          <p:nvPr/>
        </p:nvSpPr>
        <p:spPr>
          <a:xfrm>
            <a:off x="502920" y="502920"/>
            <a:ext cx="10789920" cy="201168"/>
          </a:xfrm>
          <a:prstGeom prst="rect">
            <a:avLst/>
          </a:prstGeom>
          <a:noFill/>
          <a:ln/>
        </p:spPr>
        <p:txBody>
          <a:bodyPr wrap="square" lIns="0" tIns="0" rIns="0" bIns="0" rtlCol="0" anchor="ctr">
            <a:normAutofit/>
          </a:bodyPr>
          <a:lstStyle/>
          <a:p>
            <a:pPr>
              <a:defRPr sz="975" b="1">
                <a:solidFill>
                  <a:srgbClr val="5B666D"/>
                </a:solidFill>
                <a:latin typeface="Aptos"/>
                <a:ea typeface="Aptos"/>
                <a:cs typeface="Aptos"/>
              </a:defRPr>
            </a:pPr>
            <a:r>
              <a:rPr lang="en-US" sz="863" b="1" dirty="0">
                <a:solidFill>
                  <a:schemeClr val="tx2"/>
                </a:solidFill>
                <a:latin typeface="Aptos"/>
              </a:rPr>
              <a:t>TAB 5 · BACKTEST-LOGIK</a:t>
            </a:r>
          </a:p>
        </p:txBody>
      </p:sp>
      <p:sp>
        <p:nvSpPr>
          <p:cNvPr id="2" name="CodexSlideNumber">
            <a:extLst>
              <a:ext uri="{FF2B5EF4-FFF2-40B4-BE49-F238E27FC236}">
                <a16:creationId xmlns:a16="http://schemas.microsoft.com/office/drawing/2014/main" id="{61C6C1A0-0158-5F82-E645-C72E7127F91D}"/>
              </a:ext>
            </a:extLst>
          </p:cNvPr>
          <p:cNvSpPr txBox="1"/>
          <p:nvPr/>
        </p:nvSpPr>
        <p:spPr>
          <a:xfrm>
            <a:off x="11226800" y="6553200"/>
            <a:ext cx="736600" cy="123111"/>
          </a:xfrm>
          <a:prstGeom prst="rect">
            <a:avLst/>
          </a:prstGeom>
          <a:noFill/>
        </p:spPr>
        <p:txBody>
          <a:bodyPr vert="horz" lIns="0" tIns="0" rIns="0" bIns="0" rtlCol="0">
            <a:spAutoFit/>
          </a:bodyPr>
          <a:lstStyle/>
          <a:p>
            <a:pPr algn="r"/>
            <a:r>
              <a:rPr lang="en-US" sz="800">
                <a:solidFill>
                  <a:srgbClr val="525252"/>
                </a:solidFill>
                <a:latin typeface="Arial" panose="020B0604020202020204" pitchFamily="34" charset="0"/>
              </a:rPr>
              <a:t>57 / 64</a:t>
            </a:r>
          </a:p>
        </p:txBody>
      </p:sp>
    </p:spTree>
    <p:extLst>
      <p:ext uri="{BB962C8B-B14F-4D97-AF65-F5344CB8AC3E}">
        <p14:creationId xmlns:p14="http://schemas.microsoft.com/office/powerpoint/2010/main" val="121317660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502920" y="502920"/>
            <a:ext cx="10789920" cy="201168"/>
          </a:xfrm>
          <a:prstGeom prst="rect">
            <a:avLst/>
          </a:prstGeom>
          <a:noFill/>
          <a:ln/>
        </p:spPr>
        <p:txBody>
          <a:bodyPr wrap="square" lIns="0" tIns="0" rIns="0" bIns="0" rtlCol="0" anchor="ctr">
            <a:normAutofit/>
          </a:bodyPr>
          <a:lstStyle/>
          <a:p>
            <a:pPr>
              <a:defRPr sz="975" b="1">
                <a:solidFill>
                  <a:srgbClr val="5B666D"/>
                </a:solidFill>
                <a:latin typeface="Aptos"/>
                <a:ea typeface="Aptos"/>
                <a:cs typeface="Aptos"/>
              </a:defRPr>
            </a:pPr>
            <a:r>
              <a:rPr lang="en-US" sz="863" b="1" dirty="0">
                <a:solidFill>
                  <a:schemeClr val="tx2"/>
                </a:solidFill>
                <a:latin typeface="Aptos"/>
              </a:rPr>
              <a:t>DATENBASIS · PILLAR-3-ROHREIHE</a:t>
            </a:r>
          </a:p>
        </p:txBody>
      </p:sp>
      <p:sp>
        <p:nvSpPr>
          <p:cNvPr id="4" name="Text 2"/>
          <p:cNvSpPr/>
          <p:nvPr/>
        </p:nvSpPr>
        <p:spPr>
          <a:xfrm>
            <a:off x="502920" y="749808"/>
            <a:ext cx="10972800" cy="384048"/>
          </a:xfrm>
          <a:prstGeom prst="rect">
            <a:avLst/>
          </a:prstGeom>
          <a:noFill/>
          <a:ln/>
        </p:spPr>
        <p:txBody>
          <a:bodyPr wrap="square" lIns="0" tIns="0" rIns="0" bIns="0" rtlCol="0" anchor="ctr">
            <a:normAutofit/>
          </a:bodyPr>
          <a:lstStyle/>
          <a:p>
            <a:pPr marL="0" indent="0">
              <a:buNone/>
            </a:pPr>
            <a:r>
              <a:rPr lang="en-US" sz="2000" b="1">
                <a:solidFill>
                  <a:srgbClr val="102333"/>
                </a:solidFill>
                <a:latin typeface="Georgia" pitchFamily="34" charset="0"/>
                <a:ea typeface="Georgia" pitchFamily="34" charset="-122"/>
                <a:cs typeface="Georgia" pitchFamily="34" charset="-120"/>
              </a:rPr>
              <a:t>Die historische </a:t>
            </a:r>
            <a:r>
              <a:rPr lang="en-US" sz="2000" b="1" err="1">
                <a:solidFill>
                  <a:srgbClr val="102333"/>
                </a:solidFill>
                <a:latin typeface="Georgia" pitchFamily="34" charset="0"/>
                <a:ea typeface="Georgia" pitchFamily="34" charset="-122"/>
                <a:cs typeface="Georgia" pitchFamily="34" charset="-120"/>
              </a:rPr>
              <a:t>Datenbasis</a:t>
            </a:r>
            <a:r>
              <a:rPr lang="en-US" sz="2000" b="1">
                <a:solidFill>
                  <a:srgbClr val="102333"/>
                </a:solidFill>
                <a:latin typeface="Georgia" pitchFamily="34" charset="0"/>
                <a:ea typeface="Georgia" pitchFamily="34" charset="-122"/>
                <a:cs typeface="Georgia" pitchFamily="34" charset="-120"/>
              </a:rPr>
              <a:t> ist belastbar und offen dokumentiert</a:t>
            </a:r>
            <a:endParaRPr lang="en-US" sz="2000"/>
          </a:p>
        </p:txBody>
      </p:sp>
      <p:sp>
        <p:nvSpPr>
          <p:cNvPr id="5" name="Text 3"/>
          <p:cNvSpPr/>
          <p:nvPr/>
        </p:nvSpPr>
        <p:spPr>
          <a:xfrm>
            <a:off x="502920" y="1298448"/>
            <a:ext cx="10881360" cy="256032"/>
          </a:xfrm>
          <a:prstGeom prst="rect">
            <a:avLst/>
          </a:prstGeom>
          <a:noFill/>
          <a:ln/>
        </p:spPr>
        <p:txBody>
          <a:bodyPr wrap="square" lIns="0" tIns="0" rIns="0" bIns="0" rtlCol="0" anchor="ctr">
            <a:normAutofit/>
          </a:bodyPr>
          <a:lstStyle/>
          <a:p>
            <a:r>
              <a:rPr lang="en-US" sz="1020" i="1" err="1">
                <a:solidFill>
                  <a:srgbClr val="667085"/>
                </a:solidFill>
                <a:latin typeface="Georgia" pitchFamily="34" charset="0"/>
                <a:ea typeface="Georgia" pitchFamily="34" charset="-122"/>
                <a:cs typeface="Georgia" pitchFamily="34" charset="-120"/>
              </a:rPr>
              <a:t>Zuerst</a:t>
            </a:r>
            <a:r>
              <a:rPr lang="en-US" sz="1020" i="1">
                <a:solidFill>
                  <a:srgbClr val="667085"/>
                </a:solidFill>
                <a:latin typeface="Georgia" pitchFamily="34" charset="0"/>
                <a:ea typeface="Georgia" pitchFamily="34" charset="-122"/>
                <a:cs typeface="Georgia" pitchFamily="34" charset="-120"/>
              </a:rPr>
              <a:t> </a:t>
            </a:r>
            <a:r>
              <a:rPr lang="en-US" sz="1020" i="1" err="1">
                <a:solidFill>
                  <a:srgbClr val="667085"/>
                </a:solidFill>
                <a:latin typeface="Georgia" pitchFamily="34" charset="0"/>
                <a:ea typeface="Georgia" pitchFamily="34" charset="-122"/>
                <a:cs typeface="Georgia" pitchFamily="34" charset="-120"/>
              </a:rPr>
              <a:t>prüfen</a:t>
            </a:r>
            <a:r>
              <a:rPr lang="en-US" sz="1020" i="1">
                <a:solidFill>
                  <a:srgbClr val="667085"/>
                </a:solidFill>
                <a:latin typeface="Georgia" pitchFamily="34" charset="0"/>
                <a:ea typeface="Georgia" pitchFamily="34" charset="-122"/>
                <a:cs typeface="Georgia" pitchFamily="34" charset="-120"/>
              </a:rPr>
              <a:t> </a:t>
            </a:r>
            <a:r>
              <a:rPr lang="en-US" sz="1020" i="1" err="1">
                <a:solidFill>
                  <a:srgbClr val="667085"/>
                </a:solidFill>
                <a:latin typeface="Georgia" pitchFamily="34" charset="0"/>
                <a:ea typeface="Georgia" pitchFamily="34" charset="-122"/>
                <a:cs typeface="Georgia" pitchFamily="34" charset="-120"/>
              </a:rPr>
              <a:t>wir</a:t>
            </a:r>
            <a:r>
              <a:rPr lang="en-US" sz="1020" i="1">
                <a:solidFill>
                  <a:srgbClr val="667085"/>
                </a:solidFill>
                <a:latin typeface="Georgia" pitchFamily="34" charset="0"/>
                <a:ea typeface="Georgia" pitchFamily="34" charset="-122"/>
                <a:cs typeface="Georgia" pitchFamily="34" charset="-120"/>
              </a:rPr>
              <a:t>, </a:t>
            </a:r>
            <a:r>
              <a:rPr lang="en-US" sz="1020" i="1" err="1">
                <a:solidFill>
                  <a:srgbClr val="667085"/>
                </a:solidFill>
                <a:latin typeface="Georgia" pitchFamily="34" charset="0"/>
                <a:ea typeface="Georgia" pitchFamily="34" charset="-122"/>
                <a:cs typeface="Georgia" pitchFamily="34" charset="-120"/>
              </a:rPr>
              <a:t>ob</a:t>
            </a:r>
            <a:r>
              <a:rPr lang="en-US" sz="1020" i="1">
                <a:solidFill>
                  <a:srgbClr val="667085"/>
                </a:solidFill>
                <a:latin typeface="Georgia" pitchFamily="34" charset="0"/>
                <a:ea typeface="Georgia" pitchFamily="34" charset="-122"/>
                <a:cs typeface="Georgia" pitchFamily="34" charset="-120"/>
              </a:rPr>
              <a:t> der </a:t>
            </a:r>
            <a:r>
              <a:rPr lang="en-US" sz="1020" i="1" err="1">
                <a:solidFill>
                  <a:srgbClr val="667085"/>
                </a:solidFill>
                <a:latin typeface="Georgia" pitchFamily="34" charset="0"/>
                <a:ea typeface="Georgia" pitchFamily="34" charset="-122"/>
                <a:cs typeface="Georgia" pitchFamily="34" charset="-120"/>
              </a:rPr>
              <a:t>Backtest</a:t>
            </a:r>
            <a:r>
              <a:rPr lang="en-US" sz="1020" i="1">
                <a:solidFill>
                  <a:srgbClr val="667085"/>
                </a:solidFill>
                <a:latin typeface="Georgia" pitchFamily="34" charset="0"/>
                <a:ea typeface="Georgia" pitchFamily="34" charset="-122"/>
                <a:cs typeface="Georgia" pitchFamily="34" charset="-120"/>
              </a:rPr>
              <a:t> auf </a:t>
            </a:r>
            <a:r>
              <a:rPr lang="en-US" sz="1020" i="1" err="1">
                <a:solidFill>
                  <a:srgbClr val="667085"/>
                </a:solidFill>
                <a:latin typeface="Georgia" pitchFamily="34" charset="0"/>
                <a:ea typeface="Georgia" pitchFamily="34" charset="-122"/>
                <a:cs typeface="Georgia" pitchFamily="34" charset="-120"/>
              </a:rPr>
              <a:t>einer</a:t>
            </a:r>
            <a:r>
              <a:rPr lang="en-US" sz="1020" i="1">
                <a:solidFill>
                  <a:srgbClr val="667085"/>
                </a:solidFill>
                <a:latin typeface="Georgia" pitchFamily="34" charset="0"/>
                <a:ea typeface="Georgia" pitchFamily="34" charset="-122"/>
                <a:cs typeface="Georgia" pitchFamily="34" charset="-120"/>
              </a:rPr>
              <a:t> </a:t>
            </a:r>
            <a:r>
              <a:rPr lang="en-US" sz="1020" i="1" err="1">
                <a:solidFill>
                  <a:srgbClr val="667085"/>
                </a:solidFill>
                <a:latin typeface="Georgia" pitchFamily="34" charset="0"/>
                <a:ea typeface="Georgia" pitchFamily="34" charset="-122"/>
                <a:cs typeface="Georgia" pitchFamily="34" charset="-120"/>
              </a:rPr>
              <a:t>sauberen</a:t>
            </a:r>
            <a:r>
              <a:rPr lang="en-US" sz="1020" i="1">
                <a:solidFill>
                  <a:srgbClr val="667085"/>
                </a:solidFill>
                <a:latin typeface="Georgia" pitchFamily="34" charset="0"/>
                <a:ea typeface="Georgia" pitchFamily="34" charset="-122"/>
                <a:cs typeface="Georgia" pitchFamily="34" charset="-120"/>
              </a:rPr>
              <a:t> </a:t>
            </a:r>
            <a:r>
              <a:rPr lang="en-US" sz="1020" i="1" err="1">
                <a:solidFill>
                  <a:srgbClr val="667085"/>
                </a:solidFill>
                <a:latin typeface="Georgia" pitchFamily="34" charset="0"/>
                <a:ea typeface="Georgia" pitchFamily="34" charset="-122"/>
                <a:cs typeface="Georgia" pitchFamily="34" charset="-120"/>
              </a:rPr>
              <a:t>Datenbasis</a:t>
            </a:r>
            <a:r>
              <a:rPr lang="en-US" sz="1020" i="1">
                <a:solidFill>
                  <a:srgbClr val="667085"/>
                </a:solidFill>
                <a:latin typeface="Georgia" pitchFamily="34" charset="0"/>
                <a:ea typeface="Georgia" pitchFamily="34" charset="-122"/>
                <a:cs typeface="Georgia" pitchFamily="34" charset="-120"/>
              </a:rPr>
              <a:t> </a:t>
            </a:r>
            <a:r>
              <a:rPr lang="en-US" sz="1020" i="1" err="1">
                <a:solidFill>
                  <a:srgbClr val="667085"/>
                </a:solidFill>
                <a:latin typeface="Georgia" pitchFamily="34" charset="0"/>
                <a:ea typeface="Georgia" pitchFamily="34" charset="-122"/>
                <a:cs typeface="Georgia" pitchFamily="34" charset="-120"/>
              </a:rPr>
              <a:t>steht</a:t>
            </a:r>
            <a:r>
              <a:rPr lang="en-US" sz="1020" i="1">
                <a:solidFill>
                  <a:srgbClr val="667085"/>
                </a:solidFill>
                <a:latin typeface="Georgia" pitchFamily="34" charset="0"/>
                <a:ea typeface="Georgia" pitchFamily="34" charset="-122"/>
                <a:cs typeface="Georgia" pitchFamily="34" charset="-120"/>
              </a:rPr>
              <a:t>.</a:t>
            </a:r>
            <a:endParaRPr lang="en-US" sz="1020"/>
          </a:p>
        </p:txBody>
      </p:sp>
      <p:sp>
        <p:nvSpPr>
          <p:cNvPr id="6" name="Text 4"/>
          <p:cNvSpPr/>
          <p:nvPr/>
        </p:nvSpPr>
        <p:spPr>
          <a:xfrm>
            <a:off x="502920" y="6528816"/>
            <a:ext cx="6492240" cy="164592"/>
          </a:xfrm>
          <a:prstGeom prst="rect">
            <a:avLst/>
          </a:prstGeom>
          <a:noFill/>
          <a:ln/>
        </p:spPr>
        <p:txBody>
          <a:bodyPr wrap="square" lIns="0" tIns="0" rIns="0" bIns="0" rtlCol="0" anchor="ctr"/>
          <a:lstStyle/>
          <a:p>
            <a:pPr marL="0" indent="0">
              <a:buNone/>
            </a:pPr>
            <a:r>
              <a:rPr lang="en-US" sz="750">
                <a:solidFill>
                  <a:srgbClr val="667085"/>
                </a:solidFill>
                <a:latin typeface="Aptos" pitchFamily="34" charset="0"/>
                <a:ea typeface="Aptos" pitchFamily="34" charset="-122"/>
                <a:cs typeface="Aptos" pitchFamily="34" charset="-120"/>
              </a:rPr>
              <a:t>EU Banking Credit Stress Cockpit · Studienprojekt 2026</a:t>
            </a:r>
            <a:endParaRPr lang="en-US" sz="750"/>
          </a:p>
        </p:txBody>
      </p:sp>
      <p:sp>
        <p:nvSpPr>
          <p:cNvPr id="8" name="Shape 6"/>
          <p:cNvSpPr/>
          <p:nvPr/>
        </p:nvSpPr>
        <p:spPr>
          <a:xfrm>
            <a:off x="603504" y="1600200"/>
            <a:ext cx="0" cy="777240"/>
          </a:xfrm>
          <a:prstGeom prst="line">
            <a:avLst/>
          </a:prstGeom>
          <a:noFill/>
          <a:ln w="16510">
            <a:solidFill>
              <a:srgbClr val="4656D8"/>
            </a:solidFill>
            <a:prstDash val="solid"/>
          </a:ln>
        </p:spPr>
        <p:txBody>
          <a:bodyPr/>
          <a:lstStyle/>
          <a:p>
            <a:endParaRPr lang="de-DE"/>
          </a:p>
        </p:txBody>
      </p:sp>
      <p:sp>
        <p:nvSpPr>
          <p:cNvPr id="9" name="Text 7"/>
          <p:cNvSpPr/>
          <p:nvPr/>
        </p:nvSpPr>
        <p:spPr>
          <a:xfrm>
            <a:off x="713232" y="1627632"/>
            <a:ext cx="1892808" cy="146304"/>
          </a:xfrm>
          <a:prstGeom prst="rect">
            <a:avLst/>
          </a:prstGeom>
          <a:noFill/>
          <a:ln/>
        </p:spPr>
        <p:txBody>
          <a:bodyPr wrap="square" lIns="0" tIns="0" rIns="0" bIns="0" rtlCol="0" anchor="ctr">
            <a:normAutofit lnSpcReduction="10000"/>
          </a:bodyPr>
          <a:lstStyle/>
          <a:p>
            <a:pPr marL="0" indent="0">
              <a:buNone/>
            </a:pPr>
            <a:r>
              <a:rPr lang="en-US" sz="1000" b="1">
                <a:solidFill>
                  <a:srgbClr val="667085"/>
                </a:solidFill>
                <a:latin typeface="Aptos" pitchFamily="34" charset="0"/>
                <a:ea typeface="Aptos" pitchFamily="34" charset="-122"/>
                <a:cs typeface="Aptos" pitchFamily="34" charset="-120"/>
              </a:rPr>
              <a:t>BANKEN</a:t>
            </a:r>
            <a:endParaRPr lang="en-US" sz="660"/>
          </a:p>
        </p:txBody>
      </p:sp>
      <p:sp>
        <p:nvSpPr>
          <p:cNvPr id="10" name="Text 8"/>
          <p:cNvSpPr/>
          <p:nvPr/>
        </p:nvSpPr>
        <p:spPr>
          <a:xfrm>
            <a:off x="713232" y="1837944"/>
            <a:ext cx="1892808" cy="320040"/>
          </a:xfrm>
          <a:prstGeom prst="rect">
            <a:avLst/>
          </a:prstGeom>
          <a:noFill/>
          <a:ln/>
        </p:spPr>
        <p:txBody>
          <a:bodyPr wrap="square" lIns="0" tIns="0" rIns="0" bIns="0" rtlCol="0" anchor="ctr">
            <a:normAutofit/>
          </a:bodyPr>
          <a:lstStyle/>
          <a:p>
            <a:pPr marL="0" indent="0">
              <a:buNone/>
            </a:pPr>
            <a:r>
              <a:rPr lang="en-US" sz="1550" b="1">
                <a:solidFill>
                  <a:srgbClr val="102333"/>
                </a:solidFill>
                <a:latin typeface="Georgia" pitchFamily="34" charset="0"/>
                <a:ea typeface="Georgia" pitchFamily="34" charset="-122"/>
                <a:cs typeface="Georgia" pitchFamily="34" charset="-120"/>
              </a:rPr>
              <a:t>10</a:t>
            </a:r>
            <a:endParaRPr lang="en-US" sz="1550"/>
          </a:p>
        </p:txBody>
      </p:sp>
      <p:sp>
        <p:nvSpPr>
          <p:cNvPr id="11" name="Text 9"/>
          <p:cNvSpPr/>
          <p:nvPr/>
        </p:nvSpPr>
        <p:spPr>
          <a:xfrm>
            <a:off x="713232" y="2221992"/>
            <a:ext cx="1892808" cy="201168"/>
          </a:xfrm>
          <a:prstGeom prst="rect">
            <a:avLst/>
          </a:prstGeom>
          <a:noFill/>
          <a:ln/>
        </p:spPr>
        <p:txBody>
          <a:bodyPr wrap="square" lIns="0" tIns="0" rIns="0" bIns="0" rtlCol="0" anchor="ctr">
            <a:normAutofit/>
          </a:bodyPr>
          <a:lstStyle/>
          <a:p>
            <a:pPr marL="0" indent="0">
              <a:buNone/>
            </a:pPr>
            <a:r>
              <a:rPr lang="en-US" sz="1000">
                <a:solidFill>
                  <a:srgbClr val="667085"/>
                </a:solidFill>
                <a:latin typeface="Aptos" pitchFamily="34" charset="0"/>
                <a:ea typeface="Aptos" pitchFamily="34" charset="-122"/>
                <a:cs typeface="Aptos" pitchFamily="34" charset="-120"/>
              </a:rPr>
              <a:t>EU-IRB-Großbanken</a:t>
            </a:r>
            <a:endParaRPr lang="en-US" sz="1000"/>
          </a:p>
        </p:txBody>
      </p:sp>
      <p:sp>
        <p:nvSpPr>
          <p:cNvPr id="12" name="Shape 10"/>
          <p:cNvSpPr/>
          <p:nvPr/>
        </p:nvSpPr>
        <p:spPr>
          <a:xfrm>
            <a:off x="2843784" y="1600200"/>
            <a:ext cx="0" cy="777240"/>
          </a:xfrm>
          <a:prstGeom prst="line">
            <a:avLst/>
          </a:prstGeom>
          <a:noFill/>
          <a:ln w="16510">
            <a:solidFill>
              <a:srgbClr val="B24462"/>
            </a:solidFill>
            <a:prstDash val="solid"/>
          </a:ln>
        </p:spPr>
        <p:txBody>
          <a:bodyPr/>
          <a:lstStyle/>
          <a:p>
            <a:endParaRPr lang="de-DE"/>
          </a:p>
        </p:txBody>
      </p:sp>
      <p:sp>
        <p:nvSpPr>
          <p:cNvPr id="13" name="Text 11"/>
          <p:cNvSpPr/>
          <p:nvPr/>
        </p:nvSpPr>
        <p:spPr>
          <a:xfrm>
            <a:off x="2953512" y="1627632"/>
            <a:ext cx="1892808" cy="146304"/>
          </a:xfrm>
          <a:prstGeom prst="rect">
            <a:avLst/>
          </a:prstGeom>
          <a:noFill/>
          <a:ln/>
        </p:spPr>
        <p:txBody>
          <a:bodyPr wrap="square" lIns="0" tIns="0" rIns="0" bIns="0" rtlCol="0" anchor="ctr">
            <a:noAutofit/>
          </a:bodyPr>
          <a:lstStyle/>
          <a:p>
            <a:pPr marL="0" indent="0">
              <a:buNone/>
            </a:pPr>
            <a:r>
              <a:rPr lang="en-US" sz="1000" b="1">
                <a:solidFill>
                  <a:srgbClr val="667085"/>
                </a:solidFill>
                <a:latin typeface="Aptos" pitchFamily="34" charset="0"/>
                <a:ea typeface="Aptos" pitchFamily="34" charset="-122"/>
                <a:cs typeface="Aptos" pitchFamily="34" charset="-120"/>
              </a:rPr>
              <a:t>PILLAR-3-JAHRGÄNGE</a:t>
            </a:r>
            <a:endParaRPr lang="en-US" sz="1000"/>
          </a:p>
        </p:txBody>
      </p:sp>
      <p:sp>
        <p:nvSpPr>
          <p:cNvPr id="14" name="Text 12"/>
          <p:cNvSpPr/>
          <p:nvPr/>
        </p:nvSpPr>
        <p:spPr>
          <a:xfrm>
            <a:off x="2953512" y="1837944"/>
            <a:ext cx="1892808" cy="320040"/>
          </a:xfrm>
          <a:prstGeom prst="rect">
            <a:avLst/>
          </a:prstGeom>
          <a:noFill/>
          <a:ln/>
        </p:spPr>
        <p:txBody>
          <a:bodyPr wrap="square" lIns="0" tIns="0" rIns="0" bIns="0" rtlCol="0" anchor="ctr">
            <a:normAutofit/>
          </a:bodyPr>
          <a:lstStyle/>
          <a:p>
            <a:pPr marL="0" indent="0">
              <a:buNone/>
            </a:pPr>
            <a:r>
              <a:rPr lang="en-US" sz="1550" b="1">
                <a:solidFill>
                  <a:srgbClr val="102333"/>
                </a:solidFill>
                <a:latin typeface="Georgia" pitchFamily="34" charset="0"/>
                <a:ea typeface="Georgia" pitchFamily="34" charset="-122"/>
                <a:cs typeface="Georgia" pitchFamily="34" charset="-120"/>
              </a:rPr>
              <a:t>4</a:t>
            </a:r>
            <a:endParaRPr lang="en-US" sz="1550"/>
          </a:p>
        </p:txBody>
      </p:sp>
      <p:sp>
        <p:nvSpPr>
          <p:cNvPr id="15" name="Text 13"/>
          <p:cNvSpPr/>
          <p:nvPr/>
        </p:nvSpPr>
        <p:spPr>
          <a:xfrm>
            <a:off x="2953512" y="2221992"/>
            <a:ext cx="1892808" cy="201168"/>
          </a:xfrm>
          <a:prstGeom prst="rect">
            <a:avLst/>
          </a:prstGeom>
          <a:noFill/>
          <a:ln/>
        </p:spPr>
        <p:txBody>
          <a:bodyPr wrap="square" lIns="0" tIns="0" rIns="0" bIns="0" rtlCol="0" anchor="ctr">
            <a:normAutofit/>
          </a:bodyPr>
          <a:lstStyle/>
          <a:p>
            <a:pPr marL="0" indent="0">
              <a:buNone/>
            </a:pPr>
            <a:r>
              <a:rPr lang="en-US" sz="1000">
                <a:solidFill>
                  <a:srgbClr val="667085"/>
                </a:solidFill>
                <a:latin typeface="Aptos" pitchFamily="34" charset="0"/>
                <a:ea typeface="Aptos" pitchFamily="34" charset="-122"/>
                <a:cs typeface="Aptos" pitchFamily="34" charset="-120"/>
              </a:rPr>
              <a:t>2021–2024</a:t>
            </a:r>
            <a:endParaRPr lang="en-US" sz="1000"/>
          </a:p>
        </p:txBody>
      </p:sp>
      <p:sp>
        <p:nvSpPr>
          <p:cNvPr id="16" name="Shape 14"/>
          <p:cNvSpPr/>
          <p:nvPr/>
        </p:nvSpPr>
        <p:spPr>
          <a:xfrm>
            <a:off x="5084064" y="1600200"/>
            <a:ext cx="0" cy="777240"/>
          </a:xfrm>
          <a:prstGeom prst="line">
            <a:avLst/>
          </a:prstGeom>
          <a:noFill/>
          <a:ln w="16510">
            <a:solidFill>
              <a:srgbClr val="C79A1E"/>
            </a:solidFill>
            <a:prstDash val="solid"/>
          </a:ln>
        </p:spPr>
        <p:txBody>
          <a:bodyPr/>
          <a:lstStyle/>
          <a:p>
            <a:endParaRPr lang="de-DE"/>
          </a:p>
        </p:txBody>
      </p:sp>
      <p:sp>
        <p:nvSpPr>
          <p:cNvPr id="17" name="Text 15"/>
          <p:cNvSpPr/>
          <p:nvPr/>
        </p:nvSpPr>
        <p:spPr>
          <a:xfrm>
            <a:off x="5193792" y="1627632"/>
            <a:ext cx="1892808" cy="146304"/>
          </a:xfrm>
          <a:prstGeom prst="rect">
            <a:avLst/>
          </a:prstGeom>
          <a:noFill/>
          <a:ln/>
        </p:spPr>
        <p:txBody>
          <a:bodyPr wrap="square" lIns="0" tIns="0" rIns="0" bIns="0" rtlCol="0" anchor="ctr">
            <a:noAutofit/>
          </a:bodyPr>
          <a:lstStyle/>
          <a:p>
            <a:pPr marL="0" indent="0">
              <a:buNone/>
            </a:pPr>
            <a:r>
              <a:rPr lang="en-US" sz="1000" b="1">
                <a:solidFill>
                  <a:srgbClr val="667085"/>
                </a:solidFill>
                <a:latin typeface="Aptos" pitchFamily="34" charset="0"/>
                <a:ea typeface="Aptos" pitchFamily="34" charset="-122"/>
                <a:cs typeface="Aptos" pitchFamily="34" charset="-120"/>
              </a:rPr>
              <a:t>PD/LGD/EAD-PUNKTE</a:t>
            </a:r>
            <a:endParaRPr lang="en-US" sz="1000"/>
          </a:p>
        </p:txBody>
      </p:sp>
      <p:sp>
        <p:nvSpPr>
          <p:cNvPr id="18" name="Text 16"/>
          <p:cNvSpPr/>
          <p:nvPr/>
        </p:nvSpPr>
        <p:spPr>
          <a:xfrm>
            <a:off x="5193792" y="1837944"/>
            <a:ext cx="1892808" cy="320040"/>
          </a:xfrm>
          <a:prstGeom prst="rect">
            <a:avLst/>
          </a:prstGeom>
          <a:noFill/>
          <a:ln/>
        </p:spPr>
        <p:txBody>
          <a:bodyPr wrap="square" lIns="0" tIns="0" rIns="0" bIns="0" rtlCol="0" anchor="ctr">
            <a:normAutofit/>
          </a:bodyPr>
          <a:lstStyle/>
          <a:p>
            <a:pPr marL="0" indent="0">
              <a:buNone/>
            </a:pPr>
            <a:r>
              <a:rPr lang="en-US" sz="1550" b="1">
                <a:solidFill>
                  <a:srgbClr val="102333"/>
                </a:solidFill>
                <a:latin typeface="Georgia"/>
              </a:rPr>
              <a:t>255</a:t>
            </a:r>
            <a:endParaRPr lang="en-US" sz="1550"/>
          </a:p>
        </p:txBody>
      </p:sp>
      <p:sp>
        <p:nvSpPr>
          <p:cNvPr id="19" name="Text 17"/>
          <p:cNvSpPr/>
          <p:nvPr/>
        </p:nvSpPr>
        <p:spPr>
          <a:xfrm>
            <a:off x="5193792" y="2221992"/>
            <a:ext cx="1892808" cy="201168"/>
          </a:xfrm>
          <a:prstGeom prst="rect">
            <a:avLst/>
          </a:prstGeom>
          <a:noFill/>
          <a:ln/>
        </p:spPr>
        <p:txBody>
          <a:bodyPr wrap="square" lIns="0" tIns="0" rIns="0" bIns="0" rtlCol="0" anchor="ctr">
            <a:normAutofit/>
          </a:bodyPr>
          <a:lstStyle/>
          <a:p>
            <a:pPr marL="0" indent="0">
              <a:buNone/>
            </a:pPr>
            <a:r>
              <a:rPr lang="en-US" sz="1000">
                <a:solidFill>
                  <a:srgbClr val="667085"/>
                </a:solidFill>
                <a:latin typeface="Aptos" pitchFamily="34" charset="0"/>
                <a:ea typeface="Aptos" pitchFamily="34" charset="-122"/>
                <a:cs typeface="Aptos" pitchFamily="34" charset="-120"/>
              </a:rPr>
              <a:t>EU-CR6-A-IRB-Subtotals</a:t>
            </a:r>
            <a:endParaRPr lang="en-US" sz="1000"/>
          </a:p>
        </p:txBody>
      </p:sp>
      <p:sp>
        <p:nvSpPr>
          <p:cNvPr id="20" name="Shape 18"/>
          <p:cNvSpPr/>
          <p:nvPr/>
        </p:nvSpPr>
        <p:spPr>
          <a:xfrm>
            <a:off x="7324344" y="1600200"/>
            <a:ext cx="0" cy="777240"/>
          </a:xfrm>
          <a:prstGeom prst="line">
            <a:avLst/>
          </a:prstGeom>
          <a:noFill/>
          <a:ln w="16510">
            <a:solidFill>
              <a:srgbClr val="168A8C"/>
            </a:solidFill>
            <a:prstDash val="solid"/>
          </a:ln>
        </p:spPr>
        <p:txBody>
          <a:bodyPr/>
          <a:lstStyle/>
          <a:p>
            <a:endParaRPr lang="de-DE"/>
          </a:p>
        </p:txBody>
      </p:sp>
      <p:sp>
        <p:nvSpPr>
          <p:cNvPr id="21" name="Text 19"/>
          <p:cNvSpPr/>
          <p:nvPr/>
        </p:nvSpPr>
        <p:spPr>
          <a:xfrm>
            <a:off x="7434072" y="1627632"/>
            <a:ext cx="1892808" cy="146304"/>
          </a:xfrm>
          <a:prstGeom prst="rect">
            <a:avLst/>
          </a:prstGeom>
          <a:noFill/>
          <a:ln/>
        </p:spPr>
        <p:txBody>
          <a:bodyPr wrap="square" lIns="0" tIns="0" rIns="0" bIns="0" rtlCol="0" anchor="ctr">
            <a:noAutofit/>
          </a:bodyPr>
          <a:lstStyle/>
          <a:p>
            <a:pPr marL="0" indent="0">
              <a:buNone/>
            </a:pPr>
            <a:r>
              <a:rPr lang="en-US" sz="1000" b="1">
                <a:solidFill>
                  <a:srgbClr val="667085"/>
                </a:solidFill>
                <a:latin typeface="Aptos" pitchFamily="34" charset="0"/>
                <a:ea typeface="Aptos" pitchFamily="34" charset="-122"/>
                <a:cs typeface="Aptos" pitchFamily="34" charset="-120"/>
              </a:rPr>
              <a:t>BANK-QUARTAL-PAARE</a:t>
            </a:r>
            <a:endParaRPr lang="en-US" sz="1000"/>
          </a:p>
        </p:txBody>
      </p:sp>
      <p:sp>
        <p:nvSpPr>
          <p:cNvPr id="22" name="Text 20"/>
          <p:cNvSpPr/>
          <p:nvPr/>
        </p:nvSpPr>
        <p:spPr>
          <a:xfrm>
            <a:off x="7434072" y="1837944"/>
            <a:ext cx="1892808" cy="320040"/>
          </a:xfrm>
          <a:prstGeom prst="rect">
            <a:avLst/>
          </a:prstGeom>
          <a:noFill/>
          <a:ln/>
        </p:spPr>
        <p:txBody>
          <a:bodyPr wrap="square" lIns="0" tIns="0" rIns="0" bIns="0" rtlCol="0" anchor="ctr">
            <a:normAutofit/>
          </a:bodyPr>
          <a:lstStyle/>
          <a:p>
            <a:pPr marL="0" indent="0">
              <a:buNone/>
            </a:pPr>
            <a:r>
              <a:rPr lang="en-US" sz="1550" b="1">
                <a:solidFill>
                  <a:srgbClr val="102333"/>
                </a:solidFill>
                <a:latin typeface="Georgia"/>
              </a:rPr>
              <a:t>125</a:t>
            </a:r>
            <a:endParaRPr lang="en-US" sz="1550"/>
          </a:p>
        </p:txBody>
      </p:sp>
      <p:sp>
        <p:nvSpPr>
          <p:cNvPr id="23" name="Text 21"/>
          <p:cNvSpPr/>
          <p:nvPr/>
        </p:nvSpPr>
        <p:spPr>
          <a:xfrm>
            <a:off x="7434072" y="2221992"/>
            <a:ext cx="1892808" cy="201168"/>
          </a:xfrm>
          <a:prstGeom prst="rect">
            <a:avLst/>
          </a:prstGeom>
          <a:noFill/>
          <a:ln/>
        </p:spPr>
        <p:txBody>
          <a:bodyPr wrap="square" lIns="0" tIns="0" rIns="0" bIns="0" rtlCol="0" anchor="ctr">
            <a:normAutofit/>
          </a:bodyPr>
          <a:lstStyle/>
          <a:p>
            <a:pPr marL="0" indent="0">
              <a:buNone/>
            </a:pPr>
            <a:r>
              <a:rPr lang="en-US" sz="1000">
                <a:solidFill>
                  <a:srgbClr val="667085"/>
                </a:solidFill>
                <a:latin typeface="Aptos" pitchFamily="34" charset="0"/>
                <a:ea typeface="Aptos" pitchFamily="34" charset="-122"/>
                <a:cs typeface="Aptos" pitchFamily="34" charset="-120"/>
              </a:rPr>
              <a:t>10 Banken backgetestet</a:t>
            </a:r>
            <a:endParaRPr lang="en-US" sz="1000"/>
          </a:p>
        </p:txBody>
      </p:sp>
      <p:sp>
        <p:nvSpPr>
          <p:cNvPr id="24" name="Shape 22"/>
          <p:cNvSpPr/>
          <p:nvPr/>
        </p:nvSpPr>
        <p:spPr>
          <a:xfrm>
            <a:off x="9564624" y="1600200"/>
            <a:ext cx="0" cy="777240"/>
          </a:xfrm>
          <a:prstGeom prst="line">
            <a:avLst/>
          </a:prstGeom>
          <a:noFill/>
          <a:ln w="16510">
            <a:solidFill>
              <a:srgbClr val="4656D8"/>
            </a:solidFill>
            <a:prstDash val="solid"/>
          </a:ln>
        </p:spPr>
        <p:txBody>
          <a:bodyPr/>
          <a:lstStyle/>
          <a:p>
            <a:endParaRPr lang="de-DE"/>
          </a:p>
        </p:txBody>
      </p:sp>
      <p:sp>
        <p:nvSpPr>
          <p:cNvPr id="25" name="Text 23"/>
          <p:cNvSpPr/>
          <p:nvPr/>
        </p:nvSpPr>
        <p:spPr>
          <a:xfrm>
            <a:off x="9674352" y="1627632"/>
            <a:ext cx="1892808" cy="146304"/>
          </a:xfrm>
          <a:prstGeom prst="rect">
            <a:avLst/>
          </a:prstGeom>
          <a:noFill/>
          <a:ln/>
        </p:spPr>
        <p:txBody>
          <a:bodyPr wrap="square" lIns="0" tIns="0" rIns="0" bIns="0" rtlCol="0" anchor="ctr">
            <a:noAutofit/>
          </a:bodyPr>
          <a:lstStyle/>
          <a:p>
            <a:pPr marL="0" indent="0">
              <a:buNone/>
            </a:pPr>
            <a:r>
              <a:rPr lang="en-US" sz="1000" b="1">
                <a:solidFill>
                  <a:srgbClr val="667085"/>
                </a:solidFill>
                <a:latin typeface="Aptos" pitchFamily="34" charset="0"/>
                <a:ea typeface="Aptos" pitchFamily="34" charset="-122"/>
                <a:cs typeface="Aptos" pitchFamily="34" charset="-120"/>
              </a:rPr>
              <a:t>TESTFENSTER</a:t>
            </a:r>
            <a:endParaRPr lang="en-US" sz="1000"/>
          </a:p>
        </p:txBody>
      </p:sp>
      <p:sp>
        <p:nvSpPr>
          <p:cNvPr id="26" name="Text 24"/>
          <p:cNvSpPr/>
          <p:nvPr/>
        </p:nvSpPr>
        <p:spPr>
          <a:xfrm>
            <a:off x="9674352" y="1837944"/>
            <a:ext cx="1892808" cy="320040"/>
          </a:xfrm>
          <a:prstGeom prst="rect">
            <a:avLst/>
          </a:prstGeom>
          <a:noFill/>
          <a:ln/>
        </p:spPr>
        <p:txBody>
          <a:bodyPr wrap="square" lIns="0" tIns="0" rIns="0" bIns="0" rtlCol="0" anchor="ctr">
            <a:normAutofit/>
          </a:bodyPr>
          <a:lstStyle/>
          <a:p>
            <a:pPr marL="0" indent="0">
              <a:buNone/>
            </a:pPr>
            <a:r>
              <a:rPr lang="en-US" sz="1550" b="1">
                <a:solidFill>
                  <a:srgbClr val="102333"/>
                </a:solidFill>
                <a:latin typeface="Georgia" pitchFamily="34" charset="0"/>
                <a:ea typeface="Georgia" pitchFamily="34" charset="-122"/>
                <a:cs typeface="Georgia" pitchFamily="34" charset="-120"/>
              </a:rPr>
              <a:t>Q2 2022 - …</a:t>
            </a:r>
            <a:endParaRPr lang="en-US" sz="1550"/>
          </a:p>
        </p:txBody>
      </p:sp>
      <p:sp>
        <p:nvSpPr>
          <p:cNvPr id="27" name="Text 25"/>
          <p:cNvSpPr/>
          <p:nvPr/>
        </p:nvSpPr>
        <p:spPr>
          <a:xfrm>
            <a:off x="9674352" y="2221992"/>
            <a:ext cx="1892808" cy="201168"/>
          </a:xfrm>
          <a:prstGeom prst="rect">
            <a:avLst/>
          </a:prstGeom>
          <a:noFill/>
          <a:ln/>
        </p:spPr>
        <p:txBody>
          <a:bodyPr wrap="square" lIns="0" tIns="0" rIns="0" bIns="0" rtlCol="0" anchor="ctr">
            <a:normAutofit/>
          </a:bodyPr>
          <a:lstStyle/>
          <a:p>
            <a:pPr marL="0" indent="0">
              <a:buNone/>
            </a:pPr>
            <a:r>
              <a:rPr lang="en-US" sz="1000">
                <a:solidFill>
                  <a:srgbClr val="667085"/>
                </a:solidFill>
                <a:latin typeface="Aptos" pitchFamily="34" charset="0"/>
                <a:ea typeface="Aptos" pitchFamily="34" charset="-122"/>
                <a:cs typeface="Aptos" pitchFamily="34" charset="-120"/>
              </a:rPr>
              <a:t>Walk-Forward</a:t>
            </a:r>
            <a:endParaRPr lang="en-US" sz="1000"/>
          </a:p>
        </p:txBody>
      </p:sp>
      <p:sp>
        <p:nvSpPr>
          <p:cNvPr id="29" name="Shape 26"/>
          <p:cNvSpPr/>
          <p:nvPr/>
        </p:nvSpPr>
        <p:spPr>
          <a:xfrm>
            <a:off x="777240" y="5413248"/>
            <a:ext cx="10561320" cy="594360"/>
          </a:xfrm>
          <a:prstGeom prst="roundRect">
            <a:avLst>
              <a:gd name="adj" fmla="val 6154"/>
            </a:avLst>
          </a:prstGeom>
          <a:solidFill>
            <a:srgbClr val="FFFFFF">
              <a:alpha val="0"/>
            </a:srgbClr>
          </a:solidFill>
          <a:ln w="8890">
            <a:solidFill>
              <a:srgbClr val="D9DEE7"/>
            </a:solidFill>
            <a:prstDash val="solid"/>
          </a:ln>
        </p:spPr>
        <p:txBody>
          <a:bodyPr/>
          <a:lstStyle/>
          <a:p>
            <a:endParaRPr lang="de-DE"/>
          </a:p>
        </p:txBody>
      </p:sp>
      <p:sp>
        <p:nvSpPr>
          <p:cNvPr id="30" name="Shape 27"/>
          <p:cNvSpPr/>
          <p:nvPr/>
        </p:nvSpPr>
        <p:spPr>
          <a:xfrm>
            <a:off x="786384" y="5486400"/>
            <a:ext cx="0" cy="448056"/>
          </a:xfrm>
          <a:prstGeom prst="line">
            <a:avLst/>
          </a:prstGeom>
          <a:noFill/>
          <a:ln w="14605">
            <a:solidFill>
              <a:srgbClr val="4656D8"/>
            </a:solidFill>
            <a:prstDash val="solid"/>
          </a:ln>
        </p:spPr>
        <p:txBody>
          <a:bodyPr/>
          <a:lstStyle/>
          <a:p>
            <a:endParaRPr lang="de-DE"/>
          </a:p>
        </p:txBody>
      </p:sp>
      <p:sp>
        <p:nvSpPr>
          <p:cNvPr id="31" name="Text 28"/>
          <p:cNvSpPr/>
          <p:nvPr/>
        </p:nvSpPr>
        <p:spPr>
          <a:xfrm>
            <a:off x="905256" y="5495544"/>
            <a:ext cx="10360152" cy="484632"/>
          </a:xfrm>
          <a:prstGeom prst="rect">
            <a:avLst/>
          </a:prstGeom>
          <a:noFill/>
          <a:ln/>
        </p:spPr>
        <p:txBody>
          <a:bodyPr wrap="square" lIns="0" tIns="0" rIns="0" bIns="0" rtlCol="0" anchor="t">
            <a:normAutofit/>
          </a:bodyPr>
          <a:lstStyle/>
          <a:p>
            <a:pPr marL="0" indent="0">
              <a:buNone/>
            </a:pPr>
            <a:r>
              <a:rPr lang="en-US" sz="1200" b="1">
                <a:solidFill>
                  <a:srgbClr val="102333"/>
                </a:solidFill>
                <a:latin typeface="Aptos" pitchFamily="34" charset="0"/>
                <a:ea typeface="Aptos" pitchFamily="34" charset="-122"/>
                <a:cs typeface="Aptos" pitchFamily="34" charset="-120"/>
              </a:rPr>
              <a:t>Aussage
</a:t>
            </a:r>
            <a:r>
              <a:rPr lang="en-US" sz="1200">
                <a:solidFill>
                  <a:srgbClr val="667085"/>
                </a:solidFill>
                <a:latin typeface="Aptos" pitchFamily="34" charset="0"/>
                <a:ea typeface="Aptos" pitchFamily="34" charset="-122"/>
                <a:cs typeface="Aptos" pitchFamily="34" charset="-120"/>
              </a:rPr>
              <a:t>Dunkelblau bedeutet vollständige Abdeckung. Wenige helle Zellen bleiben bewusst offen dokumentiert, statt mit erfundenen Werten gefüllt zu werden.</a:t>
            </a:r>
            <a:endParaRPr lang="en-US" sz="1200"/>
          </a:p>
        </p:txBody>
      </p:sp>
      <p:sp>
        <p:nvSpPr>
          <p:cNvPr id="32" name="Shape 29"/>
          <p:cNvSpPr/>
          <p:nvPr/>
        </p:nvSpPr>
        <p:spPr>
          <a:xfrm>
            <a:off x="502920" y="6089904"/>
            <a:ext cx="11155680" cy="0"/>
          </a:xfrm>
          <a:prstGeom prst="line">
            <a:avLst/>
          </a:prstGeom>
          <a:noFill/>
          <a:ln w="10160">
            <a:solidFill>
              <a:srgbClr val="D9DEE7"/>
            </a:solidFill>
            <a:prstDash val="solid"/>
          </a:ln>
        </p:spPr>
        <p:txBody>
          <a:bodyPr/>
          <a:lstStyle/>
          <a:p>
            <a:endParaRPr lang="de-DE"/>
          </a:p>
        </p:txBody>
      </p:sp>
      <p:sp>
        <p:nvSpPr>
          <p:cNvPr id="33" name="Text 30"/>
          <p:cNvSpPr/>
          <p:nvPr/>
        </p:nvSpPr>
        <p:spPr>
          <a:xfrm>
            <a:off x="502920" y="6144768"/>
            <a:ext cx="10972800" cy="201168"/>
          </a:xfrm>
          <a:prstGeom prst="rect">
            <a:avLst/>
          </a:prstGeom>
          <a:noFill/>
          <a:ln/>
        </p:spPr>
        <p:txBody>
          <a:bodyPr wrap="square" lIns="0" tIns="0" rIns="0" bIns="0" rtlCol="0" anchor="ctr">
            <a:normAutofit/>
          </a:bodyPr>
          <a:lstStyle/>
          <a:p>
            <a:pPr marL="0" indent="0">
              <a:buNone/>
            </a:pPr>
            <a:r>
              <a:rPr lang="en-US" sz="1000" b="1">
                <a:solidFill>
                  <a:srgbClr val="667085"/>
                </a:solidFill>
                <a:latin typeface="Aptos" pitchFamily="34" charset="0"/>
                <a:ea typeface="Aptos" pitchFamily="34" charset="-122"/>
                <a:cs typeface="Aptos" pitchFamily="34" charset="-120"/>
              </a:rPr>
              <a:t>SPRECHANKER  </a:t>
            </a:r>
            <a:r>
              <a:rPr lang="en-US" sz="1000">
                <a:solidFill>
                  <a:srgbClr val="667085"/>
                </a:solidFill>
                <a:latin typeface="Aptos" pitchFamily="34" charset="0"/>
                <a:ea typeface="Aptos" pitchFamily="34" charset="-122"/>
                <a:cs typeface="Aptos" pitchFamily="34" charset="-120"/>
              </a:rPr>
              <a:t>Die Heatmap zeigt nicht nur Daten, sondern auch Transparenz über Lücken.</a:t>
            </a:r>
            <a:endParaRPr lang="en-US" sz="1000"/>
          </a:p>
        </p:txBody>
      </p:sp>
      <p:pic>
        <p:nvPicPr>
          <p:cNvPr id="2" name="Picture 1" descr="A blue rectangular table with numbers&#10;&#10;AI-generated content may be incorrect.">
            <a:extLst>
              <a:ext uri="{FF2B5EF4-FFF2-40B4-BE49-F238E27FC236}">
                <a16:creationId xmlns:a16="http://schemas.microsoft.com/office/drawing/2014/main" id="{5C77600D-5266-A27C-D7EF-6BF453F90E23}"/>
              </a:ext>
            </a:extLst>
          </p:cNvPr>
          <p:cNvPicPr>
            <a:picLocks noChangeAspect="1"/>
          </p:cNvPicPr>
          <p:nvPr/>
        </p:nvPicPr>
        <p:blipFill>
          <a:blip r:embed="rId3"/>
          <a:stretch>
            <a:fillRect/>
          </a:stretch>
        </p:blipFill>
        <p:spPr>
          <a:xfrm>
            <a:off x="2367870" y="2643414"/>
            <a:ext cx="7369175" cy="2630714"/>
          </a:xfrm>
          <a:prstGeom prst="rect">
            <a:avLst/>
          </a:prstGeom>
        </p:spPr>
      </p:pic>
      <p:sp>
        <p:nvSpPr>
          <p:cNvPr id="7" name="CodexSlideNumber">
            <a:extLst>
              <a:ext uri="{FF2B5EF4-FFF2-40B4-BE49-F238E27FC236}">
                <a16:creationId xmlns:a16="http://schemas.microsoft.com/office/drawing/2014/main" id="{8406442A-BFD7-263E-301D-F07E13D89C66}"/>
              </a:ext>
            </a:extLst>
          </p:cNvPr>
          <p:cNvSpPr txBox="1"/>
          <p:nvPr/>
        </p:nvSpPr>
        <p:spPr>
          <a:xfrm>
            <a:off x="11226800" y="6553200"/>
            <a:ext cx="736600" cy="123111"/>
          </a:xfrm>
          <a:prstGeom prst="rect">
            <a:avLst/>
          </a:prstGeom>
          <a:noFill/>
        </p:spPr>
        <p:txBody>
          <a:bodyPr vert="horz" lIns="0" tIns="0" rIns="0" bIns="0" rtlCol="0">
            <a:spAutoFit/>
          </a:bodyPr>
          <a:lstStyle/>
          <a:p>
            <a:pPr algn="r"/>
            <a:r>
              <a:rPr lang="en-US" sz="800">
                <a:solidFill>
                  <a:srgbClr val="525252"/>
                </a:solidFill>
                <a:latin typeface="Arial" panose="020B0604020202020204" pitchFamily="34" charset="0"/>
              </a:rPr>
              <a:t>58 / 64</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502920" y="502920"/>
            <a:ext cx="10789920" cy="201168"/>
          </a:xfrm>
          <a:prstGeom prst="rect">
            <a:avLst/>
          </a:prstGeom>
          <a:noFill/>
          <a:ln/>
        </p:spPr>
        <p:txBody>
          <a:bodyPr wrap="square" lIns="0" tIns="0" rIns="0" bIns="0" rtlCol="0" anchor="ctr">
            <a:normAutofit/>
          </a:bodyPr>
          <a:lstStyle/>
          <a:p>
            <a:pPr>
              <a:defRPr sz="975" b="1">
                <a:solidFill>
                  <a:srgbClr val="5B666D"/>
                </a:solidFill>
                <a:latin typeface="Aptos"/>
                <a:ea typeface="Aptos"/>
                <a:cs typeface="Aptos"/>
              </a:defRPr>
            </a:pPr>
            <a:r>
              <a:rPr lang="en-US" sz="863" b="1" dirty="0">
                <a:solidFill>
                  <a:schemeClr val="tx2"/>
                </a:solidFill>
                <a:latin typeface="Aptos"/>
              </a:rPr>
              <a:t>EBENE 1 · STRESS-TREIBER-TIMING</a:t>
            </a:r>
          </a:p>
        </p:txBody>
      </p:sp>
      <p:sp>
        <p:nvSpPr>
          <p:cNvPr id="4" name="Text 2"/>
          <p:cNvSpPr/>
          <p:nvPr/>
        </p:nvSpPr>
        <p:spPr>
          <a:xfrm>
            <a:off x="502920" y="749808"/>
            <a:ext cx="10972800" cy="384048"/>
          </a:xfrm>
          <a:prstGeom prst="rect">
            <a:avLst/>
          </a:prstGeom>
          <a:noFill/>
          <a:ln/>
        </p:spPr>
        <p:txBody>
          <a:bodyPr wrap="square" lIns="0" tIns="0" rIns="0" bIns="0" rtlCol="0" anchor="ctr">
            <a:normAutofit/>
          </a:bodyPr>
          <a:lstStyle/>
          <a:p>
            <a:pPr marL="0" indent="0">
              <a:buNone/>
            </a:pPr>
            <a:r>
              <a:rPr lang="en-US" sz="2000" b="1">
                <a:solidFill>
                  <a:srgbClr val="102333"/>
                </a:solidFill>
                <a:latin typeface="Georgia" pitchFamily="34" charset="0"/>
                <a:ea typeface="Georgia" pitchFamily="34" charset="-122"/>
                <a:cs typeface="Georgia" pitchFamily="34" charset="-120"/>
              </a:rPr>
              <a:t>Die realen Zins- und Ölpreisschocks treffen die relevanten Krisenphasen</a:t>
            </a:r>
            <a:endParaRPr lang="en-US" sz="2000"/>
          </a:p>
        </p:txBody>
      </p:sp>
      <p:sp>
        <p:nvSpPr>
          <p:cNvPr id="5" name="Text 3"/>
          <p:cNvSpPr/>
          <p:nvPr/>
        </p:nvSpPr>
        <p:spPr>
          <a:xfrm>
            <a:off x="502920" y="1298448"/>
            <a:ext cx="10881360" cy="256032"/>
          </a:xfrm>
          <a:prstGeom prst="rect">
            <a:avLst/>
          </a:prstGeom>
          <a:noFill/>
          <a:ln/>
        </p:spPr>
        <p:txBody>
          <a:bodyPr wrap="square" lIns="0" tIns="0" rIns="0" bIns="0" rtlCol="0" anchor="ctr">
            <a:normAutofit/>
          </a:bodyPr>
          <a:lstStyle/>
          <a:p>
            <a:r>
              <a:rPr lang="en-US" sz="1020" i="1">
                <a:solidFill>
                  <a:srgbClr val="667085"/>
                </a:solidFill>
                <a:latin typeface="Georgia" pitchFamily="34" charset="0"/>
                <a:ea typeface="Georgia" pitchFamily="34" charset="-122"/>
                <a:cs typeface="Georgia" pitchFamily="34" charset="-120"/>
              </a:rPr>
              <a:t>Bevor </a:t>
            </a:r>
            <a:r>
              <a:rPr lang="en-US" sz="1020" i="1" err="1">
                <a:solidFill>
                  <a:srgbClr val="667085"/>
                </a:solidFill>
                <a:latin typeface="Georgia" pitchFamily="34" charset="0"/>
                <a:ea typeface="Georgia" pitchFamily="34" charset="-122"/>
                <a:cs typeface="Georgia" pitchFamily="34" charset="-120"/>
              </a:rPr>
              <a:t>wir</a:t>
            </a:r>
            <a:r>
              <a:rPr lang="en-US" sz="1020" i="1">
                <a:solidFill>
                  <a:srgbClr val="667085"/>
                </a:solidFill>
                <a:latin typeface="Georgia" pitchFamily="34" charset="0"/>
                <a:ea typeface="Georgia" pitchFamily="34" charset="-122"/>
                <a:cs typeface="Georgia" pitchFamily="34" charset="-120"/>
              </a:rPr>
              <a:t> </a:t>
            </a:r>
            <a:r>
              <a:rPr lang="en-US" sz="1020" i="1" err="1">
                <a:solidFill>
                  <a:srgbClr val="667085"/>
                </a:solidFill>
                <a:latin typeface="Georgia" pitchFamily="34" charset="0"/>
                <a:ea typeface="Georgia" pitchFamily="34" charset="-122"/>
                <a:cs typeface="Georgia" pitchFamily="34" charset="-120"/>
              </a:rPr>
              <a:t>Prognosen</a:t>
            </a:r>
            <a:r>
              <a:rPr lang="en-US" sz="1020" i="1">
                <a:solidFill>
                  <a:srgbClr val="667085"/>
                </a:solidFill>
                <a:latin typeface="Georgia" pitchFamily="34" charset="0"/>
                <a:ea typeface="Georgia" pitchFamily="34" charset="-122"/>
                <a:cs typeface="Georgia" pitchFamily="34" charset="-120"/>
              </a:rPr>
              <a:t> </a:t>
            </a:r>
            <a:r>
              <a:rPr lang="en-US" sz="1020" i="1" err="1">
                <a:solidFill>
                  <a:srgbClr val="667085"/>
                </a:solidFill>
                <a:latin typeface="Georgia" pitchFamily="34" charset="0"/>
                <a:ea typeface="Georgia" pitchFamily="34" charset="-122"/>
                <a:cs typeface="Georgia" pitchFamily="34" charset="-120"/>
              </a:rPr>
              <a:t>vergleichen</a:t>
            </a:r>
            <a:r>
              <a:rPr lang="en-US" sz="1020" i="1">
                <a:solidFill>
                  <a:srgbClr val="667085"/>
                </a:solidFill>
                <a:latin typeface="Georgia" pitchFamily="34" charset="0"/>
                <a:ea typeface="Georgia" pitchFamily="34" charset="-122"/>
                <a:cs typeface="Georgia" pitchFamily="34" charset="-120"/>
              </a:rPr>
              <a:t>, </a:t>
            </a:r>
            <a:r>
              <a:rPr lang="en-US" sz="1020" i="1" err="1">
                <a:solidFill>
                  <a:srgbClr val="667085"/>
                </a:solidFill>
                <a:latin typeface="Georgia" pitchFamily="34" charset="0"/>
                <a:ea typeface="Georgia" pitchFamily="34" charset="-122"/>
                <a:cs typeface="Georgia" pitchFamily="34" charset="-120"/>
              </a:rPr>
              <a:t>prüfen</a:t>
            </a:r>
            <a:r>
              <a:rPr lang="en-US" sz="1020" i="1">
                <a:solidFill>
                  <a:srgbClr val="667085"/>
                </a:solidFill>
                <a:latin typeface="Georgia" pitchFamily="34" charset="0"/>
                <a:ea typeface="Georgia" pitchFamily="34" charset="-122"/>
                <a:cs typeface="Georgia" pitchFamily="34" charset="-120"/>
              </a:rPr>
              <a:t> </a:t>
            </a:r>
            <a:r>
              <a:rPr lang="en-US" sz="1020" i="1" err="1">
                <a:solidFill>
                  <a:srgbClr val="667085"/>
                </a:solidFill>
                <a:latin typeface="Georgia" pitchFamily="34" charset="0"/>
                <a:ea typeface="Georgia" pitchFamily="34" charset="-122"/>
                <a:cs typeface="Georgia" pitchFamily="34" charset="-120"/>
              </a:rPr>
              <a:t>wir</a:t>
            </a:r>
            <a:r>
              <a:rPr lang="en-US" sz="1020" i="1">
                <a:solidFill>
                  <a:srgbClr val="667085"/>
                </a:solidFill>
                <a:latin typeface="Georgia" pitchFamily="34" charset="0"/>
                <a:ea typeface="Georgia" pitchFamily="34" charset="-122"/>
                <a:cs typeface="Georgia" pitchFamily="34" charset="-120"/>
              </a:rPr>
              <a:t>, </a:t>
            </a:r>
            <a:r>
              <a:rPr lang="en-US" sz="1020" i="1" err="1">
                <a:solidFill>
                  <a:srgbClr val="667085"/>
                </a:solidFill>
                <a:latin typeface="Georgia" pitchFamily="34" charset="0"/>
                <a:ea typeface="Georgia" pitchFamily="34" charset="-122"/>
                <a:cs typeface="Georgia" pitchFamily="34" charset="-120"/>
              </a:rPr>
              <a:t>ob</a:t>
            </a:r>
            <a:r>
              <a:rPr lang="en-US" sz="1020" i="1">
                <a:solidFill>
                  <a:srgbClr val="667085"/>
                </a:solidFill>
                <a:latin typeface="Georgia" pitchFamily="34" charset="0"/>
                <a:ea typeface="Georgia" pitchFamily="34" charset="-122"/>
                <a:cs typeface="Georgia" pitchFamily="34" charset="-120"/>
              </a:rPr>
              <a:t> die </a:t>
            </a:r>
            <a:r>
              <a:rPr lang="en-US" sz="1020" i="1" err="1">
                <a:solidFill>
                  <a:srgbClr val="667085"/>
                </a:solidFill>
                <a:latin typeface="Georgia" pitchFamily="34" charset="0"/>
                <a:ea typeface="Georgia" pitchFamily="34" charset="-122"/>
                <a:cs typeface="Georgia" pitchFamily="34" charset="-120"/>
              </a:rPr>
              <a:t>beiden</a:t>
            </a:r>
            <a:r>
              <a:rPr lang="en-US" sz="1020" i="1">
                <a:solidFill>
                  <a:srgbClr val="667085"/>
                </a:solidFill>
                <a:latin typeface="Georgia" pitchFamily="34" charset="0"/>
                <a:ea typeface="Georgia" pitchFamily="34" charset="-122"/>
                <a:cs typeface="Georgia" pitchFamily="34" charset="-120"/>
              </a:rPr>
              <a:t> Faktoren </a:t>
            </a:r>
            <a:r>
              <a:rPr lang="en-US" sz="1020" i="1" err="1">
                <a:solidFill>
                  <a:srgbClr val="667085"/>
                </a:solidFill>
                <a:latin typeface="Georgia" pitchFamily="34" charset="0"/>
                <a:ea typeface="Georgia" pitchFamily="34" charset="-122"/>
                <a:cs typeface="Georgia" pitchFamily="34" charset="-120"/>
              </a:rPr>
              <a:t>historisch</a:t>
            </a:r>
            <a:r>
              <a:rPr lang="en-US" sz="1020" i="1">
                <a:solidFill>
                  <a:srgbClr val="667085"/>
                </a:solidFill>
                <a:latin typeface="Georgia" pitchFamily="34" charset="0"/>
                <a:ea typeface="Georgia" pitchFamily="34" charset="-122"/>
                <a:cs typeface="Georgia" pitchFamily="34" charset="-120"/>
              </a:rPr>
              <a:t> </a:t>
            </a:r>
            <a:r>
              <a:rPr lang="en-US" sz="1020" i="1" err="1">
                <a:solidFill>
                  <a:srgbClr val="667085"/>
                </a:solidFill>
                <a:latin typeface="Georgia" pitchFamily="34" charset="0"/>
                <a:ea typeface="Georgia" pitchFamily="34" charset="-122"/>
                <a:cs typeface="Georgia" pitchFamily="34" charset="-120"/>
              </a:rPr>
              <a:t>zur</a:t>
            </a:r>
            <a:r>
              <a:rPr lang="en-US" sz="1020" i="1">
                <a:solidFill>
                  <a:srgbClr val="667085"/>
                </a:solidFill>
                <a:latin typeface="Georgia" pitchFamily="34" charset="0"/>
                <a:ea typeface="Georgia" pitchFamily="34" charset="-122"/>
                <a:cs typeface="Georgia" pitchFamily="34" charset="-120"/>
              </a:rPr>
              <a:t> </a:t>
            </a:r>
            <a:r>
              <a:rPr lang="en-US" sz="1020" i="1" err="1">
                <a:solidFill>
                  <a:srgbClr val="667085"/>
                </a:solidFill>
                <a:latin typeface="Georgia" pitchFamily="34" charset="0"/>
                <a:ea typeface="Georgia" pitchFamily="34" charset="-122"/>
                <a:cs typeface="Georgia" pitchFamily="34" charset="-120"/>
              </a:rPr>
              <a:t>richtigen</a:t>
            </a:r>
            <a:r>
              <a:rPr lang="en-US" sz="1020" i="1">
                <a:solidFill>
                  <a:srgbClr val="667085"/>
                </a:solidFill>
                <a:latin typeface="Georgia" pitchFamily="34" charset="0"/>
                <a:ea typeface="Georgia" pitchFamily="34" charset="-122"/>
                <a:cs typeface="Georgia" pitchFamily="34" charset="-120"/>
              </a:rPr>
              <a:t> Zeit </a:t>
            </a:r>
            <a:r>
              <a:rPr lang="en-US" sz="1020" i="1" err="1">
                <a:solidFill>
                  <a:srgbClr val="667085"/>
                </a:solidFill>
                <a:latin typeface="Georgia" pitchFamily="34" charset="0"/>
                <a:ea typeface="Georgia" pitchFamily="34" charset="-122"/>
                <a:cs typeface="Georgia" pitchFamily="34" charset="-120"/>
              </a:rPr>
              <a:t>reagieren</a:t>
            </a:r>
            <a:r>
              <a:rPr lang="en-US" sz="1020" i="1">
                <a:solidFill>
                  <a:srgbClr val="667085"/>
                </a:solidFill>
                <a:latin typeface="Georgia" pitchFamily="34" charset="0"/>
                <a:ea typeface="Georgia" pitchFamily="34" charset="-122"/>
                <a:cs typeface="Georgia" pitchFamily="34" charset="-120"/>
              </a:rPr>
              <a:t>.</a:t>
            </a:r>
            <a:endParaRPr lang="en-US" sz="1020"/>
          </a:p>
        </p:txBody>
      </p:sp>
      <p:sp>
        <p:nvSpPr>
          <p:cNvPr id="6" name="Text 4"/>
          <p:cNvSpPr/>
          <p:nvPr/>
        </p:nvSpPr>
        <p:spPr>
          <a:xfrm>
            <a:off x="502920" y="6528816"/>
            <a:ext cx="6492240" cy="164592"/>
          </a:xfrm>
          <a:prstGeom prst="rect">
            <a:avLst/>
          </a:prstGeom>
          <a:noFill/>
          <a:ln/>
        </p:spPr>
        <p:txBody>
          <a:bodyPr wrap="square" lIns="0" tIns="0" rIns="0" bIns="0" rtlCol="0" anchor="ctr"/>
          <a:lstStyle/>
          <a:p>
            <a:pPr marL="0" indent="0">
              <a:buNone/>
            </a:pPr>
            <a:r>
              <a:rPr lang="en-US" sz="750">
                <a:solidFill>
                  <a:srgbClr val="667085"/>
                </a:solidFill>
                <a:latin typeface="Aptos" pitchFamily="34" charset="0"/>
                <a:ea typeface="Aptos" pitchFamily="34" charset="-122"/>
                <a:cs typeface="Aptos" pitchFamily="34" charset="-120"/>
              </a:rPr>
              <a:t>EU Banking Credit Stress Cockpit · Studienprojekt 2026</a:t>
            </a:r>
            <a:endParaRPr lang="en-US" sz="750"/>
          </a:p>
        </p:txBody>
      </p:sp>
      <p:pic>
        <p:nvPicPr>
          <p:cNvPr id="8" name="Image 0" descr="/mnt/data/newplot (1)(2).png"/>
          <p:cNvPicPr>
            <a:picLocks noChangeAspect="1"/>
          </p:cNvPicPr>
          <p:nvPr/>
        </p:nvPicPr>
        <p:blipFill>
          <a:blip r:embed="rId3"/>
          <a:stretch>
            <a:fillRect/>
          </a:stretch>
        </p:blipFill>
        <p:spPr>
          <a:xfrm>
            <a:off x="1703578" y="1572768"/>
            <a:ext cx="8800084" cy="3108960"/>
          </a:xfrm>
          <a:prstGeom prst="rect">
            <a:avLst/>
          </a:prstGeom>
        </p:spPr>
      </p:pic>
      <p:sp>
        <p:nvSpPr>
          <p:cNvPr id="9" name="Shape 6"/>
          <p:cNvSpPr/>
          <p:nvPr/>
        </p:nvSpPr>
        <p:spPr>
          <a:xfrm>
            <a:off x="685800" y="4892040"/>
            <a:ext cx="3401568" cy="749808"/>
          </a:xfrm>
          <a:prstGeom prst="roundRect">
            <a:avLst>
              <a:gd name="adj" fmla="val 4878"/>
            </a:avLst>
          </a:prstGeom>
          <a:solidFill>
            <a:srgbClr val="FFFFFF">
              <a:alpha val="0"/>
            </a:srgbClr>
          </a:solidFill>
          <a:ln w="8890">
            <a:solidFill>
              <a:srgbClr val="D9DEE7"/>
            </a:solidFill>
            <a:prstDash val="solid"/>
          </a:ln>
        </p:spPr>
        <p:txBody>
          <a:bodyPr/>
          <a:lstStyle/>
          <a:p>
            <a:endParaRPr lang="de-DE"/>
          </a:p>
        </p:txBody>
      </p:sp>
      <p:sp>
        <p:nvSpPr>
          <p:cNvPr id="10" name="Shape 7"/>
          <p:cNvSpPr/>
          <p:nvPr/>
        </p:nvSpPr>
        <p:spPr>
          <a:xfrm>
            <a:off x="694944" y="4965192"/>
            <a:ext cx="0" cy="603504"/>
          </a:xfrm>
          <a:prstGeom prst="line">
            <a:avLst/>
          </a:prstGeom>
          <a:noFill/>
          <a:ln w="14605">
            <a:solidFill>
              <a:srgbClr val="4656D8"/>
            </a:solidFill>
            <a:prstDash val="solid"/>
          </a:ln>
        </p:spPr>
        <p:txBody>
          <a:bodyPr/>
          <a:lstStyle/>
          <a:p>
            <a:endParaRPr lang="de-DE"/>
          </a:p>
        </p:txBody>
      </p:sp>
      <p:sp>
        <p:nvSpPr>
          <p:cNvPr id="11" name="Text 8"/>
          <p:cNvSpPr/>
          <p:nvPr/>
        </p:nvSpPr>
        <p:spPr>
          <a:xfrm>
            <a:off x="813816" y="4974336"/>
            <a:ext cx="3200400" cy="640080"/>
          </a:xfrm>
          <a:prstGeom prst="rect">
            <a:avLst/>
          </a:prstGeom>
          <a:noFill/>
          <a:ln/>
        </p:spPr>
        <p:txBody>
          <a:bodyPr wrap="square" lIns="0" tIns="0" rIns="0" bIns="0" rtlCol="0" anchor="t">
            <a:normAutofit/>
          </a:bodyPr>
          <a:lstStyle/>
          <a:p>
            <a:pPr marL="0" indent="0">
              <a:buNone/>
            </a:pPr>
            <a:r>
              <a:rPr lang="en-US" sz="1200" b="1">
                <a:solidFill>
                  <a:srgbClr val="102333"/>
                </a:solidFill>
                <a:latin typeface="Aptos" pitchFamily="34" charset="0"/>
                <a:ea typeface="Aptos" pitchFamily="34" charset="-122"/>
                <a:cs typeface="Aptos" pitchFamily="34" charset="-120"/>
              </a:rPr>
              <a:t>Was zeigt die Grafik?
</a:t>
            </a:r>
            <a:r>
              <a:rPr lang="en-US" sz="1200">
                <a:solidFill>
                  <a:srgbClr val="667085"/>
                </a:solidFill>
                <a:latin typeface="Aptos" pitchFamily="34" charset="0"/>
                <a:ea typeface="Aptos" pitchFamily="34" charset="-122"/>
                <a:cs typeface="Aptos" pitchFamily="34" charset="-120"/>
              </a:rPr>
              <a:t>Zinsschock als Balken; Brent als Linie. Marker zeigen COVID, Ukraine, Zinswende und SVB/CS.</a:t>
            </a:r>
            <a:endParaRPr lang="en-US" sz="1200"/>
          </a:p>
        </p:txBody>
      </p:sp>
      <p:sp>
        <p:nvSpPr>
          <p:cNvPr id="12" name="Shape 9"/>
          <p:cNvSpPr/>
          <p:nvPr/>
        </p:nvSpPr>
        <p:spPr>
          <a:xfrm>
            <a:off x="4389120" y="4892040"/>
            <a:ext cx="3401568" cy="749808"/>
          </a:xfrm>
          <a:prstGeom prst="roundRect">
            <a:avLst>
              <a:gd name="adj" fmla="val 4878"/>
            </a:avLst>
          </a:prstGeom>
          <a:solidFill>
            <a:srgbClr val="FFFFFF">
              <a:alpha val="0"/>
            </a:srgbClr>
          </a:solidFill>
          <a:ln w="8890">
            <a:solidFill>
              <a:srgbClr val="D9DEE7"/>
            </a:solidFill>
            <a:prstDash val="solid"/>
          </a:ln>
        </p:spPr>
        <p:txBody>
          <a:bodyPr/>
          <a:lstStyle/>
          <a:p>
            <a:endParaRPr lang="de-DE"/>
          </a:p>
        </p:txBody>
      </p:sp>
      <p:sp>
        <p:nvSpPr>
          <p:cNvPr id="13" name="Shape 10"/>
          <p:cNvSpPr/>
          <p:nvPr/>
        </p:nvSpPr>
        <p:spPr>
          <a:xfrm>
            <a:off x="4398264" y="4965192"/>
            <a:ext cx="0" cy="603504"/>
          </a:xfrm>
          <a:prstGeom prst="line">
            <a:avLst/>
          </a:prstGeom>
          <a:noFill/>
          <a:ln w="14605">
            <a:solidFill>
              <a:srgbClr val="B24462"/>
            </a:solidFill>
            <a:prstDash val="solid"/>
          </a:ln>
        </p:spPr>
        <p:txBody>
          <a:bodyPr/>
          <a:lstStyle/>
          <a:p>
            <a:endParaRPr lang="de-DE"/>
          </a:p>
        </p:txBody>
      </p:sp>
      <p:sp>
        <p:nvSpPr>
          <p:cNvPr id="14" name="Text 11"/>
          <p:cNvSpPr/>
          <p:nvPr/>
        </p:nvSpPr>
        <p:spPr>
          <a:xfrm>
            <a:off x="4517136" y="4974336"/>
            <a:ext cx="3200400" cy="640080"/>
          </a:xfrm>
          <a:prstGeom prst="rect">
            <a:avLst/>
          </a:prstGeom>
          <a:noFill/>
          <a:ln/>
        </p:spPr>
        <p:txBody>
          <a:bodyPr wrap="square" lIns="0" tIns="0" rIns="0" bIns="0" rtlCol="0" anchor="t">
            <a:normAutofit/>
          </a:bodyPr>
          <a:lstStyle/>
          <a:p>
            <a:pPr marL="0" indent="0">
              <a:buNone/>
            </a:pPr>
            <a:r>
              <a:rPr lang="en-US" sz="1200" b="1">
                <a:solidFill>
                  <a:srgbClr val="102333"/>
                </a:solidFill>
                <a:latin typeface="Aptos" pitchFamily="34" charset="0"/>
                <a:ea typeface="Aptos" pitchFamily="34" charset="-122"/>
                <a:cs typeface="Aptos" pitchFamily="34" charset="-120"/>
              </a:rPr>
              <a:t>Befund
</a:t>
            </a:r>
            <a:r>
              <a:rPr lang="en-US" sz="1200">
                <a:solidFill>
                  <a:srgbClr val="667085"/>
                </a:solidFill>
                <a:latin typeface="Aptos" pitchFamily="34" charset="0"/>
                <a:ea typeface="Aptos" pitchFamily="34" charset="-122"/>
                <a:cs typeface="Aptos" pitchFamily="34" charset="-120"/>
              </a:rPr>
              <a:t>Der Zinsschock steigt 2022 massiv; Brent bewegt sich stark im Ukraine-/Inflationsumfeld.</a:t>
            </a:r>
            <a:endParaRPr lang="en-US" sz="1200"/>
          </a:p>
        </p:txBody>
      </p:sp>
      <p:sp>
        <p:nvSpPr>
          <p:cNvPr id="15" name="Shape 12"/>
          <p:cNvSpPr/>
          <p:nvPr/>
        </p:nvSpPr>
        <p:spPr>
          <a:xfrm>
            <a:off x="8092440" y="4892040"/>
            <a:ext cx="3401568" cy="749808"/>
          </a:xfrm>
          <a:prstGeom prst="roundRect">
            <a:avLst>
              <a:gd name="adj" fmla="val 4878"/>
            </a:avLst>
          </a:prstGeom>
          <a:solidFill>
            <a:srgbClr val="FFFFFF">
              <a:alpha val="0"/>
            </a:srgbClr>
          </a:solidFill>
          <a:ln w="8890">
            <a:solidFill>
              <a:srgbClr val="D9DEE7"/>
            </a:solidFill>
            <a:prstDash val="solid"/>
          </a:ln>
        </p:spPr>
        <p:txBody>
          <a:bodyPr/>
          <a:lstStyle/>
          <a:p>
            <a:endParaRPr lang="de-DE"/>
          </a:p>
        </p:txBody>
      </p:sp>
      <p:sp>
        <p:nvSpPr>
          <p:cNvPr id="16" name="Shape 13"/>
          <p:cNvSpPr/>
          <p:nvPr/>
        </p:nvSpPr>
        <p:spPr>
          <a:xfrm>
            <a:off x="8101584" y="4965192"/>
            <a:ext cx="0" cy="603504"/>
          </a:xfrm>
          <a:prstGeom prst="line">
            <a:avLst/>
          </a:prstGeom>
          <a:noFill/>
          <a:ln w="14605">
            <a:solidFill>
              <a:srgbClr val="C79A1E"/>
            </a:solidFill>
            <a:prstDash val="solid"/>
          </a:ln>
        </p:spPr>
        <p:txBody>
          <a:bodyPr/>
          <a:lstStyle/>
          <a:p>
            <a:endParaRPr lang="de-DE"/>
          </a:p>
        </p:txBody>
      </p:sp>
      <p:sp>
        <p:nvSpPr>
          <p:cNvPr id="17" name="Text 14"/>
          <p:cNvSpPr/>
          <p:nvPr/>
        </p:nvSpPr>
        <p:spPr>
          <a:xfrm>
            <a:off x="8220456" y="4974336"/>
            <a:ext cx="3200400" cy="640080"/>
          </a:xfrm>
          <a:prstGeom prst="rect">
            <a:avLst/>
          </a:prstGeom>
          <a:noFill/>
          <a:ln/>
        </p:spPr>
        <p:txBody>
          <a:bodyPr wrap="square" lIns="0" tIns="0" rIns="0" bIns="0" rtlCol="0" anchor="t">
            <a:normAutofit/>
          </a:bodyPr>
          <a:lstStyle/>
          <a:p>
            <a:pPr marL="0" indent="0">
              <a:buNone/>
            </a:pPr>
            <a:r>
              <a:rPr lang="en-US" sz="1200" b="1">
                <a:solidFill>
                  <a:srgbClr val="102333"/>
                </a:solidFill>
                <a:latin typeface="Aptos" pitchFamily="34" charset="0"/>
                <a:ea typeface="Aptos" pitchFamily="34" charset="-122"/>
                <a:cs typeface="Aptos" pitchFamily="34" charset="-120"/>
              </a:rPr>
              <a:t>Bedeutung
</a:t>
            </a:r>
            <a:r>
              <a:rPr lang="en-US" sz="1200">
                <a:solidFill>
                  <a:srgbClr val="667085"/>
                </a:solidFill>
                <a:latin typeface="Aptos" pitchFamily="34" charset="0"/>
                <a:ea typeface="Aptos" pitchFamily="34" charset="-122"/>
                <a:cs typeface="Aptos" pitchFamily="34" charset="-120"/>
              </a:rPr>
              <a:t>Die Auslöser feuern in den Krisen. Damit sind die Modellinputs zeitlich plausibel.</a:t>
            </a:r>
            <a:endParaRPr lang="en-US" sz="1200"/>
          </a:p>
        </p:txBody>
      </p:sp>
      <p:sp>
        <p:nvSpPr>
          <p:cNvPr id="18" name="Shape 15"/>
          <p:cNvSpPr/>
          <p:nvPr/>
        </p:nvSpPr>
        <p:spPr>
          <a:xfrm>
            <a:off x="502920" y="6089904"/>
            <a:ext cx="11155680" cy="0"/>
          </a:xfrm>
          <a:prstGeom prst="line">
            <a:avLst/>
          </a:prstGeom>
          <a:noFill/>
          <a:ln w="10160">
            <a:solidFill>
              <a:srgbClr val="D9DEE7"/>
            </a:solidFill>
            <a:prstDash val="solid"/>
          </a:ln>
        </p:spPr>
        <p:txBody>
          <a:bodyPr/>
          <a:lstStyle/>
          <a:p>
            <a:endParaRPr lang="de-DE"/>
          </a:p>
        </p:txBody>
      </p:sp>
      <p:sp>
        <p:nvSpPr>
          <p:cNvPr id="19" name="Text 16"/>
          <p:cNvSpPr/>
          <p:nvPr/>
        </p:nvSpPr>
        <p:spPr>
          <a:xfrm>
            <a:off x="502920" y="6144768"/>
            <a:ext cx="10972800" cy="201168"/>
          </a:xfrm>
          <a:prstGeom prst="rect">
            <a:avLst/>
          </a:prstGeom>
          <a:noFill/>
          <a:ln/>
        </p:spPr>
        <p:txBody>
          <a:bodyPr wrap="square" lIns="0" tIns="0" rIns="0" bIns="0" rtlCol="0" anchor="ctr">
            <a:normAutofit/>
          </a:bodyPr>
          <a:lstStyle/>
          <a:p>
            <a:pPr marL="0" indent="0">
              <a:buNone/>
            </a:pPr>
            <a:r>
              <a:rPr lang="en-US" sz="1000" b="1">
                <a:solidFill>
                  <a:srgbClr val="667085"/>
                </a:solidFill>
                <a:latin typeface="Aptos" pitchFamily="34" charset="0"/>
                <a:ea typeface="Aptos" pitchFamily="34" charset="-122"/>
                <a:cs typeface="Aptos" pitchFamily="34" charset="-120"/>
              </a:rPr>
              <a:t>SPRECHANKER  </a:t>
            </a:r>
            <a:r>
              <a:rPr lang="en-US" sz="1000">
                <a:solidFill>
                  <a:srgbClr val="667085"/>
                </a:solidFill>
                <a:latin typeface="Aptos" pitchFamily="34" charset="0"/>
                <a:ea typeface="Aptos" pitchFamily="34" charset="-122"/>
                <a:cs typeface="Aptos" pitchFamily="34" charset="-120"/>
              </a:rPr>
              <a:t>Diese Grafik prüft noch nicht Modell gegen Realität, sondern zuerst, ob die Treiber überhaupt Sinn machen.</a:t>
            </a:r>
            <a:endParaRPr lang="en-US" sz="1000"/>
          </a:p>
        </p:txBody>
      </p:sp>
      <p:sp>
        <p:nvSpPr>
          <p:cNvPr id="2" name="CodexSlideNumber">
            <a:extLst>
              <a:ext uri="{FF2B5EF4-FFF2-40B4-BE49-F238E27FC236}">
                <a16:creationId xmlns:a16="http://schemas.microsoft.com/office/drawing/2014/main" id="{BB072DA9-1B96-6404-9B85-9BD1C5E2FDEE}"/>
              </a:ext>
            </a:extLst>
          </p:cNvPr>
          <p:cNvSpPr txBox="1"/>
          <p:nvPr/>
        </p:nvSpPr>
        <p:spPr>
          <a:xfrm>
            <a:off x="11226800" y="6553200"/>
            <a:ext cx="736600" cy="123111"/>
          </a:xfrm>
          <a:prstGeom prst="rect">
            <a:avLst/>
          </a:prstGeom>
          <a:noFill/>
        </p:spPr>
        <p:txBody>
          <a:bodyPr vert="horz" lIns="0" tIns="0" rIns="0" bIns="0" rtlCol="0">
            <a:spAutoFit/>
          </a:bodyPr>
          <a:lstStyle/>
          <a:p>
            <a:pPr algn="r"/>
            <a:r>
              <a:rPr lang="en-US" sz="800">
                <a:solidFill>
                  <a:srgbClr val="525252"/>
                </a:solidFill>
                <a:latin typeface="Arial" panose="020B0604020202020204" pitchFamily="34" charset="0"/>
              </a:rPr>
              <a:t>59 / 64</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502920" y="502920"/>
            <a:ext cx="10789920" cy="201168"/>
          </a:xfrm>
          <a:prstGeom prst="rect">
            <a:avLst/>
          </a:prstGeom>
          <a:noFill/>
          <a:ln/>
        </p:spPr>
        <p:txBody>
          <a:bodyPr wrap="square" lIns="0" tIns="0" rIns="0" bIns="0" rtlCol="0" anchor="ctr">
            <a:normAutofit/>
          </a:bodyPr>
          <a:lstStyle/>
          <a:p>
            <a:pPr>
              <a:defRPr sz="975" b="1">
                <a:solidFill>
                  <a:srgbClr val="5B666D"/>
                </a:solidFill>
                <a:latin typeface="Aptos"/>
                <a:ea typeface="Aptos"/>
                <a:cs typeface="Aptos"/>
              </a:defRPr>
            </a:pPr>
            <a:r>
              <a:rPr lang="en-US" sz="863" b="1" dirty="0">
                <a:solidFill>
                  <a:schemeClr val="tx2"/>
                </a:solidFill>
                <a:latin typeface="Aptos"/>
              </a:rPr>
              <a:t>EBENE 2 · STRUKTURELLE SOUNDNESS</a:t>
            </a:r>
          </a:p>
        </p:txBody>
      </p:sp>
      <p:sp>
        <p:nvSpPr>
          <p:cNvPr id="4" name="Text 2"/>
          <p:cNvSpPr/>
          <p:nvPr/>
        </p:nvSpPr>
        <p:spPr>
          <a:xfrm>
            <a:off x="502920" y="749808"/>
            <a:ext cx="10972800" cy="384048"/>
          </a:xfrm>
          <a:prstGeom prst="rect">
            <a:avLst/>
          </a:prstGeom>
          <a:noFill/>
          <a:ln/>
        </p:spPr>
        <p:txBody>
          <a:bodyPr wrap="square" lIns="0" tIns="0" rIns="0" bIns="0" rtlCol="0" anchor="ctr">
            <a:normAutofit/>
          </a:bodyPr>
          <a:lstStyle/>
          <a:p>
            <a:pPr marL="0" indent="0">
              <a:buNone/>
            </a:pPr>
            <a:r>
              <a:rPr lang="en-US" sz="2000" b="1">
                <a:solidFill>
                  <a:srgbClr val="102333"/>
                </a:solidFill>
                <a:latin typeface="Georgia" pitchFamily="34" charset="0"/>
                <a:ea typeface="Georgia" pitchFamily="34" charset="-122"/>
                <a:cs typeface="Georgia" pitchFamily="34" charset="-120"/>
              </a:rPr>
              <a:t>Die Sensitivitätsmatrix zeigt eine ökonomisch plausible 2-Faktor-Transmission</a:t>
            </a:r>
            <a:endParaRPr lang="en-US" sz="2000"/>
          </a:p>
        </p:txBody>
      </p:sp>
      <p:sp>
        <p:nvSpPr>
          <p:cNvPr id="5" name="Text 3"/>
          <p:cNvSpPr/>
          <p:nvPr/>
        </p:nvSpPr>
        <p:spPr>
          <a:xfrm>
            <a:off x="502920" y="1298448"/>
            <a:ext cx="10881360" cy="256032"/>
          </a:xfrm>
          <a:prstGeom prst="rect">
            <a:avLst/>
          </a:prstGeom>
          <a:noFill/>
          <a:ln/>
        </p:spPr>
        <p:txBody>
          <a:bodyPr wrap="square" lIns="0" tIns="0" rIns="0" bIns="0" rtlCol="0" anchor="ctr">
            <a:normAutofit/>
          </a:bodyPr>
          <a:lstStyle/>
          <a:p>
            <a:pPr marL="0" indent="0">
              <a:buNone/>
            </a:pPr>
            <a:r>
              <a:rPr lang="en-US" sz="1020" i="1">
                <a:solidFill>
                  <a:srgbClr val="667085"/>
                </a:solidFill>
                <a:latin typeface="Georgia" pitchFamily="34" charset="0"/>
                <a:ea typeface="Georgia" pitchFamily="34" charset="-122"/>
                <a:cs typeface="Georgia" pitchFamily="34" charset="-120"/>
              </a:rPr>
              <a:t>Jede IRB-Klasse reagiert anders auf Zins- und Ölpreisbewegungen.</a:t>
            </a:r>
            <a:endParaRPr lang="en-US" sz="1020"/>
          </a:p>
        </p:txBody>
      </p:sp>
      <p:sp>
        <p:nvSpPr>
          <p:cNvPr id="6" name="Text 4"/>
          <p:cNvSpPr/>
          <p:nvPr/>
        </p:nvSpPr>
        <p:spPr>
          <a:xfrm>
            <a:off x="502920" y="6528816"/>
            <a:ext cx="6492240" cy="164592"/>
          </a:xfrm>
          <a:prstGeom prst="rect">
            <a:avLst/>
          </a:prstGeom>
          <a:noFill/>
          <a:ln/>
        </p:spPr>
        <p:txBody>
          <a:bodyPr wrap="square" lIns="0" tIns="0" rIns="0" bIns="0" rtlCol="0" anchor="ctr"/>
          <a:lstStyle/>
          <a:p>
            <a:pPr marL="0" indent="0">
              <a:buNone/>
            </a:pPr>
            <a:r>
              <a:rPr lang="en-US" sz="750">
                <a:solidFill>
                  <a:srgbClr val="667085"/>
                </a:solidFill>
                <a:latin typeface="Aptos" pitchFamily="34" charset="0"/>
                <a:ea typeface="Aptos" pitchFamily="34" charset="-122"/>
                <a:cs typeface="Aptos" pitchFamily="34" charset="-120"/>
              </a:rPr>
              <a:t>EU Banking Credit Stress Cockpit · Studienprojekt 2026</a:t>
            </a:r>
            <a:endParaRPr lang="en-US" sz="750"/>
          </a:p>
        </p:txBody>
      </p:sp>
      <p:pic>
        <p:nvPicPr>
          <p:cNvPr id="8" name="Image 0" descr="/mnt/data/newplot (2)(2).png"/>
          <p:cNvPicPr>
            <a:picLocks noChangeAspect="1"/>
          </p:cNvPicPr>
          <p:nvPr/>
        </p:nvPicPr>
        <p:blipFill>
          <a:blip r:embed="rId3"/>
          <a:stretch>
            <a:fillRect/>
          </a:stretch>
        </p:blipFill>
        <p:spPr>
          <a:xfrm>
            <a:off x="1604570" y="1627632"/>
            <a:ext cx="8906659" cy="2971800"/>
          </a:xfrm>
          <a:prstGeom prst="rect">
            <a:avLst/>
          </a:prstGeom>
        </p:spPr>
      </p:pic>
      <p:sp>
        <p:nvSpPr>
          <p:cNvPr id="9" name="Shape 6"/>
          <p:cNvSpPr/>
          <p:nvPr/>
        </p:nvSpPr>
        <p:spPr>
          <a:xfrm>
            <a:off x="777240" y="4800600"/>
            <a:ext cx="3200400" cy="822960"/>
          </a:xfrm>
          <a:prstGeom prst="roundRect">
            <a:avLst>
              <a:gd name="adj" fmla="val 4444"/>
            </a:avLst>
          </a:prstGeom>
          <a:solidFill>
            <a:srgbClr val="FFFFFF">
              <a:alpha val="0"/>
            </a:srgbClr>
          </a:solidFill>
          <a:ln w="8890">
            <a:solidFill>
              <a:srgbClr val="D9DEE7"/>
            </a:solidFill>
            <a:prstDash val="solid"/>
          </a:ln>
        </p:spPr>
        <p:txBody>
          <a:bodyPr/>
          <a:lstStyle/>
          <a:p>
            <a:endParaRPr lang="de-DE"/>
          </a:p>
        </p:txBody>
      </p:sp>
      <p:sp>
        <p:nvSpPr>
          <p:cNvPr id="10" name="Shape 7"/>
          <p:cNvSpPr/>
          <p:nvPr/>
        </p:nvSpPr>
        <p:spPr>
          <a:xfrm>
            <a:off x="786384" y="4873752"/>
            <a:ext cx="0" cy="676656"/>
          </a:xfrm>
          <a:prstGeom prst="line">
            <a:avLst/>
          </a:prstGeom>
          <a:noFill/>
          <a:ln w="14605">
            <a:solidFill>
              <a:srgbClr val="B24462"/>
            </a:solidFill>
            <a:prstDash val="solid"/>
          </a:ln>
        </p:spPr>
        <p:txBody>
          <a:bodyPr/>
          <a:lstStyle/>
          <a:p>
            <a:endParaRPr lang="de-DE"/>
          </a:p>
        </p:txBody>
      </p:sp>
      <p:sp>
        <p:nvSpPr>
          <p:cNvPr id="11" name="Text 8"/>
          <p:cNvSpPr/>
          <p:nvPr/>
        </p:nvSpPr>
        <p:spPr>
          <a:xfrm>
            <a:off x="905256" y="4882896"/>
            <a:ext cx="2999232" cy="713232"/>
          </a:xfrm>
          <a:prstGeom prst="rect">
            <a:avLst/>
          </a:prstGeom>
          <a:noFill/>
          <a:ln/>
        </p:spPr>
        <p:txBody>
          <a:bodyPr wrap="square" lIns="0" tIns="0" rIns="0" bIns="0" rtlCol="0" anchor="t">
            <a:normAutofit/>
          </a:bodyPr>
          <a:lstStyle/>
          <a:p>
            <a:pPr marL="0" indent="0">
              <a:buNone/>
            </a:pPr>
            <a:r>
              <a:rPr lang="en-US" sz="1200" b="1">
                <a:solidFill>
                  <a:srgbClr val="102333"/>
                </a:solidFill>
                <a:latin typeface="Aptos" pitchFamily="34" charset="0"/>
                <a:ea typeface="Aptos" pitchFamily="34" charset="-122"/>
                <a:cs typeface="Aptos" pitchFamily="34" charset="-120"/>
              </a:rPr>
              <a:t>Mortgage
</a:t>
            </a:r>
            <a:r>
              <a:rPr lang="en-US" sz="1200">
                <a:solidFill>
                  <a:srgbClr val="667085"/>
                </a:solidFill>
                <a:latin typeface="Aptos" pitchFamily="34" charset="0"/>
                <a:ea typeface="Aptos" pitchFamily="34" charset="-122"/>
                <a:cs typeface="Aptos" pitchFamily="34" charset="-120"/>
              </a:rPr>
              <a:t>stärkste Zins-LGD-Reaktion: Sicherheiten- und Affordability-Kanal.</a:t>
            </a:r>
            <a:endParaRPr lang="en-US" sz="1200"/>
          </a:p>
        </p:txBody>
      </p:sp>
      <p:sp>
        <p:nvSpPr>
          <p:cNvPr id="12" name="Shape 9"/>
          <p:cNvSpPr/>
          <p:nvPr/>
        </p:nvSpPr>
        <p:spPr>
          <a:xfrm>
            <a:off x="4251960" y="4800600"/>
            <a:ext cx="3200400" cy="822960"/>
          </a:xfrm>
          <a:prstGeom prst="roundRect">
            <a:avLst>
              <a:gd name="adj" fmla="val 4444"/>
            </a:avLst>
          </a:prstGeom>
          <a:solidFill>
            <a:srgbClr val="FFFFFF">
              <a:alpha val="0"/>
            </a:srgbClr>
          </a:solidFill>
          <a:ln w="8890">
            <a:solidFill>
              <a:srgbClr val="D9DEE7"/>
            </a:solidFill>
            <a:prstDash val="solid"/>
          </a:ln>
        </p:spPr>
        <p:txBody>
          <a:bodyPr/>
          <a:lstStyle/>
          <a:p>
            <a:endParaRPr lang="de-DE"/>
          </a:p>
        </p:txBody>
      </p:sp>
      <p:sp>
        <p:nvSpPr>
          <p:cNvPr id="13" name="Shape 10"/>
          <p:cNvSpPr/>
          <p:nvPr/>
        </p:nvSpPr>
        <p:spPr>
          <a:xfrm>
            <a:off x="4261104" y="4873752"/>
            <a:ext cx="0" cy="676656"/>
          </a:xfrm>
          <a:prstGeom prst="line">
            <a:avLst/>
          </a:prstGeom>
          <a:noFill/>
          <a:ln w="14605">
            <a:solidFill>
              <a:srgbClr val="4656D8"/>
            </a:solidFill>
            <a:prstDash val="solid"/>
          </a:ln>
        </p:spPr>
        <p:txBody>
          <a:bodyPr/>
          <a:lstStyle/>
          <a:p>
            <a:endParaRPr lang="de-DE"/>
          </a:p>
        </p:txBody>
      </p:sp>
      <p:sp>
        <p:nvSpPr>
          <p:cNvPr id="14" name="Text 11"/>
          <p:cNvSpPr/>
          <p:nvPr/>
        </p:nvSpPr>
        <p:spPr>
          <a:xfrm>
            <a:off x="4379976" y="4882896"/>
            <a:ext cx="2999232" cy="713232"/>
          </a:xfrm>
          <a:prstGeom prst="rect">
            <a:avLst/>
          </a:prstGeom>
          <a:noFill/>
          <a:ln/>
        </p:spPr>
        <p:txBody>
          <a:bodyPr wrap="square" lIns="0" tIns="0" rIns="0" bIns="0" rtlCol="0" anchor="t">
            <a:noAutofit/>
          </a:bodyPr>
          <a:lstStyle/>
          <a:p>
            <a:pPr marL="0" indent="0">
              <a:buNone/>
            </a:pPr>
            <a:r>
              <a:rPr lang="en-US" sz="1200" b="1">
                <a:solidFill>
                  <a:srgbClr val="102333"/>
                </a:solidFill>
                <a:latin typeface="Aptos" pitchFamily="34" charset="0"/>
                <a:ea typeface="Aptos" pitchFamily="34" charset="-122"/>
                <a:cs typeface="Aptos" pitchFamily="34" charset="-120"/>
              </a:rPr>
              <a:t>Bank
</a:t>
            </a:r>
            <a:r>
              <a:rPr lang="en-US" sz="1200">
                <a:solidFill>
                  <a:srgbClr val="667085"/>
                </a:solidFill>
                <a:latin typeface="Aptos" pitchFamily="34" charset="0"/>
                <a:ea typeface="Aptos" pitchFamily="34" charset="-122"/>
                <a:cs typeface="Aptos" pitchFamily="34" charset="-120"/>
              </a:rPr>
              <a:t>leichte negative Zinswirkung auf PD, weil höhere Zinsen über die Net Interest Margin stützen können.</a:t>
            </a:r>
            <a:endParaRPr lang="en-US" sz="1200"/>
          </a:p>
        </p:txBody>
      </p:sp>
      <p:sp>
        <p:nvSpPr>
          <p:cNvPr id="15" name="Shape 12"/>
          <p:cNvSpPr/>
          <p:nvPr/>
        </p:nvSpPr>
        <p:spPr>
          <a:xfrm>
            <a:off x="7726680" y="4800600"/>
            <a:ext cx="3200400" cy="822960"/>
          </a:xfrm>
          <a:prstGeom prst="roundRect">
            <a:avLst>
              <a:gd name="adj" fmla="val 4444"/>
            </a:avLst>
          </a:prstGeom>
          <a:solidFill>
            <a:srgbClr val="FFFFFF">
              <a:alpha val="0"/>
            </a:srgbClr>
          </a:solidFill>
          <a:ln w="8890">
            <a:solidFill>
              <a:srgbClr val="D9DEE7"/>
            </a:solidFill>
            <a:prstDash val="solid"/>
          </a:ln>
        </p:spPr>
        <p:txBody>
          <a:bodyPr/>
          <a:lstStyle/>
          <a:p>
            <a:endParaRPr lang="de-DE"/>
          </a:p>
        </p:txBody>
      </p:sp>
      <p:sp>
        <p:nvSpPr>
          <p:cNvPr id="16" name="Shape 13"/>
          <p:cNvSpPr/>
          <p:nvPr/>
        </p:nvSpPr>
        <p:spPr>
          <a:xfrm>
            <a:off x="7735824" y="4873752"/>
            <a:ext cx="0" cy="676656"/>
          </a:xfrm>
          <a:prstGeom prst="line">
            <a:avLst/>
          </a:prstGeom>
          <a:noFill/>
          <a:ln w="14605">
            <a:solidFill>
              <a:srgbClr val="C79A1E"/>
            </a:solidFill>
            <a:prstDash val="solid"/>
          </a:ln>
        </p:spPr>
        <p:txBody>
          <a:bodyPr/>
          <a:lstStyle/>
          <a:p>
            <a:endParaRPr lang="de-DE"/>
          </a:p>
        </p:txBody>
      </p:sp>
      <p:sp>
        <p:nvSpPr>
          <p:cNvPr id="17" name="Text 14"/>
          <p:cNvSpPr/>
          <p:nvPr/>
        </p:nvSpPr>
        <p:spPr>
          <a:xfrm>
            <a:off x="7854696" y="4882896"/>
            <a:ext cx="2999232" cy="713232"/>
          </a:xfrm>
          <a:prstGeom prst="rect">
            <a:avLst/>
          </a:prstGeom>
          <a:noFill/>
          <a:ln/>
        </p:spPr>
        <p:txBody>
          <a:bodyPr wrap="square" lIns="0" tIns="0" rIns="0" bIns="0" rtlCol="0" anchor="t">
            <a:normAutofit/>
          </a:bodyPr>
          <a:lstStyle/>
          <a:p>
            <a:pPr marL="0" indent="0">
              <a:buNone/>
            </a:pPr>
            <a:r>
              <a:rPr lang="en-US" sz="1200" b="1">
                <a:solidFill>
                  <a:srgbClr val="102333"/>
                </a:solidFill>
                <a:latin typeface="Aptos" pitchFamily="34" charset="0"/>
                <a:ea typeface="Aptos" pitchFamily="34" charset="-122"/>
                <a:cs typeface="Aptos" pitchFamily="34" charset="-120"/>
              </a:rPr>
              <a:t>Sovereign
</a:t>
            </a:r>
            <a:r>
              <a:rPr lang="en-US" sz="1200">
                <a:solidFill>
                  <a:srgbClr val="667085"/>
                </a:solidFill>
                <a:latin typeface="Aptos" pitchFamily="34" charset="0"/>
                <a:ea typeface="Aptos" pitchFamily="34" charset="-122"/>
                <a:cs typeface="Aptos" pitchFamily="34" charset="-120"/>
              </a:rPr>
              <a:t>keine PD/LGD-Transmission; Wirkung läuft separat über den Marktbuch-Kanal.</a:t>
            </a:r>
            <a:endParaRPr lang="en-US" sz="1200"/>
          </a:p>
        </p:txBody>
      </p:sp>
      <p:sp>
        <p:nvSpPr>
          <p:cNvPr id="18" name="Shape 15"/>
          <p:cNvSpPr/>
          <p:nvPr/>
        </p:nvSpPr>
        <p:spPr>
          <a:xfrm>
            <a:off x="502920" y="6089904"/>
            <a:ext cx="11155680" cy="0"/>
          </a:xfrm>
          <a:prstGeom prst="line">
            <a:avLst/>
          </a:prstGeom>
          <a:noFill/>
          <a:ln w="10160">
            <a:solidFill>
              <a:srgbClr val="D9DEE7"/>
            </a:solidFill>
            <a:prstDash val="solid"/>
          </a:ln>
        </p:spPr>
        <p:txBody>
          <a:bodyPr/>
          <a:lstStyle/>
          <a:p>
            <a:endParaRPr lang="de-DE"/>
          </a:p>
        </p:txBody>
      </p:sp>
      <p:sp>
        <p:nvSpPr>
          <p:cNvPr id="19" name="Text 16"/>
          <p:cNvSpPr/>
          <p:nvPr/>
        </p:nvSpPr>
        <p:spPr>
          <a:xfrm>
            <a:off x="502920" y="6144768"/>
            <a:ext cx="10972800" cy="201168"/>
          </a:xfrm>
          <a:prstGeom prst="rect">
            <a:avLst/>
          </a:prstGeom>
          <a:noFill/>
          <a:ln/>
        </p:spPr>
        <p:txBody>
          <a:bodyPr wrap="square" lIns="0" tIns="0" rIns="0" bIns="0" rtlCol="0" anchor="ctr">
            <a:normAutofit/>
          </a:bodyPr>
          <a:lstStyle/>
          <a:p>
            <a:pPr marL="0" indent="0">
              <a:buNone/>
            </a:pPr>
            <a:r>
              <a:rPr lang="en-US" sz="1000" b="1">
                <a:solidFill>
                  <a:srgbClr val="667085"/>
                </a:solidFill>
                <a:latin typeface="Aptos" pitchFamily="34" charset="0"/>
                <a:ea typeface="Aptos" pitchFamily="34" charset="-122"/>
                <a:cs typeface="Aptos" pitchFamily="34" charset="-120"/>
              </a:rPr>
              <a:t>SPRECHANKER  </a:t>
            </a:r>
            <a:r>
              <a:rPr lang="en-US" sz="1000">
                <a:solidFill>
                  <a:srgbClr val="667085"/>
                </a:solidFill>
                <a:latin typeface="Aptos" pitchFamily="34" charset="0"/>
                <a:ea typeface="Aptos" pitchFamily="34" charset="-122"/>
                <a:cs typeface="Aptos" pitchFamily="34" charset="-120"/>
              </a:rPr>
              <a:t>Hier validieren </a:t>
            </a:r>
            <a:r>
              <a:rPr lang="en-US" sz="1000" err="1">
                <a:solidFill>
                  <a:srgbClr val="667085"/>
                </a:solidFill>
                <a:latin typeface="Aptos" pitchFamily="34" charset="0"/>
                <a:ea typeface="Aptos" pitchFamily="34" charset="-122"/>
                <a:cs typeface="Aptos" pitchFamily="34" charset="-120"/>
              </a:rPr>
              <a:t>wir</a:t>
            </a:r>
            <a:r>
              <a:rPr lang="en-US" sz="1000">
                <a:solidFill>
                  <a:srgbClr val="667085"/>
                </a:solidFill>
                <a:latin typeface="Aptos" pitchFamily="34" charset="0"/>
                <a:ea typeface="Aptos" pitchFamily="34" charset="-122"/>
                <a:cs typeface="Aptos" pitchFamily="34" charset="-120"/>
              </a:rPr>
              <a:t> die Logik der Vorzeichen und Größenordnungen, nicht nur eine Ergebniszahl.</a:t>
            </a:r>
            <a:endParaRPr lang="en-US" sz="1000"/>
          </a:p>
        </p:txBody>
      </p:sp>
      <p:sp>
        <p:nvSpPr>
          <p:cNvPr id="2" name="CodexSlideNumber">
            <a:extLst>
              <a:ext uri="{FF2B5EF4-FFF2-40B4-BE49-F238E27FC236}">
                <a16:creationId xmlns:a16="http://schemas.microsoft.com/office/drawing/2014/main" id="{489B8E8F-512E-AF8B-CCA3-47DCB4B475BE}"/>
              </a:ext>
            </a:extLst>
          </p:cNvPr>
          <p:cNvSpPr txBox="1"/>
          <p:nvPr/>
        </p:nvSpPr>
        <p:spPr>
          <a:xfrm>
            <a:off x="11226800" y="6553200"/>
            <a:ext cx="736600" cy="123111"/>
          </a:xfrm>
          <a:prstGeom prst="rect">
            <a:avLst/>
          </a:prstGeom>
          <a:noFill/>
        </p:spPr>
        <p:txBody>
          <a:bodyPr vert="horz" lIns="0" tIns="0" rIns="0" bIns="0" rtlCol="0">
            <a:spAutoFit/>
          </a:bodyPr>
          <a:lstStyle/>
          <a:p>
            <a:pPr algn="r"/>
            <a:r>
              <a:rPr lang="en-US" sz="800">
                <a:solidFill>
                  <a:srgbClr val="525252"/>
                </a:solidFill>
                <a:latin typeface="Arial" panose="020B0604020202020204" pitchFamily="34" charset="0"/>
              </a:rPr>
              <a:t>60 / 64</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502920" y="502920"/>
            <a:ext cx="10789920" cy="201168"/>
          </a:xfrm>
          <a:prstGeom prst="rect">
            <a:avLst/>
          </a:prstGeom>
          <a:noFill/>
          <a:ln/>
        </p:spPr>
        <p:txBody>
          <a:bodyPr wrap="square" lIns="0" tIns="0" rIns="0" bIns="0" rtlCol="0" anchor="ctr">
            <a:normAutofit/>
          </a:bodyPr>
          <a:lstStyle/>
          <a:p>
            <a:pPr>
              <a:defRPr sz="975" b="1">
                <a:solidFill>
                  <a:srgbClr val="5B666D"/>
                </a:solidFill>
                <a:latin typeface="Aptos"/>
                <a:ea typeface="Aptos"/>
                <a:cs typeface="Aptos"/>
              </a:defRPr>
            </a:pPr>
            <a:r>
              <a:rPr lang="en-US" sz="863" b="1" dirty="0">
                <a:solidFill>
                  <a:schemeClr val="tx2"/>
                </a:solidFill>
                <a:latin typeface="Aptos"/>
              </a:rPr>
              <a:t>EBENE 3 · OUTCOME-VALIDIERUNG</a:t>
            </a:r>
          </a:p>
        </p:txBody>
      </p:sp>
      <p:sp>
        <p:nvSpPr>
          <p:cNvPr id="4" name="Text 2"/>
          <p:cNvSpPr/>
          <p:nvPr/>
        </p:nvSpPr>
        <p:spPr>
          <a:xfrm>
            <a:off x="502920" y="749808"/>
            <a:ext cx="10972800" cy="384048"/>
          </a:xfrm>
          <a:prstGeom prst="rect">
            <a:avLst/>
          </a:prstGeom>
          <a:noFill/>
          <a:ln/>
        </p:spPr>
        <p:txBody>
          <a:bodyPr wrap="square" lIns="0" tIns="0" rIns="0" bIns="0" rtlCol="0" anchor="ctr">
            <a:normAutofit/>
          </a:bodyPr>
          <a:lstStyle/>
          <a:p>
            <a:r>
              <a:rPr lang="en-US" sz="2000" b="1" dirty="0">
                <a:solidFill>
                  <a:srgbClr val="102333"/>
                </a:solidFill>
                <a:latin typeface="Georgia"/>
                <a:ea typeface="Georgia" pitchFamily="34" charset="-122"/>
                <a:cs typeface="Georgia" pitchFamily="34" charset="-120"/>
              </a:rPr>
              <a:t>Die CET1-Zielgröße </a:t>
            </a:r>
            <a:r>
              <a:rPr lang="en-US" sz="2000" b="1" dirty="0" err="1">
                <a:solidFill>
                  <a:srgbClr val="102333"/>
                </a:solidFill>
                <a:latin typeface="Georgia"/>
                <a:ea typeface="Georgia" pitchFamily="34" charset="-122"/>
                <a:cs typeface="Georgia" pitchFamily="34" charset="-120"/>
              </a:rPr>
              <a:t>liegt</a:t>
            </a:r>
            <a:r>
              <a:rPr lang="en-US" sz="2000" b="1" dirty="0">
                <a:solidFill>
                  <a:srgbClr val="102333"/>
                </a:solidFill>
                <a:latin typeface="Georgia"/>
                <a:ea typeface="Georgia" pitchFamily="34" charset="-122"/>
                <a:cs typeface="Georgia" pitchFamily="34" charset="-120"/>
              </a:rPr>
              <a:t> </a:t>
            </a:r>
            <a:r>
              <a:rPr lang="en-US" sz="2000" b="1" dirty="0" err="1">
                <a:solidFill>
                  <a:srgbClr val="102333"/>
                </a:solidFill>
                <a:latin typeface="Georgia"/>
                <a:ea typeface="Georgia" pitchFamily="34" charset="-122"/>
                <a:cs typeface="Georgia" pitchFamily="34" charset="-120"/>
              </a:rPr>
              <a:t>im</a:t>
            </a:r>
            <a:r>
              <a:rPr lang="en-US" sz="2000" b="1" dirty="0">
                <a:solidFill>
                  <a:srgbClr val="102333"/>
                </a:solidFill>
                <a:latin typeface="Georgia"/>
                <a:ea typeface="Georgia" pitchFamily="34" charset="-122"/>
                <a:cs typeface="Georgia" pitchFamily="34" charset="-120"/>
              </a:rPr>
              <a:t> Mittel 1,26 </a:t>
            </a:r>
            <a:r>
              <a:rPr lang="en-US" sz="2000" b="1" dirty="0" err="1">
                <a:solidFill>
                  <a:srgbClr val="102333"/>
                </a:solidFill>
                <a:latin typeface="Georgia"/>
                <a:ea typeface="Georgia" pitchFamily="34" charset="-122"/>
                <a:cs typeface="Georgia" pitchFamily="34" charset="-120"/>
              </a:rPr>
              <a:t>Prozentpunkte</a:t>
            </a:r>
            <a:r>
              <a:rPr lang="en-US" sz="2000" b="1" dirty="0">
                <a:solidFill>
                  <a:srgbClr val="102333"/>
                </a:solidFill>
                <a:latin typeface="Georgia"/>
                <a:ea typeface="Georgia" pitchFamily="34" charset="-122"/>
                <a:cs typeface="Georgia" pitchFamily="34" charset="-120"/>
              </a:rPr>
              <a:t> von der </a:t>
            </a:r>
            <a:r>
              <a:rPr lang="en-US" sz="2000" b="1" dirty="0" err="1">
                <a:solidFill>
                  <a:srgbClr val="102333"/>
                </a:solidFill>
                <a:latin typeface="Georgia"/>
                <a:ea typeface="Georgia" pitchFamily="34" charset="-122"/>
                <a:cs typeface="Georgia" pitchFamily="34" charset="-120"/>
              </a:rPr>
              <a:t>Realität</a:t>
            </a:r>
            <a:r>
              <a:rPr lang="en-US" sz="2000" b="1" dirty="0">
                <a:solidFill>
                  <a:srgbClr val="102333"/>
                </a:solidFill>
                <a:latin typeface="Georgia"/>
                <a:ea typeface="Georgia" pitchFamily="34" charset="-122"/>
                <a:cs typeface="Georgia" pitchFamily="34" charset="-120"/>
              </a:rPr>
              <a:t> </a:t>
            </a:r>
            <a:r>
              <a:rPr lang="en-US" sz="2000" b="1" dirty="0" err="1">
                <a:solidFill>
                  <a:srgbClr val="102333"/>
                </a:solidFill>
                <a:latin typeface="Georgia"/>
                <a:ea typeface="Georgia" pitchFamily="34" charset="-122"/>
                <a:cs typeface="Georgia" pitchFamily="34" charset="-120"/>
              </a:rPr>
              <a:t>entfernt</a:t>
            </a:r>
            <a:endParaRPr lang="en-US" sz="2000" dirty="0">
              <a:latin typeface="Georgia"/>
            </a:endParaRPr>
          </a:p>
        </p:txBody>
      </p:sp>
      <p:sp>
        <p:nvSpPr>
          <p:cNvPr id="5" name="Text 3"/>
          <p:cNvSpPr/>
          <p:nvPr/>
        </p:nvSpPr>
        <p:spPr>
          <a:xfrm>
            <a:off x="502920" y="1298448"/>
            <a:ext cx="10881360" cy="256032"/>
          </a:xfrm>
          <a:prstGeom prst="rect">
            <a:avLst/>
          </a:prstGeom>
          <a:noFill/>
          <a:ln/>
        </p:spPr>
        <p:txBody>
          <a:bodyPr wrap="square" lIns="0" tIns="0" rIns="0" bIns="0" rtlCol="0" anchor="ctr">
            <a:normAutofit/>
          </a:bodyPr>
          <a:lstStyle/>
          <a:p>
            <a:pPr marL="0" indent="0">
              <a:buNone/>
            </a:pPr>
            <a:r>
              <a:rPr lang="en-US" sz="1000" i="1">
                <a:solidFill>
                  <a:srgbClr val="667085"/>
                </a:solidFill>
                <a:latin typeface="Georgia"/>
                <a:ea typeface="Georgia" pitchFamily="34" charset="-122"/>
                <a:cs typeface="Georgia" pitchFamily="34" charset="-120"/>
              </a:rPr>
              <a:t>Das Modell </a:t>
            </a:r>
            <a:r>
              <a:rPr lang="en-US" sz="1000" i="1" err="1">
                <a:solidFill>
                  <a:srgbClr val="667085"/>
                </a:solidFill>
                <a:latin typeface="Georgia"/>
                <a:ea typeface="Georgia" pitchFamily="34" charset="-122"/>
                <a:cs typeface="Georgia" pitchFamily="34" charset="-120"/>
              </a:rPr>
              <a:t>trifft</a:t>
            </a:r>
            <a:r>
              <a:rPr lang="en-US" sz="1000" i="1">
                <a:solidFill>
                  <a:srgbClr val="667085"/>
                </a:solidFill>
                <a:latin typeface="Georgia"/>
                <a:ea typeface="Georgia" pitchFamily="34" charset="-122"/>
                <a:cs typeface="Georgia" pitchFamily="34" charset="-120"/>
              </a:rPr>
              <a:t> nicht </a:t>
            </a:r>
            <a:r>
              <a:rPr lang="en-US" sz="1000" i="1" err="1">
                <a:solidFill>
                  <a:srgbClr val="667085"/>
                </a:solidFill>
                <a:latin typeface="Georgia"/>
                <a:ea typeface="Georgia" pitchFamily="34" charset="-122"/>
                <a:cs typeface="Georgia" pitchFamily="34" charset="-120"/>
              </a:rPr>
              <a:t>jeden</a:t>
            </a:r>
            <a:r>
              <a:rPr lang="en-US" sz="1000" i="1">
                <a:solidFill>
                  <a:srgbClr val="667085"/>
                </a:solidFill>
                <a:latin typeface="Georgia"/>
                <a:ea typeface="Georgia" pitchFamily="34" charset="-122"/>
                <a:cs typeface="Georgia" pitchFamily="34" charset="-120"/>
              </a:rPr>
              <a:t> </a:t>
            </a:r>
            <a:r>
              <a:rPr lang="en-US" sz="1000" i="1" err="1">
                <a:solidFill>
                  <a:srgbClr val="667085"/>
                </a:solidFill>
                <a:latin typeface="Georgia"/>
                <a:ea typeface="Georgia" pitchFamily="34" charset="-122"/>
                <a:cs typeface="Georgia" pitchFamily="34" charset="-120"/>
              </a:rPr>
              <a:t>punkt</a:t>
            </a:r>
            <a:r>
              <a:rPr lang="en-US" sz="1000" i="1">
                <a:solidFill>
                  <a:srgbClr val="667085"/>
                </a:solidFill>
                <a:latin typeface="Georgia"/>
                <a:ea typeface="Georgia" pitchFamily="34" charset="-122"/>
                <a:cs typeface="Georgia" pitchFamily="34" charset="-120"/>
              </a:rPr>
              <a:t> </a:t>
            </a:r>
            <a:r>
              <a:rPr lang="en-US" sz="1000" i="1" err="1">
                <a:solidFill>
                  <a:srgbClr val="667085"/>
                </a:solidFill>
                <a:latin typeface="Georgia"/>
                <a:ea typeface="Georgia" pitchFamily="34" charset="-122"/>
                <a:cs typeface="Georgia" pitchFamily="34" charset="-120"/>
              </a:rPr>
              <a:t>exakt</a:t>
            </a:r>
            <a:r>
              <a:rPr lang="en-US" sz="1000" i="1">
                <a:solidFill>
                  <a:srgbClr val="667085"/>
                </a:solidFill>
                <a:latin typeface="Georgia"/>
                <a:ea typeface="Georgia" pitchFamily="34" charset="-122"/>
                <a:cs typeface="Georgia" pitchFamily="34" charset="-120"/>
              </a:rPr>
              <a:t>, </a:t>
            </a:r>
            <a:r>
              <a:rPr lang="en-US" sz="1000" i="1" err="1">
                <a:solidFill>
                  <a:srgbClr val="667085"/>
                </a:solidFill>
                <a:latin typeface="Georgia"/>
                <a:ea typeface="Georgia" pitchFamily="34" charset="-122"/>
                <a:cs typeface="Georgia" pitchFamily="34" charset="-120"/>
              </a:rPr>
              <a:t>liegt</a:t>
            </a:r>
            <a:r>
              <a:rPr lang="en-US" sz="1000" i="1">
                <a:solidFill>
                  <a:srgbClr val="667085"/>
                </a:solidFill>
                <a:latin typeface="Georgia"/>
                <a:ea typeface="Georgia" pitchFamily="34" charset="-122"/>
                <a:cs typeface="Georgia" pitchFamily="34" charset="-120"/>
              </a:rPr>
              <a:t> </a:t>
            </a:r>
            <a:r>
              <a:rPr lang="en-US" sz="1000" i="1" err="1">
                <a:solidFill>
                  <a:srgbClr val="667085"/>
                </a:solidFill>
                <a:latin typeface="Georgia"/>
                <a:ea typeface="Georgia" pitchFamily="34" charset="-122"/>
                <a:cs typeface="Georgia" pitchFamily="34" charset="-120"/>
              </a:rPr>
              <a:t>aber</a:t>
            </a:r>
            <a:r>
              <a:rPr lang="en-US" sz="1000" i="1">
                <a:solidFill>
                  <a:srgbClr val="667085"/>
                </a:solidFill>
                <a:latin typeface="Georgia"/>
                <a:ea typeface="Georgia" pitchFamily="34" charset="-122"/>
                <a:cs typeface="Georgia" pitchFamily="34" charset="-120"/>
              </a:rPr>
              <a:t> </a:t>
            </a:r>
            <a:r>
              <a:rPr lang="en-US" sz="1000" i="1" err="1">
                <a:solidFill>
                  <a:srgbClr val="667085"/>
                </a:solidFill>
                <a:latin typeface="Georgia"/>
                <a:ea typeface="Georgia" pitchFamily="34" charset="-122"/>
                <a:cs typeface="Georgia" pitchFamily="34" charset="-120"/>
              </a:rPr>
              <a:t>häufig</a:t>
            </a:r>
            <a:r>
              <a:rPr lang="en-US" sz="1000" i="1">
                <a:solidFill>
                  <a:srgbClr val="667085"/>
                </a:solidFill>
                <a:latin typeface="Georgia"/>
                <a:ea typeface="Georgia" pitchFamily="34" charset="-122"/>
                <a:cs typeface="Georgia" pitchFamily="34" charset="-120"/>
              </a:rPr>
              <a:t> </a:t>
            </a:r>
            <a:r>
              <a:rPr lang="en-US" sz="1000" i="1" err="1">
                <a:solidFill>
                  <a:srgbClr val="667085"/>
                </a:solidFill>
                <a:latin typeface="Georgia"/>
                <a:ea typeface="Georgia" pitchFamily="34" charset="-122"/>
                <a:cs typeface="Georgia" pitchFamily="34" charset="-120"/>
              </a:rPr>
              <a:t>konservativ</a:t>
            </a:r>
            <a:r>
              <a:rPr lang="en-US" sz="1000" i="1">
                <a:solidFill>
                  <a:srgbClr val="667085"/>
                </a:solidFill>
                <a:latin typeface="Georgia"/>
                <a:ea typeface="Georgia" pitchFamily="34" charset="-122"/>
                <a:cs typeface="Georgia" pitchFamily="34" charset="-120"/>
              </a:rPr>
              <a:t> und </a:t>
            </a:r>
            <a:r>
              <a:rPr lang="en-US" sz="1000" i="1" err="1">
                <a:solidFill>
                  <a:srgbClr val="667085"/>
                </a:solidFill>
                <a:latin typeface="Georgia"/>
                <a:ea typeface="Georgia" pitchFamily="34" charset="-122"/>
                <a:cs typeface="Georgia" pitchFamily="34" charset="-120"/>
              </a:rPr>
              <a:t>im</a:t>
            </a:r>
            <a:r>
              <a:rPr lang="en-US" sz="1000" i="1">
                <a:solidFill>
                  <a:srgbClr val="667085"/>
                </a:solidFill>
                <a:latin typeface="Georgia"/>
                <a:ea typeface="Georgia" pitchFamily="34" charset="-122"/>
                <a:cs typeface="Georgia" pitchFamily="34" charset="-120"/>
              </a:rPr>
              <a:t> </a:t>
            </a:r>
            <a:r>
              <a:rPr lang="en-US" sz="1000" i="1" err="1">
                <a:solidFill>
                  <a:srgbClr val="667085"/>
                </a:solidFill>
                <a:latin typeface="Georgia"/>
                <a:ea typeface="Georgia" pitchFamily="34" charset="-122"/>
                <a:cs typeface="Georgia" pitchFamily="34" charset="-120"/>
              </a:rPr>
              <a:t>Niveau</a:t>
            </a:r>
            <a:r>
              <a:rPr lang="en-US" sz="1000" i="1">
                <a:solidFill>
                  <a:srgbClr val="667085"/>
                </a:solidFill>
                <a:latin typeface="Georgia"/>
                <a:ea typeface="Georgia" pitchFamily="34" charset="-122"/>
                <a:cs typeface="Georgia" pitchFamily="34" charset="-120"/>
              </a:rPr>
              <a:t> nah.</a:t>
            </a:r>
            <a:endParaRPr lang="en-US" sz="1000">
              <a:latin typeface="Georgia"/>
            </a:endParaRPr>
          </a:p>
        </p:txBody>
      </p:sp>
      <p:sp>
        <p:nvSpPr>
          <p:cNvPr id="6" name="Text 4"/>
          <p:cNvSpPr/>
          <p:nvPr/>
        </p:nvSpPr>
        <p:spPr>
          <a:xfrm>
            <a:off x="502920" y="6528816"/>
            <a:ext cx="6492240" cy="164592"/>
          </a:xfrm>
          <a:prstGeom prst="rect">
            <a:avLst/>
          </a:prstGeom>
          <a:noFill/>
          <a:ln/>
        </p:spPr>
        <p:txBody>
          <a:bodyPr wrap="square" lIns="0" tIns="0" rIns="0" bIns="0" rtlCol="0" anchor="ctr"/>
          <a:lstStyle/>
          <a:p>
            <a:pPr marL="0" indent="0">
              <a:buNone/>
            </a:pPr>
            <a:r>
              <a:rPr lang="en-US" sz="750">
                <a:solidFill>
                  <a:srgbClr val="667085"/>
                </a:solidFill>
                <a:latin typeface="Aptos" pitchFamily="34" charset="0"/>
                <a:ea typeface="Aptos" pitchFamily="34" charset="-122"/>
                <a:cs typeface="Aptos" pitchFamily="34" charset="-120"/>
              </a:rPr>
              <a:t>EU Banking Credit Stress Cockpit · Studienprojekt 2026</a:t>
            </a:r>
            <a:endParaRPr lang="en-US" sz="750"/>
          </a:p>
        </p:txBody>
      </p:sp>
      <p:sp>
        <p:nvSpPr>
          <p:cNvPr id="9" name="Shape 6"/>
          <p:cNvSpPr/>
          <p:nvPr/>
        </p:nvSpPr>
        <p:spPr>
          <a:xfrm>
            <a:off x="4535424" y="1737360"/>
            <a:ext cx="0" cy="713232"/>
          </a:xfrm>
          <a:prstGeom prst="line">
            <a:avLst/>
          </a:prstGeom>
          <a:noFill/>
          <a:ln w="16510">
            <a:solidFill>
              <a:srgbClr val="B24462"/>
            </a:solidFill>
            <a:prstDash val="solid"/>
          </a:ln>
        </p:spPr>
        <p:txBody>
          <a:bodyPr/>
          <a:lstStyle/>
          <a:p>
            <a:endParaRPr lang="de-DE"/>
          </a:p>
        </p:txBody>
      </p:sp>
      <p:sp>
        <p:nvSpPr>
          <p:cNvPr id="10" name="Text 7"/>
          <p:cNvSpPr/>
          <p:nvPr/>
        </p:nvSpPr>
        <p:spPr>
          <a:xfrm>
            <a:off x="4645152" y="1764792"/>
            <a:ext cx="1709928" cy="146304"/>
          </a:xfrm>
          <a:prstGeom prst="rect">
            <a:avLst/>
          </a:prstGeom>
          <a:noFill/>
          <a:ln/>
        </p:spPr>
        <p:txBody>
          <a:bodyPr wrap="square" lIns="0" tIns="0" rIns="0" bIns="0" rtlCol="0" anchor="ctr">
            <a:normAutofit lnSpcReduction="10000"/>
          </a:bodyPr>
          <a:lstStyle/>
          <a:p>
            <a:pPr marL="0" indent="0">
              <a:buNone/>
            </a:pPr>
            <a:r>
              <a:rPr lang="en-US" sz="1000" b="1">
                <a:solidFill>
                  <a:srgbClr val="667085"/>
                </a:solidFill>
                <a:latin typeface="Aptos" pitchFamily="34" charset="0"/>
                <a:ea typeface="Aptos" pitchFamily="34" charset="-122"/>
                <a:cs typeface="Aptos" pitchFamily="34" charset="-120"/>
              </a:rPr>
              <a:t>MAE CET1</a:t>
            </a:r>
            <a:endParaRPr lang="en-US" sz="1000"/>
          </a:p>
        </p:txBody>
      </p:sp>
      <p:sp>
        <p:nvSpPr>
          <p:cNvPr id="11" name="Text 8"/>
          <p:cNvSpPr/>
          <p:nvPr/>
        </p:nvSpPr>
        <p:spPr>
          <a:xfrm>
            <a:off x="4645152" y="1975104"/>
            <a:ext cx="1709928" cy="320040"/>
          </a:xfrm>
          <a:prstGeom prst="rect">
            <a:avLst/>
          </a:prstGeom>
          <a:noFill/>
          <a:ln/>
        </p:spPr>
        <p:txBody>
          <a:bodyPr wrap="square" lIns="0" tIns="0" rIns="0" bIns="0" rtlCol="0" anchor="ctr">
            <a:normAutofit/>
          </a:bodyPr>
          <a:lstStyle/>
          <a:p>
            <a:pPr marL="0" indent="0">
              <a:buNone/>
            </a:pPr>
            <a:r>
              <a:rPr lang="en-US" sz="1550" b="1">
                <a:solidFill>
                  <a:srgbClr val="102333"/>
                </a:solidFill>
                <a:latin typeface="Georgia"/>
                <a:ea typeface="Georgia" pitchFamily="34" charset="-122"/>
                <a:cs typeface="Georgia" pitchFamily="34" charset="-120"/>
              </a:rPr>
              <a:t>1,26 pp</a:t>
            </a:r>
            <a:endParaRPr lang="en-US" sz="1550">
              <a:latin typeface="Georgia"/>
            </a:endParaRPr>
          </a:p>
        </p:txBody>
      </p:sp>
      <p:sp>
        <p:nvSpPr>
          <p:cNvPr id="12" name="Text 9"/>
          <p:cNvSpPr/>
          <p:nvPr/>
        </p:nvSpPr>
        <p:spPr>
          <a:xfrm>
            <a:off x="4645152" y="2359152"/>
            <a:ext cx="1709928" cy="201168"/>
          </a:xfrm>
          <a:prstGeom prst="rect">
            <a:avLst/>
          </a:prstGeom>
          <a:noFill/>
          <a:ln/>
        </p:spPr>
        <p:txBody>
          <a:bodyPr wrap="square" lIns="0" tIns="0" rIns="0" bIns="0" rtlCol="0" anchor="ctr">
            <a:normAutofit/>
          </a:bodyPr>
          <a:lstStyle/>
          <a:p>
            <a:pPr marL="0" indent="0">
              <a:buNone/>
            </a:pPr>
            <a:r>
              <a:rPr lang="en-US" sz="900">
                <a:solidFill>
                  <a:srgbClr val="667085"/>
                </a:solidFill>
                <a:latin typeface="Aptos" pitchFamily="34" charset="0"/>
                <a:ea typeface="Aptos" pitchFamily="34" charset="-122"/>
                <a:cs typeface="Aptos" pitchFamily="34" charset="-120"/>
              </a:rPr>
              <a:t>mittlerer Abstand</a:t>
            </a:r>
            <a:endParaRPr lang="en-US" sz="900"/>
          </a:p>
        </p:txBody>
      </p:sp>
      <p:sp>
        <p:nvSpPr>
          <p:cNvPr id="17" name="Shape 14"/>
          <p:cNvSpPr/>
          <p:nvPr/>
        </p:nvSpPr>
        <p:spPr>
          <a:xfrm>
            <a:off x="7113147" y="1708281"/>
            <a:ext cx="0" cy="713232"/>
          </a:xfrm>
          <a:prstGeom prst="line">
            <a:avLst/>
          </a:prstGeom>
          <a:noFill/>
          <a:ln w="16510">
            <a:solidFill>
              <a:srgbClr val="C79A1E"/>
            </a:solidFill>
            <a:prstDash val="solid"/>
          </a:ln>
        </p:spPr>
        <p:txBody>
          <a:bodyPr/>
          <a:lstStyle/>
          <a:p>
            <a:endParaRPr lang="de-DE"/>
          </a:p>
        </p:txBody>
      </p:sp>
      <p:sp>
        <p:nvSpPr>
          <p:cNvPr id="18" name="Text 15"/>
          <p:cNvSpPr/>
          <p:nvPr/>
        </p:nvSpPr>
        <p:spPr>
          <a:xfrm>
            <a:off x="7222874" y="1703070"/>
            <a:ext cx="1709928" cy="146304"/>
          </a:xfrm>
          <a:prstGeom prst="rect">
            <a:avLst/>
          </a:prstGeom>
          <a:noFill/>
          <a:ln/>
        </p:spPr>
        <p:txBody>
          <a:bodyPr wrap="square" lIns="0" tIns="0" rIns="0" bIns="0" rtlCol="0" anchor="ctr">
            <a:noAutofit/>
          </a:bodyPr>
          <a:lstStyle/>
          <a:p>
            <a:pPr marL="0" indent="0">
              <a:buNone/>
            </a:pPr>
            <a:r>
              <a:rPr lang="en-US" sz="1000" b="1">
                <a:solidFill>
                  <a:srgbClr val="667085"/>
                </a:solidFill>
                <a:latin typeface="Aptos" pitchFamily="34" charset="0"/>
                <a:ea typeface="Aptos" pitchFamily="34" charset="-122"/>
                <a:cs typeface="Aptos" pitchFamily="34" charset="-120"/>
              </a:rPr>
              <a:t>KONSERVATIV</a:t>
            </a:r>
            <a:endParaRPr lang="en-US" sz="1000"/>
          </a:p>
        </p:txBody>
      </p:sp>
      <p:sp>
        <p:nvSpPr>
          <p:cNvPr id="19" name="Text 16"/>
          <p:cNvSpPr/>
          <p:nvPr/>
        </p:nvSpPr>
        <p:spPr>
          <a:xfrm>
            <a:off x="7225021" y="1945386"/>
            <a:ext cx="1709928" cy="320040"/>
          </a:xfrm>
          <a:prstGeom prst="rect">
            <a:avLst/>
          </a:prstGeom>
          <a:noFill/>
          <a:ln/>
        </p:spPr>
        <p:txBody>
          <a:bodyPr wrap="square" lIns="0" tIns="0" rIns="0" bIns="0" rtlCol="0" anchor="ctr">
            <a:normAutofit/>
          </a:bodyPr>
          <a:lstStyle/>
          <a:p>
            <a:pPr marL="0" indent="0">
              <a:buNone/>
            </a:pPr>
            <a:r>
              <a:rPr lang="en-US" sz="1550" b="1">
                <a:solidFill>
                  <a:srgbClr val="102333"/>
                </a:solidFill>
                <a:latin typeface="Georgia"/>
                <a:ea typeface="Georgia" pitchFamily="34" charset="-122"/>
                <a:cs typeface="Georgia" pitchFamily="34" charset="-120"/>
              </a:rPr>
              <a:t>73 %</a:t>
            </a:r>
            <a:endParaRPr lang="en-US" sz="1550">
              <a:latin typeface="Georgia"/>
            </a:endParaRPr>
          </a:p>
        </p:txBody>
      </p:sp>
      <p:sp>
        <p:nvSpPr>
          <p:cNvPr id="20" name="Text 17"/>
          <p:cNvSpPr/>
          <p:nvPr/>
        </p:nvSpPr>
        <p:spPr>
          <a:xfrm>
            <a:off x="7225021" y="2318004"/>
            <a:ext cx="1709928" cy="201168"/>
          </a:xfrm>
          <a:prstGeom prst="rect">
            <a:avLst/>
          </a:prstGeom>
          <a:noFill/>
          <a:ln/>
        </p:spPr>
        <p:txBody>
          <a:bodyPr wrap="square" lIns="0" tIns="0" rIns="0" bIns="0" rtlCol="0" anchor="ctr">
            <a:normAutofit/>
          </a:bodyPr>
          <a:lstStyle/>
          <a:p>
            <a:pPr marL="0" indent="0">
              <a:buNone/>
            </a:pPr>
            <a:r>
              <a:rPr lang="en-US" sz="900">
                <a:solidFill>
                  <a:srgbClr val="667085"/>
                </a:solidFill>
                <a:latin typeface="Aptos" pitchFamily="34" charset="0"/>
                <a:ea typeface="Aptos" pitchFamily="34" charset="-122"/>
                <a:cs typeface="Aptos" pitchFamily="34" charset="-120"/>
              </a:rPr>
              <a:t>Modell ≤ </a:t>
            </a:r>
            <a:r>
              <a:rPr lang="en-US" sz="900" err="1">
                <a:solidFill>
                  <a:srgbClr val="667085"/>
                </a:solidFill>
                <a:latin typeface="Aptos" pitchFamily="34" charset="0"/>
                <a:ea typeface="Aptos" pitchFamily="34" charset="-122"/>
                <a:cs typeface="Aptos" pitchFamily="34" charset="-120"/>
              </a:rPr>
              <a:t>Realität</a:t>
            </a:r>
            <a:endParaRPr lang="en-US" sz="900"/>
          </a:p>
        </p:txBody>
      </p:sp>
      <p:sp>
        <p:nvSpPr>
          <p:cNvPr id="22" name="Shape 18"/>
          <p:cNvSpPr/>
          <p:nvPr/>
        </p:nvSpPr>
        <p:spPr>
          <a:xfrm>
            <a:off x="685800" y="3493008"/>
            <a:ext cx="3474720" cy="1188720"/>
          </a:xfrm>
          <a:prstGeom prst="roundRect">
            <a:avLst>
              <a:gd name="adj" fmla="val 3077"/>
            </a:avLst>
          </a:prstGeom>
          <a:solidFill>
            <a:srgbClr val="FFFFFF">
              <a:alpha val="0"/>
            </a:srgbClr>
          </a:solidFill>
          <a:ln w="8890">
            <a:solidFill>
              <a:srgbClr val="D9DEE7"/>
            </a:solidFill>
            <a:prstDash val="solid"/>
          </a:ln>
        </p:spPr>
        <p:txBody>
          <a:bodyPr/>
          <a:lstStyle/>
          <a:p>
            <a:endParaRPr lang="de-DE"/>
          </a:p>
        </p:txBody>
      </p:sp>
      <p:sp>
        <p:nvSpPr>
          <p:cNvPr id="23" name="Shape 19"/>
          <p:cNvSpPr/>
          <p:nvPr/>
        </p:nvSpPr>
        <p:spPr>
          <a:xfrm>
            <a:off x="694944" y="3566160"/>
            <a:ext cx="0" cy="1042416"/>
          </a:xfrm>
          <a:prstGeom prst="line">
            <a:avLst/>
          </a:prstGeom>
          <a:noFill/>
          <a:ln w="14605">
            <a:solidFill>
              <a:srgbClr val="4656D8"/>
            </a:solidFill>
            <a:prstDash val="solid"/>
          </a:ln>
        </p:spPr>
        <p:txBody>
          <a:bodyPr/>
          <a:lstStyle/>
          <a:p>
            <a:endParaRPr lang="de-DE"/>
          </a:p>
        </p:txBody>
      </p:sp>
      <p:sp>
        <p:nvSpPr>
          <p:cNvPr id="24" name="Text 20"/>
          <p:cNvSpPr/>
          <p:nvPr/>
        </p:nvSpPr>
        <p:spPr>
          <a:xfrm>
            <a:off x="792045" y="3568047"/>
            <a:ext cx="3273552" cy="1078992"/>
          </a:xfrm>
          <a:prstGeom prst="rect">
            <a:avLst/>
          </a:prstGeom>
          <a:noFill/>
          <a:ln/>
        </p:spPr>
        <p:txBody>
          <a:bodyPr wrap="square" lIns="0" tIns="0" rIns="0" bIns="0" rtlCol="0" anchor="t">
            <a:noAutofit/>
          </a:bodyPr>
          <a:lstStyle/>
          <a:p>
            <a:pPr marL="0" indent="0">
              <a:buNone/>
            </a:pPr>
            <a:r>
              <a:rPr lang="en-US" sz="1200" b="1">
                <a:solidFill>
                  <a:srgbClr val="102333"/>
                </a:solidFill>
                <a:latin typeface="Aptos" pitchFamily="34" charset="0"/>
                <a:ea typeface="Aptos" pitchFamily="34" charset="-122"/>
                <a:cs typeface="Aptos" pitchFamily="34" charset="-120"/>
              </a:rPr>
              <a:t>Leselogik
</a:t>
            </a:r>
            <a:r>
              <a:rPr lang="en-US" sz="1200">
                <a:solidFill>
                  <a:srgbClr val="667085"/>
                </a:solidFill>
                <a:latin typeface="Aptos" pitchFamily="34" charset="0"/>
                <a:ea typeface="Aptos" pitchFamily="34" charset="-122"/>
                <a:cs typeface="Aptos" pitchFamily="34" charset="-120"/>
              </a:rPr>
              <a:t>Rot = gemeldete CET1-Quote. </a:t>
            </a:r>
          </a:p>
          <a:p>
            <a:pPr marL="0" indent="0">
              <a:buNone/>
            </a:pPr>
            <a:r>
              <a:rPr lang="en-US" sz="1200">
                <a:solidFill>
                  <a:srgbClr val="667085"/>
                </a:solidFill>
                <a:latin typeface="Aptos" pitchFamily="34" charset="0"/>
                <a:ea typeface="Aptos" pitchFamily="34" charset="-122"/>
                <a:cs typeface="Aptos" pitchFamily="34" charset="-120"/>
              </a:rPr>
              <a:t>Dunkel </a:t>
            </a:r>
            <a:r>
              <a:rPr lang="en-US" sz="1200" err="1">
                <a:solidFill>
                  <a:srgbClr val="667085"/>
                </a:solidFill>
                <a:latin typeface="Aptos" pitchFamily="34" charset="0"/>
                <a:ea typeface="Aptos" pitchFamily="34" charset="-122"/>
                <a:cs typeface="Aptos" pitchFamily="34" charset="-120"/>
              </a:rPr>
              <a:t>blau</a:t>
            </a:r>
            <a:r>
              <a:rPr lang="en-US" sz="1200">
                <a:solidFill>
                  <a:srgbClr val="667085"/>
                </a:solidFill>
                <a:latin typeface="Aptos" pitchFamily="34" charset="0"/>
                <a:ea typeface="Aptos" pitchFamily="34" charset="-122"/>
                <a:cs typeface="Aptos" pitchFamily="34" charset="-120"/>
              </a:rPr>
              <a:t> = Modell, wenn der reale Schock eingespeist wird. </a:t>
            </a:r>
          </a:p>
          <a:p>
            <a:pPr marL="0" indent="0">
              <a:buNone/>
            </a:pPr>
            <a:r>
              <a:rPr lang="en-US" sz="1200">
                <a:solidFill>
                  <a:srgbClr val="667085"/>
                </a:solidFill>
                <a:latin typeface="Aptos" pitchFamily="34" charset="0"/>
                <a:ea typeface="Aptos" pitchFamily="34" charset="-122"/>
                <a:cs typeface="Aptos" pitchFamily="34" charset="-120"/>
              </a:rPr>
              <a:t>Negative Abweichung bedeutet: Modell schätzt vorsichtiger.</a:t>
            </a:r>
            <a:endParaRPr lang="en-US" sz="1200"/>
          </a:p>
        </p:txBody>
      </p:sp>
      <p:sp>
        <p:nvSpPr>
          <p:cNvPr id="25" name="Shape 21"/>
          <p:cNvSpPr/>
          <p:nvPr/>
        </p:nvSpPr>
        <p:spPr>
          <a:xfrm>
            <a:off x="502920" y="6089904"/>
            <a:ext cx="11155680" cy="0"/>
          </a:xfrm>
          <a:prstGeom prst="line">
            <a:avLst/>
          </a:prstGeom>
          <a:noFill/>
          <a:ln w="10160">
            <a:solidFill>
              <a:srgbClr val="D9DEE7"/>
            </a:solidFill>
            <a:prstDash val="solid"/>
          </a:ln>
        </p:spPr>
        <p:txBody>
          <a:bodyPr/>
          <a:lstStyle/>
          <a:p>
            <a:endParaRPr lang="de-DE"/>
          </a:p>
        </p:txBody>
      </p:sp>
      <p:sp>
        <p:nvSpPr>
          <p:cNvPr id="26" name="Text 22"/>
          <p:cNvSpPr/>
          <p:nvPr/>
        </p:nvSpPr>
        <p:spPr>
          <a:xfrm>
            <a:off x="502920" y="6144768"/>
            <a:ext cx="10972800" cy="201168"/>
          </a:xfrm>
          <a:prstGeom prst="rect">
            <a:avLst/>
          </a:prstGeom>
          <a:noFill/>
          <a:ln/>
        </p:spPr>
        <p:txBody>
          <a:bodyPr wrap="square" lIns="0" tIns="0" rIns="0" bIns="0" rtlCol="0" anchor="ctr">
            <a:normAutofit/>
          </a:bodyPr>
          <a:lstStyle/>
          <a:p>
            <a:pPr marL="0" indent="0">
              <a:buNone/>
            </a:pPr>
            <a:r>
              <a:rPr lang="en-US" sz="1000" b="1">
                <a:solidFill>
                  <a:srgbClr val="667085"/>
                </a:solidFill>
                <a:latin typeface="Aptos" pitchFamily="34" charset="0"/>
                <a:ea typeface="Aptos" pitchFamily="34" charset="-122"/>
                <a:cs typeface="Aptos" pitchFamily="34" charset="-120"/>
              </a:rPr>
              <a:t>SPRECHANKER  </a:t>
            </a:r>
            <a:r>
              <a:rPr lang="en-US" sz="1000">
                <a:solidFill>
                  <a:srgbClr val="667085"/>
                </a:solidFill>
                <a:latin typeface="Aptos" pitchFamily="34" charset="0"/>
                <a:ea typeface="Aptos" pitchFamily="34" charset="-122"/>
                <a:cs typeface="Aptos" pitchFamily="34" charset="-120"/>
              </a:rPr>
              <a:t>Der CET1-Test ist die zentrale Zielgröße: im Schnitt nah und meistens auf der sicheren Seite.</a:t>
            </a:r>
            <a:endParaRPr lang="en-US" sz="1000"/>
          </a:p>
        </p:txBody>
      </p:sp>
      <p:pic>
        <p:nvPicPr>
          <p:cNvPr id="2" name="Picture 1">
            <a:extLst>
              <a:ext uri="{FF2B5EF4-FFF2-40B4-BE49-F238E27FC236}">
                <a16:creationId xmlns:a16="http://schemas.microsoft.com/office/drawing/2014/main" id="{79FE21F4-8669-4148-673D-426C57BF73FD}"/>
              </a:ext>
            </a:extLst>
          </p:cNvPr>
          <p:cNvPicPr>
            <a:picLocks noChangeAspect="1"/>
          </p:cNvPicPr>
          <p:nvPr/>
        </p:nvPicPr>
        <p:blipFill>
          <a:blip r:embed="rId3"/>
          <a:stretch>
            <a:fillRect/>
          </a:stretch>
        </p:blipFill>
        <p:spPr>
          <a:xfrm>
            <a:off x="502558" y="1564368"/>
            <a:ext cx="3784600" cy="1835149"/>
          </a:xfrm>
          <a:prstGeom prst="rect">
            <a:avLst/>
          </a:prstGeom>
        </p:spPr>
      </p:pic>
      <p:pic>
        <p:nvPicPr>
          <p:cNvPr id="13" name="Picture 12">
            <a:extLst>
              <a:ext uri="{FF2B5EF4-FFF2-40B4-BE49-F238E27FC236}">
                <a16:creationId xmlns:a16="http://schemas.microsoft.com/office/drawing/2014/main" id="{E1729BE7-64B3-511D-5810-5CEB27CE3131}"/>
              </a:ext>
            </a:extLst>
          </p:cNvPr>
          <p:cNvPicPr>
            <a:picLocks noChangeAspect="1"/>
          </p:cNvPicPr>
          <p:nvPr/>
        </p:nvPicPr>
        <p:blipFill>
          <a:blip r:embed="rId4"/>
          <a:stretch>
            <a:fillRect/>
          </a:stretch>
        </p:blipFill>
        <p:spPr>
          <a:xfrm>
            <a:off x="4632099" y="2821213"/>
            <a:ext cx="6853919" cy="2950030"/>
          </a:xfrm>
          <a:prstGeom prst="rect">
            <a:avLst/>
          </a:prstGeom>
        </p:spPr>
      </p:pic>
      <p:sp>
        <p:nvSpPr>
          <p:cNvPr id="7" name="CodexSlideNumber">
            <a:extLst>
              <a:ext uri="{FF2B5EF4-FFF2-40B4-BE49-F238E27FC236}">
                <a16:creationId xmlns:a16="http://schemas.microsoft.com/office/drawing/2014/main" id="{179A1CE2-3B95-9447-E5F6-F1A61C678640}"/>
              </a:ext>
            </a:extLst>
          </p:cNvPr>
          <p:cNvSpPr txBox="1"/>
          <p:nvPr/>
        </p:nvSpPr>
        <p:spPr>
          <a:xfrm>
            <a:off x="11226800" y="6553200"/>
            <a:ext cx="736600" cy="123111"/>
          </a:xfrm>
          <a:prstGeom prst="rect">
            <a:avLst/>
          </a:prstGeom>
          <a:noFill/>
        </p:spPr>
        <p:txBody>
          <a:bodyPr vert="horz" lIns="0" tIns="0" rIns="0" bIns="0" rtlCol="0">
            <a:spAutoFit/>
          </a:bodyPr>
          <a:lstStyle/>
          <a:p>
            <a:pPr algn="r"/>
            <a:r>
              <a:rPr lang="en-US" sz="800">
                <a:solidFill>
                  <a:srgbClr val="525252"/>
                </a:solidFill>
                <a:latin typeface="Arial" panose="020B0604020202020204" pitchFamily="34" charset="0"/>
              </a:rPr>
              <a:t>61 / 64</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502920" y="502920"/>
            <a:ext cx="10789920" cy="201168"/>
          </a:xfrm>
          <a:prstGeom prst="rect">
            <a:avLst/>
          </a:prstGeom>
          <a:noFill/>
          <a:ln/>
        </p:spPr>
        <p:txBody>
          <a:bodyPr wrap="square" lIns="0" tIns="0" rIns="0" bIns="0" rtlCol="0" anchor="ctr">
            <a:normAutofit/>
          </a:bodyPr>
          <a:lstStyle/>
          <a:p>
            <a:pPr>
              <a:defRPr sz="975" b="1">
                <a:solidFill>
                  <a:srgbClr val="5B666D"/>
                </a:solidFill>
                <a:latin typeface="Aptos"/>
                <a:ea typeface="Aptos"/>
                <a:cs typeface="Aptos"/>
              </a:defRPr>
            </a:pPr>
            <a:r>
              <a:rPr lang="en-US" sz="863" b="1" dirty="0">
                <a:solidFill>
                  <a:schemeClr val="tx2"/>
                </a:solidFill>
                <a:latin typeface="Aptos"/>
              </a:rPr>
              <a:t>KANAL-DETAIL · PD-BACKTEST</a:t>
            </a:r>
          </a:p>
        </p:txBody>
      </p:sp>
      <p:sp>
        <p:nvSpPr>
          <p:cNvPr id="4" name="Text 2"/>
          <p:cNvSpPr/>
          <p:nvPr/>
        </p:nvSpPr>
        <p:spPr>
          <a:xfrm>
            <a:off x="502920" y="749808"/>
            <a:ext cx="10972800" cy="384048"/>
          </a:xfrm>
          <a:prstGeom prst="rect">
            <a:avLst/>
          </a:prstGeom>
          <a:noFill/>
          <a:ln/>
        </p:spPr>
        <p:txBody>
          <a:bodyPr wrap="square" lIns="0" tIns="0" rIns="0" bIns="0" rtlCol="0" anchor="ctr">
            <a:normAutofit fontScale="77500" lnSpcReduction="20000"/>
          </a:bodyPr>
          <a:lstStyle/>
          <a:p>
            <a:r>
              <a:rPr lang="en-US" sz="2000" b="1" dirty="0">
                <a:solidFill>
                  <a:srgbClr val="102333"/>
                </a:solidFill>
                <a:latin typeface="Georgia"/>
              </a:rPr>
              <a:t>Die PD-</a:t>
            </a:r>
            <a:r>
              <a:rPr lang="en-US" sz="2000" b="1" dirty="0" err="1">
                <a:solidFill>
                  <a:srgbClr val="102333"/>
                </a:solidFill>
                <a:latin typeface="Georgia"/>
              </a:rPr>
              <a:t>Prognosen</a:t>
            </a:r>
            <a:r>
              <a:rPr lang="en-US" sz="2000" b="1" dirty="0">
                <a:solidFill>
                  <a:srgbClr val="102333"/>
                </a:solidFill>
                <a:latin typeface="Georgia"/>
              </a:rPr>
              <a:t> </a:t>
            </a:r>
            <a:r>
              <a:rPr lang="en-US" sz="2000" b="1" dirty="0" err="1">
                <a:solidFill>
                  <a:srgbClr val="102333"/>
                </a:solidFill>
                <a:latin typeface="Georgia"/>
              </a:rPr>
              <a:t>liegen</a:t>
            </a:r>
            <a:r>
              <a:rPr lang="en-US" sz="2000" b="1" dirty="0">
                <a:solidFill>
                  <a:srgbClr val="102333"/>
                </a:solidFill>
                <a:latin typeface="Georgia"/>
              </a:rPr>
              <a:t> </a:t>
            </a:r>
            <a:r>
              <a:rPr lang="en-US" sz="2000" b="1" dirty="0" err="1">
                <a:solidFill>
                  <a:srgbClr val="102333"/>
                </a:solidFill>
                <a:latin typeface="Georgia"/>
              </a:rPr>
              <a:t>im</a:t>
            </a:r>
            <a:r>
              <a:rPr lang="en-US" sz="2000" b="1" dirty="0">
                <a:solidFill>
                  <a:srgbClr val="102333"/>
                </a:solidFill>
                <a:latin typeface="Georgia"/>
              </a:rPr>
              <a:t> </a:t>
            </a:r>
            <a:r>
              <a:rPr lang="en-US" sz="2000" b="1" dirty="0" err="1">
                <a:solidFill>
                  <a:srgbClr val="102333"/>
                </a:solidFill>
                <a:latin typeface="Georgia"/>
              </a:rPr>
              <a:t>Durchschnitt</a:t>
            </a:r>
            <a:r>
              <a:rPr lang="en-US" sz="2000" b="1" dirty="0">
                <a:solidFill>
                  <a:srgbClr val="102333"/>
                </a:solidFill>
                <a:latin typeface="Georgia"/>
              </a:rPr>
              <a:t> 0,88 </a:t>
            </a:r>
            <a:r>
              <a:rPr lang="en-US" sz="2000" b="1" dirty="0" err="1">
                <a:solidFill>
                  <a:srgbClr val="102333"/>
                </a:solidFill>
                <a:latin typeface="Georgia"/>
              </a:rPr>
              <a:t>Prozentpunkte</a:t>
            </a:r>
            <a:r>
              <a:rPr lang="en-US" sz="2000" b="1" dirty="0">
                <a:solidFill>
                  <a:srgbClr val="102333"/>
                </a:solidFill>
                <a:latin typeface="Georgia"/>
              </a:rPr>
              <a:t> von den </a:t>
            </a:r>
            <a:r>
              <a:rPr lang="en-US" sz="2000" b="1" dirty="0" err="1">
                <a:solidFill>
                  <a:srgbClr val="102333"/>
                </a:solidFill>
                <a:latin typeface="Georgia"/>
              </a:rPr>
              <a:t>gemeldeten</a:t>
            </a:r>
            <a:r>
              <a:rPr lang="en-US" sz="2000" b="1" dirty="0">
                <a:solidFill>
                  <a:srgbClr val="102333"/>
                </a:solidFill>
                <a:latin typeface="Georgia"/>
              </a:rPr>
              <a:t> </a:t>
            </a:r>
            <a:r>
              <a:rPr lang="en-US" sz="2000" b="1" dirty="0" err="1">
                <a:solidFill>
                  <a:srgbClr val="102333"/>
                </a:solidFill>
                <a:latin typeface="Georgia"/>
              </a:rPr>
              <a:t>Werten</a:t>
            </a:r>
            <a:r>
              <a:rPr lang="en-US" sz="2000" b="1" dirty="0">
                <a:solidFill>
                  <a:srgbClr val="102333"/>
                </a:solidFill>
                <a:latin typeface="Georgia"/>
              </a:rPr>
              <a:t> </a:t>
            </a:r>
            <a:r>
              <a:rPr lang="en-US" sz="2000" b="1" dirty="0" err="1">
                <a:solidFill>
                  <a:srgbClr val="102333"/>
                </a:solidFill>
                <a:latin typeface="Georgia"/>
              </a:rPr>
              <a:t>entfernt</a:t>
            </a:r>
            <a:endParaRPr lang="en-US" sz="2000" b="1" dirty="0">
              <a:solidFill>
                <a:srgbClr val="102333"/>
              </a:solidFill>
              <a:latin typeface="Georgia"/>
            </a:endParaRPr>
          </a:p>
        </p:txBody>
      </p:sp>
      <p:sp>
        <p:nvSpPr>
          <p:cNvPr id="5" name="Text 3"/>
          <p:cNvSpPr/>
          <p:nvPr/>
        </p:nvSpPr>
        <p:spPr>
          <a:xfrm>
            <a:off x="502920" y="1298448"/>
            <a:ext cx="10881360" cy="256032"/>
          </a:xfrm>
          <a:prstGeom prst="rect">
            <a:avLst/>
          </a:prstGeom>
          <a:noFill/>
          <a:ln/>
        </p:spPr>
        <p:txBody>
          <a:bodyPr wrap="square" lIns="0" tIns="0" rIns="0" bIns="0" rtlCol="0" anchor="ctr">
            <a:normAutofit/>
          </a:bodyPr>
          <a:lstStyle/>
          <a:p>
            <a:pPr marL="0" indent="0">
              <a:buNone/>
            </a:pPr>
            <a:r>
              <a:rPr lang="en-US" sz="1020" i="1">
                <a:solidFill>
                  <a:srgbClr val="667085"/>
                </a:solidFill>
                <a:latin typeface="Georgia" pitchFamily="34" charset="0"/>
                <a:ea typeface="Georgia" pitchFamily="34" charset="-122"/>
                <a:cs typeface="Georgia" pitchFamily="34" charset="-120"/>
              </a:rPr>
              <a:t>Der größte methodische Unterschied entsteht durch Point-in-Time-Modell versus Through-the-Cycle-Meldung.</a:t>
            </a:r>
            <a:endParaRPr lang="en-US" sz="1020"/>
          </a:p>
        </p:txBody>
      </p:sp>
      <p:sp>
        <p:nvSpPr>
          <p:cNvPr id="6" name="Text 4"/>
          <p:cNvSpPr/>
          <p:nvPr/>
        </p:nvSpPr>
        <p:spPr>
          <a:xfrm>
            <a:off x="502920" y="6528816"/>
            <a:ext cx="6492240" cy="164592"/>
          </a:xfrm>
          <a:prstGeom prst="rect">
            <a:avLst/>
          </a:prstGeom>
          <a:noFill/>
          <a:ln/>
        </p:spPr>
        <p:txBody>
          <a:bodyPr wrap="square" lIns="0" tIns="0" rIns="0" bIns="0" rtlCol="0" anchor="ctr"/>
          <a:lstStyle/>
          <a:p>
            <a:pPr marL="0" indent="0">
              <a:buNone/>
            </a:pPr>
            <a:r>
              <a:rPr lang="en-US" sz="750">
                <a:solidFill>
                  <a:srgbClr val="667085"/>
                </a:solidFill>
                <a:latin typeface="Aptos" pitchFamily="34" charset="0"/>
                <a:ea typeface="Aptos" pitchFamily="34" charset="-122"/>
                <a:cs typeface="Aptos" pitchFamily="34" charset="-120"/>
              </a:rPr>
              <a:t>EU Banking Credit Stress Cockpit · Studienprojekt 2026</a:t>
            </a:r>
            <a:endParaRPr lang="en-US" sz="750"/>
          </a:p>
        </p:txBody>
      </p:sp>
      <p:sp>
        <p:nvSpPr>
          <p:cNvPr id="8" name="Shape 6"/>
          <p:cNvSpPr/>
          <p:nvPr/>
        </p:nvSpPr>
        <p:spPr>
          <a:xfrm>
            <a:off x="603504" y="1755648"/>
            <a:ext cx="0" cy="777240"/>
          </a:xfrm>
          <a:prstGeom prst="line">
            <a:avLst/>
          </a:prstGeom>
          <a:noFill/>
          <a:ln w="16510">
            <a:solidFill>
              <a:srgbClr val="4656D8"/>
            </a:solidFill>
            <a:prstDash val="solid"/>
          </a:ln>
        </p:spPr>
        <p:txBody>
          <a:bodyPr/>
          <a:lstStyle/>
          <a:p>
            <a:endParaRPr lang="de-DE"/>
          </a:p>
        </p:txBody>
      </p:sp>
      <p:sp>
        <p:nvSpPr>
          <p:cNvPr id="9" name="Text 7"/>
          <p:cNvSpPr/>
          <p:nvPr/>
        </p:nvSpPr>
        <p:spPr>
          <a:xfrm>
            <a:off x="713232" y="1783080"/>
            <a:ext cx="1709928" cy="146304"/>
          </a:xfrm>
          <a:prstGeom prst="rect">
            <a:avLst/>
          </a:prstGeom>
          <a:noFill/>
          <a:ln/>
        </p:spPr>
        <p:txBody>
          <a:bodyPr wrap="square" lIns="0" tIns="0" rIns="0" bIns="0" rtlCol="0" anchor="ctr">
            <a:normAutofit/>
          </a:bodyPr>
          <a:lstStyle/>
          <a:p>
            <a:pPr marL="0" indent="0">
              <a:buNone/>
            </a:pPr>
            <a:r>
              <a:rPr lang="en-US" sz="900" b="1">
                <a:solidFill>
                  <a:srgbClr val="667085"/>
                </a:solidFill>
                <a:latin typeface="Aptos" pitchFamily="34" charset="0"/>
                <a:ea typeface="Aptos" pitchFamily="34" charset="-122"/>
                <a:cs typeface="Aptos" pitchFamily="34" charset="-120"/>
              </a:rPr>
              <a:t>PD-VORHERSAGEN</a:t>
            </a:r>
            <a:endParaRPr lang="en-US" sz="900"/>
          </a:p>
        </p:txBody>
      </p:sp>
      <p:sp>
        <p:nvSpPr>
          <p:cNvPr id="10" name="Text 8"/>
          <p:cNvSpPr/>
          <p:nvPr/>
        </p:nvSpPr>
        <p:spPr>
          <a:xfrm>
            <a:off x="713232" y="1993392"/>
            <a:ext cx="1709928" cy="320040"/>
          </a:xfrm>
          <a:prstGeom prst="rect">
            <a:avLst/>
          </a:prstGeom>
          <a:noFill/>
          <a:ln/>
        </p:spPr>
        <p:txBody>
          <a:bodyPr wrap="square" lIns="0" tIns="0" rIns="0" bIns="0" rtlCol="0" anchor="ctr">
            <a:normAutofit/>
          </a:bodyPr>
          <a:lstStyle/>
          <a:p>
            <a:pPr marL="0" indent="0">
              <a:buNone/>
            </a:pPr>
            <a:r>
              <a:rPr lang="en-US" sz="1550" b="1">
                <a:solidFill>
                  <a:srgbClr val="102333"/>
                </a:solidFill>
                <a:latin typeface="Georgia"/>
              </a:rPr>
              <a:t>185</a:t>
            </a:r>
            <a:endParaRPr lang="en-US" sz="1550"/>
          </a:p>
        </p:txBody>
      </p:sp>
      <p:sp>
        <p:nvSpPr>
          <p:cNvPr id="11" name="Text 9"/>
          <p:cNvSpPr/>
          <p:nvPr/>
        </p:nvSpPr>
        <p:spPr>
          <a:xfrm>
            <a:off x="713232" y="2377440"/>
            <a:ext cx="1709928" cy="201168"/>
          </a:xfrm>
          <a:prstGeom prst="rect">
            <a:avLst/>
          </a:prstGeom>
          <a:noFill/>
          <a:ln/>
        </p:spPr>
        <p:txBody>
          <a:bodyPr wrap="square" lIns="0" tIns="0" rIns="0" bIns="0" rtlCol="0" anchor="ctr">
            <a:normAutofit/>
          </a:bodyPr>
          <a:lstStyle/>
          <a:p>
            <a:pPr marL="0" indent="0">
              <a:buNone/>
            </a:pPr>
            <a:r>
              <a:rPr lang="en-US" sz="900">
                <a:solidFill>
                  <a:srgbClr val="667085"/>
                </a:solidFill>
                <a:latin typeface="Aptos" pitchFamily="34" charset="0"/>
                <a:ea typeface="Aptos" pitchFamily="34" charset="-122"/>
                <a:cs typeface="Aptos" pitchFamily="34" charset="-120"/>
              </a:rPr>
              <a:t>Bank × Klasse × Jahr</a:t>
            </a:r>
            <a:endParaRPr lang="en-US" sz="900"/>
          </a:p>
        </p:txBody>
      </p:sp>
      <p:sp>
        <p:nvSpPr>
          <p:cNvPr id="12" name="Shape 10"/>
          <p:cNvSpPr/>
          <p:nvPr/>
        </p:nvSpPr>
        <p:spPr>
          <a:xfrm>
            <a:off x="2706624" y="1755648"/>
            <a:ext cx="0" cy="777240"/>
          </a:xfrm>
          <a:prstGeom prst="line">
            <a:avLst/>
          </a:prstGeom>
          <a:noFill/>
          <a:ln w="16510">
            <a:solidFill>
              <a:srgbClr val="B24462"/>
            </a:solidFill>
            <a:prstDash val="solid"/>
          </a:ln>
        </p:spPr>
        <p:txBody>
          <a:bodyPr/>
          <a:lstStyle/>
          <a:p>
            <a:endParaRPr lang="de-DE"/>
          </a:p>
        </p:txBody>
      </p:sp>
      <p:sp>
        <p:nvSpPr>
          <p:cNvPr id="13" name="Text 11"/>
          <p:cNvSpPr/>
          <p:nvPr/>
        </p:nvSpPr>
        <p:spPr>
          <a:xfrm>
            <a:off x="2816352" y="1783080"/>
            <a:ext cx="1709928" cy="146304"/>
          </a:xfrm>
          <a:prstGeom prst="rect">
            <a:avLst/>
          </a:prstGeom>
          <a:noFill/>
          <a:ln/>
        </p:spPr>
        <p:txBody>
          <a:bodyPr wrap="square" lIns="0" tIns="0" rIns="0" bIns="0" rtlCol="0" anchor="ctr">
            <a:normAutofit/>
          </a:bodyPr>
          <a:lstStyle/>
          <a:p>
            <a:pPr marL="0" indent="0">
              <a:buNone/>
            </a:pPr>
            <a:r>
              <a:rPr lang="en-US" sz="900" b="1">
                <a:solidFill>
                  <a:srgbClr val="667085"/>
                </a:solidFill>
                <a:latin typeface="Aptos" pitchFamily="34" charset="0"/>
                <a:ea typeface="Aptos" pitchFamily="34" charset="-122"/>
                <a:cs typeface="Aptos" pitchFamily="34" charset="-120"/>
              </a:rPr>
              <a:t>Ø ABSTAND</a:t>
            </a:r>
            <a:endParaRPr lang="en-US" sz="900"/>
          </a:p>
        </p:txBody>
      </p:sp>
      <p:sp>
        <p:nvSpPr>
          <p:cNvPr id="14" name="Text 12"/>
          <p:cNvSpPr/>
          <p:nvPr/>
        </p:nvSpPr>
        <p:spPr>
          <a:xfrm>
            <a:off x="2816352" y="1993392"/>
            <a:ext cx="1709928" cy="320040"/>
          </a:xfrm>
          <a:prstGeom prst="rect">
            <a:avLst/>
          </a:prstGeom>
          <a:noFill/>
          <a:ln/>
        </p:spPr>
        <p:txBody>
          <a:bodyPr wrap="square" lIns="0" tIns="0" rIns="0" bIns="0" rtlCol="0" anchor="ctr">
            <a:normAutofit/>
          </a:bodyPr>
          <a:lstStyle/>
          <a:p>
            <a:pPr marL="0" indent="0">
              <a:buNone/>
            </a:pPr>
            <a:r>
              <a:rPr lang="en-US" sz="1550" b="1">
                <a:solidFill>
                  <a:srgbClr val="102333"/>
                </a:solidFill>
                <a:latin typeface="Georgia"/>
                <a:ea typeface="Georgia" pitchFamily="34" charset="-122"/>
                <a:cs typeface="Georgia" pitchFamily="34" charset="-120"/>
              </a:rPr>
              <a:t>0,88 pp</a:t>
            </a:r>
            <a:endParaRPr lang="en-US" sz="1550">
              <a:latin typeface="Georgia"/>
            </a:endParaRPr>
          </a:p>
        </p:txBody>
      </p:sp>
      <p:sp>
        <p:nvSpPr>
          <p:cNvPr id="15" name="Text 13"/>
          <p:cNvSpPr/>
          <p:nvPr/>
        </p:nvSpPr>
        <p:spPr>
          <a:xfrm>
            <a:off x="2816352" y="2377440"/>
            <a:ext cx="1709928" cy="201168"/>
          </a:xfrm>
          <a:prstGeom prst="rect">
            <a:avLst/>
          </a:prstGeom>
          <a:noFill/>
          <a:ln/>
        </p:spPr>
        <p:txBody>
          <a:bodyPr wrap="square" lIns="0" tIns="0" rIns="0" bIns="0" rtlCol="0" anchor="ctr">
            <a:normAutofit/>
          </a:bodyPr>
          <a:lstStyle/>
          <a:p>
            <a:pPr marL="0" indent="0">
              <a:buNone/>
            </a:pPr>
            <a:r>
              <a:rPr lang="en-US" sz="900">
                <a:solidFill>
                  <a:srgbClr val="667085"/>
                </a:solidFill>
                <a:latin typeface="Aptos" pitchFamily="34" charset="0"/>
                <a:ea typeface="Aptos" pitchFamily="34" charset="-122"/>
                <a:cs typeface="Aptos" pitchFamily="34" charset="-120"/>
              </a:rPr>
              <a:t>Prognose ↔ PD</a:t>
            </a:r>
            <a:endParaRPr lang="en-US" sz="900"/>
          </a:p>
        </p:txBody>
      </p:sp>
      <p:sp>
        <p:nvSpPr>
          <p:cNvPr id="16" name="Shape 14"/>
          <p:cNvSpPr/>
          <p:nvPr/>
        </p:nvSpPr>
        <p:spPr>
          <a:xfrm>
            <a:off x="4800600" y="1664208"/>
            <a:ext cx="6720840" cy="960120"/>
          </a:xfrm>
          <a:prstGeom prst="roundRect">
            <a:avLst>
              <a:gd name="adj" fmla="val 3810"/>
            </a:avLst>
          </a:prstGeom>
          <a:solidFill>
            <a:srgbClr val="F4F6F8"/>
          </a:solidFill>
          <a:ln w="8890">
            <a:solidFill>
              <a:srgbClr val="D9DEE7"/>
            </a:solidFill>
            <a:prstDash val="solid"/>
          </a:ln>
        </p:spPr>
        <p:txBody>
          <a:bodyPr/>
          <a:lstStyle/>
          <a:p>
            <a:endParaRPr lang="de-DE"/>
          </a:p>
        </p:txBody>
      </p:sp>
      <p:sp>
        <p:nvSpPr>
          <p:cNvPr id="17" name="Shape 15"/>
          <p:cNvSpPr/>
          <p:nvPr/>
        </p:nvSpPr>
        <p:spPr>
          <a:xfrm>
            <a:off x="4809744" y="1737360"/>
            <a:ext cx="0" cy="813816"/>
          </a:xfrm>
          <a:prstGeom prst="line">
            <a:avLst/>
          </a:prstGeom>
          <a:noFill/>
          <a:ln w="14605">
            <a:solidFill>
              <a:srgbClr val="C79A1E"/>
            </a:solidFill>
            <a:prstDash val="solid"/>
          </a:ln>
        </p:spPr>
        <p:txBody>
          <a:bodyPr/>
          <a:lstStyle/>
          <a:p>
            <a:endParaRPr lang="de-DE"/>
          </a:p>
        </p:txBody>
      </p:sp>
      <p:sp>
        <p:nvSpPr>
          <p:cNvPr id="18" name="Text 16"/>
          <p:cNvSpPr/>
          <p:nvPr/>
        </p:nvSpPr>
        <p:spPr>
          <a:xfrm>
            <a:off x="4928616" y="1746504"/>
            <a:ext cx="6519672" cy="850392"/>
          </a:xfrm>
          <a:prstGeom prst="rect">
            <a:avLst/>
          </a:prstGeom>
          <a:noFill/>
          <a:ln/>
        </p:spPr>
        <p:txBody>
          <a:bodyPr wrap="square" lIns="0" tIns="0" rIns="0" bIns="0" rtlCol="0" anchor="t">
            <a:normAutofit/>
          </a:bodyPr>
          <a:lstStyle/>
          <a:p>
            <a:pPr marL="0" indent="0">
              <a:buNone/>
            </a:pPr>
            <a:r>
              <a:rPr lang="en-US" sz="1200" b="1">
                <a:solidFill>
                  <a:srgbClr val="102333"/>
                </a:solidFill>
                <a:latin typeface="Aptos" pitchFamily="34" charset="0"/>
                <a:ea typeface="Aptos" pitchFamily="34" charset="-122"/>
                <a:cs typeface="Aptos" pitchFamily="34" charset="-120"/>
              </a:rPr>
              <a:t>Warum 2022 abweicht
</a:t>
            </a:r>
            <a:r>
              <a:rPr lang="en-US" sz="1200">
                <a:solidFill>
                  <a:srgbClr val="667085"/>
                </a:solidFill>
                <a:latin typeface="Aptos" pitchFamily="34" charset="0"/>
                <a:ea typeface="Aptos" pitchFamily="34" charset="-122"/>
                <a:cs typeface="Aptos" pitchFamily="34" charset="-120"/>
              </a:rPr>
              <a:t>Das Modell ist Point-in-Time und reagiert sofort auf den starken Zinsanstieg. Die gemeldeten A-IRB-PDs sind Through-the-Cycle geglättet und springen regulatorisch bewusst nicht sofort.</a:t>
            </a:r>
            <a:endParaRPr lang="en-US" sz="1200"/>
          </a:p>
        </p:txBody>
      </p:sp>
      <p:sp>
        <p:nvSpPr>
          <p:cNvPr id="21" name="Shape 17"/>
          <p:cNvSpPr/>
          <p:nvPr/>
        </p:nvSpPr>
        <p:spPr>
          <a:xfrm>
            <a:off x="502920" y="6089904"/>
            <a:ext cx="11155680" cy="0"/>
          </a:xfrm>
          <a:prstGeom prst="line">
            <a:avLst/>
          </a:prstGeom>
          <a:noFill/>
          <a:ln w="10160">
            <a:solidFill>
              <a:srgbClr val="D9DEE7"/>
            </a:solidFill>
            <a:prstDash val="solid"/>
          </a:ln>
        </p:spPr>
        <p:txBody>
          <a:bodyPr/>
          <a:lstStyle/>
          <a:p>
            <a:endParaRPr lang="de-DE"/>
          </a:p>
        </p:txBody>
      </p:sp>
      <p:sp>
        <p:nvSpPr>
          <p:cNvPr id="22" name="Text 18"/>
          <p:cNvSpPr/>
          <p:nvPr/>
        </p:nvSpPr>
        <p:spPr>
          <a:xfrm>
            <a:off x="502920" y="6144768"/>
            <a:ext cx="10972800" cy="201168"/>
          </a:xfrm>
          <a:prstGeom prst="rect">
            <a:avLst/>
          </a:prstGeom>
          <a:noFill/>
          <a:ln/>
        </p:spPr>
        <p:txBody>
          <a:bodyPr wrap="square" lIns="0" tIns="0" rIns="0" bIns="0" rtlCol="0" anchor="ctr">
            <a:normAutofit/>
          </a:bodyPr>
          <a:lstStyle/>
          <a:p>
            <a:pPr marL="0" indent="0">
              <a:buNone/>
            </a:pPr>
            <a:r>
              <a:rPr lang="en-US" sz="1000" b="1">
                <a:solidFill>
                  <a:srgbClr val="667085"/>
                </a:solidFill>
                <a:latin typeface="Aptos" pitchFamily="34" charset="0"/>
                <a:ea typeface="Aptos" pitchFamily="34" charset="-122"/>
                <a:cs typeface="Aptos" pitchFamily="34" charset="-120"/>
              </a:rPr>
              <a:t>SPRECHANKER  </a:t>
            </a:r>
            <a:r>
              <a:rPr lang="en-US" sz="1000">
                <a:solidFill>
                  <a:srgbClr val="667085"/>
                </a:solidFill>
                <a:latin typeface="Aptos" pitchFamily="34" charset="0"/>
                <a:ea typeface="Aptos" pitchFamily="34" charset="-122"/>
                <a:cs typeface="Aptos" pitchFamily="34" charset="-120"/>
              </a:rPr>
              <a:t>Die 2022-Lücke ist vor allem PIT versus TTC - nicht automatisch ein Modellfehler.</a:t>
            </a:r>
            <a:endParaRPr lang="en-US" sz="1000"/>
          </a:p>
        </p:txBody>
      </p:sp>
      <p:pic>
        <p:nvPicPr>
          <p:cNvPr id="2" name="Picture 1">
            <a:extLst>
              <a:ext uri="{FF2B5EF4-FFF2-40B4-BE49-F238E27FC236}">
                <a16:creationId xmlns:a16="http://schemas.microsoft.com/office/drawing/2014/main" id="{DD7C6ACF-B847-F88A-9C17-8F585E57C067}"/>
              </a:ext>
            </a:extLst>
          </p:cNvPr>
          <p:cNvPicPr>
            <a:picLocks noChangeAspect="1"/>
          </p:cNvPicPr>
          <p:nvPr/>
        </p:nvPicPr>
        <p:blipFill>
          <a:blip r:embed="rId3"/>
          <a:stretch>
            <a:fillRect/>
          </a:stretch>
        </p:blipFill>
        <p:spPr>
          <a:xfrm>
            <a:off x="618899" y="3038928"/>
            <a:ext cx="5446032" cy="2347685"/>
          </a:xfrm>
          <a:prstGeom prst="rect">
            <a:avLst/>
          </a:prstGeom>
        </p:spPr>
      </p:pic>
      <p:pic>
        <p:nvPicPr>
          <p:cNvPr id="23" name="Picture 22" descr="A graph of different colored squares&#10;&#10;AI-generated content may be incorrect.">
            <a:extLst>
              <a:ext uri="{FF2B5EF4-FFF2-40B4-BE49-F238E27FC236}">
                <a16:creationId xmlns:a16="http://schemas.microsoft.com/office/drawing/2014/main" id="{17A865B9-4FE7-6A44-55B7-EE90CCAD8F37}"/>
              </a:ext>
            </a:extLst>
          </p:cNvPr>
          <p:cNvPicPr>
            <a:picLocks noChangeAspect="1"/>
          </p:cNvPicPr>
          <p:nvPr/>
        </p:nvPicPr>
        <p:blipFill>
          <a:blip r:embed="rId4"/>
          <a:stretch>
            <a:fillRect/>
          </a:stretch>
        </p:blipFill>
        <p:spPr>
          <a:xfrm>
            <a:off x="6489928" y="3410856"/>
            <a:ext cx="5170262" cy="1973943"/>
          </a:xfrm>
          <a:prstGeom prst="rect">
            <a:avLst/>
          </a:prstGeom>
        </p:spPr>
      </p:pic>
      <p:sp>
        <p:nvSpPr>
          <p:cNvPr id="7" name="CodexSlideNumber">
            <a:extLst>
              <a:ext uri="{FF2B5EF4-FFF2-40B4-BE49-F238E27FC236}">
                <a16:creationId xmlns:a16="http://schemas.microsoft.com/office/drawing/2014/main" id="{E1D7E896-F017-993D-E913-C6DC0B29C91F}"/>
              </a:ext>
            </a:extLst>
          </p:cNvPr>
          <p:cNvSpPr txBox="1"/>
          <p:nvPr/>
        </p:nvSpPr>
        <p:spPr>
          <a:xfrm>
            <a:off x="11226800" y="6553200"/>
            <a:ext cx="736600" cy="123111"/>
          </a:xfrm>
          <a:prstGeom prst="rect">
            <a:avLst/>
          </a:prstGeom>
          <a:noFill/>
        </p:spPr>
        <p:txBody>
          <a:bodyPr vert="horz" lIns="0" tIns="0" rIns="0" bIns="0" rtlCol="0">
            <a:spAutoFit/>
          </a:bodyPr>
          <a:lstStyle/>
          <a:p>
            <a:pPr algn="r"/>
            <a:r>
              <a:rPr lang="en-US" sz="800">
                <a:solidFill>
                  <a:srgbClr val="525252"/>
                </a:solidFill>
                <a:latin typeface="Arial" panose="020B0604020202020204" pitchFamily="34" charset="0"/>
              </a:rPr>
              <a:t>62 / 64</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502920" y="502920"/>
            <a:ext cx="10789920" cy="201168"/>
          </a:xfrm>
          <a:prstGeom prst="rect">
            <a:avLst/>
          </a:prstGeom>
          <a:noFill/>
          <a:ln/>
        </p:spPr>
        <p:txBody>
          <a:bodyPr wrap="square" lIns="0" tIns="0" rIns="0" bIns="0" rtlCol="0" anchor="ctr">
            <a:normAutofit/>
          </a:bodyPr>
          <a:lstStyle/>
          <a:p>
            <a:pPr>
              <a:defRPr sz="975" b="1">
                <a:solidFill>
                  <a:srgbClr val="5B666D"/>
                </a:solidFill>
                <a:latin typeface="Aptos"/>
                <a:ea typeface="Aptos"/>
                <a:cs typeface="Aptos"/>
              </a:defRPr>
            </a:pPr>
            <a:r>
              <a:rPr lang="en-US" sz="863" b="1" dirty="0">
                <a:solidFill>
                  <a:schemeClr val="tx2"/>
                </a:solidFill>
                <a:latin typeface="Aptos"/>
              </a:rPr>
              <a:t>VALIDITÄTS-VERDIKT</a:t>
            </a:r>
          </a:p>
        </p:txBody>
      </p:sp>
      <p:sp>
        <p:nvSpPr>
          <p:cNvPr id="4" name="Text 2"/>
          <p:cNvSpPr/>
          <p:nvPr/>
        </p:nvSpPr>
        <p:spPr>
          <a:xfrm>
            <a:off x="502920" y="749808"/>
            <a:ext cx="10972800" cy="384048"/>
          </a:xfrm>
          <a:prstGeom prst="rect">
            <a:avLst/>
          </a:prstGeom>
          <a:noFill/>
          <a:ln/>
        </p:spPr>
        <p:txBody>
          <a:bodyPr wrap="square" lIns="0" tIns="0" rIns="0" bIns="0" rtlCol="0" anchor="ctr">
            <a:normAutofit/>
          </a:bodyPr>
          <a:lstStyle/>
          <a:p>
            <a:pPr marL="0" indent="0">
              <a:buNone/>
            </a:pPr>
            <a:r>
              <a:rPr lang="en-US" sz="2000" b="1">
                <a:solidFill>
                  <a:srgbClr val="102333"/>
                </a:solidFill>
                <a:latin typeface="Georgia" pitchFamily="34" charset="0"/>
                <a:ea typeface="Georgia" pitchFamily="34" charset="-122"/>
                <a:cs typeface="Georgia" pitchFamily="34" charset="-120"/>
              </a:rPr>
              <a:t>Das Modell ist als konservatives Solvenz- und Frühwarninstrument belastbar</a:t>
            </a:r>
            <a:endParaRPr lang="en-US" sz="2000"/>
          </a:p>
        </p:txBody>
      </p:sp>
      <p:sp>
        <p:nvSpPr>
          <p:cNvPr id="5" name="Text 3"/>
          <p:cNvSpPr/>
          <p:nvPr/>
        </p:nvSpPr>
        <p:spPr>
          <a:xfrm>
            <a:off x="502920" y="1298448"/>
            <a:ext cx="10881360" cy="256032"/>
          </a:xfrm>
          <a:prstGeom prst="rect">
            <a:avLst/>
          </a:prstGeom>
          <a:noFill/>
          <a:ln/>
        </p:spPr>
        <p:txBody>
          <a:bodyPr wrap="square" lIns="0" tIns="0" rIns="0" bIns="0" rtlCol="0" anchor="ctr">
            <a:normAutofit/>
          </a:bodyPr>
          <a:lstStyle/>
          <a:p>
            <a:pPr marL="0" indent="0">
              <a:buNone/>
            </a:pPr>
            <a:r>
              <a:rPr lang="en-US" sz="1020" i="1">
                <a:solidFill>
                  <a:srgbClr val="667085"/>
                </a:solidFill>
                <a:latin typeface="Georgia" pitchFamily="34" charset="0"/>
                <a:ea typeface="Georgia" pitchFamily="34" charset="-122"/>
                <a:cs typeface="Georgia" pitchFamily="34" charset="-120"/>
              </a:rPr>
              <a:t>Die Validierung bestätigt die Wirkungskette — mit klar dokumentierten Grenzen.</a:t>
            </a:r>
            <a:endParaRPr lang="en-US" sz="1020"/>
          </a:p>
        </p:txBody>
      </p:sp>
      <p:sp>
        <p:nvSpPr>
          <p:cNvPr id="6" name="Text 4"/>
          <p:cNvSpPr/>
          <p:nvPr/>
        </p:nvSpPr>
        <p:spPr>
          <a:xfrm>
            <a:off x="502920" y="6528816"/>
            <a:ext cx="6492240" cy="164592"/>
          </a:xfrm>
          <a:prstGeom prst="rect">
            <a:avLst/>
          </a:prstGeom>
          <a:noFill/>
          <a:ln/>
        </p:spPr>
        <p:txBody>
          <a:bodyPr wrap="square" lIns="0" tIns="0" rIns="0" bIns="0" rtlCol="0" anchor="ctr"/>
          <a:lstStyle/>
          <a:p>
            <a:pPr marL="0" indent="0">
              <a:buNone/>
            </a:pPr>
            <a:r>
              <a:rPr lang="en-US" sz="750">
                <a:solidFill>
                  <a:srgbClr val="667085"/>
                </a:solidFill>
                <a:latin typeface="Aptos" pitchFamily="34" charset="0"/>
                <a:ea typeface="Aptos" pitchFamily="34" charset="-122"/>
                <a:cs typeface="Aptos" pitchFamily="34" charset="-120"/>
              </a:rPr>
              <a:t>EU Banking Credit Stress Cockpit · Studienprojekt 2026</a:t>
            </a:r>
            <a:endParaRPr lang="en-US" sz="750"/>
          </a:p>
        </p:txBody>
      </p:sp>
      <p:sp>
        <p:nvSpPr>
          <p:cNvPr id="8" name="Shape 6"/>
          <p:cNvSpPr/>
          <p:nvPr/>
        </p:nvSpPr>
        <p:spPr>
          <a:xfrm>
            <a:off x="731520" y="1645920"/>
            <a:ext cx="5212080" cy="658368"/>
          </a:xfrm>
          <a:prstGeom prst="roundRect">
            <a:avLst>
              <a:gd name="adj" fmla="val 5556"/>
            </a:avLst>
          </a:prstGeom>
          <a:solidFill>
            <a:srgbClr val="FFFFFF">
              <a:alpha val="0"/>
            </a:srgbClr>
          </a:solidFill>
          <a:ln w="8890">
            <a:solidFill>
              <a:srgbClr val="D9DEE7"/>
            </a:solidFill>
            <a:prstDash val="solid"/>
          </a:ln>
        </p:spPr>
        <p:txBody>
          <a:bodyPr/>
          <a:lstStyle/>
          <a:p>
            <a:pPr>
              <a:lnSpc>
                <a:spcPct val="150000"/>
              </a:lnSpc>
            </a:pPr>
            <a:endParaRPr lang="de-DE"/>
          </a:p>
        </p:txBody>
      </p:sp>
      <p:sp>
        <p:nvSpPr>
          <p:cNvPr id="9" name="Shape 7"/>
          <p:cNvSpPr/>
          <p:nvPr/>
        </p:nvSpPr>
        <p:spPr>
          <a:xfrm>
            <a:off x="740664" y="1719072"/>
            <a:ext cx="0" cy="512064"/>
          </a:xfrm>
          <a:prstGeom prst="line">
            <a:avLst/>
          </a:prstGeom>
          <a:noFill/>
          <a:ln w="14605">
            <a:solidFill>
              <a:srgbClr val="4656D8"/>
            </a:solidFill>
            <a:prstDash val="solid"/>
          </a:ln>
        </p:spPr>
        <p:txBody>
          <a:bodyPr/>
          <a:lstStyle/>
          <a:p>
            <a:endParaRPr lang="de-DE" b="1"/>
          </a:p>
        </p:txBody>
      </p:sp>
      <p:sp>
        <p:nvSpPr>
          <p:cNvPr id="10" name="Text 8"/>
          <p:cNvSpPr/>
          <p:nvPr/>
        </p:nvSpPr>
        <p:spPr>
          <a:xfrm>
            <a:off x="859536" y="1728216"/>
            <a:ext cx="5010912" cy="548640"/>
          </a:xfrm>
          <a:prstGeom prst="rect">
            <a:avLst/>
          </a:prstGeom>
          <a:noFill/>
          <a:ln/>
        </p:spPr>
        <p:txBody>
          <a:bodyPr wrap="square" lIns="0" tIns="0" rIns="0" bIns="0" rtlCol="0" anchor="t">
            <a:normAutofit/>
          </a:bodyPr>
          <a:lstStyle/>
          <a:p>
            <a:pPr marL="0" indent="0">
              <a:buNone/>
            </a:pPr>
            <a:r>
              <a:rPr lang="en-US" sz="1200" b="1">
                <a:solidFill>
                  <a:srgbClr val="102333"/>
                </a:solidFill>
                <a:latin typeface="Aptos"/>
                <a:ea typeface="Aptos" pitchFamily="34" charset="-122"/>
                <a:cs typeface="Aptos" pitchFamily="34" charset="-120"/>
              </a:rPr>
              <a:t>1 · </a:t>
            </a:r>
            <a:r>
              <a:rPr lang="en-US" sz="1200" b="1" err="1">
                <a:solidFill>
                  <a:srgbClr val="102333"/>
                </a:solidFill>
                <a:latin typeface="Aptos"/>
                <a:ea typeface="Aptos" pitchFamily="34" charset="-122"/>
                <a:cs typeface="Aptos" pitchFamily="34" charset="-120"/>
              </a:rPr>
              <a:t>Datenbasis</a:t>
            </a:r>
            <a:r>
              <a:rPr lang="en-US" sz="1200" b="1">
                <a:solidFill>
                  <a:srgbClr val="102333"/>
                </a:solidFill>
                <a:latin typeface="Aptos"/>
                <a:ea typeface="Aptos" pitchFamily="34" charset="-122"/>
                <a:cs typeface="Aptos" pitchFamily="34" charset="-120"/>
              </a:rPr>
              <a:t> </a:t>
            </a:r>
            <a:r>
              <a:rPr lang="en-US" sz="1200" b="1" err="1">
                <a:solidFill>
                  <a:srgbClr val="102333"/>
                </a:solidFill>
                <a:latin typeface="Aptos"/>
                <a:ea typeface="Aptos" pitchFamily="34" charset="-122"/>
                <a:cs typeface="Aptos" pitchFamily="34" charset="-120"/>
              </a:rPr>
              <a:t>belastbar</a:t>
            </a:r>
            <a:r>
              <a:rPr lang="en-US" sz="1200" b="1">
                <a:solidFill>
                  <a:srgbClr val="102333"/>
                </a:solidFill>
                <a:latin typeface="Aptos"/>
                <a:ea typeface="Aptos" pitchFamily="34" charset="-122"/>
                <a:cs typeface="Aptos" pitchFamily="34" charset="-120"/>
              </a:rPr>
              <a:t>
</a:t>
            </a:r>
            <a:r>
              <a:rPr lang="en-US" sz="1050">
                <a:solidFill>
                  <a:srgbClr val="667085"/>
                </a:solidFill>
                <a:latin typeface="Aptos"/>
                <a:ea typeface="Aptos" pitchFamily="34" charset="-122"/>
                <a:cs typeface="Aptos" pitchFamily="34" charset="-120"/>
              </a:rPr>
              <a:t>10 Banken, 4 </a:t>
            </a:r>
            <a:r>
              <a:rPr lang="en-US" sz="1050" err="1">
                <a:solidFill>
                  <a:srgbClr val="667085"/>
                </a:solidFill>
                <a:latin typeface="Aptos"/>
                <a:ea typeface="Aptos" pitchFamily="34" charset="-122"/>
                <a:cs typeface="Aptos" pitchFamily="34" charset="-120"/>
              </a:rPr>
              <a:t>Jahrgänge</a:t>
            </a:r>
            <a:r>
              <a:rPr lang="en-US" sz="1050">
                <a:solidFill>
                  <a:srgbClr val="667085"/>
                </a:solidFill>
                <a:latin typeface="Aptos"/>
                <a:ea typeface="Aptos" pitchFamily="34" charset="-122"/>
                <a:cs typeface="Aptos" pitchFamily="34" charset="-120"/>
              </a:rPr>
              <a:t> und 255 Pillar-3-Punkte </a:t>
            </a:r>
            <a:r>
              <a:rPr lang="en-US" sz="1050" err="1">
                <a:solidFill>
                  <a:srgbClr val="667085"/>
                </a:solidFill>
                <a:latin typeface="Aptos"/>
                <a:ea typeface="Aptos" pitchFamily="34" charset="-122"/>
                <a:cs typeface="Aptos" pitchFamily="34" charset="-120"/>
              </a:rPr>
              <a:t>ermöglichen</a:t>
            </a:r>
            <a:r>
              <a:rPr lang="en-US" sz="1050">
                <a:solidFill>
                  <a:srgbClr val="667085"/>
                </a:solidFill>
                <a:latin typeface="Aptos"/>
                <a:ea typeface="Aptos" pitchFamily="34" charset="-122"/>
                <a:cs typeface="Aptos" pitchFamily="34" charset="-120"/>
              </a:rPr>
              <a:t> </a:t>
            </a:r>
            <a:r>
              <a:rPr lang="en-US" sz="1050" err="1">
                <a:solidFill>
                  <a:srgbClr val="667085"/>
                </a:solidFill>
                <a:latin typeface="Aptos"/>
                <a:ea typeface="Aptos" pitchFamily="34" charset="-122"/>
                <a:cs typeface="Aptos" pitchFamily="34" charset="-120"/>
              </a:rPr>
              <a:t>einen</a:t>
            </a:r>
            <a:r>
              <a:rPr lang="en-US" sz="1050">
                <a:solidFill>
                  <a:srgbClr val="667085"/>
                </a:solidFill>
                <a:latin typeface="Aptos"/>
                <a:ea typeface="Aptos" pitchFamily="34" charset="-122"/>
                <a:cs typeface="Aptos" pitchFamily="34" charset="-120"/>
              </a:rPr>
              <a:t> </a:t>
            </a:r>
            <a:r>
              <a:rPr lang="en-US" sz="1050" err="1">
                <a:solidFill>
                  <a:srgbClr val="667085"/>
                </a:solidFill>
                <a:latin typeface="Aptos"/>
                <a:ea typeface="Aptos" pitchFamily="34" charset="-122"/>
                <a:cs typeface="Aptos" pitchFamily="34" charset="-120"/>
              </a:rPr>
              <a:t>historischen</a:t>
            </a:r>
            <a:r>
              <a:rPr lang="en-US" sz="1050">
                <a:solidFill>
                  <a:srgbClr val="667085"/>
                </a:solidFill>
                <a:latin typeface="Aptos"/>
                <a:ea typeface="Aptos" pitchFamily="34" charset="-122"/>
                <a:cs typeface="Aptos" pitchFamily="34" charset="-120"/>
              </a:rPr>
              <a:t> Test.</a:t>
            </a:r>
            <a:endParaRPr lang="en-US" sz="1200">
              <a:latin typeface="Aptos"/>
            </a:endParaRPr>
          </a:p>
        </p:txBody>
      </p:sp>
      <p:sp>
        <p:nvSpPr>
          <p:cNvPr id="11" name="Shape 9"/>
          <p:cNvSpPr/>
          <p:nvPr/>
        </p:nvSpPr>
        <p:spPr>
          <a:xfrm>
            <a:off x="731520" y="2404872"/>
            <a:ext cx="5212080" cy="658368"/>
          </a:xfrm>
          <a:prstGeom prst="roundRect">
            <a:avLst>
              <a:gd name="adj" fmla="val 5556"/>
            </a:avLst>
          </a:prstGeom>
          <a:solidFill>
            <a:srgbClr val="FFFFFF">
              <a:alpha val="0"/>
            </a:srgbClr>
          </a:solidFill>
          <a:ln w="8890">
            <a:solidFill>
              <a:srgbClr val="D9DEE7"/>
            </a:solidFill>
            <a:prstDash val="solid"/>
          </a:ln>
        </p:spPr>
        <p:txBody>
          <a:bodyPr/>
          <a:lstStyle/>
          <a:p>
            <a:endParaRPr lang="de-DE"/>
          </a:p>
        </p:txBody>
      </p:sp>
      <p:sp>
        <p:nvSpPr>
          <p:cNvPr id="12" name="Shape 10"/>
          <p:cNvSpPr/>
          <p:nvPr/>
        </p:nvSpPr>
        <p:spPr>
          <a:xfrm>
            <a:off x="740664" y="2478024"/>
            <a:ext cx="0" cy="512064"/>
          </a:xfrm>
          <a:prstGeom prst="line">
            <a:avLst/>
          </a:prstGeom>
          <a:noFill/>
          <a:ln w="14605">
            <a:solidFill>
              <a:srgbClr val="B24462"/>
            </a:solidFill>
            <a:prstDash val="solid"/>
          </a:ln>
        </p:spPr>
        <p:txBody>
          <a:bodyPr/>
          <a:lstStyle/>
          <a:p>
            <a:endParaRPr lang="de-DE"/>
          </a:p>
        </p:txBody>
      </p:sp>
      <p:sp>
        <p:nvSpPr>
          <p:cNvPr id="13" name="Text 11"/>
          <p:cNvSpPr/>
          <p:nvPr/>
        </p:nvSpPr>
        <p:spPr>
          <a:xfrm>
            <a:off x="859536" y="2487168"/>
            <a:ext cx="5010912" cy="548640"/>
          </a:xfrm>
          <a:prstGeom prst="rect">
            <a:avLst/>
          </a:prstGeom>
          <a:noFill/>
          <a:ln/>
        </p:spPr>
        <p:txBody>
          <a:bodyPr wrap="square" lIns="0" tIns="0" rIns="0" bIns="0" rtlCol="0" anchor="t">
            <a:normAutofit/>
          </a:bodyPr>
          <a:lstStyle/>
          <a:p>
            <a:pPr marL="0" indent="0">
              <a:buNone/>
            </a:pPr>
            <a:r>
              <a:rPr lang="en-US" sz="1200" b="1">
                <a:solidFill>
                  <a:srgbClr val="102333"/>
                </a:solidFill>
                <a:latin typeface="Aptos" pitchFamily="34" charset="0"/>
                <a:ea typeface="Aptos" pitchFamily="34" charset="-122"/>
                <a:cs typeface="Aptos" pitchFamily="34" charset="-120"/>
              </a:rPr>
              <a:t>2 · Stress-Treiber korrekt verankert
</a:t>
            </a:r>
            <a:r>
              <a:rPr lang="en-US" sz="1050">
                <a:solidFill>
                  <a:srgbClr val="667085"/>
                </a:solidFill>
                <a:latin typeface="Aptos" pitchFamily="34" charset="0"/>
                <a:ea typeface="Aptos" pitchFamily="34" charset="-122"/>
                <a:cs typeface="Aptos" pitchFamily="34" charset="-120"/>
              </a:rPr>
              <a:t>Zins- und Brent-Schocks schlagen in den relevanten Krisenphasen aus</a:t>
            </a:r>
            <a:r>
              <a:rPr lang="en-US" sz="1200">
                <a:solidFill>
                  <a:srgbClr val="667085"/>
                </a:solidFill>
                <a:latin typeface="Aptos" pitchFamily="34" charset="0"/>
                <a:ea typeface="Aptos" pitchFamily="34" charset="-122"/>
                <a:cs typeface="Aptos" pitchFamily="34" charset="-120"/>
              </a:rPr>
              <a:t>.</a:t>
            </a:r>
            <a:endParaRPr lang="en-US" sz="1200"/>
          </a:p>
        </p:txBody>
      </p:sp>
      <p:sp>
        <p:nvSpPr>
          <p:cNvPr id="14" name="Shape 12"/>
          <p:cNvSpPr/>
          <p:nvPr/>
        </p:nvSpPr>
        <p:spPr>
          <a:xfrm>
            <a:off x="731520" y="3163824"/>
            <a:ext cx="5212080" cy="658368"/>
          </a:xfrm>
          <a:prstGeom prst="roundRect">
            <a:avLst>
              <a:gd name="adj" fmla="val 5556"/>
            </a:avLst>
          </a:prstGeom>
          <a:solidFill>
            <a:srgbClr val="FFFFFF">
              <a:alpha val="0"/>
            </a:srgbClr>
          </a:solidFill>
          <a:ln w="8890">
            <a:solidFill>
              <a:srgbClr val="D9DEE7"/>
            </a:solidFill>
            <a:prstDash val="solid"/>
          </a:ln>
        </p:spPr>
        <p:txBody>
          <a:bodyPr/>
          <a:lstStyle/>
          <a:p>
            <a:endParaRPr lang="de-DE"/>
          </a:p>
        </p:txBody>
      </p:sp>
      <p:sp>
        <p:nvSpPr>
          <p:cNvPr id="15" name="Shape 13"/>
          <p:cNvSpPr/>
          <p:nvPr/>
        </p:nvSpPr>
        <p:spPr>
          <a:xfrm>
            <a:off x="740664" y="3236976"/>
            <a:ext cx="0" cy="512064"/>
          </a:xfrm>
          <a:prstGeom prst="line">
            <a:avLst/>
          </a:prstGeom>
          <a:noFill/>
          <a:ln w="14605">
            <a:solidFill>
              <a:srgbClr val="C79A1E"/>
            </a:solidFill>
            <a:prstDash val="solid"/>
          </a:ln>
        </p:spPr>
        <p:txBody>
          <a:bodyPr/>
          <a:lstStyle/>
          <a:p>
            <a:endParaRPr lang="de-DE"/>
          </a:p>
        </p:txBody>
      </p:sp>
      <p:sp>
        <p:nvSpPr>
          <p:cNvPr id="16" name="Text 14"/>
          <p:cNvSpPr/>
          <p:nvPr/>
        </p:nvSpPr>
        <p:spPr>
          <a:xfrm>
            <a:off x="859536" y="3246120"/>
            <a:ext cx="5010912" cy="548640"/>
          </a:xfrm>
          <a:prstGeom prst="rect">
            <a:avLst/>
          </a:prstGeom>
          <a:noFill/>
          <a:ln/>
        </p:spPr>
        <p:txBody>
          <a:bodyPr wrap="square" lIns="0" tIns="0" rIns="0" bIns="0" rtlCol="0" anchor="t">
            <a:normAutofit/>
          </a:bodyPr>
          <a:lstStyle/>
          <a:p>
            <a:pPr marL="0" indent="0">
              <a:buNone/>
            </a:pPr>
            <a:r>
              <a:rPr lang="en-US" sz="1200" b="1">
                <a:solidFill>
                  <a:srgbClr val="102333"/>
                </a:solidFill>
                <a:latin typeface="Aptos" pitchFamily="34" charset="0"/>
                <a:ea typeface="Aptos" pitchFamily="34" charset="-122"/>
                <a:cs typeface="Aptos" pitchFamily="34" charset="-120"/>
              </a:rPr>
              <a:t>3 · Stress-Mechanik </a:t>
            </a:r>
            <a:r>
              <a:rPr lang="en-US" sz="1200" b="1" err="1">
                <a:solidFill>
                  <a:srgbClr val="102333"/>
                </a:solidFill>
                <a:latin typeface="Aptos" pitchFamily="34" charset="0"/>
                <a:ea typeface="Aptos" pitchFamily="34" charset="-122"/>
                <a:cs typeface="Aptos" pitchFamily="34" charset="-120"/>
              </a:rPr>
              <a:t>plausibel</a:t>
            </a:r>
            <a:r>
              <a:rPr lang="en-US" sz="1200" b="1">
                <a:solidFill>
                  <a:srgbClr val="102333"/>
                </a:solidFill>
                <a:latin typeface="Aptos" pitchFamily="34" charset="0"/>
                <a:ea typeface="Aptos" pitchFamily="34" charset="-122"/>
                <a:cs typeface="Aptos" pitchFamily="34" charset="-120"/>
              </a:rPr>
              <a:t>
</a:t>
            </a:r>
            <a:r>
              <a:rPr lang="en-US" sz="1050" err="1">
                <a:solidFill>
                  <a:srgbClr val="667085"/>
                </a:solidFill>
                <a:latin typeface="Aptos" pitchFamily="34" charset="0"/>
                <a:ea typeface="Aptos" pitchFamily="34" charset="-122"/>
                <a:cs typeface="Aptos" pitchFamily="34" charset="-120"/>
              </a:rPr>
              <a:t>Sektorale</a:t>
            </a:r>
            <a:r>
              <a:rPr lang="en-US" sz="1050">
                <a:solidFill>
                  <a:srgbClr val="667085"/>
                </a:solidFill>
                <a:latin typeface="Aptos" pitchFamily="34" charset="0"/>
                <a:ea typeface="Aptos" pitchFamily="34" charset="-122"/>
                <a:cs typeface="Aptos" pitchFamily="34" charset="-120"/>
              </a:rPr>
              <a:t> </a:t>
            </a:r>
            <a:r>
              <a:rPr lang="en-US" sz="1050" err="1">
                <a:solidFill>
                  <a:srgbClr val="667085"/>
                </a:solidFill>
                <a:latin typeface="Aptos" pitchFamily="34" charset="0"/>
                <a:ea typeface="Aptos" pitchFamily="34" charset="-122"/>
                <a:cs typeface="Aptos" pitchFamily="34" charset="-120"/>
              </a:rPr>
              <a:t>Sensitivitäten</a:t>
            </a:r>
            <a:r>
              <a:rPr lang="en-US" sz="1050">
                <a:solidFill>
                  <a:srgbClr val="667085"/>
                </a:solidFill>
                <a:latin typeface="Aptos" pitchFamily="34" charset="0"/>
                <a:ea typeface="Aptos" pitchFamily="34" charset="-122"/>
                <a:cs typeface="Aptos" pitchFamily="34" charset="-120"/>
              </a:rPr>
              <a:t> sind </a:t>
            </a:r>
            <a:r>
              <a:rPr lang="en-US" sz="1050" err="1">
                <a:solidFill>
                  <a:srgbClr val="667085"/>
                </a:solidFill>
                <a:latin typeface="Aptos" pitchFamily="34" charset="0"/>
                <a:ea typeface="Aptos" pitchFamily="34" charset="-122"/>
                <a:cs typeface="Aptos" pitchFamily="34" charset="-120"/>
              </a:rPr>
              <a:t>ökonomisch</a:t>
            </a:r>
            <a:r>
              <a:rPr lang="en-US" sz="1050">
                <a:solidFill>
                  <a:srgbClr val="667085"/>
                </a:solidFill>
                <a:latin typeface="Aptos" pitchFamily="34" charset="0"/>
                <a:ea typeface="Aptos" pitchFamily="34" charset="-122"/>
                <a:cs typeface="Aptos" pitchFamily="34" charset="-120"/>
              </a:rPr>
              <a:t> </a:t>
            </a:r>
            <a:r>
              <a:rPr lang="en-US" sz="1050" err="1">
                <a:solidFill>
                  <a:srgbClr val="667085"/>
                </a:solidFill>
                <a:latin typeface="Aptos" pitchFamily="34" charset="0"/>
                <a:ea typeface="Aptos" pitchFamily="34" charset="-122"/>
                <a:cs typeface="Aptos" pitchFamily="34" charset="-120"/>
              </a:rPr>
              <a:t>konsistent</a:t>
            </a:r>
            <a:r>
              <a:rPr lang="en-US" sz="1200">
                <a:solidFill>
                  <a:srgbClr val="667085"/>
                </a:solidFill>
                <a:latin typeface="Aptos" pitchFamily="34" charset="0"/>
                <a:ea typeface="Aptos" pitchFamily="34" charset="-122"/>
                <a:cs typeface="Aptos" pitchFamily="34" charset="-120"/>
              </a:rPr>
              <a:t>.</a:t>
            </a:r>
            <a:endParaRPr lang="en-US" sz="1200"/>
          </a:p>
        </p:txBody>
      </p:sp>
      <p:sp>
        <p:nvSpPr>
          <p:cNvPr id="17" name="Shape 15"/>
          <p:cNvSpPr/>
          <p:nvPr/>
        </p:nvSpPr>
        <p:spPr>
          <a:xfrm>
            <a:off x="731520" y="3922776"/>
            <a:ext cx="5212080" cy="658368"/>
          </a:xfrm>
          <a:prstGeom prst="roundRect">
            <a:avLst>
              <a:gd name="adj" fmla="val 5556"/>
            </a:avLst>
          </a:prstGeom>
          <a:solidFill>
            <a:srgbClr val="FFFFFF">
              <a:alpha val="0"/>
            </a:srgbClr>
          </a:solidFill>
          <a:ln w="8890">
            <a:solidFill>
              <a:srgbClr val="D9DEE7"/>
            </a:solidFill>
            <a:prstDash val="solid"/>
          </a:ln>
        </p:spPr>
        <p:txBody>
          <a:bodyPr/>
          <a:lstStyle/>
          <a:p>
            <a:endParaRPr lang="de-DE"/>
          </a:p>
        </p:txBody>
      </p:sp>
      <p:sp>
        <p:nvSpPr>
          <p:cNvPr id="18" name="Shape 16"/>
          <p:cNvSpPr/>
          <p:nvPr/>
        </p:nvSpPr>
        <p:spPr>
          <a:xfrm>
            <a:off x="740664" y="3995928"/>
            <a:ext cx="0" cy="512064"/>
          </a:xfrm>
          <a:prstGeom prst="line">
            <a:avLst/>
          </a:prstGeom>
          <a:noFill/>
          <a:ln w="14605">
            <a:solidFill>
              <a:srgbClr val="168A8C"/>
            </a:solidFill>
            <a:prstDash val="solid"/>
          </a:ln>
        </p:spPr>
        <p:txBody>
          <a:bodyPr/>
          <a:lstStyle/>
          <a:p>
            <a:endParaRPr lang="de-DE"/>
          </a:p>
        </p:txBody>
      </p:sp>
      <p:sp>
        <p:nvSpPr>
          <p:cNvPr id="19" name="Text 17"/>
          <p:cNvSpPr/>
          <p:nvPr/>
        </p:nvSpPr>
        <p:spPr>
          <a:xfrm>
            <a:off x="859536" y="4005072"/>
            <a:ext cx="5010912" cy="548640"/>
          </a:xfrm>
          <a:prstGeom prst="rect">
            <a:avLst/>
          </a:prstGeom>
          <a:noFill/>
          <a:ln/>
        </p:spPr>
        <p:txBody>
          <a:bodyPr wrap="square" lIns="0" tIns="0" rIns="0" bIns="0" rtlCol="0" anchor="t">
            <a:normAutofit/>
          </a:bodyPr>
          <a:lstStyle/>
          <a:p>
            <a:pPr marL="0" indent="0">
              <a:buNone/>
            </a:pPr>
            <a:r>
              <a:rPr lang="en-US" sz="1200" b="1">
                <a:solidFill>
                  <a:srgbClr val="102333"/>
                </a:solidFill>
                <a:latin typeface="Aptos"/>
                <a:ea typeface="Aptos" pitchFamily="34" charset="-122"/>
                <a:cs typeface="Aptos" pitchFamily="34" charset="-120"/>
              </a:rPr>
              <a:t>4 · CET1-Outcome nah &amp; </a:t>
            </a:r>
            <a:r>
              <a:rPr lang="en-US" sz="1200" b="1" err="1">
                <a:solidFill>
                  <a:srgbClr val="102333"/>
                </a:solidFill>
                <a:latin typeface="Aptos"/>
                <a:ea typeface="Aptos" pitchFamily="34" charset="-122"/>
                <a:cs typeface="Aptos" pitchFamily="34" charset="-120"/>
              </a:rPr>
              <a:t>konservativ</a:t>
            </a:r>
            <a:r>
              <a:rPr lang="en-US" sz="1200" b="1">
                <a:solidFill>
                  <a:srgbClr val="102333"/>
                </a:solidFill>
                <a:latin typeface="Aptos"/>
                <a:ea typeface="Aptos" pitchFamily="34" charset="-122"/>
                <a:cs typeface="Aptos" pitchFamily="34" charset="-120"/>
              </a:rPr>
              <a:t>
</a:t>
            </a:r>
            <a:r>
              <a:rPr lang="en-US" sz="1050">
                <a:solidFill>
                  <a:srgbClr val="667085"/>
                </a:solidFill>
                <a:latin typeface="Aptos"/>
                <a:ea typeface="Aptos" pitchFamily="34" charset="-122"/>
                <a:cs typeface="Aptos" pitchFamily="34" charset="-120"/>
              </a:rPr>
              <a:t>MAE 1,26 pp; in 73% der </a:t>
            </a:r>
            <a:r>
              <a:rPr lang="en-US" sz="1050" err="1">
                <a:solidFill>
                  <a:srgbClr val="667085"/>
                </a:solidFill>
                <a:latin typeface="Aptos"/>
                <a:ea typeface="Aptos" pitchFamily="34" charset="-122"/>
                <a:cs typeface="Aptos" pitchFamily="34" charset="-120"/>
              </a:rPr>
              <a:t>Fälle</a:t>
            </a:r>
            <a:r>
              <a:rPr lang="en-US" sz="1050">
                <a:solidFill>
                  <a:srgbClr val="667085"/>
                </a:solidFill>
                <a:latin typeface="Aptos"/>
                <a:ea typeface="Aptos" pitchFamily="34" charset="-122"/>
                <a:cs typeface="Aptos" pitchFamily="34" charset="-120"/>
              </a:rPr>
              <a:t> </a:t>
            </a:r>
            <a:r>
              <a:rPr lang="en-US" sz="1050" err="1">
                <a:solidFill>
                  <a:srgbClr val="667085"/>
                </a:solidFill>
                <a:latin typeface="Aptos"/>
                <a:ea typeface="Aptos" pitchFamily="34" charset="-122"/>
                <a:cs typeface="Aptos" pitchFamily="34" charset="-120"/>
              </a:rPr>
              <a:t>liegt</a:t>
            </a:r>
            <a:r>
              <a:rPr lang="en-US" sz="1050">
                <a:solidFill>
                  <a:srgbClr val="667085"/>
                </a:solidFill>
                <a:latin typeface="Aptos"/>
                <a:ea typeface="Aptos" pitchFamily="34" charset="-122"/>
                <a:cs typeface="Aptos" pitchFamily="34" charset="-120"/>
              </a:rPr>
              <a:t> das Modell </a:t>
            </a:r>
            <a:r>
              <a:rPr lang="en-US" sz="1050" err="1">
                <a:solidFill>
                  <a:srgbClr val="667085"/>
                </a:solidFill>
                <a:latin typeface="Aptos"/>
                <a:ea typeface="Aptos" pitchFamily="34" charset="-122"/>
                <a:cs typeface="Aptos" pitchFamily="34" charset="-120"/>
              </a:rPr>
              <a:t>vorsichtig</a:t>
            </a:r>
            <a:r>
              <a:rPr lang="en-US" sz="1200">
                <a:solidFill>
                  <a:srgbClr val="667085"/>
                </a:solidFill>
                <a:latin typeface="Aptos"/>
                <a:ea typeface="Aptos" pitchFamily="34" charset="-122"/>
                <a:cs typeface="Aptos" pitchFamily="34" charset="-120"/>
              </a:rPr>
              <a:t>.</a:t>
            </a:r>
            <a:endParaRPr lang="en-US" sz="1200">
              <a:latin typeface="Aptos"/>
            </a:endParaRPr>
          </a:p>
        </p:txBody>
      </p:sp>
      <p:sp>
        <p:nvSpPr>
          <p:cNvPr id="20" name="Shape 18"/>
          <p:cNvSpPr/>
          <p:nvPr/>
        </p:nvSpPr>
        <p:spPr>
          <a:xfrm>
            <a:off x="6446520" y="1645920"/>
            <a:ext cx="5029200" cy="2788920"/>
          </a:xfrm>
          <a:prstGeom prst="roundRect">
            <a:avLst>
              <a:gd name="adj" fmla="val 1639"/>
            </a:avLst>
          </a:prstGeom>
          <a:solidFill>
            <a:srgbClr val="182532"/>
          </a:solidFill>
          <a:ln w="12700">
            <a:solidFill>
              <a:srgbClr val="182532"/>
            </a:solidFill>
            <a:prstDash val="solid"/>
          </a:ln>
        </p:spPr>
        <p:txBody>
          <a:bodyPr/>
          <a:lstStyle/>
          <a:p>
            <a:endParaRPr lang="de-DE"/>
          </a:p>
        </p:txBody>
      </p:sp>
      <p:sp>
        <p:nvSpPr>
          <p:cNvPr id="21" name="Text 19"/>
          <p:cNvSpPr/>
          <p:nvPr/>
        </p:nvSpPr>
        <p:spPr>
          <a:xfrm>
            <a:off x="6675120" y="1847088"/>
            <a:ext cx="4572000" cy="2240280"/>
          </a:xfrm>
          <a:prstGeom prst="rect">
            <a:avLst/>
          </a:prstGeom>
          <a:noFill/>
          <a:ln/>
        </p:spPr>
        <p:txBody>
          <a:bodyPr wrap="square" lIns="0" tIns="0" rIns="0" bIns="0" rtlCol="0" anchor="t">
            <a:normAutofit/>
          </a:bodyPr>
          <a:lstStyle/>
          <a:p>
            <a:pPr marL="0" indent="0">
              <a:lnSpc>
                <a:spcPct val="150000"/>
              </a:lnSpc>
              <a:buNone/>
            </a:pPr>
            <a:r>
              <a:rPr lang="en-US" sz="1200">
                <a:solidFill>
                  <a:srgbClr val="FFFFFF"/>
                </a:solidFill>
                <a:latin typeface="Aptos" panose="020B0004020202020204" pitchFamily="34" charset="0"/>
                <a:ea typeface="Aptos" pitchFamily="34" charset="-122"/>
                <a:cs typeface="Aptos" pitchFamily="34" charset="-120"/>
              </a:rPr>
              <a:t>KERNBOTSCHAFT</a:t>
            </a:r>
            <a:endParaRPr lang="en-US" sz="1200">
              <a:latin typeface="Aptos" panose="020B0004020202020204" pitchFamily="34" charset="0"/>
            </a:endParaRPr>
          </a:p>
          <a:p>
            <a:pPr marL="0" indent="0">
              <a:lnSpc>
                <a:spcPct val="150000"/>
              </a:lnSpc>
              <a:buNone/>
            </a:pPr>
            <a:r>
              <a:rPr lang="en-US" sz="1200" dirty="0" err="1">
                <a:solidFill>
                  <a:srgbClr val="FFFFFF"/>
                </a:solidFill>
                <a:latin typeface="Aptos" panose="020B0004020202020204" pitchFamily="34" charset="0"/>
                <a:ea typeface="Aptos" pitchFamily="34" charset="-122"/>
                <a:cs typeface="Aptos" pitchFamily="34" charset="-120"/>
              </a:rPr>
              <a:t>Validiert</a:t>
            </a:r>
            <a:r>
              <a:rPr lang="en-US" sz="1200">
                <a:solidFill>
                  <a:srgbClr val="FFFFFF"/>
                </a:solidFill>
                <a:latin typeface="Aptos" panose="020B0004020202020204" pitchFamily="34" charset="0"/>
                <a:ea typeface="Aptos" pitchFamily="34" charset="-122"/>
                <a:cs typeface="Aptos" pitchFamily="34" charset="-120"/>
              </a:rPr>
              <a:t> </a:t>
            </a:r>
            <a:r>
              <a:rPr lang="en-US" sz="1200" dirty="0" err="1">
                <a:solidFill>
                  <a:srgbClr val="FFFFFF"/>
                </a:solidFill>
                <a:latin typeface="Aptos" panose="020B0004020202020204" pitchFamily="34" charset="0"/>
                <a:ea typeface="Aptos" pitchFamily="34" charset="-122"/>
                <a:cs typeface="Aptos" pitchFamily="34" charset="-120"/>
              </a:rPr>
              <a:t>als</a:t>
            </a:r>
            <a:r>
              <a:rPr lang="en-US" sz="1200">
                <a:solidFill>
                  <a:srgbClr val="FFFFFF"/>
                </a:solidFill>
                <a:latin typeface="Aptos" panose="020B0004020202020204" pitchFamily="34" charset="0"/>
                <a:ea typeface="Aptos" pitchFamily="34" charset="-122"/>
                <a:cs typeface="Aptos" pitchFamily="34" charset="-120"/>
              </a:rPr>
              <a:t> Stress-Instrument  nicht </a:t>
            </a:r>
            <a:r>
              <a:rPr lang="en-US" sz="1200" dirty="0" err="1">
                <a:solidFill>
                  <a:srgbClr val="FFFFFF"/>
                </a:solidFill>
                <a:latin typeface="Aptos" panose="020B0004020202020204" pitchFamily="34" charset="0"/>
                <a:ea typeface="Aptos" pitchFamily="34" charset="-122"/>
                <a:cs typeface="Aptos" pitchFamily="34" charset="-120"/>
              </a:rPr>
              <a:t>als</a:t>
            </a:r>
            <a:r>
              <a:rPr lang="en-US" sz="1200">
                <a:solidFill>
                  <a:srgbClr val="FFFFFF"/>
                </a:solidFill>
                <a:latin typeface="Aptos" panose="020B0004020202020204" pitchFamily="34" charset="0"/>
                <a:ea typeface="Aptos" pitchFamily="34" charset="-122"/>
                <a:cs typeface="Aptos" pitchFamily="34" charset="-120"/>
              </a:rPr>
              <a:t> </a:t>
            </a:r>
            <a:r>
              <a:rPr lang="en-US" sz="1200" dirty="0" err="1">
                <a:solidFill>
                  <a:srgbClr val="FFFFFF"/>
                </a:solidFill>
                <a:latin typeface="Aptos" panose="020B0004020202020204" pitchFamily="34" charset="0"/>
                <a:ea typeface="Aptos" pitchFamily="34" charset="-122"/>
                <a:cs typeface="Aptos" pitchFamily="34" charset="-120"/>
              </a:rPr>
              <a:t>Punktprognose</a:t>
            </a:r>
            <a:r>
              <a:rPr lang="en-US" sz="1200">
                <a:solidFill>
                  <a:srgbClr val="FFFFFF"/>
                </a:solidFill>
                <a:latin typeface="Aptos" panose="020B0004020202020204" pitchFamily="34" charset="0"/>
                <a:ea typeface="Aptos" pitchFamily="34" charset="-122"/>
                <a:cs typeface="Aptos" pitchFamily="34" charset="-120"/>
              </a:rPr>
              <a:t>.</a:t>
            </a:r>
            <a:endParaRPr lang="en-US" sz="1200">
              <a:latin typeface="Aptos" panose="020B0004020202020204" pitchFamily="34" charset="0"/>
            </a:endParaRPr>
          </a:p>
          <a:p>
            <a:pPr marL="0" indent="0">
              <a:lnSpc>
                <a:spcPct val="150000"/>
              </a:lnSpc>
              <a:buNone/>
            </a:pPr>
            <a:endParaRPr lang="en-US" sz="1200">
              <a:latin typeface="Aptos" panose="020B0004020202020204" pitchFamily="34" charset="0"/>
            </a:endParaRPr>
          </a:p>
          <a:p>
            <a:pPr marL="0" indent="0">
              <a:lnSpc>
                <a:spcPct val="150000"/>
              </a:lnSpc>
              <a:buNone/>
            </a:pPr>
            <a:r>
              <a:rPr lang="en-US" sz="1200">
                <a:solidFill>
                  <a:srgbClr val="FFFFFF"/>
                </a:solidFill>
                <a:latin typeface="Aptos" panose="020B0004020202020204" pitchFamily="34" charset="0"/>
                <a:ea typeface="Aptos" pitchFamily="34" charset="-122"/>
                <a:cs typeface="Aptos" pitchFamily="34" charset="-120"/>
              </a:rPr>
              <a:t>Das Cockpit </a:t>
            </a:r>
            <a:r>
              <a:rPr lang="en-US" sz="1200" dirty="0" err="1">
                <a:solidFill>
                  <a:srgbClr val="FFFFFF"/>
                </a:solidFill>
                <a:latin typeface="Aptos" panose="020B0004020202020204" pitchFamily="34" charset="0"/>
                <a:ea typeface="Aptos" pitchFamily="34" charset="-122"/>
                <a:cs typeface="Aptos" pitchFamily="34" charset="-120"/>
              </a:rPr>
              <a:t>beantwortet</a:t>
            </a:r>
            <a:r>
              <a:rPr lang="en-US" sz="1200">
                <a:solidFill>
                  <a:srgbClr val="FFFFFF"/>
                </a:solidFill>
                <a:latin typeface="Aptos" panose="020B0004020202020204" pitchFamily="34" charset="0"/>
                <a:ea typeface="Aptos" pitchFamily="34" charset="-122"/>
                <a:cs typeface="Aptos" pitchFamily="34" charset="-120"/>
              </a:rPr>
              <a:t>: „Wie </a:t>
            </a:r>
            <a:r>
              <a:rPr lang="en-US" sz="1200" dirty="0" err="1">
                <a:solidFill>
                  <a:srgbClr val="FFFFFF"/>
                </a:solidFill>
                <a:latin typeface="Aptos" panose="020B0004020202020204" pitchFamily="34" charset="0"/>
                <a:ea typeface="Aptos" pitchFamily="34" charset="-122"/>
                <a:cs typeface="Aptos" pitchFamily="34" charset="-120"/>
              </a:rPr>
              <a:t>steht</a:t>
            </a:r>
            <a:r>
              <a:rPr lang="en-US" sz="1200">
                <a:solidFill>
                  <a:srgbClr val="FFFFFF"/>
                </a:solidFill>
                <a:latin typeface="Aptos" panose="020B0004020202020204" pitchFamily="34" charset="0"/>
                <a:ea typeface="Aptos" pitchFamily="34" charset="-122"/>
                <a:cs typeface="Aptos" pitchFamily="34" charset="-120"/>
              </a:rPr>
              <a:t> die CET1-Quote, falls </a:t>
            </a:r>
            <a:r>
              <a:rPr lang="en-US" sz="1200" dirty="0" err="1">
                <a:solidFill>
                  <a:srgbClr val="FFFFFF"/>
                </a:solidFill>
                <a:latin typeface="Aptos" panose="020B0004020202020204" pitchFamily="34" charset="0"/>
                <a:ea typeface="Aptos" pitchFamily="34" charset="-122"/>
                <a:cs typeface="Aptos" pitchFamily="34" charset="-120"/>
              </a:rPr>
              <a:t>ein</a:t>
            </a:r>
            <a:r>
              <a:rPr lang="en-US" sz="1200">
                <a:solidFill>
                  <a:srgbClr val="FFFFFF"/>
                </a:solidFill>
                <a:latin typeface="Aptos" panose="020B0004020202020204" pitchFamily="34" charset="0"/>
                <a:ea typeface="Aptos" pitchFamily="34" charset="-122"/>
                <a:cs typeface="Aptos" pitchFamily="34" charset="-120"/>
              </a:rPr>
              <a:t> Schock </a:t>
            </a:r>
            <a:r>
              <a:rPr lang="en-US" sz="1200" dirty="0" err="1">
                <a:solidFill>
                  <a:srgbClr val="FFFFFF"/>
                </a:solidFill>
                <a:latin typeface="Aptos" panose="020B0004020202020204" pitchFamily="34" charset="0"/>
                <a:ea typeface="Aptos" pitchFamily="34" charset="-122"/>
                <a:cs typeface="Aptos" pitchFamily="34" charset="-120"/>
              </a:rPr>
              <a:t>eintritt</a:t>
            </a:r>
            <a:r>
              <a:rPr lang="en-US" sz="1200">
                <a:solidFill>
                  <a:srgbClr val="FFFFFF"/>
                </a:solidFill>
                <a:latin typeface="Aptos" panose="020B0004020202020204" pitchFamily="34" charset="0"/>
                <a:ea typeface="Aptos" pitchFamily="34" charset="-122"/>
                <a:cs typeface="Aptos" pitchFamily="34" charset="-120"/>
              </a:rPr>
              <a:t>?“ </a:t>
            </a:r>
            <a:r>
              <a:rPr lang="en-US" sz="1200" dirty="0" err="1">
                <a:solidFill>
                  <a:srgbClr val="FFFFFF"/>
                </a:solidFill>
                <a:latin typeface="Aptos" panose="020B0004020202020204" pitchFamily="34" charset="0"/>
                <a:ea typeface="Aptos" pitchFamily="34" charset="-122"/>
                <a:cs typeface="Aptos" pitchFamily="34" charset="-120"/>
              </a:rPr>
              <a:t>nahe</a:t>
            </a:r>
            <a:r>
              <a:rPr lang="en-US" sz="1200">
                <a:solidFill>
                  <a:srgbClr val="FFFFFF"/>
                </a:solidFill>
                <a:latin typeface="Aptos" panose="020B0004020202020204" pitchFamily="34" charset="0"/>
                <a:ea typeface="Aptos" pitchFamily="34" charset="-122"/>
                <a:cs typeface="Aptos" pitchFamily="34" charset="-120"/>
              </a:rPr>
              <a:t> an der </a:t>
            </a:r>
            <a:r>
              <a:rPr lang="en-US" sz="1200" dirty="0" err="1">
                <a:solidFill>
                  <a:srgbClr val="FFFFFF"/>
                </a:solidFill>
                <a:latin typeface="Aptos" panose="020B0004020202020204" pitchFamily="34" charset="0"/>
                <a:ea typeface="Aptos" pitchFamily="34" charset="-122"/>
                <a:cs typeface="Aptos" pitchFamily="34" charset="-120"/>
              </a:rPr>
              <a:t>Realität</a:t>
            </a:r>
            <a:r>
              <a:rPr lang="en-US" sz="1200">
                <a:solidFill>
                  <a:srgbClr val="FFFFFF"/>
                </a:solidFill>
                <a:latin typeface="Aptos" panose="020B0004020202020204" pitchFamily="34" charset="0"/>
                <a:ea typeface="Aptos" pitchFamily="34" charset="-122"/>
                <a:cs typeface="Aptos" pitchFamily="34" charset="-120"/>
              </a:rPr>
              <a:t> und nicht </a:t>
            </a:r>
            <a:r>
              <a:rPr lang="en-US" sz="1200" dirty="0" err="1">
                <a:solidFill>
                  <a:srgbClr val="FFFFFF"/>
                </a:solidFill>
                <a:latin typeface="Aptos" panose="020B0004020202020204" pitchFamily="34" charset="0"/>
                <a:ea typeface="Aptos" pitchFamily="34" charset="-122"/>
                <a:cs typeface="Aptos" pitchFamily="34" charset="-120"/>
              </a:rPr>
              <a:t>zu</a:t>
            </a:r>
            <a:r>
              <a:rPr lang="en-US" sz="1200">
                <a:solidFill>
                  <a:srgbClr val="FFFFFF"/>
                </a:solidFill>
                <a:latin typeface="Aptos" panose="020B0004020202020204" pitchFamily="34" charset="0"/>
                <a:ea typeface="Aptos" pitchFamily="34" charset="-122"/>
                <a:cs typeface="Aptos" pitchFamily="34" charset="-120"/>
              </a:rPr>
              <a:t> </a:t>
            </a:r>
            <a:r>
              <a:rPr lang="en-US" sz="1200" dirty="0" err="1">
                <a:solidFill>
                  <a:srgbClr val="FFFFFF"/>
                </a:solidFill>
                <a:latin typeface="Aptos" panose="020B0004020202020204" pitchFamily="34" charset="0"/>
                <a:ea typeface="Aptos" pitchFamily="34" charset="-122"/>
                <a:cs typeface="Aptos" pitchFamily="34" charset="-120"/>
              </a:rPr>
              <a:t>optimistisch</a:t>
            </a:r>
            <a:r>
              <a:rPr lang="en-US" sz="1200">
                <a:solidFill>
                  <a:srgbClr val="FFFFFF"/>
                </a:solidFill>
                <a:latin typeface="Aptos" panose="020B0004020202020204" pitchFamily="34" charset="0"/>
                <a:ea typeface="Aptos" pitchFamily="34" charset="-122"/>
                <a:cs typeface="Aptos" pitchFamily="34" charset="-120"/>
              </a:rPr>
              <a:t>. Für </a:t>
            </a:r>
            <a:r>
              <a:rPr lang="en-US" sz="1200" dirty="0" err="1">
                <a:solidFill>
                  <a:srgbClr val="FFFFFF"/>
                </a:solidFill>
                <a:latin typeface="Aptos" panose="020B0004020202020204" pitchFamily="34" charset="0"/>
                <a:ea typeface="Aptos" pitchFamily="34" charset="-122"/>
                <a:cs typeface="Aptos" pitchFamily="34" charset="-120"/>
              </a:rPr>
              <a:t>eine</a:t>
            </a:r>
            <a:r>
              <a:rPr lang="en-US" sz="1200">
                <a:solidFill>
                  <a:srgbClr val="FFFFFF"/>
                </a:solidFill>
                <a:latin typeface="Aptos" panose="020B0004020202020204" pitchFamily="34" charset="0"/>
                <a:ea typeface="Aptos" pitchFamily="34" charset="-122"/>
                <a:cs typeface="Aptos" pitchFamily="34" charset="-120"/>
              </a:rPr>
              <a:t> </a:t>
            </a:r>
            <a:r>
              <a:rPr lang="en-US" sz="1200" dirty="0" err="1">
                <a:solidFill>
                  <a:srgbClr val="FFFFFF"/>
                </a:solidFill>
                <a:latin typeface="Aptos" panose="020B0004020202020204" pitchFamily="34" charset="0"/>
                <a:ea typeface="Aptos" pitchFamily="34" charset="-122"/>
                <a:cs typeface="Aptos" pitchFamily="34" charset="-120"/>
              </a:rPr>
              <a:t>punktgenaue</a:t>
            </a:r>
            <a:r>
              <a:rPr lang="en-US" sz="1200">
                <a:solidFill>
                  <a:srgbClr val="FFFFFF"/>
                </a:solidFill>
                <a:latin typeface="Aptos" panose="020B0004020202020204" pitchFamily="34" charset="0"/>
                <a:ea typeface="Aptos" pitchFamily="34" charset="-122"/>
                <a:cs typeface="Aptos" pitchFamily="34" charset="-120"/>
              </a:rPr>
              <a:t> </a:t>
            </a:r>
            <a:r>
              <a:rPr lang="en-US" sz="1200" dirty="0" err="1">
                <a:solidFill>
                  <a:srgbClr val="FFFFFF"/>
                </a:solidFill>
                <a:latin typeface="Aptos" panose="020B0004020202020204" pitchFamily="34" charset="0"/>
                <a:ea typeface="Aptos" pitchFamily="34" charset="-122"/>
                <a:cs typeface="Aptos" pitchFamily="34" charset="-120"/>
              </a:rPr>
              <a:t>Quartalsprognose</a:t>
            </a:r>
            <a:r>
              <a:rPr lang="en-US" sz="1200">
                <a:solidFill>
                  <a:srgbClr val="FFFFFF"/>
                </a:solidFill>
                <a:latin typeface="Aptos" panose="020B0004020202020204" pitchFamily="34" charset="0"/>
                <a:ea typeface="Aptos" pitchFamily="34" charset="-122"/>
                <a:cs typeface="Aptos" pitchFamily="34" charset="-120"/>
              </a:rPr>
              <a:t> </a:t>
            </a:r>
            <a:r>
              <a:rPr lang="en-US" sz="1200" dirty="0" err="1">
                <a:solidFill>
                  <a:srgbClr val="FFFFFF"/>
                </a:solidFill>
                <a:latin typeface="Aptos" panose="020B0004020202020204" pitchFamily="34" charset="0"/>
                <a:ea typeface="Aptos" pitchFamily="34" charset="-122"/>
                <a:cs typeface="Aptos" pitchFamily="34" charset="-120"/>
              </a:rPr>
              <a:t>einzelner</a:t>
            </a:r>
            <a:r>
              <a:rPr lang="en-US" sz="1200">
                <a:solidFill>
                  <a:srgbClr val="FFFFFF"/>
                </a:solidFill>
                <a:latin typeface="Aptos" panose="020B0004020202020204" pitchFamily="34" charset="0"/>
                <a:ea typeface="Aptos" pitchFamily="34" charset="-122"/>
                <a:cs typeface="Aptos" pitchFamily="34" charset="-120"/>
              </a:rPr>
              <a:t> </a:t>
            </a:r>
            <a:r>
              <a:rPr lang="en-US" sz="1200" dirty="0" err="1">
                <a:solidFill>
                  <a:srgbClr val="FFFFFF"/>
                </a:solidFill>
                <a:latin typeface="Aptos" panose="020B0004020202020204" pitchFamily="34" charset="0"/>
                <a:ea typeface="Aptos" pitchFamily="34" charset="-122"/>
                <a:cs typeface="Aptos" pitchFamily="34" charset="-120"/>
              </a:rPr>
              <a:t>Kanäle</a:t>
            </a:r>
            <a:r>
              <a:rPr lang="en-US" sz="1200">
                <a:solidFill>
                  <a:srgbClr val="FFFFFF"/>
                </a:solidFill>
                <a:latin typeface="Aptos" panose="020B0004020202020204" pitchFamily="34" charset="0"/>
                <a:ea typeface="Aptos" pitchFamily="34" charset="-122"/>
                <a:cs typeface="Aptos" pitchFamily="34" charset="-120"/>
              </a:rPr>
              <a:t> </a:t>
            </a:r>
            <a:r>
              <a:rPr lang="en-US" sz="1200" dirty="0" err="1">
                <a:solidFill>
                  <a:srgbClr val="FFFFFF"/>
                </a:solidFill>
                <a:latin typeface="Aptos" panose="020B0004020202020204" pitchFamily="34" charset="0"/>
                <a:ea typeface="Aptos" pitchFamily="34" charset="-122"/>
                <a:cs typeface="Aptos" pitchFamily="34" charset="-120"/>
              </a:rPr>
              <a:t>ist</a:t>
            </a:r>
            <a:r>
              <a:rPr lang="en-US" sz="1200">
                <a:solidFill>
                  <a:srgbClr val="FFFFFF"/>
                </a:solidFill>
                <a:latin typeface="Aptos" panose="020B0004020202020204" pitchFamily="34" charset="0"/>
                <a:ea typeface="Aptos" pitchFamily="34" charset="-122"/>
                <a:cs typeface="Aptos" pitchFamily="34" charset="-120"/>
              </a:rPr>
              <a:t> es nicht </a:t>
            </a:r>
            <a:r>
              <a:rPr lang="en-US" sz="1200" dirty="0" err="1">
                <a:solidFill>
                  <a:srgbClr val="FFFFFF"/>
                </a:solidFill>
                <a:latin typeface="Aptos" panose="020B0004020202020204" pitchFamily="34" charset="0"/>
                <a:ea typeface="Aptos" pitchFamily="34" charset="-122"/>
                <a:cs typeface="Aptos" pitchFamily="34" charset="-120"/>
              </a:rPr>
              <a:t>gebaut</a:t>
            </a:r>
            <a:r>
              <a:rPr lang="en-US" sz="1200">
                <a:solidFill>
                  <a:srgbClr val="FFFFFF"/>
                </a:solidFill>
                <a:latin typeface="Aptos" panose="020B0004020202020204" pitchFamily="34" charset="0"/>
                <a:ea typeface="Aptos" pitchFamily="34" charset="-122"/>
                <a:cs typeface="Aptos" pitchFamily="34" charset="-120"/>
              </a:rPr>
              <a:t>.</a:t>
            </a:r>
            <a:endParaRPr lang="en-US" sz="1200">
              <a:latin typeface="Aptos" panose="020B0004020202020204" pitchFamily="34" charset="0"/>
            </a:endParaRPr>
          </a:p>
        </p:txBody>
      </p:sp>
      <p:sp>
        <p:nvSpPr>
          <p:cNvPr id="22" name="Shape 20"/>
          <p:cNvSpPr/>
          <p:nvPr/>
        </p:nvSpPr>
        <p:spPr>
          <a:xfrm>
            <a:off x="731520" y="4937760"/>
            <a:ext cx="10744200" cy="658368"/>
          </a:xfrm>
          <a:prstGeom prst="roundRect">
            <a:avLst>
              <a:gd name="adj" fmla="val 5556"/>
            </a:avLst>
          </a:prstGeom>
          <a:solidFill>
            <a:srgbClr val="F4F6F8"/>
          </a:solidFill>
          <a:ln w="8890">
            <a:solidFill>
              <a:srgbClr val="D9DEE7"/>
            </a:solidFill>
            <a:prstDash val="solid"/>
          </a:ln>
        </p:spPr>
        <p:txBody>
          <a:bodyPr/>
          <a:lstStyle/>
          <a:p>
            <a:endParaRPr lang="de-DE"/>
          </a:p>
        </p:txBody>
      </p:sp>
      <p:sp>
        <p:nvSpPr>
          <p:cNvPr id="23" name="Shape 21"/>
          <p:cNvSpPr/>
          <p:nvPr/>
        </p:nvSpPr>
        <p:spPr>
          <a:xfrm>
            <a:off x="740664" y="5010912"/>
            <a:ext cx="0" cy="512064"/>
          </a:xfrm>
          <a:prstGeom prst="line">
            <a:avLst/>
          </a:prstGeom>
          <a:noFill/>
          <a:ln w="14605">
            <a:solidFill>
              <a:srgbClr val="B24462"/>
            </a:solidFill>
            <a:prstDash val="solid"/>
          </a:ln>
        </p:spPr>
        <p:txBody>
          <a:bodyPr/>
          <a:lstStyle/>
          <a:p>
            <a:endParaRPr lang="de-DE"/>
          </a:p>
        </p:txBody>
      </p:sp>
      <p:sp>
        <p:nvSpPr>
          <p:cNvPr id="24" name="Text 22"/>
          <p:cNvSpPr/>
          <p:nvPr/>
        </p:nvSpPr>
        <p:spPr>
          <a:xfrm>
            <a:off x="859536" y="5020056"/>
            <a:ext cx="10543032" cy="548640"/>
          </a:xfrm>
          <a:prstGeom prst="rect">
            <a:avLst/>
          </a:prstGeom>
          <a:noFill/>
          <a:ln/>
        </p:spPr>
        <p:txBody>
          <a:bodyPr wrap="square" lIns="0" tIns="0" rIns="0" bIns="0" rtlCol="0" anchor="t">
            <a:normAutofit/>
          </a:bodyPr>
          <a:lstStyle/>
          <a:p>
            <a:pPr marL="0" indent="0">
              <a:buNone/>
            </a:pPr>
            <a:r>
              <a:rPr lang="en-US" sz="1200" b="1" dirty="0" err="1">
                <a:solidFill>
                  <a:srgbClr val="102333"/>
                </a:solidFill>
                <a:latin typeface="Aptos" pitchFamily="34" charset="0"/>
                <a:ea typeface="Aptos" pitchFamily="34" charset="-122"/>
                <a:cs typeface="Aptos" pitchFamily="34" charset="-120"/>
              </a:rPr>
              <a:t>Limitationen</a:t>
            </a:r>
            <a:r>
              <a:rPr lang="en-US" sz="1200" b="1">
                <a:solidFill>
                  <a:srgbClr val="102333"/>
                </a:solidFill>
                <a:latin typeface="Aptos" pitchFamily="34" charset="0"/>
                <a:ea typeface="Aptos" pitchFamily="34" charset="-122"/>
                <a:cs typeface="Aptos" pitchFamily="34" charset="-120"/>
              </a:rPr>
              <a:t> </a:t>
            </a:r>
            <a:r>
              <a:rPr lang="en-US" sz="1200" b="1" dirty="0" err="1">
                <a:solidFill>
                  <a:srgbClr val="102333"/>
                </a:solidFill>
                <a:latin typeface="Aptos" pitchFamily="34" charset="0"/>
                <a:ea typeface="Aptos" pitchFamily="34" charset="-122"/>
                <a:cs typeface="Aptos" pitchFamily="34" charset="-120"/>
              </a:rPr>
              <a:t>offen</a:t>
            </a:r>
            <a:r>
              <a:rPr lang="en-US" sz="1200" b="1">
                <a:solidFill>
                  <a:srgbClr val="102333"/>
                </a:solidFill>
                <a:latin typeface="Aptos" pitchFamily="34" charset="0"/>
                <a:ea typeface="Aptos" pitchFamily="34" charset="-122"/>
                <a:cs typeface="Aptos" pitchFamily="34" charset="-120"/>
              </a:rPr>
              <a:t> </a:t>
            </a:r>
            <a:r>
              <a:rPr lang="en-US" sz="1200" b="1" dirty="0" err="1">
                <a:solidFill>
                  <a:srgbClr val="102333"/>
                </a:solidFill>
                <a:latin typeface="Aptos" pitchFamily="34" charset="0"/>
                <a:ea typeface="Aptos" pitchFamily="34" charset="-122"/>
                <a:cs typeface="Aptos" pitchFamily="34" charset="-120"/>
              </a:rPr>
              <a:t>dokumentiert</a:t>
            </a:r>
            <a:r>
              <a:rPr lang="en-US" sz="1200" b="1">
                <a:solidFill>
                  <a:srgbClr val="102333"/>
                </a:solidFill>
                <a:latin typeface="Aptos" pitchFamily="34" charset="0"/>
                <a:ea typeface="Aptos" pitchFamily="34" charset="-122"/>
                <a:cs typeface="Aptos" pitchFamily="34" charset="-120"/>
              </a:rPr>
              <a:t>
</a:t>
            </a:r>
            <a:r>
              <a:rPr lang="en-US" sz="1050">
                <a:solidFill>
                  <a:srgbClr val="667085"/>
                </a:solidFill>
                <a:latin typeface="Aptos" pitchFamily="34" charset="0"/>
                <a:ea typeface="Aptos" pitchFamily="34" charset="-122"/>
                <a:cs typeface="Aptos" pitchFamily="34" charset="-120"/>
              </a:rPr>
              <a:t>PIT-vs.-TTC-</a:t>
            </a:r>
            <a:r>
              <a:rPr lang="en-US" sz="1050" dirty="0" err="1">
                <a:solidFill>
                  <a:srgbClr val="667085"/>
                </a:solidFill>
                <a:latin typeface="Aptos" pitchFamily="34" charset="0"/>
                <a:ea typeface="Aptos" pitchFamily="34" charset="-122"/>
                <a:cs typeface="Aptos" pitchFamily="34" charset="-120"/>
              </a:rPr>
              <a:t>Lücke</a:t>
            </a:r>
            <a:r>
              <a:rPr lang="en-US" sz="1050">
                <a:solidFill>
                  <a:srgbClr val="667085"/>
                </a:solidFill>
                <a:latin typeface="Aptos" pitchFamily="34" charset="0"/>
                <a:ea typeface="Aptos" pitchFamily="34" charset="-122"/>
                <a:cs typeface="Aptos" pitchFamily="34" charset="-120"/>
              </a:rPr>
              <a:t>, </a:t>
            </a:r>
            <a:r>
              <a:rPr lang="en-US" sz="1050" dirty="0" err="1">
                <a:solidFill>
                  <a:srgbClr val="667085"/>
                </a:solidFill>
                <a:latin typeface="Aptos" pitchFamily="34" charset="0"/>
                <a:ea typeface="Aptos" pitchFamily="34" charset="-122"/>
                <a:cs typeface="Aptos" pitchFamily="34" charset="-120"/>
              </a:rPr>
              <a:t>fehlende</a:t>
            </a:r>
            <a:r>
              <a:rPr lang="en-US" sz="1050">
                <a:solidFill>
                  <a:srgbClr val="667085"/>
                </a:solidFill>
                <a:latin typeface="Aptos" pitchFamily="34" charset="0"/>
                <a:ea typeface="Aptos" pitchFamily="34" charset="-122"/>
                <a:cs typeface="Aptos" pitchFamily="34" charset="-120"/>
              </a:rPr>
              <a:t> interne </a:t>
            </a:r>
            <a:r>
              <a:rPr lang="en-US" sz="1050" dirty="0" err="1">
                <a:solidFill>
                  <a:srgbClr val="667085"/>
                </a:solidFill>
                <a:latin typeface="Aptos" pitchFamily="34" charset="0"/>
                <a:ea typeface="Aptos" pitchFamily="34" charset="-122"/>
                <a:cs typeface="Aptos" pitchFamily="34" charset="-120"/>
              </a:rPr>
              <a:t>Ausfalldaten</a:t>
            </a:r>
            <a:r>
              <a:rPr lang="en-US" sz="1050">
                <a:solidFill>
                  <a:srgbClr val="667085"/>
                </a:solidFill>
                <a:latin typeface="Aptos" pitchFamily="34" charset="0"/>
                <a:ea typeface="Aptos" pitchFamily="34" charset="-122"/>
                <a:cs typeface="Aptos" pitchFamily="34" charset="-120"/>
              </a:rPr>
              <a:t>, </a:t>
            </a:r>
            <a:r>
              <a:rPr lang="en-US" sz="1050" dirty="0" err="1">
                <a:solidFill>
                  <a:srgbClr val="667085"/>
                </a:solidFill>
                <a:latin typeface="Aptos" pitchFamily="34" charset="0"/>
                <a:ea typeface="Aptos" pitchFamily="34" charset="-122"/>
                <a:cs typeface="Aptos" pitchFamily="34" charset="-120"/>
              </a:rPr>
              <a:t>vereinfachte</a:t>
            </a:r>
            <a:r>
              <a:rPr lang="en-US" sz="1050">
                <a:solidFill>
                  <a:srgbClr val="667085"/>
                </a:solidFill>
                <a:latin typeface="Aptos" pitchFamily="34" charset="0"/>
                <a:ea typeface="Aptos" pitchFamily="34" charset="-122"/>
                <a:cs typeface="Aptos" pitchFamily="34" charset="-120"/>
              </a:rPr>
              <a:t> </a:t>
            </a:r>
            <a:r>
              <a:rPr lang="en-US" sz="1050" dirty="0" err="1">
                <a:solidFill>
                  <a:srgbClr val="667085"/>
                </a:solidFill>
                <a:latin typeface="Aptos" pitchFamily="34" charset="0"/>
                <a:ea typeface="Aptos" pitchFamily="34" charset="-122"/>
                <a:cs typeface="Aptos" pitchFamily="34" charset="-120"/>
              </a:rPr>
              <a:t>Restlaufzeit</a:t>
            </a:r>
            <a:r>
              <a:rPr lang="en-US" sz="1050">
                <a:solidFill>
                  <a:srgbClr val="667085"/>
                </a:solidFill>
                <a:latin typeface="Aptos" pitchFamily="34" charset="0"/>
                <a:ea typeface="Aptos" pitchFamily="34" charset="-122"/>
                <a:cs typeface="Aptos" pitchFamily="34" charset="-120"/>
              </a:rPr>
              <a:t> und </a:t>
            </a:r>
            <a:r>
              <a:rPr lang="en-US" sz="1050" dirty="0" err="1">
                <a:solidFill>
                  <a:srgbClr val="667085"/>
                </a:solidFill>
                <a:latin typeface="Aptos" pitchFamily="34" charset="0"/>
                <a:ea typeface="Aptos" pitchFamily="34" charset="-122"/>
                <a:cs typeface="Aptos" pitchFamily="34" charset="-120"/>
              </a:rPr>
              <a:t>keine</a:t>
            </a:r>
            <a:r>
              <a:rPr lang="en-US" sz="1050">
                <a:solidFill>
                  <a:srgbClr val="667085"/>
                </a:solidFill>
                <a:latin typeface="Aptos" pitchFamily="34" charset="0"/>
                <a:ea typeface="Aptos" pitchFamily="34" charset="-122"/>
                <a:cs typeface="Aptos" pitchFamily="34" charset="-120"/>
              </a:rPr>
              <a:t> </a:t>
            </a:r>
            <a:r>
              <a:rPr lang="en-US" sz="1050" dirty="0" err="1">
                <a:solidFill>
                  <a:srgbClr val="667085"/>
                </a:solidFill>
                <a:latin typeface="Aptos" pitchFamily="34" charset="0"/>
                <a:ea typeface="Aptos" pitchFamily="34" charset="-122"/>
                <a:cs typeface="Aptos" pitchFamily="34" charset="-120"/>
              </a:rPr>
              <a:t>punktgenaue</a:t>
            </a:r>
            <a:r>
              <a:rPr lang="en-US" sz="1050">
                <a:solidFill>
                  <a:srgbClr val="667085"/>
                </a:solidFill>
                <a:latin typeface="Aptos" pitchFamily="34" charset="0"/>
                <a:ea typeface="Aptos" pitchFamily="34" charset="-122"/>
                <a:cs typeface="Aptos" pitchFamily="34" charset="-120"/>
              </a:rPr>
              <a:t> </a:t>
            </a:r>
            <a:r>
              <a:rPr lang="en-US" sz="1050" dirty="0" err="1">
                <a:solidFill>
                  <a:srgbClr val="667085"/>
                </a:solidFill>
                <a:latin typeface="Aptos" pitchFamily="34" charset="0"/>
                <a:ea typeface="Aptos" pitchFamily="34" charset="-122"/>
                <a:cs typeface="Aptos" pitchFamily="34" charset="-120"/>
              </a:rPr>
              <a:t>Kanalprognose</a:t>
            </a:r>
            <a:r>
              <a:rPr lang="en-US" sz="1050">
                <a:solidFill>
                  <a:srgbClr val="667085"/>
                </a:solidFill>
                <a:latin typeface="Aptos" pitchFamily="34" charset="0"/>
                <a:ea typeface="Aptos" pitchFamily="34" charset="-122"/>
                <a:cs typeface="Aptos" pitchFamily="34" charset="-120"/>
              </a:rPr>
              <a:t>.</a:t>
            </a:r>
            <a:endParaRPr lang="en-US" sz="1200"/>
          </a:p>
        </p:txBody>
      </p:sp>
      <p:sp>
        <p:nvSpPr>
          <p:cNvPr id="25" name="Shape 23"/>
          <p:cNvSpPr/>
          <p:nvPr/>
        </p:nvSpPr>
        <p:spPr>
          <a:xfrm>
            <a:off x="502920" y="6089904"/>
            <a:ext cx="11155680" cy="0"/>
          </a:xfrm>
          <a:prstGeom prst="line">
            <a:avLst/>
          </a:prstGeom>
          <a:noFill/>
          <a:ln w="10160">
            <a:solidFill>
              <a:srgbClr val="D9DEE7"/>
            </a:solidFill>
            <a:prstDash val="solid"/>
          </a:ln>
        </p:spPr>
        <p:txBody>
          <a:bodyPr/>
          <a:lstStyle/>
          <a:p>
            <a:endParaRPr lang="de-DE"/>
          </a:p>
        </p:txBody>
      </p:sp>
      <p:sp>
        <p:nvSpPr>
          <p:cNvPr id="26" name="Text 24"/>
          <p:cNvSpPr/>
          <p:nvPr/>
        </p:nvSpPr>
        <p:spPr>
          <a:xfrm>
            <a:off x="502920" y="6144768"/>
            <a:ext cx="10972800" cy="201168"/>
          </a:xfrm>
          <a:prstGeom prst="rect">
            <a:avLst/>
          </a:prstGeom>
          <a:noFill/>
          <a:ln/>
        </p:spPr>
        <p:txBody>
          <a:bodyPr wrap="square" lIns="0" tIns="0" rIns="0" bIns="0" rtlCol="0" anchor="ctr">
            <a:normAutofit/>
          </a:bodyPr>
          <a:lstStyle/>
          <a:p>
            <a:pPr marL="0" indent="0">
              <a:buNone/>
            </a:pPr>
            <a:r>
              <a:rPr lang="en-US" sz="1000" b="1">
                <a:solidFill>
                  <a:srgbClr val="667085"/>
                </a:solidFill>
                <a:latin typeface="Aptos" pitchFamily="34" charset="0"/>
                <a:ea typeface="Aptos" pitchFamily="34" charset="-122"/>
                <a:cs typeface="Aptos" pitchFamily="34" charset="-120"/>
              </a:rPr>
              <a:t>SPRECHANKER  </a:t>
            </a:r>
            <a:r>
              <a:rPr lang="en-US" sz="1000">
                <a:solidFill>
                  <a:srgbClr val="667085"/>
                </a:solidFill>
                <a:latin typeface="Aptos" pitchFamily="34" charset="0"/>
                <a:ea typeface="Aptos" pitchFamily="34" charset="-122"/>
                <a:cs typeface="Aptos" pitchFamily="34" charset="-120"/>
              </a:rPr>
              <a:t>Ehrlich begrenzt, aber als konservatives Steuerungsinstrument verteidigbar.</a:t>
            </a:r>
            <a:endParaRPr lang="en-US" sz="1000"/>
          </a:p>
        </p:txBody>
      </p:sp>
      <p:sp>
        <p:nvSpPr>
          <p:cNvPr id="2" name="CodexSlideNumber">
            <a:extLst>
              <a:ext uri="{FF2B5EF4-FFF2-40B4-BE49-F238E27FC236}">
                <a16:creationId xmlns:a16="http://schemas.microsoft.com/office/drawing/2014/main" id="{E48215AF-1680-942C-63CF-49454911852A}"/>
              </a:ext>
            </a:extLst>
          </p:cNvPr>
          <p:cNvSpPr txBox="1"/>
          <p:nvPr/>
        </p:nvSpPr>
        <p:spPr>
          <a:xfrm>
            <a:off x="11226800" y="6553200"/>
            <a:ext cx="736600" cy="123111"/>
          </a:xfrm>
          <a:prstGeom prst="rect">
            <a:avLst/>
          </a:prstGeom>
          <a:noFill/>
        </p:spPr>
        <p:txBody>
          <a:bodyPr vert="horz" lIns="0" tIns="0" rIns="0" bIns="0" rtlCol="0">
            <a:spAutoFit/>
          </a:bodyPr>
          <a:lstStyle/>
          <a:p>
            <a:pPr algn="r"/>
            <a:r>
              <a:rPr lang="en-US" sz="800">
                <a:solidFill>
                  <a:srgbClr val="525252"/>
                </a:solidFill>
                <a:latin typeface="Arial" panose="020B0604020202020204" pitchFamily="34" charset="0"/>
              </a:rPr>
              <a:t>63 / 64</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2A111FD4-17D4-4253-A74B-DB9DA8FA3F58}"/>
              </a:ext>
            </a:extLst>
          </p:cNvPr>
          <p:cNvSpPr>
            <a:spLocks noGrp="1"/>
          </p:cNvSpPr>
          <p:nvPr/>
        </p:nvSpPr>
        <p:spPr>
          <a:xfrm>
            <a:off x="0" y="0"/>
            <a:ext cx="12192000" cy="6858000"/>
          </a:xfrm>
          <a:prstGeom prst="rect">
            <a:avLst/>
          </a:prstGeom>
          <a:solidFill>
            <a:srgbClr val="071C2C"/>
          </a:solidFill>
        </p:spPr>
        <p:txBody>
          <a:bodyPr/>
          <a:lstStyle/>
          <a:p>
            <a:endParaRPr lang="en-US"/>
          </a:p>
        </p:txBody>
      </p:sp>
      <p:sp>
        <p:nvSpPr>
          <p:cNvPr id="2" name="Rectangle 1">
            <a:extLst>
              <a:ext uri="{FF2B5EF4-FFF2-40B4-BE49-F238E27FC236}">
                <a16:creationId xmlns:a16="http://schemas.microsoft.com/office/drawing/2014/main" id="{9C360718-24CD-4EDE-81DA-E2672260B42F}"/>
              </a:ext>
            </a:extLst>
          </p:cNvPr>
          <p:cNvSpPr>
            <a:spLocks noGrp="1"/>
          </p:cNvSpPr>
          <p:nvPr/>
        </p:nvSpPr>
        <p:spPr>
          <a:xfrm>
            <a:off x="609600" y="609600"/>
            <a:ext cx="10591800" cy="148590"/>
          </a:xfrm>
          <a:prstGeom prst="rect">
            <a:avLst/>
          </a:prstGeom>
        </p:spPr>
        <p:txBody>
          <a:bodyPr lIns="0" tIns="0" rIns="0" bIns="0" anchor="t"/>
          <a:lstStyle/>
          <a:p>
            <a:pPr algn="l">
              <a:defRPr sz="975" b="1">
                <a:solidFill>
                  <a:srgbClr val="C7D2D9"/>
                </a:solidFill>
                <a:latin typeface="Aptos"/>
                <a:ea typeface="Aptos"/>
                <a:cs typeface="Aptos"/>
              </a:defRPr>
            </a:pPr>
            <a:r>
              <a:t>ABSCHLUSS</a:t>
            </a:r>
          </a:p>
        </p:txBody>
      </p:sp>
      <p:sp>
        <p:nvSpPr>
          <p:cNvPr id="4" name="Rectangle 3">
            <a:extLst>
              <a:ext uri="{FF2B5EF4-FFF2-40B4-BE49-F238E27FC236}">
                <a16:creationId xmlns:a16="http://schemas.microsoft.com/office/drawing/2014/main" id="{EB0D6646-2A2F-4D8E-9B0D-AC25D7E42F90}"/>
              </a:ext>
            </a:extLst>
          </p:cNvPr>
          <p:cNvSpPr>
            <a:spLocks noGrp="1"/>
          </p:cNvSpPr>
          <p:nvPr/>
        </p:nvSpPr>
        <p:spPr>
          <a:xfrm>
            <a:off x="609600" y="2581275"/>
            <a:ext cx="819150" cy="76200"/>
          </a:xfrm>
          <a:prstGeom prst="rect">
            <a:avLst/>
          </a:prstGeom>
          <a:solidFill>
            <a:srgbClr val="A63B4D"/>
          </a:solidFill>
        </p:spPr>
        <p:txBody>
          <a:bodyPr/>
          <a:lstStyle/>
          <a:p>
            <a:endParaRPr lang="en-US"/>
          </a:p>
        </p:txBody>
      </p:sp>
      <p:sp>
        <p:nvSpPr>
          <p:cNvPr id="5" name="Rectangle 4">
            <a:extLst>
              <a:ext uri="{FF2B5EF4-FFF2-40B4-BE49-F238E27FC236}">
                <a16:creationId xmlns:a16="http://schemas.microsoft.com/office/drawing/2014/main" id="{A78EFE2B-D33A-4D2C-A978-D0B812C6F3A8}"/>
              </a:ext>
            </a:extLst>
          </p:cNvPr>
          <p:cNvSpPr>
            <a:spLocks noGrp="1"/>
          </p:cNvSpPr>
          <p:nvPr/>
        </p:nvSpPr>
        <p:spPr>
          <a:xfrm>
            <a:off x="609600" y="2867025"/>
            <a:ext cx="8572500" cy="754380"/>
          </a:xfrm>
          <a:prstGeom prst="rect">
            <a:avLst/>
          </a:prstGeom>
        </p:spPr>
        <p:txBody>
          <a:bodyPr lIns="0" tIns="0" rIns="0" bIns="0" anchor="t"/>
          <a:lstStyle/>
          <a:p>
            <a:pPr algn="l">
              <a:defRPr sz="4950" b="1">
                <a:solidFill>
                  <a:srgbClr val="FFFFFF"/>
                </a:solidFill>
                <a:latin typeface="Aptos Display"/>
                <a:ea typeface="Aptos Display"/>
                <a:cs typeface="Aptos Display"/>
              </a:defRPr>
            </a:pPr>
            <a:r>
              <a:t>Fragen &amp; Diskussion</a:t>
            </a:r>
          </a:p>
        </p:txBody>
      </p:sp>
      <p:sp>
        <p:nvSpPr>
          <p:cNvPr id="6" name="Rectangle 5">
            <a:extLst>
              <a:ext uri="{FF2B5EF4-FFF2-40B4-BE49-F238E27FC236}">
                <a16:creationId xmlns:a16="http://schemas.microsoft.com/office/drawing/2014/main" id="{1ADC91A6-52B0-4C72-95E1-892BC7A8AEBC}"/>
              </a:ext>
            </a:extLst>
          </p:cNvPr>
          <p:cNvSpPr>
            <a:spLocks noGrp="1"/>
          </p:cNvSpPr>
          <p:nvPr/>
        </p:nvSpPr>
        <p:spPr>
          <a:xfrm>
            <a:off x="609600" y="3830955"/>
            <a:ext cx="8572500" cy="308610"/>
          </a:xfrm>
          <a:prstGeom prst="rect">
            <a:avLst/>
          </a:prstGeom>
        </p:spPr>
        <p:txBody>
          <a:bodyPr lIns="0" tIns="0" rIns="0" bIns="0" anchor="t"/>
          <a:lstStyle/>
          <a:p>
            <a:pPr algn="l">
              <a:defRPr sz="2025" b="0">
                <a:solidFill>
                  <a:srgbClr val="C7D2D9"/>
                </a:solidFill>
                <a:latin typeface="Aptos"/>
                <a:ea typeface="Aptos"/>
                <a:cs typeface="Aptos"/>
              </a:defRPr>
            </a:pPr>
            <a:r>
              <a:t>Welche Annahme würden Sie zuerst challengen?</a:t>
            </a:r>
          </a:p>
        </p:txBody>
      </p:sp>
      <p:sp>
        <p:nvSpPr>
          <p:cNvPr id="7" name="Rectangle: Rounded Corners 6">
            <a:extLst>
              <a:ext uri="{FF2B5EF4-FFF2-40B4-BE49-F238E27FC236}">
                <a16:creationId xmlns:a16="http://schemas.microsoft.com/office/drawing/2014/main" id="{390A2455-7F30-4DD4-8E96-BCF3117DB046}"/>
              </a:ext>
            </a:extLst>
          </p:cNvPr>
          <p:cNvSpPr>
            <a:spLocks noGrp="1"/>
          </p:cNvSpPr>
          <p:nvPr/>
        </p:nvSpPr>
        <p:spPr>
          <a:xfrm>
            <a:off x="609600" y="5962650"/>
            <a:ext cx="1314450" cy="285750"/>
          </a:xfrm>
          <a:prstGeom prst="roundRect">
            <a:avLst>
              <a:gd name="adj" fmla="val 40000"/>
            </a:avLst>
          </a:prstGeom>
          <a:solidFill>
            <a:srgbClr val="F2DEE2"/>
          </a:solidFill>
        </p:spPr>
        <p:txBody>
          <a:bodyPr/>
          <a:lstStyle/>
          <a:p>
            <a:endParaRPr lang="en-US"/>
          </a:p>
        </p:txBody>
      </p:sp>
      <p:sp>
        <p:nvSpPr>
          <p:cNvPr id="8" name="Rectangle 7">
            <a:extLst>
              <a:ext uri="{FF2B5EF4-FFF2-40B4-BE49-F238E27FC236}">
                <a16:creationId xmlns:a16="http://schemas.microsoft.com/office/drawing/2014/main" id="{2B3EE0A8-49F2-4DE9-829F-5A935FF3716F}"/>
              </a:ext>
            </a:extLst>
          </p:cNvPr>
          <p:cNvSpPr>
            <a:spLocks noGrp="1"/>
          </p:cNvSpPr>
          <p:nvPr/>
        </p:nvSpPr>
        <p:spPr>
          <a:xfrm>
            <a:off x="676275" y="6029325"/>
            <a:ext cx="1181100" cy="137160"/>
          </a:xfrm>
          <a:prstGeom prst="rect">
            <a:avLst/>
          </a:prstGeom>
        </p:spPr>
        <p:txBody>
          <a:bodyPr lIns="0" tIns="0" rIns="0" bIns="0" anchor="t"/>
          <a:lstStyle/>
          <a:p>
            <a:pPr algn="ctr">
              <a:defRPr sz="900" b="1">
                <a:solidFill>
                  <a:srgbClr val="A63B4D"/>
                </a:solidFill>
                <a:latin typeface="Aptos"/>
                <a:ea typeface="Aptos"/>
                <a:cs typeface="Aptos"/>
              </a:defRPr>
            </a:pPr>
            <a:r>
              <a:t>β/γ-Kalibrierung</a:t>
            </a:r>
          </a:p>
        </p:txBody>
      </p:sp>
      <p:sp>
        <p:nvSpPr>
          <p:cNvPr id="11" name="Rectangle: Rounded Corners 10">
            <a:extLst>
              <a:ext uri="{FF2B5EF4-FFF2-40B4-BE49-F238E27FC236}">
                <a16:creationId xmlns:a16="http://schemas.microsoft.com/office/drawing/2014/main" id="{7A8213BC-BDE0-40A8-BB6D-6EFBA4742EBD}"/>
              </a:ext>
            </a:extLst>
          </p:cNvPr>
          <p:cNvSpPr>
            <a:spLocks noGrp="1"/>
          </p:cNvSpPr>
          <p:nvPr/>
        </p:nvSpPr>
        <p:spPr>
          <a:xfrm>
            <a:off x="2081784" y="5962650"/>
            <a:ext cx="1314450" cy="285750"/>
          </a:xfrm>
          <a:prstGeom prst="roundRect">
            <a:avLst>
              <a:gd name="adj" fmla="val 40000"/>
            </a:avLst>
          </a:prstGeom>
          <a:solidFill>
            <a:srgbClr val="DCEBE5"/>
          </a:solidFill>
        </p:spPr>
        <p:txBody>
          <a:bodyPr/>
          <a:lstStyle/>
          <a:p>
            <a:endParaRPr lang="en-US"/>
          </a:p>
        </p:txBody>
      </p:sp>
      <p:sp>
        <p:nvSpPr>
          <p:cNvPr id="12" name="Rectangle 11">
            <a:extLst>
              <a:ext uri="{FF2B5EF4-FFF2-40B4-BE49-F238E27FC236}">
                <a16:creationId xmlns:a16="http://schemas.microsoft.com/office/drawing/2014/main" id="{0528D293-9658-4531-B580-45F8AD489E7F}"/>
              </a:ext>
            </a:extLst>
          </p:cNvPr>
          <p:cNvSpPr>
            <a:spLocks noGrp="1"/>
          </p:cNvSpPr>
          <p:nvPr/>
        </p:nvSpPr>
        <p:spPr>
          <a:xfrm>
            <a:off x="2148459" y="6029325"/>
            <a:ext cx="1181100" cy="137160"/>
          </a:xfrm>
          <a:prstGeom prst="rect">
            <a:avLst/>
          </a:prstGeom>
        </p:spPr>
        <p:txBody>
          <a:bodyPr lIns="0" tIns="0" rIns="0" bIns="0" anchor="t"/>
          <a:lstStyle/>
          <a:p>
            <a:pPr algn="ctr">
              <a:defRPr sz="900" b="1">
                <a:solidFill>
                  <a:srgbClr val="2F7D68"/>
                </a:solidFill>
                <a:latin typeface="Aptos"/>
                <a:ea typeface="Aptos"/>
                <a:cs typeface="Aptos"/>
              </a:defRPr>
            </a:pPr>
            <a:r>
              <a:t>Backtest</a:t>
            </a:r>
          </a:p>
        </p:txBody>
      </p:sp>
      <p:sp>
        <p:nvSpPr>
          <p:cNvPr id="13" name="Rectangle: Rounded Corners 12">
            <a:extLst>
              <a:ext uri="{FF2B5EF4-FFF2-40B4-BE49-F238E27FC236}">
                <a16:creationId xmlns:a16="http://schemas.microsoft.com/office/drawing/2014/main" id="{A107980C-6C96-4C9B-A47B-4532B514FDEA}"/>
              </a:ext>
            </a:extLst>
          </p:cNvPr>
          <p:cNvSpPr>
            <a:spLocks noGrp="1"/>
          </p:cNvSpPr>
          <p:nvPr/>
        </p:nvSpPr>
        <p:spPr>
          <a:xfrm>
            <a:off x="3567684" y="5962650"/>
            <a:ext cx="1314450" cy="285750"/>
          </a:xfrm>
          <a:prstGeom prst="roundRect">
            <a:avLst>
              <a:gd name="adj" fmla="val 40000"/>
            </a:avLst>
          </a:prstGeom>
          <a:solidFill>
            <a:srgbClr val="DCEAF0"/>
          </a:solidFill>
        </p:spPr>
        <p:txBody>
          <a:bodyPr/>
          <a:lstStyle/>
          <a:p>
            <a:endParaRPr lang="en-US"/>
          </a:p>
        </p:txBody>
      </p:sp>
      <p:sp>
        <p:nvSpPr>
          <p:cNvPr id="14" name="Rectangle 13">
            <a:extLst>
              <a:ext uri="{FF2B5EF4-FFF2-40B4-BE49-F238E27FC236}">
                <a16:creationId xmlns:a16="http://schemas.microsoft.com/office/drawing/2014/main" id="{2F44C8B0-F110-481D-81BC-FEF3B5C4C3F9}"/>
              </a:ext>
            </a:extLst>
          </p:cNvPr>
          <p:cNvSpPr>
            <a:spLocks noGrp="1"/>
          </p:cNvSpPr>
          <p:nvPr/>
        </p:nvSpPr>
        <p:spPr>
          <a:xfrm>
            <a:off x="3634359" y="6029325"/>
            <a:ext cx="1181100" cy="137160"/>
          </a:xfrm>
          <a:prstGeom prst="rect">
            <a:avLst/>
          </a:prstGeom>
        </p:spPr>
        <p:txBody>
          <a:bodyPr lIns="0" tIns="0" rIns="0" bIns="0" anchor="t"/>
          <a:lstStyle/>
          <a:p>
            <a:pPr algn="ctr">
              <a:defRPr sz="900" b="1">
                <a:solidFill>
                  <a:srgbClr val="0B5A7A"/>
                </a:solidFill>
                <a:latin typeface="Aptos"/>
                <a:ea typeface="Aptos"/>
                <a:cs typeface="Aptos"/>
              </a:defRPr>
            </a:pPr>
            <a:r>
              <a:t>Banken-Scope</a:t>
            </a:r>
          </a:p>
        </p:txBody>
      </p:sp>
      <p:sp>
        <p:nvSpPr>
          <p:cNvPr id="3" name="CodexSlideNumber">
            <a:extLst>
              <a:ext uri="{FF2B5EF4-FFF2-40B4-BE49-F238E27FC236}">
                <a16:creationId xmlns:a16="http://schemas.microsoft.com/office/drawing/2014/main" id="{1D446F36-29F5-E0BA-3CD5-96A2181D0529}"/>
              </a:ext>
            </a:extLst>
          </p:cNvPr>
          <p:cNvSpPr txBox="1"/>
          <p:nvPr/>
        </p:nvSpPr>
        <p:spPr>
          <a:xfrm>
            <a:off x="11226800" y="6553200"/>
            <a:ext cx="736600" cy="123111"/>
          </a:xfrm>
          <a:prstGeom prst="rect">
            <a:avLst/>
          </a:prstGeom>
          <a:noFill/>
        </p:spPr>
        <p:txBody>
          <a:bodyPr vert="horz" lIns="0" tIns="0" rIns="0" bIns="0" rtlCol="0">
            <a:spAutoFit/>
          </a:bodyPr>
          <a:lstStyle/>
          <a:p>
            <a:pPr algn="r"/>
            <a:r>
              <a:rPr lang="en-US" sz="800">
                <a:solidFill>
                  <a:srgbClr val="525252"/>
                </a:solidFill>
                <a:latin typeface="Arial" panose="020B0604020202020204" pitchFamily="34" charset="0"/>
              </a:rPr>
              <a:t>64 / 64</a:t>
            </a:r>
          </a:p>
        </p:txBody>
      </p:sp>
    </p:spTree>
    <p:extLst>
      <p:ext uri="{BB962C8B-B14F-4D97-AF65-F5344CB8AC3E}">
        <p14:creationId xmlns:p14="http://schemas.microsoft.com/office/powerpoint/2010/main" val="1445416330"/>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Override1.xml><?xml version="1.0" encoding="utf-8"?>
<a:themeOverride xmlns:a="http://schemas.openxmlformats.org/drawingml/2006/main">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kument" ma:contentTypeID="0x010100F57BC7E1DEE47E42836217B21F9E919B" ma:contentTypeVersion="11" ma:contentTypeDescription="Ein neues Dokument erstellen." ma:contentTypeScope="" ma:versionID="ab224889224056ea8337a32797af26d9">
  <xsd:schema xmlns:xsd="http://www.w3.org/2001/XMLSchema" xmlns:xs="http://www.w3.org/2001/XMLSchema" xmlns:p="http://schemas.microsoft.com/office/2006/metadata/properties" xmlns:ns2="20eda1e7-c41d-46b7-a46d-25004f50201d" xmlns:ns3="8a6e09d8-71b5-42c2-8ff7-1882373e0365" targetNamespace="http://schemas.microsoft.com/office/2006/metadata/properties" ma:root="true" ma:fieldsID="7aa2fbc6c0b01eb0255677255b8ad043" ns2:_="" ns3:_="">
    <xsd:import namespace="20eda1e7-c41d-46b7-a46d-25004f50201d"/>
    <xsd:import namespace="8a6e09d8-71b5-42c2-8ff7-1882373e036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0eda1e7-c41d-46b7-a46d-25004f50201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Bildmarkierungen" ma:readOnly="false" ma:fieldId="{5cf76f15-5ced-4ddc-b409-7134ff3c332f}" ma:taxonomyMulti="true" ma:sspId="6f5ca14c-cf87-4ea6-a219-f445dd0619e5"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8a6e09d8-71b5-42c2-8ff7-1882373e0365"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315652b8-a0ec-496f-a5f3-afe2d158a0b0}" ma:internalName="TaxCatchAll" ma:showField="CatchAllData" ma:web="8a6e09d8-71b5-42c2-8ff7-1882373e036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20eda1e7-c41d-46b7-a46d-25004f50201d">
      <Terms xmlns="http://schemas.microsoft.com/office/infopath/2007/PartnerControls"/>
    </lcf76f155ced4ddcb4097134ff3c332f>
    <TaxCatchAll xmlns="8a6e09d8-71b5-42c2-8ff7-1882373e0365" xsi:nil="true"/>
  </documentManagement>
</p:properties>
</file>

<file path=customXml/itemProps1.xml><?xml version="1.0" encoding="utf-8"?>
<ds:datastoreItem xmlns:ds="http://schemas.openxmlformats.org/officeDocument/2006/customXml" ds:itemID="{F24532CF-300B-4F40-8C3F-7A5086C1B830}">
  <ds:schemaRefs>
    <ds:schemaRef ds:uri="http://schemas.microsoft.com/sharepoint/v3/contenttype/forms"/>
  </ds:schemaRefs>
</ds:datastoreItem>
</file>

<file path=customXml/itemProps2.xml><?xml version="1.0" encoding="utf-8"?>
<ds:datastoreItem xmlns:ds="http://schemas.openxmlformats.org/officeDocument/2006/customXml" ds:itemID="{264B3FB7-149A-4F31-9F14-B583A8A9941B}">
  <ds:schemaRefs>
    <ds:schemaRef ds:uri="20eda1e7-c41d-46b7-a46d-25004f50201d"/>
    <ds:schemaRef ds:uri="8a6e09d8-71b5-42c2-8ff7-1882373e036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93773228-914D-4276-86A5-3E82D24D7708}">
  <ds:schemaRefs>
    <ds:schemaRef ds:uri="http://schemas.microsoft.com/office/infopath/2007/PartnerControls"/>
    <ds:schemaRef ds:uri="8a6e09d8-71b5-42c2-8ff7-1882373e0365"/>
    <ds:schemaRef ds:uri="20eda1e7-c41d-46b7-a46d-25004f50201d"/>
    <ds:schemaRef ds:uri="http://schemas.microsoft.com/office/2006/documentManagement/types"/>
    <ds:schemaRef ds:uri="http://schemas.microsoft.com/office/2006/metadata/properties"/>
    <ds:schemaRef ds:uri="http://purl.org/dc/elements/1.1/"/>
    <ds:schemaRef ds:uri="http://schemas.openxmlformats.org/package/2006/metadata/core-properties"/>
    <ds:schemaRef ds:uri="http://www.w3.org/XML/1998/namespace"/>
    <ds:schemaRef ds:uri="http://purl.org/dc/dcmitype/"/>
    <ds:schemaRef ds:uri="http://purl.org/dc/terms/"/>
  </ds:schemaRefs>
</ds:datastoreItem>
</file>

<file path=docProps/app.xml><?xml version="1.0" encoding="utf-8"?>
<Properties xmlns="http://schemas.openxmlformats.org/officeDocument/2006/extended-properties" xmlns:vt="http://schemas.openxmlformats.org/officeDocument/2006/docPropsVTypes">
  <Template/>
  <TotalTime>0</TotalTime>
  <Words>9093</Words>
  <Application>Microsoft Office PowerPoint</Application>
  <PresentationFormat>Widescreen</PresentationFormat>
  <Paragraphs>1555</Paragraphs>
  <Slides>64</Slides>
  <Notes>56</Notes>
  <HiddenSlides>2</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64</vt:i4>
      </vt:variant>
    </vt:vector>
  </HeadingPairs>
  <TitlesOfParts>
    <vt:vector size="73" baseType="lpstr">
      <vt:lpstr>Aptos</vt:lpstr>
      <vt:lpstr>Aptos Display</vt:lpstr>
      <vt:lpstr>Aptos Mono</vt:lpstr>
      <vt:lpstr>Arial</vt:lpstr>
      <vt:lpstr>Calibri</vt:lpstr>
      <vt:lpstr>Cambria</vt:lpstr>
      <vt:lpstr>Cambria Math</vt:lpstr>
      <vt:lpstr>Georgia</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Gashi, Bleron</cp:lastModifiedBy>
  <cp:revision>2</cp:revision>
  <dcterms:created xsi:type="dcterms:W3CDTF">2026-06-14T17:37:07Z</dcterms:created>
  <dcterms:modified xsi:type="dcterms:W3CDTF">2026-07-08T20:48:28Z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0x010100F57BC7E1DEE47E42836217B21F9E919B</vt:lpwstr>
  </property>
  <property fmtid="{D5CDD505-2E9C-101B-9397-08002B2CF9AE}" pid="3" name="MediaServiceImageTags">
    <vt:lpwstr/>
  </property>
</Properties>
</file>