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02349b13a64042" /><Relationship Type="http://schemas.openxmlformats.org/officeDocument/2006/relationships/extended-properties" Target="/docProps/app.xml" Id="R93dd01b32f334b24" /><Relationship Type="http://schemas.openxmlformats.org/officeDocument/2006/relationships/officeDocument" Target="/ppt/presentation.xml" Id="R043af445b71b4e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36ec03122f4d00"/>
  </p:sldMasterIdLst>
  <p:notesMasterIdLst>
    <p:notesMasterId xmlns:r="http://schemas.openxmlformats.org/officeDocument/2006/relationships" r:id="Rcbb764459da24c2d"/>
  </p:notesMasterIdLst>
  <p:sldIdLst>
    <p:sldId xmlns:r="http://schemas.openxmlformats.org/officeDocument/2006/relationships" id="256" r:id="R6e5c3feae10448a4"/>
    <p:sldId xmlns:r="http://schemas.openxmlformats.org/officeDocument/2006/relationships" id="257" r:id="R7615aca9ec254846"/>
    <p:sldId xmlns:r="http://schemas.openxmlformats.org/officeDocument/2006/relationships" id="258" r:id="R37be62383f3a4dff"/>
    <p:sldId xmlns:r="http://schemas.openxmlformats.org/officeDocument/2006/relationships" id="259" r:id="Rb8607b6974414f36"/>
    <p:sldId xmlns:r="http://schemas.openxmlformats.org/officeDocument/2006/relationships" id="260" r:id="R5cd2b4446ce44969"/>
    <p:sldId xmlns:r="http://schemas.openxmlformats.org/officeDocument/2006/relationships" id="261" r:id="R181dc6329e324f1e"/>
    <p:sldId xmlns:r="http://schemas.openxmlformats.org/officeDocument/2006/relationships" id="262" r:id="R60e74f40549a4f11"/>
    <p:sldId xmlns:r="http://schemas.openxmlformats.org/officeDocument/2006/relationships" id="263" r:id="R0f59cd446c574a8e"/>
    <p:sldId xmlns:r="http://schemas.openxmlformats.org/officeDocument/2006/relationships" id="264" r:id="Ra30a55a314c048a0"/>
    <p:sldId xmlns:r="http://schemas.openxmlformats.org/officeDocument/2006/relationships" id="265" r:id="Rfa94381aa969456b"/>
    <p:sldId xmlns:r="http://schemas.openxmlformats.org/officeDocument/2006/relationships" id="266" r:id="R3714c5f2ba1247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b0692419424854" /><Relationship Type="http://schemas.openxmlformats.org/officeDocument/2006/relationships/slideMaster" Target="/ppt/slideMasters/slideMaster1.xml" Id="R8136ec03122f4d00" /><Relationship Type="http://schemas.openxmlformats.org/officeDocument/2006/relationships/notesMaster" Target="/ppt/notesMasters/notesMaster1.xml" Id="Rcbb764459da24c2d" /><Relationship Type="http://schemas.openxmlformats.org/officeDocument/2006/relationships/presProps" Target="/ppt/presProps.xml" Id="R85c10e65f33c4951" /><Relationship Type="http://schemas.openxmlformats.org/officeDocument/2006/relationships/tableStyles" Target="/ppt/tableStyles.xml" Id="Rfca8e39c40c64943" /><Relationship Type="http://schemas.openxmlformats.org/officeDocument/2006/relationships/slide" Target="/ppt/slides/slide1.xml" Id="R6e5c3feae10448a4" /><Relationship Type="http://schemas.openxmlformats.org/officeDocument/2006/relationships/slide" Target="/ppt/slides/slide2.xml" Id="R7615aca9ec254846" /><Relationship Type="http://schemas.openxmlformats.org/officeDocument/2006/relationships/slide" Target="/ppt/slides/slide3.xml" Id="R37be62383f3a4dff" /><Relationship Type="http://schemas.openxmlformats.org/officeDocument/2006/relationships/slide" Target="/ppt/slides/slide4.xml" Id="Rb8607b6974414f36" /><Relationship Type="http://schemas.openxmlformats.org/officeDocument/2006/relationships/slide" Target="/ppt/slides/slide5.xml" Id="R5cd2b4446ce44969" /><Relationship Type="http://schemas.openxmlformats.org/officeDocument/2006/relationships/slide" Target="/ppt/slides/slide6.xml" Id="R181dc6329e324f1e" /><Relationship Type="http://schemas.openxmlformats.org/officeDocument/2006/relationships/slide" Target="/ppt/slides/slide7.xml" Id="R60e74f40549a4f11" /><Relationship Type="http://schemas.openxmlformats.org/officeDocument/2006/relationships/slide" Target="/ppt/slides/slide8.xml" Id="R0f59cd446c574a8e" /><Relationship Type="http://schemas.openxmlformats.org/officeDocument/2006/relationships/slide" Target="/ppt/slides/slide9.xml" Id="Ra30a55a314c048a0" /><Relationship Type="http://schemas.openxmlformats.org/officeDocument/2006/relationships/slide" Target="/ppt/slides/slide10.xml" Id="Rfa94381aa969456b" /><Relationship Type="http://schemas.openxmlformats.org/officeDocument/2006/relationships/slide" Target="/ppt/slides/slide11.xml" Id="R3714c5f2ba1247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bdd367825948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85c05661a24079" /><Relationship Type="http://schemas.openxmlformats.org/officeDocument/2006/relationships/notesMaster" Target="/ppt/notesMasters/notesMaster1.xml" Id="R7258e72e24a44e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636069517f4df9" /><Relationship Type="http://schemas.openxmlformats.org/officeDocument/2006/relationships/notesMaster" Target="/ppt/notesMasters/notesMaster1.xml" Id="R885cafcd59cd46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38f4c8c5324a05" /><Relationship Type="http://schemas.openxmlformats.org/officeDocument/2006/relationships/notesMaster" Target="/ppt/notesMasters/notesMaster1.xml" Id="R6ed4781ea5b84e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905bab197843b8" /><Relationship Type="http://schemas.openxmlformats.org/officeDocument/2006/relationships/notesMaster" Target="/ppt/notesMasters/notesMaster1.xml" Id="R2a7fee19c87544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32b11a39df4cde" /><Relationship Type="http://schemas.openxmlformats.org/officeDocument/2006/relationships/notesMaster" Target="/ppt/notesMasters/notesMaster1.xml" Id="R7446d6fd512544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51b377a9c8434e" /><Relationship Type="http://schemas.openxmlformats.org/officeDocument/2006/relationships/notesMaster" Target="/ppt/notesMasters/notesMaster1.xml" Id="R18454accd47644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d753c72143457e" /><Relationship Type="http://schemas.openxmlformats.org/officeDocument/2006/relationships/notesMaster" Target="/ppt/notesMasters/notesMaster1.xml" Id="Rffebd379e2f843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6d0e9c9de94df1" /><Relationship Type="http://schemas.openxmlformats.org/officeDocument/2006/relationships/notesMaster" Target="/ppt/notesMasters/notesMaster1.xml" Id="Rd2a2005747694f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0c82351f124fb0" /><Relationship Type="http://schemas.openxmlformats.org/officeDocument/2006/relationships/notesMaster" Target="/ppt/notesMasters/notesMaster1.xml" Id="R739a76072c9d4c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aa1596d67e431c" /><Relationship Type="http://schemas.openxmlformats.org/officeDocument/2006/relationships/notesMaster" Target="/ppt/notesMasters/notesMaster1.xml" Id="Rcfd46fe369fa45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3de66d16d444a9" /><Relationship Type="http://schemas.openxmlformats.org/officeDocument/2006/relationships/notesMaster" Target="/ppt/notesMasters/notesMaster1.xml" Id="Rd1aa0a8dc75b40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4d1c2ad724f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5ad22009f548e1" /><Relationship Type="http://schemas.openxmlformats.org/officeDocument/2006/relationships/slideLayout" Target="/ppt/slideLayouts/slideLayout1.xml" Id="R116aa80eb08842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6aa80eb08842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05a41b55c4b0c" /><Relationship Type="http://schemas.openxmlformats.org/officeDocument/2006/relationships/notesSlide" Target="/ppt/notesSlides/notesSlide1.xml" Id="R9029117754a141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1f62426de46eb" /><Relationship Type="http://schemas.openxmlformats.org/officeDocument/2006/relationships/notesSlide" Target="/ppt/notesSlides/notesSlide2.xml" Id="Rd7f86883f6c14d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35e5c3072401c" /><Relationship Type="http://schemas.openxmlformats.org/officeDocument/2006/relationships/notesSlide" Target="/ppt/notesSlides/notesSlide3.xml" Id="R3e3b4fc1b42449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5af5f12e644cf" /><Relationship Type="http://schemas.openxmlformats.org/officeDocument/2006/relationships/notesSlide" Target="/ppt/notesSlides/notesSlide4.xml" Id="R62625347041c4c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eff3e92fd4e0a" /><Relationship Type="http://schemas.openxmlformats.org/officeDocument/2006/relationships/notesSlide" Target="/ppt/notesSlides/notesSlide5.xml" Id="Rf5012aa481ab4f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bcfa3c11c404f" /><Relationship Type="http://schemas.openxmlformats.org/officeDocument/2006/relationships/notesSlide" Target="/ppt/notesSlides/notesSlide6.xml" Id="Rfcf4577a2e4448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dfa8690154821" /><Relationship Type="http://schemas.openxmlformats.org/officeDocument/2006/relationships/notesSlide" Target="/ppt/notesSlides/notesSlide7.xml" Id="Ra29b50b973724c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f52a7924c4aaa" /><Relationship Type="http://schemas.openxmlformats.org/officeDocument/2006/relationships/notesSlide" Target="/ppt/notesSlides/notesSlide8.xml" Id="R70b5fe7c034346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9ab55d18d465e" /><Relationship Type="http://schemas.openxmlformats.org/officeDocument/2006/relationships/notesSlide" Target="/ppt/notesSlides/notesSlide9.xml" Id="R273d332e97ec42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6d8f924bf4e5a" /><Relationship Type="http://schemas.openxmlformats.org/officeDocument/2006/relationships/notesSlide" Target="/ppt/notesSlides/notesSlide10.xml" Id="Rc7f238eb5fde4c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133f6a0a940b0" /><Relationship Type="http://schemas.openxmlformats.org/officeDocument/2006/relationships/notesSlide" Target="/ppt/notesSlides/notesSlide11.xml" Id="Rd1384bfb4c1f4e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70B31E-1581-49C1-90EA-09BFA08D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07251-8534-4AB2-B3F4-C543F2E5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GRUNDLAGEN · VOM KREDITRISIKO ZUR CET1-QUOTE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15650-7CAC-40A9-8240-CC06E02D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Drei einfache Formeln verbinden Kreditrisiko und unsere Zielgröße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99A06-3087-43FB-B375-6F0F4FEA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Expected Loss, Kredit-RWA und Sovereign-Marktwert werden getrennt berechnet und anschließend in der CET1-Quote zusammengeführt.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DF64D-6AE2-4F08-B7E3-B6805DA9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6A82A-9CA7-4B57-92A3-5D60F7A3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CE0E7-0F8F-4693-99D4-C9C1AE82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10001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FFCA7-2367-4C9A-84F5-5462FF6F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923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 · EINGABEN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62B7E-FB41-4FB1-9016-5162FB3E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Was geht in die Formeln ein?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F8087-ED90-47BD-A457-98C7776B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E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0F3E4-37D5-4F4C-9AAD-0AE4C4DA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51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A8AF8-DCBC-44CA-B9D3-FFD6FAE0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2266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wahrscheinlich ist ein Ausfall?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DF902-6ABE-423A-8116-80BBE5AD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19375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Pillar 3 EU-CR6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F8ACA-2AC1-4343-81EC-6B705CB1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E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1DDD5-1433-4C9F-A241-C97E8D4E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33725"/>
            <a:ext cx="51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LGD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DA694-0BCD-4D2C-B723-5881635E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2266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viel verlieren wir bei einem Ausfall?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9CA91-9FCE-49A7-9A34-5FE1F7C2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48025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Pillar 3 EU-CR6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32E11-B462-435F-A58F-F8E8217D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3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63D12-B8FA-473E-8B46-994F7E5E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14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E68ACC-C0B2-49EA-8A64-6A755FED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2266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Wie hoch ist die offene Forderung?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73294-4D49-40BF-B7B5-F06927CA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76675"/>
            <a:ext cx="2266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EBA Transparency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235FE-A8ED-4B67-9896-BEF7DD68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576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Makroschock verändert PD und LGD; EAD bleibt die Bezugsgröße.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A377C-3D78-454F-B71E-A744C653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146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E548F-D34C-41F5-9772-45B15F59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38275"/>
            <a:ext cx="34861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090C70-4CF8-49B2-A94A-57928A6A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00200"/>
            <a:ext cx="12858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FF7AFB-A680-4814-93A7-93792D07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38300"/>
            <a:ext cx="1209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 · VERLUST &amp; RWA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611A4F-C5D7-4C28-B0B2-B0B2536E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Was wird berechnet?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A91497-6910-4992-BBDB-7113A0FF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31432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5E5E9"/>
          </a:solidFill>
          <a:ln xmlns:a="http://schemas.openxmlformats.org/drawingml/2006/main" w="9525">
            <a:solidFill>
              <a:srgbClr val="EBC8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887091-1D7E-4C75-A490-F3E9EF37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479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1 · Erwarteter Verlust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DA7983-49BB-4B8E-B170-660694D7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EL = PD × LGD × 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5EB68D-E30B-45C9-BB6C-8465DE87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3EFF4"/>
          </a:solidFill>
          <a:ln xmlns:a="http://schemas.openxmlformats.org/drawingml/2006/main" w="9525">
            <a:solidFill>
              <a:srgbClr val="BED6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A435C0-791E-484E-B05C-773E980A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432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2 · Regulatorische Kredit-RWA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DFFC40-E9A7-46BA-AE0D-6168237F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43275"/>
            <a:ext cx="280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RWA = K × 12,5 × 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E28E9A-68CC-410D-B814-99C1C0DE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62375"/>
            <a:ext cx="3143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EED3"/>
          </a:solidFill>
          <a:ln xmlns:a="http://schemas.openxmlformats.org/drawingml/2006/main" w="9525">
            <a:solidFill>
              <a:srgbClr val="E4C96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86E495-96E0-436A-881F-3B8EF6ED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57625"/>
            <a:ext cx="1762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3 · Sovereign-Marktwert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2F0989-3003-4666-87B0-1C5D9C0A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2876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ΔFV = −D × (Δr ÷ 100) × Bestand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F87530-5653-48CE-82B9-C00A8FE8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86250"/>
            <a:ext cx="2876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73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CET1: HfT / FVTPL / FVOCI ja · AC nein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3839BF-4E2C-42C9-99A2-B737F283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146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674B87-3097-40FE-8BF7-3FDACD1A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38275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39BC48-8D3C-4D28-8EA3-638B59A0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00200"/>
            <a:ext cx="1143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DE12CB-0A77-4E1E-B8DB-3FA449E1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38300"/>
            <a:ext cx="1066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 · ZIELGRÖSSE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822A88-6738-409F-80D9-342F2BD6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7167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Wie entsteht die CET1-Quote?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2C8C0E-54BE-4BC2-BAA8-078BAD14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CET1 nach Stress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6D736D-ABC5-4169-A28A-B3CA6AA6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52725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CET1₀ − ΔEL + ΔFV Sovereigns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461555-825A-49A5-9033-0C3B8B80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74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9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EF1EDF-AFAA-47F4-A98F-A5AE625D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RWA₀ + ΔRWA Kreditbuch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8BC9EA-18CC-40B4-AFE4-C5C0020F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81425"/>
            <a:ext cx="3124200" cy="561975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123B50"/>
          </a:solidFill>
          <a:ln xmlns:a="http://schemas.openxmlformats.org/drawingml/2006/main" w="9525">
            <a:solidFill>
              <a:srgbClr val="35556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9D965E-9C79-495B-9CD9-6C703ED8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76675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1BCC8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1BCC8"/>
                </a:solidFill>
                <a:latin typeface="Aptos"/>
                <a:ea typeface="Aptos"/>
                <a:cs typeface="Aptos"/>
              </a:rPr>
              <a:t>Zähler sinkt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E4BCDA-2615-4BAA-9024-BF6DCB47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76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durch Vorsorge und Sovereign-Verluste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143D26-0518-4E76-B701-D78ABF98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05275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9D6D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9D6DF"/>
                </a:solidFill>
                <a:latin typeface="Aptos"/>
                <a:ea typeface="Aptos"/>
                <a:cs typeface="Aptos"/>
              </a:rPr>
              <a:t>Nenner steigt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1A6DDE-8E36-48F1-8751-0227ED88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052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durch zusätzliche Kredit-RWA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59185B-B355-422B-96E0-9565A84D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112776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43A7EC-CC1A-4B85-A7D9-261C9F5A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38725"/>
            <a:ext cx="266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WOHER KOMMEN FORMELN UND WERTE?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F8D274-16C6-447E-A07F-CA45C38F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14950"/>
            <a:ext cx="2571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B006E8-787A-42DB-8A9C-451070FF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14950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8C42C3-8E46-4DB7-B51D-73483DED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PD / LGD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5CC3B8-62C5-46AC-9EA8-D6C9359F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Banken melden diese Werte in Pillar 3 EU-CR6.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CA58C3-216B-481D-8A59-92AB07C5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14950"/>
            <a:ext cx="2571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F375474-4D71-4693-B9E3-B2396FF1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14950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81F457E-4725-41FF-AF31-20767FA5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29250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EAD / CET1 / RWA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4F2125-42E3-431B-9B56-97BE3F14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388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Stammen aus der EBA Transparency Exercise.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3A26BA-6B35-49B0-A994-0A67F1B7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314950"/>
            <a:ext cx="2571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BF2470-38F2-4993-B566-9C94ECA7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314950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B0EE4A-C785-40A7-872B-410064A8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29250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K und 12,5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7FB8DF-D41A-4A52-ADBB-3ECAF49D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388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Basel III / CRR geben Formel und 8%-Umrechnung fest vor.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94E9213-ED0A-4B2A-8691-ED855756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314950"/>
            <a:ext cx="257175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23BA9B0-ECDC-451C-AE41-179AB0C1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314950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FCAFFAF-508B-4D7A-AF50-31AF2096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0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Sovereign ΔFV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55E426E-529C-4E83-8F92-9AF32172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388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EBA-Bestand, Laufzeit und IFRS-9-Klasse; Duration aus Laufzeitband.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951DE87-88EB-4B9A-B528-C910F697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Prämissen ΔFV: paralleler Zinsschock · Duration ≈ Laufzeitband-Mittelpunkt; &gt;10 Jahre = 15 Jahre · keine Spread-, Hedge- oder Konvexitätseffekte.</a:t>
            </a:r>
          </a:p>
        </p:txBody>
      </p:sp>
    </p:spTree>
    <p:extLst>
      <p:ext uri="{BB962C8B-B14F-4D97-AF65-F5344CB8AC3E}">
        <p14:creationId xmlns:p14="http://schemas.microsoft.com/office/powerpoint/2010/main" val="1686239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398BBA-982A-4D73-BF56-AF45DE69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84616-B30C-4997-9DFC-649E644D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EINFÜHRUNG IN DAS MODELL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596F2-D1CA-4348-9D93-43420880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Das Modell übersetzt zwei Makroschocks in eine belastbare CET1-Aussage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C3633-0D0C-4078-8BFE-FA728FEA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Kern ist eine transparente Wirkungskette – von Marktvariablen über Risikoparameter bis zur Kapitalquote.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EE0CA-74FE-4CFF-B493-91DCFAC8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0B941-EA0E-455E-A5DB-91FC15DE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543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99666-6FC6-4707-B812-AE3BB9AC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906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MANAGEMENT-FRAGE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726B5-F2B9-45E3-B3C1-6B5B0F70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Wie stark sinkt die harte Kernkapitalquote der zehn größten EU-IRB-Banken unter Ölpreis- und Zinsschocks?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A7629-DA6E-4BA7-80A1-0E0C763E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2362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EEBDF-F117-45A0-9B6E-797A4B51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DA084-0456-4C7A-B662-0C7AF63D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905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A2023-1530-44EB-A3C8-EE493FF4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514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3B25B-09C8-499D-9F25-B465F4E6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62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 · Makrofaktoren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786F7-CC03-4A91-A483-AA5C6C28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ΔBrent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Ölpreis als Energie- und Inflationsschock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Δr 10Y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Zins als Refinanzierungs- und Bewertungsimpuls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3EADF-99D1-4C35-BAF5-6B983696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543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E5BC29-E82E-41D7-B186-6AB63EAF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2362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3834B-87B1-49CD-B820-B054E2D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2D19C-1394-4B4C-BA97-F14C1365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38450"/>
            <a:ext cx="6477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98EE1-C445-48D2-BBF2-B2B203F8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571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83141-883B-4BF9-A869-18A806E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62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2 · Transmission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E0B7E-315E-42BF-8E43-7F49A2C8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861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Sektorale β/γ-Matrix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ΔPD und ΔLGD je Exposure-Klasse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Keine pauschale Ein-Faktor-Logik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5D9F45-A63B-4A73-BEB3-F7A65AAA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43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AE1D2-2E4D-4DF1-8A1F-AA90BF09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14625"/>
            <a:ext cx="23622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9E641-6532-4CDD-989F-8D9E5CC9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D1C7A-96F2-4EE9-B349-FF3BCB93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6858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C3EF7B-47ED-4E9D-87CA-A85FF3DD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76550"/>
            <a:ext cx="609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KANÄLE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A3ABD0-FEC3-42FC-9CF8-0488F713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62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3 · Risikokanäle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A560ED-84CC-43C4-BF16-F8D48E33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861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Kreditbuch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Expected Loss + IRB-RWA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Sovereign-Buch</a:t>
            </a:r>
          </a:p>
          <a:p xmlns:a="http://schemas.openxmlformats.org/drawingml/2006/main">
            <a:pPr algn="l">
              <a:defRPr sz="101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Duration-MtM + IFRS-9-Filter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C7F665-1142-4788-B63B-98515FBC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43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032AF8-35DC-4613-974C-A88EB42A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14625"/>
            <a:ext cx="29337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23B50"/>
          </a:solidFill>
          <a:ln xmlns:a="http://schemas.openxmlformats.org/drawingml/2006/main" w="9525">
            <a:solidFill>
              <a:srgbClr val="123B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E5DDD-E2C9-4CCF-93D3-D6EC6703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14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8AF8CD-8AA6-417E-BD2E-2BCBFD7A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6286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51D83C-AB82-4AFD-9949-50385E09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765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5232AD-6C47-4800-8E19-6A8E6B96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623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 · CET1-Ergebnis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3822E1-7C63-4522-81C5-FB79E283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86150"/>
            <a:ext cx="2609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Zähler: CET1 minus Vorsorge und Marktwertverluste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Nenner: RWA plus zusätzlicher Kredit-RWA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Output: Quote je Bank und im Aggregat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A0B083-C243-4AF6-AF03-4B26FB80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06F44D-DDD9-42A9-A169-EB71DD8F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1333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DESIGNPRINZIP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5AD82A-50E6-4D15-A7FD-551527AF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Keine Black Box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81AA6F-FFEE-4BC1-9610-91F3C1AC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864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Jeder Schritt besitzt eine Formel, eine Datenquelle und einen messbaren Beitrag zur finalen CET1-Bridge.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A0280A-E719-449D-8A95-94D59E76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1488641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2EE2A1-F763-4648-9A0A-D4A74C9F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FB041-30CB-4F18-8139-0AFE25E7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ZIELGRÖSSE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35AF3-047F-4C3C-8587-70EF0EDB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CET1 fällt gleichzeitig über den Zähler und den RWA-Nenner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F38C6-18BD-4C39-870F-E10586E3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Das Modell verbindet Kreditvorsorge, Marktwertverluste und zusätzliche RWA in einer konsistenten Kapitalgleichung.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8F748-580C-414D-83E4-3B43ADA8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8EBB9-3677-4DC9-8363-738E50D7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9532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CBEA5-9C00-4A4D-947F-3EE681A3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GESTRESSTE CET1-QUOTE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F0B25-F6DB-48BE-8510-652BC150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24075"/>
            <a:ext cx="604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CET1₀  −  ΔEL Kreditbuch  +  ΔFV Sovereigns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A7A44-CF39-4521-A581-6793174D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9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6919F-8A4C-49C5-9A2B-CF20CD51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0350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RWA₀  +  ΔRWA Kreditbuch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F48F0-EF8F-4171-A898-4AFF1197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0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8B6C2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E8B6C2"/>
                </a:solidFill>
                <a:latin typeface="Aptos"/>
                <a:ea typeface="Aptos"/>
                <a:cs typeface="Aptos"/>
              </a:rPr>
              <a:t>Zählerwirkung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BF0C7-C890-43A8-8928-4056948C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90900"/>
            <a:ext cx="4667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Vorsorge und Sovereign-MtM reduzieren hartes Kernkapital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FC81C-582A-46D9-AD4E-3BC28D9A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38275"/>
            <a:ext cx="40195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71D69-B770-43AF-B559-093501E0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38275"/>
            <a:ext cx="571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CECE4-7BD9-4B06-8FDB-238D52D8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62100"/>
            <a:ext cx="7905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7638A0-F4C3-40B1-B84D-BC6B79C6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0200"/>
            <a:ext cx="714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MECHANIK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F8EA4-114C-415E-8637-87473F76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859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Warum beide Seiten zählen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5B8A9-3992-45A3-88E5-F63BAAE4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09800"/>
            <a:ext cx="36957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Höhere PD/LGD erhöhen den Expected 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Die Basel-IRB-Formel erhöht den Kapitalbedarf und die RWA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Steigende Zinsen senken den Fair Value marktwertbewerteter Staatsanleihen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9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Alle Effekte wirken gemeinsam auf die Quote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EAB3C-397E-4B0F-B004-FCC15131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AUFSICHTLICHE ORIENTIERUNGSPUNKTE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0C4FA7-1886-4B49-976F-A2B86783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34956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23BF5-0A8D-4F90-81BF-330AF4A8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762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E6CC4-98C2-4D47-9C04-23FBC7D2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14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rPr>
              <a:t>4,5 %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BACA5-D091-4EFF-9FB0-4AAECF47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29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Pillar-1-Minimum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E1B53-01DE-422E-9646-F5C3E053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34025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harte Untergrenze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636C6A-632C-428D-9EA8-E7F7D7B7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552950"/>
            <a:ext cx="34956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0F777B-9EBD-489C-B3A6-996A270F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552950"/>
            <a:ext cx="762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C3EFE-D5BC-45F4-8F83-96BCCFFB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14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D9A124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D9A124"/>
                </a:solidFill>
                <a:latin typeface="Aptos Display"/>
                <a:ea typeface="Aptos Display"/>
                <a:cs typeface="Aptos Display"/>
              </a:rPr>
              <a:t>7,0 %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740A3-2424-43D4-BF64-75EBC175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29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inkl. Kapitalerhaltungspuffer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F4C3A6-584F-4341-850E-6B63482C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34025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Ausschüttungen unter Druck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1052C1-9349-49B7-B97D-078A4805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52950"/>
            <a:ext cx="3495675" cy="1362075"/>
          </a:xfrm>
          <a:prstGeom xmlns:a="http://schemas.openxmlformats.org/drawingml/2006/main" prst="roundRect">
            <a:avLst>
              <a:gd name="adj" fmla="val 8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0E25B0-F103-4506-963D-C158EDF6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52950"/>
            <a:ext cx="762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3D9059-05BA-4320-BEC0-D12CED39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14875"/>
            <a:ext cx="128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5D7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B5D7A"/>
                </a:solidFill>
                <a:latin typeface="Aptos Display"/>
                <a:ea typeface="Aptos Display"/>
                <a:cs typeface="Aptos Display"/>
              </a:rPr>
              <a:t>8,0 %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9AFCB6-8B5C-48A6-AB97-C76D1644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2292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typischer SREP-Orientierungswert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15A51A-D6C3-41E3-8174-F8DF7F67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534025"/>
            <a:ext cx="2952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institutsspezifischer Puffer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6EFB7F-AC82-45CA-9895-4662F2D4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Basel III / CRR · Modell-Cockpit · Schwellen dienen der Einordnung, nicht als bankspezifische SREP-Prognose</a:t>
            </a:r>
          </a:p>
        </p:txBody>
      </p:sp>
    </p:spTree>
    <p:extLst>
      <p:ext uri="{BB962C8B-B14F-4D97-AF65-F5344CB8AC3E}">
        <p14:creationId xmlns:p14="http://schemas.microsoft.com/office/powerpoint/2010/main" val="14868597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2E113F-0C0A-4C4E-B38F-BA6C0277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45386-EC40-4D47-B1AA-B6FAD33F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DATENBASIS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3C39D-48BA-429A-927D-D5BE31C2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Ein konsistenter Top-10-Datensatz verbindet 56 % der EU-IRB-EAD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AFA19-B8C3-4C91-8706-91AEEAC5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Bankparameter stammen aus regulatorischen Veröffentlichungen; Marktvariablen liefern die dynamischen Stressimpulse.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A3FD7-AFED-42F7-AC6F-90E629E2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77F89-FE7D-4D55-B6AB-76B39BE9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3638550" cy="45148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FE402-4B6E-44B3-8405-464E2C69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BANKENFILTER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68466-FC9B-4483-977F-706E889F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32575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7D8F4-74F4-41D7-8905-77A0A3E6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3105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120 EBA-Banken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5A823-2916-4BDB-944B-403E06B6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90800"/>
            <a:ext cx="2895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0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0F168-2922-4871-85BE-FDB6F526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05100"/>
            <a:ext cx="2743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67 IRB-Banken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EB8F5-87F9-469A-9B34-F0477A34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533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AFC8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B60FF-908A-4D83-A3D1-E59039B6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10 kuratierte Top-Banken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8C536-38A3-4E65-948D-FDE30F0F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95700"/>
            <a:ext cx="2171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78A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6EA6E-4E6A-4277-B0E0-34CC62F5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810000"/>
            <a:ext cx="2019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Einheitlicher Audit-Trail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E82CC-9539-4EB1-9F64-F08B7B5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9600"/>
            <a:ext cx="2552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135BD-792F-4267-B343-A6E84929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72000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€8,28 tn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88A39-B2A7-4E92-BE1C-0E9A2AF4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0062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CE8E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CE8ED"/>
                </a:solidFill>
                <a:latin typeface="Aptos"/>
                <a:ea typeface="Aptos"/>
                <a:cs typeface="Aptos"/>
              </a:rPr>
              <a:t>IRB-EAD · 56 % Abdeckung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5ED4E-176E-4AFC-B609-289A4235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Filter entfernt Nicht-IRB-Banken, Töchter und Dubletten.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11BE1-B5EC-4EBB-9339-D016B4EE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DATENBAUSTEINE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9C67A-CD52-490A-8A63-BA25A5A4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81175"/>
            <a:ext cx="34480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65D56-B30E-4D91-ACB1-0E55F747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811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7354A8-4A10-4915-9CC5-17085207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FFDE1B-A04F-49AE-B997-EEDF238B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74271F-047B-4627-8EF7-EAD9505D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288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Pillar 3 · EU-CR6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DDC696-07A7-4B8F-94A4-7043E676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55270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PD und LGD je Bank und IRB-Klasse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31.12.2024 · 69/69 IRB-fähige Kombinationen direkt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8510D-6C3A-48F1-9467-DDDC0602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81175"/>
            <a:ext cx="36766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6B6CE5-9D97-4F83-9F78-836BCF33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811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5277AF-C77F-489A-806A-7C7851CD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05000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489CD6-39F1-44B6-9253-8498C486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4310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SNAPSHOT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691630-7F18-4538-A21C-46302993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288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EBA Transparency 2025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E03819-4D3D-4DEF-8F0B-40CCEAAE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5527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EAD · CET1 · RWA · Sovereign-Bestände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Bankindividueller IFRS-9-Split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9A1143-BF57-4FFF-888D-80715DD8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52775"/>
            <a:ext cx="34480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94C110-B333-450A-BD68-D8C44AD4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527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970EB5-6798-4CF2-A360-7EF8D3FA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12001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F9A545-87C7-4242-B916-F7D3C24D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14700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HISTORIE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A43301-AA40-48A9-AAA2-ED8240AB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004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ICE Brent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2642C3-8B6B-4DE9-8C03-45CD3E97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2430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Aktueller Marktpreis und tägliche Historie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Input für Ölpreis- und Energiepreisschock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FC4E85-1BA1-47FE-B52D-5822F804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52775"/>
            <a:ext cx="36766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E12723-8ECE-44A8-BF75-380E33CF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52775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0B7EA1-D75F-485A-957C-E35242A7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6600"/>
            <a:ext cx="12001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276B23-4919-4480-8E10-88DEAB25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HISTORIE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752A0A-4316-4ADD-B007-15C69AE5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004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Bundesbank Svensson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313E26-C286-42D3-A599-C59F293E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924300"/>
            <a:ext cx="335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Offizielle Zero-Curve und tägliche Historie</a:t>
            </a:r>
          </a:p>
          <a:p xmlns:a="http://schemas.openxmlformats.org/drawingml/2006/main">
            <a:pPr algn="l">
              <a:defRPr sz="92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2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Input für den 10-Jahres-Zinsschock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86D1D2-F580-4043-9DB4-C833FC3D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24375"/>
            <a:ext cx="7334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E30774-8189-4A5B-951C-6A84CDD8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243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35421F-0F41-419A-AB86-82361F9B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7810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6A298D9-B838-471B-9C02-ACCE255A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86300"/>
            <a:ext cx="7048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METHODIK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34BDB3-CA26-4F55-BBA1-7F08FBC5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972050"/>
            <a:ext cx="701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Methodik und Kalibrierung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36D246-CC22-4C98-A242-7645560C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295900"/>
            <a:ext cx="701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EBA-Stresstestmethodik · ECB Working Papers · Basel-IRB-Formel · IFRS 9</a:t>
            </a:r>
          </a:p>
          <a:p xmlns:a="http://schemas.openxmlformats.org/drawingml/2006/main">
            <a:pPr algn="l">
              <a:defRPr sz="96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6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Quellen liefern Richtung, relative Stärke und regulatorische Rechenlogik.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2C05C3-0FC2-4AB9-9AAB-4F66E5DA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13259549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772918-ADA6-4865-8E9B-6053E419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85C4C-D4C1-4C27-97EF-E1023627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FAKTORAUSWAHL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7CEDB-763B-456D-9E0E-B7CA2378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Brent und 10Y-Zins adressieren unterschiedliche ökonomische Risiken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59C36-B378-4D59-AF47-3A9AD5CE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Faktoren werden nicht aggregiert, weil sie verschiedene Ursachen, Bilanzkanäle und sektorale Gewinner bzw. Verlierer erzeugen.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0FFFE-9297-4AE5-AB33-00941CB1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EDFC4-2339-4B50-BB9E-BCA849B0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4762500" cy="3743325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5185D-7263-4A02-B5ED-E7FFF022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5715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3113A-A2BE-4C52-BAAB-AEA37BE5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14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81A46-0E20-499C-A51B-351521A3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38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FAKTOR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5D621-92D2-4E00-B934-890FFAB4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31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ΔBrent · Energie- und Angebotsschock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8A655-225B-4A2A-A2D5-3AFBB651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4438650" cy="288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Warum Brent?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Europäischer Referenzpreis für global gehandeltes Rohöl.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Wirkungskanäle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Energie- und Inputkosten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Headline-Inflation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verfügbares Haushaltseinkommen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Unternehmensmargen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Einheit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Log-Return: additiv über die Zeit und symmetrisch um null.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68D59-0B58-41DC-B915-0AA8B1D8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95425"/>
            <a:ext cx="4762500" cy="3743325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863A1-A21B-4DFC-B8CB-F7A6126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95425"/>
            <a:ext cx="5715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D4B24-B779-4030-BEA6-AE7DCBC3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714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8F74D-5D99-4EC5-B9D0-863876D9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638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FAKTOR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BE67D-4179-4F5F-98D6-7F521E14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9431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Δr 10Y · Refinanzierungs- und Bewertungsimpuls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F18A9-ED51-4D42-83CF-A87A2007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266950"/>
            <a:ext cx="4438650" cy="288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Warum zehn Jahre?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Pricing-Anker für Hypotheken, Corporate Bonds und Sovereigns.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Wirkungskanäle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Kredit- und Refinanzierungskosten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Immobilienwerte und Recovery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Bond-Duration / Mark-to-Market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• Net Interest Margin der Banken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Einheit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Prozentpunkte: +2,0 pp entsprechen +200 Basispunkten.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9AADD-9A0E-4095-A4B0-9D464D50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4100"/>
            <a:ext cx="1752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FA1AF-D373-411F-A71A-D68C9F15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ZENTRALE THESE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295FF-DF6F-48C7-A009-8E8D31E7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9082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ρ = +0,070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095F7-D29F-4DB0-89E2-100134CA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480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nahezu unabhängige</a:t>
            </a:r>
          </a:p>
          <a:p xmlns:a="http://schemas.openxmlformats.org/drawingml/2006/main">
            <a:pPr algn="ctr">
              <a:defRPr sz="863" b="1" i="0">
                <a:solidFill>
                  <a:srgbClr val="E4EEF2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E4EEF2"/>
                </a:solidFill>
                <a:latin typeface="Aptos"/>
                <a:ea typeface="Aptos"/>
                <a:cs typeface="Aptos"/>
              </a:rPr>
              <a:t>Tagesbewegungen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7EA9D-2A10-4AD1-BA67-0A28E480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12776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3F1EF"/>
          </a:solidFill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A8381-A077-48CA-8809-CD0A3B58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MODELLKONSEQUENZ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39699-837D-465B-AF53-653E2B1A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629275"/>
            <a:ext cx="895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Zwei getrennte Slider und zwei direkte Faktorbeiträge – keine Verdichtung in einen systemischen Einzelfaktor.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4003FE-EACD-4362-848A-D363F952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Modell-Cockpit · Pillar 3 EU-CR6 · EBA Transparency · ICE Brent · Deutsche Bundesbank</a:t>
            </a:r>
          </a:p>
        </p:txBody>
      </p:sp>
    </p:spTree>
    <p:extLst>
      <p:ext uri="{BB962C8B-B14F-4D97-AF65-F5344CB8AC3E}">
        <p14:creationId xmlns:p14="http://schemas.microsoft.com/office/powerpoint/2010/main" val="1207774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E0CB5C-D342-4714-98A5-7C88258A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EF2D8-6E4D-4617-A205-AF7AF384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1 · TRANSMISSION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8FE74-52E1-4B6D-97CA-F3264471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Sektorale β/γ-Werte übersetzen Schocks in PD und LGD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E7FE3-ED1C-4E97-B26D-26C16389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Jede Exposure-Klasse reagiert anders – inklusive positiver Zinswirkung auf Bank-Counterparties über den NIM-Kanal.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A3A21-1433-4ADA-89CE-9E989296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02429-D05B-4E90-87B2-F6A40E7F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6CBA2-2505-4735-A7E1-8BAAF3AF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ΔPDKlasse = βoil × ΔBrent + βrate × Δr10Y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F4034-651B-496A-8D3D-F1ABA38F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62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ΔLGDKlasse = γoil × ΔBrent + γrate × Δr10Y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CD70D-8711-4608-B6B5-04D50637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BC860-0375-48D6-A35F-9A03DDA5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466975"/>
            <a:ext cx="2333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Exposure-Klasse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4105F-FFBD-4C5B-9036-A2E4F3FC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B8858-806B-4553-A7D0-B58D7939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β Oil · PD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B674C-B4F8-40F1-B878-1ECF926C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E23CA-CC90-43E6-99C9-F19BFAB3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β Rate · PD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21CFD-08B9-4E34-88F3-407C15AF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4690C-76A7-45F5-BAD8-A1869A59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γ Oil · LGD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835E8-2789-4587-B2CE-61BA8B6E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812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1D550-8B72-413D-831B-DDA56667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66975"/>
            <a:ext cx="1314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γ Rate · LGD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06742-82F7-4288-9F55-09EECC73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81250"/>
            <a:ext cx="26384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D6B2C-6645-4BDA-BEFF-5F4C6F41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66975"/>
            <a:ext cx="2543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Ökonomisches Profil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BFF99-5DF6-4FEE-8D5C-7079FDEC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625B0B-ED16-4D64-AEC2-18F1AD2D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289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A48343-B93D-432D-99BF-55247B53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7074CF-CC24-468D-8FC8-CCCEFBA8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7FC660-ED40-4926-A917-A3D97653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B18001-A9BC-4AAD-871B-7F86DF6A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03E50C-033E-46AD-B1B4-8B972CC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3D2B79-B37F-4B3D-A885-BA95836C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5B0DB8-9898-4694-9B47-819071A9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051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2EC7D5-4F1E-4156-AA66-480F9BC2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289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F016BF-05D1-4DBC-BF6C-E8C16A32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0510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F20CED-747B-4633-AEC9-61CAFA6E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2892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Kosten + Refinanzierung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821E50-53D1-4FC1-AA04-7BE58EEC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10ABA3-ACB2-456D-8F92-5BD6CF70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SME Corporate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30D32A-9DDA-427B-80AF-4EDBC3DF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7205A3-0E4E-4005-9D71-ACADDE79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+0,60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3EF37D-48D9-4C2E-84A3-09885205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8DB3CF-88AF-43F0-B29B-37D9F951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75AA78-9920-4CBF-BE05-E284B27D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6D84DA-4C67-43CC-A30D-1C3360E8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78E4D5-8434-4365-95C3-B17A4992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146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605A06-7E83-49D5-8741-F07F3E2E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385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345D41-00FB-47E3-8AEA-39B60403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14675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100614-95BC-4C02-A6B9-4A2FB69D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rund 2× Corporate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8FE410-BF87-4EFA-8D83-E1511D0C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3FA7C3-4BF7-4517-81E4-9A782199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4807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Mortgage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38DEAD-3E6E-4AE3-BA0C-6EB35BDD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FE0CF6-D1A2-41D9-8567-EEA1B2DD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74D899-2F83-4181-AD24-0EAA898D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7D2012-FF04-45C5-A3D0-6294A3D8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102BA1-1BD9-441F-A8E3-3FB39F29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BE3AA0-C9AB-47F8-80E9-A2B9B0DB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402F4C-3B27-4B91-A827-54756A89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242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8875BF-BB61-4A74-B109-F9095237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480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+1,50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BBA781-1236-462C-93E1-DD352A54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2425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DC3485-2A46-4A01-AC7E-E605533B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4807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zins- und collateral-dominiert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5D445C-84F9-4BD4-BF1A-0C298C67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3825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C221DA-ADDA-4C47-8502-A645C510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57650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QRRE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5C5C28-F8FD-44F4-80C5-4166C7D8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04E1298-B258-47E6-B47D-72C8889E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+0,40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BFE024-0128-4ADF-9A90-51257D09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D414AE3-AEBC-4937-B514-A733104D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B1611F-8A71-4217-B0C8-DC507804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38AAFD3-2D17-4F54-895E-8E8FA4AE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C6C418-5F53-4078-B4DA-C76FCC48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3382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5D1707-C9F7-4A4C-9B30-AE9BA5A7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9FF62B-975F-42C3-A3B6-B67B8FCC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33825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769B036-8772-4DC3-AC38-D492FF30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Einkommen / Energieinflation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F186E02-F6CB-4BF3-8595-D3A6DB87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7F4397-A51B-44AC-86BF-F22F2FBE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672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10661EC-6C7F-4C14-9AE2-A3BF7CF9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9E854F8-F0ED-4522-9376-A6718594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+0,30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ED03809-A3FE-4208-9805-3A448D36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259D671-DF30-4FD7-8FBF-CBBB9EF8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E62B68C-54C1-4708-96CF-E7FEE673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6814F0A-FBC5-4A99-9B3A-FAB5CA48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+0,25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3A8EBC8-85E3-4BAD-BBF8-EB9A5754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4340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9C22FF-2647-4445-BD0C-FC63E422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6722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+0,80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861A0D9-3930-4A41-B6AE-47B30E1F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4340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F8C9E00-9333-45C9-B28D-6EF62663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6722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gemischtes Haushaltsprofil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DAABF40-FB2D-4287-9045-7578C06F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2975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8A4F652-513B-4EA6-B9E9-6512FDA0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C96F49F-C8DC-4ED2-8431-6438013B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672A043-A224-46AD-8F3F-064C9030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+0,05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C1138C9-1DBD-4B40-B530-D3EFFF65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E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FD48433-41EF-4130-9B29-6176B8EB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−0,05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488FF56-3F23-4EDF-9BCB-994ED779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D37B59A-6F24-41F2-B2DC-FBB84CEC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+0,10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05E9513-FBBB-4384-B966-D4EFAB1B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52975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304BC50-D4A9-4088-A597-691F5689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768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+0,50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5F41BDE-DF5A-4721-B3EF-4FEFC3BB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52975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2ADCAEA-2497-4857-877D-609AD018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76800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NIM-Effekt senkt PD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148373-8B86-4931-B821-C4A9EA74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2428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D2BE583-FB49-4B41-AD54-D8CB070F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8637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Sovereign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7201EAE-25CF-4D90-8677-6278C59B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2549043-E39F-448C-B06E-23DE4D77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52382F7-A3C0-42DA-9BD5-FD1E936F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FC86105-3997-4A21-A170-6EE86B60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A6E1F25-8807-403A-A86D-74AB11A1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5990404-7CE5-4512-A01C-BA1D6A37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21CAE32-6D34-4106-A29C-5029C08B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62550"/>
            <a:ext cx="1409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ED3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A2323CB-7604-4F19-82F5-0C25752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863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0,00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4171525-4D0E-4421-B8F5-85B009B9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162550"/>
            <a:ext cx="2638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D5E0E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32063CB-60D7-41D6-AAA2-CEE38BCB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86375"/>
            <a:ext cx="2505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separater MtM-Kanal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99AB66B-2D75-4CD3-8CC3-C7818C55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43575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Lesebeispiel: +0,50 Brent und +2,0 pp Zins ergeben für Corporate ΔPD = +0,55 pp und ΔLGD = +2,25 pp.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4450689-71E0-40C7-9E44-4E5846A8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EBA §2.4.2 · ECB WP 2897/3112 · ECB FSR · Modellmatrix in two_factor_stress.py</a:t>
            </a:r>
          </a:p>
        </p:txBody>
      </p:sp>
    </p:spTree>
    <p:extLst>
      <p:ext uri="{BB962C8B-B14F-4D97-AF65-F5344CB8AC3E}">
        <p14:creationId xmlns:p14="http://schemas.microsoft.com/office/powerpoint/2010/main" val="15604177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B107AA-A598-4651-B01F-76FCE04C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C3C0E-D6A5-41B0-9F03-F756F545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FAKTOR-ANALYSE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4A77E-CB1F-4ABF-BDEF-A2E91A06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Nur 0,49 % der täglichen Zinsbewegung werden durch Brent erklärt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DBF7C-1E62-49BE-BAAC-55183E40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empirische Analyse über fünf Jahre bestätigt: Beide Faktoren tragen weitgehend eigenständige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C9443-12CE-4AEF-81CA-B580258B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8E0EF-F4A1-4465-B272-F6196B0B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25D6A-3CD5-4C78-A1E6-86389246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2BBE1-3BC8-40B3-B117-0523F361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BEOBACHTUNGEN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68A47-6097-4F89-B14C-813B379A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1.242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D45BB-5214-43C9-9864-4330A5D2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gemeinsame Handelstage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2A8E1-D791-4DDE-A4EE-E6865D24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80E7E-2B6C-4369-9107-7848585A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8FB9B-D5D3-4D5C-A2A1-C97EC7FA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PEARSON 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24D716-68FD-4B43-B340-DA371DFB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+0,070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59D0E-0DFB-4199-9995-ECBE63D1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95%-KI +0,014 bis +0,125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E9FBE-A01B-4E64-9653-6D78B532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6D01F-56DC-4413-98AE-2A10C1B5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3547C-07FF-49F8-871F-44379ADD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SPEARMAN 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A9A599-9852-422C-A2D2-29A51D39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+0,084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96350-9051-47F4-8663-D3323813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robust gegen Ausreißer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7FD25D-5B32-4D32-94E4-798491EC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27C0C-780E-4B1E-A9EE-2C7DE755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334BDA-5035-4050-92F4-DABD9140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OLS 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2C080-1621-40B9-865A-A9604AD7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+0,160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0605EC-9FD1-4946-8781-9B2228F2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 = 2,47 · p = 0,014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C2F7CB-AAFA-4FBC-9DB0-853FDA62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20764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BE7F5C-69C6-443E-BA13-428A55DA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287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8BFC3C-271B-453C-9245-82D74811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716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OLS R²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FE7DD-0787-4DA4-B8D5-7194022E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81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0,49 %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CDF50F-F6D3-40AE-97AB-657150A2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5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erklärte Varianz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87AEC8-6CC6-469F-AC38-B7E721C2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70961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1FD97F-6A76-4939-82E9-8E18B9CF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STREUDIAGRAMM · TAGESVERÄNDERUNGEN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92FA1A-50DA-44C6-AD81-4B761508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595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05BE94-2AFD-4F69-B982-BBBE715E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004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5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FB4DE0-C363-4695-8472-6CCFC419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14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41CEC6-A15E-468D-ABA6-4679085D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95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8C0B64-4BB2-480C-8B12-684913D3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14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35E783-F2F0-45E9-92DB-9872A36C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57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2EBFDE-A8CA-4E23-88E5-FED47F88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248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3489C0-6470-4289-B519-6093FC1C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91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B9C20C-140E-48CD-AC10-FFC4F472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90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2B38EB-9EA1-4A73-BD06-000FFC40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81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D67792-231C-4D4C-9921-47F45A7A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10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756145-EE4A-4F03-9530-C0C54441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43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8A08C0-FF4F-411B-B484-8A98C172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829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5E8304-9C2B-4023-87F1-4627BEFE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71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0809CD-115E-480C-A2D9-6F0A7118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95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4D0EB7-5E22-4773-808E-655F113E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857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49AD44-5C98-4D56-8A92-B29075D5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95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6FD32A-56FE-44B3-9A26-262ED822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143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D71222-6A06-4F8B-8420-4544A17D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38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4BEDFF-FA13-4098-AF53-622F6792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33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0091C8-26E6-485D-9E95-15528A77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29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E5DB15-CAC6-4FD6-982E-B8E9EC2E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C02A98-4C39-4801-9923-FC0389C1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48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054CE9-D50B-4950-82AC-3B1AE1AC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543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87D20E-601B-4BBC-B097-6821E2B2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00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D7B4DD-D8E9-465A-A4E4-7EC80AE1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71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7DD7F96-2AE1-4B6E-884E-95F21A65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8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92C6BF-B39D-4F9C-8330-8F30A4D8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105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AE0CF9-5AB1-4AB1-AB2D-10C16C2F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DE7578-6FE5-441F-B192-35A6B7DC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71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EB5E7D7-CEC6-4239-9426-CA314273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95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7579C0-E8C5-4034-99FB-5237E752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953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0F42EE-D4AF-4D09-A9B2-7C7E3126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129113-D48A-49C8-9D49-C99C393C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19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DEAB22-912B-43A2-ABD5-0E1BBF10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24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77185A8-9C09-4554-9818-9002C313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724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2110BF-89C0-4247-A626-D367B81A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0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41D617E-5597-45BF-93A1-A7E21FBD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00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DB2A2A7-ECA3-48B4-8309-2E2CD916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91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87AF08D-F466-4BF8-BC0C-21980C4D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57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DA61090-9058-4370-925E-C63DDA49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95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9EDDBE6-F38E-420A-9CAE-92A22E86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29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E2C9C1-6762-4A93-97CC-9A4BDFED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57675"/>
            <a:ext cx="595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5974BFF-2E4A-4D15-9892-C2B99801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53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ΔBrent · täglicher Log-Return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A9800B3-4D2E-475F-ABF3-DE185C87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005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Δr 10Y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B364C3F-3915-41E7-A2A1-CC0D53E1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09900"/>
            <a:ext cx="17145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8B72179-9619-4766-9C44-4515F70E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48000"/>
            <a:ext cx="1638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nahezu flache OLS-Linie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C539E6C-47A6-4D96-B160-0422EF5F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86050"/>
            <a:ext cx="387667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5741E32-AC85-445F-8C93-C779F2DE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860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652615B-F5F7-4B0E-9675-F02EE29D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09875"/>
            <a:ext cx="5524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C8DF6F1-09C4-4A0F-9CEA-49BD378E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47975"/>
            <a:ext cx="47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FAZIT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4D34BC5-B819-4984-97DC-54FD5531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33725"/>
            <a:ext cx="3552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Empirisches Urteil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6C62796-7EBE-4D26-A9B2-A8B6A7A5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57575"/>
            <a:ext cx="35528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Die Korrelation ist statistisch messbar, aber ökonomisch sehr klein.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R² = 0,0049 bedeutet: 99,51 % der täglichen Zinsvarianz bleiben durch Brent unerklärt.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Konsequenz</a:t>
            </a:r>
          </a:p>
          <a:p xmlns:a="http://schemas.openxmlformats.org/drawingml/2006/main">
            <a:pPr algn="l">
              <a:defRPr sz="105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Eine Aggregation würde Information vernichten und potenziell unterschiedliche sektorale Wirkungen verdecken.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6855334-DB0B-4C17-987E-219173E5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Daten: ICE Brent + Deutsche Bundesbank Svensson · 22.04.2021–22.04.2026 · lokaler Modell-Cache</a:t>
            </a:r>
          </a:p>
        </p:txBody>
      </p:sp>
    </p:spTree>
    <p:extLst>
      <p:ext uri="{BB962C8B-B14F-4D97-AF65-F5344CB8AC3E}">
        <p14:creationId xmlns:p14="http://schemas.microsoft.com/office/powerpoint/2010/main" val="17010918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DC8666-DE5B-4884-8E94-2B3D45D5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C0D5C-0913-4818-AF3A-77CD56A3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STABILITÄT DER FAKTORBEZIEHUNG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0153C-9221-4FC6-92CD-25607774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Die Faktorbeziehung schwankt – strukturell bleibt die Korrelation niedrig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04E2A-F87B-49DA-AEB7-00FF0A2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 explizites Zwei-Faktor-Modell kann temporäre Gleichläufe abbilden, ohne eine dauerhafte Abhängigkeit zu unterstellen.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2780E-3E57-4F1F-9A02-DD212175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5D514-0AE7-4582-A7DC-6F2A645D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7286625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2D6C5-F212-4043-B04B-B9C98EF2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2877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PEARSON-KORRELATION PRO KALENDERJAHR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353FA-1BC2-4C50-AEC9-5928D2F3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3B823-031B-452A-B10C-AA83A4E7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8536"/>
            <a:ext cx="514350" cy="9101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B37B0-C1D4-4D2C-9A9C-23A7E76C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299936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+0,182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314EC-BF4D-44D1-BD5D-20E14862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B4376-86FE-4B76-8D32-0A92810A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514350" cy="305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14AE3-FFC0-4769-A65B-C4E4C826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00838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-0,061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5FA67-E9A8-4B04-AC18-EED9DF79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7E8F3-2CA5-45C8-AE43-B5980039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588"/>
            <a:ext cx="514350" cy="495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9ABF6-9E3F-429D-9EC9-4EE61B0D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14988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+0,099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6EF41E-0BB8-451E-9C40-AA653FAF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72659-4459-461D-BC7A-AFDB08FB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63528"/>
            <a:ext cx="514350" cy="9751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D2579-D588-46F7-AE03-A34A111A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34928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+0,195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22AC3-0A86-4DB5-A257-55484790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BF25C-8109-4105-A411-AEA0FD20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08621"/>
            <a:ext cx="514350" cy="2300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36957F-C328-48FC-A83D-42502102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80021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+0,046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2A1B7-ADEA-4764-9EAE-2B35B512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7EA33-32DE-4F3D-B7F4-59AC0186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424"/>
            <a:ext cx="514350" cy="18102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48E3D4-85FD-408B-A13D-67CB22B3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99824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+0,362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49361B-BB14-44D4-8E0A-BF8BE0B9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6255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2026*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2C0832-293A-49AC-9641-E8C61BDF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6572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* 2026 ist ein Teilsample bis 22. April und daher nicht direkt mit Volljahren vergleichbar.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0EB7F2-2705-4EF9-8D16-DCCA4C39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38275"/>
            <a:ext cx="36861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D0A1FC-1415-420C-A944-4F96613E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38275"/>
            <a:ext cx="3686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9A29BD-D7CF-44DE-B12A-B0C3582F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581150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ROLLING 252 TAGE · SPANNWEITE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BB22F7-92DA-4614-B1B4-6D97D62E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9070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−0,175 bis +0,235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E61D50-C784-404E-8492-7FE6E845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62175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temporäre negative und positive Regime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399808-B6D3-49BD-B6D5-FD53ED76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33675"/>
            <a:ext cx="36861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E49EBF-4838-42AD-897C-0D96F48F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33675"/>
            <a:ext cx="3686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B2E89A-BDE4-4E73-BCBD-329EB46F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76550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ROLLING-MITTEL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3EDD5C-786A-406B-A833-26068083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08610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+0,065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7E4D26-5510-4CBB-B004-AE8560C7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457575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nahe am Full-Sample-Wert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BCC179-A04A-4696-855A-595365C7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29075"/>
            <a:ext cx="36861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47F2FC-155C-4505-9434-DC3C6CF9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29075"/>
            <a:ext cx="3686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2EC0C4-906A-4A99-9C6F-F6DE45F2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71950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LETZTER CACHE-WERT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F08CBF-EA20-43F2-9FBA-AF552AFB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81500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+0,198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BBE6C1-CA48-4EFB-8256-F16FEAA7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752975"/>
            <a:ext cx="3419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22. April 2026 · erhöht, aber moderat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89F69C-8D64-4D7A-8DA4-5353A417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1277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3F1EF"/>
          </a:solidFill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AD7173-8773-4332-8ECE-D0A74CEF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72175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Interpretation: Zeitvariation ja – strukturelle Ein-Faktor-Abhängigkeit nein. Deshalb bleiben Brent und Zins getrennt steuerbar.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0280F5-EE36-4A78-A8F2-2EB31C2A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factor_correlation.py · Rolling Window 252 Handelstage · lokale Markt- und Bundesbankdaten</a:t>
            </a:r>
          </a:p>
        </p:txBody>
      </p:sp>
    </p:spTree>
    <p:extLst>
      <p:ext uri="{BB962C8B-B14F-4D97-AF65-F5344CB8AC3E}">
        <p14:creationId xmlns:p14="http://schemas.microsoft.com/office/powerpoint/2010/main" val="18890740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670F15-BD04-488B-95F5-E502D56C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6DF57-2131-499C-81B1-ECFF8553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VOLLSTÄNDIGE SEGMENTREAKTION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5098D-672A-40A2-A95D-EB2E6972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Der gleiche Schock erzeugt sieben unterschiedliche PD- und LGD-Bewegungen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17768-6EC3-42FA-8BB1-B89322EA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Korrekte direkte Klassenreaktionen für ΔBrent +0,50 log und Δr 10Y +2,0 pp – identisch über alle zehn Banken angewendet.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609CD-76A6-4E43-8E3E-9D4A57E9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9E950-57FE-4DCE-8EB2-0A4B3916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9525">
            <a:solidFill>
              <a:srgbClr val="051C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99E1F-1575-4235-823B-14F16C41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61912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392B5-905D-4FD6-BE26-70FFC2C6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542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SCHOCK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674B4-964A-4A46-A44A-1538F2B7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525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ΔBrent = +0,50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9CB06-B687-40EB-A02D-103D9570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762125"/>
            <a:ext cx="2143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≈ +65 % Ölpreis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1A791-E480-483F-BE6F-A01433BB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52575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Δr 10Y = +2,0 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6160E-77A7-4FA8-815A-BDCE2A36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62125"/>
            <a:ext cx="2143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= +200 Basispunkte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155AE-FA68-4A92-91A3-1B1E7B18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95425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C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CD0D9"/>
                </a:solidFill>
                <a:latin typeface="Aptos"/>
                <a:ea typeface="Aptos"/>
                <a:cs typeface="Aptos"/>
              </a:rPr>
              <a:t>Formel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E344F-3D68-4D73-BE90-9F1B54F4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95425"/>
            <a:ext cx="4048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ΔPD = βoil × 0,50 + βrate × 2,0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05794-F2F0-4178-A50F-D1399DB1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24025"/>
            <a:ext cx="4048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ΔLGD = γoil × 0,50 + γrate × 2,0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0C43A-BCEB-47F7-88EC-07DC8C49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5429250" cy="3657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9CDBF-4C97-4A97-ACA1-D2FB699D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98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ΔPD · AUSFALLWAHRSCHEINLICHKEIT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09543-B870-4637-B679-8D92958D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Veränderung in Prozentpunkten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1EDFD-83C9-40DC-BADF-628E9AE0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14650"/>
            <a:ext cx="952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25252-8DDF-41E0-8193-10714678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SME Corporate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1AFFDE-8B94-4E22-A6AE-3827C21E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028950"/>
            <a:ext cx="285750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2C0B1-2DAA-4318-87A1-2B6243E9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099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+1,100 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904FC-C53C-475A-A33F-AE4C95A4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Mortgage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03D7F4-7E51-4A3D-98BF-685F6EFA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90900"/>
            <a:ext cx="162358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5CFF1F-CA68-4F3A-8B9A-9C9DD371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655" y="33718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+0,625 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56285C-368F-4BE3-A869-0E048B54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420B14-9BF1-4F74-960F-DC6D3822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52850"/>
            <a:ext cx="1688523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91D2F6-C64A-40DA-8BA1-E8CBF3F7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598" y="37338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+0,650 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808830-5DE1-4E1C-840F-724950E7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8C915-C269-4819-B093-66630E1A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14800"/>
            <a:ext cx="142875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24C192-C16A-48AE-A38A-3FF9266F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957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+0,550 pp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236F27-AB12-40E9-9B10-452B5E7B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QRRE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011639-AC38-4EC0-8DE9-5F96DF7A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76750"/>
            <a:ext cx="1298864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F9288E-25FF-466B-B123-3F38410E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939" y="445770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+0,500 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1F9EC3-A1D8-42C9-935D-74B37ED5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531B34-31F3-4B35-90DC-D35A69AE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045" y="4838700"/>
            <a:ext cx="194830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7FE997-7E70-4AD0-936B-95BE70A2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8196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−0,075 pp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10011F-88EE-413E-B8D0-BC9FBD16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Sovereign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4C8106-259E-4B8D-B168-1D37ADEF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19700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511C79-A347-472C-A94E-2A9D0AA3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181600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8B9296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8B9296"/>
                </a:solidFill>
                <a:latin typeface="Aptos"/>
                <a:ea typeface="Aptos"/>
                <a:cs typeface="Aptos"/>
              </a:rPr>
              <a:t>0,000 pp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0A3A26-5932-4385-8A58-B09CA55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504825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C24B2A-ED76-4FF7-95A8-DD5F8C9A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38800"/>
            <a:ext cx="495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3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3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Corporate +0,550 pp · Other Retail +0,650 pp – unterschiedliche Klassen, beide Werte korrekt.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788491-9ED7-4A07-BFBE-6452A1CC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28850"/>
            <a:ext cx="5600700" cy="3657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CF4E46-B57F-43E7-893A-CB7D61F6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98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ΔLGD · VERLUSTQUOTE BEI AUSFALL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60FC37-9773-4D61-9BE3-03CEC330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Veränderung in Prozentpunkten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A13C37-89F8-4B93-81AE-4F082223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SME Corporate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B91046-B5B9-4957-A72F-3EE1EE13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DB9244-E13A-4F72-8FCA-721333C4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2461276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2639E7-68E2-448C-B485-C970DA71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0099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+2,425 pp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7E4BFC-FB4B-4341-9853-4CBF84F2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Mortgage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1E83D7-B5EB-4CF6-9D9F-F8B80690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9090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436C63-1F38-4794-B637-49D3C530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9090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954F33-989E-4552-9587-0BF89963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3718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+3,050 pp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25E4D7-9787-460F-B7D9-20CEAC05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338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Other Retail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D68C035-A83A-4B6B-831B-2C454BCF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5285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6055B4-49BD-47E5-BBC5-6D3AD5E6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52850"/>
            <a:ext cx="1750804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EDDB3F-20DE-434F-BDA2-458ECF38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7338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+1,725 pp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431D95-0447-4475-B760-A38842C7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Corporate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579B47-27EB-478E-92FD-D4F42B8C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1480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B2F71BE-C9B3-4F47-A4FA-9A82D21D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14800"/>
            <a:ext cx="2283658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61B90A-3BDB-4A25-9238-DB298D1C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0957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+2,250 pp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95F1A8-7EB0-4A72-BA95-C568C55B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577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QRRE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C04DC4-A1A3-4E78-A153-28E270BF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AAE982D-D0C1-4502-AFA8-C6CA5EAC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1167203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75E4C6-B2FF-40AE-97E2-B39FC87F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457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+1,150 pp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891771-69B1-4069-865F-F6BAED27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196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Bank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D71927-DE3D-468E-9F49-78024C98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38971D8-B71C-48C1-8152-15FBB038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1065707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C33F7D8-FA34-4103-BC8E-E54F2836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8196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+1,050 pp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6168708-345E-42F1-B6AF-01FA1C61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816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Sovereign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5733C24-2E39-4DAE-A6B5-0FD87346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00650"/>
            <a:ext cx="309562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D092344-7607-4320-B175-C8F87D24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219700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EAD8E50-A35B-4725-B8C3-4D61C9B3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1816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8B9296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8B9296"/>
                </a:solidFill>
                <a:latin typeface="Aptos"/>
                <a:ea typeface="Aptos"/>
                <a:cs typeface="Aptos"/>
              </a:rPr>
              <a:t>0,000 pp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80ADA80-5398-4E63-A681-B83FD1EE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19750"/>
            <a:ext cx="52197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D858999-F02F-49C5-B6EB-B8E299B0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38800"/>
            <a:ext cx="510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3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73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Höchste LGD-Reaktion: Mortgage +3,050 pp durch den starken Zins- und Sicherheitenkanal.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6C772D8-2F51-47BC-A090-FC4580A6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Alle sieben Werte direkt aus der aktiven β/γ-Matrix. Die additive Klassenverschiebung gilt je Bank; daher bleibt sie auch im Bankenaggregat gleich.</a:t>
            </a:r>
          </a:p>
        </p:txBody>
      </p:sp>
    </p:spTree>
    <p:extLst>
      <p:ext uri="{BB962C8B-B14F-4D97-AF65-F5344CB8AC3E}">
        <p14:creationId xmlns:p14="http://schemas.microsoft.com/office/powerpoint/2010/main" val="12121914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D57D75-8E2B-4792-9315-A29F28DB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03081-90F3-4BB7-8B68-7615ABD3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IRB-CAPITAL-BRIDGE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6C760-67E2-4745-A5E5-B95150ED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LGD-Stress erklärt rund zwei Drittel des zusätzlichen IRB-Kapitalbedarfs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6E7D0-3ED0-4B82-B801-82B93944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Gestresste PD und LGD werden nacheinander in die unveränderte Basel-IRB-Formel eingesetzt.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CB224-8F2B-471E-8001-164926A1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F023C-F5C4-4AB2-A6A2-417E8AD3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7067550" cy="3867150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70D23-7712-4DAB-934F-1890988A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KAPITALBEDARF K · € MRD.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718C1-B11B-42CF-A665-62BEEC63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5FB30-49B0-48D3-9749-BBB55B57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3436"/>
            <a:ext cx="1381125" cy="18809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FADA1-A391-47AA-B5EA-CB3F0257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76736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€412,9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8ED8F-EE23-482D-AF84-0639F217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K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546DF-BCAB-4F55-8A2C-FDDFA99E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44009-5F61-4A58-BB10-7757D575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5731"/>
            <a:ext cx="1381125" cy="5786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9D6FE-D8DD-4A8F-AEF2-44C108E2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88556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+€13,5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29F65-4203-44D8-983C-FA340188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ΔK aus PD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C7396-6F96-4C2F-A32E-AB73838D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4B640-4962-4C71-8B27-DD667EDC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374"/>
            <a:ext cx="1381125" cy="1153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9A64F1-13BB-4026-B397-29E55377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14199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+€26,9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CEDA87-9478-49C2-8091-33C07BCC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ΔK aus LGD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3604A7-017A-4D1F-991A-17EAF83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3667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A52F4D"/>
                </a:solidFill>
                <a:latin typeface="Aptos Display"/>
                <a:ea typeface="Aptos Display"/>
                <a:cs typeface="Aptos Display"/>
              </a:rPr>
              <a:t>K Stress = €453,3 Mrd.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D7B33-F147-46A1-AB9D-D9A3B199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38275"/>
            <a:ext cx="3886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E476C3-D4CC-4275-A1DD-251FFF72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38275"/>
            <a:ext cx="388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C145A5-395F-4C4E-82F0-2C16CE4A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EXPECTED LOSS · VERÄNDERUNG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5C2C6-E8DC-4BC0-B924-F259E72E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907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+€21,0 Mrd.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426F4E-08B3-46CA-A7D7-B1B0999C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621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zusätzliche Kreditvorsorge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F44977-0CFE-4C84-A128-2C904B9A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14625"/>
            <a:ext cx="3886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2A5AF-0EE5-4F35-8A9C-DF67FCE5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14625"/>
            <a:ext cx="388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DF0F7-9A42-4740-AACC-20BA1B59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CREDIT RWA · VERÄNDERUNG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BB2EE-0803-461A-A647-C24204FE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670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+€505,1 Mrd.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FD5214-088E-489F-8C84-245D4FF2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385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Basel-IRB-Nennerwirkung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20AF17-0FB4-41CC-9365-156BB1C7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90975"/>
            <a:ext cx="3886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283AEC-8316-4B9F-9AC4-A8E8D3C1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90975"/>
            <a:ext cx="3886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66E012-5174-4FD2-A359-37A4D349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IRB-KAPITAL K · VERÄNDERUNG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19C630-BAE7-4AB3-A4F4-835A9646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+€40,4 Mrd.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9B34D1-570B-4555-86D7-D577DD33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148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+9,8 % gegenüber Baseline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E15B4E-C7CA-4BF4-BC5E-2651A659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8EED3"/>
          </a:solidFill>
          <a:ln xmlns:a="http://schemas.openxmlformats.org/drawingml/2006/main" w="9525">
            <a:solidFill>
              <a:srgbClr val="E4C96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D1E949-8FC7-49BF-B09A-4F14C2CB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81675"/>
            <a:ext cx="1090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Warum LGD dominiert: Der +200-bp-Zinsschock senkt Sicherheitenwerte und erhöht insbesondere die Downturn-LGD.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08D7D1-FCAB-473F-90A6-00BEEABF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Quelle: Basel-III-IRB / CRR Art. 153–155 · konkreter Modelllauf ΔBrent +0,50 / Δr10Y +2,0 pp</a:t>
            </a:r>
          </a:p>
        </p:txBody>
      </p:sp>
    </p:spTree>
    <p:extLst>
      <p:ext uri="{BB962C8B-B14F-4D97-AF65-F5344CB8AC3E}">
        <p14:creationId xmlns:p14="http://schemas.microsoft.com/office/powerpoint/2010/main" val="10826229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EB75F3-A3AF-4CF7-A055-010F1682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E2A9A-5FD6-4C40-AFA8-4A02608E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KAPITEL 2 · CET1-ERGEBNIS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7CBEA-642C-43B3-91EE-71E35BDA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191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Der kombinierte Schock senkt die aggregierte CET1-Quote um 4,15 Prozentpunkte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D06DC-59D0-4C7C-9745-148F16A2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Sovereign-Marktwertkanal dominiert den Zählerverlust; zusätzliche Kredit-RWA verstärken den Nennerdruck.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BBF84-CC48-4319-805E-EBAD665E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1CF32-4709-4299-84B9-E8A5ED0C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2505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DAA35-2534-47FB-8066-C91BC588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2505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7E4CE-1170-4643-910D-6920115F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CET1-QUOTE ·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EFC54-04F6-4F32-80DE-4C8521D7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15,17 %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0361E-C6BB-4DF1-873A-6ACE7721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0502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Top-10-Aggregat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26EFA-7DB0-49C0-8B61-CC4AF8CB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381125"/>
            <a:ext cx="2505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9AD95-F510-40AE-AECD-A3BA6218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381125"/>
            <a:ext cx="2505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4D76F-9200-439E-A576-7F716E1D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5240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CET1-QUOTE · STRESS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46692-C0D1-42B2-A106-E2927D08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7335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11,02 %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D9A32-1B60-433F-9A86-FE9A002B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0502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−4,15 Prozentpunkte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B6097-4C0C-4873-B311-6C2D2468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250507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4CB7D-535E-4EA7-A370-A7A9FD1D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25050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644671-7341-4CA1-91C6-5F67489B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240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CET1-KAPITAL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3635F3-C9D4-48BE-AF3E-42E6753B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335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€678 → €548 Mrd.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671754-88DD-4B14-A372-31CAF2EE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0502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−€129,7 Mrd.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076B7-B590-482E-A400-05058F8F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381125"/>
            <a:ext cx="32480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F270C-A352-492D-891A-93887BD4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381125"/>
            <a:ext cx="32480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0199E-2F04-4E9A-AA6B-6551B476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24000"/>
            <a:ext cx="2981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TOTAL RWA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3263E5-DCFF-488A-9E4F-3DB414E2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3355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€4.468 → €4.974 Mrd.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DD10F-38A1-4E0B-87E0-6B1E29B3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05025"/>
            <a:ext cx="2981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+€505,1 Mrd.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7CDCA9-C664-4E4D-80A6-9D65F1F0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38425"/>
            <a:ext cx="68580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4B5F67-A032-48FE-9F04-02D526EA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BEITRÄGE ZUM STRESSERGEBNIS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54341E-ABB0-49D2-AF7D-496697A3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76600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Kreditvorsorge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80AD94-9236-445F-B4BC-FBD21195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95650"/>
            <a:ext cx="4238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4AD4EE-5B61-48B7-9B62-73846EE5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95650"/>
            <a:ext cx="80919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772615-E7C8-4367-AE82-D82BD851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7660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−€21,0 Mrd.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15F080-14D9-41C7-9A98-1178F76F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Sovereign-MtM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6EC3B4-759F-4CCE-8204-903C91A3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00475"/>
            <a:ext cx="4238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DB0FE0-DAF2-4AD8-9F7D-F1F9AE1A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00475"/>
            <a:ext cx="418853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536941-A75A-42F0-A0A3-F843C5EB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−€108,7 Mrd.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2F62CE-AB09-43B7-9779-1EBC879D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2E3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62E3B"/>
                </a:solidFill>
                <a:latin typeface="Aptos"/>
                <a:ea typeface="Aptos"/>
                <a:cs typeface="Aptos"/>
              </a:rPr>
              <a:t>zusätzliche RWA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5E4728-2720-4276-81E0-9AC26F0B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305300"/>
            <a:ext cx="4238625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77E7E7-C755-493D-A96F-37F6328E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305300"/>
            <a:ext cx="411717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1EFAB7-56EC-4587-95DD-81A6AF41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86250"/>
            <a:ext cx="64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+€505,1 Mrd.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FA7A79-DDAE-4D34-A36F-94156F44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61912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FA4D80-ED29-4C5C-B108-1C8512AC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ZÄHLER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28DA4F-201A-420C-9546-70E738A7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863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CET1 −€129,7 Mrd.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5E15CF-D7C3-49BE-A303-8EB01DBA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149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BD0D9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BD0D9"/>
                </a:solidFill>
                <a:latin typeface="Aptos"/>
                <a:ea typeface="Aptos"/>
                <a:cs typeface="Aptos"/>
              </a:rPr>
              <a:t>NENNER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DAD2C2-CFC4-48E8-A79B-B16BF077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863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RWA +€505,1 Mrd.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A5BCD9-FED4-4E8D-A4DC-CE4D0C31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Der Marktwertkanal ist im Zähler der größte Einzelbeitrag; die Kredit-RWA wirken zusätzlich über den Nenner.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FD6C56-ACD3-45A7-8AC8-5C56D20E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38425"/>
            <a:ext cx="41338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1DFCE7-91EC-45CA-9344-490EFFB7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2892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NIEDRIGSTE CET1-QUOTEN NACH STRESS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D264C6-CA09-4590-90BC-A6A590BE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Société Générale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83A2F1-7665-4086-AD3A-F5476895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0A4797-283A-4110-BA1A-350569B9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71686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9E0BA7-C820-42A1-9313-AB3E9753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2099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7,13 %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072C40-BADC-4411-8D02-F1EFA021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Deutsche Bank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1C43E8-B593-414D-A194-F00CC8F5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0AD633-B30C-4B23-86B6-D0A54218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7239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B94382-BA67-4C40-AB4E-C2BBF065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6290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7,20 %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6BE26A-F39F-47FF-8383-CBED1FDA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BNP Paribas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8B1961-2D10-4E11-A12A-2F1EECCA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235C80-43F4-474C-8286-A2ADDC11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81137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CA9B304-47F2-4A14-B697-993D297E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0481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8,07 %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6785AE-BDB6-4D83-9881-3930B5A0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0487DC-04D1-475E-9182-0C0DF1B1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958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A5799E-67BC-48E8-9DC9-CB1B251A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95800"/>
            <a:ext cx="970227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0C7133C-A399-4128-B1A2-B20843A8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4672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B5D7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B5D7A"/>
                </a:solidFill>
                <a:latin typeface="Aptos"/>
                <a:ea typeface="Aptos"/>
                <a:cs typeface="Aptos"/>
              </a:rPr>
              <a:t>9,65 %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BECC19-CDB0-4933-971E-B23C07A2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958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Santander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A2ED3F-0DE5-499E-AA52-5E329216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14900"/>
            <a:ext cx="1809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4430D50-1917-44A3-A6A7-69F7FA50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14900"/>
            <a:ext cx="1055688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863E998-3BF5-4A05-9A9E-DF03DBB1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8863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10,50 %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639AE5-AB57-455E-9A9B-59A1A147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381625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CA6ADB-04FE-4ECB-B332-17BBDDE9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95925"/>
            <a:ext cx="809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Einordnung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8A3C54F-FE32-414A-96D7-DE6A4766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467350"/>
            <a:ext cx="2876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Alle Banken bleiben über 7,0 %; zwei Institute liegen jedoch nur knapp oberhalb des Pufferniveaus.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74DB736-A2D0-4FE1-BF4F-8814DB9A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65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Illustrativer Modellstress, keine regulatorische Prognose · Werte aus dem lokalen Modelllauf und EBA/Pillar-3-Daten</a:t>
            </a:r>
          </a:p>
        </p:txBody>
      </p:sp>
    </p:spTree>
    <p:extLst>
      <p:ext uri="{BB962C8B-B14F-4D97-AF65-F5344CB8AC3E}">
        <p14:creationId xmlns:p14="http://schemas.microsoft.com/office/powerpoint/2010/main" val="1871628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2026-06-18T12:33:59.2660000Z</dcterms:created>
  <dcterms:modified xsi:type="dcterms:W3CDTF">2026-06-18T12:33:59.2660000Z</dcterms:modified>
</coreProperties>
</file>