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88a2c1efe44a59" /><Relationship Type="http://schemas.openxmlformats.org/officeDocument/2006/relationships/extended-properties" Target="/docProps/app.xml" Id="Rd6bbf4ce163e4ba6" /><Relationship Type="http://schemas.openxmlformats.org/officeDocument/2006/relationships/officeDocument" Target="/ppt/presentation.xml" Id="R38c33b73f5a748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8b9405ffd64d32"/>
  </p:sldMasterIdLst>
  <p:notesMasterIdLst>
    <p:notesMasterId xmlns:r="http://schemas.openxmlformats.org/officeDocument/2006/relationships" r:id="Ra9412357a1c9410b"/>
  </p:notesMasterIdLst>
  <p:sldIdLst>
    <p:sldId xmlns:r="http://schemas.openxmlformats.org/officeDocument/2006/relationships" id="256" r:id="R54afd206c8544c68"/>
    <p:sldId xmlns:r="http://schemas.openxmlformats.org/officeDocument/2006/relationships" id="257" r:id="Ra9a1276e4ded404a"/>
    <p:sldId xmlns:r="http://schemas.openxmlformats.org/officeDocument/2006/relationships" id="258" r:id="R8ac6234d03bd4b6e"/>
    <p:sldId xmlns:r="http://schemas.openxmlformats.org/officeDocument/2006/relationships" id="259" r:id="Rc8b2f53486e9440d"/>
    <p:sldId xmlns:r="http://schemas.openxmlformats.org/officeDocument/2006/relationships" id="260" r:id="R7b4fb3097f9d47a3"/>
    <p:sldId xmlns:r="http://schemas.openxmlformats.org/officeDocument/2006/relationships" id="261" r:id="Rfef7a9e546cd4fb5"/>
    <p:sldId xmlns:r="http://schemas.openxmlformats.org/officeDocument/2006/relationships" id="262" r:id="Rcb3af85e8187419a"/>
    <p:sldId xmlns:r="http://schemas.openxmlformats.org/officeDocument/2006/relationships" id="263" r:id="R3aa7687d55fe4dcd"/>
    <p:sldId xmlns:r="http://schemas.openxmlformats.org/officeDocument/2006/relationships" id="264" r:id="Rb798e787208440b4"/>
    <p:sldId xmlns:r="http://schemas.openxmlformats.org/officeDocument/2006/relationships" id="265" r:id="R630623c1076049f7"/>
    <p:sldId xmlns:r="http://schemas.openxmlformats.org/officeDocument/2006/relationships" id="266" r:id="Rc1dbfbf8440145c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6b106704d54f09" /><Relationship Type="http://schemas.openxmlformats.org/officeDocument/2006/relationships/slideMaster" Target="/ppt/slideMasters/slideMaster1.xml" Id="Re18b9405ffd64d32" /><Relationship Type="http://schemas.openxmlformats.org/officeDocument/2006/relationships/notesMaster" Target="/ppt/notesMasters/notesMaster1.xml" Id="Ra9412357a1c9410b" /><Relationship Type="http://schemas.openxmlformats.org/officeDocument/2006/relationships/presProps" Target="/ppt/presProps.xml" Id="Rbce1b86807dc4add" /><Relationship Type="http://schemas.openxmlformats.org/officeDocument/2006/relationships/tableStyles" Target="/ppt/tableStyles.xml" Id="Ra9ce9ce82d944fc4" /><Relationship Type="http://schemas.openxmlformats.org/officeDocument/2006/relationships/slide" Target="/ppt/slides/slide1.xml" Id="R54afd206c8544c68" /><Relationship Type="http://schemas.openxmlformats.org/officeDocument/2006/relationships/slide" Target="/ppt/slides/slide2.xml" Id="Ra9a1276e4ded404a" /><Relationship Type="http://schemas.openxmlformats.org/officeDocument/2006/relationships/slide" Target="/ppt/slides/slide3.xml" Id="R8ac6234d03bd4b6e" /><Relationship Type="http://schemas.openxmlformats.org/officeDocument/2006/relationships/slide" Target="/ppt/slides/slide4.xml" Id="Rc8b2f53486e9440d" /><Relationship Type="http://schemas.openxmlformats.org/officeDocument/2006/relationships/slide" Target="/ppt/slides/slide5.xml" Id="R7b4fb3097f9d47a3" /><Relationship Type="http://schemas.openxmlformats.org/officeDocument/2006/relationships/slide" Target="/ppt/slides/slide6.xml" Id="Rfef7a9e546cd4fb5" /><Relationship Type="http://schemas.openxmlformats.org/officeDocument/2006/relationships/slide" Target="/ppt/slides/slide7.xml" Id="Rcb3af85e8187419a" /><Relationship Type="http://schemas.openxmlformats.org/officeDocument/2006/relationships/slide" Target="/ppt/slides/slide8.xml" Id="R3aa7687d55fe4dcd" /><Relationship Type="http://schemas.openxmlformats.org/officeDocument/2006/relationships/slide" Target="/ppt/slides/slide9.xml" Id="Rb798e787208440b4" /><Relationship Type="http://schemas.openxmlformats.org/officeDocument/2006/relationships/slide" Target="/ppt/slides/slide10.xml" Id="R630623c1076049f7" /><Relationship Type="http://schemas.openxmlformats.org/officeDocument/2006/relationships/slide" Target="/ppt/slides/slide11.xml" Id="Rc1dbfbf8440145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55ccc922254f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592881d1564089" /><Relationship Type="http://schemas.openxmlformats.org/officeDocument/2006/relationships/notesMaster" Target="/ppt/notesMasters/notesMaster1.xml" Id="R50491ab120974e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e75a64f0084c1e" /><Relationship Type="http://schemas.openxmlformats.org/officeDocument/2006/relationships/notesMaster" Target="/ppt/notesMasters/notesMaster1.xml" Id="Re594871fd8ee45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e1c146d0b84fb1" /><Relationship Type="http://schemas.openxmlformats.org/officeDocument/2006/relationships/notesMaster" Target="/ppt/notesMasters/notesMaster1.xml" Id="Rcbf65df79b1f4b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81005626894860" /><Relationship Type="http://schemas.openxmlformats.org/officeDocument/2006/relationships/notesMaster" Target="/ppt/notesMasters/notesMaster1.xml" Id="Rf0ab327099bb44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8ba12af72a47f3" /><Relationship Type="http://schemas.openxmlformats.org/officeDocument/2006/relationships/notesMaster" Target="/ppt/notesMasters/notesMaster1.xml" Id="Rcf7d5cedf07d49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eba44f5ffa44f5" /><Relationship Type="http://schemas.openxmlformats.org/officeDocument/2006/relationships/notesMaster" Target="/ppt/notesMasters/notesMaster1.xml" Id="Rf1ddd6e26c8247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9c8b003038454b" /><Relationship Type="http://schemas.openxmlformats.org/officeDocument/2006/relationships/notesMaster" Target="/ppt/notesMasters/notesMaster1.xml" Id="R69f9a801af5f42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2dff47306e4259" /><Relationship Type="http://schemas.openxmlformats.org/officeDocument/2006/relationships/notesMaster" Target="/ppt/notesMasters/notesMaster1.xml" Id="R7439b0c14a604b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286e704dd24e4b" /><Relationship Type="http://schemas.openxmlformats.org/officeDocument/2006/relationships/notesMaster" Target="/ppt/notesMasters/notesMaster1.xml" Id="R86a3505095ae40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3f3c301f1e446d" /><Relationship Type="http://schemas.openxmlformats.org/officeDocument/2006/relationships/notesMaster" Target="/ppt/notesMasters/notesMaster1.xml" Id="Rc715e02d1a6f45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12a202dbeb40a5" /><Relationship Type="http://schemas.openxmlformats.org/officeDocument/2006/relationships/notesMaster" Target="/ppt/notesMasters/notesMaster1.xml" Id="R6b5e35aae52c4c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18c39da88f49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c35973909e4457" /><Relationship Type="http://schemas.openxmlformats.org/officeDocument/2006/relationships/slideLayout" Target="/ppt/slideLayouts/slideLayout1.xml" Id="Rd000ae3318314f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00ae3318314f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c4108f5be4300" /><Relationship Type="http://schemas.openxmlformats.org/officeDocument/2006/relationships/notesSlide" Target="/ppt/notesSlides/notesSlide1.xml" Id="R98811589f4f84b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43f162d0f41ec" /><Relationship Type="http://schemas.openxmlformats.org/officeDocument/2006/relationships/notesSlide" Target="/ppt/notesSlides/notesSlide2.xml" Id="Re8e309e05df540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f5f9e42a54c52" /><Relationship Type="http://schemas.openxmlformats.org/officeDocument/2006/relationships/notesSlide" Target="/ppt/notesSlides/notesSlide3.xml" Id="R64478c9c76c04b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800b7232f4d28" /><Relationship Type="http://schemas.openxmlformats.org/officeDocument/2006/relationships/notesSlide" Target="/ppt/notesSlides/notesSlide4.xml" Id="R648af1bdeb8e4b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1d9c3722a4faa" /><Relationship Type="http://schemas.openxmlformats.org/officeDocument/2006/relationships/notesSlide" Target="/ppt/notesSlides/notesSlide5.xml" Id="R41737311da5a44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c699646914b9d" /><Relationship Type="http://schemas.openxmlformats.org/officeDocument/2006/relationships/notesSlide" Target="/ppt/notesSlides/notesSlide6.xml" Id="R47b2e9e0954844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1cbc08f82416d" /><Relationship Type="http://schemas.openxmlformats.org/officeDocument/2006/relationships/notesSlide" Target="/ppt/notesSlides/notesSlide7.xml" Id="R4c2927c97fc348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7a40fd2464d20" /><Relationship Type="http://schemas.openxmlformats.org/officeDocument/2006/relationships/notesSlide" Target="/ppt/notesSlides/notesSlide8.xml" Id="R1bd157066f4945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b1501d29344d2" /><Relationship Type="http://schemas.openxmlformats.org/officeDocument/2006/relationships/notesSlide" Target="/ppt/notesSlides/notesSlide9.xml" Id="R4f7c8cde4dcf41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55c1316c14c33" /><Relationship Type="http://schemas.openxmlformats.org/officeDocument/2006/relationships/notesSlide" Target="/ppt/notesSlides/notesSlide10.xml" Id="R777e1fafbe2a46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84bed9b76442d" /><Relationship Type="http://schemas.openxmlformats.org/officeDocument/2006/relationships/notesSlide" Target="/ppt/notesSlides/notesSlide11.xml" Id="Ra091e314dcfb48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E236AD-77CF-41F6-BCFE-A498DD0A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A2D69-0A48-402D-8D7D-478FE2EB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GRUNDLAGEN · VOM KREDITRISIKO ZUR CET1-QUOTE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A64A2-2BDC-49A4-8A38-5F97B0D4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Drei einfache Formeln verbinden Kreditrisiko und unsere Zielgröße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AACE6-4A3E-4408-850A-C48D07A0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Eingabewerte stammen aus Pillar 3 und EBA-Daten; regulatorische Faktoren wie 12,5 sind durch Basel III fest vorgegeben.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DA135-1605-42D2-B17D-4A92315E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0AF0C-2438-4136-8AD9-230D2168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DE3BC-A103-423B-A6A0-6E4E27E6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100012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FE497-93DC-4141-9D63-BB7C42B9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9239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 · EINGABEN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D1184-0880-4FC1-AF71-B4BBB8AF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Was geht in die Formeln ein?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E0F36-5ED9-446D-9979-E66A6973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E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D68B3-2EFE-40B2-A1DC-E524CDB7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05075"/>
            <a:ext cx="514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PD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606C21-A846-431B-801A-F30EF28F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2266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Wie wahrscheinlich ist ein Ausfall?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348C9-5B99-44AA-98E7-FC71CD4C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19375"/>
            <a:ext cx="2266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Pillar 3 EU-CR6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73066-26F0-4FD4-8C77-BB0E0F30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E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99B12F-489A-4E33-988C-3E25F4A1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33725"/>
            <a:ext cx="514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LGD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C97A5-B8F5-4289-B8C3-DD4E8941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2266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Wie viel verlieren wir bei einem Ausfall?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B76574-5F12-466F-8DAB-B8D95E1C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48025"/>
            <a:ext cx="2266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Pillar 3 EU-CR6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D69E74-BDAF-455B-BAAC-3A7AECD4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3E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AAB9C4-F291-4862-8C9B-1242A3B2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514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D4586A-6BC3-42D3-A542-71D27EF7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2266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Wie hoch ist die offene Forderung?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0EA462-AA84-4A56-B241-D5A8BC2A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76675"/>
            <a:ext cx="2266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EBA Transparency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1904C0-8B15-4B09-8A10-431CEBCE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576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Der Makroschock verändert PD und LGD; EAD bleibt die Bezugsgröße.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23EB7F-141F-4295-B74C-8A29BB59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ABC1D9-E0A8-4128-AD9B-B4185FDF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38275"/>
            <a:ext cx="34861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93C3C2-9CEA-465C-A481-70648D18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00200"/>
            <a:ext cx="12858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6D0490-1D94-40E0-A1F2-60572274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38300"/>
            <a:ext cx="1209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 · VERLUST &amp; RWA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6C0228-3FA2-4FAB-8DD2-ECD740D2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71675"/>
            <a:ext cx="295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Was wird berechnet?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84AE23-BBA4-4E0A-94A1-430815E3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3143250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E5E9"/>
          </a:solidFill>
          <a:ln xmlns:a="http://schemas.openxmlformats.org/drawingml/2006/main" w="9525">
            <a:solidFill>
              <a:srgbClr val="EBC8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120C90-9D85-45A3-896A-71D51104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05075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Erwarteter Verlust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96FECF-C78E-4D70-AF29-12A15883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43200"/>
            <a:ext cx="280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EL = PD × LGD × EAD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8382B6-1E8B-4326-8CB7-9A0BD146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19425"/>
            <a:ext cx="2809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ΔEL wird als zusätzliche Vorsorge vom CET1 abgezogen.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898C4B-52E7-4A63-94D7-0E53B449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62325"/>
            <a:ext cx="3143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3EFF4"/>
          </a:solidFill>
          <a:ln xmlns:a="http://schemas.openxmlformats.org/drawingml/2006/main" w="9525">
            <a:solidFill>
              <a:srgbClr val="BED6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550E64-601B-4872-BCE6-4CE811E3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86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Regulatorische Kredit-RWA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1D9AF3-CE7A-4089-80C1-2355680B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24275"/>
            <a:ext cx="280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RWA = K × 12,5 × EAD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47F0A1-CC24-438F-8CAA-23765E41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28098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K = Basel-Kapitalbedarf je € EAD – aus PD, LGD und Laufzeit.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215586-5D3B-4488-98C1-189F0BA5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10050"/>
            <a:ext cx="2809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12,5 = 1 ÷ 8 % · feste Basel-Umrechnung.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4E7415-7F4E-4A18-B14B-5BA6DE8A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146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FA8F29-8D32-4F4E-A8A8-00CBCF02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38275"/>
            <a:ext cx="35433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9525">
            <a:solidFill>
              <a:srgbClr val="051C2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13E5E2-7297-4C9F-BC89-73D8CF29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00200"/>
            <a:ext cx="11430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965006-9B53-4C63-98F3-9F481BDA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38300"/>
            <a:ext cx="106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 · ZIELGRÖSSE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E115D9-9C76-491F-A066-C0E2A413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71675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Wie entsteht die CET1-Quote?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948B75-9732-4439-954D-4607C3D0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288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BCD0D9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CD0D9"/>
                </a:solidFill>
                <a:latin typeface="Aptos"/>
                <a:ea typeface="Aptos"/>
                <a:cs typeface="Aptos"/>
              </a:rPr>
              <a:t>CET1 nach Stress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D46F4F-95E2-497B-9552-03E1041D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52725"/>
            <a:ext cx="304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CET1₀ − ΔEL + ΔFV Sovereigns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4C1CFC-48FB-4042-835A-F28A4CDB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24200"/>
            <a:ext cx="274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9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5A682A-6508-447E-8913-32216A33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7660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RWA₀ + ΔRWA Kreditbuch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5D6A1ED-17B6-4889-92E7-37613751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81425"/>
            <a:ext cx="3124200" cy="561975"/>
          </a:xfrm>
          <a:prstGeom xmlns:a="http://schemas.openxmlformats.org/drawingml/2006/main" prst="roundRect">
            <a:avLst>
              <a:gd name="adj" fmla="val 20339"/>
            </a:avLst>
          </a:prstGeom>
          <a:solidFill xmlns:a="http://schemas.openxmlformats.org/drawingml/2006/main">
            <a:srgbClr val="123B50"/>
          </a:solidFill>
          <a:ln xmlns:a="http://schemas.openxmlformats.org/drawingml/2006/main" w="9525">
            <a:solidFill>
              <a:srgbClr val="35556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E349CFA-FD75-4E0A-8E1E-2A8E52F2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76675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1BCC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1BCC8"/>
                </a:solidFill>
                <a:latin typeface="Aptos"/>
                <a:ea typeface="Aptos"/>
                <a:cs typeface="Aptos"/>
              </a:rPr>
              <a:t>Zähler sinkt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A5A6E2-62E7-455D-805B-2B9BBE04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76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durch Vorsorge und Sovereign-Verluste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25B834-AB4E-48C2-8E0B-59A3FC55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05275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9D6D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9D6DF"/>
                </a:solidFill>
                <a:latin typeface="Aptos"/>
                <a:ea typeface="Aptos"/>
                <a:cs typeface="Aptos"/>
              </a:rPr>
              <a:t>Nenner steigt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6AA768-77A8-41AD-8B31-4BAB37B1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052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durch zusätzliche Kredit-RWA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E032F69-4D11-44C3-968C-9066A444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67275"/>
            <a:ext cx="1127760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543B5B-852A-4E11-A5DA-0D124CB2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38725"/>
            <a:ext cx="266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WOHER KOMMEN FORMELN UND WERTE?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9E44B97-44DA-40DA-9459-18355393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14950"/>
            <a:ext cx="257175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28A5233-4CFA-4C95-92C7-AC8EB008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14950"/>
            <a:ext cx="47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EE70BC3-18C0-4257-A0DE-37244ED7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228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PD / LGD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7C76C1-5650-4741-96DC-B157D330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Banken melden diese Werte in Pillar 3 EU-CR6.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E686CD-0E4F-4C71-AAA8-253E4F53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314950"/>
            <a:ext cx="257175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F43C7CD-BD62-48E4-B081-B9BDC502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314950"/>
            <a:ext cx="47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A09796D-6380-4696-B732-E0B930E9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29250"/>
            <a:ext cx="228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EAD / CET1 / RWA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76CF508-87BE-4839-AE8E-8D33A4E0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3880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Stammen aus der EBA Transparency Exercise.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4C72D32-B10F-416F-BA57-1E3844BE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314950"/>
            <a:ext cx="257175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B1B43B6-7D9D-4A0A-8BA5-A0BF540A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314950"/>
            <a:ext cx="47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50DB4BA-ABF8-4A43-82B6-D0C47223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29250"/>
            <a:ext cx="228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K und 12,5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A8097DA-8C9C-40B5-AAC7-E1934F47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63880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Basel III / CRR geben Formel und 8%-Umrechnung fest vor.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81F4A87-0965-4659-9099-D2E9AEAE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314950"/>
            <a:ext cx="257175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FB0A7EB-33F8-4075-BECD-15320F2C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314950"/>
            <a:ext cx="47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ED7D725-7BB1-4B4C-B82C-39EF6BCC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0"/>
            <a:ext cx="228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β / γ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7F3E9B5-2306-4CAA-8BE0-6AB3FB48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63880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Modellannahmen aus EBA-/ECB-Quellen; später transparent gezeigt.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02B516E-3E81-4085-9B6E-A7DD7FD1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Hinweis: transparenter 1-Jahres-Expected-Loss-Stress; kein vollständiges IFRS-9-Lifetime-ECL-Modell.</a:t>
            </a:r>
          </a:p>
        </p:txBody>
      </p:sp>
    </p:spTree>
    <p:extLst>
      <p:ext uri="{BB962C8B-B14F-4D97-AF65-F5344CB8AC3E}">
        <p14:creationId xmlns:p14="http://schemas.microsoft.com/office/powerpoint/2010/main" val="10836037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AAC1B8-0E13-40B4-BC0E-0BC793A6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2999D-8F68-484C-B19C-36056F2C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EINFÜHRUNG IN DAS MODELL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5D69E-6790-4019-869E-45F46CEA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Das Modell übersetzt zwei Makroschocks in eine belastbare CET1-Aussage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3523F-BE2F-4BAE-9A4E-92FA1DAA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Der Kern ist eine transparente Wirkungskette – von Marktvariablen über Risikoparameter bis zur Kapitalquote.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2FE9E-4A6C-48B4-873A-505D15BD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6826B-5205-485A-B962-244CF705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543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D2293-7F38-4037-B284-2793806A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MANAGEMENT-FRAGE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FA680-D2F2-4BEF-876F-53DEDC0D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Wie stark sinkt die harte Kernkapitalquote der zehn größten EU-IRB-Banken unter Ölpreis- und Zinsschocks?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67975-3DBB-412A-AE68-C525CBBF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23622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04769-99AE-47C7-A403-9F172A5C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900F0-A994-4209-AE58-92E0F3A7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905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5E62E-118E-4C5F-A3F3-13DFA018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514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872A7-4315-4780-8AD6-F7FDF98D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62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1 · Makrofaktoren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AFDBB2-33D8-4E45-A334-A1DF7ABF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86150"/>
            <a:ext cx="2038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ΔBrent</a:t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Ölpreis als Energie- und Inflationsschock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Δr 10Y</a:t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Zins als Refinanzierungs- und Bewertungsimpuls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5A6527-D3C2-4BA9-9604-8E6F176E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543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5DE3CC-74F3-48B4-8B4B-F947B7AE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14625"/>
            <a:ext cx="23622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3381C4-548B-45B6-AEE7-44773334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14625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BB8524-DD8E-4190-81C7-1DB4A768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38450"/>
            <a:ext cx="6477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3F3833-F124-4166-9BEF-D85BAAEF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571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A0E9D3-5EFF-4EC4-A71B-F1F1BBD6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62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2 · Transmission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7A87E4-1ED8-4B1A-BFC8-CEBD6FF1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86150"/>
            <a:ext cx="2038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Sektorale β/γ-Matrix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ΔPD und ΔLGD je Exposure-Klasse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Keine pauschale Ein-Faktor-Logik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C36A49-C6A7-4DA3-B4FB-8C9B3499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543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5FB876-0C62-4F45-89DB-5C55E761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14625"/>
            <a:ext cx="23622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C89D3F-474A-407C-BA6C-DB16E8C9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14625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52AD68-93D2-4790-909C-EC27B3AA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6858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E0A876-8550-4876-BA92-2A4B6D7D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76550"/>
            <a:ext cx="609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KANÄLE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AC4CD1-0F45-48D3-A158-686961D2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162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3 · Risikokanäle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6960B7-0A16-4F5D-9335-5CE14789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486150"/>
            <a:ext cx="2038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Kreditbuch</a:t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Expected Loss + IRB-RWA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Sovereign-Buch</a:t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Duration-MtM + IFRS-9-Filter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4CB789-FD61-4520-855A-D5AE7199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43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43CC39-1424-47E6-A4F0-8AA82C75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14625"/>
            <a:ext cx="29337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23B50"/>
          </a:solidFill>
          <a:ln xmlns:a="http://schemas.openxmlformats.org/drawingml/2006/main" w="9525">
            <a:solidFill>
              <a:srgbClr val="123B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BA435C-A79A-4FDB-BA44-EAD861F4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14625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129AC7-EF8D-4B48-BB15-39EE1D7A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38450"/>
            <a:ext cx="6286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C39F70-7944-4BEF-95EE-089DB2A5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76550"/>
            <a:ext cx="552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6C3B32-300F-4082-8451-D4613C94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1623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 · CET1-Ergebnis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53D002-04E1-43D7-8B36-54658A71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486150"/>
            <a:ext cx="2609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990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Zähler: CET1 minus Vorsorge und Marktwertverluste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0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990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Nenner: RWA plus zusätzlicher Kredit-RWA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0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990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Output: Quote je Bank und im Aggregat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7C83B5-EFB0-432A-86B2-FCACE130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98D1BC-BCD5-4242-ACA5-649BBDD3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57800"/>
            <a:ext cx="1333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DESIGNPRINZIP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A962A9-85DC-4C01-B39F-F8B8BFBC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Keine Black Box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C75E11-F38F-4450-A534-5E5461C0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4864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Jeder Schritt besitzt eine Formel, eine Datenquelle und einen messbaren Beitrag zur finalen CET1-Bridge.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F43FD3-649E-4499-8343-462E11A1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Modell-Cockpit · Pillar 3 EU-CR6 · EBA Transparency · ICE Brent · Deutsche Bundesbank</a:t>
            </a:r>
          </a:p>
        </p:txBody>
      </p:sp>
    </p:spTree>
    <p:extLst>
      <p:ext uri="{BB962C8B-B14F-4D97-AF65-F5344CB8AC3E}">
        <p14:creationId xmlns:p14="http://schemas.microsoft.com/office/powerpoint/2010/main" val="12830084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50E9AB-F566-4340-86B6-3C0DBC3F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4825C-4CDF-485C-BEBA-D77B4FBC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ZIELGRÖSSE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2C668-747C-4039-B8B9-EDD1C1E2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CET1 fällt gleichzeitig über den Zähler und den RWA-Nenner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A1A9F-79A7-4DE9-9638-52D97200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Das Modell verbindet Kreditvorsorge, Marktwertverluste und zusätzliche RWA in einer konsistenten Kapitalgleichung.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1067C-2425-4AF9-8CE9-CE23E735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ACA9F-96E5-413A-9128-5D983805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95325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9525">
            <a:solidFill>
              <a:srgbClr val="051C2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ECFF0-BF80-46D4-8837-701044D5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CD0D9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CD0D9"/>
                </a:solidFill>
                <a:latin typeface="Aptos"/>
                <a:ea typeface="Aptos"/>
                <a:cs typeface="Aptos"/>
              </a:rPr>
              <a:t>GESTRESSTE CET1-QUOTE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858DD-5436-4B1B-A351-EF3C3046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24075"/>
            <a:ext cx="604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CET1₀  −  ΔEL Kreditbuch  +  ΔFV Sovereigns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60099-8627-4AFD-926A-DBBD5A1A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561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9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38085-9F5B-4BE7-B599-ECC94F59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00350"/>
            <a:ext cx="461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RWA₀  +  ΔRWA Kreditbuch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1D10A-B878-4E39-997A-DAB99F7B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04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8B6C2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E8B6C2"/>
                </a:solidFill>
                <a:latin typeface="Aptos"/>
                <a:ea typeface="Aptos"/>
                <a:cs typeface="Aptos"/>
              </a:rPr>
              <a:t>Zählerwirkung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03F6B-56B0-4584-9FE3-89EB5F5A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90900"/>
            <a:ext cx="4667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Vorsorge und Sovereign-MtM reduzieren hartes Kernkapital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DD89D-790B-45B4-BEE9-E04710AA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38275"/>
            <a:ext cx="401955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FC811B-B136-4895-B5E2-FBFDD551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38275"/>
            <a:ext cx="571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35EC8-464A-4BEA-B649-9099369A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62100"/>
            <a:ext cx="7905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66EC7D-0112-48D1-A3A2-B8D57183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00200"/>
            <a:ext cx="714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MECHANIK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538996-3A4C-4149-AD30-0E911D7C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8595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Warum beide Seiten zählen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BDB17F-C31B-4A8A-897F-3F8FB021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209800"/>
            <a:ext cx="36957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9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Höhere PD/LGD erhöhen den Expected Loss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9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Die Basel-IRB-Formel erhöht den Kapitalbedarf und die RWA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9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Steigende Zinsen senken den Fair Value marktwertbewerteter Staatsanleihen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9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Alle Effekte wirken gemeinsam auf die Quote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BEA7CE-4408-44C1-A929-E3E7A001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386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AUFSICHTLICHE ORIENTIERUNGSPUNKTE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7531A4-FE46-419C-8552-31ECC3C8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34956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5E4A53-1476-4E84-87C1-1A179B07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762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157B19-0674-49D2-9BFE-17A7FF1B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1487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A52F4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A52F4D"/>
                </a:solidFill>
                <a:latin typeface="Aptos Display"/>
                <a:ea typeface="Aptos Display"/>
                <a:cs typeface="Aptos Display"/>
              </a:rPr>
              <a:t>4,5 %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7320C3-3795-4F22-977A-FF539957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292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Pillar-1-Minimum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4854CD-A978-42CE-8D73-5D81BC69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34025"/>
            <a:ext cx="2952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harte Untergrenze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474092-D62A-4E5C-8AEC-CADFA805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552950"/>
            <a:ext cx="34956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70EAAA-FEAA-40E3-936A-FBD48A1E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552950"/>
            <a:ext cx="762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21F4F8-D4A9-49C5-A04B-CDA2B431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1487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D9A1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D9A124"/>
                </a:solidFill>
                <a:latin typeface="Aptos Display"/>
                <a:ea typeface="Aptos Display"/>
                <a:cs typeface="Aptos Display"/>
              </a:rPr>
              <a:t>7,0 %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9BC58F-C4BF-4B67-9AEF-6192DE7B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292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inkl. Kapitalerhaltungspuffer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590180-D095-4347-ACFC-AB9BF6D9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534025"/>
            <a:ext cx="2952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Ausschüttungen unter Druck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417823-B219-49CF-A4E9-48411A19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52950"/>
            <a:ext cx="34956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293B16-2837-4FA7-890F-8BB2C3B8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52950"/>
            <a:ext cx="762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109992-C51F-47AD-B8FC-02CC8877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71487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5D7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5D7A"/>
                </a:solidFill>
                <a:latin typeface="Aptos Display"/>
                <a:ea typeface="Aptos Display"/>
                <a:cs typeface="Aptos Display"/>
              </a:rPr>
              <a:t>8,0 %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B03F9D-5053-4D65-9871-6E44BC95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2292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typischer SREP-Orientierungswert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0E4FA9-B751-455E-A318-84C54863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534025"/>
            <a:ext cx="2952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institutsspezifischer Puffer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907CBE-E7AD-4C82-A2A9-E580E896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Basel III / CRR · Modell-Cockpit · Schwellen dienen der Einordnung, nicht als bankspezifische SREP-Prognose</a:t>
            </a:r>
          </a:p>
        </p:txBody>
      </p:sp>
    </p:spTree>
    <p:extLst>
      <p:ext uri="{BB962C8B-B14F-4D97-AF65-F5344CB8AC3E}">
        <p14:creationId xmlns:p14="http://schemas.microsoft.com/office/powerpoint/2010/main" val="3868293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DDA06C-4615-4D90-BBC9-944BAEB5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F6850-A5C8-4EC9-A1CB-60453294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DATENBASIS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2AF26-7958-459F-9F06-B7AA2032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Ein konsistenter Top-10-Datensatz verbindet 56 % der EU-IRB-EAD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0C028-DE19-4FA7-B8BB-0D808A99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Bankparameter stammen aus regulatorischen Veröffentlichungen; Marktvariablen liefern die dynamischen Stressimpulse.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64214-9691-42D7-BE72-2A2AC881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232D7-F932-4BDC-8BD6-0EADB8CA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3638550" cy="45148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C5698-97AB-4EF3-A78B-94873A58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BANKENFILTER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B4015-8562-4853-ADC9-9078EFFA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32575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0D8DF-C192-40D1-BAA3-E9B955E2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3105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120 EBA-Banken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92C74-BC8C-4744-B1F7-B8500BDB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90800"/>
            <a:ext cx="2895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0D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718E4-C11E-465F-942C-711B3EC3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05100"/>
            <a:ext cx="2743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67 IRB-Banken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29024-A8D9-4B9B-97C0-2CA43975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2533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AFC8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369DD-6DB1-4CE8-BF8C-44BCF3B4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57550"/>
            <a:ext cx="238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10 kuratierte Top-Banken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C1F94-79AF-48D3-A79D-35892337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95700"/>
            <a:ext cx="21717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8A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9AA3F3-46C7-4D39-BB9B-86B26A57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810000"/>
            <a:ext cx="2019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Einheitlicher Audit-Trail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AA11A-0DF3-4D4C-92EC-13AD1232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19600"/>
            <a:ext cx="2552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A4B6A4-0C97-486B-A7FD-3BCF9BDB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72000"/>
            <a:ext cx="217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€8,28 tn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A183F4-F9C5-4207-A8DB-52A0D9C1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00625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DCE8E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CE8ED"/>
                </a:solidFill>
                <a:latin typeface="Aptos"/>
                <a:ea typeface="Aptos"/>
                <a:cs typeface="Aptos"/>
              </a:rPr>
              <a:t>IRB-EAD · 56 % Abdeckung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96FD3E-8E61-4F1A-BFE0-6A89718D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Filter entfernt Nicht-IRB-Banken, Töchter und Dubletten.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47D0EB-2DC0-4B4F-A34E-DD5C8261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668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DATENBAUSTEINE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056FF8-1420-4DE3-9452-154E82AA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81175"/>
            <a:ext cx="34480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930D86-178A-410C-8C61-EB7FBD08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8117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9B578F-4A81-423D-9F8B-3D23776C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05000"/>
            <a:ext cx="7810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88407E-C223-4912-9EE6-B78F07D9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43100"/>
            <a:ext cx="70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SNAPSHOT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A68A89-EA66-4335-B805-CEE6AC8A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288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Pillar 3 · EU-CR6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CC003F-7A48-4CCD-9996-046FE951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552700"/>
            <a:ext cx="3124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PD und LGD je Bank und IRB-Klasse</a:t>
            </a:r>
          </a:p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31.12.2024 · 69/69 IRB-fähige Kombinationen direkt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5397C7-402A-4CA9-B0B2-2FDD04D7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81175"/>
            <a:ext cx="36766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10AEFB-57F0-4E0F-A06D-4E5AC3B0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8117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316475-F3C9-44C4-839A-3CB6E7CD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05000"/>
            <a:ext cx="7810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2E625A-3158-434C-B68B-35BEA8B8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43100"/>
            <a:ext cx="70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SNAPSHOT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C23C62-34AF-41B3-ACD3-26911BAE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2288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EBA Transparency 2025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C88990-D446-4F7C-A2A2-5BB7ACE8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55270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EAD · CET1 · RWA · Sovereign-Bestände</a:t>
            </a:r>
          </a:p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Bankindividueller IFRS-9-Split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959154-FAC0-4578-8644-C339A8B9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52775"/>
            <a:ext cx="34480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CF0AA7-0FE7-4D63-8A3C-5CBC9F21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5277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681D75-1D00-4D05-BE32-D09EA591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12001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C13D33-715C-42F6-98D6-87C0A5D0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14700"/>
            <a:ext cx="1123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 + HISTORIE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DBB1CD-176D-4F7A-BA1C-58311FB7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004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ICE Brent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E5187C-1A01-4086-A893-91FD864E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924300"/>
            <a:ext cx="3124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Aktueller Marktpreis und tägliche Historie</a:t>
            </a:r>
          </a:p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Input für Ölpreis- und Energiepreisschock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796B13-B5B1-4312-A790-D26C5743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52775"/>
            <a:ext cx="36766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DFB9B2-9127-48A1-961A-2B6E4766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5277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5194D7-5275-4652-B12A-0BD25F77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76600"/>
            <a:ext cx="12001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854CA2-6A7B-45D7-A8A8-3ED4E78C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14700"/>
            <a:ext cx="1123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 + HISTORIE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619327-D51E-48DC-AD73-45D45428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6004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Bundesbank Svensson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8E777E-B24D-4DC8-BAE6-F2DF34ED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92430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Offizielle Zero-Curve und tägliche Historie</a:t>
            </a:r>
          </a:p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Input für den 10-Jahres-Zinsschock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943398-70EC-41B5-B835-0C3B0B58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24375"/>
            <a:ext cx="7334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BBF073-7503-4CE7-B680-37368C64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24375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5F4BAF-00A4-4D32-96A0-F892B2F1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48200"/>
            <a:ext cx="7810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CF4B36-1C24-4243-A051-ABCA0D22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86300"/>
            <a:ext cx="70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METHODIK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ADC0E27-7DFA-4584-89AC-EB0124CA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972050"/>
            <a:ext cx="701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Methodik und Kalibrierung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D84449-B113-4812-BD8B-79D47250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295900"/>
            <a:ext cx="701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6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EBA-Stresstestmethodik · ECB Working Papers · Basel-IRB-Formel · IFRS 9</a:t>
            </a:r>
          </a:p>
          <a:p xmlns:a="http://schemas.openxmlformats.org/drawingml/2006/main">
            <a:pPr algn="l">
              <a:defRPr sz="96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6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Quellen liefern Richtung, relative Stärke und regulatorische Rechenlogik.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C167A5A-23CB-4AB5-B55A-891FE74E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Modell-Cockpit · Pillar 3 EU-CR6 · EBA Transparency · ICE Brent · Deutsche Bundesbank</a:t>
            </a:r>
          </a:p>
        </p:txBody>
      </p:sp>
    </p:spTree>
    <p:extLst>
      <p:ext uri="{BB962C8B-B14F-4D97-AF65-F5344CB8AC3E}">
        <p14:creationId xmlns:p14="http://schemas.microsoft.com/office/powerpoint/2010/main" val="10787297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5D6253-CAC2-4DE0-9AA3-92ECC319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7C3BC-37EA-4D6F-BE02-1F02F487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FAKTORAUSWAHL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B7D5F-2079-4789-A868-413F265B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Brent und 10Y-Zins adressieren unterschiedliche ökonomische Risiken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DBE45-CD74-4B04-9CC9-8ED9B9F4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Faktoren werden nicht aggregiert, weil sie verschiedene Ursachen, Bilanzkanäle und sektorale Gewinner bzw. Verlierer erzeugen.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DF58A-383E-4752-AFCC-20A7C263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20A09-C7CD-4C3B-B0ED-54794180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4762500" cy="3743325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920C1-6DFF-4450-964C-9E7F4517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57150" cy="3743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18540-1701-4176-A51D-2B3611C3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143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94B23-82BA-4BA3-A325-EB06BC64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38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FAKTOR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8BEF7-E668-4687-9281-A8A51BC2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4310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ΔBrent · Energie- und Angebotsschock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90894-8037-440A-8193-685B7238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4438650" cy="2886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Warum Brent?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Europäischer Referenzpreis für global gehandeltes Rohöl.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Wirkungskanäle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Energie- und Inputkosten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Headline-Inflation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verfügbares Haushaltseinkommen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Unternehmensmargen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Einheit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Log-Return: additiv über die Zeit und symmetrisch um null.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12EED-4E44-44C9-902A-BFC0DF0E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495425"/>
            <a:ext cx="4762500" cy="3743325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DA881-EAF1-4302-9C52-84E52A37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495425"/>
            <a:ext cx="57150" cy="3743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D9B4C-F454-463C-B6B6-EAAB72D8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19250"/>
            <a:ext cx="7143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60DCD-9416-4EAE-8C63-50BC795F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57350"/>
            <a:ext cx="638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FAKTOR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697478-21AD-408A-815A-2A74CE41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94310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Δr 10Y · Refinanzierungs- und Bewertungsimpuls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A85A07-19DC-474F-8117-EB891716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266950"/>
            <a:ext cx="4438650" cy="2886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Warum zehn Jahre?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Pricing-Anker für Hypotheken, Corporate Bonds und Sovereigns.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Wirkungskanäle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Kredit- und Refinanzierungskosten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Immobilienwerte und Recovery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Bond-Duration / Mark-to-Market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Net Interest Margin der Banken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Einheit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Prozentpunkte: +2,0 pp entsprechen +200 Basispunkten.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A6F15D-8AF2-437E-82BD-EEF33BF1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24100"/>
            <a:ext cx="1752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9525">
            <a:solidFill>
              <a:srgbClr val="051C2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35E6FD-C6CC-4589-BA67-F06DFD99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955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BBD0D9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BBD0D9"/>
                </a:solidFill>
                <a:latin typeface="Aptos"/>
                <a:ea typeface="Aptos"/>
                <a:cs typeface="Aptos"/>
              </a:rPr>
              <a:t>ZENTRALE THESE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439BB7-F117-4BA2-9BEB-3335F0A4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90825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ρ = +0,070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E442F1-EA45-495E-8E97-EC275940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480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nahezu unabhängige</a:t>
            </a:r>
          </a:p>
          <a:p xmlns:a="http://schemas.openxmlformats.org/drawingml/2006/main">
            <a:pPr algn="ctr">
              <a:defRPr sz="863" b="1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Tagesbewegungen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175562-5C08-4E3C-9797-3C1326CE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11277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3F1EF"/>
          </a:solidFill>
          <a:ln xmlns:a="http://schemas.openxmlformats.org/drawingml/2006/main" w="9525">
            <a:solidFill>
              <a:srgbClr val="B7D4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095D14-7CFE-4DA6-A811-B8BEBCBF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483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MODELLKONSEQUENZ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819166-83A5-48B8-9796-849D1D0B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629275"/>
            <a:ext cx="895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Zwei getrennte Slider und zwei direkte Faktorbeiträge – keine Verdichtung in einen systemischen Einzelfaktor.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EB88B2-F477-4C75-BDA6-A2A1B8A3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Modell-Cockpit · Pillar 3 EU-CR6 · EBA Transparency · ICE Brent · Deutsche Bundesbank</a:t>
            </a:r>
          </a:p>
        </p:txBody>
      </p:sp>
    </p:spTree>
    <p:extLst>
      <p:ext uri="{BB962C8B-B14F-4D97-AF65-F5344CB8AC3E}">
        <p14:creationId xmlns:p14="http://schemas.microsoft.com/office/powerpoint/2010/main" val="13113724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9700FA-50AE-409B-A209-A88BD1AF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5706F-C10F-4044-80B4-612468AB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TRANSMISSION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87AB0-DCA9-4D83-BACE-2D312CAA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Sektorale β/γ-Werte übersetzen Schocks in PD und LGD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203A1-B6DD-4E32-9AD0-67943C90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Jede Exposure-Klasse reagiert anders – inklusive positiver Zinswirkung auf Bank-Counterparties über den NIM-Kanal.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23BC1-0F6D-4AD8-B273-9937DF0A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C0185-CC59-4E4C-BF97-984E9E1C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9525">
            <a:solidFill>
              <a:srgbClr val="051C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E21E7-E9CB-4F8B-AF42-DDC807FD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ΔPDKlasse = βoil × ΔBrent + βrate × Δr10Y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D62E6-4287-47F3-8A2D-939AD993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621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ΔLGDKlasse = γoil × ΔBrent + γrate × Δr10Y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853D0-1556-4134-AA02-BA064972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E08F6-B5C6-461C-8AE4-BEE7031C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466975"/>
            <a:ext cx="2333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Exposure-Klasse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BECE44-4077-4639-8336-F9F0B04F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812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FA1BD6-06F5-405B-BB60-D59EE0D2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66975"/>
            <a:ext cx="1314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β Oil · PD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AEE6B-1489-4909-931D-08E825A0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454E9-049A-4A62-B5FE-201A5500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66975"/>
            <a:ext cx="1314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β Rate · PD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579208-E9BF-45B3-8415-FAF05648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EE7EC8-8BBF-4AEA-820B-DC97AAAE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66975"/>
            <a:ext cx="1314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γ Oil · LGD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F7ED2A-BA26-4E64-9075-4DE7A8DA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812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728E34-9140-4736-AED6-76CBA3AF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66975"/>
            <a:ext cx="1314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γ Rate · LGD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950074-AB6D-4D53-866C-FD505ED2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81250"/>
            <a:ext cx="2638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286E0C-45DA-4C2F-9F29-026A57A8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66975"/>
            <a:ext cx="25431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Ökonomisches Profil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0E3946-3C41-4197-8B57-8F0B8450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CE1410-777A-49FC-8BCC-7CAC785E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28925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Corporate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0E28E7-77F9-4BE8-AF5B-402A3818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051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843429-EBFB-4FB6-8AFD-1C96C492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289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+0,30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3429C4-CA70-454E-AC60-96D0B736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051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F7E7E0-C50C-49C4-BD75-5686DB7B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289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C3EE54-07CC-4801-888A-B1B3C41C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051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65F357-F995-45D8-909B-888CD01D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289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FB9D6E-0CE5-4BB4-B90B-4BAC5D5A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051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E40F91-8C59-4006-AC49-644CB04D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289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+1,00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AE0BE9-4370-417E-9964-CC722068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05100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31A523-EA95-4F57-B4FF-666713DA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28925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Kosten + Refinanzierung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64DC5F-DCE2-4945-B6F4-5D5366B4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BF4C15-2DC9-4D3A-967D-2F1303CA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SME Corporate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D82BB9-1954-4000-86F9-E6FAF058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146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C1B9EF-0908-4F8F-9DDD-CFC6875F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385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+0,60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9BBBC7-2768-464D-823C-488788A6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146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C3564D-0E7E-4AEA-8D61-50BC36D9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385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+0,40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7EBBA6-32BA-40DA-814F-7B05FAD8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146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F67CD4-AB24-45E2-8ABA-F10A5ACC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385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+0,45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F32A88-64AF-49B7-94FC-A1EF161F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146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BF358F-D238-411E-ADFB-96163172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385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+1,10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151B4F-9829-4B64-9358-D4E3A5FC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14675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D03CCD-EE68-45CD-AE66-51C2232E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385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rund 2× Corporate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AEB41B-E560-45F9-80CB-C8C46452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80029E-5308-4D83-ABDB-D75A4E5D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48075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Mortgage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9C6B11-8097-4897-8F36-F9253F09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242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65EFEB3-05D3-430B-B3B2-F611C152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480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5FC4C3-CB15-4528-80C4-BC0DF524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242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9FA9B5-0589-4B21-8738-1DC267ED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480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+0,30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AE7AC1A-2E75-4458-961E-DB36EB98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5242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06BEF6D-D6B9-4560-A853-3558CAE9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480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+0,10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697E7E8-6F6D-45F3-BB98-827DC2F7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5242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53744D3-8FE2-46DD-89AB-EE63E454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480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+1,50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2D7372-A4EB-43B2-BB57-221F37D8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24250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4F794A-29E2-4198-AE80-DADDD0A1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48075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zins- und collateral-dominiert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FFC5E02-289C-4E18-A69E-FD2F3D2B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3825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CF7388F-CC68-4BDA-976B-14FE5E25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57650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QRRE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1B5FCBE-78E1-4BCE-ADDF-FB3DF03F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3382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5BC5364-E509-4733-9838-60C15D09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576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+0,40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960338A-2191-42CE-A16A-6E1D1CD6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3382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A9F0910-EBB9-4303-B26D-D0003774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576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+0,15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6D63572-8CD8-4140-A0FA-138784B3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3382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E41F62C-E7CD-4C24-AB90-16FDA405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576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+0,30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B03258A-4054-4164-AE75-85E2C91A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3382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2E07066-4609-4351-B32B-FDA15A68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576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+0,50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D9BFC42-F520-4909-8CE7-2EE9D2DF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933825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DEB4FA8-F48E-4C2C-A734-137A6B5C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5765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Einkommen / Energieinflation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E5316B6-59FE-4FC8-983C-04AFB72A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E44F0F8-8A2A-44D5-A2F7-995583C4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67225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Other Retail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4A45B9B-40F0-4B55-BE6E-A87D6A6B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434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4A01FC7-73BC-4013-91FB-38DE6147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672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+0,30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6F03191-6BC3-4212-A01C-553439FE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434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95ED3C1-4DE4-4107-8089-32FAB11C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672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+0,25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1DAA47B-F31A-4B6A-8C7C-0CD6ADC8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434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C146712-5051-4A65-802B-92DC62B1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672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+0,25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D163018-D312-48A3-8698-52602B69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3434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B73094D-12BE-4208-899B-F6D63C07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672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+0,80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EA651FA-FD11-491C-BB8D-60FB97CC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43400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113F18A-30ED-4C61-BA34-B981E2E9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67225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gemischtes Haushaltsprofil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B232925-71F0-4B3D-825A-628F5E6A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2975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F3DE641-0086-4E7C-936C-219E6C91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Bank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7C30000-73AF-4681-AD2E-7952C85A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529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E0C032F-CA90-4A73-9AB3-78BDC6D6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768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+0,05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787651A-1129-4C57-A898-FF625F2D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7529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1E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A55A0C8-F072-4529-8472-7D5D1661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768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−0,05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0E471B7-51A8-45D4-9714-C62A0DC3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529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DA7B4A0-08A8-4483-B6BF-591B0762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768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+0,10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5F54552-4B8F-4FF6-94F1-61883703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529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2CFA23F-AAB3-4749-954D-20DAD3F0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768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+0,50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4152C20-EE70-42D6-81B6-760C97AF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752975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28F8452-A3AC-4F3F-9612-31B1F064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768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NIM-Effekt senkt PD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9D9EDCE-D572-4147-9248-2120BE1A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EB75DAC-7C43-4C8F-9F59-4C5B644B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86375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Sovereign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5FCDFB5-254F-4E36-98E0-2CF17253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625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D3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F5FEB76-4161-49AD-BC6F-FC26BD7A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863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0,00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8FB5A92-5346-4C09-8898-376A18D7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1625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D3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0105A7F-3F93-447C-AAD7-D80A6136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2863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0,00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2BB5C9D-1D40-4B05-A4CB-188B387A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1625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D3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B0768F3-763D-417A-B9D2-EBE3D8EB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863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0,00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9DC2778-A3E6-46BB-83E6-F1C6ABCF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1625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D3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9F1E70D-063F-40B3-B4AA-2D35BC28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863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0,00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421B1B7-CF0C-490A-AA6B-5DF6A9D8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162550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BF1BBCD-60C8-4CCD-9852-B6E661B9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86375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separater MtM-Kanal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E9F51DC-C936-4B22-B8D3-D65D9D78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43575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Lesebeispiel: +0,50 Brent und +2,0 pp Zins ergeben für Corporate ΔPD = +0,55 pp und ΔLGD = +2,25 pp.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E12BE78-9C27-4F4A-A047-835C35BD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EBA §2.4.2 · ECB WP 2897/3112 · ECB FSR · Modellmatrix in two_factor_stress.py</a:t>
            </a:r>
          </a:p>
        </p:txBody>
      </p:sp>
    </p:spTree>
    <p:extLst>
      <p:ext uri="{BB962C8B-B14F-4D97-AF65-F5344CB8AC3E}">
        <p14:creationId xmlns:p14="http://schemas.microsoft.com/office/powerpoint/2010/main" val="15737322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A38561-F7FB-49E9-85F1-BE7A9782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28056-6970-4789-B779-E537653F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FAKTOR-ANALYSE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18A61-CAA5-4F33-8FB5-5D3BEC79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Nur 0,49 % der täglichen Zinsbewegung werden durch Brent erklärt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93642-0E82-4CB6-A025-9ECBB723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empirische Analyse über fünf Jahre bestätigt: Beide Faktoren tragen weitgehend eigenständige Information.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116EC-A082-4AA0-88AA-2C63B859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B95C7-2EF7-4770-A70A-705F1509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076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D233C5-5C63-4865-9C7B-903C927F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769EA-7259-4FEC-B46D-F0D5C592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BEOBACHTUNGEN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D7562-6C28-4B60-AD3A-070645C7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1.242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48D34-D7A8-40C9-AC3F-00C7A728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gemeinsame Handelstage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8CB4A9-0B5C-4D9C-9781-8C7157F2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428750"/>
            <a:ext cx="2076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F8E74-F5CD-4E8F-AF6F-29F8EB3D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42875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0CE1EA-FF74-4C9B-A51F-28AC08F8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PEARSON 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8D8D3-529B-4317-ACA0-CCDEE6E0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81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+0,070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C21AA-C8E3-44AC-B296-A6A2B552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52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95%-KI +0,014 bis +0,125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CCA3C-A3D4-4F11-8B0D-ED701111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28750"/>
            <a:ext cx="2076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2B3796-B26B-4BE3-86C4-04EA8CDB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2875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E385AA-316B-4D13-9886-31149DD8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571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SPEARMAN 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96943B-710D-41CE-9A8C-2A4869BD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81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+0,084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426D06-EBCD-4A95-BB7A-14A5E0EF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52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robust gegen Ausreißer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CFE5FE-B384-43B5-AA11-EBADDCA9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28750"/>
            <a:ext cx="2076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00B93E-ADBD-46F6-966C-8B57E701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2875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04DA3B-1E00-4390-A23E-29069758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571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OLS 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E65DEC-B4F4-41F4-85E0-41FE95B1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81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+0,160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3B4368-5606-411E-B814-8730AC59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52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t = 2,47 · p = 0,014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B219FD-F6E5-4FB8-8993-2111ACE4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28750"/>
            <a:ext cx="2076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0D0BBD-2939-4518-A1D1-68F02B61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2875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28EE23-76BA-4E07-AAB8-42C352EE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571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OLS R²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EBEC44-AE23-409C-A8AC-EB332AA7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81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0,49 %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B3138E-7191-47D8-AD7B-E8D339CE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52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erklärte Varianz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EFD140-1044-4032-8594-F27219D5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7096125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7D76DC-C726-4283-B3A7-0D9F912F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STREUDIAGRAMM · TAGESVERÄNDERUNGEN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8F428C-11AD-4778-83F9-80E47A11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5953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926FA6-9EFB-489B-80B3-89A7328F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0040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430767-1DA5-4255-A125-A6C5B385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114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2744E0-DCAA-4B02-ACF8-0EEAACC8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95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661BB4-E420-4C6B-AC3E-20340218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14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2AF3DA-7217-4355-A1C7-792C24D4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57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ED8DB7-81F5-49A4-B3C2-EB4BFA2A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48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1CD06F-1B6E-4C2F-B8C1-AA138BFC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91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7523C0-6BE4-43AA-A712-8E345E9E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790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C36F05-4F2B-46C5-BC2E-E1EDB879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81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D48BA9-60A3-4D48-AF95-9E6EC5D5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010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B2ECE6-BB11-4564-95B0-3425F1BE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343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662785-C65E-48B8-953F-9AABDADB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8291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43DE5C-4AD3-487D-9923-29AC3FDD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71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727825-8BCC-4107-A0CC-0DB5917F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95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E35A67-5FB4-455D-99E6-54B7DC38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857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4BD1C00-974F-47C7-9A63-9DBAA385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95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54F83CE-D869-4900-86B0-9C2FC236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143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70A799-5DD5-4D70-BA30-1BE0B03F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38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9BA152D-10BD-4B31-B02B-A0098ACB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33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043F2B-9433-474B-850F-68DC8D1B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629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66E32F6-C087-4B03-B4BD-1F073B62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76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02A5F1-0482-4869-987A-88E64FD2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48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B7913EB-9005-45FF-BE36-AE2D7FC7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543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B4CDC75-FA07-43DB-97CB-0EE06D05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00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BD8BC57-DEFA-4362-83EC-69FDBAA1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719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614E411-8C98-4DD4-9E75-51801929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8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7F55A6-58E6-4849-A10C-1F70DDC2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105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F480878-326B-4333-BF90-A2DCF9AF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B716855-863A-4F34-8FA1-9D18FE09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71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14E1A68-FD3A-4488-AA6C-D472F96D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95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12CE516-A620-4BF3-AB07-D0BF6442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953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DE8DC56-AAE5-40F0-8059-C96F1071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19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DAA7583-A167-46D6-830E-34332B46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019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97B80C6-D147-40DB-A840-20E84D0C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24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17E7A3F-985D-4817-AC86-ACE9D2D7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724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F5B4EB7-4AC4-4594-BA45-E2573D6C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0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16E6A47-FFEB-42CE-A8B0-53F15B78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00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84C1A17-9BBC-4701-8458-7F7C75E2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991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CCBF6FA-23A9-46C2-9E20-974D25C8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857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FB6730A-63E4-470B-A215-2B919163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95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9CE2F3C-AB5B-4249-B19C-C2F18ADE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29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0A744FF-8ACF-4CE4-AEA7-DF61AE47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57675"/>
            <a:ext cx="595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38DC7FA-1431-4037-AA3E-CC1E4A60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530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ΔBrent · täglicher Log-Return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31D2EBB-F82E-4AA9-8351-9B27A68B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005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Δr 10Y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26CE7F4-B819-4202-BA24-B506685E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009900"/>
            <a:ext cx="17145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C07D510-106A-4868-A658-190406D2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048000"/>
            <a:ext cx="1638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nahezu flache OLS-Linie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2000425-00A7-4459-9D1A-DD73C5CE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86050"/>
            <a:ext cx="3876675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9E831A0-C100-4C3C-8F29-B32D787F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8605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4F6A774-86F6-408E-BFD7-7CE4F39D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809875"/>
            <a:ext cx="5524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B415C7C-DB07-444F-B71D-D90F7FAC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47975"/>
            <a:ext cx="47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FAZIT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0B42581-306C-42CB-8066-9AC4031B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33725"/>
            <a:ext cx="3552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Empirisches Urteil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211E864-47C2-4235-BBEB-E2E1C339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57575"/>
            <a:ext cx="35528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Korrelation ist statistisch messbar, aber ökonomisch sehr klein.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R² = 0,0049 bedeutet: 99,51 % der täglichen Zinsvarianz bleiben durch Brent unerklärt.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Konsequenz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Eine Aggregation würde Information vernichten und potenziell unterschiedliche sektorale Wirkungen verdecken.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2EA4A27-49C5-4B1D-BA6E-1AF1E495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Daten: ICE Brent + Deutsche Bundesbank Svensson · 22.04.2021–22.04.2026 · lokaler Modell-Cache</a:t>
            </a:r>
          </a:p>
        </p:txBody>
      </p:sp>
    </p:spTree>
    <p:extLst>
      <p:ext uri="{BB962C8B-B14F-4D97-AF65-F5344CB8AC3E}">
        <p14:creationId xmlns:p14="http://schemas.microsoft.com/office/powerpoint/2010/main" val="12291596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2B74B1-6283-4035-9679-418AF2A5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395CD-013F-4837-B303-7B52B187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STABILITÄT DER FAKTORBEZIEHUNG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6794A-6FCC-4AC1-A769-C61FBFCF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Die Faktorbeziehung schwankt – strukturell bleibt die Korrelation niedrig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9A10D-83F1-4C37-BDD3-95F19412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Ein explizites Zwei-Faktor-Modell kann temporäre Gleichläufe abbilden, ohne eine dauerhafte Abhängigkeit zu unterstellen.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DC1BD-C6E4-4172-B191-D6E57003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7ADE1-2E77-4C98-AFB2-DF83D5FE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7286625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862A2-CC62-4DCC-8C59-B070C5A0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2877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PEARSON-KORRELATION PRO KALENDERJAHR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39FF9-68B4-4C5A-A1EA-970A12A3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2DABC7-4762-4889-8477-5FD8BB07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8536"/>
            <a:ext cx="514350" cy="9101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1A9E6-DA96-4DDE-A4FD-21E5E03B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299936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+0,182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45E4D-BF80-46AA-8B47-6C1EB091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625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C1672-E7A7-43D4-B8FA-614586A3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38650"/>
            <a:ext cx="514350" cy="305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4ABD2-88F1-4628-AC54-C6383117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00838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-0,061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E33C21-4EA0-459A-BBFB-3EA365BC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1625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C1C41F-FB50-4C0A-BCE2-97683619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43588"/>
            <a:ext cx="514350" cy="4950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CDF77D-094B-4FBF-87B3-CB6DEEEA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714988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+0,099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B22E85-9B95-463E-865E-93E9FD7E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625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A86958-D57A-4614-9932-D884CD67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63528"/>
            <a:ext cx="514350" cy="9751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2F028E-574C-47AF-AB50-C9F390C6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234928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+0,195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35CCDE-83B8-451A-892C-36BE67A9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625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A58858-2FD8-45B3-AB2A-3D188AD6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08621"/>
            <a:ext cx="514350" cy="2300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9B6900-DB25-456A-A343-5B91BFE1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980021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+0,046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6DE335-F238-4407-B69A-C47664A1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1625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3A7F85-5907-45F3-8FF2-8CC2E366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28424"/>
            <a:ext cx="514350" cy="18102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334F9A-E3C3-4440-A049-9BC363DA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399824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+0,362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116935-1EA9-4DA7-AB6D-45E5AAA2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1625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2026*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45ABBD-C524-41E5-AAAE-6C7D354F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6572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* 2026 ist ein Teilsample bis 22. April und daher nicht direkt mit Volljahren vergleichbar.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D42BD6-D937-4573-892A-BD6A4C23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38275"/>
            <a:ext cx="36861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C91810-63FE-48B8-84B8-1CAEF2E4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38275"/>
            <a:ext cx="36861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92DDB0-8BEC-4A9A-B9A5-FD0009E9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581150"/>
            <a:ext cx="3419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ROLLING 252 TAGE · SPANNWEITE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3E8772-95AA-43CA-84F0-5E869519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790700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−0,175 bis +0,235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7B16EC-3425-4C2D-853B-88153913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62175"/>
            <a:ext cx="3419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temporäre negative und positive Regime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DA7FE2-91F5-4925-B813-39F998ED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33675"/>
            <a:ext cx="36861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725BCE-D421-4FEF-9D1D-E5EEB02B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33675"/>
            <a:ext cx="36861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18B5D0-67DE-4A42-81A8-14223C54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76550"/>
            <a:ext cx="3419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ROLLING-MITTEL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5AD66C-A4FA-492A-B6AE-2FA6D108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086100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+0,065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1F9861-CB26-4F72-AFEE-1DE015CA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457575"/>
            <a:ext cx="3419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nahe am Full-Sample-Wert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864058-6DAB-4668-8CE4-CA60A60D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29075"/>
            <a:ext cx="36861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58893A-601B-411A-B355-CA6DE6A3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29075"/>
            <a:ext cx="36861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C23E9C-5692-4B69-B574-E5AF4055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171950"/>
            <a:ext cx="3419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LETZTER CACHE-WERT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5F1735-4A3D-43C3-B28C-5EDBA6C6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81500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+0,198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063D8B-9F9D-4601-A84A-C01C95DE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52975"/>
            <a:ext cx="3419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22. April 2026 · erhöht, aber moderat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1F879B-B4FA-4274-924F-B1F9ACEE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7875"/>
            <a:ext cx="112776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3F1EF"/>
          </a:solidFill>
          <a:ln xmlns:a="http://schemas.openxmlformats.org/drawingml/2006/main" w="9525">
            <a:solidFill>
              <a:srgbClr val="B7D4D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75014A-7A8C-4438-B6D5-BE3F0210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72175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Interpretation: Zeitvariation ja – strukturelle Ein-Faktor-Abhängigkeit nein. Deshalb bleiben Brent und Zins getrennt steuerbar.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D4335C-47F1-4F44-B8BD-8049D5D7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factor_correlation.py · Rolling Window 252 Handelstage · lokale Markt- und Bundesbankdaten</a:t>
            </a:r>
          </a:p>
        </p:txBody>
      </p:sp>
    </p:spTree>
    <p:extLst>
      <p:ext uri="{BB962C8B-B14F-4D97-AF65-F5344CB8AC3E}">
        <p14:creationId xmlns:p14="http://schemas.microsoft.com/office/powerpoint/2010/main" val="8669822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A494B2-6073-4D5F-B4E5-0F8AA56F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AEE6D-7ACC-4666-99D2-C9B5CBCC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VOLLSTÄNDIGE SEGMENTREAKTION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81988-7058-4BC9-BF62-CABD01B0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Der gleiche Schock erzeugt sieben unterschiedliche PD- und LGD-Bewegungen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BC118-B5C1-4E9F-989F-0096FC5D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Korrekte direkte Klassenreaktionen für ΔBrent +0,50 log und Δr 10Y +2,0 pp – identisch über alle zehn Banken angewendet.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2B3E8-9C7B-4374-A9B2-E4A57170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6A061-026C-47A0-830F-03AC8D75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9525">
            <a:solidFill>
              <a:srgbClr val="051C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518C5-8A85-4A5B-8A8F-F9F41371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1912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76C55-F950-43A6-9889-868E7275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5429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SCHOCK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BA4EC-06F8-43CF-8CAE-31AD4C00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552575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ΔBrent = +0,50 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05C59-7B70-406E-AB48-A53CD480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762125"/>
            <a:ext cx="2143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BCD0D9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BCD0D9"/>
                </a:solidFill>
                <a:latin typeface="Aptos"/>
                <a:ea typeface="Aptos"/>
                <a:cs typeface="Aptos"/>
              </a:rPr>
              <a:t>≈ +65 % Ölpreis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4707E-6C29-4602-81E2-14BF5BF4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52575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Δr 10Y = +2,0 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2E335-5207-4C96-B5EC-5C2A64FA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762125"/>
            <a:ext cx="2143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BCD0D9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BCD0D9"/>
                </a:solidFill>
                <a:latin typeface="Aptos"/>
                <a:ea typeface="Aptos"/>
                <a:cs typeface="Aptos"/>
              </a:rPr>
              <a:t>= +200 Basispunkte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7F6606-5BBA-493F-989E-81C09612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95425"/>
            <a:ext cx="619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CD0D9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CD0D9"/>
                </a:solidFill>
                <a:latin typeface="Aptos"/>
                <a:ea typeface="Aptos"/>
                <a:cs typeface="Aptos"/>
              </a:rPr>
              <a:t>Formel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E89F2-12C3-4383-A79C-3E4466B5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495425"/>
            <a:ext cx="4048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ΔPD = βoil × 0,50 + βrate × 2,0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1B8FA0-9F36-4A02-AEA2-92936BBC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24025"/>
            <a:ext cx="4048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ΔLGD = γoil × 0,50 + γrate × 2,0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696FE-E77A-4833-94BC-3247694A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5429250" cy="3657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75E5DA-217F-4D79-91A0-22516DAC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98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ΔPD · AUSFALLWAHRSCHEINLICHKEIT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617BF1-3A43-47AC-9032-95178C88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Veränderung in Prozentpunkten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FFFDC2-D79B-401D-ADAB-2B94FF63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14650"/>
            <a:ext cx="952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5AFDDB-55D0-4B9A-BDDA-1903BEE2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SME Corporate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EB61B-DC37-4E4E-AB4A-B14CCB21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028950"/>
            <a:ext cx="28575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308BC2-9173-428B-BD1E-961B46C0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0099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+1,100 pp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47A29C-E8F5-4074-82BD-F88DC6C9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Mortgage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09E742-1DCA-4619-B1BF-88C81B95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390900"/>
            <a:ext cx="162358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316B4D-2652-47B4-9703-6431DFAA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655" y="33718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+0,625 pp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BBAE09-A5CB-4726-889C-7CF78029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Other Retail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A8269B-06D7-44D1-B81D-FAAED4C4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752850"/>
            <a:ext cx="1688523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906F21-6DBF-4410-95E2-E06DACDE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598" y="37338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+0,650 pp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04E127-CD36-415C-A4E7-3FE1BC4D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Corporate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EF25ED-87B1-4436-9D3E-20B46384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14800"/>
            <a:ext cx="14287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A10A9F-739F-4C4E-921C-6679CCCE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0957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+0,550 pp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D2109A-58A9-477F-853A-4DAA63E9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QRRE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C002E8-506B-4D08-9E6D-9E9EBBAA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476750"/>
            <a:ext cx="1298864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F036B5-4DD1-459F-ADEA-BCB2C0D5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2939" y="44577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+0,500 pp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046297-FBF3-46E1-8D8E-C31664FF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Bank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EB96F3-1489-460D-943D-1B408F48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3045" y="4838700"/>
            <a:ext cx="19483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E47887-5B5B-4A97-B7CC-EDD70CA7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8196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−0,075 pp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FDB781-827F-4141-8A25-7E3C9C1E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Sovereign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D308DC-D9A3-49E9-94FB-BD18FABC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219700"/>
            <a:ext cx="666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2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136825-2D90-4DED-9926-7CE3BCF0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181600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8B9296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8B9296"/>
                </a:solidFill>
                <a:latin typeface="Aptos"/>
                <a:ea typeface="Aptos"/>
                <a:cs typeface="Aptos"/>
              </a:rPr>
              <a:t>0,000 pp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B0C1EF-BBE5-4E14-A460-76216BD7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504825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13F57E-105D-4ED6-9ABC-D9F75B0A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38800"/>
            <a:ext cx="495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3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3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Corporate +0,550 pp · Other Retail +0,650 pp – unterschiedliche Klassen, beide Werte korrekt.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19AC57-387A-49E9-85DC-A299EE20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28850"/>
            <a:ext cx="5600700" cy="3657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D1B008-2FE6-4A7A-AF82-2062CA7E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98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ΔLGD · VERLUSTQUOTE BEI AUSFALL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5374C9-C1F5-421A-A044-9D1401E6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28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Veränderung in Prozentpunkten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BCB6E1-4DF8-4A67-A137-C3CBC27D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0990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SME Corporate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8A17EF-9BF2-4D0F-B3AD-19AE20CB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28950"/>
            <a:ext cx="309562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7777F5-2746-4C31-85F9-86EA5147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28950"/>
            <a:ext cx="2461276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A53351-435B-45EF-9B42-5139E448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0099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+2,425 pp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C3FFB9-1C18-4E9B-9ACB-E19932CF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Mortgage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E1F934-571A-4B48-BF82-8F2655EF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90900"/>
            <a:ext cx="309562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561B090-E21D-4151-8B2A-F0C60323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90900"/>
            <a:ext cx="309562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39B23B-C78D-4DFA-9CE7-0E815A49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3718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+3,050 pp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41BBC2C-063D-4A93-8EC6-212D82F8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3380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Other Retail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758549B-6CF0-4962-9317-B5A9ABC3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52850"/>
            <a:ext cx="309562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39CC8D7-684F-471C-9C27-9C89DE8A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52850"/>
            <a:ext cx="1750804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10E5758-D82F-4313-ABD2-0B4C9E39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7338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+1,725 pp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C1D07A-0220-4383-9549-AB194304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Corporate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BFBD582-5E95-4AE1-9D9D-C26B6F10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14800"/>
            <a:ext cx="309562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CD486B7-2BB9-4617-A3C9-6CE4FAA2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14800"/>
            <a:ext cx="2283658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1745A7F-A670-4331-9397-2171307E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0957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+2,250 pp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EBE2E1B-A21F-4AF5-9E99-49A84971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5770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QRRE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E58BD32-964A-456B-8D00-5D25511B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76750"/>
            <a:ext cx="309562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18FC468-1DF0-4DE0-8712-B8A4D9C3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76750"/>
            <a:ext cx="1167203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C95A977-13D3-4DB5-8127-5A462CAD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457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+1,150 pp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3CFBCB1-B8DF-4F1E-A2D1-E81A1375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1965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Bank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E811D5A-EE26-4F31-B152-3E6A6B1C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09562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26C2134-0142-4488-BA29-59B90AD1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1065707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6BB071B-FF75-4740-8C93-A5B607B5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8196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+1,050 pp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CCABBDD-87A5-4B61-AEF3-19D9CBD4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8160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Sovereign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911BFFD-831A-46EC-A9F2-B52F04A2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00650"/>
            <a:ext cx="309562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0D6FAD1-F552-48E3-B6ED-9804D860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219700"/>
            <a:ext cx="666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2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A1CB5A8-AFCD-4E50-B4D6-380B4DB3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51816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8B9296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8B9296"/>
                </a:solidFill>
                <a:latin typeface="Aptos"/>
                <a:ea typeface="Aptos"/>
                <a:cs typeface="Aptos"/>
              </a:rPr>
              <a:t>0,000 pp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02A40C8-457C-47A1-B847-5E9EA69B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19750"/>
            <a:ext cx="52197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E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A63CE94-F1BC-48E0-A2B9-F548A88F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38800"/>
            <a:ext cx="5105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3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3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Höchste LGD-Reaktion: Mortgage +3,050 pp durch den starken Zins- und Sicherheitenkanal.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549C199-F4B3-4E81-B9B6-EC1F502A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Alle sieben Werte direkt aus der aktiven β/γ-Matrix. Die additive Klassenverschiebung gilt je Bank; daher bleibt sie auch im Bankenaggregat gleich.</a:t>
            </a:r>
          </a:p>
        </p:txBody>
      </p:sp>
    </p:spTree>
    <p:extLst>
      <p:ext uri="{BB962C8B-B14F-4D97-AF65-F5344CB8AC3E}">
        <p14:creationId xmlns:p14="http://schemas.microsoft.com/office/powerpoint/2010/main" val="4202142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B0264B-2A11-4E46-9842-47906E8B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AB2A5-1011-4381-A9C2-377B3989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IRB-CAPITAL-BRIDGE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F28FF-5625-4768-9470-BB89D42D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LGD-Stress erklärt rund zwei Drittel des zusätzlichen IRB-Kapitalbedarfs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DAC62-EC56-4848-9E49-7F35A7BE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Gestresste PD und LGD werden nacheinander in die unveränderte Basel-IRB-Formel eingesetzt.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2C60E-35AB-46EE-8039-DA5648B3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B66FE-26B2-43A0-9E0F-8DE70650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7067550" cy="3867150"/>
          </a:xfrm>
          <a:prstGeom xmlns:a="http://schemas.openxmlformats.org/drawingml/2006/main" prst="roundRect">
            <a:avLst>
              <a:gd name="adj" fmla="val 29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ABC51-8977-4142-92CB-07FA9171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KAPITALBEDARF K · € MRD.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8F20B-7595-41EB-8737-97CD6714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EC4B5-6EA9-473D-B0AA-00105704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3436"/>
            <a:ext cx="1381125" cy="1880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A5E0E1-B7F5-4222-81AC-B37EF241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76736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€412,9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8E9A7-08AB-4E55-87F9-872D9381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K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00813C-25D3-4114-9632-0986B3B1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7662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48D31-543E-4F00-B4F3-53B8BBAA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45731"/>
            <a:ext cx="1381125" cy="5786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7595D-67EB-40FC-B952-66892FA6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88556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+€13,5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79B6F-EA0D-4814-ADC1-B5457B6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ΔK aus PD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7632F-C73A-4881-AFAC-C0059560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7662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C3741-3ABC-4C86-9D93-07DFBF26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71374"/>
            <a:ext cx="1381125" cy="11530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E85B47-B188-4D19-9119-42C3163E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14199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+€26,9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B15A0A-778A-442F-88DC-CBC5C47F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625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ΔK aus LGD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7CF65C-3998-4E61-873F-FFB0F99E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48250"/>
            <a:ext cx="3667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A52F4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A52F4D"/>
                </a:solidFill>
                <a:latin typeface="Aptos Display"/>
                <a:ea typeface="Aptos Display"/>
                <a:cs typeface="Aptos Display"/>
              </a:rPr>
              <a:t>K Stress = €453,3 Mrd.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61DEEF-D2AF-4831-83A0-93277156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38275"/>
            <a:ext cx="3886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82F963-7D91-4A29-BE09-EECE25A7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38275"/>
            <a:ext cx="3886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97E631-D033-4BAF-8769-4F8C68D9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EXPECTED LOSS · VERÄNDERUNG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E02205-34EE-420C-9659-4DF5CE9D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907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+€21,0 Mrd.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E27187-0DD5-4BB2-ABD6-154E3897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6217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zusätzliche Kreditvorsorge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1FB4AC-32DB-4A7A-8DE4-9134C951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14625"/>
            <a:ext cx="3886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05C082-40B6-43C2-9BA2-2CBDE4C0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14625"/>
            <a:ext cx="3886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809CDC-24F1-4F90-BC1C-B94FED7A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CREDIT RWA · VERÄNDERUNG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C2CFBA-4509-45E5-A82C-F4EAB2FB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670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+€505,1 Mrd.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2ABDE6-2B5D-4259-981F-5F780677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385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Basel-IRB-Nennerwirkung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08CA8C-71EA-4777-9CC3-247CD318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90975"/>
            <a:ext cx="3886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804C7F-DFC1-497A-8112-E6F92C2B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90975"/>
            <a:ext cx="3886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0A10CF-9570-4F8F-AC9F-22906517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IRB-KAPITAL K · VERÄNDERUNG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2662F7-E3EF-46C1-8049-C74BF053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+€40,4 Mrd.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D9F646-5FCC-4571-82F2-8DA8E72F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1487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+9,8 % gegenüber Baseline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70CA61-5C8E-475E-99C3-1815EFAB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8EED3"/>
          </a:solidFill>
          <a:ln xmlns:a="http://schemas.openxmlformats.org/drawingml/2006/main" w="9525">
            <a:solidFill>
              <a:srgbClr val="E4C96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5F71CA-55AC-41CA-8AD3-1971FE91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81675"/>
            <a:ext cx="10906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Warum LGD dominiert: Der +200-bp-Zinsschock senkt Sicherheitenwerte und erhöht insbesondere die Downturn-LGD.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2A3674-C057-4263-B48C-2579AC2F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Basel-III-IRB / CRR Art. 153–155 · konkreter Modelllauf ΔBrent +0,50 / Δr10Y +2,0 pp</a:t>
            </a:r>
          </a:p>
        </p:txBody>
      </p:sp>
    </p:spTree>
    <p:extLst>
      <p:ext uri="{BB962C8B-B14F-4D97-AF65-F5344CB8AC3E}">
        <p14:creationId xmlns:p14="http://schemas.microsoft.com/office/powerpoint/2010/main" val="7032209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928D35-B4DD-43EA-A858-88D669F2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86C4E-C2A3-4093-B53E-7CB28879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CET1-ERGEBNIS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6776F-2E7E-4DEB-98BD-BA7BF5E4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Der kombinierte Schock senkt die aggregierte CET1-Quote um 4,15 Prozentpunkte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25E53-A1F6-4DC0-B3FB-A3BE5440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Der Sovereign-Marktwertkanal dominiert den Zählerverlust; zusätzliche Kredit-RWA verstärken den Nennerdruck.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CDC90-0E19-433A-A68E-30607DCA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A3414-4702-4C6D-9CE6-BED5C207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25050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BF63E-C258-4266-9435-8F6DE3DF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25050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110E3-7510-4CC5-909A-970545FF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CET1-QUOTE ·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1419B-5ED5-46E8-9034-8ED0D86B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15,17 %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33CC3-351E-4744-A94D-B8424071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05025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Top-10-Aggregat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1AAB8-8A66-4983-A50A-C4F9F1E2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381125"/>
            <a:ext cx="25050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65250-DFAE-4100-AAC1-55ECF15C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381125"/>
            <a:ext cx="25050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E2663-9D9C-41E9-8B0C-E2A740AC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524000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CET1-QUOTE · STRESS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5FFC1-A28B-4615-A51A-6A973DB5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7335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11,02 %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ED883D-9F72-4AC9-BCEC-E98ACDDD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105025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−4,15 Prozentpunkte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73B00C-484D-43F2-BB43-CFFBEFAA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81125"/>
            <a:ext cx="25050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1EEBE-6230-434D-AB31-FA6265EB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81125"/>
            <a:ext cx="25050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367270-6515-48E6-A2FA-F8E65A7C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24000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CET1-KAPITAL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D5CB73-EDAD-449A-AA1A-F8AE339F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335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€678 → €548 Mrd.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8D9C33-F1E3-4207-8149-06347C6D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05025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−€129,7 Mrd.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883C1C-583C-4BA6-8652-C92B63CA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381125"/>
            <a:ext cx="32480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BCB88C-32DC-44D8-B326-498520E8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381125"/>
            <a:ext cx="32480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30AAB3-F547-4BFF-8294-8935CE7C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524000"/>
            <a:ext cx="2981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TOTAL RWA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B7ED20-1362-42AF-BED1-DBDFB519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33550"/>
            <a:ext cx="2981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€4.468 → €4.974 Mrd.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98BB03-3F03-4323-9FF7-95C70926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05025"/>
            <a:ext cx="2981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+€505,1 Mrd.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2AD3D5-0283-4C25-A550-F4C1814C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38425"/>
            <a:ext cx="685800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BD9056-9A15-4496-B6CC-F05905D1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289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BEITRÄGE ZUM STRESSERGEBNIS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0881AE-5684-426F-9644-8F91C7D9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76600"/>
            <a:ext cx="1219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Kreditvorsorge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7C9446-3B46-433B-B32E-5CD35E28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295650"/>
            <a:ext cx="42386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B5C011-CBD5-4CA1-824E-A9080127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295650"/>
            <a:ext cx="809192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986FD5-BA3C-4CC7-B057-0B69615A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76600"/>
            <a:ext cx="64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−€21,0 Mrd.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7A43FE-FD34-467F-90F0-AF7B5458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81425"/>
            <a:ext cx="1219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Sovereign-MtM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CEB7DF-2001-435C-A2B1-DEFEE9BC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800475"/>
            <a:ext cx="42386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3D577F-CFC7-413A-AA74-F7D63186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800475"/>
            <a:ext cx="4188532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89CD7B-A6C0-42F8-982F-84388D0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81425"/>
            <a:ext cx="64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−€108,7 Mrd.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7C541A-F433-4AE7-8EBF-1B64E8A2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219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zusätzliche RWA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89C3C8-5CA8-42D4-9BED-F3AC812D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305300"/>
            <a:ext cx="42386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9BB352-BCB3-43CB-B63C-E8272CF7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305300"/>
            <a:ext cx="4117172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1D35B3-A683-4275-A720-69D86CE5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286250"/>
            <a:ext cx="64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+€505,1 Mrd.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F8DAFD-8A3E-41DA-A640-4F41CCC7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61912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2ECDC0-C0DB-465D-AB4B-23A9BD0C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BD0D9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BD0D9"/>
                </a:solidFill>
                <a:latin typeface="Aptos"/>
                <a:ea typeface="Aptos"/>
                <a:cs typeface="Aptos"/>
              </a:rPr>
              <a:t>ZÄHLER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427DE0-F126-43E0-A2E5-1E13A8DB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863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CET1 −€129,7 Mrd.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67B60B-35F1-4F93-89A0-4D910500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149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BD0D9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BD0D9"/>
                </a:solidFill>
                <a:latin typeface="Aptos"/>
                <a:ea typeface="Aptos"/>
                <a:cs typeface="Aptos"/>
              </a:rPr>
              <a:t>NENNER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882BD7-E110-4E5F-A595-C965D134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863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RWA +€505,1 Mrd.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3E4D29-FDEE-49C8-9800-99D56728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Der Marktwertkanal ist im Zähler der größte Einzelbeitrag; die Kredit-RWA wirken zusätzlich über den Nenner.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D19ECF-5001-41DD-805D-A75F48C4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38425"/>
            <a:ext cx="413385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92E330-A583-4E92-A725-66E1CC54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2892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NIEDRIGSTE CET1-QUOTEN NACH STRESS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E70B64B-D94C-4CDA-AD1F-7FECA388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Société Générale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380553-A207-407A-9A30-DDBE6B04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809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668D83-DFCF-4556-B5AD-328094BD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716862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9610578-BE73-4197-9F94-4F681068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2099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7,13 %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73D9C6-0793-4DA9-AB04-9D03D0DA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Deutsche Bank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4CFAA7-7C13-4F59-859C-766455D6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57600"/>
            <a:ext cx="1809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CADEF37-26E1-4AFA-BC55-CA8906F9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57600"/>
            <a:ext cx="7239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F9E7D2F-5CAB-436E-8C91-DA234987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6290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7,20 %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890C341-1FF2-4104-9947-D1CEB2ED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576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BNP Paribas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EE8FD6-CBA8-44C8-98BD-BDE5A56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76700"/>
            <a:ext cx="1809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5DE916-D147-4333-8C1F-1C09108D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76700"/>
            <a:ext cx="811371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46158AC-B675-4D3B-BE2A-B718F8D0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048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8,07 %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361DB0A-580D-4076-AA0A-47F03213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ING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78C2D45-1120-409B-88D3-D1440355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95800"/>
            <a:ext cx="1809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FC2768E-1C71-4967-8572-BE218175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95800"/>
            <a:ext cx="970227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E5E64A4-7B02-43A1-8F78-126EC7EB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4672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9,65 %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0B72C71-51A5-46CB-92A1-9511EE9A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958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Santander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1CB5D38-F2E9-45FE-AFD4-C5697DC0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14900"/>
            <a:ext cx="1809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C1329B9-A917-449F-A177-5C8585E5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14900"/>
            <a:ext cx="1055688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0668AED-DCF9-4E80-940C-AC720CDF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8863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10,50 %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F2D8705-DDF4-440D-9CD9-70C0D01D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381625"/>
            <a:ext cx="373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EDF467F-1800-4F0C-98A5-C942D022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959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Einordnung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B4DC05E-4012-4C52-BBB5-B4FCB2D1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467350"/>
            <a:ext cx="2876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Alle Banken bleiben über 7,0 %; zwei Institute liegen jedoch nur knapp oberhalb des Pufferniveaus.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EE0A3ED-7A59-487F-8CD0-BEF66D95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Illustrativer Modellstress, keine regulatorische Prognose · Werte aus dem lokalen Modelllauf und EBA/Pillar-3-Daten</a:t>
            </a:r>
          </a:p>
        </p:txBody>
      </p:sp>
    </p:spTree>
    <p:extLst>
      <p:ext uri="{BB962C8B-B14F-4D97-AF65-F5344CB8AC3E}">
        <p14:creationId xmlns:p14="http://schemas.microsoft.com/office/powerpoint/2010/main" val="2178740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2026-06-18T12:23:20.1870000Z</dcterms:created>
  <dcterms:modified xsi:type="dcterms:W3CDTF">2026-06-18T12:23:20.1870000Z</dcterms:modified>
</coreProperties>
</file>