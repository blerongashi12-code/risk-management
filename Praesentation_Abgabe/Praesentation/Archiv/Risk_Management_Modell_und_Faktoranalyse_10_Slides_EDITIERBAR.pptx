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d4170f4de44040" /><Relationship Type="http://schemas.openxmlformats.org/officeDocument/2006/relationships/extended-properties" Target="/docProps/app.xml" Id="Rc0e011b7cfaa4355" /><Relationship Type="http://schemas.openxmlformats.org/officeDocument/2006/relationships/officeDocument" Target="/ppt/presentation.xml" Id="R9e764dd565ef41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bf1aa598f64d06"/>
  </p:sldMasterIdLst>
  <p:notesMasterIdLst>
    <p:notesMasterId xmlns:r="http://schemas.openxmlformats.org/officeDocument/2006/relationships" r:id="R77307ac93d8c41fa"/>
  </p:notesMasterIdLst>
  <p:sldIdLst>
    <p:sldId xmlns:r="http://schemas.openxmlformats.org/officeDocument/2006/relationships" id="256" r:id="R363b34156351470e"/>
    <p:sldId xmlns:r="http://schemas.openxmlformats.org/officeDocument/2006/relationships" id="257" r:id="R69eecefcca864ca3"/>
    <p:sldId xmlns:r="http://schemas.openxmlformats.org/officeDocument/2006/relationships" id="258" r:id="Rde52c9e53a4f468c"/>
    <p:sldId xmlns:r="http://schemas.openxmlformats.org/officeDocument/2006/relationships" id="259" r:id="Rf96104cc37bd485c"/>
    <p:sldId xmlns:r="http://schemas.openxmlformats.org/officeDocument/2006/relationships" id="260" r:id="R90908f84700942ba"/>
    <p:sldId xmlns:r="http://schemas.openxmlformats.org/officeDocument/2006/relationships" id="261" r:id="R851e26767e62416a"/>
    <p:sldId xmlns:r="http://schemas.openxmlformats.org/officeDocument/2006/relationships" id="262" r:id="R12fd1c9ec4f04352"/>
    <p:sldId xmlns:r="http://schemas.openxmlformats.org/officeDocument/2006/relationships" id="263" r:id="R08c2260728d147a7"/>
    <p:sldId xmlns:r="http://schemas.openxmlformats.org/officeDocument/2006/relationships" id="264" r:id="R17a1b4aa30a04a95"/>
    <p:sldId xmlns:r="http://schemas.openxmlformats.org/officeDocument/2006/relationships" id="265" r:id="R9f64633166b847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3974ae4b4e41a0" /><Relationship Type="http://schemas.openxmlformats.org/officeDocument/2006/relationships/slideMaster" Target="/ppt/slideMasters/slideMaster1.xml" Id="Rb7bf1aa598f64d06" /><Relationship Type="http://schemas.openxmlformats.org/officeDocument/2006/relationships/notesMaster" Target="/ppt/notesMasters/notesMaster1.xml" Id="R77307ac93d8c41fa" /><Relationship Type="http://schemas.openxmlformats.org/officeDocument/2006/relationships/presProps" Target="/ppt/presProps.xml" Id="R8bc13e7f3e2d48f6" /><Relationship Type="http://schemas.openxmlformats.org/officeDocument/2006/relationships/tableStyles" Target="/ppt/tableStyles.xml" Id="R5ee108031e3949f1" /><Relationship Type="http://schemas.openxmlformats.org/officeDocument/2006/relationships/slide" Target="/ppt/slides/slide1.xml" Id="R363b34156351470e" /><Relationship Type="http://schemas.openxmlformats.org/officeDocument/2006/relationships/slide" Target="/ppt/slides/slide2.xml" Id="R69eecefcca864ca3" /><Relationship Type="http://schemas.openxmlformats.org/officeDocument/2006/relationships/slide" Target="/ppt/slides/slide3.xml" Id="Rde52c9e53a4f468c" /><Relationship Type="http://schemas.openxmlformats.org/officeDocument/2006/relationships/slide" Target="/ppt/slides/slide4.xml" Id="Rf96104cc37bd485c" /><Relationship Type="http://schemas.openxmlformats.org/officeDocument/2006/relationships/slide" Target="/ppt/slides/slide5.xml" Id="R90908f84700942ba" /><Relationship Type="http://schemas.openxmlformats.org/officeDocument/2006/relationships/slide" Target="/ppt/slides/slide6.xml" Id="R851e26767e62416a" /><Relationship Type="http://schemas.openxmlformats.org/officeDocument/2006/relationships/slide" Target="/ppt/slides/slide7.xml" Id="R12fd1c9ec4f04352" /><Relationship Type="http://schemas.openxmlformats.org/officeDocument/2006/relationships/slide" Target="/ppt/slides/slide8.xml" Id="R08c2260728d147a7" /><Relationship Type="http://schemas.openxmlformats.org/officeDocument/2006/relationships/slide" Target="/ppt/slides/slide9.xml" Id="R17a1b4aa30a04a95" /><Relationship Type="http://schemas.openxmlformats.org/officeDocument/2006/relationships/slide" Target="/ppt/slides/slide10.xml" Id="R9f64633166b847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611eef5a0c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de9613b3944bcd" /><Relationship Type="http://schemas.openxmlformats.org/officeDocument/2006/relationships/notesMaster" Target="/ppt/notesMasters/notesMaster1.xml" Id="R4b9db5b0a95a4e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8ee1d3664d429b" /><Relationship Type="http://schemas.openxmlformats.org/officeDocument/2006/relationships/notesMaster" Target="/ppt/notesMasters/notesMaster1.xml" Id="R897ba7863fb746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ba2a0e952e4bad" /><Relationship Type="http://schemas.openxmlformats.org/officeDocument/2006/relationships/notesMaster" Target="/ppt/notesMasters/notesMaster1.xml" Id="R7e54f53a805143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02c60944814237" /><Relationship Type="http://schemas.openxmlformats.org/officeDocument/2006/relationships/notesMaster" Target="/ppt/notesMasters/notesMaster1.xml" Id="R29a6e6cf33f143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860eb41366476b" /><Relationship Type="http://schemas.openxmlformats.org/officeDocument/2006/relationships/notesMaster" Target="/ppt/notesMasters/notesMaster1.xml" Id="Rc3ef0867761c44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b29f311bff4aac" /><Relationship Type="http://schemas.openxmlformats.org/officeDocument/2006/relationships/notesMaster" Target="/ppt/notesMasters/notesMaster1.xml" Id="R15f25865535c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c7fd3c256449e5" /><Relationship Type="http://schemas.openxmlformats.org/officeDocument/2006/relationships/notesMaster" Target="/ppt/notesMasters/notesMaster1.xml" Id="Rc5ed769beefa47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b580a49b0e4585" /><Relationship Type="http://schemas.openxmlformats.org/officeDocument/2006/relationships/notesMaster" Target="/ppt/notesMasters/notesMaster1.xml" Id="R031b3acdd83a44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41c81970e24af1" /><Relationship Type="http://schemas.openxmlformats.org/officeDocument/2006/relationships/notesMaster" Target="/ppt/notesMasters/notesMaster1.xml" Id="Rf3389fa270eb4f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e704c863004d9d" /><Relationship Type="http://schemas.openxmlformats.org/officeDocument/2006/relationships/notesMaster" Target="/ppt/notesMasters/notesMaster1.xml" Id="Rf9f89d553ece45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b8d4be8504d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6589b54f547a4" /><Relationship Type="http://schemas.openxmlformats.org/officeDocument/2006/relationships/slideLayout" Target="/ppt/slideLayouts/slideLayout1.xml" Id="R2c56691f311d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6691f311d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59fc65a60465e" /><Relationship Type="http://schemas.openxmlformats.org/officeDocument/2006/relationships/notesSlide" Target="/ppt/notesSlides/notesSlide1.xml" Id="Re3423151cfab4b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aa2804f2a4d31" /><Relationship Type="http://schemas.openxmlformats.org/officeDocument/2006/relationships/notesSlide" Target="/ppt/notesSlides/notesSlide2.xml" Id="Rbefb93e12e8942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e79890abf4502" /><Relationship Type="http://schemas.openxmlformats.org/officeDocument/2006/relationships/notesSlide" Target="/ppt/notesSlides/notesSlide3.xml" Id="R39eb07938fb541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34d3a20774659" /><Relationship Type="http://schemas.openxmlformats.org/officeDocument/2006/relationships/notesSlide" Target="/ppt/notesSlides/notesSlide4.xml" Id="R31953d478d4447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e05b228244ffa" /><Relationship Type="http://schemas.openxmlformats.org/officeDocument/2006/relationships/notesSlide" Target="/ppt/notesSlides/notesSlide5.xml" Id="R636be397f7c54d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1f8386054cb8" /><Relationship Type="http://schemas.openxmlformats.org/officeDocument/2006/relationships/notesSlide" Target="/ppt/notesSlides/notesSlide6.xml" Id="Rf79494d147864a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74b2e04f64801" /><Relationship Type="http://schemas.openxmlformats.org/officeDocument/2006/relationships/notesSlide" Target="/ppt/notesSlides/notesSlide7.xml" Id="Rd703ead7f1a74f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e08eb72d74cff" /><Relationship Type="http://schemas.openxmlformats.org/officeDocument/2006/relationships/notesSlide" Target="/ppt/notesSlides/notesSlide8.xml" Id="R0870e05071c049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e98cf223844e3" /><Relationship Type="http://schemas.openxmlformats.org/officeDocument/2006/relationships/notesSlide" Target="/ppt/notesSlides/notesSlide9.xml" Id="R273795a6335147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91087239f452e" /><Relationship Type="http://schemas.openxmlformats.org/officeDocument/2006/relationships/notesSlide" Target="/ppt/notesSlides/notesSlide10.xml" Id="Rdc52a5bb1b02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C7596-A828-4AFC-8AFE-A4DCFC8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9511E-4BE5-4A31-93D9-16CF8782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EINFÜHRUNG IN DAS MODELL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FE341-C3FC-4251-9D62-2DFCD0D4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Das Modell übersetzt zwei Makroschocks in eine belastbare CET1-Aussage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FDCF1-9936-4AF3-A565-D568F3F3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Kern ist eine transparente Wirkungskette – von Marktvariablen über Risikoparameter bis zur Kapitalquote.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932DB-EE62-4BC1-948A-7F01364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FBB86-ED40-4E01-BF25-83951558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8B6F8-E895-4FCD-A700-77E9070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MANAGEMENT-FRAGE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35454-561D-4224-A20B-DD94662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Wie stark sinkt die harte Kernkapitalquote der zehn größten EU-IRB-Banken unter Ölpreis- und Zinsschocks?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F5C77-15F4-4418-8458-E89C0EA6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C51E4-501B-42C8-AACB-BC39B46A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6AC2D-031A-49DD-B4CF-1A65EDE3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905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1A6A7-608D-4963-819A-02B9C262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514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727F3-AD56-44AD-8739-DC60E8C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 · Makrofaktoren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19FD1-6BFE-4680-A19C-0B5E20F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Ölpreis als Energie- und Inflationsschock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Zins als Refinanzierungs- und Bewertungsimpuls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934B3-5B78-447B-85DE-AF73154B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A71C4-98AA-4987-81F4-9A9F7C7F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5EE6C-2C48-450D-89D1-C9B8684A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F8D6D-9649-4875-8D11-79F526F0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647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4C955-1E63-4380-8607-B0B41D91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61EE5-A578-49E3-A203-29030043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 · Transmission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3C7F8-FE41-4230-A2F6-B0504B2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Sektorale β/γ-Matrix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und ΔLGD je Exposure-Klasse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Keine pauschale Ein-Faktor-Logik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9FA47-46FB-4499-B2FC-A8A3CE2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AAB4A-8C9E-4FB5-B0F2-49FF3A5F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5B9FB-582A-4E38-9AD5-36941A58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40453-C8FD-4E95-92D1-22C11F8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685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CF53F-1000-4495-9316-D3027435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KANÄLE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BB4DE-D294-4993-A97A-77998B15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3 · Risikokanäle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CC39D-16D0-4EFE-AABB-22D6365E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Kreditbuch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 + IRB-RWA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Sovereign-Buch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Duration-MtM + IFRS-9-Filter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41C11-970C-4778-8421-CCD6C65C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BF64B-EF83-47F4-93DF-E35608F6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29337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123B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9A0002-AF2C-4C2F-8079-6F51AE58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253C32-49D9-496C-B723-820E864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6286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75208-AD8A-4699-B2E6-C1F5E166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1F264-2AB4-4147-8A71-A9A6DBD6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 · CET1-Ergebnis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84D7B-B664-4F1E-8BAE-F60D2DF0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86150"/>
            <a:ext cx="260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Zähler: CET1 minus Vorsorge und Marktwertverluste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Nenner: RWA plus zusätzlicher Kredit-RWA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Output: Quote je Bank und im Aggregat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7021EE-F0B3-49E9-9E62-9A24CBC8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51EB05-F6D7-46CF-B849-8F0C6E41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1333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DESIGNPRINZIP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3B1582-A1F0-4599-B8D9-BDE42A0F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Keine Black Box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45FEE-600D-44E6-8DC5-2D95B81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864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Jeder Schritt besitzt eine Formel, eine Datenquelle und einen messbaren Beitrag zur finalen CET1-Bridge.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F3043E-BF27-44B6-8AC5-5AD1807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45936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1573A-30AD-4171-BE13-CF07ADF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2E82E-DA82-4710-88D1-FBC5340E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ZIELGRÖSSE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27DE3-94D0-4569-A315-43B237BE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CET1 fällt gleichzeitig über den Zähler und den RWA-Nenner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A8793-3D88-4E55-B52D-BBA76A37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Das Modell verbindet Kreditvorsorge, Marktwertverluste und zusätzliche RWA in einer konsistenten Kapitalgleichung.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215F1-895B-4149-8924-005C9C4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E20AA-93C9-45BA-8BAA-E98409E1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9532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2A24F-FF29-4740-9F65-D9AAB605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GESTRESSTE CET1-QUOTE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631E7-A97C-48E0-8D8D-98C33FF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 −  ΔEL Kreditbuch  +  ΔFV Sovereigns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2C775-5FD4-4D87-B93F-5F07062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926A7-62A3-4AA5-B5E0-C2F014F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 +  ΔRWA Kreditbuch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AF06B-1127-46B7-8A99-941B4BDF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8B6C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E8B6C2"/>
                </a:solidFill>
                <a:latin typeface="Aptos"/>
                <a:ea typeface="Aptos"/>
                <a:cs typeface="Aptos"/>
              </a:rPr>
              <a:t>Zählerwirkung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E9ABF-2C64-45FA-8394-052908D2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466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Vorsorge und Sovereign-MtM reduzieren hartes Kernkapital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A8EDF-8060-4A29-8010-A53AF17E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40195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DC384-7C62-4A2C-9D2D-0D195DB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571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2F8A0-9A09-40CA-881D-F6D91778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62100"/>
            <a:ext cx="7905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9690-A10D-42D4-AA06-1677D83A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9AF95-88B5-43E4-A20E-BDFE761F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Warum beide Seiten zählen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5AECE-0711-4712-9A08-499E6136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09800"/>
            <a:ext cx="36957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Höhere PD/LGD erhöhen den Expected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Die Basel-IRB-Formel erhöht den Kapitalbedarf und die 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Steigende Zinsen senken den Fair Value marktwertbewerteter Staatsanleihen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Alle Effekte wirken gemeinsam auf die 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F9033-3C2B-42BD-B122-B07790E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AUFSICHTLICHE ORIENTIERUNGSPUNKTE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B5DC6-B360-4D9D-AEFE-0A9D8A33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D9DD0-6ECD-40E8-991B-26B64320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8F8FD-27CD-47A7-89CE-44254E6E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4,5 %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FE7D6-5DB8-4F3D-BD44-611B5A1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Pillar-1-Minimum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81539-97AB-4C16-A731-A025B5A6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harte Untergrenze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ABAF3-9B4B-4198-A5E3-C498B2DD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FD44B-948F-4FAB-8AF9-2B53A7D5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A51C2-3D7E-4394-A0F6-5908E9F8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rPr>
              <a:t>7,0 %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9DBA2-8979-4517-A84F-E554190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inkl. Kapitalerhaltungspuffer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2AB8F-A737-4005-BDC3-90E0DF8B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Ausschüttungen unter Druck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99711E-2543-444D-B5A2-371778C1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7DF9C-DB96-4031-9803-BF84CCA2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6E8F2-EFD2-4EF7-94F6-B21FDC54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rPr>
              <a:t>8,0 %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71496-326D-422E-8944-EE948D35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typischer SREP-Orientierungswert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99FB83-C207-4F77-A026-3B9D407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institutsspezifischer Puffer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94CA4C-4B08-4E0F-9167-6A446FB0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 III / CRR · Modell-Cockpit · Schwellen dienen der Einordnung, nicht als bankspezifische SREP-Prognose</a:t>
            </a:r>
          </a:p>
        </p:txBody>
      </p:sp>
    </p:spTree>
    <p:extLst>
      <p:ext uri="{BB962C8B-B14F-4D97-AF65-F5344CB8AC3E}">
        <p14:creationId xmlns:p14="http://schemas.microsoft.com/office/powerpoint/2010/main" val="998770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AC743-CFA0-4500-AF43-5039EA9C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8F90B-4E59-44DA-8F8C-104B340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DATENBASIS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E37F1-D1FC-4710-A648-DEBE377D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Ein konsistenter Top-10-Datensatz verbindet 56 % der EU-IRB-EAD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C4F0E-0616-4EB2-8D71-A28F43B0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Bankparameter stammen aus regulatorischen Veröffentlichungen; Marktvariablen liefern die dynamischen Stressimpulse.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9D1C9-3216-421F-AF64-1404F05F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18E4A-37F8-4F6F-B0C1-A1E9E6CB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3638550" cy="45148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9644A-CA37-4CE0-963A-A11AC96C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BANKENFILTER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43F15-4DA0-43DF-8CCC-38D702DE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25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8CB74-47B0-48B6-9B9E-7C3F332D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105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120 EBA-Banken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B436B-5DC7-49B5-97C9-2BB3A4CD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90800"/>
            <a:ext cx="2895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3120A-5D1B-4FD1-9B93-8C09515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05100"/>
            <a:ext cx="2743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67 IRB-Banken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D0377-EF40-4448-9004-31261BA0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533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AFC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1BB58-3191-4175-AA77-6B63474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 kuratierte Top-Banken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3469C-91C1-4D00-82AC-911C75A4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217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8A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726B6-DEB0-446D-84DC-C92E43BB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10000"/>
            <a:ext cx="2019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Einheitlicher Audit-Trail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D3B46-F9A0-4F6B-B039-DE8A0C40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552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7C667-B661-4FC3-94F9-55B3905B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3932E-DB11-4A7D-90BC-3CCE2D6A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IRB-EAD · 56 % Abdeckung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ED0AF-B045-4222-AF1C-F67617DA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Filter entfernt Nicht-IRB-Banken, Töchter und Dubletten.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341A0-26EE-48FD-919C-A58F2927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DATENBAUSTEINE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FC8EC-2186-4525-846A-FCFFF91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4E9E8-BA00-496C-B617-AEFE82BB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DDDBF-41FE-4743-BCBC-92DCE6DA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6B9F9-BCEB-40C1-B9F5-6C67CCF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548E0-1196-4098-9961-8D03F6AF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Pillar 3 · EU-CR6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04459-87FD-4B12-82B9-C37E4DEA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527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und LGD je Bank und IRB-Klasse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31.12.2024 · 69/69 IRB-fähige Kombinationen direkt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1C832-D890-42C9-935F-04E4731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A507CB-BE30-48EE-9EDC-26B9B844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5DDCE1-B5C9-47BF-A4EB-05EE0387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F87B4-E7B9-405F-9B9D-C810CF1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DA609-D1CC-44B7-828B-A4EF8EE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288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 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AD9F1-346A-484A-9C3A-EEB759B5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52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Bankindividueller IFRS-9-Split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BFF34D-0190-4F5E-B305-40729EE5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173E3D-CC12-47EB-A011-76355BCA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33D201-B89B-473A-BC81-5C320E4B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DAB9A6-7ADD-488A-AF3C-528AD2B1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B2268-1712-4156-99B1-68C06E7C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004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4C11FD-65A3-4FB1-840F-2281E64B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243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Aktueller Marktpreis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Ölpreis- und Energiepreisschock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F2F490-AE70-4B75-84A3-43240E2C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4BAE50-F22F-4E55-9AA9-E55B70EA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2C3328-F30E-465C-BD4B-B76558D0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B0240E-18AE-41EB-B10C-2EB7E295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4A1E4B-3778-407A-999B-094383CF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Svensson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854298-5272-48D5-BA4E-45D2DF79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243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Offizielle Zero-Curve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den 10-Jahres-Zinsschock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0E8072-5D1C-422C-9F03-DEC140C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7334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927F68-6037-4618-A425-7B3A5B53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628D9B-9F80-4F22-B7BD-18A1B0B8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B69EAE-CD36-4065-8534-9F345301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9F076B-00F7-48B3-8FD5-95EB3A8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972050"/>
            <a:ext cx="701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Methodik und Kalibrierung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C54CC1-3836-4E01-88C7-421C8122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295900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EBA-Stresstestmethodik · ECB Working Papers · Basel-IRB-Formel · IFRS 9</a:t>
            </a:r>
          </a:p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Quellen liefern Richtung, relative Stärke und regulatorische Rechenlogik.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DFBAFD-3D5A-4A8F-8D27-AD5EC299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43935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062CC-7FC2-443B-86F1-EC3839A2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C35BD-124A-412A-8FE9-CC6A754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FAKTORAUSWAHL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DF228-F904-48CE-9277-0C8ACC33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Brent und 10Y-Zins adressieren unterschiedliche ökonomische Risiken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7EE6A-7873-40C2-8935-5F694FBE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Faktoren werden nicht aggregiert, weil sie verschiedene Ursachen, Bilanzkanäle und sektorale Gewinner bzw. Verlierer erzeugen.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A40C6-EAA0-48A6-9E40-3EB1209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007FC-65FF-4F2F-ABC3-E34D68D6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FF62-F71F-4222-8C2E-942D21F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B1A4C-201B-4FE8-A36F-EE2FD84C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0C31C-5C28-49DC-8183-25A19B1A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41DAC-5B77-410A-8E35-3590FFB3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ΔBrent · Energie- und Angebotsschock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7BE03-AC5D-4A1C-8871-FCFB9BDD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Brent?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Europäischer Referenzpreis für global gehandeltes Rohöl.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Energie- und Inputkosten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Headline-Inflation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verfügbares Haushaltseinkommen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Unternehmensmargen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Log-Return: additiv über die Zeit und symmetrisch um null.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23800-0553-4B6A-8E00-ACD1D822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2D2A1-4221-4BD4-9A01-009D6AFE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44D16-421C-45B3-ABF1-B68FDC5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4D167-9E06-4BE5-A78D-16CA6F48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2AB3A-785E-446B-AF9A-2B1CD2A0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Δr 10Y · Refinanzierungs- und Bewertungsimpuls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FB2B5-8A4A-4659-ABAF-FBB5B42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zehn Jahre?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Pricing-Anker für Hypotheken, Corporate Bonds und Sovereigns.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Kredit- und Refinanzierungskosten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Immobilienwerte und Recovery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Bond-Duration / Mark-to-Market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Net Interest Margin der Banken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Prozentpunkte: +2,0 pp entsprechen +200 Basispunkten.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7F6F3-F46F-448D-8C66-5B7E6D02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842C3-D942-4FC9-BBFC-16B51E8D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ZENTRALE THESE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11745-112D-4AAC-985C-850EF311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908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ρ = +0,070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34519-8ED1-4089-A4AD-868155A2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480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nahezu unabhängige</a:t>
            </a:r>
          </a:p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Tagesbewegungen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AEDB1-76BD-4EBE-B5AA-4EB6A88F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429BB-C04A-4110-A9C2-19337A0E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MODELLKONSEQUENZ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DD90A-38F8-421E-9D2F-87D377E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29275"/>
            <a:ext cx="895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Zwei getrennte Slider und zwei direkte Faktorbeiträge – keine Verdichtung in einen systemischen Einzelfaktor.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5E1BA-C383-4871-8CDB-4B5D632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329637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E6679-9BE0-4543-92D5-F7703969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02B1F-FE3D-46E1-82AF-B067AB0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TRANSMISSION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46F2B-985A-4214-A6C0-04477D99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Sektorale β/γ-Werte übersetzen Schocks in PD und LGD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8D1F8-F346-4BD2-BABE-A2C3DDF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 Exposure-Klasse reagiert anders – inklusive positiver Zinswirkung auf Bank-Counterparties über den NIM-Kanal.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4615A-CB5C-4408-A07D-AFBB9361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F92E9-89A1-443A-9F04-7D6C1960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36E7B-4417-435C-8EC3-F12C090E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ΔPDKlasse = βoil × ΔBrent + βrate × Δr10Y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644D-DD8B-429E-ABD8-4CE82D2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ΔLGDKlasse = γoil × ΔBrent + γrate × Δr10Y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0ECCD-334B-493B-9882-EC532B7F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28447-3A17-4C70-93EB-5435FFA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66975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Exposure-Klasse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84526-3145-43BC-B27E-04515596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07300-CE81-4CAC-ADC5-3F3F0307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Oil · PD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B4C98-B71B-4566-B6F4-FFDC19E6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C3C77-3CBB-44FF-8881-77FC0B5A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Rate · PD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43CF7-852E-4BA6-A38D-A08003C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21325-4C9D-4E02-9650-F0E15F3B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Oil · LGD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BA657-0092-44DD-914F-66D9D6FE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CCEDA-A4DA-43F0-B4E9-7090FF9A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Rate · LGD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07FE6-7D75-4B95-91F8-15ABC2C7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638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24E02-65AB-40D0-8514-9E14BA99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66975"/>
            <a:ext cx="2543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Ökonomisches Profil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61B55-8786-463D-9EDA-1004FBEA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546DF-8495-4D32-9A37-B3485034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ACCF9-68DB-4233-9371-AC6D2655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B4F6F-B596-4548-9BE2-3CC1E42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C1373-24C8-4AAB-8A5E-A60EA2C9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D7927-E1DF-46AA-8BB6-12633B94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E04064-B971-4EF4-A780-58A74BA9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71FD8-F9D6-4069-8BD4-1D76732E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295B7-540E-492D-9184-3B82B7C3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E982C-5805-4C06-8B2A-17B9B224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78B8AC-A36A-41CF-A5C3-09A87B59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629E90-CC34-4EE7-BA44-62FDAC02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289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Kosten + Refinanzierung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75F54D-4C85-44FE-A816-2DCEF7D3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028550-7F70-40FB-BAD2-4D5B35CD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BF44C-84DD-415B-91E6-908A34F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DCA8D3-A79D-4469-AF97-7D13069A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1BED6-B448-4955-B15E-60779B1B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D9C52E-B34A-4CE3-9F89-ED40AD1F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96B184-0CB2-4FBD-9F25-B73A85F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B7F3E1-4B53-4EF8-A9BB-2A3A9F2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E2E626-57A2-4700-8CD9-2791229B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0090E4-6C9C-45EB-9F1D-F235F099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A638BB-8BC5-4B8E-ADEB-615F0855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4B222A-908F-431F-B594-7318B4A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rund 2× Corporate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3B5390-5091-47E4-945D-67C47260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B5C181-54B9-482E-A075-0A36F6F6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480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74C309-74AC-4C14-95E3-9FDA6DA8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8DB10F-DBFF-40ED-A4AD-F96DC03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AE8BF2-AE31-48F4-B38E-3FA0A4E5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33B8FF-B06A-4B48-B165-7D51A549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378EA0-6744-4191-BE16-18A9CBA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3C62B7-C605-47CA-B3CA-57C4BEC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DF9763-D9BB-43D6-B4E5-7DB705A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AD1C46-AAF6-4B50-8E09-6C4DDEB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23FDD5-5DC2-4A57-B769-C3068E98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E0219A-0345-4119-A80E-FB8AA330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zins- und collateral-dominiert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F7827B-F588-43E5-9F97-DDD9039E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872687-AAEB-43B1-850A-0B48A4AB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9B6851-CB8A-457C-AC5B-4E6EF22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F62DFF-0155-4287-8949-742670A8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8F4FAD-3341-4E1A-9A70-ABA248C6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126157-B378-4F79-942A-B23F59FE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A715DA-72A5-4A52-9B04-D9384496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17A471-7D94-4748-9D19-F63C907B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4B5F3E-1522-45A4-B051-159F4D64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B47721-2FE6-45AD-B524-FF31071B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EDC877-F8BE-489A-ABAD-C62233B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3382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45B4CE-C008-4B61-A5F6-4960281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Einkommen / Energieinflation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C521A1-5AA7-4642-9D11-C7D79FDC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2D4D6F-43EC-4F04-B3D7-5520D9A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672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91B2B8-0FE1-4FCD-BBB5-6A17B9D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6020880-C9D2-41B8-A0BF-52B4B14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549289-4E2E-4C26-8A33-379035BE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F97EEA-D7D7-4FB9-932D-FCC25B89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B6D3CD4-657D-46CF-9316-DC88862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B4E9FA-9EDC-4E3A-B5E4-47B4F76E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6CE9A37-0B29-4741-9CE1-1E017C47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56A345-B221-49BE-ACDD-99A76B98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+0,80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71CBFCE-1390-4039-8C18-099FEDB6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434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E8E07D-F317-4555-A896-E6DA48F8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672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gemischtes Haushaltsprofil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BC7C37-B1D5-4ED2-A227-7C7B253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DAB5EA-4D3C-40AC-9948-E3CEC190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05E3311-E3BC-47C9-8078-83102263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3E056E-00D5-46B0-B261-47A460E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D000D9-CBD8-4225-AC67-D3344F11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9C2F1CA-96A3-415C-84CC-80E3FC4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CB40A5-66F6-4C5C-ADDB-A8B46730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FF3AA3-93F0-47CD-994A-A935489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0DAC215-16F2-48F1-AA70-97153B4F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C55C94-7550-426B-A34A-FFA508F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FDC454C-741A-4BF7-BEB7-80536F88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529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AE7EE5-1F89-4452-A0BC-7766EE1F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NIM-Effekt senkt PD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FD03494-1F66-4EB9-8DF6-09EC0C75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9E4A025-F0C1-46F8-B9BD-17DBB2C0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D297C3-C2A2-4184-B556-59271B2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13FA54B-F52E-44A2-914E-8485E73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23E294-E8D0-4C16-B2B2-20A0C3A7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440A696-5C38-4FC4-8017-FFB791E9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58BC4A-DCFA-443C-A610-D81EEF2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75A42A-4EDB-4FBE-A512-0ADD3A7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780BC3-F535-433D-9138-58E69E1D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ABF3D6-ED24-4B3B-A2F5-B1BDBF75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E16AA3-2BEE-45B9-B390-70D2DA58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625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B8B7C9-E40D-4EE9-B4E9-02825D70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separater MtM-Kanal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3BFFA68-3A23-4E6B-AE2A-A042BC58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Lesebeispiel: +0,50 Brent und +2,0 pp Zins ergeben für Corporate ΔPD = +0,55 pp und ΔLGD = +2,25 pp.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6091C87-E849-4C60-A151-14CB45CA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EBA §2.4.2 · ECB WP 2897/3112 · ECB FSR · Modellmatrix in two_factor_stress.py</a:t>
            </a:r>
          </a:p>
        </p:txBody>
      </p:sp>
    </p:spTree>
    <p:extLst>
      <p:ext uri="{BB962C8B-B14F-4D97-AF65-F5344CB8AC3E}">
        <p14:creationId xmlns:p14="http://schemas.microsoft.com/office/powerpoint/2010/main" val="551736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84FE9-50B1-4586-893F-EE0460F0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B4086-FB37-4DEE-A161-B84879CA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FAKTOR-ANALYSE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8EB2-2403-41CA-8DBE-CAE9EC14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Nur 0,49 % der täglichen Zinsbewegung werden durch Brent erklärt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6DA1C-2731-4F9D-9C0B-99089B93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empirische Analyse über fünf Jahre bestätigt: Beide Faktoren tragen weitgehend eigenständige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88CC3-1153-4997-A07D-C59B2E7A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FD3B7-8BE6-4B02-93D6-A80E653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E49FA-544F-4F4F-8238-1542C92E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92788-84B0-4870-A3C9-4F0D34D0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BEOBACHTUNGEN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C70AC-2EF8-4771-87A1-26AEB3FF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1.242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55750-FDCF-4F48-88F5-40752DC1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gemeinsame Handelstage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AFF71-D9F5-41BF-969D-B44E907B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9AA22-DA0D-4150-855E-A3E66E78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26F7D-970E-4C0B-BAFC-C87B197B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PEARSON 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29BD7-35E5-4725-9D6F-B7775C9C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6B1E9-6590-40A0-88FC-470910C2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95%-KI +0,014 bis +0,125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C4D18-A782-46CE-A14F-B136470C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A5293-E52D-4C61-8D73-0629EF0F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BE8AB-C6CA-4A84-83E4-EAB2FA92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SPEARMAN 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743D4-89C9-4C8B-996B-880A154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718C7-7C98-40CE-8DD2-A95633AA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robust gegen Ausreißer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73418-F058-4723-A2F9-9CD48481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82D69-753C-4CEA-BADC-6E5CE1A4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AB6AF-492D-4FA6-9E60-CF74B8C9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C10E5-518F-4A4B-85B5-BA29449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CF8CF-C29E-4890-8327-13C20E12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 = 2,47 · p = 0,014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776D1-601D-41E7-AFE4-C6E311B8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B112B7-6EFC-4789-B3B5-C7D6AAE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DE719-6DAF-41E7-A12B-54967483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2C9387-07D0-4B3E-A178-C806E8EF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0,49 %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90E24-2BCE-4DFB-B79D-2073B1A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erklärte Varianz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A33565-AC67-4593-8D65-000E865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7096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1C611-0FF0-4AF1-8418-032BDF0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STREUDIAGRAMM · TAGESVERÄNDERUNGEN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427ED1-2437-4B0A-97C7-AB36A69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67FC86-5EC9-477B-8D90-32335EE8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04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041EE6-1E1E-4093-8762-48CFFCD6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19941B-E64F-426C-A498-E5BD1D85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98F84D-9839-4679-95AD-0A5EFD8B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14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826256-7656-4D41-9D95-D699634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CABAFC-569C-42E6-BACC-AD36A2AE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4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56B2AC-07F6-4E4B-A6AB-208DEBD8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79453B-FA7B-42BE-B090-3ED3BD72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1766AA-C1DB-4379-98AA-122ABF51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81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B7654E-2592-496C-89C5-F74D6BD8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00E268-084E-4727-A718-B23B4F3F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0F1208-F08C-4672-AE32-41C21E60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829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2657E3-9786-460C-BE30-5584A5E7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69C17D-859C-4989-B9D7-10D92F93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2855FC-E287-49EE-A630-E750CC34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067AE9-30D9-49BA-A795-19B4850E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95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B9035C-1369-45B5-8F1D-73ED5AFB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143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46EDAB-8596-4296-83F8-D70CD3ED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C302B7-FB75-4794-ABCC-C9673F0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451AC9-5638-40CB-B944-502A4653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B5470A-4C71-45C1-84A3-033E154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4F06FA-8A70-4DA6-A8BB-89D85F96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B5AA24-4EE0-47E5-8343-E423417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019BD5-80EE-467F-AB41-D6BCDF87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EC3B4D-1F9A-48E3-B178-52A29DA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C68799-66DB-4509-B73C-3D1FB8EE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E587B0-17B3-4A88-8313-67FDE63C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05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A9CA32-FDEE-46BA-BD8B-0C61168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9AED94-0C6B-4190-AF1E-25EBE775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37FC61-961F-400D-A19B-AE0C6A5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95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214C49-96AA-443B-ADE3-0BBFE85E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0CB8B3-FAA1-4FF5-9496-E2ADE08E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89CC0F-9C69-4449-9B87-1F5677DE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19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6B565D-F090-42F2-B921-F85F48C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933081-D7FE-4639-896E-1017B4F9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53DF75-B5C3-441B-A019-6469975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626ADA-BD14-4D50-8292-1477AB94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8BE527-A278-4D6D-A337-68D16ED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91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BE3594-26C3-49EA-953C-0BA74142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57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5D14930-CBBC-4F12-AD73-6B5AF99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B68FBF-AD77-4AA8-88C3-6244BFF0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4154DF-23AD-46E2-8995-6FE3D9F5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595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ABB59B2-28BC-4FE4-9BE9-3DD9C26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53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 · täglicher Log-Return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76C7A3-C260-4923-9B83-C2FAC1A0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005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0A30819-019A-4794-850B-F940470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900"/>
            <a:ext cx="1714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23896E-9A61-4CDD-B776-6CDDF7C4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48000"/>
            <a:ext cx="1638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nahezu flache OLS-Linie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93A9B0-292C-45A6-95E3-32207C86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387667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EAB6DE5-7425-45A7-AEC1-17BA7C2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E2D161-BC37-471B-9BA6-6B85C6F9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09875"/>
            <a:ext cx="5524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951BB1-9C5E-453F-B6FA-B0335A7C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47975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C54CB0-6F3A-4469-AB53-E0AF6431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3552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Empirisches Urteil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918817-6C7E-46F1-9A96-22E00E1B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57575"/>
            <a:ext cx="35528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Korrelation ist statistisch messbar, aber ökonomisch sehr klein.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R² = 0,0049 bedeutet: 99,51 % der täglichen Zinsvarianz bleiben durch Brent unerklärt.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Konsequenz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Eine Aggregation würde Information vernichten und potenziell unterschiedliche sektorale Wirkungen verdecken.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18ADF7D-09B5-4355-BD06-DCDDE164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Daten: ICE Brent + Deutsche Bundesbank Svensson · 22.04.2021–22.04.2026 · lokaler Modell-Cache</a:t>
            </a:r>
          </a:p>
        </p:txBody>
      </p:sp>
    </p:spTree>
    <p:extLst>
      <p:ext uri="{BB962C8B-B14F-4D97-AF65-F5344CB8AC3E}">
        <p14:creationId xmlns:p14="http://schemas.microsoft.com/office/powerpoint/2010/main" val="1184975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A28DF6-7B2F-4F62-869A-9CCB9C1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1F98A-7776-4529-B3EE-1CEDFD6B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STABILITÄT DER FAKTORBEZIEHUNG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78C91-7DF4-4891-A10F-FA53940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Die Faktorbeziehung schwankt – strukturell bleibt die Korrelation niedrig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D8DEB-9067-4B66-AC0C-F4E66B77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 explizites Zwei-Faktor-Modell kann temporäre Gleichläufe abbilden, ohne eine dauerhafte Abhängigkeit zu unterstellen.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60094-BA07-4AB5-8692-5A5F172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DAB29-6236-4A4E-8C04-4CD0683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286625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9A964-847B-4328-93D1-F625105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287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PEARSON-KORRELATION PRO KALENDERJAHR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3EA51-ED8E-4519-B360-BFD05F4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36026-F5F7-4CB1-B142-E71E3828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8536"/>
            <a:ext cx="514350" cy="910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B5457-C260-48EA-8FE9-834F48B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99936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4D0E8-E923-4CB6-B38F-C8983557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22C14-9F4A-4556-807B-8D9F2A5E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514350" cy="305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91A6E-1E0F-4019-B3F8-88329981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0083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-0,061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104B9-8670-4265-A664-235B049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6CEBE-87AD-481A-A7CC-87BF1F98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588"/>
            <a:ext cx="514350" cy="495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2D2AF-7A37-4245-A678-69A3D93B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1498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9C523-9BB1-458D-A971-EE7EFA0F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BF803-C8A7-4DA6-9EC7-E663A982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3528"/>
            <a:ext cx="514350" cy="975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F5C33-6E8C-4B6D-A4EC-F1704F0C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3492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DEEC5-65FE-4166-B3B7-A3C36A0E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0DBE9-0203-416E-BA9A-7E26AA0D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08621"/>
            <a:ext cx="514350" cy="230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E521B-DBBB-4813-BF47-37599B3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80021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39362-7FB3-42CE-BF5C-FFAA7086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85FC9-102D-41F1-9125-5BCA31D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424"/>
            <a:ext cx="514350" cy="18102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1B384-CF58-43C2-9F04-86BD96E5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99824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+0,362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D5BCC2-1A15-4BF7-9685-9346F0E9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2026*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D13ED-8BB6-4E97-AF64-75CAAF01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6572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* 2026 ist ein Teilsample bis 22. April und daher nicht direkt mit Volljahren vergleichbar.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1C4C4-055B-4B4E-AC5C-E53EB553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0C266-041B-4A03-AF45-E7C11D05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1978D-1C79-4099-AD07-4171149B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811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 252 TAGE · SPANNWEITE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C9803-6229-4D5E-8733-E45CAC3E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907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−0,175 bis +0,235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0D01EC-D88C-4DE7-B23F-B499A25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621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temporäre negative und positive Regime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79356D-6C9A-49B6-9578-7E040125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113A1-5E01-47C1-BDDE-9A7F9E1D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B9C2F3-B7EF-4863-AF6A-E707CBE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765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ROLLING-MITTEL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5A2F2C-39AE-490B-A31E-56FDFC38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861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+0,065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7C7AE9-EF2A-476E-9219-6B44ACB1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575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nahe am Full-Sample-Wert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A26F05-1C57-4263-813E-93761E25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BC7142-DED1-40AA-AB45-576D42E4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113425-12F5-4279-AF13-A32DB8C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719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LETZTER CACHE-WERT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506609-5D06-424B-8E46-64F54AF8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815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+0,198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AE6EA0-76E1-4C3C-AD28-06F913BB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22. April 2026 · erhöht, aber moderat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999A18-0C6E-4E39-868B-FF3C23D5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4A1789-40B4-4972-A89D-0584C2FD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Interpretation: Zeitvariation ja – strukturelle Ein-Faktor-Abhängigkeit nein. Deshalb bleiben Brent und Zins getrennt steuerbar.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D94944-D3F3-4A26-889E-071B639F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factor_correlation.py · Rolling Window 252 Handelstage · lokale Markt- und Bundesbankdaten</a:t>
            </a:r>
          </a:p>
        </p:txBody>
      </p:sp>
    </p:spTree>
    <p:extLst>
      <p:ext uri="{BB962C8B-B14F-4D97-AF65-F5344CB8AC3E}">
        <p14:creationId xmlns:p14="http://schemas.microsoft.com/office/powerpoint/2010/main" val="1509128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62332D-68C3-49D2-9074-479DBDB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A0E18-8F6C-4CE6-B779-22499E5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KONKRETER MODELLLAUF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B46D7-A011-4DCF-AD6A-A56E8289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Retail-PD steigt am stärksten; Bank-PD sinkt leicht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587DF-53F7-4EAC-B1CE-14ED76E7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Szenario: ΔBrent +0,50 log ≈ +65 % Ölpreis und Δr 10Y +2,0 pp = +200 bp.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96010-B33E-4567-AF2A-2474449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A67C0-E9C2-4A11-B123-CDC11EC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081F5-621E-4087-A8FB-A0DBE88D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1922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SZENARIO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870E1-E856-4AF3-AC55-0CC3DF2E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14450"/>
            <a:ext cx="2333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EB609-9C16-4623-87D0-1637E136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144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F0748-3AC0-4FD6-ADAA-01A5C97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457325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ÖLPREIS-SCHOCK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C0DDF-5184-407C-B9AB-C3797E6B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66687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+0,50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2D6F0-7CB9-46DB-8DEE-361470EC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≈ +65 % Preisbewegung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4B71E-F88A-4FEE-8BFE-ABA49CA6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14450"/>
            <a:ext cx="2333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BC775-4C72-418C-B3C5-8849974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144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09EF8-8D2A-492D-B75C-94735EC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57325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ZINSSCHOCK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4B938-1B8D-4B8E-858A-9CE0DA59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6687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+2,0 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8F68D-9669-47E2-A312-945A7583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+200 Basispunkte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C4D69-8E1D-4ED6-9783-7244EE1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14450"/>
            <a:ext cx="2333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58C0C-97F0-4C0D-B1D5-423AF1E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144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C1942-6F22-4F32-9DCE-BB5EF606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457325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MODELL-UNIVERSUM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DD1EC-350D-4A3A-B2AA-0DD9966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6687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0A8D5-7323-4F56-8C89-5F64775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3835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10 EU-IRB-Banken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89825-5840-4A52-A099-2DD36D39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14450"/>
            <a:ext cx="2781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032DC-6AC7-49A7-AB1F-A042A1F9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1445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EB055-BED6-459D-9F6D-551E686D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573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STICHTAGE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30BFF-3E41-42D4-81A1-40AFE9C7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668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2024 /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D368F-EAF6-4CEB-9195-3A11E14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Pillar 3 / EBA Transparency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529C5-7A17-44F0-9A9A-2307CB4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54102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4D5FF-8210-4CDF-BC8B-72E4FEA9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· BASELINE → STRESS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2B3E6-58A4-45D2-84A6-055C7E13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BF3BB-CD7A-4A53-9575-D8EA5078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14675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B0CB55-BDF4-4083-8A76-F8C2E422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14675"/>
            <a:ext cx="2395157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1876DB-3615-472C-92B2-735C4C4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9E838E-E9C9-4DB7-B9EE-969286B8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258089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C16407-F4AB-438D-955C-0646ECDE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8,38 %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1F7092-4573-4DFC-ABBD-82FF67A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05175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9,03 %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883002-C0A2-40E6-8B15-22DE061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528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 +0,650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8B8BE-BA64-4D82-A56B-1C9D572B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960C4D-5741-4B59-9F17-C99CE74C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95725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58581F-9444-4203-A10C-46D87458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95725"/>
            <a:ext cx="96212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011220-4D59-4D0D-89AD-A95BAA02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D6F985-8E19-4FD0-BDB1-7BCF922F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111928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B417B9-C845-484C-91FC-7B4B222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671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3,37 %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4B107B-887A-4629-86FB-AF215813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86225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3,92 %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D8A7FE-3C0D-4911-830D-2005E54D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Δ +0,550 pp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9F7049-A5BA-4205-B924-8003BEE2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4E6E98-B7C0-4FE1-AAA8-9C76F5C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DA79D6-BE0E-4764-A943-33BD5C8D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25317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98AA4F-1277-4A4F-9F9F-2FDFFB06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A02D55-7FF9-4742-B45C-6EEECB71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23174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10360B-E928-4BDA-89A6-CD20461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0,89 %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D890A5-0496-44D0-8DB8-1256E9A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67275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0,81 %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4682F8-6185-4B87-92B9-1EB562D0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149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Δ -0,075 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B32DF0-A88C-4344-B4E1-3D617F28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56007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BFEA6E-82A0-4EEB-9E64-05C99D8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LGD · BASELINE → STRESS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ED2211-C933-46DB-944D-6C114438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99BECB-25C1-405B-97DA-5F49307E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14675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F37901-8079-4EE0-8881-45F9E4A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14675"/>
            <a:ext cx="2400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E04FA0-B05F-4D00-97C0-16A437FD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16BC83-2CBA-4389-ADF8-B88255F6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256907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A314A5-2A1E-4264-BC7E-9A441F46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86100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32,00 %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348B31-67DF-462A-8386-48D2964C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05175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34,25 %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5C4873-80E0-45E3-9402-AB86A2A3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5282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 +2,25 pp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443C47-0DBE-4912-9E8C-DF1B14C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FA4ADE-4C2B-4AFD-9821-EDDCED6D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95725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A1A9D9-7B10-496C-B408-BDBB0BC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95725"/>
            <a:ext cx="25180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0841AB-A39D-4191-9C4D-ACC24D2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B69B9FB-05F9-4FA1-9887-C945EB89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264708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DA3EEA-F728-4DB0-B9C6-B40747A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33,57 %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8430C3-1870-4AFD-AAF2-E541AFC7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86225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35,29 %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7D929D-33BE-4B57-9CB0-2D5304F9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3387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Δ +1,72 pp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F9ACB5-75FC-453D-9BE6-15094643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068DB6-9C10-48AF-82AE-03DA6173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825215-C463-4A4A-AA31-85E90DA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218202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709BB6-E4F1-4FF4-BBED-036461E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856E5B-DAC4-4DC7-8696-EC047ED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226078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3D8FDD3-9B55-499B-884A-677634FD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648200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29,09 %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83E8EF-E6C7-40B0-BFD7-692A759E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867275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30,14 %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FE0524-5D86-4107-8EA3-1E1DFE40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1492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Δ +1,05 pp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0CA2A8-CCEB-44BF-A764-F3CCEB6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Konkreter Modelllauf · Werte EAD-gewichtet über das Top-10-Universum · Sovereign-Default separat vom MtM-Kanal</a:t>
            </a:r>
          </a:p>
        </p:txBody>
      </p:sp>
    </p:spTree>
    <p:extLst>
      <p:ext uri="{BB962C8B-B14F-4D97-AF65-F5344CB8AC3E}">
        <p14:creationId xmlns:p14="http://schemas.microsoft.com/office/powerpoint/2010/main" val="1554855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EDDD8-FFC7-4162-A57B-2C5A50AC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C4E36-1D33-44F8-A729-03B3BBF3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IRB-CAPITAL-BRIDGE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DECA7-FED2-446D-9A00-B5C61CBC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LGD-Stress erklärt rund zwei Drittel des zusätzlichen IRB-Kapitalbedarfs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77515-74CC-44C9-8FD5-D0000D32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 und LGD werden nacheinander in die unveränderte Basel-IRB-Formel eingesetzt.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F359D-6CF4-4DB8-AE6A-28767671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A923D-5565-4CBE-9B33-01D70DAA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06755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1E8C4-6E49-49D6-9CF6-9C7D64D7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KAPITALBEDARF K · € MRD.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2F76B-B0AB-4B9C-9705-C5B18BBF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177A5-F662-45A4-B7B5-2C4A5BC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3436"/>
            <a:ext cx="1381125" cy="1880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156B3-4010-40AE-B71F-E0EF8DCF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6736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€412,9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46ADA-3C2D-4C97-A224-63124477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4EAEE-705B-436F-BCA7-5BA8DFEE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E7549-9E3A-4514-B1D6-9C9DBA25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5731"/>
            <a:ext cx="1381125" cy="578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4182B-EC25-4CAE-8CC1-1E504974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8556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+€13,5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C861A-521A-4F74-A330-FA64BCE5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PD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6050B-4294-4E60-A8FA-EE28A73B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575FF-0CE2-4DE1-AB44-D2630194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374"/>
            <a:ext cx="1381125" cy="1153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B7E5F-F381-4A6C-95FF-DD09B718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199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+€26,9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D2C04-E2DD-4B7A-9B22-54837F46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LGD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32399-5BF9-4073-BD18-5B039E9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3667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K Stress = €453,3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51D23-4298-4464-8425-47B5956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D6815-96BD-4489-B57C-25F3636F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21DE7-C8DE-4D44-9FCF-8C39C8B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EXPECTED LOSS · VERÄNDERUNG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1B80C-F838-436B-83EB-EA775492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+€21,0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8AF5C-1CEB-4C32-A86D-A41CF9CB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zusätzliche Kreditvorsorge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D7381-310F-4770-88D9-A85944FB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4EA76-1DC4-4C33-B44E-0913E1FD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5A5E82-C1AD-4401-B2F8-1F359A41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CREDIT RWA · VERÄNDERUNG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A0B0D-3744-41B2-A33F-9028E543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+€505,1 Mrd.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7026C-6E80-4777-B607-F01E88E5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385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Basel-IRB-Nennerwirkung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321934-7564-4C03-9924-155AC1AD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BBA8E8-B106-4954-AA94-9B8B9B29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23F796-D220-4EBC-B156-5358BC0D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IRB-KAPITAL K · VERÄNDERUNG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B18C17-9D40-449D-B6AA-C75A519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+€40,4 Mrd.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FE3739-8B1F-4C74-8DE7-4617D48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148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+9,8 % gegenüber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588ABF-A6CD-4A61-B4D5-FE4F14D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9525">
            <a:solidFill>
              <a:srgbClr val="E4C9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069246-25D1-4621-854C-6C03F1A4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81675"/>
            <a:ext cx="1090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Warum LGD dominiert: Der +200-bp-Zinsschock senkt Sicherheitenwerte und erhöht insbesondere die Downturn-LGD.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BCFAE0-9B21-42D8-9CAF-5FC47EDB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Basel-III-IRB / CRR Art. 153–155 · konkreter Modelllauf ΔBrent +0,50 / Δr10Y +2,0 pp</a:t>
            </a:r>
          </a:p>
        </p:txBody>
      </p:sp>
    </p:spTree>
    <p:extLst>
      <p:ext uri="{BB962C8B-B14F-4D97-AF65-F5344CB8AC3E}">
        <p14:creationId xmlns:p14="http://schemas.microsoft.com/office/powerpoint/2010/main" val="2054876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2843F-28BD-49A6-879A-31B66CE4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25D72-A576-4CA9-8879-25B1B743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CET1-ERGEBNIS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87C38-51A6-4838-B90A-E51821F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kombinierte Schock senkt die aggregierte CET1-Quote um 4,15 Prozentpunkte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B3D53-EDBA-4F6B-8B4F-1B2A52E9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Sovereign-Marktwertkanal dominiert den Zählerverlust; zusätzliche Kredit-RWA verstärken den Nennerdruck.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75AFF-887E-4AAE-9ADE-9295105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F6828-015A-45A0-A0AB-DA23E366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4A5AC-79A5-4CEB-99DE-0443ABD9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CFB2A-FA82-48BD-ADE8-7A76A57E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46286-B5E1-4BE7-A465-15AF934B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15,17 %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9EE76-B841-4F17-98BB-7E831D76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Top-10-Aggregat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89867-4F3D-4806-8538-CB203495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254ED-091F-4810-BEA7-E4D7C400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7A979-BA8B-44E5-982E-1E1D14F3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STRESS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5A50F-A8FC-4168-9966-C0B84D2E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11,02 %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55E4E-3D54-43EC-A63A-74F05B18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−4,15 Prozentpunkte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D3DA1-E4C2-4B90-A39F-50033EB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F3EC5-5805-487C-A590-4BB4D43E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AC39C-7194-422F-B8BC-8B78EBE2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CET1-KAPITAL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E539B-7F74-4254-B1AB-88BFA24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€678 → €548 Mrd.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D1B97-D4C0-403D-A254-80AECEA5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−€129,7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B958C-DDCD-40F9-9889-0AA805D1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1887C-E700-4866-AD07-5E648E8F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3F7F6-0D5D-4E50-BFC8-DDA0BCE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24000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TOTAL RWA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6B4CA-E550-480D-981F-0F7E4FF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335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€4.468 → €4.974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4442C-16E5-4AA2-8613-9A774C0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05025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D2C8F-77D4-4579-9669-00B8EBF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6858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77A2A-0939-48FA-9389-0688F7B0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BEITRÄGE ZUM STRESSERGEBNIS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9A996-E2F9-43AF-AEEB-7CFA4EA1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Kreditvorsorge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46E92D-7759-43EC-8057-0817206C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9CC9F-2255-41A5-804C-7F203FCA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80919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EB5ED-99CC-4BD4-80CC-4DEE3CC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−€21,0 Mrd.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FDEF7-D921-4585-B66A-5AA21A6F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Sovereign-MtM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3D6AAF-250E-4CF3-A0CE-84A54FF4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F33E7D-39EF-4168-A026-8A9580AB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18853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9E9EEE-DF81-49AB-ABF6-CF73559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−€108,7 Mrd.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95A23-6C75-4E57-8DB5-E650EAED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zusätzliche RWA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FD78F-3AA3-4BB3-9644-D24FBA07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D9D0B1-233D-4BB7-95DC-FEC913C2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11717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FD6412-436B-4E06-820E-F3AF881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8625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F71A99-9492-45C7-BA27-09B6CC55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191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1EF46D-9F54-4F26-A86A-346D9E5B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ZÄHLER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C652A6-1640-4BEE-A543-E0412F6C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CET1 −€129,7 Mrd.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A9F1D1-00F5-47B5-9D43-34E47B5C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NENNER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1114AB-539B-4B53-8985-93EE89CC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RWA +€505,1 Mrd.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CA6563-96BF-40EF-B085-1E259DE0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Marktwertkanal ist im Zähler der größte Einzelbeitrag; die Kredit-RWA wirken zusätzlich über den Nenner.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4B3F73-2632-4CB9-B2B5-29FA7169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41338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43F492-030F-4CE7-BB57-DC23C473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2892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NIEDRIGSTE CET1-QUOTEN NACH STRESS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59BCEC-96C9-42DB-8D52-8C70F4A0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Société Générale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4E8D01-BCE9-4E07-B797-F50EA590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57BA2D-74C0-4C6B-A7D0-4C6D15E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71686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0F41CE-6341-4BE3-8BB5-D3234EC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099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7,13 %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1FBACC-3444-4C79-BCAA-548F5E70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Deutsche Bank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80682D-524D-4472-9867-AB0B816F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3DA4D0-E939-4CDF-8637-8DD3671A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723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3BF295-DF56-4B09-9C42-DBE0D13B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290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7,20 %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289B21-ABEB-410A-ADC9-A6AE055B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BNP Paribas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E3E51C-CC06-4F28-9C57-F1FB31C1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C648E6-48EC-4DCB-AFBF-A9C21024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81137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14BF83-4B6C-45BF-9E71-470B82C0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48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8,07 %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374F59-2487-4723-B69A-CF37D76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D570D7-6187-47E0-9338-EAF3BC31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2AC300-F1A6-4BA6-937B-73F80F9B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970227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E7DD70-C000-4F29-A67D-3F8EF28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4672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9,65 %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11617A-18D0-4B3A-96B1-9404D290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04CC31-53C5-4ADB-8E33-0D6A8617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156577-49B6-4F6B-A8F5-D34BA7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05568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F74915-026E-4D89-9C98-EF710AA2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8863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10,50 %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8C2627-E0D0-42D1-8409-8085186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81625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74480E-3B65-4D26-B14A-934AAED4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959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A78E04-E476-422C-8831-CBE8B94E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67350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Alle Banken bleiben über 7,0 %; zwei Institute liegen jedoch nur knapp oberhalb des Pufferniveaus.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CDECF4-E796-43FA-91E7-7AAC340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Illustrativer Modellstress, keine regulatorische Prognose · Werte aus dem lokalen Modelllauf und EBA/Pillar-3-Daten</a:t>
            </a:r>
          </a:p>
        </p:txBody>
      </p:sp>
    </p:spTree>
    <p:extLst>
      <p:ext uri="{BB962C8B-B14F-4D97-AF65-F5344CB8AC3E}">
        <p14:creationId xmlns:p14="http://schemas.microsoft.com/office/powerpoint/2010/main" val="267246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2026-06-18T11:47:58.9520000Z</dcterms:created>
  <dcterms:modified xsi:type="dcterms:W3CDTF">2026-06-18T11:47:58.9520000Z</dcterms:modified>
</coreProperties>
</file>