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ae3ace611d14e5f" /><Relationship Type="http://schemas.openxmlformats.org/officeDocument/2006/relationships/extended-properties" Target="/docProps/app.xml" Id="R608246a227f04292" /><Relationship Type="http://schemas.openxmlformats.org/officeDocument/2006/relationships/officeDocument" Target="/ppt/presentation.xml" Id="R808a66ef78424a2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c758175809041ee"/>
  </p:sldMasterIdLst>
  <p:notesMasterIdLst>
    <p:notesMasterId xmlns:r="http://schemas.openxmlformats.org/officeDocument/2006/relationships" r:id="R03c4e03a9928444c"/>
  </p:notesMasterIdLst>
  <p:sldIdLst>
    <p:sldId xmlns:r="http://schemas.openxmlformats.org/officeDocument/2006/relationships" id="256" r:id="Rb58a8d797a19465c"/>
    <p:sldId xmlns:r="http://schemas.openxmlformats.org/officeDocument/2006/relationships" id="257" r:id="R936599f8940f4137"/>
    <p:sldId xmlns:r="http://schemas.openxmlformats.org/officeDocument/2006/relationships" id="258" r:id="Rba19983175ca46b7"/>
    <p:sldId xmlns:r="http://schemas.openxmlformats.org/officeDocument/2006/relationships" id="259" r:id="R7d2cb335eb3746b5"/>
    <p:sldId xmlns:r="http://schemas.openxmlformats.org/officeDocument/2006/relationships" id="260" r:id="R6433c57a879c4003"/>
    <p:sldId xmlns:r="http://schemas.openxmlformats.org/officeDocument/2006/relationships" id="261" r:id="Ra6b6090024884547"/>
    <p:sldId xmlns:r="http://schemas.openxmlformats.org/officeDocument/2006/relationships" id="262" r:id="R53a57ff796224170"/>
    <p:sldId xmlns:r="http://schemas.openxmlformats.org/officeDocument/2006/relationships" id="263" r:id="Rc1992c2da44048d0"/>
    <p:sldId xmlns:r="http://schemas.openxmlformats.org/officeDocument/2006/relationships" id="264" r:id="Rf4b1ef3d9b114245"/>
    <p:sldId xmlns:r="http://schemas.openxmlformats.org/officeDocument/2006/relationships" id="265" r:id="R0b0d4bd04f4b4e82"/>
    <p:sldId xmlns:r="http://schemas.openxmlformats.org/officeDocument/2006/relationships" id="266" r:id="Ra7ec55ecf95540a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f746451e6b349f9" /><Relationship Type="http://schemas.openxmlformats.org/officeDocument/2006/relationships/slideMaster" Target="/ppt/slideMasters/slideMaster1.xml" Id="Rfc758175809041ee" /><Relationship Type="http://schemas.openxmlformats.org/officeDocument/2006/relationships/notesMaster" Target="/ppt/notesMasters/notesMaster1.xml" Id="R03c4e03a9928444c" /><Relationship Type="http://schemas.openxmlformats.org/officeDocument/2006/relationships/presProps" Target="/ppt/presProps.xml" Id="R9ce9d194c9c24abe" /><Relationship Type="http://schemas.openxmlformats.org/officeDocument/2006/relationships/tableStyles" Target="/ppt/tableStyles.xml" Id="Rfdfeb2127f144d0c" /><Relationship Type="http://schemas.openxmlformats.org/officeDocument/2006/relationships/slide" Target="/ppt/slides/slide1.xml" Id="Rb58a8d797a19465c" /><Relationship Type="http://schemas.openxmlformats.org/officeDocument/2006/relationships/slide" Target="/ppt/slides/slide2.xml" Id="R936599f8940f4137" /><Relationship Type="http://schemas.openxmlformats.org/officeDocument/2006/relationships/slide" Target="/ppt/slides/slide3.xml" Id="Rba19983175ca46b7" /><Relationship Type="http://schemas.openxmlformats.org/officeDocument/2006/relationships/slide" Target="/ppt/slides/slide4.xml" Id="R7d2cb335eb3746b5" /><Relationship Type="http://schemas.openxmlformats.org/officeDocument/2006/relationships/slide" Target="/ppt/slides/slide5.xml" Id="R6433c57a879c4003" /><Relationship Type="http://schemas.openxmlformats.org/officeDocument/2006/relationships/slide" Target="/ppt/slides/slide6.xml" Id="Ra6b6090024884547" /><Relationship Type="http://schemas.openxmlformats.org/officeDocument/2006/relationships/slide" Target="/ppt/slides/slide7.xml" Id="R53a57ff796224170" /><Relationship Type="http://schemas.openxmlformats.org/officeDocument/2006/relationships/slide" Target="/ppt/slides/slide8.xml" Id="Rc1992c2da44048d0" /><Relationship Type="http://schemas.openxmlformats.org/officeDocument/2006/relationships/slide" Target="/ppt/slides/slide9.xml" Id="Rf4b1ef3d9b114245" /><Relationship Type="http://schemas.openxmlformats.org/officeDocument/2006/relationships/slide" Target="/ppt/slides/slide10.xml" Id="R0b0d4bd04f4b4e82" /><Relationship Type="http://schemas.openxmlformats.org/officeDocument/2006/relationships/slide" Target="/ppt/slides/slide11.xml" Id="Ra7ec55ecf95540a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5fcef06f3af4cd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0fb72faf3ab49eb" /><Relationship Type="http://schemas.openxmlformats.org/officeDocument/2006/relationships/notesMaster" Target="/ppt/notesMasters/notesMaster1.xml" Id="Rc2053c516bcc445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649dba6d6614fc9" /><Relationship Type="http://schemas.openxmlformats.org/officeDocument/2006/relationships/notesMaster" Target="/ppt/notesMasters/notesMaster1.xml" Id="R96eeae1941c24c7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c54157fc774453c" /><Relationship Type="http://schemas.openxmlformats.org/officeDocument/2006/relationships/notesMaster" Target="/ppt/notesMasters/notesMaster1.xml" Id="Re0e733762b244ed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9bc772fcab348ab" /><Relationship Type="http://schemas.openxmlformats.org/officeDocument/2006/relationships/notesMaster" Target="/ppt/notesMasters/notesMaster1.xml" Id="R2125049fd2fd4a2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624293d64a24f88" /><Relationship Type="http://schemas.openxmlformats.org/officeDocument/2006/relationships/notesMaster" Target="/ppt/notesMasters/notesMaster1.xml" Id="R00778713c1e74a0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f01c8314b594e06" /><Relationship Type="http://schemas.openxmlformats.org/officeDocument/2006/relationships/notesMaster" Target="/ppt/notesMasters/notesMaster1.xml" Id="R0f841b301e3e42a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07e32bf40954c6e" /><Relationship Type="http://schemas.openxmlformats.org/officeDocument/2006/relationships/notesMaster" Target="/ppt/notesMasters/notesMaster1.xml" Id="R3e712820d6c64c5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13f245e86e44a4d" /><Relationship Type="http://schemas.openxmlformats.org/officeDocument/2006/relationships/notesMaster" Target="/ppt/notesMasters/notesMaster1.xml" Id="Ref32cf98e1d940b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01fe0bfc3514e7f" /><Relationship Type="http://schemas.openxmlformats.org/officeDocument/2006/relationships/notesMaster" Target="/ppt/notesMasters/notesMaster1.xml" Id="R39c50a4d68bb404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d9188d86d4b4a0c" /><Relationship Type="http://schemas.openxmlformats.org/officeDocument/2006/relationships/notesMaster" Target="/ppt/notesMasters/notesMaster1.xml" Id="R04ce77d578124eb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0e077ef2daf41b9" /><Relationship Type="http://schemas.openxmlformats.org/officeDocument/2006/relationships/notesMaster" Target="/ppt/notesMasters/notesMaster1.xml" Id="R19c1b4e3e147424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ddb8d229d1409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b97c477d056431b" /><Relationship Type="http://schemas.openxmlformats.org/officeDocument/2006/relationships/slideLayout" Target="/ppt/slideLayouts/slideLayout1.xml" Id="Rbec9c0a5018544f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ec9c0a5018544f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5ddb30ef1b4d03" /><Relationship Type="http://schemas.openxmlformats.org/officeDocument/2006/relationships/notesSlide" Target="/ppt/notesSlides/notesSlide1.xml" Id="Rc2f52efdfd51431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fdb2fb201847b9" /><Relationship Type="http://schemas.openxmlformats.org/officeDocument/2006/relationships/notesSlide" Target="/ppt/notesSlides/notesSlide2.xml" Id="R89952d5e5d7e40b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25973c2d23456f" /><Relationship Type="http://schemas.openxmlformats.org/officeDocument/2006/relationships/notesSlide" Target="/ppt/notesSlides/notesSlide3.xml" Id="Refd602b31fef4da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1a1c3e87aa4972" /><Relationship Type="http://schemas.openxmlformats.org/officeDocument/2006/relationships/notesSlide" Target="/ppt/notesSlides/notesSlide4.xml" Id="Rb97bea021a7840a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a4575a8c2042ae" /><Relationship Type="http://schemas.openxmlformats.org/officeDocument/2006/relationships/notesSlide" Target="/ppt/notesSlides/notesSlide5.xml" Id="Rf13299d8164d438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65b343132e4773" /><Relationship Type="http://schemas.openxmlformats.org/officeDocument/2006/relationships/notesSlide" Target="/ppt/notesSlides/notesSlide6.xml" Id="R9088bf3bcb66482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dcf74ba2e141d7" /><Relationship Type="http://schemas.openxmlformats.org/officeDocument/2006/relationships/notesSlide" Target="/ppt/notesSlides/notesSlide7.xml" Id="R3107342255f640b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e6b521e200406e" /><Relationship Type="http://schemas.openxmlformats.org/officeDocument/2006/relationships/notesSlide" Target="/ppt/notesSlides/notesSlide8.xml" Id="Re138db7ca9164cc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9edaaa6cc84ffd" /><Relationship Type="http://schemas.openxmlformats.org/officeDocument/2006/relationships/notesSlide" Target="/ppt/notesSlides/notesSlide9.xml" Id="R23acc9e6302e4b7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52ce7351df4461" /><Relationship Type="http://schemas.openxmlformats.org/officeDocument/2006/relationships/notesSlide" Target="/ppt/notesSlides/notesSlide10.xml" Id="R4dfb70e8f66546e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d3b108f7224068" /><Relationship Type="http://schemas.openxmlformats.org/officeDocument/2006/relationships/notesSlide" Target="/ppt/notesSlides/notesSlide11.xml" Id="Rabeb65ea8abf426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3F6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E83C8C6-5DEC-4D06-978F-9DD743CAE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2F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D238D4-5C32-4234-B336-B6539DC30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457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1" i="0">
                <a:solidFill>
                  <a:srgbClr val="A52F4D"/>
                </a:solidFill>
                <a:latin typeface="Aptos"/>
                <a:ea typeface="Aptos"/>
                <a:cs typeface="Aptos"/>
              </a:defRPr>
            </a:pPr>
            <a:r>
              <a:rPr sz="863" b="1" i="0">
                <a:solidFill>
                  <a:srgbClr val="A52F4D"/>
                </a:solidFill>
                <a:latin typeface="Aptos"/>
                <a:ea typeface="Aptos"/>
                <a:cs typeface="Aptos"/>
              </a:rPr>
              <a:t>GRUNDLAGEN · ECL UND IRB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1AB784-3C44-4AFF-AD9F-2B30D7DC7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191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7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Zwei Rechenwelten bestimmen, wie Kreditrisiko die CET1-Quote belastet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883E6C-1950-440C-B25F-115E0A43C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1096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Expected Loss wirkt über Vorsorge auf den Zähler; der IRB-Ansatz übersetzt unerwartete Verluste in Kapitalbedarf und RWA.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858337-55D6-436F-A167-4CFABFFB3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361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1F04D0-9990-4B64-8430-863B3CDA8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81125"/>
            <a:ext cx="112776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051C2C"/>
          </a:solidFill>
          <a:ln xmlns:a="http://schemas.openxmlformats.org/drawingml/2006/main" w="9525">
            <a:solidFill>
              <a:srgbClr val="051C2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43D665-855F-4B39-A5B9-6B5F4103C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33525"/>
            <a:ext cx="11906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1" i="0">
                <a:solidFill>
                  <a:srgbClr val="BBD0D9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BBD0D9"/>
                </a:solidFill>
                <a:latin typeface="Aptos"/>
                <a:ea typeface="Aptos"/>
                <a:cs typeface="Aptos"/>
              </a:rPr>
              <a:t>GRUNDIDEE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BD8E84-8F3C-4C4C-A907-4CA8CAD62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1619250"/>
            <a:ext cx="152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Makroschock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7DF12A-D63B-4B90-BACA-87B5D6E72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58115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AFC0C7"/>
                </a:solidFill>
                <a:latin typeface="Aptos"/>
                <a:ea typeface="Aptos"/>
                <a:cs typeface="Aptos"/>
              </a:defRPr>
            </a:pPr>
            <a:r>
              <a:rPr sz="2100" b="1" i="0">
                <a:solidFill>
                  <a:srgbClr val="AFC0C7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C08136-2F41-4A6B-A284-7A3087A6C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1619250"/>
            <a:ext cx="2238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PD &amp; LGD verändern sich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49DF58-BB6F-4943-B764-6FF4BBF4C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58115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AFC0C7"/>
                </a:solidFill>
                <a:latin typeface="Aptos"/>
                <a:ea typeface="Aptos"/>
                <a:cs typeface="Aptos"/>
              </a:defRPr>
            </a:pPr>
            <a:r>
              <a:rPr sz="2100" b="1" i="0">
                <a:solidFill>
                  <a:srgbClr val="AFC0C7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5EBCF0-7650-4E66-9F82-8A4E123F7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619250"/>
            <a:ext cx="2714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Verlust &amp; Kapitalbedarf steigen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BEBFDF-5F5D-49E4-A7DB-D100EC96C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58115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AFC0C7"/>
                </a:solidFill>
                <a:latin typeface="Aptos"/>
                <a:ea typeface="Aptos"/>
                <a:cs typeface="Aptos"/>
              </a:defRPr>
            </a:pPr>
            <a:r>
              <a:rPr sz="2100" b="1" i="0">
                <a:solidFill>
                  <a:srgbClr val="AFC0C7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74A1C3-E760-4440-9592-D32882D44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161925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CET1 sinkt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2F8978-74D8-44A4-AA47-037494B82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28875"/>
            <a:ext cx="533400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FF993A-48DF-408B-84DB-130DAC3DF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28875"/>
            <a:ext cx="571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2F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DDF705-3764-4EE7-A7C9-35588AD0D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52700"/>
            <a:ext cx="647700" cy="2190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52F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229D36-7247-4FFB-B5A4-675032D4E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90800"/>
            <a:ext cx="571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13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ZÄHLER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2AAF1D-ADCE-473E-ACF5-506D2C2D3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876550"/>
            <a:ext cx="501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Expected Loss / ECL · Vorsorgewirkung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A21384-2971-4F1A-BEF6-470E30AA8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200400"/>
            <a:ext cx="50101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ECL₁Y = PD × LGD × EAD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50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PD · Ausfallwahrscheinlichkeit</a:t>
            </a:r>
          </a:p>
          <a:p xmlns:a="http://schemas.openxmlformats.org/drawingml/2006/main">
            <a:pPr algn="l">
              <a:defRPr sz="1050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LGD · Verlustquote bei Ausfall</a:t>
            </a:r>
          </a:p>
          <a:p xmlns:a="http://schemas.openxmlformats.org/drawingml/2006/main">
            <a:pPr algn="l">
              <a:defRPr sz="1050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EAD · Forderungshöhe im Ausfallzeitpunkt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50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Im Cockpit</a:t>
            </a:r>
          </a:p>
          <a:p xmlns:a="http://schemas.openxmlformats.org/drawingml/2006/main">
            <a:pPr algn="l">
              <a:defRPr sz="1050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Der Anstieg des erwarteten Verlusts wird als zusätzliche Kreditvorsorge interpretiert und reduziert den CET1-Zähler.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63A029F-9E6C-485A-9188-3BE44A0B1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428875"/>
            <a:ext cx="533400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27A0B4A-B493-4C50-903C-10A20B839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428875"/>
            <a:ext cx="571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D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60981DC-9B07-494D-A737-1ADB89EB3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552700"/>
            <a:ext cx="704850" cy="2190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5D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3E4B25F-12AA-4BBE-8E54-0F7275F1D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590800"/>
            <a:ext cx="6286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13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NENNER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83073EF-8501-43EE-B7BB-94E86EE52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2876550"/>
            <a:ext cx="501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IRB-Ansatz · Kapital- und RWA-Wirkung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D4B50CF-ABA4-424C-9505-907D19F72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3200400"/>
            <a:ext cx="50101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K = f(PD, LGD, ρ, Laufzeit)</a:t>
            </a:r>
          </a:p>
          <a:p xmlns:a="http://schemas.openxmlformats.org/drawingml/2006/main">
            <a:pPr algn="l">
              <a:defRPr sz="1050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RWA = K × 12,5 × EAD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50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K · regulatorischer Kapitalbedarf für unerwartete Verluste</a:t>
            </a:r>
          </a:p>
          <a:p xmlns:a="http://schemas.openxmlformats.org/drawingml/2006/main">
            <a:pPr algn="l">
              <a:defRPr sz="1050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ρ · klassenabhängige Asset-Korrelation</a:t>
            </a:r>
          </a:p>
          <a:p xmlns:a="http://schemas.openxmlformats.org/drawingml/2006/main">
            <a:pPr algn="l">
              <a:defRPr sz="1050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12,5 · Umrechnung von 8 % Kapitalquote in RWA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50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Im Cockpit</a:t>
            </a:r>
          </a:p>
          <a:p xmlns:a="http://schemas.openxmlformats.org/drawingml/2006/main">
            <a:pPr algn="l">
              <a:defRPr sz="1050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Gestresste PD/LGD erhöhen K und damit den RWA-Nenner.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A719D46-8852-4959-AA6C-888700AE4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05450"/>
            <a:ext cx="112776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8EED3"/>
          </a:solidFill>
          <a:ln xmlns:a="http://schemas.openxmlformats.org/drawingml/2006/main" w="9525">
            <a:solidFill>
              <a:srgbClr val="E4C969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06795C8-6AEC-4CFE-AC39-20171B517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48325"/>
            <a:ext cx="1714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1" i="0">
                <a:solidFill>
                  <a:srgbClr val="D9A124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D9A124"/>
                </a:solidFill>
                <a:latin typeface="Aptos"/>
                <a:ea typeface="Aptos"/>
                <a:cs typeface="Aptos"/>
              </a:rPr>
              <a:t>WICHTIGE ABGRENZUNG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26A1C48-6020-45A5-B593-A30F2E3CD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619750"/>
            <a:ext cx="9048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Das Cockpit nutzt einen transparenten 1-Jahres-Stress-Expected-Loss. Ein vollständiges IFRS-9-ECL-Modell enthält zusätzlich Stages, Lifetime-Horizonte, Szenariogewichte und Diskontierung.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4F7B2E1-5C60-4E46-8FC1-4794839A3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0382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53" b="0" i="0">
                <a:solidFill>
                  <a:srgbClr val="71858F"/>
                </a:solidFill>
                <a:latin typeface="Aptos"/>
                <a:ea typeface="Aptos"/>
                <a:cs typeface="Aptos"/>
              </a:defRPr>
            </a:pPr>
            <a:r>
              <a:rPr sz="653" b="0" i="0">
                <a:solidFill>
                  <a:srgbClr val="71858F"/>
                </a:solidFill>
                <a:latin typeface="Aptos"/>
                <a:ea typeface="Aptos"/>
                <a:cs typeface="Aptos"/>
              </a:rPr>
              <a:t>Quelle: IFRS 9 Grundlogik · Basel III / CRR IRB-Ansatz · Modell-Cockpit; vereinfachte 1-Jahres-ECL-Stressdarstellung</a:t>
            </a:r>
          </a:p>
        </p:txBody>
      </p:sp>
    </p:spTree>
    <p:extLst>
      <p:ext uri="{BB962C8B-B14F-4D97-AF65-F5344CB8AC3E}">
        <p14:creationId xmlns:p14="http://schemas.microsoft.com/office/powerpoint/2010/main" val="205871234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3F6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D163228-49C2-4817-B4D4-BEBCB28E8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2F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EAAA78-5C4D-415D-977F-77E6DF23D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457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1" i="0">
                <a:solidFill>
                  <a:srgbClr val="A52F4D"/>
                </a:solidFill>
                <a:latin typeface="Aptos"/>
                <a:ea typeface="Aptos"/>
                <a:cs typeface="Aptos"/>
              </a:defRPr>
            </a:pPr>
            <a:r>
              <a:rPr sz="863" b="1" i="0">
                <a:solidFill>
                  <a:srgbClr val="A52F4D"/>
                </a:solidFill>
                <a:latin typeface="Aptos"/>
                <a:ea typeface="Aptos"/>
                <a:cs typeface="Aptos"/>
              </a:rPr>
              <a:t>KAPITEL 1 · EINFÜHRUNG IN DAS MODELL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EA9897-A10F-4560-B7B7-978D653A9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191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7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Das Modell übersetzt zwei Makroschocks in eine belastbare CET1-Aussage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938594-00D0-42CB-848E-BF56382A3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1096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Der Kern ist eine transparente Wirkungskette – von Marktvariablen über Risikoparameter bis zur Kapitalquote.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830E70-7E2D-4700-A697-73AFD44BB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361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75F40C-B22B-4E00-A2EA-B175FF877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52550"/>
            <a:ext cx="15430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52F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DC0CEC-8786-4E6D-A104-CA00ADB6C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90650"/>
            <a:ext cx="1466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88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MANAGEMENT-FRAGE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6C78D8-EFF5-4DDB-821E-F105A847E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33550"/>
            <a:ext cx="10953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Wie stark sinkt die harte Kernkapitalquote der zehn größten EU-IRB-Banken unter Ölpreis- und Zinsschocks?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80BEE0-A94D-473C-B3AF-F3B1A2424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14625"/>
            <a:ext cx="23622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A6B4CB-1471-4AE7-85FC-B615CD34B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14625"/>
            <a:ext cx="571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D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F3A39B-B777-4B01-BECA-BCF9626A1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38450"/>
            <a:ext cx="590550" cy="2190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5D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C2017F-F23C-44C2-9A24-D7C2331E2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76550"/>
            <a:ext cx="5143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13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INPUT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7825F2-FBF6-4413-BBE3-DEFB02DD2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162300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1 · Makrofaktoren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74BDC9-3B1C-4504-B8CC-BA3BDDDDF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486150"/>
            <a:ext cx="20383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1013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ΔBrent</a:t>
            </a:r>
          </a:p>
          <a:p xmlns:a="http://schemas.openxmlformats.org/drawingml/2006/main">
            <a:pPr algn="l">
              <a:defRPr sz="1013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1013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Ölpreis als Energie- und Inflationsschock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13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1013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Δr 10Y</a:t>
            </a:r>
          </a:p>
          <a:p xmlns:a="http://schemas.openxmlformats.org/drawingml/2006/main">
            <a:pPr algn="l">
              <a:defRPr sz="1013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1013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Zins als Refinanzierungs- und Bewertungsimpuls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B66C0F-73C0-4DCC-9A8D-C519CA270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35433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71858F"/>
                </a:solidFill>
                <a:latin typeface="Aptos"/>
                <a:ea typeface="Aptos"/>
                <a:cs typeface="Aptos"/>
              </a:defRPr>
            </a:pPr>
            <a:r>
              <a:rPr sz="2100" b="1" i="0">
                <a:solidFill>
                  <a:srgbClr val="71858F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90B02A-5ED6-4F46-B1D9-CE8BA01AD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714625"/>
            <a:ext cx="23622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5DD845-0D6E-43DD-80FE-60512692B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714625"/>
            <a:ext cx="571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777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74188E-3B15-4F44-B11D-12D4E14EF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838450"/>
            <a:ext cx="647700" cy="2190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777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630D0F-D23D-4847-9110-86200BE70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876550"/>
            <a:ext cx="571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13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MODELL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7A4279E-6A7C-4495-B9FB-714216DE9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3162300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2 · Transmission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86F9179-AE98-4F18-8FE6-04B39B95B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3486150"/>
            <a:ext cx="20383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1013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Sektorale β/γ-Matrix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13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1013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ΔPD und ΔLGD je Exposure-Klasse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13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1013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Keine pauschale Ein-Faktor-Logik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7087979-694D-4424-B54A-9C2394FA8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35433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71858F"/>
                </a:solidFill>
                <a:latin typeface="Aptos"/>
                <a:ea typeface="Aptos"/>
                <a:cs typeface="Aptos"/>
              </a:defRPr>
            </a:pPr>
            <a:r>
              <a:rPr sz="2100" b="1" i="0">
                <a:solidFill>
                  <a:srgbClr val="71858F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F412B23-7E65-4335-A166-9858D50EF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714625"/>
            <a:ext cx="23622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750E13D-79E8-481B-9B80-A96FCEC0F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714625"/>
            <a:ext cx="571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2F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4E67C6E-CA6F-45E6-BD68-03AACC02D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838450"/>
            <a:ext cx="685800" cy="2190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52F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8D16AD2-5FE2-43F0-A43D-CB1934D6A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876550"/>
            <a:ext cx="6096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13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KANÄLE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2452E29-46AB-41A2-8CFC-9A3EF639E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3162300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3 · Risikokanäle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1F65A3C-E8E8-4FA0-AEAD-88FEF43EC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3486150"/>
            <a:ext cx="20383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1013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Kreditbuch</a:t>
            </a:r>
          </a:p>
          <a:p xmlns:a="http://schemas.openxmlformats.org/drawingml/2006/main">
            <a:pPr algn="l">
              <a:defRPr sz="1013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1013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Expected Loss + IRB-RWA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13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1013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Sovereign-Buch</a:t>
            </a:r>
          </a:p>
          <a:p xmlns:a="http://schemas.openxmlformats.org/drawingml/2006/main">
            <a:pPr algn="l">
              <a:defRPr sz="1013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1013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Duration-MtM + IFRS-9-Filter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1BF9FDD-DA55-47E2-818D-0A697F95E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5433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71858F"/>
                </a:solidFill>
                <a:latin typeface="Aptos"/>
                <a:ea typeface="Aptos"/>
                <a:cs typeface="Aptos"/>
              </a:defRPr>
            </a:pPr>
            <a:r>
              <a:rPr sz="2100" b="1" i="0">
                <a:solidFill>
                  <a:srgbClr val="71858F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3310A0F-C762-4F0C-A14A-052646FF4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714625"/>
            <a:ext cx="29337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123B50"/>
          </a:solidFill>
          <a:ln xmlns:a="http://schemas.openxmlformats.org/drawingml/2006/main" w="9525">
            <a:solidFill>
              <a:srgbClr val="123B5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DAEBDA9-236E-4B06-9276-DAEB9ED35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714625"/>
            <a:ext cx="571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1C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EDF97C2-95E2-4BE0-991E-772A92C7C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838450"/>
            <a:ext cx="628650" cy="2190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51C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2E30BEC-78CA-4AA3-BCDA-6986EBA18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876550"/>
            <a:ext cx="5524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13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OUTPUT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BF55001-AC9F-46B7-B86B-5318EC71C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3162300"/>
            <a:ext cx="2609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4 · CET1-Ergebnis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9C433D8-DB7B-42BB-BFEB-3DA193B07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3486150"/>
            <a:ext cx="26098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90" b="0" i="0">
                <a:solidFill>
                  <a:srgbClr val="E4EEF2"/>
                </a:solidFill>
                <a:latin typeface="Aptos"/>
                <a:ea typeface="Aptos"/>
                <a:cs typeface="Aptos"/>
              </a:defRPr>
            </a:pPr>
            <a:r>
              <a:rPr sz="990" b="0" i="0">
                <a:solidFill>
                  <a:srgbClr val="E4EEF2"/>
                </a:solidFill>
                <a:latin typeface="Aptos"/>
                <a:ea typeface="Aptos"/>
                <a:cs typeface="Aptos"/>
              </a:rPr>
              <a:t>Zähler: CET1 minus Vorsorge und Marktwertverluste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90" b="0" i="0">
                <a:solidFill>
                  <a:srgbClr val="E4EEF2"/>
                </a:solidFill>
                <a:latin typeface="Aptos"/>
                <a:ea typeface="Aptos"/>
                <a:cs typeface="Aptos"/>
              </a:defRPr>
            </a:pPr>
            <a:r>
              <a:rPr sz="990" b="0" i="0">
                <a:solidFill>
                  <a:srgbClr val="E4EEF2"/>
                </a:solidFill>
                <a:latin typeface="Aptos"/>
                <a:ea typeface="Aptos"/>
                <a:cs typeface="Aptos"/>
              </a:rPr>
              <a:t>Nenner: RWA plus zusätzlicher Kredit-RWA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90" b="0" i="0">
                <a:solidFill>
                  <a:srgbClr val="E4EEF2"/>
                </a:solidFill>
                <a:latin typeface="Aptos"/>
                <a:ea typeface="Aptos"/>
                <a:cs typeface="Aptos"/>
              </a:defRPr>
            </a:pPr>
            <a:r>
              <a:rPr sz="990" b="0" i="0">
                <a:solidFill>
                  <a:srgbClr val="E4EEF2"/>
                </a:solidFill>
                <a:latin typeface="Aptos"/>
                <a:ea typeface="Aptos"/>
                <a:cs typeface="Aptos"/>
              </a:rPr>
              <a:t>Output: Quote je Bank und im Aggregat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258C2F6-1ECB-4471-BFA8-09B340633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95875"/>
            <a:ext cx="112776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D72F2B9-7585-4B78-A008-97A54630C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57800"/>
            <a:ext cx="1333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1" i="0">
                <a:solidFill>
                  <a:srgbClr val="A52F4D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A52F4D"/>
                </a:solidFill>
                <a:latin typeface="Aptos"/>
                <a:ea typeface="Aptos"/>
                <a:cs typeface="Aptos"/>
              </a:rPr>
              <a:t>DESIGNPRINZIP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6CDA0CE-4DEF-45AC-84B8-BF1CC3699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05450"/>
            <a:ext cx="2381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Keine Black Box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79BB45C-E1D9-41D3-B5F0-D34C93EF2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5486400"/>
            <a:ext cx="838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Jeder Schritt besitzt eine Formel, eine Datenquelle und einen messbaren Beitrag zur finalen CET1-Bridge.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B257C6F-0E98-4AF5-B524-3D1588C17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0382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53" b="0" i="0">
                <a:solidFill>
                  <a:srgbClr val="71858F"/>
                </a:solidFill>
                <a:latin typeface="Aptos"/>
                <a:ea typeface="Aptos"/>
                <a:cs typeface="Aptos"/>
              </a:defRPr>
            </a:pPr>
            <a:r>
              <a:rPr sz="653" b="0" i="0">
                <a:solidFill>
                  <a:srgbClr val="71858F"/>
                </a:solidFill>
                <a:latin typeface="Aptos"/>
                <a:ea typeface="Aptos"/>
                <a:cs typeface="Aptos"/>
              </a:rPr>
              <a:t>Quelle: Modell-Cockpit · Pillar 3 EU-CR6 · EBA Transparency · ICE Brent · Deutsche Bundesbank</a:t>
            </a:r>
          </a:p>
        </p:txBody>
      </p:sp>
    </p:spTree>
    <p:extLst>
      <p:ext uri="{BB962C8B-B14F-4D97-AF65-F5344CB8AC3E}">
        <p14:creationId xmlns:p14="http://schemas.microsoft.com/office/powerpoint/2010/main" val="31925294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3F6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4FE7B30-0E74-435A-AFD5-0EC711B7A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2F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95819E-3F49-4655-922E-3B77BD5DF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457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1" i="0">
                <a:solidFill>
                  <a:srgbClr val="A52F4D"/>
                </a:solidFill>
                <a:latin typeface="Aptos"/>
                <a:ea typeface="Aptos"/>
                <a:cs typeface="Aptos"/>
              </a:defRPr>
            </a:pPr>
            <a:r>
              <a:rPr sz="863" b="1" i="0">
                <a:solidFill>
                  <a:srgbClr val="A52F4D"/>
                </a:solidFill>
                <a:latin typeface="Aptos"/>
                <a:ea typeface="Aptos"/>
                <a:cs typeface="Aptos"/>
              </a:rPr>
              <a:t>KAPITEL 1 · ZIELGRÖSSE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5DBB88-3EAD-4EA2-B079-ECC0E3885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191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7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CET1 fällt gleichzeitig über den Zähler und den RWA-Nenner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7764F5-0E6B-4CEA-BDC9-B09AF0C14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1096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Das Modell verbindet Kreditvorsorge, Marktwertverluste und zusätzliche RWA in einer konsistenten Kapitalgleichung.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BD4B49-D32B-4EDB-ADC4-32877DF5C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361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43D579-2881-4E32-B2B2-3C4CC49BF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38275"/>
            <a:ext cx="6953250" cy="2428875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051C2C"/>
          </a:solidFill>
          <a:ln xmlns:a="http://schemas.openxmlformats.org/drawingml/2006/main" w="9525">
            <a:solidFill>
              <a:srgbClr val="051C2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10981E-448A-4B99-B405-E666139C4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5735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BCD0D9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BCD0D9"/>
                </a:solidFill>
                <a:latin typeface="Aptos"/>
                <a:ea typeface="Aptos"/>
                <a:cs typeface="Aptos"/>
              </a:rPr>
              <a:t>GESTRESSTE CET1-QUOTE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62C220-0BBB-46CA-A52F-A2AA4C1BA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124075"/>
            <a:ext cx="6048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CET1₀  −  ΔEL Kreditbuch  +  ΔFV Sovereigns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4E5A73-DE15-4A02-82DA-1C9975C26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09850"/>
            <a:ext cx="5619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299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ED0969-1C2C-4CE6-BA52-B6CB0400A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800350"/>
            <a:ext cx="4619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RWA₀  +  ΔRWA Kreditbuch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69FE20-B2D3-4447-8B8B-8EE623AA4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00425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E8B6C2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E8B6C2"/>
                </a:solidFill>
                <a:latin typeface="Aptos"/>
                <a:ea typeface="Aptos"/>
                <a:cs typeface="Aptos"/>
              </a:rPr>
              <a:t>Zählerwirkung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5AF09B-594B-46B7-A327-3EC3DC6D4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390900"/>
            <a:ext cx="4667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E4EEF2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E4EEF2"/>
                </a:solidFill>
                <a:latin typeface="Aptos"/>
                <a:ea typeface="Aptos"/>
                <a:cs typeface="Aptos"/>
              </a:rPr>
              <a:t>Vorsorge und Sovereign-MtM reduzieren hartes Kernkapital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D5CAC3-AF16-4C75-91EF-075C66E46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438275"/>
            <a:ext cx="4019550" cy="2428875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E6CBC6-5AA0-4CF1-9FE5-545367E33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438275"/>
            <a:ext cx="57150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2F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6E97D0-05AB-4B04-9B11-8EC15961E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1562100"/>
            <a:ext cx="790575" cy="2190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52F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634D39-92BC-49E4-A466-7D65B945D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600200"/>
            <a:ext cx="7143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13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MECHANIK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35D627-9DC2-4DA6-BF53-3CD6CF6C7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1885950"/>
            <a:ext cx="3695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Warum beide Seiten zählen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B0D048-706E-4A20-80BC-D73CF3E33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2209800"/>
            <a:ext cx="36957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98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998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• Höhere PD/LGD erhöhen den Expected Loss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98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998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• Die Basel-IRB-Formel erhöht den Kapitalbedarf und die RWA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98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998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• Steigende Zinsen senken den Fair Value marktwertbewerteter Staatsanleihen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98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998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• Alle Effekte wirken gemeinsam auf die Quote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D1DD2B-8999-480A-9DB1-F7C0149BC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38625"/>
            <a:ext cx="323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A52F4D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A52F4D"/>
                </a:solidFill>
                <a:latin typeface="Aptos"/>
                <a:ea typeface="Aptos"/>
                <a:cs typeface="Aptos"/>
              </a:rPr>
              <a:t>AUFSICHTLICHE ORIENTIERUNGSPUNKTE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59085D-6D1E-4CFE-8633-F7178959C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52950"/>
            <a:ext cx="3495675" cy="1362075"/>
          </a:xfrm>
          <a:prstGeom xmlns:a="http://schemas.openxmlformats.org/drawingml/2006/main" prst="roundRect">
            <a:avLst>
              <a:gd name="adj" fmla="val 83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7BCE0FE-3A78-4633-BA21-4EE76CB23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52950"/>
            <a:ext cx="76200" cy="1362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2F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C2C1491-C6BD-423E-8FF9-CD17B45AD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714875"/>
            <a:ext cx="1285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A52F4D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 i="0">
                <a:solidFill>
                  <a:srgbClr val="A52F4D"/>
                </a:solidFill>
                <a:latin typeface="Aptos Display"/>
                <a:ea typeface="Aptos Display"/>
                <a:cs typeface="Aptos Display"/>
              </a:rPr>
              <a:t>4,5 %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A959443-B880-42FC-B95E-217B38BC9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229225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Pillar-1-Minimum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326F476-FB63-4BD0-A608-801209CF3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534025"/>
            <a:ext cx="2952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863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harte Untergrenze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AC795C0-199C-4DE5-BC9A-3162578B5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4552950"/>
            <a:ext cx="3495675" cy="1362075"/>
          </a:xfrm>
          <a:prstGeom xmlns:a="http://schemas.openxmlformats.org/drawingml/2006/main" prst="roundRect">
            <a:avLst>
              <a:gd name="adj" fmla="val 83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A3EAF9D-848E-4E5C-88EF-978E07FF4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4552950"/>
            <a:ext cx="76200" cy="1362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1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7E3AD19-89EE-4551-8E13-F99160DB1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714875"/>
            <a:ext cx="1285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D9A124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 i="0">
                <a:solidFill>
                  <a:srgbClr val="D9A124"/>
                </a:solidFill>
                <a:latin typeface="Aptos Display"/>
                <a:ea typeface="Aptos Display"/>
                <a:cs typeface="Aptos Display"/>
              </a:rPr>
              <a:t>7,0 %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2786405-B047-43D7-AFCF-F5E9BE048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5229225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inkl. Kapitalerhaltungspuffer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EC8C90C-86E2-4F28-AE13-F1038FD80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5534025"/>
            <a:ext cx="2952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863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Ausschüttungen unter Druck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A5FDA9B-55D8-4F6E-AE20-FE524F835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552950"/>
            <a:ext cx="3495675" cy="1362075"/>
          </a:xfrm>
          <a:prstGeom xmlns:a="http://schemas.openxmlformats.org/drawingml/2006/main" prst="roundRect">
            <a:avLst>
              <a:gd name="adj" fmla="val 83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9FAE2B9-E931-443C-987C-68D84A21C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552950"/>
            <a:ext cx="76200" cy="1362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D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DAFDD05-B468-425C-A535-E026333A9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4714875"/>
            <a:ext cx="1285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0B5D7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 i="0">
                <a:solidFill>
                  <a:srgbClr val="0B5D7A"/>
                </a:solidFill>
                <a:latin typeface="Aptos Display"/>
                <a:ea typeface="Aptos Display"/>
                <a:cs typeface="Aptos Display"/>
              </a:rPr>
              <a:t>8,0 %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C0D6835-4BB8-4267-BFC3-52B6F422C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5229225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typischer SREP-Orientierungswert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7D1DAFF-C2EB-47A2-A45D-31D5C86DB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5534025"/>
            <a:ext cx="2952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863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institutsspezifischer Puffer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05BD946-2CA5-4857-AB50-3D6C799F9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0382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53" b="0" i="0">
                <a:solidFill>
                  <a:srgbClr val="71858F"/>
                </a:solidFill>
                <a:latin typeface="Aptos"/>
                <a:ea typeface="Aptos"/>
                <a:cs typeface="Aptos"/>
              </a:defRPr>
            </a:pPr>
            <a:r>
              <a:rPr sz="653" b="0" i="0">
                <a:solidFill>
                  <a:srgbClr val="71858F"/>
                </a:solidFill>
                <a:latin typeface="Aptos"/>
                <a:ea typeface="Aptos"/>
                <a:cs typeface="Aptos"/>
              </a:rPr>
              <a:t>Quelle: Basel III / CRR · Modell-Cockpit · Schwellen dienen der Einordnung, nicht als bankspezifische SREP-Prognose</a:t>
            </a:r>
          </a:p>
        </p:txBody>
      </p:sp>
    </p:spTree>
    <p:extLst>
      <p:ext uri="{BB962C8B-B14F-4D97-AF65-F5344CB8AC3E}">
        <p14:creationId xmlns:p14="http://schemas.microsoft.com/office/powerpoint/2010/main" val="85579486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3F6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3E3E0F5-950D-4240-9891-B2B401324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2F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62B85F-0522-4D1B-A0A5-708521AF3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457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1" i="0">
                <a:solidFill>
                  <a:srgbClr val="A52F4D"/>
                </a:solidFill>
                <a:latin typeface="Aptos"/>
                <a:ea typeface="Aptos"/>
                <a:cs typeface="Aptos"/>
              </a:defRPr>
            </a:pPr>
            <a:r>
              <a:rPr sz="863" b="1" i="0">
                <a:solidFill>
                  <a:srgbClr val="A52F4D"/>
                </a:solidFill>
                <a:latin typeface="Aptos"/>
                <a:ea typeface="Aptos"/>
                <a:cs typeface="Aptos"/>
              </a:rPr>
              <a:t>KAPITEL 1 · DATENBASIS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E522E8-49F8-4916-A7EE-B8087C17D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191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7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Ein konsistenter Top-10-Datensatz verbindet 56 % der EU-IRB-EAD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D96D6F-D35C-48AB-8932-FEF1AD122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1096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Bankparameter stammen aus regulatorischen Veröffentlichungen; Marktvariablen liefern die dynamischen Stressimpulse.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742371-79FA-483A-8269-905D7E724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361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2650F4-4C82-4877-80F3-0318B8190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38275"/>
            <a:ext cx="3638550" cy="4514850"/>
          </a:xfrm>
          <a:prstGeom xmlns:a="http://schemas.openxmlformats.org/drawingml/2006/main" prst="roundRect">
            <a:avLst>
              <a:gd name="adj" fmla="val 31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F84681-FD27-4255-A092-0477CCA06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573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A52F4D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A52F4D"/>
                </a:solidFill>
                <a:latin typeface="Aptos"/>
                <a:ea typeface="Aptos"/>
                <a:cs typeface="Aptos"/>
              </a:rPr>
              <a:t>BANKENFILTER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2B6C9D-C5A7-4883-9122-DE831EA24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38350"/>
            <a:ext cx="32575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5EC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29D24A-38A5-4D08-9D82-72A8152A9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52650"/>
            <a:ext cx="31051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120 EBA-Banken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745273-63A2-47C4-AB13-6EE1CE1F5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590800"/>
            <a:ext cx="28956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0DF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50790C-572F-44F3-9597-2DEFF4065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705100"/>
            <a:ext cx="27432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67 IRB-Banken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BBD8F4-1622-4635-8EA4-D3E8A111E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43250"/>
            <a:ext cx="25336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AFC8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089A54-FBB9-45EA-8D19-24D31ADF4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57550"/>
            <a:ext cx="2381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10 kuratierte Top-Banken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1A2E2D-065B-44FC-83D9-326275F36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695700"/>
            <a:ext cx="21717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78A4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3B5A09-8F3B-4732-BD07-A784246EA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3810000"/>
            <a:ext cx="20193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Einheitlicher Audit-Trail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60975A-E2F5-4AB9-AD47-ED538E7CF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419600"/>
            <a:ext cx="25527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051C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5413B7-E4BD-4CBE-8971-28B956C85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572000"/>
            <a:ext cx="21717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€8,28 tn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F4E468-B9CE-4697-AA71-7F74240F2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000625"/>
            <a:ext cx="2171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DCE8ED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DCE8ED"/>
                </a:solidFill>
                <a:latin typeface="Aptos"/>
                <a:ea typeface="Aptos"/>
                <a:cs typeface="Aptos"/>
              </a:rPr>
              <a:t>IRB-EAD · 56 % Abdeckung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97A333-D555-4539-A06F-C7D35D4A8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43550"/>
            <a:ext cx="3067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863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Filter entfernt Nicht-IRB-Banken, Töchter und Dubletten.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C94C58-FC30-46CF-82C9-E7EADD72A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46685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A52F4D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A52F4D"/>
                </a:solidFill>
                <a:latin typeface="Aptos"/>
                <a:ea typeface="Aptos"/>
                <a:cs typeface="Aptos"/>
              </a:rPr>
              <a:t>DATENBAUSTEINE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3F72403-B2DC-491C-8D5E-281B77B57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781175"/>
            <a:ext cx="3448050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453F5A9-B09B-48A3-9499-D52BAD95F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781175"/>
            <a:ext cx="5715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1C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D8419BB-5FE9-49F7-ACD6-A0372FFA2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905000"/>
            <a:ext cx="781050" cy="2190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51C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A4B25FA-0533-4FD6-A823-028278E84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943100"/>
            <a:ext cx="7048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13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SNAPSHOT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8E521FF-7EFF-453E-BE5B-5F1DB8C65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2228850"/>
            <a:ext cx="3124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Pillar 3 · EU-CR6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524B8FC-2C79-42B1-A225-CBE83CC99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2552700"/>
            <a:ext cx="3124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23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923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PD und LGD je Bank und IRB-Klasse</a:t>
            </a:r>
          </a:p>
          <a:p xmlns:a="http://schemas.openxmlformats.org/drawingml/2006/main">
            <a:pPr algn="l">
              <a:defRPr sz="923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923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31.12.2024 · 69/69 IRB-fähige Kombinationen direkt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272A86D-0C9D-4361-B8AD-796467906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81175"/>
            <a:ext cx="3676650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2D3BD43-05D5-4092-B5AA-92A0565D4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81175"/>
            <a:ext cx="5715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1C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B2522F4-4413-44D3-9D6F-E2CD92AEC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905000"/>
            <a:ext cx="781050" cy="2190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51C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7C67560-0009-4E8C-994E-0E0F3B3BA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943100"/>
            <a:ext cx="7048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13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SNAPSHOT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BDDBC36-95B4-417F-8180-6D5747E71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2228850"/>
            <a:ext cx="335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EBA Transparency 2025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6FE91F0-B454-471E-873D-29926376A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2552700"/>
            <a:ext cx="3352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23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923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EAD · CET1 · RWA · Sovereign-Bestände</a:t>
            </a:r>
          </a:p>
          <a:p xmlns:a="http://schemas.openxmlformats.org/drawingml/2006/main">
            <a:pPr algn="l">
              <a:defRPr sz="923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923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Bankindividueller IFRS-9-Split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035A0EC-5B26-4AC3-AC47-B28664002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152775"/>
            <a:ext cx="3448050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4A0C49B-052B-4E22-A38A-D757A9836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152775"/>
            <a:ext cx="5715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777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C2223C0-7C13-48FD-8A64-170515FA6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276600"/>
            <a:ext cx="1200150" cy="2190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777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650765B-89A3-4854-9063-0F7D6B4E8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314700"/>
            <a:ext cx="11239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13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AKTUELL + HISTORIE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BEB95AD-C506-4713-9F35-D41C19A29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3600450"/>
            <a:ext cx="3124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ICE Brent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A1FF09C-FDDC-4DE6-99D2-1F5933FB9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3924300"/>
            <a:ext cx="3124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23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923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Aktueller Marktpreis und tägliche Historie</a:t>
            </a:r>
          </a:p>
          <a:p xmlns:a="http://schemas.openxmlformats.org/drawingml/2006/main">
            <a:pPr algn="l">
              <a:defRPr sz="923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923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Input für Ölpreis- und Energiepreisschock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9C8DEED-3A2A-42EF-95F9-97E39F89B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152775"/>
            <a:ext cx="3676650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4576178-8C9E-4677-ACF5-B4D6101BF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152775"/>
            <a:ext cx="5715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777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F5CC58A-9865-498A-B1BD-B18532904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276600"/>
            <a:ext cx="1200150" cy="2190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777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A59B9C1-6A31-4EC0-8407-0D08DF979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314700"/>
            <a:ext cx="11239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13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AKTUELL + HISTORIE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B4735A3-963C-4B70-8ACA-0A8402758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3600450"/>
            <a:ext cx="335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Bundesbank Svensson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F6B19A3-5463-49C6-A783-721E53EED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3924300"/>
            <a:ext cx="3352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23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923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Offizielle Zero-Curve und tägliche Historie</a:t>
            </a:r>
          </a:p>
          <a:p xmlns:a="http://schemas.openxmlformats.org/drawingml/2006/main">
            <a:pPr algn="l">
              <a:defRPr sz="923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923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Input für den 10-Jahres-Zinsschock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A7852A9-8D79-41A5-9FE2-4F68F486B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524375"/>
            <a:ext cx="733425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7C103E9-2474-481D-8C18-510B07DAD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524375"/>
            <a:ext cx="571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1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9051517-4725-45DB-A54E-1CC4D02CB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648200"/>
            <a:ext cx="781050" cy="2190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A1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F931A34-2146-4943-9C26-3944AD448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686300"/>
            <a:ext cx="7048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13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713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METHODIK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DC10376-81A6-4A9D-8C88-E852D3D66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4972050"/>
            <a:ext cx="701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Methodik und Kalibrierung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4D1F8A1-C31A-4A80-98C7-D11D3249D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5295900"/>
            <a:ext cx="701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60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960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EBA-Stresstestmethodik · ECB Working Papers · Basel-IRB-Formel · IFRS 9</a:t>
            </a:r>
          </a:p>
          <a:p xmlns:a="http://schemas.openxmlformats.org/drawingml/2006/main">
            <a:pPr algn="l">
              <a:defRPr sz="960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960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Die Quellen liefern Richtung, relative Stärke und regulatorische Rechenlogik.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DA92620-78FB-452A-9FF5-32CC501EB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0382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53" b="0" i="0">
                <a:solidFill>
                  <a:srgbClr val="71858F"/>
                </a:solidFill>
                <a:latin typeface="Aptos"/>
                <a:ea typeface="Aptos"/>
                <a:cs typeface="Aptos"/>
              </a:defRPr>
            </a:pPr>
            <a:r>
              <a:rPr sz="653" b="0" i="0">
                <a:solidFill>
                  <a:srgbClr val="71858F"/>
                </a:solidFill>
                <a:latin typeface="Aptos"/>
                <a:ea typeface="Aptos"/>
                <a:cs typeface="Aptos"/>
              </a:rPr>
              <a:t>Quelle: Modell-Cockpit · Pillar 3 EU-CR6 · EBA Transparency · ICE Brent · Deutsche Bundesbank</a:t>
            </a:r>
          </a:p>
        </p:txBody>
      </p:sp>
    </p:spTree>
    <p:extLst>
      <p:ext uri="{BB962C8B-B14F-4D97-AF65-F5344CB8AC3E}">
        <p14:creationId xmlns:p14="http://schemas.microsoft.com/office/powerpoint/2010/main" val="172180954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3F6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AADC313-0742-4091-BE25-3E51B09DB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2F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62B9A0-1903-44D4-AC09-D0CB9D848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457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1" i="0">
                <a:solidFill>
                  <a:srgbClr val="A52F4D"/>
                </a:solidFill>
                <a:latin typeface="Aptos"/>
                <a:ea typeface="Aptos"/>
                <a:cs typeface="Aptos"/>
              </a:defRPr>
            </a:pPr>
            <a:r>
              <a:rPr sz="863" b="1" i="0">
                <a:solidFill>
                  <a:srgbClr val="A52F4D"/>
                </a:solidFill>
                <a:latin typeface="Aptos"/>
                <a:ea typeface="Aptos"/>
                <a:cs typeface="Aptos"/>
              </a:rPr>
              <a:t>KAPITEL 1 · FAKTORAUSWAHL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14A6CA-167B-46CC-B8EA-725216756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191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7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Brent und 10Y-Zins adressieren unterschiedliche ökonomische Risiken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F5E066-3EC2-4404-94AB-F917CAC70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1096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Die Faktoren werden nicht aggregiert, weil sie verschiedene Ursachen, Bilanzkanäle und sektorale Gewinner bzw. Verlierer erzeugen.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0D08A8-9D43-4967-85E2-105A9E648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361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0B7655-28BB-46C7-B295-02FFDA087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95425"/>
            <a:ext cx="4762500" cy="3743325"/>
          </a:xfrm>
          <a:prstGeom xmlns:a="http://schemas.openxmlformats.org/drawingml/2006/main" prst="roundRect">
            <a:avLst>
              <a:gd name="adj" fmla="val 30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A847CF-68E3-40CA-AF05-92620B005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95425"/>
            <a:ext cx="57150" cy="3743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D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C37D77-4969-4AC4-94A3-8AC9F25FF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714375" cy="2190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5D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4B9FDD-0C84-463A-B58A-EA248FFB0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57350"/>
            <a:ext cx="6381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13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FAKTOR 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66FE9F-2F92-459C-B7FE-4F96BDC60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943100"/>
            <a:ext cx="443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ΔBrent · Energie- und Angebotsschock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ACE914-3B4B-4016-AA79-1F0D7E774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266950"/>
            <a:ext cx="4438650" cy="2886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Warum Brent?</a:t>
            </a:r>
          </a:p>
          <a:p xmlns:a="http://schemas.openxmlformats.org/drawingml/2006/main">
            <a:pPr algn="l">
              <a:defRPr sz="1050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Europäischer Referenzpreis für global gehandeltes Rohöl.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50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Wirkungskanäle</a:t>
            </a:r>
          </a:p>
          <a:p xmlns:a="http://schemas.openxmlformats.org/drawingml/2006/main">
            <a:pPr algn="l">
              <a:defRPr sz="1050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• Energie- und Inputkosten</a:t>
            </a:r>
          </a:p>
          <a:p xmlns:a="http://schemas.openxmlformats.org/drawingml/2006/main">
            <a:pPr algn="l">
              <a:defRPr sz="1050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• Headline-Inflation</a:t>
            </a:r>
          </a:p>
          <a:p xmlns:a="http://schemas.openxmlformats.org/drawingml/2006/main">
            <a:pPr algn="l">
              <a:defRPr sz="1050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• verfügbares Haushaltseinkommen</a:t>
            </a:r>
          </a:p>
          <a:p xmlns:a="http://schemas.openxmlformats.org/drawingml/2006/main">
            <a:pPr algn="l">
              <a:defRPr sz="1050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• Unternehmensmargen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50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Einheit</a:t>
            </a:r>
          </a:p>
          <a:p xmlns:a="http://schemas.openxmlformats.org/drawingml/2006/main">
            <a:pPr algn="l">
              <a:defRPr sz="1050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Log-Return: additiv über die Zeit und symmetrisch um null.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A29EDF-3159-480E-A11F-21EC02BC2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495425"/>
            <a:ext cx="4762500" cy="3743325"/>
          </a:xfrm>
          <a:prstGeom xmlns:a="http://schemas.openxmlformats.org/drawingml/2006/main" prst="roundRect">
            <a:avLst>
              <a:gd name="adj" fmla="val 30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75061C-E47A-4B4B-B72E-583CC1272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495425"/>
            <a:ext cx="57150" cy="3743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2F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91CE18-0C8B-4FC5-AA14-4BD723ED1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619250"/>
            <a:ext cx="714375" cy="2190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52F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5C4309-FE32-49BF-AB49-961A0C6FC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657350"/>
            <a:ext cx="6381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13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FAKTOR 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058A1A-F01F-495D-B408-ACFA1CB5C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1943100"/>
            <a:ext cx="443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Δr 10Y · Refinanzierungs- und Bewertungsimpuls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8BB2E4-4743-48A9-80B3-FC004D8A1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2266950"/>
            <a:ext cx="4438650" cy="2886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Warum zehn Jahre?</a:t>
            </a:r>
          </a:p>
          <a:p xmlns:a="http://schemas.openxmlformats.org/drawingml/2006/main">
            <a:pPr algn="l">
              <a:defRPr sz="1050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Pricing-Anker für Hypotheken, Corporate Bonds und Sovereigns.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50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Wirkungskanäle</a:t>
            </a:r>
          </a:p>
          <a:p xmlns:a="http://schemas.openxmlformats.org/drawingml/2006/main">
            <a:pPr algn="l">
              <a:defRPr sz="1050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• Kredit- und Refinanzierungskosten</a:t>
            </a:r>
          </a:p>
          <a:p xmlns:a="http://schemas.openxmlformats.org/drawingml/2006/main">
            <a:pPr algn="l">
              <a:defRPr sz="1050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• Immobilienwerte und Recovery</a:t>
            </a:r>
          </a:p>
          <a:p xmlns:a="http://schemas.openxmlformats.org/drawingml/2006/main">
            <a:pPr algn="l">
              <a:defRPr sz="1050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• Bond-Duration / Mark-to-Market</a:t>
            </a:r>
          </a:p>
          <a:p xmlns:a="http://schemas.openxmlformats.org/drawingml/2006/main">
            <a:pPr algn="l">
              <a:defRPr sz="1050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• Net Interest Margin der Banken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50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Einheit</a:t>
            </a:r>
          </a:p>
          <a:p xmlns:a="http://schemas.openxmlformats.org/drawingml/2006/main">
            <a:pPr algn="l">
              <a:defRPr sz="1050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Prozentpunkte: +2,0 pp entsprechen +200 Basispunkten.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934B5C-BD09-436C-AD79-74948B07F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324100"/>
            <a:ext cx="17526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051C2C"/>
          </a:solidFill>
          <a:ln xmlns:a="http://schemas.openxmlformats.org/drawingml/2006/main" w="9525">
            <a:solidFill>
              <a:srgbClr val="051C2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6542C4-CD02-4433-9D36-BF2A483F4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49555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13" b="1" i="0">
                <a:solidFill>
                  <a:srgbClr val="BBD0D9"/>
                </a:solidFill>
                <a:latin typeface="Aptos"/>
                <a:ea typeface="Aptos"/>
                <a:cs typeface="Aptos"/>
              </a:defRPr>
            </a:pPr>
            <a:r>
              <a:rPr sz="713" b="1" i="0">
                <a:solidFill>
                  <a:srgbClr val="BBD0D9"/>
                </a:solidFill>
                <a:latin typeface="Aptos"/>
                <a:ea typeface="Aptos"/>
                <a:cs typeface="Aptos"/>
              </a:rPr>
              <a:t>ZENTRALE THESE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6B5BA34-78FB-4DD0-9D70-6F6A5E83D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790825"/>
            <a:ext cx="1562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ρ = +0,070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35F5D0B-A398-4CBA-9392-35605EEFE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248025"/>
            <a:ext cx="1485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1" i="0">
                <a:solidFill>
                  <a:srgbClr val="E4EEF2"/>
                </a:solidFill>
                <a:latin typeface="Aptos"/>
                <a:ea typeface="Aptos"/>
                <a:cs typeface="Aptos"/>
              </a:defRPr>
            </a:pPr>
            <a:r>
              <a:rPr sz="863" b="1" i="0">
                <a:solidFill>
                  <a:srgbClr val="E4EEF2"/>
                </a:solidFill>
                <a:latin typeface="Aptos"/>
                <a:ea typeface="Aptos"/>
                <a:cs typeface="Aptos"/>
              </a:rPr>
              <a:t>nahezu unabhängige</a:t>
            </a:r>
          </a:p>
          <a:p xmlns:a="http://schemas.openxmlformats.org/drawingml/2006/main">
            <a:pPr algn="ctr">
              <a:defRPr sz="863" b="1" i="0">
                <a:solidFill>
                  <a:srgbClr val="E4EEF2"/>
                </a:solidFill>
                <a:latin typeface="Aptos"/>
                <a:ea typeface="Aptos"/>
                <a:cs typeface="Aptos"/>
              </a:defRPr>
            </a:pPr>
            <a:r>
              <a:rPr sz="863" b="1" i="0">
                <a:solidFill>
                  <a:srgbClr val="E4EEF2"/>
                </a:solidFill>
                <a:latin typeface="Aptos"/>
                <a:ea typeface="Aptos"/>
                <a:cs typeface="Aptos"/>
              </a:rPr>
              <a:t>Tagesbewegungen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4A448B9-3454-4189-81E7-96B830753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05450"/>
            <a:ext cx="112776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3F1EF"/>
          </a:solidFill>
          <a:ln xmlns:a="http://schemas.openxmlformats.org/drawingml/2006/main" w="9525">
            <a:solidFill>
              <a:srgbClr val="B7D4D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B2B8795-F532-4D27-8C4D-E600EB9DC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48325"/>
            <a:ext cx="1714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1" i="0">
                <a:solidFill>
                  <a:srgbClr val="1B777F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1B777F"/>
                </a:solidFill>
                <a:latin typeface="Aptos"/>
                <a:ea typeface="Aptos"/>
                <a:cs typeface="Aptos"/>
              </a:rPr>
              <a:t>MODELLKONSEQUENZ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E2A1A80-0356-4A8C-A8D2-18D24CABA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5629275"/>
            <a:ext cx="8953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Zwei getrennte Slider und zwei direkte Faktorbeiträge – keine Verdichtung in einen systemischen Einzelfaktor.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84D0CEF-8396-4916-BB51-BC1660026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0382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53" b="0" i="0">
                <a:solidFill>
                  <a:srgbClr val="71858F"/>
                </a:solidFill>
                <a:latin typeface="Aptos"/>
                <a:ea typeface="Aptos"/>
                <a:cs typeface="Aptos"/>
              </a:defRPr>
            </a:pPr>
            <a:r>
              <a:rPr sz="653" b="0" i="0">
                <a:solidFill>
                  <a:srgbClr val="71858F"/>
                </a:solidFill>
                <a:latin typeface="Aptos"/>
                <a:ea typeface="Aptos"/>
                <a:cs typeface="Aptos"/>
              </a:rPr>
              <a:t>Quelle: Modell-Cockpit · Pillar 3 EU-CR6 · EBA Transparency · ICE Brent · Deutsche Bundesbank</a:t>
            </a:r>
          </a:p>
        </p:txBody>
      </p:sp>
    </p:spTree>
    <p:extLst>
      <p:ext uri="{BB962C8B-B14F-4D97-AF65-F5344CB8AC3E}">
        <p14:creationId xmlns:p14="http://schemas.microsoft.com/office/powerpoint/2010/main" val="98046486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3F6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C3CAF2D-0537-4669-B321-53C3302FC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2F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B53DA5-897F-427A-B6CC-D2910B385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457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1" i="0">
                <a:solidFill>
                  <a:srgbClr val="A52F4D"/>
                </a:solidFill>
                <a:latin typeface="Aptos"/>
                <a:ea typeface="Aptos"/>
                <a:cs typeface="Aptos"/>
              </a:defRPr>
            </a:pPr>
            <a:r>
              <a:rPr sz="863" b="1" i="0">
                <a:solidFill>
                  <a:srgbClr val="A52F4D"/>
                </a:solidFill>
                <a:latin typeface="Aptos"/>
                <a:ea typeface="Aptos"/>
                <a:cs typeface="Aptos"/>
              </a:rPr>
              <a:t>KAPITEL 1 · TRANSMISSION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DE9141-E84C-47FF-B10D-EAB698357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191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7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Sektorale β/γ-Werte übersetzen Schocks in PD und LGD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2498D9-8124-4E38-B05F-ED696716D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1096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Jede Exposure-Klasse reagiert anders – inklusive positiver Zinswirkung auf Bank-Counterparties über den NIM-Kanal.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B806AA-C383-45CE-88C2-6B57FB789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361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60CABE-45E5-466E-B920-DA8F06367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81125"/>
            <a:ext cx="112776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051C2C"/>
          </a:solidFill>
          <a:ln xmlns:a="http://schemas.openxmlformats.org/drawingml/2006/main" w="9525">
            <a:solidFill>
              <a:srgbClr val="051C2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4BDBB4-60A6-4231-94D9-C4AFAA620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62100"/>
            <a:ext cx="495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ΔPDKlasse = βoil × ΔBrent + βrate × Δr10Y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A19902-754A-49BB-96F2-8A48EEEA2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562100"/>
            <a:ext cx="495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ΔLGDKlasse = γoil × ΔBrent + γrate × Δr10Y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6B9A6D-4922-4B7C-A49F-FDD2CBAA0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0"/>
            <a:ext cx="2428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1C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0F88D9-4763-466D-9C55-2F97D1F0F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2466975"/>
            <a:ext cx="23336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Exposure-Klasse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DAE115-D85E-464E-B845-BE651592A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381250"/>
            <a:ext cx="1409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1C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F08CF2-B0EA-4897-BB94-4C4545964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466975"/>
            <a:ext cx="13144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88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β Oil · PD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6D577B-F0C9-483E-B707-CF6E408BA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381250"/>
            <a:ext cx="1409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1C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291F81-3289-484C-805E-2BEBA2AB7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466975"/>
            <a:ext cx="13144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88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β Rate · PD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BF43CD-A5E7-47C0-93F7-C79A14A0B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381250"/>
            <a:ext cx="1409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1C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C15698-EAC5-4672-8E91-3B248BD78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66975"/>
            <a:ext cx="13144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88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γ Oil · LGD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A34571-D438-4C87-93CE-D2FCC94D9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381250"/>
            <a:ext cx="1409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1C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75237A-9C9A-4E45-8F6E-4C160EE91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466975"/>
            <a:ext cx="13144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88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γ Rate · LGD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9DC2855-F47C-47E0-A536-7C8CE654A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381250"/>
            <a:ext cx="26384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1C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67EB802-E04F-4857-9574-D3E6B9EAC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466975"/>
            <a:ext cx="25431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Ökonomisches Profil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3EDD913-7B6F-4DE7-BB43-71DBFD15C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05100"/>
            <a:ext cx="2428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5E0E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1B20466-6A42-401B-8331-9596F55A5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828925"/>
            <a:ext cx="22955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1" i="0">
                <a:solidFill>
                  <a:srgbClr val="162E3B"/>
                </a:solidFill>
                <a:latin typeface="Aptos"/>
                <a:ea typeface="Aptos"/>
                <a:cs typeface="Aptos"/>
              </a:defRPr>
            </a:pPr>
            <a:r>
              <a:rPr sz="863" b="1" i="0">
                <a:solidFill>
                  <a:srgbClr val="162E3B"/>
                </a:solidFill>
                <a:latin typeface="Aptos"/>
                <a:ea typeface="Aptos"/>
                <a:cs typeface="Aptos"/>
              </a:rPr>
              <a:t>Corporate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8BAC2B9-3B04-4933-A2B7-88DA2A765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705100"/>
            <a:ext cx="14097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5E0E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F5A376F-ABB2-4DCB-8DFD-169754672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828925"/>
            <a:ext cx="1276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0" i="0">
                <a:solidFill>
                  <a:srgbClr val="162E3B"/>
                </a:solidFill>
                <a:latin typeface="Aptos"/>
                <a:ea typeface="Aptos"/>
                <a:cs typeface="Aptos"/>
              </a:defRPr>
            </a:pPr>
            <a:r>
              <a:rPr sz="863" b="0" i="0">
                <a:solidFill>
                  <a:srgbClr val="162E3B"/>
                </a:solidFill>
                <a:latin typeface="Aptos"/>
                <a:ea typeface="Aptos"/>
                <a:cs typeface="Aptos"/>
              </a:rPr>
              <a:t>+0,30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1ACE223-9548-4DCC-9342-1B4AA800A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705100"/>
            <a:ext cx="14097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5E0E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41753B9-0895-4D69-808C-4C51D2154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828925"/>
            <a:ext cx="1276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0" i="0">
                <a:solidFill>
                  <a:srgbClr val="162E3B"/>
                </a:solidFill>
                <a:latin typeface="Aptos"/>
                <a:ea typeface="Aptos"/>
                <a:cs typeface="Aptos"/>
              </a:defRPr>
            </a:pPr>
            <a:r>
              <a:rPr sz="863" b="0" i="0">
                <a:solidFill>
                  <a:srgbClr val="162E3B"/>
                </a:solidFill>
                <a:latin typeface="Aptos"/>
                <a:ea typeface="Aptos"/>
                <a:cs typeface="Aptos"/>
              </a:rPr>
              <a:t>+0,20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F5887DB-9ED0-48A6-9587-46F1146F1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705100"/>
            <a:ext cx="14097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5E0E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F599F9F-CA0E-42B3-A39B-F19CFF816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828925"/>
            <a:ext cx="1276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0" i="0">
                <a:solidFill>
                  <a:srgbClr val="162E3B"/>
                </a:solidFill>
                <a:latin typeface="Aptos"/>
                <a:ea typeface="Aptos"/>
                <a:cs typeface="Aptos"/>
              </a:defRPr>
            </a:pPr>
            <a:r>
              <a:rPr sz="863" b="0" i="0">
                <a:solidFill>
                  <a:srgbClr val="162E3B"/>
                </a:solidFill>
                <a:latin typeface="Aptos"/>
                <a:ea typeface="Aptos"/>
                <a:cs typeface="Aptos"/>
              </a:rPr>
              <a:t>+0,50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3395F8F-DAE1-4C98-B04D-5A0FCB3FE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705100"/>
            <a:ext cx="14097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5E0E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DD7540C-1533-45B2-8C69-BB9FD216F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828925"/>
            <a:ext cx="1276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0" i="0">
                <a:solidFill>
                  <a:srgbClr val="162E3B"/>
                </a:solidFill>
                <a:latin typeface="Aptos"/>
                <a:ea typeface="Aptos"/>
                <a:cs typeface="Aptos"/>
              </a:defRPr>
            </a:pPr>
            <a:r>
              <a:rPr sz="863" b="0" i="0">
                <a:solidFill>
                  <a:srgbClr val="162E3B"/>
                </a:solidFill>
                <a:latin typeface="Aptos"/>
                <a:ea typeface="Aptos"/>
                <a:cs typeface="Aptos"/>
              </a:rPr>
              <a:t>+1,00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E28DA8B-8127-4BA8-8DE5-B84922F12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705100"/>
            <a:ext cx="26384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5E0E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C9A7C7C-7947-4DE8-98FA-F3E3FAB6C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828925"/>
            <a:ext cx="25050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 i="0">
                <a:solidFill>
                  <a:srgbClr val="162E3B"/>
                </a:solidFill>
                <a:latin typeface="Aptos"/>
                <a:ea typeface="Aptos"/>
                <a:cs typeface="Aptos"/>
              </a:defRPr>
            </a:pPr>
            <a:r>
              <a:rPr sz="863" b="0" i="0">
                <a:solidFill>
                  <a:srgbClr val="162E3B"/>
                </a:solidFill>
                <a:latin typeface="Aptos"/>
                <a:ea typeface="Aptos"/>
                <a:cs typeface="Aptos"/>
              </a:rPr>
              <a:t>Kosten + Refinanzierung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0C85EAB-B2B0-458C-AC26-E349ACE40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14675"/>
            <a:ext cx="2428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4763">
            <a:solidFill>
              <a:srgbClr val="D5E0E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9070A29-FFB3-4E51-9397-04915E4DA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238500"/>
            <a:ext cx="22955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1" i="0">
                <a:solidFill>
                  <a:srgbClr val="162E3B"/>
                </a:solidFill>
                <a:latin typeface="Aptos"/>
                <a:ea typeface="Aptos"/>
                <a:cs typeface="Aptos"/>
              </a:defRPr>
            </a:pPr>
            <a:r>
              <a:rPr sz="863" b="1" i="0">
                <a:solidFill>
                  <a:srgbClr val="162E3B"/>
                </a:solidFill>
                <a:latin typeface="Aptos"/>
                <a:ea typeface="Aptos"/>
                <a:cs typeface="Aptos"/>
              </a:rPr>
              <a:t>SME Corporate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F8F6FF4-8ABB-4478-907F-75CFD7A9A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114675"/>
            <a:ext cx="14097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4763">
            <a:solidFill>
              <a:srgbClr val="D5E0E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697FF4D-33F8-498F-887F-BC8D8263B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238500"/>
            <a:ext cx="1276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0" i="0">
                <a:solidFill>
                  <a:srgbClr val="162E3B"/>
                </a:solidFill>
                <a:latin typeface="Aptos"/>
                <a:ea typeface="Aptos"/>
                <a:cs typeface="Aptos"/>
              </a:defRPr>
            </a:pPr>
            <a:r>
              <a:rPr sz="863" b="0" i="0">
                <a:solidFill>
                  <a:srgbClr val="162E3B"/>
                </a:solidFill>
                <a:latin typeface="Aptos"/>
                <a:ea typeface="Aptos"/>
                <a:cs typeface="Aptos"/>
              </a:rPr>
              <a:t>+0,60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98A24D6-C945-43D7-9C99-264B5C0DA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114675"/>
            <a:ext cx="14097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4763">
            <a:solidFill>
              <a:srgbClr val="D5E0E5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3705E88-D2E1-4861-B7D2-8033A8807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238500"/>
            <a:ext cx="1276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0" i="0">
                <a:solidFill>
                  <a:srgbClr val="162E3B"/>
                </a:solidFill>
                <a:latin typeface="Aptos"/>
                <a:ea typeface="Aptos"/>
                <a:cs typeface="Aptos"/>
              </a:defRPr>
            </a:pPr>
            <a:r>
              <a:rPr sz="863" b="0" i="0">
                <a:solidFill>
                  <a:srgbClr val="162E3B"/>
                </a:solidFill>
                <a:latin typeface="Aptos"/>
                <a:ea typeface="Aptos"/>
                <a:cs typeface="Aptos"/>
              </a:rPr>
              <a:t>+0,40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B48BEAA-3D68-4DBB-9876-18299AFAD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114675"/>
            <a:ext cx="14097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4763">
            <a:solidFill>
              <a:srgbClr val="D5E0E5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E51EF36-012F-4DDD-A00C-89B19B0D4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238500"/>
            <a:ext cx="1276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0" i="0">
                <a:solidFill>
                  <a:srgbClr val="162E3B"/>
                </a:solidFill>
                <a:latin typeface="Aptos"/>
                <a:ea typeface="Aptos"/>
                <a:cs typeface="Aptos"/>
              </a:defRPr>
            </a:pPr>
            <a:r>
              <a:rPr sz="863" b="0" i="0">
                <a:solidFill>
                  <a:srgbClr val="162E3B"/>
                </a:solidFill>
                <a:latin typeface="Aptos"/>
                <a:ea typeface="Aptos"/>
                <a:cs typeface="Aptos"/>
              </a:rPr>
              <a:t>+0,45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7DBD81E-9172-4DC5-8B76-F7180B1F6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114675"/>
            <a:ext cx="14097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4763">
            <a:solidFill>
              <a:srgbClr val="D5E0E5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14FE391-B847-4A97-B91F-9DF37504A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238500"/>
            <a:ext cx="1276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0" i="0">
                <a:solidFill>
                  <a:srgbClr val="162E3B"/>
                </a:solidFill>
                <a:latin typeface="Aptos"/>
                <a:ea typeface="Aptos"/>
                <a:cs typeface="Aptos"/>
              </a:defRPr>
            </a:pPr>
            <a:r>
              <a:rPr sz="863" b="0" i="0">
                <a:solidFill>
                  <a:srgbClr val="162E3B"/>
                </a:solidFill>
                <a:latin typeface="Aptos"/>
                <a:ea typeface="Aptos"/>
                <a:cs typeface="Aptos"/>
              </a:rPr>
              <a:t>+1,10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718A381-A54A-4D0C-B0EE-EA059FA0D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114675"/>
            <a:ext cx="26384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4763">
            <a:solidFill>
              <a:srgbClr val="D5E0E5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CF19553-6DA2-4FE1-8D3A-4C4F50424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238500"/>
            <a:ext cx="25050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 i="0">
                <a:solidFill>
                  <a:srgbClr val="162E3B"/>
                </a:solidFill>
                <a:latin typeface="Aptos"/>
                <a:ea typeface="Aptos"/>
                <a:cs typeface="Aptos"/>
              </a:defRPr>
            </a:pPr>
            <a:r>
              <a:rPr sz="863" b="0" i="0">
                <a:solidFill>
                  <a:srgbClr val="162E3B"/>
                </a:solidFill>
                <a:latin typeface="Aptos"/>
                <a:ea typeface="Aptos"/>
                <a:cs typeface="Aptos"/>
              </a:rPr>
              <a:t>rund 2× Corporate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23C2E7B-23B1-413B-8340-282FE7036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24250"/>
            <a:ext cx="2428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5E0E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ACC7B78-8E01-4599-B5A3-C571FBB62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648075"/>
            <a:ext cx="22955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1" i="0">
                <a:solidFill>
                  <a:srgbClr val="162E3B"/>
                </a:solidFill>
                <a:latin typeface="Aptos"/>
                <a:ea typeface="Aptos"/>
                <a:cs typeface="Aptos"/>
              </a:defRPr>
            </a:pPr>
            <a:r>
              <a:rPr sz="863" b="1" i="0">
                <a:solidFill>
                  <a:srgbClr val="162E3B"/>
                </a:solidFill>
                <a:latin typeface="Aptos"/>
                <a:ea typeface="Aptos"/>
                <a:cs typeface="Aptos"/>
              </a:rPr>
              <a:t>Mortgage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9B36B9A-56AA-436A-9CFF-7B0A8017B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524250"/>
            <a:ext cx="14097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5E0E5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FA13583-FE30-47AA-A8A0-6E39A67C5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648075"/>
            <a:ext cx="1276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0" i="0">
                <a:solidFill>
                  <a:srgbClr val="162E3B"/>
                </a:solidFill>
                <a:latin typeface="Aptos"/>
                <a:ea typeface="Aptos"/>
                <a:cs typeface="Aptos"/>
              </a:defRPr>
            </a:pPr>
            <a:r>
              <a:rPr sz="863" b="0" i="0">
                <a:solidFill>
                  <a:srgbClr val="162E3B"/>
                </a:solidFill>
                <a:latin typeface="Aptos"/>
                <a:ea typeface="Aptos"/>
                <a:cs typeface="Aptos"/>
              </a:rPr>
              <a:t>+0,05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AEFB7AA-C67B-4D52-BADD-1B14E62A0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524250"/>
            <a:ext cx="14097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5E0E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1492E32-D20B-4E07-B49D-672006B01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648075"/>
            <a:ext cx="1276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0" i="0">
                <a:solidFill>
                  <a:srgbClr val="162E3B"/>
                </a:solidFill>
                <a:latin typeface="Aptos"/>
                <a:ea typeface="Aptos"/>
                <a:cs typeface="Aptos"/>
              </a:defRPr>
            </a:pPr>
            <a:r>
              <a:rPr sz="863" b="0" i="0">
                <a:solidFill>
                  <a:srgbClr val="162E3B"/>
                </a:solidFill>
                <a:latin typeface="Aptos"/>
                <a:ea typeface="Aptos"/>
                <a:cs typeface="Aptos"/>
              </a:rPr>
              <a:t>+0,30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01EEC92-F603-4E10-9514-86AE75403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524250"/>
            <a:ext cx="14097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5E0E5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50D4850-33D3-41CD-9876-EAD7066EB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648075"/>
            <a:ext cx="1276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0" i="0">
                <a:solidFill>
                  <a:srgbClr val="162E3B"/>
                </a:solidFill>
                <a:latin typeface="Aptos"/>
                <a:ea typeface="Aptos"/>
                <a:cs typeface="Aptos"/>
              </a:defRPr>
            </a:pPr>
            <a:r>
              <a:rPr sz="863" b="0" i="0">
                <a:solidFill>
                  <a:srgbClr val="162E3B"/>
                </a:solidFill>
                <a:latin typeface="Aptos"/>
                <a:ea typeface="Aptos"/>
                <a:cs typeface="Aptos"/>
              </a:rPr>
              <a:t>+0,10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C96BD00-03A4-4C98-B749-C87A29DFC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524250"/>
            <a:ext cx="14097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5E0E5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D46C2CD-075E-46D2-AED1-55125FA95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648075"/>
            <a:ext cx="1276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0" i="0">
                <a:solidFill>
                  <a:srgbClr val="162E3B"/>
                </a:solidFill>
                <a:latin typeface="Aptos"/>
                <a:ea typeface="Aptos"/>
                <a:cs typeface="Aptos"/>
              </a:defRPr>
            </a:pPr>
            <a:r>
              <a:rPr sz="863" b="0" i="0">
                <a:solidFill>
                  <a:srgbClr val="162E3B"/>
                </a:solidFill>
                <a:latin typeface="Aptos"/>
                <a:ea typeface="Aptos"/>
                <a:cs typeface="Aptos"/>
              </a:rPr>
              <a:t>+1,50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335D488-4630-4BA3-B89B-DB4D97C8D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524250"/>
            <a:ext cx="26384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5E0E5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B402005-A960-4742-86A8-1C08B50AD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648075"/>
            <a:ext cx="25050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 i="0">
                <a:solidFill>
                  <a:srgbClr val="162E3B"/>
                </a:solidFill>
                <a:latin typeface="Aptos"/>
                <a:ea typeface="Aptos"/>
                <a:cs typeface="Aptos"/>
              </a:defRPr>
            </a:pPr>
            <a:r>
              <a:rPr sz="863" b="0" i="0">
                <a:solidFill>
                  <a:srgbClr val="162E3B"/>
                </a:solidFill>
                <a:latin typeface="Aptos"/>
                <a:ea typeface="Aptos"/>
                <a:cs typeface="Aptos"/>
              </a:rPr>
              <a:t>zins- und collateral-dominiert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2931F4D-F2AD-46C6-96A1-1FE118D39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33825"/>
            <a:ext cx="2428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4763">
            <a:solidFill>
              <a:srgbClr val="D5E0E5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C1EEBF1-0240-4CEB-A7DD-43BCA8B4B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057650"/>
            <a:ext cx="22955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1" i="0">
                <a:solidFill>
                  <a:srgbClr val="162E3B"/>
                </a:solidFill>
                <a:latin typeface="Aptos"/>
                <a:ea typeface="Aptos"/>
                <a:cs typeface="Aptos"/>
              </a:defRPr>
            </a:pPr>
            <a:r>
              <a:rPr sz="863" b="1" i="0">
                <a:solidFill>
                  <a:srgbClr val="162E3B"/>
                </a:solidFill>
                <a:latin typeface="Aptos"/>
                <a:ea typeface="Aptos"/>
                <a:cs typeface="Aptos"/>
              </a:rPr>
              <a:t>QRRE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DCC0957-FE58-4815-A159-242C6D3F6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933825"/>
            <a:ext cx="14097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4763">
            <a:solidFill>
              <a:srgbClr val="D5E0E5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FFC10A2-27BD-4931-9EAA-EC63D3238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057650"/>
            <a:ext cx="1276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0" i="0">
                <a:solidFill>
                  <a:srgbClr val="162E3B"/>
                </a:solidFill>
                <a:latin typeface="Aptos"/>
                <a:ea typeface="Aptos"/>
                <a:cs typeface="Aptos"/>
              </a:defRPr>
            </a:pPr>
            <a:r>
              <a:rPr sz="863" b="0" i="0">
                <a:solidFill>
                  <a:srgbClr val="162E3B"/>
                </a:solidFill>
                <a:latin typeface="Aptos"/>
                <a:ea typeface="Aptos"/>
                <a:cs typeface="Aptos"/>
              </a:rPr>
              <a:t>+0,40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C57E232B-7773-4AA4-A6F0-8845D1A6B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933825"/>
            <a:ext cx="14097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4763">
            <a:solidFill>
              <a:srgbClr val="D5E0E5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55EED488-DFE1-4B24-B92F-2FB8D983C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057650"/>
            <a:ext cx="1276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0" i="0">
                <a:solidFill>
                  <a:srgbClr val="162E3B"/>
                </a:solidFill>
                <a:latin typeface="Aptos"/>
                <a:ea typeface="Aptos"/>
                <a:cs typeface="Aptos"/>
              </a:defRPr>
            </a:pPr>
            <a:r>
              <a:rPr sz="863" b="0" i="0">
                <a:solidFill>
                  <a:srgbClr val="162E3B"/>
                </a:solidFill>
                <a:latin typeface="Aptos"/>
                <a:ea typeface="Aptos"/>
                <a:cs typeface="Aptos"/>
              </a:rPr>
              <a:t>+0,15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16566836-4DB0-4D34-8D33-FFF599409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933825"/>
            <a:ext cx="14097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4763">
            <a:solidFill>
              <a:srgbClr val="D5E0E5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40CD56FF-F3F6-428A-84FE-5585EE3C7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057650"/>
            <a:ext cx="1276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0" i="0">
                <a:solidFill>
                  <a:srgbClr val="162E3B"/>
                </a:solidFill>
                <a:latin typeface="Aptos"/>
                <a:ea typeface="Aptos"/>
                <a:cs typeface="Aptos"/>
              </a:defRPr>
            </a:pPr>
            <a:r>
              <a:rPr sz="863" b="0" i="0">
                <a:solidFill>
                  <a:srgbClr val="162E3B"/>
                </a:solidFill>
                <a:latin typeface="Aptos"/>
                <a:ea typeface="Aptos"/>
                <a:cs typeface="Aptos"/>
              </a:rPr>
              <a:t>+0,30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367C9004-C134-49A0-AD7D-5CCF559C6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933825"/>
            <a:ext cx="14097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4763">
            <a:solidFill>
              <a:srgbClr val="D5E0E5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CB226FC1-2E32-45B9-A1E0-6CABE9235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057650"/>
            <a:ext cx="1276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0" i="0">
                <a:solidFill>
                  <a:srgbClr val="162E3B"/>
                </a:solidFill>
                <a:latin typeface="Aptos"/>
                <a:ea typeface="Aptos"/>
                <a:cs typeface="Aptos"/>
              </a:defRPr>
            </a:pPr>
            <a:r>
              <a:rPr sz="863" b="0" i="0">
                <a:solidFill>
                  <a:srgbClr val="162E3B"/>
                </a:solidFill>
                <a:latin typeface="Aptos"/>
                <a:ea typeface="Aptos"/>
                <a:cs typeface="Aptos"/>
              </a:rPr>
              <a:t>+0,50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E87FA37E-DEBA-44A0-9EB9-B22613718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933825"/>
            <a:ext cx="26384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4763">
            <a:solidFill>
              <a:srgbClr val="D5E0E5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EFD2BC04-963A-46B2-AD3F-EFDFC16FC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057650"/>
            <a:ext cx="25050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 i="0">
                <a:solidFill>
                  <a:srgbClr val="162E3B"/>
                </a:solidFill>
                <a:latin typeface="Aptos"/>
                <a:ea typeface="Aptos"/>
                <a:cs typeface="Aptos"/>
              </a:defRPr>
            </a:pPr>
            <a:r>
              <a:rPr sz="863" b="0" i="0">
                <a:solidFill>
                  <a:srgbClr val="162E3B"/>
                </a:solidFill>
                <a:latin typeface="Aptos"/>
                <a:ea typeface="Aptos"/>
                <a:cs typeface="Aptos"/>
              </a:rPr>
              <a:t>Einkommen / Energieinflation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0F2FE74A-6841-4AC0-A00C-F3FAE3C1B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43400"/>
            <a:ext cx="2428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5E0E5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6DB8870B-2A10-4CD7-B02B-27EE0BFFE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467225"/>
            <a:ext cx="22955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1" i="0">
                <a:solidFill>
                  <a:srgbClr val="162E3B"/>
                </a:solidFill>
                <a:latin typeface="Aptos"/>
                <a:ea typeface="Aptos"/>
                <a:cs typeface="Aptos"/>
              </a:defRPr>
            </a:pPr>
            <a:r>
              <a:rPr sz="863" b="1" i="0">
                <a:solidFill>
                  <a:srgbClr val="162E3B"/>
                </a:solidFill>
                <a:latin typeface="Aptos"/>
                <a:ea typeface="Aptos"/>
                <a:cs typeface="Aptos"/>
              </a:rPr>
              <a:t>Other Retail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8F6CD480-6570-413D-8119-528E01057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343400"/>
            <a:ext cx="14097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5E0E5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AA5FABD5-2059-4F9B-9044-59BBC4771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467225"/>
            <a:ext cx="1276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0" i="0">
                <a:solidFill>
                  <a:srgbClr val="162E3B"/>
                </a:solidFill>
                <a:latin typeface="Aptos"/>
                <a:ea typeface="Aptos"/>
                <a:cs typeface="Aptos"/>
              </a:defRPr>
            </a:pPr>
            <a:r>
              <a:rPr sz="863" b="0" i="0">
                <a:solidFill>
                  <a:srgbClr val="162E3B"/>
                </a:solidFill>
                <a:latin typeface="Aptos"/>
                <a:ea typeface="Aptos"/>
                <a:cs typeface="Aptos"/>
              </a:rPr>
              <a:t>+0,30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5E5E7CB8-DA20-4BFF-8AB0-4761E454D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343400"/>
            <a:ext cx="14097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5E0E5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C0450E7A-7821-454D-A390-03C47D4FA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467225"/>
            <a:ext cx="1276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0" i="0">
                <a:solidFill>
                  <a:srgbClr val="162E3B"/>
                </a:solidFill>
                <a:latin typeface="Aptos"/>
                <a:ea typeface="Aptos"/>
                <a:cs typeface="Aptos"/>
              </a:defRPr>
            </a:pPr>
            <a:r>
              <a:rPr sz="863" b="0" i="0">
                <a:solidFill>
                  <a:srgbClr val="162E3B"/>
                </a:solidFill>
                <a:latin typeface="Aptos"/>
                <a:ea typeface="Aptos"/>
                <a:cs typeface="Aptos"/>
              </a:rPr>
              <a:t>+0,25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207A6078-3F9C-45F9-A06A-DE4B176AD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343400"/>
            <a:ext cx="14097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5E0E5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A96BE0EB-C2C1-4F9B-A1D4-1632CFFC7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467225"/>
            <a:ext cx="1276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0" i="0">
                <a:solidFill>
                  <a:srgbClr val="162E3B"/>
                </a:solidFill>
                <a:latin typeface="Aptos"/>
                <a:ea typeface="Aptos"/>
                <a:cs typeface="Aptos"/>
              </a:defRPr>
            </a:pPr>
            <a:r>
              <a:rPr sz="863" b="0" i="0">
                <a:solidFill>
                  <a:srgbClr val="162E3B"/>
                </a:solidFill>
                <a:latin typeface="Aptos"/>
                <a:ea typeface="Aptos"/>
                <a:cs typeface="Aptos"/>
              </a:rPr>
              <a:t>+0,25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C773A2E7-FCBF-4F3B-B4B5-B7F8B1540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4343400"/>
            <a:ext cx="14097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5E0E5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F3C22615-A6C6-4647-920B-16064AE77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467225"/>
            <a:ext cx="1276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0" i="0">
                <a:solidFill>
                  <a:srgbClr val="162E3B"/>
                </a:solidFill>
                <a:latin typeface="Aptos"/>
                <a:ea typeface="Aptos"/>
                <a:cs typeface="Aptos"/>
              </a:defRPr>
            </a:pPr>
            <a:r>
              <a:rPr sz="863" b="0" i="0">
                <a:solidFill>
                  <a:srgbClr val="162E3B"/>
                </a:solidFill>
                <a:latin typeface="Aptos"/>
                <a:ea typeface="Aptos"/>
                <a:cs typeface="Aptos"/>
              </a:rPr>
              <a:t>+0,80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202E51AD-45E7-42D6-B080-30027D508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4343400"/>
            <a:ext cx="26384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5E0E5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CF833898-001F-4C98-97C9-19183B45E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467225"/>
            <a:ext cx="25050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 i="0">
                <a:solidFill>
                  <a:srgbClr val="162E3B"/>
                </a:solidFill>
                <a:latin typeface="Aptos"/>
                <a:ea typeface="Aptos"/>
                <a:cs typeface="Aptos"/>
              </a:defRPr>
            </a:pPr>
            <a:r>
              <a:rPr sz="863" b="0" i="0">
                <a:solidFill>
                  <a:srgbClr val="162E3B"/>
                </a:solidFill>
                <a:latin typeface="Aptos"/>
                <a:ea typeface="Aptos"/>
                <a:cs typeface="Aptos"/>
              </a:rPr>
              <a:t>gemischtes Haushaltsprofil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F82F405D-83DA-49A2-A08B-874D37A56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52975"/>
            <a:ext cx="2428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4763">
            <a:solidFill>
              <a:srgbClr val="D5E0E5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1D98568E-2B8D-4921-BDCB-3A9663596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876800"/>
            <a:ext cx="22955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1" i="0">
                <a:solidFill>
                  <a:srgbClr val="162E3B"/>
                </a:solidFill>
                <a:latin typeface="Aptos"/>
                <a:ea typeface="Aptos"/>
                <a:cs typeface="Aptos"/>
              </a:defRPr>
            </a:pPr>
            <a:r>
              <a:rPr sz="863" b="1" i="0">
                <a:solidFill>
                  <a:srgbClr val="162E3B"/>
                </a:solidFill>
                <a:latin typeface="Aptos"/>
                <a:ea typeface="Aptos"/>
                <a:cs typeface="Aptos"/>
              </a:rPr>
              <a:t>Bank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F9E850FB-C563-4E26-82BD-B438C80A7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752975"/>
            <a:ext cx="14097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4763">
            <a:solidFill>
              <a:srgbClr val="D5E0E5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C9A4DA6E-F4FD-42D2-97BB-0F6FD14F1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876800"/>
            <a:ext cx="1276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0" i="0">
                <a:solidFill>
                  <a:srgbClr val="162E3B"/>
                </a:solidFill>
                <a:latin typeface="Aptos"/>
                <a:ea typeface="Aptos"/>
                <a:cs typeface="Aptos"/>
              </a:defRPr>
            </a:pPr>
            <a:r>
              <a:rPr sz="863" b="0" i="0">
                <a:solidFill>
                  <a:srgbClr val="162E3B"/>
                </a:solidFill>
                <a:latin typeface="Aptos"/>
                <a:ea typeface="Aptos"/>
                <a:cs typeface="Aptos"/>
              </a:rPr>
              <a:t>+0,05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8F117F31-2320-4EB6-9165-8E9A23286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752975"/>
            <a:ext cx="14097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F1EF"/>
          </a:solidFill>
          <a:ln xmlns:a="http://schemas.openxmlformats.org/drawingml/2006/main" w="4763">
            <a:solidFill>
              <a:srgbClr val="D5E0E5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E49290E2-96E6-4C64-912F-7FC2D3E12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876800"/>
            <a:ext cx="1276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1" i="0">
                <a:solidFill>
                  <a:srgbClr val="1B777F"/>
                </a:solidFill>
                <a:latin typeface="Aptos"/>
                <a:ea typeface="Aptos"/>
                <a:cs typeface="Aptos"/>
              </a:defRPr>
            </a:pPr>
            <a:r>
              <a:rPr sz="863" b="1" i="0">
                <a:solidFill>
                  <a:srgbClr val="1B777F"/>
                </a:solidFill>
                <a:latin typeface="Aptos"/>
                <a:ea typeface="Aptos"/>
                <a:cs typeface="Aptos"/>
              </a:rPr>
              <a:t>−0,05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EC182C5D-6BFC-4709-943E-4029C61CC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752975"/>
            <a:ext cx="14097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4763">
            <a:solidFill>
              <a:srgbClr val="D5E0E5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E60614DC-5097-4305-8099-3772A0595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876800"/>
            <a:ext cx="1276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0" i="0">
                <a:solidFill>
                  <a:srgbClr val="162E3B"/>
                </a:solidFill>
                <a:latin typeface="Aptos"/>
                <a:ea typeface="Aptos"/>
                <a:cs typeface="Aptos"/>
              </a:defRPr>
            </a:pPr>
            <a:r>
              <a:rPr sz="863" b="0" i="0">
                <a:solidFill>
                  <a:srgbClr val="162E3B"/>
                </a:solidFill>
                <a:latin typeface="Aptos"/>
                <a:ea typeface="Aptos"/>
                <a:cs typeface="Aptos"/>
              </a:rPr>
              <a:t>+0,10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6A9533DC-C25C-4A36-B243-9B367EA86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4752975"/>
            <a:ext cx="14097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4763">
            <a:solidFill>
              <a:srgbClr val="D5E0E5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1EFB1647-5455-4B84-9A8F-2756B1D3E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876800"/>
            <a:ext cx="1276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0" i="0">
                <a:solidFill>
                  <a:srgbClr val="162E3B"/>
                </a:solidFill>
                <a:latin typeface="Aptos"/>
                <a:ea typeface="Aptos"/>
                <a:cs typeface="Aptos"/>
              </a:defRPr>
            </a:pPr>
            <a:r>
              <a:rPr sz="863" b="0" i="0">
                <a:solidFill>
                  <a:srgbClr val="162E3B"/>
                </a:solidFill>
                <a:latin typeface="Aptos"/>
                <a:ea typeface="Aptos"/>
                <a:cs typeface="Aptos"/>
              </a:rPr>
              <a:t>+0,50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2D6D42E5-23D4-4B77-88E2-E830ADDFF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4752975"/>
            <a:ext cx="26384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4763">
            <a:solidFill>
              <a:srgbClr val="D5E0E5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F005D31B-2222-4EEC-899A-FD600BF11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876800"/>
            <a:ext cx="25050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 i="0">
                <a:solidFill>
                  <a:srgbClr val="162E3B"/>
                </a:solidFill>
                <a:latin typeface="Aptos"/>
                <a:ea typeface="Aptos"/>
                <a:cs typeface="Aptos"/>
              </a:defRPr>
            </a:pPr>
            <a:r>
              <a:rPr sz="863" b="0" i="0">
                <a:solidFill>
                  <a:srgbClr val="162E3B"/>
                </a:solidFill>
                <a:latin typeface="Aptos"/>
                <a:ea typeface="Aptos"/>
                <a:cs typeface="Aptos"/>
              </a:rPr>
              <a:t>NIM-Effekt senkt PD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6A02FCC1-76A6-4E28-BBF8-C08C130AD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62550"/>
            <a:ext cx="2428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5E0E5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BA3C2052-B38F-415B-A3B5-3E2174412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286375"/>
            <a:ext cx="22955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1" i="0">
                <a:solidFill>
                  <a:srgbClr val="162E3B"/>
                </a:solidFill>
                <a:latin typeface="Aptos"/>
                <a:ea typeface="Aptos"/>
                <a:cs typeface="Aptos"/>
              </a:defRPr>
            </a:pPr>
            <a:r>
              <a:rPr sz="863" b="1" i="0">
                <a:solidFill>
                  <a:srgbClr val="162E3B"/>
                </a:solidFill>
                <a:latin typeface="Aptos"/>
                <a:ea typeface="Aptos"/>
                <a:cs typeface="Aptos"/>
              </a:rPr>
              <a:t>Sovereign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4DCA288A-70C9-451E-83B7-E0C308BA1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5162550"/>
            <a:ext cx="14097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ED3"/>
          </a:solidFill>
          <a:ln xmlns:a="http://schemas.openxmlformats.org/drawingml/2006/main" w="4763">
            <a:solidFill>
              <a:srgbClr val="D5E0E5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78853263-27AA-43A9-BFD7-37351874B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5286375"/>
            <a:ext cx="1276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0" i="0">
                <a:solidFill>
                  <a:srgbClr val="162E3B"/>
                </a:solidFill>
                <a:latin typeface="Aptos"/>
                <a:ea typeface="Aptos"/>
                <a:cs typeface="Aptos"/>
              </a:defRPr>
            </a:pPr>
            <a:r>
              <a:rPr sz="863" b="0" i="0">
                <a:solidFill>
                  <a:srgbClr val="162E3B"/>
                </a:solidFill>
                <a:latin typeface="Aptos"/>
                <a:ea typeface="Aptos"/>
                <a:cs typeface="Aptos"/>
              </a:rPr>
              <a:t>0,00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2E629EB9-1590-4C69-84E6-39D463023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5162550"/>
            <a:ext cx="14097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ED3"/>
          </a:solidFill>
          <a:ln xmlns:a="http://schemas.openxmlformats.org/drawingml/2006/main" w="4763">
            <a:solidFill>
              <a:srgbClr val="D5E0E5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2CAC8591-6453-48C9-A620-643FCD867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5286375"/>
            <a:ext cx="1276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0" i="0">
                <a:solidFill>
                  <a:srgbClr val="162E3B"/>
                </a:solidFill>
                <a:latin typeface="Aptos"/>
                <a:ea typeface="Aptos"/>
                <a:cs typeface="Aptos"/>
              </a:defRPr>
            </a:pPr>
            <a:r>
              <a:rPr sz="863" b="0" i="0">
                <a:solidFill>
                  <a:srgbClr val="162E3B"/>
                </a:solidFill>
                <a:latin typeface="Aptos"/>
                <a:ea typeface="Aptos"/>
                <a:cs typeface="Aptos"/>
              </a:rPr>
              <a:t>0,00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756BFFF6-8FCF-4FA6-A33F-62485C7ED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5162550"/>
            <a:ext cx="14097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ED3"/>
          </a:solidFill>
          <a:ln xmlns:a="http://schemas.openxmlformats.org/drawingml/2006/main" w="4763">
            <a:solidFill>
              <a:srgbClr val="D5E0E5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AF6062B8-0D9C-46F5-A6FF-F5995332F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286375"/>
            <a:ext cx="1276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0" i="0">
                <a:solidFill>
                  <a:srgbClr val="162E3B"/>
                </a:solidFill>
                <a:latin typeface="Aptos"/>
                <a:ea typeface="Aptos"/>
                <a:cs typeface="Aptos"/>
              </a:defRPr>
            </a:pPr>
            <a:r>
              <a:rPr sz="863" b="0" i="0">
                <a:solidFill>
                  <a:srgbClr val="162E3B"/>
                </a:solidFill>
                <a:latin typeface="Aptos"/>
                <a:ea typeface="Aptos"/>
                <a:cs typeface="Aptos"/>
              </a:rPr>
              <a:t>0,00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C9C16C46-FD11-4C22-96E3-44B87CDC3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5162550"/>
            <a:ext cx="14097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ED3"/>
          </a:solidFill>
          <a:ln xmlns:a="http://schemas.openxmlformats.org/drawingml/2006/main" w="4763">
            <a:solidFill>
              <a:srgbClr val="D5E0E5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9CD5D26F-2A84-44FC-9DF3-54A5AA576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5286375"/>
            <a:ext cx="1276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0" i="0">
                <a:solidFill>
                  <a:srgbClr val="162E3B"/>
                </a:solidFill>
                <a:latin typeface="Aptos"/>
                <a:ea typeface="Aptos"/>
                <a:cs typeface="Aptos"/>
              </a:defRPr>
            </a:pPr>
            <a:r>
              <a:rPr sz="863" b="0" i="0">
                <a:solidFill>
                  <a:srgbClr val="162E3B"/>
                </a:solidFill>
                <a:latin typeface="Aptos"/>
                <a:ea typeface="Aptos"/>
                <a:cs typeface="Aptos"/>
              </a:rPr>
              <a:t>0,00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1290C980-FA5A-43C9-95A4-9DEE84A23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5162550"/>
            <a:ext cx="26384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5E0E5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E287D6FB-A5D3-4AC9-9D26-12B77BFAF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5286375"/>
            <a:ext cx="25050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 i="0">
                <a:solidFill>
                  <a:srgbClr val="162E3B"/>
                </a:solidFill>
                <a:latin typeface="Aptos"/>
                <a:ea typeface="Aptos"/>
                <a:cs typeface="Aptos"/>
              </a:defRPr>
            </a:pPr>
            <a:r>
              <a:rPr sz="863" b="0" i="0">
                <a:solidFill>
                  <a:srgbClr val="162E3B"/>
                </a:solidFill>
                <a:latin typeface="Aptos"/>
                <a:ea typeface="Aptos"/>
                <a:cs typeface="Aptos"/>
              </a:rPr>
              <a:t>separater MtM-Kanal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34BB2714-B918-45E2-9230-0414D90F2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43575"/>
            <a:ext cx="11277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A52F4D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A52F4D"/>
                </a:solidFill>
                <a:latin typeface="Aptos"/>
                <a:ea typeface="Aptos"/>
                <a:cs typeface="Aptos"/>
              </a:rPr>
              <a:t>Lesebeispiel: +0,50 Brent und +2,0 pp Zins ergeben für Corporate ΔPD = +0,55 pp und ΔLGD = +2,25 pp.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A1674554-A621-472D-B074-84D05B97F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0382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53" b="0" i="0">
                <a:solidFill>
                  <a:srgbClr val="71858F"/>
                </a:solidFill>
                <a:latin typeface="Aptos"/>
                <a:ea typeface="Aptos"/>
                <a:cs typeface="Aptos"/>
              </a:defRPr>
            </a:pPr>
            <a:r>
              <a:rPr sz="653" b="0" i="0">
                <a:solidFill>
                  <a:srgbClr val="71858F"/>
                </a:solidFill>
                <a:latin typeface="Aptos"/>
                <a:ea typeface="Aptos"/>
                <a:cs typeface="Aptos"/>
              </a:rPr>
              <a:t>Quelle: EBA §2.4.2 · ECB WP 2897/3112 · ECB FSR · Modellmatrix in two_factor_stress.py</a:t>
            </a:r>
          </a:p>
        </p:txBody>
      </p:sp>
    </p:spTree>
    <p:extLst>
      <p:ext uri="{BB962C8B-B14F-4D97-AF65-F5344CB8AC3E}">
        <p14:creationId xmlns:p14="http://schemas.microsoft.com/office/powerpoint/2010/main" val="183966832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3F6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C6928ED-D104-403F-BC75-AEDFD5B71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2F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6E9742-B8B3-4A5C-8903-E532D3082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457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1" i="0">
                <a:solidFill>
                  <a:srgbClr val="A52F4D"/>
                </a:solidFill>
                <a:latin typeface="Aptos"/>
                <a:ea typeface="Aptos"/>
                <a:cs typeface="Aptos"/>
              </a:defRPr>
            </a:pPr>
            <a:r>
              <a:rPr sz="863" b="1" i="0">
                <a:solidFill>
                  <a:srgbClr val="A52F4D"/>
                </a:solidFill>
                <a:latin typeface="Aptos"/>
                <a:ea typeface="Aptos"/>
                <a:cs typeface="Aptos"/>
              </a:rPr>
              <a:t>KAPITEL 2 · FAKTOR-ANALYSE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13E2E2-A560-4E28-B7D8-3682FC557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191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7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Nur 0,49 % der täglichen Zinsbewegung werden durch Brent erklärt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A98E64-1FE3-4F36-8832-3FA02028D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1096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Die empirische Analyse über fünf Jahre bestätigt: Beide Faktoren tragen weitgehend eigenständige Information.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650D9E-67D5-4E03-B299-3C8370435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361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61982F-7810-4222-871B-B6E9E178E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28750"/>
            <a:ext cx="20764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1CC968-8FAE-4057-9F8A-2BC769BB3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28750"/>
            <a:ext cx="2076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1C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97866E-ABAD-4453-947E-A9A6EA523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71625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1" i="0">
                <a:solidFill>
                  <a:srgbClr val="71858F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71858F"/>
                </a:solidFill>
                <a:latin typeface="Aptos"/>
                <a:ea typeface="Aptos"/>
                <a:cs typeface="Aptos"/>
              </a:rPr>
              <a:t>BEOBACHTUNGEN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8791BF-5E37-4281-A50E-D6E9CD12B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81175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1.242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FCA290-BBD4-4CD4-A1FE-6A020CAA9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5265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788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gemeinsame Handelstage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C6BFF3-7584-468B-84F9-072594BFC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428750"/>
            <a:ext cx="20764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F4CB26-F8B8-42FB-9F2E-68F88EF8A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428750"/>
            <a:ext cx="2076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777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3497C1-55E9-4A0C-9F17-09D03137E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571625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1" i="0">
                <a:solidFill>
                  <a:srgbClr val="71858F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71858F"/>
                </a:solidFill>
                <a:latin typeface="Aptos"/>
                <a:ea typeface="Aptos"/>
                <a:cs typeface="Aptos"/>
              </a:rPr>
              <a:t>PEARSON 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B5094D-5AB5-4EF9-AC1C-71B247564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781175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+0,070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8FAD70-BFD7-459A-A2DB-246E471AD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5265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788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95%-KI +0,014 bis +0,125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6A6F5A-0E65-4D47-B986-5C8EB6963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428750"/>
            <a:ext cx="20764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9EDD3C-827F-401F-A761-4AEF5E080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428750"/>
            <a:ext cx="2076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D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605171-1FA1-4ABF-B371-B47604C9E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1571625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1" i="0">
                <a:solidFill>
                  <a:srgbClr val="71858F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71858F"/>
                </a:solidFill>
                <a:latin typeface="Aptos"/>
                <a:ea typeface="Aptos"/>
                <a:cs typeface="Aptos"/>
              </a:rPr>
              <a:t>SPEARMAN ρ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C1D7F6-313F-48E9-BC93-3394D0FDE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1781175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+0,084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B51DD0-EB3B-452F-9D18-9FFA751AF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15265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788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robust gegen Ausreißer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7A3F0FA-CF8A-4159-BA22-EC09DAD90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428750"/>
            <a:ext cx="20764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1EFED3F-BAD6-4E3D-B606-873FB97F5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428750"/>
            <a:ext cx="2076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2F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32AFF18-A14C-42C1-9F52-D31653F56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1571625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1" i="0">
                <a:solidFill>
                  <a:srgbClr val="71858F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71858F"/>
                </a:solidFill>
                <a:latin typeface="Aptos"/>
                <a:ea typeface="Aptos"/>
                <a:cs typeface="Aptos"/>
              </a:rPr>
              <a:t>OLS β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CA3A6B3-A3E2-4B22-8DD6-39F764D2E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1781175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+0,160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C8FD06F-7E55-484F-9490-0FE82B5C4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15265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788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t = 2,47 · p = 0,014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2A6E5E3-3A96-4369-A44A-151E314C8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428750"/>
            <a:ext cx="20764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211E8AD-EB49-46BF-B2C3-4B086D2D1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428750"/>
            <a:ext cx="2076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1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CA2F311-B095-4F5C-96E6-4CAD7CF55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1571625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1" i="0">
                <a:solidFill>
                  <a:srgbClr val="71858F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71858F"/>
                </a:solidFill>
                <a:latin typeface="Aptos"/>
                <a:ea typeface="Aptos"/>
                <a:cs typeface="Aptos"/>
              </a:rPr>
              <a:t>OLS R²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7156617-B5DA-49D9-B92B-6339A0FE5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1781175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0,49 %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776C93E-10D7-4217-8CE9-04D31DDE2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15265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788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erklärte Varianz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B66EE85-5331-452B-AEBE-4CF1C599D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86050"/>
            <a:ext cx="7096125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B53F092-A604-46D2-BE14-80883A492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67025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1" i="0">
                <a:solidFill>
                  <a:srgbClr val="A52F4D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A52F4D"/>
                </a:solidFill>
                <a:latin typeface="Aptos"/>
                <a:ea typeface="Aptos"/>
                <a:cs typeface="Aptos"/>
              </a:rPr>
              <a:t>STREUDIAGRAMM · TAGESVERÄNDERUNGEN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398E8B9-7D2C-44F4-86A0-0A9A3D421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333875"/>
            <a:ext cx="5953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5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FC160D1-59BF-4F05-8E46-5BA8B086B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200400"/>
            <a:ext cx="9525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5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79611F7-3948-4415-9EE6-14DA30B30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41148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52F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76E6AAE-7E4E-4F9E-AE05-153AE8D80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4958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1C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89C21B6-DE4B-415C-AA6E-3D2826181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39147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1C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A03349D-0B5F-4518-B02C-E24DE1985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6577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1C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5A1B331-89FD-46F2-9CC3-DCAD7C769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2481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1C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566DBD8-A23A-4AF4-9921-CDE34B4B3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3910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1C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50A17B4-1689-4C68-93AF-14629203D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7909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1C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1D464CA-2140-4D25-886F-80B0EDC1B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5815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52F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0C9CC13-27F6-4CB2-8F81-AFF528644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40100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1C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462C773-7688-4BB4-AF09-8D17EFD3C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43434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1C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FC5AEBE-4F08-421C-8754-2C4256E82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48291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1C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ECFD412-7A86-4693-AE9C-16E0CB428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1719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1C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B52374F-F6B9-429C-B574-F4A1FA3E9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4958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1C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C30B842-EBCE-458B-970B-19E8C023E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38576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1C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189A532-BD23-4B6B-8531-4B9ECA184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6958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52F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785C1FA-16D9-4967-A911-A04A4BA52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41433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1C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45464E7-EAC2-465F-96EF-2860AAB74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4386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1C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F2AC83B-FAFE-45F0-A624-8F3F2D212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9338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1C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3C5D446-939E-451E-B517-781D43393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6291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1C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B59FDEA-56D4-4427-96AA-73BC7CC6A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2767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1C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A6FB63D-7627-467E-AF14-4D3DA62F2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0481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1C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96F84B5-D828-4395-9EBC-470421A05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45434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52F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34D7021-AEA4-4E9A-8A51-C3854E6A5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8004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1C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A23A4A1-2AC1-491D-8924-545EC6F32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3719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1C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CCAB2B52-90FB-4901-886B-EEE675AEF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6863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1C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B5855733-BF94-430A-BEB0-F584019C6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41052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1C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EFD60FA0-F537-4995-A7AA-EF7B638BE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4577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1C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1C90EB3-83B6-430C-9464-69DF4DB07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9719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1C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F545BC04-0AF0-4A1E-B6A5-F6D2F019D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2957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52F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C0D15F69-FCB8-49B5-A8D6-86F57F387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49530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1C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A67C2301-1CB0-4B34-907E-09E593F3A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6195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1C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FC8B5546-93E1-45A7-9073-18E69AC24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50196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1C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4B59EC28-DF3B-47A4-BA5F-49ECE739E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5242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1C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A502F164-8281-4558-9E82-A66390608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37242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1C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B204FBB0-5661-4C33-923A-DB8D821E6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8101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1C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7EEA6A02-AAD9-416B-B6AF-D35B78AE1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6004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52F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3F4B0D4F-5EC6-476E-B704-98BC8D5E7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49911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1C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23932789-0DD5-4236-9B74-34A4EC33F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48577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1C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D76C18F7-D150-4294-9644-D1817D235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8958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1C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B9B9937B-2102-4509-B735-49123FDEB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8290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1C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AE59DBB7-B8DF-435D-BC63-C43B37D7F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257675"/>
            <a:ext cx="59531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2F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00EB5777-D780-4F62-8A9C-0B160A4CE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353050"/>
            <a:ext cx="2571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ΔBrent · täglicher Log-Return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C2D80797-8061-4E86-BA7E-7E5E0819A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40005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Δr 10Y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3389F9E5-3224-4958-A735-01932259C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3009900"/>
            <a:ext cx="1714500" cy="2190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E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BD585037-D0E1-427C-A3C9-D8FC9EB65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3048000"/>
            <a:ext cx="16383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13" b="1" i="0">
                <a:solidFill>
                  <a:srgbClr val="A52F4D"/>
                </a:solidFill>
                <a:latin typeface="Aptos"/>
                <a:ea typeface="Aptos"/>
                <a:cs typeface="Aptos"/>
              </a:defRPr>
            </a:pPr>
            <a:r>
              <a:rPr sz="713" b="1" i="0">
                <a:solidFill>
                  <a:srgbClr val="A52F4D"/>
                </a:solidFill>
                <a:latin typeface="Aptos"/>
                <a:ea typeface="Aptos"/>
                <a:cs typeface="Aptos"/>
              </a:rPr>
              <a:t>nahezu flache OLS-Linie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569A7F95-7FEA-41A0-AA42-BA159BF8C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686050"/>
            <a:ext cx="3876675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B6E53979-3373-4976-A756-3D13E7180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686050"/>
            <a:ext cx="571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777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208492A8-BC39-41D8-8492-A7761B699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2809875"/>
            <a:ext cx="552450" cy="2190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777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E8BF32E7-F92B-4C83-8038-8195DD067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847975"/>
            <a:ext cx="476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13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FAZIT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67C2EE6A-FAD7-4483-AFF6-345C03B07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133725"/>
            <a:ext cx="35528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Empirisches Urteil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3A35BF94-13F5-45F9-A18A-AF7E6FEF7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457575"/>
            <a:ext cx="3552825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Die Korrelation ist statistisch messbar, aber ökonomisch sehr klein.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50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R² = 0,0049 bedeutet: 99,51 % der täglichen Zinsvarianz bleiben durch Brent unerklärt.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50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Konsequenz</a:t>
            </a:r>
          </a:p>
          <a:p xmlns:a="http://schemas.openxmlformats.org/drawingml/2006/main">
            <a:pPr algn="l">
              <a:defRPr sz="1050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Eine Aggregation würde Information vernichten und potenziell unterschiedliche sektorale Wirkungen verdecken.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CFEB9D0D-DEAC-4AD3-A901-E33C116B0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0382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53" b="0" i="0">
                <a:solidFill>
                  <a:srgbClr val="71858F"/>
                </a:solidFill>
                <a:latin typeface="Aptos"/>
                <a:ea typeface="Aptos"/>
                <a:cs typeface="Aptos"/>
              </a:defRPr>
            </a:pPr>
            <a:r>
              <a:rPr sz="653" b="0" i="0">
                <a:solidFill>
                  <a:srgbClr val="71858F"/>
                </a:solidFill>
                <a:latin typeface="Aptos"/>
                <a:ea typeface="Aptos"/>
                <a:cs typeface="Aptos"/>
              </a:rPr>
              <a:t>Daten: ICE Brent + Deutsche Bundesbank Svensson · 22.04.2021–22.04.2026 · lokaler Modell-Cache</a:t>
            </a:r>
          </a:p>
        </p:txBody>
      </p:sp>
    </p:spTree>
    <p:extLst>
      <p:ext uri="{BB962C8B-B14F-4D97-AF65-F5344CB8AC3E}">
        <p14:creationId xmlns:p14="http://schemas.microsoft.com/office/powerpoint/2010/main" val="93449824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3F6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122AA7A-CF42-448F-BF65-04349C7B1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2F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51FB74-7731-4845-ADF0-59739382D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457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1" i="0">
                <a:solidFill>
                  <a:srgbClr val="A52F4D"/>
                </a:solidFill>
                <a:latin typeface="Aptos"/>
                <a:ea typeface="Aptos"/>
                <a:cs typeface="Aptos"/>
              </a:defRPr>
            </a:pPr>
            <a:r>
              <a:rPr sz="863" b="1" i="0">
                <a:solidFill>
                  <a:srgbClr val="A52F4D"/>
                </a:solidFill>
                <a:latin typeface="Aptos"/>
                <a:ea typeface="Aptos"/>
                <a:cs typeface="Aptos"/>
              </a:rPr>
              <a:t>KAPITEL 2 · STABILITÄT DER FAKTORBEZIEHUNG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B63A40-AF34-47E4-9BD0-5D2D4AB72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191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7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Die Faktorbeziehung schwankt – strukturell bleibt die Korrelation niedrig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09B02C-8F4B-4109-9D4A-494372154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1096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Ein explizites Zwei-Faktor-Modell kann temporäre Gleichläufe abbilden, ohne eine dauerhafte Abhängigkeit zu unterstellen.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7D1B8F-F4AA-40A5-9322-EB2B8605F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361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16ACAD-E75A-4AEC-B338-F7C3A4BAD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38275"/>
            <a:ext cx="7286625" cy="4210050"/>
          </a:xfrm>
          <a:prstGeom xmlns:a="http://schemas.openxmlformats.org/drawingml/2006/main" prst="roundRect">
            <a:avLst>
              <a:gd name="adj" fmla="val 27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60A2D2-E9AB-4E2F-8A62-139EFD6DA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1628775"/>
            <a:ext cx="3714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1" i="0">
                <a:solidFill>
                  <a:srgbClr val="A52F4D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A52F4D"/>
                </a:solidFill>
                <a:latin typeface="Aptos"/>
                <a:ea typeface="Aptos"/>
                <a:cs typeface="Aptos"/>
              </a:rPr>
              <a:t>PEARSON-KORRELATION PRO KALENDERJAHR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6B64F5-C53D-4460-8315-1449D42C1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38650"/>
            <a:ext cx="609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0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D25A95-D297-449E-B4BA-09EBD3B7F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528536"/>
            <a:ext cx="514350" cy="9101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D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DCA454-2128-4296-9E2D-C4B848320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3299936"/>
            <a:ext cx="685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0B5D7A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0B5D7A"/>
                </a:solidFill>
                <a:latin typeface="Aptos"/>
                <a:ea typeface="Aptos"/>
                <a:cs typeface="Aptos"/>
              </a:rPr>
              <a:t>+0,182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2724DE-C2E4-4FEA-8EF8-208825D57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162550"/>
            <a:ext cx="590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863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2021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E35624-7D4F-42CC-821C-BE2A7D75C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438650"/>
            <a:ext cx="514350" cy="3050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2F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95E568-37BA-4F04-A2CD-7C7E9B3FE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4800838"/>
            <a:ext cx="685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A52F4D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A52F4D"/>
                </a:solidFill>
                <a:latin typeface="Aptos"/>
                <a:ea typeface="Aptos"/>
                <a:cs typeface="Aptos"/>
              </a:rPr>
              <a:t>-0,061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BF023F-0171-4C5A-8BB8-973DA7CD2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162550"/>
            <a:ext cx="590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863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2022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450F1E-561E-40C2-877E-A2F99A057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943588"/>
            <a:ext cx="514350" cy="4950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D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1CD503-C203-4A7E-A2EA-6C5B19C91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3714988"/>
            <a:ext cx="685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0B5D7A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0B5D7A"/>
                </a:solidFill>
                <a:latin typeface="Aptos"/>
                <a:ea typeface="Aptos"/>
                <a:cs typeface="Aptos"/>
              </a:rPr>
              <a:t>+0,099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614B89-A5F3-46BF-B575-899A9CE60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5162550"/>
            <a:ext cx="590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863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2023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3A1166-C33C-4666-9598-B745A7653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463528"/>
            <a:ext cx="514350" cy="9751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D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65A54A-758F-4895-83A8-92E378584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3234928"/>
            <a:ext cx="685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0B5D7A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0B5D7A"/>
                </a:solidFill>
                <a:latin typeface="Aptos"/>
                <a:ea typeface="Aptos"/>
                <a:cs typeface="Aptos"/>
              </a:rPr>
              <a:t>+0,195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F4D25F-F56E-44C3-9CBE-107DA7BEC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162550"/>
            <a:ext cx="590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863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2024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ADA943D-96CC-4E5F-A65A-9CF12BC6A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208621"/>
            <a:ext cx="514350" cy="2300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D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22ED5FF-D3E4-4FC2-89FD-127114660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3980021"/>
            <a:ext cx="685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0B5D7A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0B5D7A"/>
                </a:solidFill>
                <a:latin typeface="Aptos"/>
                <a:ea typeface="Aptos"/>
                <a:cs typeface="Aptos"/>
              </a:rPr>
              <a:t>+0,046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804A3D0-322B-490E-8CCE-AF1C02F67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5162550"/>
            <a:ext cx="590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863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2025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B3B9996-B558-4AE5-9701-4B57EE22D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628424"/>
            <a:ext cx="514350" cy="18102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D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BAE3066-1061-40A5-B91C-86CF69BD0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2399824"/>
            <a:ext cx="685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0B5D7A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0B5D7A"/>
                </a:solidFill>
                <a:latin typeface="Aptos"/>
                <a:ea typeface="Aptos"/>
                <a:cs typeface="Aptos"/>
              </a:rPr>
              <a:t>+0,362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3EC536F-8486-4153-BF8B-92EB9A539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5162550"/>
            <a:ext cx="590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863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2026*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FF6E0F9-C814-4E85-A4CC-1F37341B8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19725"/>
            <a:ext cx="6572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13" b="0" i="0">
                <a:solidFill>
                  <a:srgbClr val="71858F"/>
                </a:solidFill>
                <a:latin typeface="Aptos"/>
                <a:ea typeface="Aptos"/>
                <a:cs typeface="Aptos"/>
              </a:defRPr>
            </a:pPr>
            <a:r>
              <a:rPr sz="713" b="0" i="0">
                <a:solidFill>
                  <a:srgbClr val="71858F"/>
                </a:solidFill>
                <a:latin typeface="Aptos"/>
                <a:ea typeface="Aptos"/>
                <a:cs typeface="Aptos"/>
              </a:rPr>
              <a:t>* 2026 ist ein Teilsample bis 22. April und daher nicht direkt mit Volljahren vergleichbar.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B15286C-DD68-40F3-90B0-00F2738C8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438275"/>
            <a:ext cx="3686175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6EADE33-C7B6-4F80-9A50-7A337E240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438275"/>
            <a:ext cx="36861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D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587123E-04A9-4D83-9E3F-C71F28006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1581150"/>
            <a:ext cx="34194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1" i="0">
                <a:solidFill>
                  <a:srgbClr val="71858F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71858F"/>
                </a:solidFill>
                <a:latin typeface="Aptos"/>
                <a:ea typeface="Aptos"/>
                <a:cs typeface="Aptos"/>
              </a:rPr>
              <a:t>ROLLING 252 TAGE · SPANNWEITE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2D5F162-A375-4EFC-8552-B82B75233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1790700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−0,175 bis +0,235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1FE3DC7-23D5-4731-8F43-9D01188A3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162175"/>
            <a:ext cx="34194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788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temporäre negative und positive Regime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BB6A3F3-08A8-4151-B17E-24A0E24FB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733675"/>
            <a:ext cx="3686175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BE798F0-C073-4404-B083-0F395936D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733675"/>
            <a:ext cx="36861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777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8DF17CD-5FF1-481D-971A-9F867623D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876550"/>
            <a:ext cx="34194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1" i="0">
                <a:solidFill>
                  <a:srgbClr val="71858F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71858F"/>
                </a:solidFill>
                <a:latin typeface="Aptos"/>
                <a:ea typeface="Aptos"/>
                <a:cs typeface="Aptos"/>
              </a:rPr>
              <a:t>ROLLING-MITTEL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15C50CA-57C8-42A3-91C6-DE00A53D3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086100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+0,065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D892BD1-E8AF-4E3C-9E94-1A49490D5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457575"/>
            <a:ext cx="34194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788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nahe am Full-Sample-Wert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1926990-6D13-471F-82FF-561EFBFE5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029075"/>
            <a:ext cx="3686175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6F52B65-9ED4-49DB-9380-891C85E86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029075"/>
            <a:ext cx="36861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1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7557561-C24B-45E9-87A7-DE8E871D7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171950"/>
            <a:ext cx="34194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1" i="0">
                <a:solidFill>
                  <a:srgbClr val="71858F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71858F"/>
                </a:solidFill>
                <a:latin typeface="Aptos"/>
                <a:ea typeface="Aptos"/>
                <a:cs typeface="Aptos"/>
              </a:rPr>
              <a:t>LETZTER CACHE-WERT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8F23399-BCF2-4A21-97B4-BA91DD614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381500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+0,198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0596359-3BEA-4E86-AFBF-21C5E6F11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752975"/>
            <a:ext cx="34194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788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22. April 2026 · erhöht, aber moderat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7CBBFC2-3185-4BA5-9DE2-3ED90C91B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57875"/>
            <a:ext cx="112776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3F1EF"/>
          </a:solidFill>
          <a:ln xmlns:a="http://schemas.openxmlformats.org/drawingml/2006/main" w="9525">
            <a:solidFill>
              <a:srgbClr val="B7D4D2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9EAAE19-DF6A-4DED-A88A-3AE4C1FE0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972175"/>
            <a:ext cx="1095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13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1013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Interpretation: Zeitvariation ja – strukturelle Ein-Faktor-Abhängigkeit nein. Deshalb bleiben Brent und Zins getrennt steuerbar.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6B811FE-399A-4518-A76A-66BAD0776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0382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53" b="0" i="0">
                <a:solidFill>
                  <a:srgbClr val="71858F"/>
                </a:solidFill>
                <a:latin typeface="Aptos"/>
                <a:ea typeface="Aptos"/>
                <a:cs typeface="Aptos"/>
              </a:defRPr>
            </a:pPr>
            <a:r>
              <a:rPr sz="653" b="0" i="0">
                <a:solidFill>
                  <a:srgbClr val="71858F"/>
                </a:solidFill>
                <a:latin typeface="Aptos"/>
                <a:ea typeface="Aptos"/>
                <a:cs typeface="Aptos"/>
              </a:rPr>
              <a:t>Quelle: factor_correlation.py · Rolling Window 252 Handelstage · lokale Markt- und Bundesbankdaten</a:t>
            </a:r>
          </a:p>
        </p:txBody>
      </p:sp>
    </p:spTree>
    <p:extLst>
      <p:ext uri="{BB962C8B-B14F-4D97-AF65-F5344CB8AC3E}">
        <p14:creationId xmlns:p14="http://schemas.microsoft.com/office/powerpoint/2010/main" val="66673433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3F6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9E30FF9-67DD-40A2-A220-F7E9F03B8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2F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C66CAB-7D33-40EA-8210-FD91BDE1C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457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1" i="0">
                <a:solidFill>
                  <a:srgbClr val="A52F4D"/>
                </a:solidFill>
                <a:latin typeface="Aptos"/>
                <a:ea typeface="Aptos"/>
                <a:cs typeface="Aptos"/>
              </a:defRPr>
            </a:pPr>
            <a:r>
              <a:rPr sz="863" b="1" i="0">
                <a:solidFill>
                  <a:srgbClr val="A52F4D"/>
                </a:solidFill>
                <a:latin typeface="Aptos"/>
                <a:ea typeface="Aptos"/>
                <a:cs typeface="Aptos"/>
              </a:rPr>
              <a:t>KAPITEL 2 · KONKRETER MODELLLAUF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6ED3C2-A24F-490A-907D-0B9A455E0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191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7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Retail-PD steigt am stärksten; Bank-PD sinkt leicht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1F248B-E333-4A49-BD52-9A07FBCE8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1096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Szenario: ΔBrent +0,50 log ≈ +65 % Ölpreis und Δr 10Y +2,0 pp = +200 bp.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2E8988-95AB-48AE-A61B-888146828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361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765145-A435-49A7-9967-9D2DFB69C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81125"/>
            <a:ext cx="781050" cy="2190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52F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A906D3-9236-4997-A2CA-B876D8439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19225"/>
            <a:ext cx="7048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13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SZENARIO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87D20D-5A1D-4C5D-9434-F6134E967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314450"/>
            <a:ext cx="2333625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ED28AB-A258-4400-9ACC-908542905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314450"/>
            <a:ext cx="2333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D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915BE7-4FDB-4522-93C8-7621C8F49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1457325"/>
            <a:ext cx="20669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1" i="0">
                <a:solidFill>
                  <a:srgbClr val="71858F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71858F"/>
                </a:solidFill>
                <a:latin typeface="Aptos"/>
                <a:ea typeface="Aptos"/>
                <a:cs typeface="Aptos"/>
              </a:rPr>
              <a:t>ÖLPREIS-SCHOCK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00B30D-5C95-4490-A150-AFDFE03D8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1666875"/>
            <a:ext cx="20669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+0,50 log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7AA010-30D0-429A-801E-DD2B521C8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2038350"/>
            <a:ext cx="20669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788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≈ +65 % Preisbewegung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E43430-A912-4152-A582-D3894DC0F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314450"/>
            <a:ext cx="2333625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E1AF8A-56C9-46AE-A66E-D4AA48454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314450"/>
            <a:ext cx="2333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2F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E977D9-6589-461B-A8D9-530E0D6DE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1457325"/>
            <a:ext cx="20669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1" i="0">
                <a:solidFill>
                  <a:srgbClr val="71858F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71858F"/>
                </a:solidFill>
                <a:latin typeface="Aptos"/>
                <a:ea typeface="Aptos"/>
                <a:cs typeface="Aptos"/>
              </a:rPr>
              <a:t>ZINSSCHOCK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89B486-D447-4460-A4E5-83671B649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1666875"/>
            <a:ext cx="20669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+2,0 pp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D42941-C9DC-4AB0-BDB5-589FE9F34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038350"/>
            <a:ext cx="20669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788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+200 Basispunkte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690DF4-1D2F-4CA3-9872-5BD89E92F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314450"/>
            <a:ext cx="2333625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25768C-7E2D-4891-9AB7-A779F5920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314450"/>
            <a:ext cx="2333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1C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28776F-73EC-47C9-BFC6-9CF04E400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1457325"/>
            <a:ext cx="20669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1" i="0">
                <a:solidFill>
                  <a:srgbClr val="71858F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71858F"/>
                </a:solidFill>
                <a:latin typeface="Aptos"/>
                <a:ea typeface="Aptos"/>
                <a:cs typeface="Aptos"/>
              </a:rPr>
              <a:t>MODELL-UNIVERSUM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B9634FC-ACB4-41A3-95C6-F6662FF4D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1666875"/>
            <a:ext cx="20669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€8,28 tn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5B4E609-5C06-471F-BFCE-F75B9985A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2038350"/>
            <a:ext cx="20669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788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10 EU-IRB-Banken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E121C6B-6F51-4C04-8403-3DD9FB690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314450"/>
            <a:ext cx="27813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EC746C7-5F09-4A6E-88A4-AB0263CE3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314450"/>
            <a:ext cx="2781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777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BC235D5-61EB-4342-8D98-13AED8442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457325"/>
            <a:ext cx="2514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1" i="0">
                <a:solidFill>
                  <a:srgbClr val="71858F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71858F"/>
                </a:solidFill>
                <a:latin typeface="Aptos"/>
                <a:ea typeface="Aptos"/>
                <a:cs typeface="Aptos"/>
              </a:rPr>
              <a:t>STICHTAGE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BE104C5-C1D9-483E-8348-951B80089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666875"/>
            <a:ext cx="2514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2024 / 2025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BF6B56E-83A1-4ABC-AC70-FE8E24EA6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038350"/>
            <a:ext cx="2514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788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Pillar 3 / EBA Transparency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7F806EC-F9DA-4386-9C36-29697D7BF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76500"/>
            <a:ext cx="5410200" cy="3276600"/>
          </a:xfrm>
          <a:prstGeom xmlns:a="http://schemas.openxmlformats.org/drawingml/2006/main" prst="roundRect">
            <a:avLst>
              <a:gd name="adj" fmla="val 34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D4597EB-D0A1-42D3-8B58-0C67B4BD8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0"/>
            <a:ext cx="2571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A52F4D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A52F4D"/>
                </a:solidFill>
                <a:latin typeface="Aptos"/>
                <a:ea typeface="Aptos"/>
                <a:cs typeface="Aptos"/>
              </a:rPr>
              <a:t>PD · BASELINE → STRESS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4435695-580F-4E08-953A-6801513CE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05150"/>
            <a:ext cx="1190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938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Other Retail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1CF1CCF-746A-4037-B5D0-FE25D6004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114675"/>
            <a:ext cx="285750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E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1503599-41AF-40D5-AE95-CB5B4C6D5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114675"/>
            <a:ext cx="2395157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5D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40D6A62-6E43-4540-87F5-B871A6956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333750"/>
            <a:ext cx="285750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E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CFADE36-9B59-4B1B-BCA8-13CE25DA2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333750"/>
            <a:ext cx="2580894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52F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BD079F0-477C-42CE-95B4-438F3FBB2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086100"/>
            <a:ext cx="7048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88" b="0" i="0">
                <a:solidFill>
                  <a:srgbClr val="0B5D7A"/>
                </a:solidFill>
                <a:latin typeface="Aptos"/>
                <a:ea typeface="Aptos"/>
                <a:cs typeface="Aptos"/>
              </a:defRPr>
            </a:pPr>
            <a:r>
              <a:rPr sz="788" b="0" i="0">
                <a:solidFill>
                  <a:srgbClr val="0B5D7A"/>
                </a:solidFill>
                <a:latin typeface="Aptos"/>
                <a:ea typeface="Aptos"/>
                <a:cs typeface="Aptos"/>
              </a:rPr>
              <a:t>8,38 %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AD610BB-ADE4-41D5-90E0-CFEEE911E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305175"/>
            <a:ext cx="7048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88" b="1" i="0">
                <a:solidFill>
                  <a:srgbClr val="A52F4D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A52F4D"/>
                </a:solidFill>
                <a:latin typeface="Aptos"/>
                <a:ea typeface="Aptos"/>
                <a:cs typeface="Aptos"/>
              </a:rPr>
              <a:t>9,03 %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562300F-A833-4AB7-A1EA-838745EC7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552825"/>
            <a:ext cx="2857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88" b="1" i="0">
                <a:solidFill>
                  <a:srgbClr val="A52F4D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A52F4D"/>
                </a:solidFill>
                <a:latin typeface="Aptos"/>
                <a:ea typeface="Aptos"/>
                <a:cs typeface="Aptos"/>
              </a:rPr>
              <a:t>Δ +0,650 pp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63009AE-6FC0-4E30-AFAF-3B684C6A9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86200"/>
            <a:ext cx="1190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938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Corporate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C558C39-3708-4621-AEE6-06D5D4055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895725"/>
            <a:ext cx="285750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E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4A032F8-2212-489F-B42F-90C56A59E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895725"/>
            <a:ext cx="96212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5D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2A3F2B6-E28C-4DD3-9E65-053952775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114800"/>
            <a:ext cx="285750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E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52D31B2-0307-49B0-B97D-AC3F5DB7B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114800"/>
            <a:ext cx="1119283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5D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1686CAD-0B4E-41E8-A402-FE646E9ED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867150"/>
            <a:ext cx="7048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88" b="0" i="0">
                <a:solidFill>
                  <a:srgbClr val="0B5D7A"/>
                </a:solidFill>
                <a:latin typeface="Aptos"/>
                <a:ea typeface="Aptos"/>
                <a:cs typeface="Aptos"/>
              </a:defRPr>
            </a:pPr>
            <a:r>
              <a:rPr sz="788" b="0" i="0">
                <a:solidFill>
                  <a:srgbClr val="0B5D7A"/>
                </a:solidFill>
                <a:latin typeface="Aptos"/>
                <a:ea typeface="Aptos"/>
                <a:cs typeface="Aptos"/>
              </a:rPr>
              <a:t>3,37 %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ECB49D2-8BCE-4281-9E1C-8341CBDF3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086225"/>
            <a:ext cx="7048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88" b="1" i="0">
                <a:solidFill>
                  <a:srgbClr val="0B5D7A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0B5D7A"/>
                </a:solidFill>
                <a:latin typeface="Aptos"/>
                <a:ea typeface="Aptos"/>
                <a:cs typeface="Aptos"/>
              </a:rPr>
              <a:t>3,92 %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80CB876-5965-4321-B44A-B2EE4A507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333875"/>
            <a:ext cx="2857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88" b="1" i="0">
                <a:solidFill>
                  <a:srgbClr val="0B5D7A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0B5D7A"/>
                </a:solidFill>
                <a:latin typeface="Aptos"/>
                <a:ea typeface="Aptos"/>
                <a:cs typeface="Aptos"/>
              </a:rPr>
              <a:t>Δ +0,550 pp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9AA36E1-D821-4208-8BEF-3800BA835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67250"/>
            <a:ext cx="1190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938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Bank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7F377ED-130E-4A89-A098-BC7EE67B5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676775"/>
            <a:ext cx="285750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E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51C6717-0919-4ACD-ACAA-7506E930E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676775"/>
            <a:ext cx="253174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5D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3E0E0A7-5864-4772-B134-694560053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895850"/>
            <a:ext cx="285750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E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8671960-D70F-45FB-B758-40789666B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895850"/>
            <a:ext cx="231743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777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8EF7BE6-F8D8-46A6-B81E-B9713060E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648200"/>
            <a:ext cx="7048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88" b="0" i="0">
                <a:solidFill>
                  <a:srgbClr val="0B5D7A"/>
                </a:solidFill>
                <a:latin typeface="Aptos"/>
                <a:ea typeface="Aptos"/>
                <a:cs typeface="Aptos"/>
              </a:defRPr>
            </a:pPr>
            <a:r>
              <a:rPr sz="788" b="0" i="0">
                <a:solidFill>
                  <a:srgbClr val="0B5D7A"/>
                </a:solidFill>
                <a:latin typeface="Aptos"/>
                <a:ea typeface="Aptos"/>
                <a:cs typeface="Aptos"/>
              </a:rPr>
              <a:t>0,89 %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2D28278-2D61-45FB-934B-F879DBF33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867275"/>
            <a:ext cx="7048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88" b="1" i="0">
                <a:solidFill>
                  <a:srgbClr val="1B777F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1B777F"/>
                </a:solidFill>
                <a:latin typeface="Aptos"/>
                <a:ea typeface="Aptos"/>
                <a:cs typeface="Aptos"/>
              </a:rPr>
              <a:t>0,81 %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0F69214-5649-48CE-8A1A-E8740EB6A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114925"/>
            <a:ext cx="2857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88" b="1" i="0">
                <a:solidFill>
                  <a:srgbClr val="1B777F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1B777F"/>
                </a:solidFill>
                <a:latin typeface="Aptos"/>
                <a:ea typeface="Aptos"/>
                <a:cs typeface="Aptos"/>
              </a:rPr>
              <a:t>Δ -0,075 pp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CF226CD-798E-4F8B-9D14-50B15CA95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476500"/>
            <a:ext cx="5600700" cy="3276600"/>
          </a:xfrm>
          <a:prstGeom xmlns:a="http://schemas.openxmlformats.org/drawingml/2006/main" prst="roundRect">
            <a:avLst>
              <a:gd name="adj" fmla="val 34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0898F0B-6F02-4909-9190-1605701AF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67000"/>
            <a:ext cx="2571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A52F4D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A52F4D"/>
                </a:solidFill>
                <a:latin typeface="Aptos"/>
                <a:ea typeface="Aptos"/>
                <a:cs typeface="Aptos"/>
              </a:rPr>
              <a:t>LGD · BASELINE → STRESS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9475B58-96BE-4F58-BD10-9F1BA4C91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105150"/>
            <a:ext cx="1190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938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Corporate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20302A1-4702-412F-876A-50FD43932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114675"/>
            <a:ext cx="3000375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E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04929ED-37FB-4015-B2ED-C5DDC7080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114675"/>
            <a:ext cx="240030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5D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8A272AE-F72B-4EFA-BE71-A2B0A2A10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333750"/>
            <a:ext cx="3000375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E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3DBD418E-09BA-4F83-9F78-A0110F624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333750"/>
            <a:ext cx="2569071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52F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A5D7B75-F824-45E4-B51B-390368C73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3086100"/>
            <a:ext cx="7429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88" b="0" i="0">
                <a:solidFill>
                  <a:srgbClr val="0B5D7A"/>
                </a:solidFill>
                <a:latin typeface="Aptos"/>
                <a:ea typeface="Aptos"/>
                <a:cs typeface="Aptos"/>
              </a:defRPr>
            </a:pPr>
            <a:r>
              <a:rPr sz="788" b="0" i="0">
                <a:solidFill>
                  <a:srgbClr val="0B5D7A"/>
                </a:solidFill>
                <a:latin typeface="Aptos"/>
                <a:ea typeface="Aptos"/>
                <a:cs typeface="Aptos"/>
              </a:rPr>
              <a:t>32,00 %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77B4C00F-1553-4182-84D9-3FAC1F250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3305175"/>
            <a:ext cx="7429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88" b="1" i="0">
                <a:solidFill>
                  <a:srgbClr val="A52F4D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A52F4D"/>
                </a:solidFill>
                <a:latin typeface="Aptos"/>
                <a:ea typeface="Aptos"/>
                <a:cs typeface="Aptos"/>
              </a:rPr>
              <a:t>34,25 %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91A8ECAD-382D-41D0-BB16-2F69063B2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552825"/>
            <a:ext cx="30003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88" b="1" i="0">
                <a:solidFill>
                  <a:srgbClr val="A52F4D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A52F4D"/>
                </a:solidFill>
                <a:latin typeface="Aptos"/>
                <a:ea typeface="Aptos"/>
                <a:cs typeface="Aptos"/>
              </a:rPr>
              <a:t>Δ +2,25 pp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47D12860-E2D8-4C9B-BC6A-86BA4AC78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886200"/>
            <a:ext cx="1190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938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Other Retail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51498694-B8B2-4ED8-B543-A05EAAEEF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895725"/>
            <a:ext cx="3000375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E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47F19B65-F5FB-4CF4-978C-790566124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895725"/>
            <a:ext cx="2518065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5D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D8B76161-0BFF-4A5F-86DF-9B27F2DD6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114800"/>
            <a:ext cx="3000375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E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CB001BC5-3BD9-4C07-B625-C14858993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114800"/>
            <a:ext cx="2647081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5D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C71E8E2C-0ABA-45C9-9D7B-4956AA036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3867150"/>
            <a:ext cx="7429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88" b="0" i="0">
                <a:solidFill>
                  <a:srgbClr val="0B5D7A"/>
                </a:solidFill>
                <a:latin typeface="Aptos"/>
                <a:ea typeface="Aptos"/>
                <a:cs typeface="Aptos"/>
              </a:defRPr>
            </a:pPr>
            <a:r>
              <a:rPr sz="788" b="0" i="0">
                <a:solidFill>
                  <a:srgbClr val="0B5D7A"/>
                </a:solidFill>
                <a:latin typeface="Aptos"/>
                <a:ea typeface="Aptos"/>
                <a:cs typeface="Aptos"/>
              </a:rPr>
              <a:t>33,57 %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1FEB5D5E-7D8D-405C-8BF5-2962FB8AD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4086225"/>
            <a:ext cx="7429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88" b="1" i="0">
                <a:solidFill>
                  <a:srgbClr val="0B5D7A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0B5D7A"/>
                </a:solidFill>
                <a:latin typeface="Aptos"/>
                <a:ea typeface="Aptos"/>
                <a:cs typeface="Aptos"/>
              </a:rPr>
              <a:t>35,29 %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0CE079F7-829C-4440-AB54-C46B2031D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333875"/>
            <a:ext cx="30003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88" b="1" i="0">
                <a:solidFill>
                  <a:srgbClr val="0B5D7A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0B5D7A"/>
                </a:solidFill>
                <a:latin typeface="Aptos"/>
                <a:ea typeface="Aptos"/>
                <a:cs typeface="Aptos"/>
              </a:rPr>
              <a:t>Δ +1,72 pp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DE6E8637-E7E2-4D60-93F5-A17470B62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667250"/>
            <a:ext cx="1190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938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Bank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7804E4F1-CA4D-44FF-BFEA-CDBCE8593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676775"/>
            <a:ext cx="3000375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E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9B26E49C-C68C-4EDF-88B2-79692B09C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676775"/>
            <a:ext cx="2182023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5D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EBB4B9C3-8872-4159-9036-5F767F814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895850"/>
            <a:ext cx="3000375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E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2DA134EA-09E0-41D2-B776-82C51CB47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895850"/>
            <a:ext cx="2260783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777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4C906915-744B-4719-AFD3-06E0E0CF2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4648200"/>
            <a:ext cx="7429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88" b="0" i="0">
                <a:solidFill>
                  <a:srgbClr val="0B5D7A"/>
                </a:solidFill>
                <a:latin typeface="Aptos"/>
                <a:ea typeface="Aptos"/>
                <a:cs typeface="Aptos"/>
              </a:defRPr>
            </a:pPr>
            <a:r>
              <a:rPr sz="788" b="0" i="0">
                <a:solidFill>
                  <a:srgbClr val="0B5D7A"/>
                </a:solidFill>
                <a:latin typeface="Aptos"/>
                <a:ea typeface="Aptos"/>
                <a:cs typeface="Aptos"/>
              </a:rPr>
              <a:t>29,09 %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C745F2B1-27A9-40C5-92D2-025581D99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4867275"/>
            <a:ext cx="7429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88" b="1" i="0">
                <a:solidFill>
                  <a:srgbClr val="1B777F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1B777F"/>
                </a:solidFill>
                <a:latin typeface="Aptos"/>
                <a:ea typeface="Aptos"/>
                <a:cs typeface="Aptos"/>
              </a:rPr>
              <a:t>30,14 %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9C6F7298-0928-4E0F-869C-3EA34357E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5114925"/>
            <a:ext cx="30003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88" b="1" i="0">
                <a:solidFill>
                  <a:srgbClr val="1B777F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1B777F"/>
                </a:solidFill>
                <a:latin typeface="Aptos"/>
                <a:ea typeface="Aptos"/>
                <a:cs typeface="Aptos"/>
              </a:rPr>
              <a:t>Δ +1,05 pp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A7BF8602-4B70-4C29-8EB1-0F211134A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0382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53" b="0" i="0">
                <a:solidFill>
                  <a:srgbClr val="71858F"/>
                </a:solidFill>
                <a:latin typeface="Aptos"/>
                <a:ea typeface="Aptos"/>
                <a:cs typeface="Aptos"/>
              </a:defRPr>
            </a:pPr>
            <a:r>
              <a:rPr sz="653" b="0" i="0">
                <a:solidFill>
                  <a:srgbClr val="71858F"/>
                </a:solidFill>
                <a:latin typeface="Aptos"/>
                <a:ea typeface="Aptos"/>
                <a:cs typeface="Aptos"/>
              </a:rPr>
              <a:t>Konkreter Modelllauf · Werte EAD-gewichtet über das Top-10-Universum · Sovereign-Default separat vom MtM-Kanal</a:t>
            </a:r>
          </a:p>
        </p:txBody>
      </p:sp>
    </p:spTree>
    <p:extLst>
      <p:ext uri="{BB962C8B-B14F-4D97-AF65-F5344CB8AC3E}">
        <p14:creationId xmlns:p14="http://schemas.microsoft.com/office/powerpoint/2010/main" val="78468953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3F6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423AB73-E723-4C20-8517-E3858C2D0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2F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171A14-3E9A-45EB-B4A7-E90461436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457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1" i="0">
                <a:solidFill>
                  <a:srgbClr val="A52F4D"/>
                </a:solidFill>
                <a:latin typeface="Aptos"/>
                <a:ea typeface="Aptos"/>
                <a:cs typeface="Aptos"/>
              </a:defRPr>
            </a:pPr>
            <a:r>
              <a:rPr sz="863" b="1" i="0">
                <a:solidFill>
                  <a:srgbClr val="A52F4D"/>
                </a:solidFill>
                <a:latin typeface="Aptos"/>
                <a:ea typeface="Aptos"/>
                <a:cs typeface="Aptos"/>
              </a:rPr>
              <a:t>KAPITEL 2 · IRB-CAPITAL-BRIDGE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3A99F8-530C-4562-85A9-CBFC28164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191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7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LGD-Stress erklärt rund zwei Drittel des zusätzlichen IRB-Kapitalbedarfs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DC2799-C3A5-482F-BC4B-FDD390275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1096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Gestresste PD und LGD werden nacheinander in die unveränderte Basel-IRB-Formel eingesetzt.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510EA0-9AB3-42FA-9F93-088A4401F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361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0BA0B2-2B04-4E0F-9D14-5E64048C9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38275"/>
            <a:ext cx="7067550" cy="3867150"/>
          </a:xfrm>
          <a:prstGeom xmlns:a="http://schemas.openxmlformats.org/drawingml/2006/main" prst="roundRect">
            <a:avLst>
              <a:gd name="adj" fmla="val 29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038697-C1BA-40C3-83D3-6F9860933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383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A52F4D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A52F4D"/>
                </a:solidFill>
                <a:latin typeface="Aptos"/>
                <a:ea typeface="Aptos"/>
                <a:cs typeface="Aptos"/>
              </a:rPr>
              <a:t>KAPITALBEDARF K · € MRD.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A1D854-1F69-473D-A06B-3357AEC60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24375"/>
            <a:ext cx="619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0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0C8CD7-6D0D-410C-9954-AEBAECA44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43436"/>
            <a:ext cx="1381125" cy="18809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1C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347DB9-148F-4F3D-9562-2212CFB94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76736"/>
            <a:ext cx="1381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€412,9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04C68B-3426-4ED5-B404-D19374434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62500"/>
            <a:ext cx="1381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K Baseline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200210-772E-401B-B202-EE8721281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476625"/>
            <a:ext cx="428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71858F"/>
                </a:solidFill>
                <a:latin typeface="Aptos"/>
                <a:ea typeface="Aptos"/>
                <a:cs typeface="Aptos"/>
              </a:defRPr>
            </a:pPr>
            <a:r>
              <a:rPr sz="2100" b="1" i="0">
                <a:solidFill>
                  <a:srgbClr val="71858F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E93906-1000-4889-B0A7-F246C40B5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945731"/>
            <a:ext cx="1381125" cy="5786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D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EA7A4B-8F20-4649-A23D-9FA1F51A1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688556"/>
            <a:ext cx="1381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0B5D7A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0B5D7A"/>
                </a:solidFill>
                <a:latin typeface="Aptos"/>
                <a:ea typeface="Aptos"/>
                <a:cs typeface="Aptos"/>
              </a:rPr>
              <a:t>+€13,5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B018DE-0F9B-43A7-8C84-B29EBEDDC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762500"/>
            <a:ext cx="1381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ΔK aus PD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B8C675-4B50-4036-9084-09847D147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476625"/>
            <a:ext cx="428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71858F"/>
                </a:solidFill>
                <a:latin typeface="Aptos"/>
                <a:ea typeface="Aptos"/>
                <a:cs typeface="Aptos"/>
              </a:defRPr>
            </a:pPr>
            <a:r>
              <a:rPr sz="2100" b="1" i="0">
                <a:solidFill>
                  <a:srgbClr val="71858F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1444CB-FCC1-4101-B8C3-C4FDDC96F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371374"/>
            <a:ext cx="1381125" cy="11530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2F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8FA5A9-BA23-40AD-9A45-C5327DAD5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114199"/>
            <a:ext cx="1381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A52F4D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A52F4D"/>
                </a:solidFill>
                <a:latin typeface="Aptos"/>
                <a:ea typeface="Aptos"/>
                <a:cs typeface="Aptos"/>
              </a:rPr>
              <a:t>+€26,9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FBE3C4-94DD-468E-B774-2145CDF70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762500"/>
            <a:ext cx="1381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ΔK aus LGD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757DFC-F7D2-4C77-9267-8059E86F5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048250"/>
            <a:ext cx="3667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A52F4D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i="0">
                <a:solidFill>
                  <a:srgbClr val="A52F4D"/>
                </a:solidFill>
                <a:latin typeface="Aptos Display"/>
                <a:ea typeface="Aptos Display"/>
                <a:cs typeface="Aptos Display"/>
              </a:rPr>
              <a:t>K Stress = €453,3 Mrd.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DDA3A58-D754-4805-B49B-A9412FD89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438275"/>
            <a:ext cx="38862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DB69BE4-535D-4BBD-9A96-6746039C4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438275"/>
            <a:ext cx="3886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2F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7BA5AEF-444E-4004-9927-1AA908200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58115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1" i="0">
                <a:solidFill>
                  <a:srgbClr val="71858F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71858F"/>
                </a:solidFill>
                <a:latin typeface="Aptos"/>
                <a:ea typeface="Aptos"/>
                <a:cs typeface="Aptos"/>
              </a:rPr>
              <a:t>EXPECTED LOSS · VERÄNDERUNG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F098A1B-39BB-47F2-8F8C-9A89AD2DC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790700"/>
            <a:ext cx="361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+€21,0 Mrd.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D65981F-34A2-48F0-B2F5-02C48DFF7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162175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788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zusätzliche Kreditvorsorge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7094ADB-F803-43EE-9A92-26938983D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714625"/>
            <a:ext cx="38862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D54B0CC-F427-4D99-8849-EFE17316A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714625"/>
            <a:ext cx="3886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D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8A49CED-DCE1-4E81-A250-168AEEFBE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8575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1" i="0">
                <a:solidFill>
                  <a:srgbClr val="71858F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71858F"/>
                </a:solidFill>
                <a:latin typeface="Aptos"/>
                <a:ea typeface="Aptos"/>
                <a:cs typeface="Aptos"/>
              </a:rPr>
              <a:t>CREDIT RWA · VERÄNDERUNG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B67568E-B1FB-4DF1-A2F1-3E62B0B60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067050"/>
            <a:ext cx="361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+€505,1 Mrd.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726A08B-BFF9-4642-BC76-7A044AD56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438525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788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Basel-IRB-Nennerwirkung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0381047-60DF-4C72-8CB3-5CC72F024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990975"/>
            <a:ext cx="38862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9EACB9E-4FCC-4344-90D3-630A53F87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990975"/>
            <a:ext cx="3886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1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2867202-EB27-4A70-BC1C-65AA0AE38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13385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1" i="0">
                <a:solidFill>
                  <a:srgbClr val="71858F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71858F"/>
                </a:solidFill>
                <a:latin typeface="Aptos"/>
                <a:ea typeface="Aptos"/>
                <a:cs typeface="Aptos"/>
              </a:rPr>
              <a:t>IRB-KAPITAL K · VERÄNDERUNG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46D0BD5-3448-4554-A272-EC78DC028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343400"/>
            <a:ext cx="361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+€40,4 Mrd.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100132C-0864-43A4-A17F-F0EB3A14C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714875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788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+9,8 % gegenüber Baseline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33483EA-805F-49B3-B90E-C65B83458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19750"/>
            <a:ext cx="11277600" cy="523875"/>
          </a:xfrm>
          <a:prstGeom xmlns:a="http://schemas.openxmlformats.org/drawingml/2006/main" prst="roundRect">
            <a:avLst>
              <a:gd name="adj" fmla="val 21818"/>
            </a:avLst>
          </a:prstGeom>
          <a:solidFill xmlns:a="http://schemas.openxmlformats.org/drawingml/2006/main">
            <a:srgbClr val="F8EED3"/>
          </a:solidFill>
          <a:ln xmlns:a="http://schemas.openxmlformats.org/drawingml/2006/main" w="9525">
            <a:solidFill>
              <a:srgbClr val="E4C969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5FA9A1C-0244-4F89-8808-1BF7D6B32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781675"/>
            <a:ext cx="10906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13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1013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Warum LGD dominiert: Der +200-bp-Zinsschock senkt Sicherheitenwerte und erhöht insbesondere die Downturn-LGD.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3EAFA6C-B403-4CB1-88BB-BBBDD055E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0382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53" b="0" i="0">
                <a:solidFill>
                  <a:srgbClr val="71858F"/>
                </a:solidFill>
                <a:latin typeface="Aptos"/>
                <a:ea typeface="Aptos"/>
                <a:cs typeface="Aptos"/>
              </a:defRPr>
            </a:pPr>
            <a:r>
              <a:rPr sz="653" b="0" i="0">
                <a:solidFill>
                  <a:srgbClr val="71858F"/>
                </a:solidFill>
                <a:latin typeface="Aptos"/>
                <a:ea typeface="Aptos"/>
                <a:cs typeface="Aptos"/>
              </a:rPr>
              <a:t>Quelle: Basel-III-IRB / CRR Art. 153–155 · konkreter Modelllauf ΔBrent +0,50 / Δr10Y +2,0 pp</a:t>
            </a:r>
          </a:p>
        </p:txBody>
      </p:sp>
    </p:spTree>
    <p:extLst>
      <p:ext uri="{BB962C8B-B14F-4D97-AF65-F5344CB8AC3E}">
        <p14:creationId xmlns:p14="http://schemas.microsoft.com/office/powerpoint/2010/main" val="76751316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3F6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1B59ACA-2EDA-467A-B66D-46A2BCBF3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2F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F3C9ED-3ACC-4F88-A265-A4EA50534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457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1" i="0">
                <a:solidFill>
                  <a:srgbClr val="A52F4D"/>
                </a:solidFill>
                <a:latin typeface="Aptos"/>
                <a:ea typeface="Aptos"/>
                <a:cs typeface="Aptos"/>
              </a:defRPr>
            </a:pPr>
            <a:r>
              <a:rPr sz="863" b="1" i="0">
                <a:solidFill>
                  <a:srgbClr val="A52F4D"/>
                </a:solidFill>
                <a:latin typeface="Aptos"/>
                <a:ea typeface="Aptos"/>
                <a:cs typeface="Aptos"/>
              </a:rPr>
              <a:t>KAPITEL 2 · CET1-ERGEBNIS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1CB4DF-73ED-49E3-973A-A32E75E69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191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7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Der kombinierte Schock senkt die aggregierte CET1-Quote um 4,15 Prozentpunkte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3AE68F-410D-4C1D-9B38-B62F9394F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1096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Der Sovereign-Marktwertkanal dominiert den Zählerverlust; zusätzliche Kredit-RWA verstärken den Nennerdruck.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6F674F-82C1-437F-9EAE-68810DE7F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361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873B22-0AE3-4FF6-9956-B9589AE76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81125"/>
            <a:ext cx="250507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D456B8-B368-4161-8CC3-0DD598E42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81125"/>
            <a:ext cx="25050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1C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F62A46-EDA0-46B2-AAFC-30359F77E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24000"/>
            <a:ext cx="2238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1" i="0">
                <a:solidFill>
                  <a:srgbClr val="71858F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71858F"/>
                </a:solidFill>
                <a:latin typeface="Aptos"/>
                <a:ea typeface="Aptos"/>
                <a:cs typeface="Aptos"/>
              </a:rPr>
              <a:t>CET1-QUOTE · BASELINE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1D5E06-598A-4A64-B8CD-DE30DACDE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33550"/>
            <a:ext cx="2238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15,17 %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F7557B-EF4F-4FC5-B600-F788855A9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05025"/>
            <a:ext cx="2238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788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Top-10-Aggregat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7806F9-7E02-4901-A6A4-129695578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1381125"/>
            <a:ext cx="250507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EAA604-6984-47D0-AC4F-C2C4C8211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1381125"/>
            <a:ext cx="25050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2F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175D84-780B-46F9-BB3C-8142891ED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1524000"/>
            <a:ext cx="2238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1" i="0">
                <a:solidFill>
                  <a:srgbClr val="71858F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71858F"/>
                </a:solidFill>
                <a:latin typeface="Aptos"/>
                <a:ea typeface="Aptos"/>
                <a:cs typeface="Aptos"/>
              </a:rPr>
              <a:t>CET1-QUOTE · STRESS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F68C41-60E8-4D38-A3B7-0C1412B97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1733550"/>
            <a:ext cx="2238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11,02 %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4EAF79-646F-438A-8FEA-38702A95D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2105025"/>
            <a:ext cx="2238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788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−4,15 Prozentpunkte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F3C28D-3A06-45F0-AFAC-401C433A2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381125"/>
            <a:ext cx="250507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A5882E-10B4-4F50-A99B-FE9665BCE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381125"/>
            <a:ext cx="25050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777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9200A7-7B5D-4250-ADED-D56BD4F9E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524000"/>
            <a:ext cx="2238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1" i="0">
                <a:solidFill>
                  <a:srgbClr val="71858F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71858F"/>
                </a:solidFill>
                <a:latin typeface="Aptos"/>
                <a:ea typeface="Aptos"/>
                <a:cs typeface="Aptos"/>
              </a:rPr>
              <a:t>CET1-KAPITAL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9BDE114-E74B-4C1D-9E65-E19066662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733550"/>
            <a:ext cx="2238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€678 → €548 Mrd.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E5563CF-BD15-4A1E-B02D-C6E4FBE04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105025"/>
            <a:ext cx="2238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788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−€129,7 Mrd.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4A98ECC-0370-41BA-8E3C-9833C1A5D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1381125"/>
            <a:ext cx="324802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9148CF9-2C56-476B-9472-6BB323995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1381125"/>
            <a:ext cx="32480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D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1F2EDD8-FBB8-451E-882B-C4F79F905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524000"/>
            <a:ext cx="29813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1" i="0">
                <a:solidFill>
                  <a:srgbClr val="71858F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71858F"/>
                </a:solidFill>
                <a:latin typeface="Aptos"/>
                <a:ea typeface="Aptos"/>
                <a:cs typeface="Aptos"/>
              </a:rPr>
              <a:t>TOTAL RWA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654F504-0346-4771-A1CC-C3F02F1CD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733550"/>
            <a:ext cx="2981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€4.468 → €4.974 Mrd.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DCB6B72-AC54-44C9-9728-77D6390FB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105025"/>
            <a:ext cx="29813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788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+€505,1 Mrd.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6EF5A47-FD91-4294-9DAB-26801FBB7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38425"/>
            <a:ext cx="6858000" cy="3124200"/>
          </a:xfrm>
          <a:prstGeom xmlns:a="http://schemas.openxmlformats.org/drawingml/2006/main" prst="roundRect">
            <a:avLst>
              <a:gd name="adj" fmla="val 36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3670206-72B4-414C-91E1-391CF2AF1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28925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A52F4D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A52F4D"/>
                </a:solidFill>
                <a:latin typeface="Aptos"/>
                <a:ea typeface="Aptos"/>
                <a:cs typeface="Aptos"/>
              </a:rPr>
              <a:t>BEITRÄGE ZUM STRESSERGEBNIS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7132494-3ADB-4BBB-A6BD-250435F66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276600"/>
            <a:ext cx="12192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162E3B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162E3B"/>
                </a:solidFill>
                <a:latin typeface="Aptos"/>
                <a:ea typeface="Aptos"/>
                <a:cs typeface="Aptos"/>
              </a:rPr>
              <a:t>Kreditvorsorge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7EEEED7-C4EF-4FEC-A805-FF59A3881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3295650"/>
            <a:ext cx="4238625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E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E5FBD06-F3A9-4A19-B74E-A6A4DC717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3295650"/>
            <a:ext cx="809192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52F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FD25D4F-C62D-45E8-A3FE-8BCF3CDCE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276600"/>
            <a:ext cx="6477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A52F4D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A52F4D"/>
                </a:solidFill>
                <a:latin typeface="Aptos"/>
                <a:ea typeface="Aptos"/>
                <a:cs typeface="Aptos"/>
              </a:rPr>
              <a:t>−€21,0 Mrd.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9CA4F10-810D-42A8-8458-59F76B8B1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781425"/>
            <a:ext cx="12192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162E3B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162E3B"/>
                </a:solidFill>
                <a:latin typeface="Aptos"/>
                <a:ea typeface="Aptos"/>
                <a:cs typeface="Aptos"/>
              </a:rPr>
              <a:t>Sovereign-MtM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46EB120-F594-450F-8E51-10DCA3F86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3800475"/>
            <a:ext cx="4238625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E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85F0CD5-45BD-44C1-A0E3-06FDF6B94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3800475"/>
            <a:ext cx="4188532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A1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20FDBEA-6C9E-4327-B6D4-D0698A5CD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781425"/>
            <a:ext cx="6477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D9A124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D9A124"/>
                </a:solidFill>
                <a:latin typeface="Aptos"/>
                <a:ea typeface="Aptos"/>
                <a:cs typeface="Aptos"/>
              </a:rPr>
              <a:t>−€108,7 Mrd.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F7987A4-914F-492F-B993-BA3B47560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286250"/>
            <a:ext cx="12192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162E3B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162E3B"/>
                </a:solidFill>
                <a:latin typeface="Aptos"/>
                <a:ea typeface="Aptos"/>
                <a:cs typeface="Aptos"/>
              </a:rPr>
              <a:t>zusätzliche RWA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BD696E5-20CF-4077-8FC2-EBEA45F98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4305300"/>
            <a:ext cx="4238625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E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D41EA04-F7C6-42A6-81BA-F808C921F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4305300"/>
            <a:ext cx="4117172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5D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00FFE2C-B75D-4F32-B29F-1D5A04DED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4286250"/>
            <a:ext cx="6477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0B5D7A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0B5D7A"/>
                </a:solidFill>
                <a:latin typeface="Aptos"/>
                <a:ea typeface="Aptos"/>
                <a:cs typeface="Aptos"/>
              </a:rPr>
              <a:t>+€505,1 Mrd.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D1E14BB-1898-4A6E-AAAB-D397EA676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810125"/>
            <a:ext cx="6191250" cy="581025"/>
          </a:xfrm>
          <a:prstGeom xmlns:a="http://schemas.openxmlformats.org/drawingml/2006/main" prst="roundRect">
            <a:avLst>
              <a:gd name="adj" fmla="val 13115"/>
            </a:avLst>
          </a:prstGeom>
          <a:solidFill xmlns:a="http://schemas.openxmlformats.org/drawingml/2006/main">
            <a:srgbClr val="051C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3EA6C7C-775D-4C7B-93FA-DEDA220E6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14900"/>
            <a:ext cx="762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BBD0D9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BBD0D9"/>
                </a:solidFill>
                <a:latin typeface="Aptos"/>
                <a:ea typeface="Aptos"/>
                <a:cs typeface="Aptos"/>
              </a:rPr>
              <a:t>ZÄHLER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B1E5054-696D-49A2-9665-FE6C72CB7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886325"/>
            <a:ext cx="19526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CET1 −€129,7 Mrd.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B394E63-F29E-418B-AC4A-26750208C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4914900"/>
            <a:ext cx="762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BBD0D9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BBD0D9"/>
                </a:solidFill>
                <a:latin typeface="Aptos"/>
                <a:ea typeface="Aptos"/>
                <a:cs typeface="Aptos"/>
              </a:rPr>
              <a:t>NENNER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48F2C2E-E4D8-4B41-A09B-250A77E7D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886325"/>
            <a:ext cx="19526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RWA +€505,1 Mrd.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EABDA81-F3EE-4306-8F4A-27AA4EADF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476875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863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Der Marktwertkanal ist im Zähler der größte Einzelbeitrag; die Kredit-RWA wirken zusätzlich über den Nenner.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98BEBC1-49F9-4A06-AABE-7FF23ABA9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638425"/>
            <a:ext cx="4133850" cy="3124200"/>
          </a:xfrm>
          <a:prstGeom xmlns:a="http://schemas.openxmlformats.org/drawingml/2006/main" prst="roundRect">
            <a:avLst>
              <a:gd name="adj" fmla="val 36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59A4B40-50E3-4A4E-A83C-18D5C427A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828925"/>
            <a:ext cx="3524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A52F4D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A52F4D"/>
                </a:solidFill>
                <a:latin typeface="Aptos"/>
                <a:ea typeface="Aptos"/>
                <a:cs typeface="Aptos"/>
              </a:rPr>
              <a:t>NIEDRIGSTE CET1-QUOTEN NACH STRESS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01043E5-4B76-4D6F-B004-FAD2B848B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219450"/>
            <a:ext cx="1381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863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Société Générale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6BA3946-C1BA-4DA7-BB3D-1D887A966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238500"/>
            <a:ext cx="18097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E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9121D92-4461-4C36-BDE1-2CC293F20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238500"/>
            <a:ext cx="716862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52F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A45E6BF-8044-4E4D-A89A-2B5F6703F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3209925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A52F4D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A52F4D"/>
                </a:solidFill>
                <a:latin typeface="Aptos"/>
                <a:ea typeface="Aptos"/>
                <a:cs typeface="Aptos"/>
              </a:rPr>
              <a:t>7,13 %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FCA2175-9531-48CC-8D1E-C2BD6E871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638550"/>
            <a:ext cx="1381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863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Deutsche Bank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24DCA18-81FC-4130-AFD6-5C2DA7DC7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657600"/>
            <a:ext cx="18097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E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A8DB4CE-C85B-4B57-839B-C01FF777C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657600"/>
            <a:ext cx="72390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52F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EB16DAE-E5E8-40E6-9223-D17F90C53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3629025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A52F4D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A52F4D"/>
                </a:solidFill>
                <a:latin typeface="Aptos"/>
                <a:ea typeface="Aptos"/>
                <a:cs typeface="Aptos"/>
              </a:rPr>
              <a:t>7,20 %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A674674-2C34-4422-AC5C-1DD8E2278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057650"/>
            <a:ext cx="1381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863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BNP Paribas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8D117A2-97F5-4D05-BC8C-164B58EA0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076700"/>
            <a:ext cx="18097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E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D0E728B-1C0C-420C-B9E6-8F34A4C45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076700"/>
            <a:ext cx="811371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A1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0993B27-374D-4D04-8BF2-63677E2C9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4048125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D9A124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D9A124"/>
                </a:solidFill>
                <a:latin typeface="Aptos"/>
                <a:ea typeface="Aptos"/>
                <a:cs typeface="Aptos"/>
              </a:rPr>
              <a:t>8,07 %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8A631864-B1BA-4040-96CA-25FDE37C7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476750"/>
            <a:ext cx="1381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863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ING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25E50E8-4B5B-4EB0-AE0C-28ECB6A55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495800"/>
            <a:ext cx="18097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E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E89A573-8971-45CA-BD4C-FF54D0748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495800"/>
            <a:ext cx="970227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5D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153E2B2D-6565-41A6-A2BD-5EA8CD1F8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4467225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0B5D7A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0B5D7A"/>
                </a:solidFill>
                <a:latin typeface="Aptos"/>
                <a:ea typeface="Aptos"/>
                <a:cs typeface="Aptos"/>
              </a:rPr>
              <a:t>9,65 %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F97F7727-8672-499A-A133-C3A0149C6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895850"/>
            <a:ext cx="1381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863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Santander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87141D1F-C624-4EEF-A280-57DD963DD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914900"/>
            <a:ext cx="18097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E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76CF1585-89A4-4866-835D-CF69E137A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914900"/>
            <a:ext cx="1055688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777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8E5E4C64-1AAB-49CF-9A3B-B0EFB0434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4886325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1B777F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1B777F"/>
                </a:solidFill>
                <a:latin typeface="Aptos"/>
                <a:ea typeface="Aptos"/>
                <a:cs typeface="Aptos"/>
              </a:rPr>
              <a:t>10,50 %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422AF20C-474B-44A5-BC4D-A1076B3EF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5381625"/>
            <a:ext cx="3733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52FEE67C-8499-465B-99E2-B1D46A3B1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5495925"/>
            <a:ext cx="8096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1" i="0">
                <a:solidFill>
                  <a:srgbClr val="A52F4D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A52F4D"/>
                </a:solidFill>
                <a:latin typeface="Aptos"/>
                <a:ea typeface="Aptos"/>
                <a:cs typeface="Aptos"/>
              </a:rPr>
              <a:t>Einordnung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25A9065B-C8AD-4EF4-997A-03911E191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5467350"/>
            <a:ext cx="28765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863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Alle Banken bleiben über 7,0 %; zwei Institute liegen jedoch nur knapp oberhalb des Pufferniveaus.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8C3A3B58-A927-4829-BFD2-B12A7AE60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0382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53" b="0" i="0">
                <a:solidFill>
                  <a:srgbClr val="71858F"/>
                </a:solidFill>
                <a:latin typeface="Aptos"/>
                <a:ea typeface="Aptos"/>
                <a:cs typeface="Aptos"/>
              </a:defRPr>
            </a:pPr>
            <a:r>
              <a:rPr sz="653" b="0" i="0">
                <a:solidFill>
                  <a:srgbClr val="71858F"/>
                </a:solidFill>
                <a:latin typeface="Aptos"/>
                <a:ea typeface="Aptos"/>
                <a:cs typeface="Aptos"/>
              </a:rPr>
              <a:t>Illustrativer Modellstress, keine regulatorische Prognose · Werte aus dem lokalen Modelllauf und EBA/Pillar-3-Daten</a:t>
            </a:r>
          </a:p>
        </p:txBody>
      </p:sp>
    </p:spTree>
    <p:extLst>
      <p:ext uri="{BB962C8B-B14F-4D97-AF65-F5344CB8AC3E}">
        <p14:creationId xmlns:p14="http://schemas.microsoft.com/office/powerpoint/2010/main" val="86451849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2026-06-18T12:00:55.6340000Z</dcterms:created>
  <dcterms:modified xsi:type="dcterms:W3CDTF">2026-06-18T12:00:55.6340000Z</dcterms:modified>
</coreProperties>
</file>