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6A508-DB4C-C3FF-6391-5BF19B22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ADFFA-BFBF-12A5-DEAE-9957CBC60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9E580-8426-48D9-30C2-B5541603C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405BA-541D-0C79-BCE2-E73C0B0EA1F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6940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E4321325-B7CB-4393-9E2F-78624134E9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97A18F-3A32-4BAF-96CC-445E7A5412B9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GRUNDLAGEN · VOM KREDITRISIKO ZUR CET1-QUOTE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DBA5A3-EDF2-4D05-B110-4019275B047F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Drei einfache Formeln verbinden Kreditrisiko und unsere Zielgröße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23C1DE-B8F3-4561-B141-86CB7F009B2A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Eingabewerte stammen aus Pillar 3 und EBA-Daten; regulatorische Faktoren wie 12,5 sind durch Basel III fest vorgegeben.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6DAA1-E9C8-4B53-9A63-4A7A7692822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9EEF34-1EB4-41E3-863A-CF2AB05DBA0C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0C671C-ED7B-4B6E-BD8F-5AA092465721}"/>
              </a:ext>
            </a:extLst>
          </p:cNvPr>
          <p:cNvSpPr>
            <a:spLocks noGrp="1"/>
          </p:cNvSpPr>
          <p:nvPr/>
        </p:nvSpPr>
        <p:spPr>
          <a:xfrm>
            <a:off x="628650" y="1600200"/>
            <a:ext cx="1000125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A87761-38FB-4BC6-81B0-6D3484845C4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9239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· EINGABEN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0C5A81-FEE2-4D7D-AFCD-2C8EF9DD774F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geht in die Formeln ein?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899616-FAE5-403C-BEE7-48BCA0B1E723}"/>
              </a:ext>
            </a:extLst>
          </p:cNvPr>
          <p:cNvSpPr>
            <a:spLocks noGrp="1"/>
          </p:cNvSpPr>
          <p:nvPr/>
        </p:nvSpPr>
        <p:spPr>
          <a:xfrm>
            <a:off x="628650" y="240030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F5E5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E33E4-AD6B-4052-8044-641B629747CC}"/>
              </a:ext>
            </a:extLst>
          </p:cNvPr>
          <p:cNvSpPr>
            <a:spLocks noGrp="1"/>
          </p:cNvSpPr>
          <p:nvPr/>
        </p:nvSpPr>
        <p:spPr>
          <a:xfrm>
            <a:off x="628650" y="250507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DA844E-29F1-404D-93AA-FEC5A7A3ACD1}"/>
              </a:ext>
            </a:extLst>
          </p:cNvPr>
          <p:cNvSpPr>
            <a:spLocks noGrp="1"/>
          </p:cNvSpPr>
          <p:nvPr/>
        </p:nvSpPr>
        <p:spPr>
          <a:xfrm>
            <a:off x="1257300" y="241935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wahrscheinlich ist ein Ausfall?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AB3E44-D086-4CC4-AC08-83A0DC2748F5}"/>
              </a:ext>
            </a:extLst>
          </p:cNvPr>
          <p:cNvSpPr>
            <a:spLocks noGrp="1"/>
          </p:cNvSpPr>
          <p:nvPr/>
        </p:nvSpPr>
        <p:spPr>
          <a:xfrm>
            <a:off x="1257300" y="26193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7546C1-F424-4110-A3B1-68F354C19F96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F8EED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0B7024-22C2-4688-9B46-63CD991EEE3A}"/>
              </a:ext>
            </a:extLst>
          </p:cNvPr>
          <p:cNvSpPr>
            <a:spLocks noGrp="1"/>
          </p:cNvSpPr>
          <p:nvPr/>
        </p:nvSpPr>
        <p:spPr>
          <a:xfrm>
            <a:off x="628650" y="313372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LGD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97C026-D380-4D72-9723-86785AB3B4A6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viel verlieren wir bei einem Ausfall?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68FE58-DF26-42F0-8DD8-F27D7050A672}"/>
              </a:ext>
            </a:extLst>
          </p:cNvPr>
          <p:cNvSpPr>
            <a:spLocks noGrp="1"/>
          </p:cNvSpPr>
          <p:nvPr/>
        </p:nvSpPr>
        <p:spPr>
          <a:xfrm>
            <a:off x="1257300" y="324802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265183-A505-4667-98CB-9FE27C52201D}"/>
              </a:ext>
            </a:extLst>
          </p:cNvPr>
          <p:cNvSpPr>
            <a:spLocks noGrp="1"/>
          </p:cNvSpPr>
          <p:nvPr/>
        </p:nvSpPr>
        <p:spPr>
          <a:xfrm>
            <a:off x="628650" y="365760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E3EF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D6AFC3-0F83-4978-8013-6C57663E2CC7}"/>
              </a:ext>
            </a:extLst>
          </p:cNvPr>
          <p:cNvSpPr>
            <a:spLocks noGrp="1"/>
          </p:cNvSpPr>
          <p:nvPr/>
        </p:nvSpPr>
        <p:spPr>
          <a:xfrm>
            <a:off x="628650" y="376237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87E0EB-F16E-468E-9400-B213038AA7B5}"/>
              </a:ext>
            </a:extLst>
          </p:cNvPr>
          <p:cNvSpPr>
            <a:spLocks noGrp="1"/>
          </p:cNvSpPr>
          <p:nvPr/>
        </p:nvSpPr>
        <p:spPr>
          <a:xfrm>
            <a:off x="1257300" y="367665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hoch ist die offene Forderung?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6A6322-6F9E-4730-B661-B7F413780DF1}"/>
              </a:ext>
            </a:extLst>
          </p:cNvPr>
          <p:cNvSpPr>
            <a:spLocks noGrp="1"/>
          </p:cNvSpPr>
          <p:nvPr/>
        </p:nvSpPr>
        <p:spPr>
          <a:xfrm>
            <a:off x="1257300" y="38766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EBA Transparency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1F9CC8-9746-4175-BCAD-F340679DC69A}"/>
              </a:ext>
            </a:extLst>
          </p:cNvPr>
          <p:cNvSpPr>
            <a:spLocks noGrp="1"/>
          </p:cNvSpPr>
          <p:nvPr/>
        </p:nvSpPr>
        <p:spPr>
          <a:xfrm>
            <a:off x="628650" y="42576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Makroschock verändert PD und LGD; EAD bleibt die Bezugsgröße.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0BD6F9-16DC-439A-9B69-6E2160399C79}"/>
              </a:ext>
            </a:extLst>
          </p:cNvPr>
          <p:cNvSpPr>
            <a:spLocks noGrp="1"/>
          </p:cNvSpPr>
          <p:nvPr/>
        </p:nvSpPr>
        <p:spPr>
          <a:xfrm>
            <a:off x="3829050" y="27146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B9C73B3-198F-4C61-A37B-9C96E802AF72}"/>
              </a:ext>
            </a:extLst>
          </p:cNvPr>
          <p:cNvSpPr>
            <a:spLocks noGrp="1"/>
          </p:cNvSpPr>
          <p:nvPr/>
        </p:nvSpPr>
        <p:spPr>
          <a:xfrm>
            <a:off x="4248150" y="1438275"/>
            <a:ext cx="34861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244895-6216-4A36-87B2-BA22586186A6}"/>
              </a:ext>
            </a:extLst>
          </p:cNvPr>
          <p:cNvSpPr>
            <a:spLocks noGrp="1"/>
          </p:cNvSpPr>
          <p:nvPr/>
        </p:nvSpPr>
        <p:spPr>
          <a:xfrm>
            <a:off x="4419600" y="1600200"/>
            <a:ext cx="128587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C7E561-8F1E-4BA0-B889-AB16FDE3866F}"/>
              </a:ext>
            </a:extLst>
          </p:cNvPr>
          <p:cNvSpPr>
            <a:spLocks noGrp="1"/>
          </p:cNvSpPr>
          <p:nvPr/>
        </p:nvSpPr>
        <p:spPr>
          <a:xfrm>
            <a:off x="4457700" y="1638300"/>
            <a:ext cx="1209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· VERLUST &amp; RWA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4E5FB5-FB39-4889-A8D0-B4F303735320}"/>
              </a:ext>
            </a:extLst>
          </p:cNvPr>
          <p:cNvSpPr>
            <a:spLocks noGrp="1"/>
          </p:cNvSpPr>
          <p:nvPr/>
        </p:nvSpPr>
        <p:spPr>
          <a:xfrm>
            <a:off x="4419600" y="1971675"/>
            <a:ext cx="2952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wird berechnet?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B3AA418-A47C-451D-9E98-F6548FE7F775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3143250" cy="828675"/>
          </a:xfrm>
          <a:prstGeom prst="roundRect">
            <a:avLst>
              <a:gd name="adj" fmla="val 13793"/>
            </a:avLst>
          </a:prstGeom>
          <a:solidFill>
            <a:srgbClr val="F5E5E9"/>
          </a:solidFill>
          <a:ln w="9525">
            <a:solidFill>
              <a:srgbClr val="EBC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79243D-66B9-46BE-A32E-C6CC52A0E8F5}"/>
              </a:ext>
            </a:extLst>
          </p:cNvPr>
          <p:cNvSpPr>
            <a:spLocks noGrp="1"/>
          </p:cNvSpPr>
          <p:nvPr/>
        </p:nvSpPr>
        <p:spPr>
          <a:xfrm>
            <a:off x="4572000" y="2505075"/>
            <a:ext cx="1476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Erwarteter Verlust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FEA39C-8A4C-4E1B-8222-B1D224EA2F91}"/>
              </a:ext>
            </a:extLst>
          </p:cNvPr>
          <p:cNvSpPr>
            <a:spLocks noGrp="1"/>
          </p:cNvSpPr>
          <p:nvPr/>
        </p:nvSpPr>
        <p:spPr>
          <a:xfrm>
            <a:off x="4572000" y="27432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EL = PD × LGD × EAD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D2E9DD-BDDF-4DFE-9EB6-E599958B01A7}"/>
              </a:ext>
            </a:extLst>
          </p:cNvPr>
          <p:cNvSpPr>
            <a:spLocks noGrp="1"/>
          </p:cNvSpPr>
          <p:nvPr/>
        </p:nvSpPr>
        <p:spPr>
          <a:xfrm>
            <a:off x="4572000" y="3019425"/>
            <a:ext cx="2809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ΔEL wird als zusätzliche Vorsorge vom CET1 abgezogen.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0EDA3B3-0A9B-4161-A197-649A6E032BE4}"/>
              </a:ext>
            </a:extLst>
          </p:cNvPr>
          <p:cNvSpPr>
            <a:spLocks noGrp="1"/>
          </p:cNvSpPr>
          <p:nvPr/>
        </p:nvSpPr>
        <p:spPr>
          <a:xfrm>
            <a:off x="4419600" y="3362325"/>
            <a:ext cx="3143250" cy="1028700"/>
          </a:xfrm>
          <a:prstGeom prst="roundRect">
            <a:avLst>
              <a:gd name="adj" fmla="val 11111"/>
            </a:avLst>
          </a:prstGeom>
          <a:solidFill>
            <a:srgbClr val="E3EFF4"/>
          </a:solidFill>
          <a:ln w="9525">
            <a:solidFill>
              <a:srgbClr val="B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08590C-7D8B-4AE3-8F16-8192E0EB14AB}"/>
              </a:ext>
            </a:extLst>
          </p:cNvPr>
          <p:cNvSpPr>
            <a:spLocks noGrp="1"/>
          </p:cNvSpPr>
          <p:nvPr/>
        </p:nvSpPr>
        <p:spPr>
          <a:xfrm>
            <a:off x="4572000" y="34861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Regulatorische Kredit-RWA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1F2B6-01B7-4E16-B9D4-F1B025094079}"/>
              </a:ext>
            </a:extLst>
          </p:cNvPr>
          <p:cNvSpPr>
            <a:spLocks noGrp="1"/>
          </p:cNvSpPr>
          <p:nvPr/>
        </p:nvSpPr>
        <p:spPr>
          <a:xfrm>
            <a:off x="4572000" y="3724275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RWA = K × 12,5 × EAD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A28ED3-7A52-4298-98EE-F20BA25079A0}"/>
              </a:ext>
            </a:extLst>
          </p:cNvPr>
          <p:cNvSpPr>
            <a:spLocks noGrp="1"/>
          </p:cNvSpPr>
          <p:nvPr/>
        </p:nvSpPr>
        <p:spPr>
          <a:xfrm>
            <a:off x="4572000" y="4000500"/>
            <a:ext cx="28098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 = Basel-Kapitalbedarf je € EAD – aus PD, LGD und Laufzeit.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2C37DA-2D3B-47DF-96B8-4F1F81C49EAD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09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12,5 = 1 ÷ 8 % · feste Basel-Umrechnung.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0453BC-276A-4582-84A9-09FE45BF1089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46FC711-D5F3-402A-B955-C13E248074EB}"/>
              </a:ext>
            </a:extLst>
          </p:cNvPr>
          <p:cNvSpPr>
            <a:spLocks noGrp="1"/>
          </p:cNvSpPr>
          <p:nvPr/>
        </p:nvSpPr>
        <p:spPr>
          <a:xfrm>
            <a:off x="8191500" y="1438275"/>
            <a:ext cx="3543300" cy="3143250"/>
          </a:xfrm>
          <a:prstGeom prst="roundRect">
            <a:avLst>
              <a:gd name="adj" fmla="val 3636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2EBEAB0-96BB-4419-8ECE-A2C0CA997A4D}"/>
              </a:ext>
            </a:extLst>
          </p:cNvPr>
          <p:cNvSpPr>
            <a:spLocks noGrp="1"/>
          </p:cNvSpPr>
          <p:nvPr/>
        </p:nvSpPr>
        <p:spPr>
          <a:xfrm>
            <a:off x="8362950" y="1600200"/>
            <a:ext cx="1143000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6E744C-283F-41AB-B919-F163F39CB531}"/>
              </a:ext>
            </a:extLst>
          </p:cNvPr>
          <p:cNvSpPr>
            <a:spLocks noGrp="1"/>
          </p:cNvSpPr>
          <p:nvPr/>
        </p:nvSpPr>
        <p:spPr>
          <a:xfrm>
            <a:off x="8401050" y="1638300"/>
            <a:ext cx="1066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· ZIELGRÖSSE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6A8B62-1881-4E86-996B-31DBC06DF088}"/>
              </a:ext>
            </a:extLst>
          </p:cNvPr>
          <p:cNvSpPr>
            <a:spLocks noGrp="1"/>
          </p:cNvSpPr>
          <p:nvPr/>
        </p:nvSpPr>
        <p:spPr>
          <a:xfrm>
            <a:off x="8362950" y="1971675"/>
            <a:ext cx="3000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Wie entsteht die CET1-Quote?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4C630C-887B-43D5-AE1A-247D600DB52E}"/>
              </a:ext>
            </a:extLst>
          </p:cNvPr>
          <p:cNvSpPr>
            <a:spLocks noGrp="1"/>
          </p:cNvSpPr>
          <p:nvPr/>
        </p:nvSpPr>
        <p:spPr>
          <a:xfrm>
            <a:off x="8572500" y="242887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CET1 nach Stress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5A3F92-DCF2-481B-A640-47F16F45B6BD}"/>
              </a:ext>
            </a:extLst>
          </p:cNvPr>
          <p:cNvSpPr>
            <a:spLocks noGrp="1"/>
          </p:cNvSpPr>
          <p:nvPr/>
        </p:nvSpPr>
        <p:spPr>
          <a:xfrm>
            <a:off x="8439150" y="2752725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− ΔEL + ΔFV Sovereigns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17D08D8-B06A-49E0-8B2E-5E205463977B}"/>
              </a:ext>
            </a:extLst>
          </p:cNvPr>
          <p:cNvSpPr>
            <a:spLocks noGrp="1"/>
          </p:cNvSpPr>
          <p:nvPr/>
        </p:nvSpPr>
        <p:spPr>
          <a:xfrm>
            <a:off x="8591550" y="3124200"/>
            <a:ext cx="2743200" cy="19050"/>
          </a:xfrm>
          <a:prstGeom prst="rect">
            <a:avLst/>
          </a:prstGeom>
          <a:solidFill>
            <a:srgbClr val="8299A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33700F-74B0-49D3-9742-1DBC749E54EB}"/>
              </a:ext>
            </a:extLst>
          </p:cNvPr>
          <p:cNvSpPr>
            <a:spLocks noGrp="1"/>
          </p:cNvSpPr>
          <p:nvPr/>
        </p:nvSpPr>
        <p:spPr>
          <a:xfrm>
            <a:off x="8572500" y="3276600"/>
            <a:ext cx="276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+ ΔRWA Kreditbuch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95D0EB3-4227-4604-B770-9AEE35F516D4}"/>
              </a:ext>
            </a:extLst>
          </p:cNvPr>
          <p:cNvSpPr>
            <a:spLocks noGrp="1"/>
          </p:cNvSpPr>
          <p:nvPr/>
        </p:nvSpPr>
        <p:spPr>
          <a:xfrm>
            <a:off x="8401050" y="3781425"/>
            <a:ext cx="3124200" cy="561975"/>
          </a:xfrm>
          <a:prstGeom prst="roundRect">
            <a:avLst>
              <a:gd name="adj" fmla="val 20339"/>
            </a:avLst>
          </a:prstGeom>
          <a:solidFill>
            <a:srgbClr val="123B50"/>
          </a:solidFill>
          <a:ln w="9525">
            <a:solidFill>
              <a:srgbClr val="3555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266616-36E2-4152-8EBF-3FAF59F8CB42}"/>
              </a:ext>
            </a:extLst>
          </p:cNvPr>
          <p:cNvSpPr>
            <a:spLocks noGrp="1"/>
          </p:cNvSpPr>
          <p:nvPr/>
        </p:nvSpPr>
        <p:spPr>
          <a:xfrm>
            <a:off x="8572500" y="3876675"/>
            <a:ext cx="1095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F1BCC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1BCC8"/>
                </a:solidFill>
                <a:latin typeface="Aptos"/>
                <a:ea typeface="Aptos"/>
                <a:cs typeface="Aptos"/>
              </a:rPr>
              <a:t>Zähler sinkt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2257A7-F3E7-4337-AA6A-0EDF91172A61}"/>
              </a:ext>
            </a:extLst>
          </p:cNvPr>
          <p:cNvSpPr>
            <a:spLocks noGrp="1"/>
          </p:cNvSpPr>
          <p:nvPr/>
        </p:nvSpPr>
        <p:spPr>
          <a:xfrm>
            <a:off x="9620250" y="38766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Vorsorge und Sovereign-Verluste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DC70DB-618D-416C-8A14-CBEE4F6E7429}"/>
              </a:ext>
            </a:extLst>
          </p:cNvPr>
          <p:cNvSpPr>
            <a:spLocks noGrp="1"/>
          </p:cNvSpPr>
          <p:nvPr/>
        </p:nvSpPr>
        <p:spPr>
          <a:xfrm>
            <a:off x="8572500" y="4105275"/>
            <a:ext cx="1095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9D6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D6DF"/>
                </a:solidFill>
                <a:latin typeface="Aptos"/>
                <a:ea typeface="Aptos"/>
                <a:cs typeface="Aptos"/>
              </a:rPr>
              <a:t>Nenner steigt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667C58-BF5A-4508-ACEB-D98E346BE0BA}"/>
              </a:ext>
            </a:extLst>
          </p:cNvPr>
          <p:cNvSpPr>
            <a:spLocks noGrp="1"/>
          </p:cNvSpPr>
          <p:nvPr/>
        </p:nvSpPr>
        <p:spPr>
          <a:xfrm>
            <a:off x="9620250" y="41052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zusätzliche Kredit-RWA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C5A8261-39AF-4BE5-8C6B-18D43F25D754}"/>
              </a:ext>
            </a:extLst>
          </p:cNvPr>
          <p:cNvSpPr>
            <a:spLocks noGrp="1"/>
          </p:cNvSpPr>
          <p:nvPr/>
        </p:nvSpPr>
        <p:spPr>
          <a:xfrm>
            <a:off x="457200" y="4867275"/>
            <a:ext cx="112776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4B6BD4-7723-48E3-A48A-3E66372CD763}"/>
              </a:ext>
            </a:extLst>
          </p:cNvPr>
          <p:cNvSpPr>
            <a:spLocks noGrp="1"/>
          </p:cNvSpPr>
          <p:nvPr/>
        </p:nvSpPr>
        <p:spPr>
          <a:xfrm>
            <a:off x="638175" y="5038725"/>
            <a:ext cx="2667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WOHER KOMMEN FORMELN UND WERTE?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C3FBCC0-B7A9-4215-AA5F-7F877BD59FE1}"/>
              </a:ext>
            </a:extLst>
          </p:cNvPr>
          <p:cNvSpPr>
            <a:spLocks noGrp="1"/>
          </p:cNvSpPr>
          <p:nvPr/>
        </p:nvSpPr>
        <p:spPr>
          <a:xfrm>
            <a:off x="6381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8FAFB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F904401-73DC-4C6B-9CE5-08627858B0CD}"/>
              </a:ext>
            </a:extLst>
          </p:cNvPr>
          <p:cNvSpPr>
            <a:spLocks noGrp="1"/>
          </p:cNvSpPr>
          <p:nvPr/>
        </p:nvSpPr>
        <p:spPr>
          <a:xfrm>
            <a:off x="638175" y="5314950"/>
            <a:ext cx="47625" cy="6381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003DE3-33F9-4E3A-9DB4-88DE2E4FF66D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/ LGD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6F4E376-C8A0-4528-B248-47CB1B52117D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Banken melden diese Werte in Pillar 3 EU-CR6.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C7174F6-9A79-4CB8-A0B9-4A9F45950EE6}"/>
              </a:ext>
            </a:extLst>
          </p:cNvPr>
          <p:cNvSpPr>
            <a:spLocks noGrp="1"/>
          </p:cNvSpPr>
          <p:nvPr/>
        </p:nvSpPr>
        <p:spPr>
          <a:xfrm>
            <a:off x="33813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3F6F7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4C7509-F986-4174-B926-AD8FC09E8957}"/>
              </a:ext>
            </a:extLst>
          </p:cNvPr>
          <p:cNvSpPr>
            <a:spLocks noGrp="1"/>
          </p:cNvSpPr>
          <p:nvPr/>
        </p:nvSpPr>
        <p:spPr>
          <a:xfrm>
            <a:off x="3381375" y="5314950"/>
            <a:ext cx="47625" cy="63817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D279EF2-E8C9-4E74-BBE1-CA6A95B96954}"/>
              </a:ext>
            </a:extLst>
          </p:cNvPr>
          <p:cNvSpPr>
            <a:spLocks noGrp="1"/>
          </p:cNvSpPr>
          <p:nvPr/>
        </p:nvSpPr>
        <p:spPr>
          <a:xfrm>
            <a:off x="35242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 / CET1 / RWA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408BDA0-0840-454A-8F2E-8B72FAA89384}"/>
              </a:ext>
            </a:extLst>
          </p:cNvPr>
          <p:cNvSpPr>
            <a:spLocks noGrp="1"/>
          </p:cNvSpPr>
          <p:nvPr/>
        </p:nvSpPr>
        <p:spPr>
          <a:xfrm>
            <a:off x="35242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Stammen aus der EBA Transparency Exercise.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06B8197-F148-4F4F-8E02-5BDA06C72C60}"/>
              </a:ext>
            </a:extLst>
          </p:cNvPr>
          <p:cNvSpPr>
            <a:spLocks noGrp="1"/>
          </p:cNvSpPr>
          <p:nvPr/>
        </p:nvSpPr>
        <p:spPr>
          <a:xfrm>
            <a:off x="61245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8FAFB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0653835-87CC-4868-A756-C9A33821C5A1}"/>
              </a:ext>
            </a:extLst>
          </p:cNvPr>
          <p:cNvSpPr>
            <a:spLocks noGrp="1"/>
          </p:cNvSpPr>
          <p:nvPr/>
        </p:nvSpPr>
        <p:spPr>
          <a:xfrm>
            <a:off x="6124575" y="5314950"/>
            <a:ext cx="47625" cy="63817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DBD71A-4AFE-4981-A8F9-505E300989CC}"/>
              </a:ext>
            </a:extLst>
          </p:cNvPr>
          <p:cNvSpPr>
            <a:spLocks noGrp="1"/>
          </p:cNvSpPr>
          <p:nvPr/>
        </p:nvSpPr>
        <p:spPr>
          <a:xfrm>
            <a:off x="62674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und 12,5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D67DB2-CE34-4F82-A63C-A5CCA3DD6389}"/>
              </a:ext>
            </a:extLst>
          </p:cNvPr>
          <p:cNvSpPr>
            <a:spLocks noGrp="1"/>
          </p:cNvSpPr>
          <p:nvPr/>
        </p:nvSpPr>
        <p:spPr>
          <a:xfrm>
            <a:off x="62674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 III / CRR geben Formel und 8%-Umrechnung fest vor.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C0C4535-F4E2-435D-8015-8A5B1DB76464}"/>
              </a:ext>
            </a:extLst>
          </p:cNvPr>
          <p:cNvSpPr>
            <a:spLocks noGrp="1"/>
          </p:cNvSpPr>
          <p:nvPr/>
        </p:nvSpPr>
        <p:spPr>
          <a:xfrm>
            <a:off x="88677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3F6F7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83C2889-CE46-42DE-A1E5-36C730017C82}"/>
              </a:ext>
            </a:extLst>
          </p:cNvPr>
          <p:cNvSpPr>
            <a:spLocks noGrp="1"/>
          </p:cNvSpPr>
          <p:nvPr/>
        </p:nvSpPr>
        <p:spPr>
          <a:xfrm>
            <a:off x="8867775" y="5314950"/>
            <a:ext cx="47625" cy="63817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BCD6DC-0341-4DD6-ADCC-3216FA3B8CF0}"/>
              </a:ext>
            </a:extLst>
          </p:cNvPr>
          <p:cNvSpPr>
            <a:spLocks noGrp="1"/>
          </p:cNvSpPr>
          <p:nvPr/>
        </p:nvSpPr>
        <p:spPr>
          <a:xfrm>
            <a:off x="90106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β / γ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7E053E9-9636-4306-9A46-C1643D687FB7}"/>
              </a:ext>
            </a:extLst>
          </p:cNvPr>
          <p:cNvSpPr>
            <a:spLocks noGrp="1"/>
          </p:cNvSpPr>
          <p:nvPr/>
        </p:nvSpPr>
        <p:spPr>
          <a:xfrm>
            <a:off x="90106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Modellannahmen aus EBA-/ECB-Quellen; später transparent gezeigt.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DB33AC7-D05D-4019-B5D2-88C69C6CC15E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Hinweis: transparenter 1-Jahres-Expected-Loss-Stress; kein vollständiges IFRS-9-Lifetime-ECL-Modell.</a:t>
            </a:r>
          </a:p>
        </p:txBody>
      </p:sp>
    </p:spTree>
    <p:extLst>
      <p:ext uri="{BB962C8B-B14F-4D97-AF65-F5344CB8AC3E}">
        <p14:creationId xmlns:p14="http://schemas.microsoft.com/office/powerpoint/2010/main" val="175890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4B38-5A7C-94BE-BEBE-0B2F63D0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E0EA71EA-30E6-C485-C6E7-10F7990E23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3AE25F-F041-07FE-CB68-9D4BE2E93C2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GRUNDLAGEN · VOM KREDITRISIKO ZUR CET1-QUOTE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897C1F-BB6B-F31B-9046-64D38A29D158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Drei einfache Formeln verbinden Kreditrisiko und unsere Zielgröße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163A0-3B79-26F5-AB4B-E9F35691780D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Eingabewerte stammen aus Pillar 3 und EBA-Daten; regulatorische Faktoren wie 12,5 sind durch Basel III fest vorgegeben.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447F5-103F-06B3-3C3C-4AC928CCAFD6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0C586A-5D9C-5F71-434E-86CBB879EEC6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1EDC07-4AA5-9BD7-2A44-E8FA92B685BD}"/>
              </a:ext>
            </a:extLst>
          </p:cNvPr>
          <p:cNvSpPr>
            <a:spLocks noGrp="1"/>
          </p:cNvSpPr>
          <p:nvPr/>
        </p:nvSpPr>
        <p:spPr>
          <a:xfrm>
            <a:off x="628650" y="1600200"/>
            <a:ext cx="1000125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D525A-8B39-2A37-4F62-9C984BA8FA35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9239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· EINGABEN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49958-EE41-9AF8-236B-1CC97937857B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geht in die Formeln ein?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091273-D7C9-8007-93E0-42A2E2879FD6}"/>
              </a:ext>
            </a:extLst>
          </p:cNvPr>
          <p:cNvSpPr>
            <a:spLocks noGrp="1"/>
          </p:cNvSpPr>
          <p:nvPr/>
        </p:nvSpPr>
        <p:spPr>
          <a:xfrm>
            <a:off x="628650" y="240030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F5E5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AAF1F-1BE4-A5B9-6DB1-A3E1E1DCEF64}"/>
              </a:ext>
            </a:extLst>
          </p:cNvPr>
          <p:cNvSpPr>
            <a:spLocks noGrp="1"/>
          </p:cNvSpPr>
          <p:nvPr/>
        </p:nvSpPr>
        <p:spPr>
          <a:xfrm>
            <a:off x="628650" y="250507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993D2A-FDA4-2A45-1C0F-8B2A50D7AB22}"/>
              </a:ext>
            </a:extLst>
          </p:cNvPr>
          <p:cNvSpPr>
            <a:spLocks noGrp="1"/>
          </p:cNvSpPr>
          <p:nvPr/>
        </p:nvSpPr>
        <p:spPr>
          <a:xfrm>
            <a:off x="1257300" y="241935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wahrscheinlich ist ein Ausfall?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1CDB00-7D19-A5E3-BD31-5566CD1DDE4E}"/>
              </a:ext>
            </a:extLst>
          </p:cNvPr>
          <p:cNvSpPr>
            <a:spLocks noGrp="1"/>
          </p:cNvSpPr>
          <p:nvPr/>
        </p:nvSpPr>
        <p:spPr>
          <a:xfrm>
            <a:off x="1257300" y="26193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25CBDE-51F9-CE74-4A3D-2CB4D9620FB5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F8EED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F10048-171D-D18F-5AC6-4C5A13CAC559}"/>
              </a:ext>
            </a:extLst>
          </p:cNvPr>
          <p:cNvSpPr>
            <a:spLocks noGrp="1"/>
          </p:cNvSpPr>
          <p:nvPr/>
        </p:nvSpPr>
        <p:spPr>
          <a:xfrm>
            <a:off x="628650" y="313372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LGD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FFDDFD-C155-2592-3CCC-B875D8CAF03A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viel verlieren wir bei einem Ausfall?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08DFD9-95B6-1388-7E66-6638E6F60E96}"/>
              </a:ext>
            </a:extLst>
          </p:cNvPr>
          <p:cNvSpPr>
            <a:spLocks noGrp="1"/>
          </p:cNvSpPr>
          <p:nvPr/>
        </p:nvSpPr>
        <p:spPr>
          <a:xfrm>
            <a:off x="1257300" y="324802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F58149-0EF0-1AF1-B5F8-59D5B8B0063D}"/>
              </a:ext>
            </a:extLst>
          </p:cNvPr>
          <p:cNvSpPr>
            <a:spLocks noGrp="1"/>
          </p:cNvSpPr>
          <p:nvPr/>
        </p:nvSpPr>
        <p:spPr>
          <a:xfrm>
            <a:off x="628650" y="3657600"/>
            <a:ext cx="514350" cy="400050"/>
          </a:xfrm>
          <a:prstGeom prst="roundRect">
            <a:avLst>
              <a:gd name="adj" fmla="val 19048"/>
            </a:avLst>
          </a:prstGeom>
          <a:solidFill>
            <a:srgbClr val="E3EF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07B26B-F1D2-F13E-0776-2B7388B1B784}"/>
              </a:ext>
            </a:extLst>
          </p:cNvPr>
          <p:cNvSpPr>
            <a:spLocks noGrp="1"/>
          </p:cNvSpPr>
          <p:nvPr/>
        </p:nvSpPr>
        <p:spPr>
          <a:xfrm>
            <a:off x="628650" y="3762375"/>
            <a:ext cx="514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885602-040F-A015-922E-E1B2DA16C48B}"/>
              </a:ext>
            </a:extLst>
          </p:cNvPr>
          <p:cNvSpPr>
            <a:spLocks noGrp="1"/>
          </p:cNvSpPr>
          <p:nvPr/>
        </p:nvSpPr>
        <p:spPr>
          <a:xfrm>
            <a:off x="1257300" y="3676650"/>
            <a:ext cx="2266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hoch ist die offene Forderung?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80A8F5-7751-378D-F1B4-B2298736EF2E}"/>
              </a:ext>
            </a:extLst>
          </p:cNvPr>
          <p:cNvSpPr>
            <a:spLocks noGrp="1"/>
          </p:cNvSpPr>
          <p:nvPr/>
        </p:nvSpPr>
        <p:spPr>
          <a:xfrm>
            <a:off x="1257300" y="38766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EBA Transparency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98AC0D-1467-B6D7-FD83-6C673F0A4B9D}"/>
              </a:ext>
            </a:extLst>
          </p:cNvPr>
          <p:cNvSpPr>
            <a:spLocks noGrp="1"/>
          </p:cNvSpPr>
          <p:nvPr/>
        </p:nvSpPr>
        <p:spPr>
          <a:xfrm>
            <a:off x="628650" y="42576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Makroschock verändert PD und LGD; EAD bleibt die Bezugsgröße.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86BE1B-990F-AAB6-5ABD-344135112891}"/>
              </a:ext>
            </a:extLst>
          </p:cNvPr>
          <p:cNvSpPr>
            <a:spLocks noGrp="1"/>
          </p:cNvSpPr>
          <p:nvPr/>
        </p:nvSpPr>
        <p:spPr>
          <a:xfrm>
            <a:off x="3829050" y="27146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A25674D-0E34-4E33-8220-2C60FFB99B90}"/>
              </a:ext>
            </a:extLst>
          </p:cNvPr>
          <p:cNvSpPr>
            <a:spLocks noGrp="1"/>
          </p:cNvSpPr>
          <p:nvPr/>
        </p:nvSpPr>
        <p:spPr>
          <a:xfrm>
            <a:off x="4248150" y="1438275"/>
            <a:ext cx="34861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6F9B42-124C-354A-4FCD-76DF138F05A7}"/>
              </a:ext>
            </a:extLst>
          </p:cNvPr>
          <p:cNvSpPr>
            <a:spLocks noGrp="1"/>
          </p:cNvSpPr>
          <p:nvPr/>
        </p:nvSpPr>
        <p:spPr>
          <a:xfrm>
            <a:off x="4419600" y="1600200"/>
            <a:ext cx="128587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AEC043-DE81-98E3-A00B-A8E8E5F1EBE3}"/>
              </a:ext>
            </a:extLst>
          </p:cNvPr>
          <p:cNvSpPr>
            <a:spLocks noGrp="1"/>
          </p:cNvSpPr>
          <p:nvPr/>
        </p:nvSpPr>
        <p:spPr>
          <a:xfrm>
            <a:off x="4457700" y="1638300"/>
            <a:ext cx="1209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· VERLUST &amp; RWA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01A2F4-2560-BA43-BAC7-2EB7DECF198F}"/>
              </a:ext>
            </a:extLst>
          </p:cNvPr>
          <p:cNvSpPr>
            <a:spLocks noGrp="1"/>
          </p:cNvSpPr>
          <p:nvPr/>
        </p:nvSpPr>
        <p:spPr>
          <a:xfrm>
            <a:off x="4419600" y="1971675"/>
            <a:ext cx="2952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wird berechnet?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D1486F-9D99-5B78-D89B-C81730C49713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3143250" cy="828675"/>
          </a:xfrm>
          <a:prstGeom prst="roundRect">
            <a:avLst>
              <a:gd name="adj" fmla="val 13793"/>
            </a:avLst>
          </a:prstGeom>
          <a:solidFill>
            <a:srgbClr val="F5E5E9"/>
          </a:solidFill>
          <a:ln w="9525">
            <a:solidFill>
              <a:srgbClr val="EBC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5CF368-50C6-E9AB-3508-A8F593229DEE}"/>
              </a:ext>
            </a:extLst>
          </p:cNvPr>
          <p:cNvSpPr>
            <a:spLocks noGrp="1"/>
          </p:cNvSpPr>
          <p:nvPr/>
        </p:nvSpPr>
        <p:spPr>
          <a:xfrm>
            <a:off x="4572000" y="2505075"/>
            <a:ext cx="1476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Erwarteter Verlust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BD921F-73D9-1A6D-C412-348E8FEC6774}"/>
              </a:ext>
            </a:extLst>
          </p:cNvPr>
          <p:cNvSpPr>
            <a:spLocks noGrp="1"/>
          </p:cNvSpPr>
          <p:nvPr/>
        </p:nvSpPr>
        <p:spPr>
          <a:xfrm>
            <a:off x="4572000" y="27432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EL = PD × LGD × EAD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AD8F22-5CA1-E06D-39C6-D39F4006D22E}"/>
              </a:ext>
            </a:extLst>
          </p:cNvPr>
          <p:cNvSpPr>
            <a:spLocks noGrp="1"/>
          </p:cNvSpPr>
          <p:nvPr/>
        </p:nvSpPr>
        <p:spPr>
          <a:xfrm>
            <a:off x="4572000" y="3019425"/>
            <a:ext cx="2809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ΔEL wird als zusätzliche Vorsorge vom CET1 abgezogen.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1A15610-4990-AB42-5BE9-D7EA08721071}"/>
              </a:ext>
            </a:extLst>
          </p:cNvPr>
          <p:cNvSpPr>
            <a:spLocks noGrp="1"/>
          </p:cNvSpPr>
          <p:nvPr/>
        </p:nvSpPr>
        <p:spPr>
          <a:xfrm>
            <a:off x="4419600" y="3362325"/>
            <a:ext cx="3143250" cy="1028700"/>
          </a:xfrm>
          <a:prstGeom prst="roundRect">
            <a:avLst>
              <a:gd name="adj" fmla="val 11111"/>
            </a:avLst>
          </a:prstGeom>
          <a:solidFill>
            <a:srgbClr val="E3EFF4"/>
          </a:solidFill>
          <a:ln w="9525">
            <a:solidFill>
              <a:srgbClr val="B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2EE3C6-1ACE-45B1-3445-62B6805FFC7F}"/>
              </a:ext>
            </a:extLst>
          </p:cNvPr>
          <p:cNvSpPr>
            <a:spLocks noGrp="1"/>
          </p:cNvSpPr>
          <p:nvPr/>
        </p:nvSpPr>
        <p:spPr>
          <a:xfrm>
            <a:off x="4572000" y="34861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Regulatorische Kredit-RWA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A5DB2B-A272-3613-59FC-3551D37031F5}"/>
              </a:ext>
            </a:extLst>
          </p:cNvPr>
          <p:cNvSpPr>
            <a:spLocks noGrp="1"/>
          </p:cNvSpPr>
          <p:nvPr/>
        </p:nvSpPr>
        <p:spPr>
          <a:xfrm>
            <a:off x="4572000" y="3724275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RWA = K × 12,5 × EAD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81C38A-793E-CF33-7A95-B3B387D10804}"/>
              </a:ext>
            </a:extLst>
          </p:cNvPr>
          <p:cNvSpPr>
            <a:spLocks noGrp="1"/>
          </p:cNvSpPr>
          <p:nvPr/>
        </p:nvSpPr>
        <p:spPr>
          <a:xfrm>
            <a:off x="4572000" y="4000500"/>
            <a:ext cx="28098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 = Basel-Kapitalbedarf je € EAD – aus PD, LGD und Laufzeit.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1210F4-AFCE-A76D-BF35-F0BF1C07D608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09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12,5 = 1 ÷ 8 % · feste Basel-Umrechnung.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46CD29-DE64-448F-4C83-ED35DF9BA3EB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0330183-B2F5-1B1C-F0A2-25D3454BD76A}"/>
              </a:ext>
            </a:extLst>
          </p:cNvPr>
          <p:cNvSpPr>
            <a:spLocks noGrp="1"/>
          </p:cNvSpPr>
          <p:nvPr/>
        </p:nvSpPr>
        <p:spPr>
          <a:xfrm>
            <a:off x="8191500" y="1438275"/>
            <a:ext cx="3543300" cy="3143250"/>
          </a:xfrm>
          <a:prstGeom prst="roundRect">
            <a:avLst>
              <a:gd name="adj" fmla="val 3636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7271466-C879-EA2B-9EA0-B5A118B4CEE9}"/>
              </a:ext>
            </a:extLst>
          </p:cNvPr>
          <p:cNvSpPr>
            <a:spLocks noGrp="1"/>
          </p:cNvSpPr>
          <p:nvPr/>
        </p:nvSpPr>
        <p:spPr>
          <a:xfrm>
            <a:off x="8362950" y="1600200"/>
            <a:ext cx="1143000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34B314-1389-3379-9FED-D48836AA69C7}"/>
              </a:ext>
            </a:extLst>
          </p:cNvPr>
          <p:cNvSpPr>
            <a:spLocks noGrp="1"/>
          </p:cNvSpPr>
          <p:nvPr/>
        </p:nvSpPr>
        <p:spPr>
          <a:xfrm>
            <a:off x="8401050" y="1638300"/>
            <a:ext cx="1066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· ZIELGRÖSSE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6F045A-BFE9-6657-005A-0E6127B021F7}"/>
              </a:ext>
            </a:extLst>
          </p:cNvPr>
          <p:cNvSpPr>
            <a:spLocks noGrp="1"/>
          </p:cNvSpPr>
          <p:nvPr/>
        </p:nvSpPr>
        <p:spPr>
          <a:xfrm>
            <a:off x="8362950" y="1971675"/>
            <a:ext cx="3000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Wie entsteht die CET1-Quote?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109D29-48E9-D072-F597-990CC23A6387}"/>
              </a:ext>
            </a:extLst>
          </p:cNvPr>
          <p:cNvSpPr>
            <a:spLocks noGrp="1"/>
          </p:cNvSpPr>
          <p:nvPr/>
        </p:nvSpPr>
        <p:spPr>
          <a:xfrm>
            <a:off x="8572500" y="242887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CET1 nach Stress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433DB5-0747-4EEC-2EDE-572CE71F9F0E}"/>
              </a:ext>
            </a:extLst>
          </p:cNvPr>
          <p:cNvSpPr>
            <a:spLocks noGrp="1"/>
          </p:cNvSpPr>
          <p:nvPr/>
        </p:nvSpPr>
        <p:spPr>
          <a:xfrm>
            <a:off x="8439150" y="2752725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− ΔEL + ΔFV Sovereigns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51B66C-AF02-ED16-9C2F-AB217FDA5FA6}"/>
              </a:ext>
            </a:extLst>
          </p:cNvPr>
          <p:cNvSpPr>
            <a:spLocks noGrp="1"/>
          </p:cNvSpPr>
          <p:nvPr/>
        </p:nvSpPr>
        <p:spPr>
          <a:xfrm>
            <a:off x="8591550" y="3124200"/>
            <a:ext cx="2743200" cy="19050"/>
          </a:xfrm>
          <a:prstGeom prst="rect">
            <a:avLst/>
          </a:prstGeom>
          <a:solidFill>
            <a:srgbClr val="8299A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AD8E71-9042-5F7E-8A20-81025085DB11}"/>
              </a:ext>
            </a:extLst>
          </p:cNvPr>
          <p:cNvSpPr>
            <a:spLocks noGrp="1"/>
          </p:cNvSpPr>
          <p:nvPr/>
        </p:nvSpPr>
        <p:spPr>
          <a:xfrm>
            <a:off x="8572500" y="3276600"/>
            <a:ext cx="276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+ ΔRWA Kreditbuch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325F8AE-3563-4FB6-75E1-AE559E46279C}"/>
              </a:ext>
            </a:extLst>
          </p:cNvPr>
          <p:cNvSpPr>
            <a:spLocks noGrp="1"/>
          </p:cNvSpPr>
          <p:nvPr/>
        </p:nvSpPr>
        <p:spPr>
          <a:xfrm>
            <a:off x="8401050" y="3781425"/>
            <a:ext cx="3124200" cy="561975"/>
          </a:xfrm>
          <a:prstGeom prst="roundRect">
            <a:avLst>
              <a:gd name="adj" fmla="val 20339"/>
            </a:avLst>
          </a:prstGeom>
          <a:solidFill>
            <a:srgbClr val="123B50"/>
          </a:solidFill>
          <a:ln w="9525">
            <a:solidFill>
              <a:srgbClr val="3555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EEAD64-C9F0-3EE5-1C28-0C973955C525}"/>
              </a:ext>
            </a:extLst>
          </p:cNvPr>
          <p:cNvSpPr>
            <a:spLocks noGrp="1"/>
          </p:cNvSpPr>
          <p:nvPr/>
        </p:nvSpPr>
        <p:spPr>
          <a:xfrm>
            <a:off x="8572500" y="3876675"/>
            <a:ext cx="1095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F1BCC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1BCC8"/>
                </a:solidFill>
                <a:latin typeface="Aptos"/>
                <a:ea typeface="Aptos"/>
                <a:cs typeface="Aptos"/>
              </a:rPr>
              <a:t>Zähler sinkt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264010-6D9A-7822-2A3F-3D5369D07C97}"/>
              </a:ext>
            </a:extLst>
          </p:cNvPr>
          <p:cNvSpPr>
            <a:spLocks noGrp="1"/>
          </p:cNvSpPr>
          <p:nvPr/>
        </p:nvSpPr>
        <p:spPr>
          <a:xfrm>
            <a:off x="9620250" y="38766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Vorsorge und Sovereign-Verluste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B6CCF93-3D65-75E0-BD40-131D2A21E197}"/>
              </a:ext>
            </a:extLst>
          </p:cNvPr>
          <p:cNvSpPr>
            <a:spLocks noGrp="1"/>
          </p:cNvSpPr>
          <p:nvPr/>
        </p:nvSpPr>
        <p:spPr>
          <a:xfrm>
            <a:off x="8572500" y="4105275"/>
            <a:ext cx="1095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9D6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D6DF"/>
                </a:solidFill>
                <a:latin typeface="Aptos"/>
                <a:ea typeface="Aptos"/>
                <a:cs typeface="Aptos"/>
              </a:rPr>
              <a:t>Nenner steigt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E69C48-22EF-DF69-2599-B6EFCAC5657C}"/>
              </a:ext>
            </a:extLst>
          </p:cNvPr>
          <p:cNvSpPr>
            <a:spLocks noGrp="1"/>
          </p:cNvSpPr>
          <p:nvPr/>
        </p:nvSpPr>
        <p:spPr>
          <a:xfrm>
            <a:off x="9620250" y="41052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zusätzliche Kredit-RWA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6F55B68-4B35-2484-33BF-F3F2739A0B46}"/>
              </a:ext>
            </a:extLst>
          </p:cNvPr>
          <p:cNvSpPr>
            <a:spLocks noGrp="1"/>
          </p:cNvSpPr>
          <p:nvPr/>
        </p:nvSpPr>
        <p:spPr>
          <a:xfrm>
            <a:off x="457200" y="4867275"/>
            <a:ext cx="112776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937B5E-53F6-FF6D-A5C9-9942132184B6}"/>
              </a:ext>
            </a:extLst>
          </p:cNvPr>
          <p:cNvSpPr>
            <a:spLocks noGrp="1"/>
          </p:cNvSpPr>
          <p:nvPr/>
        </p:nvSpPr>
        <p:spPr>
          <a:xfrm>
            <a:off x="638175" y="5038725"/>
            <a:ext cx="2667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WOHER KOMMEN FORMELN UND WERTE?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02798B-4E76-CE7D-6B77-DE6D0D9EC7C7}"/>
              </a:ext>
            </a:extLst>
          </p:cNvPr>
          <p:cNvSpPr>
            <a:spLocks noGrp="1"/>
          </p:cNvSpPr>
          <p:nvPr/>
        </p:nvSpPr>
        <p:spPr>
          <a:xfrm>
            <a:off x="6381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8FAFB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60A284-EF43-31B5-A14F-E4C6D4F921B1}"/>
              </a:ext>
            </a:extLst>
          </p:cNvPr>
          <p:cNvSpPr>
            <a:spLocks noGrp="1"/>
          </p:cNvSpPr>
          <p:nvPr/>
        </p:nvSpPr>
        <p:spPr>
          <a:xfrm>
            <a:off x="638175" y="5314950"/>
            <a:ext cx="47625" cy="6381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33183E-6CC9-656B-D803-A175E2C76C00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/ LGD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5E93E20-A18D-1690-092D-7CE4399D7C09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Banken melden diese Werte in Pillar 3 EU-CR6.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3A486C7-759F-8405-6FC4-18742FCB9476}"/>
              </a:ext>
            </a:extLst>
          </p:cNvPr>
          <p:cNvSpPr>
            <a:spLocks noGrp="1"/>
          </p:cNvSpPr>
          <p:nvPr/>
        </p:nvSpPr>
        <p:spPr>
          <a:xfrm>
            <a:off x="33813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3F6F7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F5D03E3-24FF-9D40-2BA6-A604B7A76332}"/>
              </a:ext>
            </a:extLst>
          </p:cNvPr>
          <p:cNvSpPr>
            <a:spLocks noGrp="1"/>
          </p:cNvSpPr>
          <p:nvPr/>
        </p:nvSpPr>
        <p:spPr>
          <a:xfrm>
            <a:off x="3381375" y="5314950"/>
            <a:ext cx="47625" cy="63817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28D694E-3209-FA8A-931B-AE6A33E3A263}"/>
              </a:ext>
            </a:extLst>
          </p:cNvPr>
          <p:cNvSpPr>
            <a:spLocks noGrp="1"/>
          </p:cNvSpPr>
          <p:nvPr/>
        </p:nvSpPr>
        <p:spPr>
          <a:xfrm>
            <a:off x="35242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 / CET1 / RWA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0D8B07-21E8-BA18-3F1B-77DDE26E2810}"/>
              </a:ext>
            </a:extLst>
          </p:cNvPr>
          <p:cNvSpPr>
            <a:spLocks noGrp="1"/>
          </p:cNvSpPr>
          <p:nvPr/>
        </p:nvSpPr>
        <p:spPr>
          <a:xfrm>
            <a:off x="35242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Stammen aus der EBA Transparency Exercise.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34D4345-1F77-BF9E-3ECF-33609BCA58C4}"/>
              </a:ext>
            </a:extLst>
          </p:cNvPr>
          <p:cNvSpPr>
            <a:spLocks noGrp="1"/>
          </p:cNvSpPr>
          <p:nvPr/>
        </p:nvSpPr>
        <p:spPr>
          <a:xfrm>
            <a:off x="61245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8FAFB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C864F61-D780-DC0C-AFE4-C509EAB729E0}"/>
              </a:ext>
            </a:extLst>
          </p:cNvPr>
          <p:cNvSpPr>
            <a:spLocks noGrp="1"/>
          </p:cNvSpPr>
          <p:nvPr/>
        </p:nvSpPr>
        <p:spPr>
          <a:xfrm>
            <a:off x="6124575" y="5314950"/>
            <a:ext cx="47625" cy="63817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9E80D07-BC49-2764-07C8-35691149738D}"/>
              </a:ext>
            </a:extLst>
          </p:cNvPr>
          <p:cNvSpPr>
            <a:spLocks noGrp="1"/>
          </p:cNvSpPr>
          <p:nvPr/>
        </p:nvSpPr>
        <p:spPr>
          <a:xfrm>
            <a:off x="62674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und 12,5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0EEE22C-67A4-25D9-8081-EB9F43766EF3}"/>
              </a:ext>
            </a:extLst>
          </p:cNvPr>
          <p:cNvSpPr>
            <a:spLocks noGrp="1"/>
          </p:cNvSpPr>
          <p:nvPr/>
        </p:nvSpPr>
        <p:spPr>
          <a:xfrm>
            <a:off x="62674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 III / CRR geben Formel und 8%-Umrechnung fest vor.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6491CC6-E66C-5B44-DC83-1F2D48EE17FF}"/>
              </a:ext>
            </a:extLst>
          </p:cNvPr>
          <p:cNvSpPr>
            <a:spLocks noGrp="1"/>
          </p:cNvSpPr>
          <p:nvPr/>
        </p:nvSpPr>
        <p:spPr>
          <a:xfrm>
            <a:off x="8867775" y="5314950"/>
            <a:ext cx="2571750" cy="638175"/>
          </a:xfrm>
          <a:prstGeom prst="roundRect">
            <a:avLst>
              <a:gd name="adj" fmla="val 17910"/>
            </a:avLst>
          </a:prstGeom>
          <a:solidFill>
            <a:srgbClr val="F3F6F7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BDED940-3D3F-560B-3F1E-28F59CFCFF64}"/>
              </a:ext>
            </a:extLst>
          </p:cNvPr>
          <p:cNvSpPr>
            <a:spLocks noGrp="1"/>
          </p:cNvSpPr>
          <p:nvPr/>
        </p:nvSpPr>
        <p:spPr>
          <a:xfrm>
            <a:off x="8867775" y="5314950"/>
            <a:ext cx="47625" cy="63817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1BB1B7A-73F8-9E07-BF96-1DF9218E6530}"/>
              </a:ext>
            </a:extLst>
          </p:cNvPr>
          <p:cNvSpPr>
            <a:spLocks noGrp="1"/>
          </p:cNvSpPr>
          <p:nvPr/>
        </p:nvSpPr>
        <p:spPr>
          <a:xfrm>
            <a:off x="9010650" y="5429250"/>
            <a:ext cx="2286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β / γ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D3274-94BB-2DC8-9FB1-D1B5B49F3591}"/>
              </a:ext>
            </a:extLst>
          </p:cNvPr>
          <p:cNvSpPr>
            <a:spLocks noGrp="1"/>
          </p:cNvSpPr>
          <p:nvPr/>
        </p:nvSpPr>
        <p:spPr>
          <a:xfrm>
            <a:off x="9010650" y="56388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Modellannahmen aus EBA-/ECB-Quellen; später transparent gezeigt.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445A954-260E-4950-D274-CA96FE035FA3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Hinweis: transparenter 1-Jahres-Expected-Loss-Stress; kein vollständiges IFRS-9-Lifetime-ECL-Modell.</a:t>
            </a:r>
          </a:p>
        </p:txBody>
      </p:sp>
    </p:spTree>
    <p:extLst>
      <p:ext uri="{BB962C8B-B14F-4D97-AF65-F5344CB8AC3E}">
        <p14:creationId xmlns:p14="http://schemas.microsoft.com/office/powerpoint/2010/main" val="86345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1852228-E8DC-4A69-A066-9F3DDF793C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168F5-74A3-4A87-A1FD-8B7EBF176CC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EINFÜHRUNG IN DAS MODELL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FDC2C4-2B58-4A9C-BEEF-6E5B7B2C7588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Das Modell übersetzt zwei Makroschocks in eine belastbare CET1-Aussage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2D3A3E-70BB-4E2E-947D-013331C8591D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Kern ist eine transparente Wirkungskette – von Marktvariablen über Risikoparameter bis zur Kapitalquote.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C3830-3880-46E5-9A9E-31A47CEA905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7EF49F-B83D-408F-B97E-389E8C66437A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1543050" cy="26670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496245-6BFE-4E49-BEA1-8BA14B959D22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MANAGEMENT-FRAGE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0998F-9BFA-4C3E-8BC2-3F1144EBEA23}"/>
              </a:ext>
            </a:extLst>
          </p:cNvPr>
          <p:cNvSpPr>
            <a:spLocks noGrp="1"/>
          </p:cNvSpPr>
          <p:nvPr/>
        </p:nvSpPr>
        <p:spPr>
          <a:xfrm>
            <a:off x="457200" y="173355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Wie stark sinkt die harte Kernkapitalquote der zehn größten EU-IRB-Banken unter Ölpreis- und Zinsschocks?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90532B-4A51-4300-B75C-2785C2C0239A}"/>
              </a:ext>
            </a:extLst>
          </p:cNvPr>
          <p:cNvSpPr>
            <a:spLocks noGrp="1"/>
          </p:cNvSpPr>
          <p:nvPr/>
        </p:nvSpPr>
        <p:spPr>
          <a:xfrm>
            <a:off x="457200" y="2714625"/>
            <a:ext cx="2362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08EA7-EC39-41F5-BC8C-90FBF412B950}"/>
              </a:ext>
            </a:extLst>
          </p:cNvPr>
          <p:cNvSpPr>
            <a:spLocks noGrp="1"/>
          </p:cNvSpPr>
          <p:nvPr/>
        </p:nvSpPr>
        <p:spPr>
          <a:xfrm>
            <a:off x="457200" y="2714625"/>
            <a:ext cx="57150" cy="2095500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CAEF95-2507-40BE-9594-202CDF14DF3C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590550" cy="2190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488739-CB62-445B-BFB6-4F2D2849A808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5143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84426F-5C65-4A34-AC1F-A8D10ED0C4B6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 · Makrofaktoren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6B6FDC-3273-46B0-9408-5FA33C132261}"/>
              </a:ext>
            </a:extLst>
          </p:cNvPr>
          <p:cNvSpPr>
            <a:spLocks noGrp="1"/>
          </p:cNvSpPr>
          <p:nvPr/>
        </p:nvSpPr>
        <p:spPr>
          <a:xfrm>
            <a:off x="619125" y="3486150"/>
            <a:ext cx="20383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Ölpreis als Energie- und Inflationsschock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Zins als Refinanzierungs- und Bewertungsimpuls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CA1299-A7A9-4D30-AA66-9674D1179A8F}"/>
              </a:ext>
            </a:extLst>
          </p:cNvPr>
          <p:cNvSpPr>
            <a:spLocks noGrp="1"/>
          </p:cNvSpPr>
          <p:nvPr/>
        </p:nvSpPr>
        <p:spPr>
          <a:xfrm>
            <a:off x="2867025" y="3543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917970-64B7-4988-83D4-5D6956349884}"/>
              </a:ext>
            </a:extLst>
          </p:cNvPr>
          <p:cNvSpPr>
            <a:spLocks noGrp="1"/>
          </p:cNvSpPr>
          <p:nvPr/>
        </p:nvSpPr>
        <p:spPr>
          <a:xfrm>
            <a:off x="3238500" y="2714625"/>
            <a:ext cx="2362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468DA5-3A3E-4708-AB9B-20FD82358410}"/>
              </a:ext>
            </a:extLst>
          </p:cNvPr>
          <p:cNvSpPr>
            <a:spLocks noGrp="1"/>
          </p:cNvSpPr>
          <p:nvPr/>
        </p:nvSpPr>
        <p:spPr>
          <a:xfrm>
            <a:off x="3238500" y="2714625"/>
            <a:ext cx="57150" cy="2095500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B9C8CC-0376-4FCE-B176-475A0E1B9EF9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64770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4BE138-39D4-4C56-8C40-BE6095F6F220}"/>
              </a:ext>
            </a:extLst>
          </p:cNvPr>
          <p:cNvSpPr>
            <a:spLocks noGrp="1"/>
          </p:cNvSpPr>
          <p:nvPr/>
        </p:nvSpPr>
        <p:spPr>
          <a:xfrm>
            <a:off x="3429000" y="2876550"/>
            <a:ext cx="571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B7260-8BAD-46C7-9996-3493D4A64AF6}"/>
              </a:ext>
            </a:extLst>
          </p:cNvPr>
          <p:cNvSpPr>
            <a:spLocks noGrp="1"/>
          </p:cNvSpPr>
          <p:nvPr/>
        </p:nvSpPr>
        <p:spPr>
          <a:xfrm>
            <a:off x="3400425" y="31623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 · Transmission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9694A-C462-485C-8137-3AB02D91D359}"/>
              </a:ext>
            </a:extLst>
          </p:cNvPr>
          <p:cNvSpPr>
            <a:spLocks noGrp="1"/>
          </p:cNvSpPr>
          <p:nvPr/>
        </p:nvSpPr>
        <p:spPr>
          <a:xfrm>
            <a:off x="3400425" y="3486150"/>
            <a:ext cx="20383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Sektorale β/γ-Matrix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und ΔLGD je Exposure-Klasse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Keine pauschale Ein-Faktor-Logik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AEA0C0-4B5B-4100-AD9E-8C94ABA18621}"/>
              </a:ext>
            </a:extLst>
          </p:cNvPr>
          <p:cNvSpPr>
            <a:spLocks noGrp="1"/>
          </p:cNvSpPr>
          <p:nvPr/>
        </p:nvSpPr>
        <p:spPr>
          <a:xfrm>
            <a:off x="5648325" y="3543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8DB3328-5FEF-494E-BA8A-BDBDA962778B}"/>
              </a:ext>
            </a:extLst>
          </p:cNvPr>
          <p:cNvSpPr>
            <a:spLocks noGrp="1"/>
          </p:cNvSpPr>
          <p:nvPr/>
        </p:nvSpPr>
        <p:spPr>
          <a:xfrm>
            <a:off x="6019800" y="2714625"/>
            <a:ext cx="23622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48D4F-3385-4E7D-B8BA-487E32072182}"/>
              </a:ext>
            </a:extLst>
          </p:cNvPr>
          <p:cNvSpPr>
            <a:spLocks noGrp="1"/>
          </p:cNvSpPr>
          <p:nvPr/>
        </p:nvSpPr>
        <p:spPr>
          <a:xfrm>
            <a:off x="6019800" y="2714625"/>
            <a:ext cx="57150" cy="20955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28758B5-3CEA-4E81-9FF7-C2FD2CBB0241}"/>
              </a:ext>
            </a:extLst>
          </p:cNvPr>
          <p:cNvSpPr>
            <a:spLocks noGrp="1"/>
          </p:cNvSpPr>
          <p:nvPr/>
        </p:nvSpPr>
        <p:spPr>
          <a:xfrm>
            <a:off x="6172200" y="2838450"/>
            <a:ext cx="685800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9ED0E4-E57F-4772-9F97-12F41D245095}"/>
              </a:ext>
            </a:extLst>
          </p:cNvPr>
          <p:cNvSpPr>
            <a:spLocks noGrp="1"/>
          </p:cNvSpPr>
          <p:nvPr/>
        </p:nvSpPr>
        <p:spPr>
          <a:xfrm>
            <a:off x="6210300" y="2876550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KANÄLE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6782FD-405D-4CB1-90F9-F593A66E72E7}"/>
              </a:ext>
            </a:extLst>
          </p:cNvPr>
          <p:cNvSpPr>
            <a:spLocks noGrp="1"/>
          </p:cNvSpPr>
          <p:nvPr/>
        </p:nvSpPr>
        <p:spPr>
          <a:xfrm>
            <a:off x="6181725" y="31623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3 · Risikokanäle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41A61-CE2B-4C08-81CE-DC94EAA1DA27}"/>
              </a:ext>
            </a:extLst>
          </p:cNvPr>
          <p:cNvSpPr>
            <a:spLocks noGrp="1"/>
          </p:cNvSpPr>
          <p:nvPr/>
        </p:nvSpPr>
        <p:spPr>
          <a:xfrm>
            <a:off x="6181725" y="3486150"/>
            <a:ext cx="20383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Kreditbuch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 + IRB-RWA</a:t>
            </a:r>
          </a:p>
          <a:p>
            <a:endParaRPr sz="1013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Sovereign-Buch</a:t>
            </a:r>
          </a:p>
          <a:p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Duration-MtM + IFRS-9-Filter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05C79D-FEC0-4ED1-B22D-8278AEC0AE84}"/>
              </a:ext>
            </a:extLst>
          </p:cNvPr>
          <p:cNvSpPr>
            <a:spLocks noGrp="1"/>
          </p:cNvSpPr>
          <p:nvPr/>
        </p:nvSpPr>
        <p:spPr>
          <a:xfrm>
            <a:off x="8429625" y="3543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2DBCB3E-230C-404A-A530-5A24DC98EC76}"/>
              </a:ext>
            </a:extLst>
          </p:cNvPr>
          <p:cNvSpPr>
            <a:spLocks noGrp="1"/>
          </p:cNvSpPr>
          <p:nvPr/>
        </p:nvSpPr>
        <p:spPr>
          <a:xfrm>
            <a:off x="8801100" y="2714625"/>
            <a:ext cx="2933700" cy="2095500"/>
          </a:xfrm>
          <a:prstGeom prst="roundRect">
            <a:avLst>
              <a:gd name="adj" fmla="val 5455"/>
            </a:avLst>
          </a:prstGeom>
          <a:solidFill>
            <a:srgbClr val="123B50"/>
          </a:solidFill>
          <a:ln w="9525">
            <a:solidFill>
              <a:srgbClr val="123B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9AEF0E-B97C-47AC-A899-31A3FDAC970C}"/>
              </a:ext>
            </a:extLst>
          </p:cNvPr>
          <p:cNvSpPr>
            <a:spLocks noGrp="1"/>
          </p:cNvSpPr>
          <p:nvPr/>
        </p:nvSpPr>
        <p:spPr>
          <a:xfrm>
            <a:off x="8801100" y="2714625"/>
            <a:ext cx="57150" cy="209550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137A847-2B2B-43CD-97BE-80A8860E8343}"/>
              </a:ext>
            </a:extLst>
          </p:cNvPr>
          <p:cNvSpPr>
            <a:spLocks noGrp="1"/>
          </p:cNvSpPr>
          <p:nvPr/>
        </p:nvSpPr>
        <p:spPr>
          <a:xfrm>
            <a:off x="8953500" y="2838450"/>
            <a:ext cx="628650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2D092B-C150-476F-80C4-9899376748E3}"/>
              </a:ext>
            </a:extLst>
          </p:cNvPr>
          <p:cNvSpPr>
            <a:spLocks noGrp="1"/>
          </p:cNvSpPr>
          <p:nvPr/>
        </p:nvSpPr>
        <p:spPr>
          <a:xfrm>
            <a:off x="8991600" y="2876550"/>
            <a:ext cx="552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927990-E3B4-4776-9E4F-17B2A601DBC9}"/>
              </a:ext>
            </a:extLst>
          </p:cNvPr>
          <p:cNvSpPr>
            <a:spLocks noGrp="1"/>
          </p:cNvSpPr>
          <p:nvPr/>
        </p:nvSpPr>
        <p:spPr>
          <a:xfrm>
            <a:off x="8963025" y="31623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 · CET1-Ergebnis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F06F13-C92B-49E6-8415-7EAF4819487E}"/>
              </a:ext>
            </a:extLst>
          </p:cNvPr>
          <p:cNvSpPr>
            <a:spLocks noGrp="1"/>
          </p:cNvSpPr>
          <p:nvPr/>
        </p:nvSpPr>
        <p:spPr>
          <a:xfrm>
            <a:off x="8963025" y="3486150"/>
            <a:ext cx="2609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Zähler: CET1 minus Vorsorge und Marktwertverluste</a:t>
            </a:r>
          </a:p>
          <a:p>
            <a:endParaRPr sz="990" b="0" i="0">
              <a:solidFill>
                <a:srgbClr val="E4EEF2"/>
              </a:solidFill>
              <a:latin typeface="Aptos"/>
              <a:ea typeface="Aptos"/>
              <a:cs typeface="Aptos"/>
            </a:endParaRPr>
          </a:p>
          <a:p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Nenner: RWA plus zusätzlicher Kredit-RWA</a:t>
            </a:r>
          </a:p>
          <a:p>
            <a:endParaRPr sz="990" b="0" i="0">
              <a:solidFill>
                <a:srgbClr val="E4EEF2"/>
              </a:solidFill>
              <a:latin typeface="Aptos"/>
              <a:ea typeface="Aptos"/>
              <a:cs typeface="Aptos"/>
            </a:endParaRPr>
          </a:p>
          <a:p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Output: Quote je Bank und im Aggregat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F46E85-7EE7-4904-A09A-427A3BCC49F6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11277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69E161-F81D-456B-92D0-262A797C8C22}"/>
              </a:ext>
            </a:extLst>
          </p:cNvPr>
          <p:cNvSpPr>
            <a:spLocks noGrp="1"/>
          </p:cNvSpPr>
          <p:nvPr/>
        </p:nvSpPr>
        <p:spPr>
          <a:xfrm>
            <a:off x="628650" y="5257800"/>
            <a:ext cx="1333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DESIGNPRINZIP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B58AFC-B88E-4D98-B9E3-00F7A919961A}"/>
              </a:ext>
            </a:extLst>
          </p:cNvPr>
          <p:cNvSpPr>
            <a:spLocks noGrp="1"/>
          </p:cNvSpPr>
          <p:nvPr/>
        </p:nvSpPr>
        <p:spPr>
          <a:xfrm>
            <a:off x="628650" y="5505450"/>
            <a:ext cx="2381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Keine Black Box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07DE30-ACA6-4620-B603-F51C47486ADE}"/>
              </a:ext>
            </a:extLst>
          </p:cNvPr>
          <p:cNvSpPr>
            <a:spLocks noGrp="1"/>
          </p:cNvSpPr>
          <p:nvPr/>
        </p:nvSpPr>
        <p:spPr>
          <a:xfrm>
            <a:off x="3009900" y="548640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Jeder Schritt besitzt eine Formel, eine Datenquelle und einen messbaren Beitrag zur finalen CET1-Bridge.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4B8148-A503-4906-B841-92C104404BC0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98758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1969BE4-C630-4D49-899B-DA21AC3731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AA7DC2-9082-4C5D-B503-1D09C200BD9F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ZIELGRÖSSE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62456A-4460-4FC9-9CC0-F38A3D3ABCDE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CET1 fällt gleichzeitig über den Zähler und den RWA-Nenner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A7011-1E0A-41C8-A5B7-7763686908D4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Das Modell verbindet Kreditvorsorge, Marktwertverluste und zusätzliche RWA in einer konsistenten Kapitalgleichung.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3E1F64-1856-45B6-A30E-6D7AA2DD1378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BB3ACF-F11C-4325-934D-1DB38629FF7A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6953250" cy="2428875"/>
          </a:xfrm>
          <a:prstGeom prst="roundRect">
            <a:avLst>
              <a:gd name="adj" fmla="val 4706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960779-6B09-43BB-9152-C9789B8F9F4D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GESTRESSTE CET1-QUOTE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C9DD4-F6ED-474E-BA1B-750AB7716E50}"/>
              </a:ext>
            </a:extLst>
          </p:cNvPr>
          <p:cNvSpPr>
            <a:spLocks noGrp="1"/>
          </p:cNvSpPr>
          <p:nvPr/>
        </p:nvSpPr>
        <p:spPr>
          <a:xfrm>
            <a:off x="904875" y="2124075"/>
            <a:ext cx="604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 −  ΔEL Kreditbuch  +  ΔFV Sovereigns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5C674D-878C-432B-BA3C-391E00478988}"/>
              </a:ext>
            </a:extLst>
          </p:cNvPr>
          <p:cNvSpPr>
            <a:spLocks noGrp="1"/>
          </p:cNvSpPr>
          <p:nvPr/>
        </p:nvSpPr>
        <p:spPr>
          <a:xfrm>
            <a:off x="1123950" y="2609850"/>
            <a:ext cx="5619750" cy="19050"/>
          </a:xfrm>
          <a:prstGeom prst="rect">
            <a:avLst/>
          </a:prstGeom>
          <a:solidFill>
            <a:srgbClr val="8299A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E388C9-56ED-4D58-863D-2316A341A134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4619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 +  ΔRWA Kreditbuch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2E88D-241D-4FBE-8090-DBC21DCECEB7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E8B6C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E8B6C2"/>
                </a:solidFill>
                <a:latin typeface="Aptos"/>
                <a:ea typeface="Aptos"/>
                <a:cs typeface="Aptos"/>
              </a:rPr>
              <a:t>Zählerwirkung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1D03D-4701-4C84-A17B-43DDE8CDA962}"/>
              </a:ext>
            </a:extLst>
          </p:cNvPr>
          <p:cNvSpPr>
            <a:spLocks noGrp="1"/>
          </p:cNvSpPr>
          <p:nvPr/>
        </p:nvSpPr>
        <p:spPr>
          <a:xfrm>
            <a:off x="2000250" y="3390900"/>
            <a:ext cx="466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Vorsorge und Sovereign-MtM reduzieren hartes Kernkapital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B712FD-F5CF-4D74-A51A-8CB44C9D4E24}"/>
              </a:ext>
            </a:extLst>
          </p:cNvPr>
          <p:cNvSpPr>
            <a:spLocks noGrp="1"/>
          </p:cNvSpPr>
          <p:nvPr/>
        </p:nvSpPr>
        <p:spPr>
          <a:xfrm>
            <a:off x="7715250" y="1438275"/>
            <a:ext cx="4019550" cy="242887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B58613-D2BB-48DE-A47D-06579F3F00E4}"/>
              </a:ext>
            </a:extLst>
          </p:cNvPr>
          <p:cNvSpPr>
            <a:spLocks noGrp="1"/>
          </p:cNvSpPr>
          <p:nvPr/>
        </p:nvSpPr>
        <p:spPr>
          <a:xfrm>
            <a:off x="7715250" y="1438275"/>
            <a:ext cx="57150" cy="24288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751C97-8C1A-42C8-ADC6-3B477DB18C60}"/>
              </a:ext>
            </a:extLst>
          </p:cNvPr>
          <p:cNvSpPr>
            <a:spLocks noGrp="1"/>
          </p:cNvSpPr>
          <p:nvPr/>
        </p:nvSpPr>
        <p:spPr>
          <a:xfrm>
            <a:off x="7867650" y="1562100"/>
            <a:ext cx="79057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0C80DD-12F7-420A-9B42-152864EBD605}"/>
              </a:ext>
            </a:extLst>
          </p:cNvPr>
          <p:cNvSpPr>
            <a:spLocks noGrp="1"/>
          </p:cNvSpPr>
          <p:nvPr/>
        </p:nvSpPr>
        <p:spPr>
          <a:xfrm>
            <a:off x="7905750" y="1600200"/>
            <a:ext cx="7143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3F89E5-C838-4849-A778-BEAFE4E96AD3}"/>
              </a:ext>
            </a:extLst>
          </p:cNvPr>
          <p:cNvSpPr>
            <a:spLocks noGrp="1"/>
          </p:cNvSpPr>
          <p:nvPr/>
        </p:nvSpPr>
        <p:spPr>
          <a:xfrm>
            <a:off x="7877175" y="1885950"/>
            <a:ext cx="3695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Warum beide Seiten zählen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0B02F1-EC08-4714-844A-C1F26129E42F}"/>
              </a:ext>
            </a:extLst>
          </p:cNvPr>
          <p:cNvSpPr>
            <a:spLocks noGrp="1"/>
          </p:cNvSpPr>
          <p:nvPr/>
        </p:nvSpPr>
        <p:spPr>
          <a:xfrm>
            <a:off x="7877175" y="2209800"/>
            <a:ext cx="36957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Höhere PD/LGD erhöhen den Expected Loss</a:t>
            </a:r>
          </a:p>
          <a:p>
            <a:endParaRPr sz="998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Die Basel-IRB-Formel erhöht den Kapitalbedarf und die RWA</a:t>
            </a:r>
          </a:p>
          <a:p>
            <a:endParaRPr sz="998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Steigende Zinsen senken den Fair Value marktwertbewerteter Staatsanleihen</a:t>
            </a:r>
          </a:p>
          <a:p>
            <a:endParaRPr sz="998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Alle Effekte wirken gemeinsam auf die Quote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C5659A-3EFE-4FD5-B004-E09B39271DC3}"/>
              </a:ext>
            </a:extLst>
          </p:cNvPr>
          <p:cNvSpPr>
            <a:spLocks noGrp="1"/>
          </p:cNvSpPr>
          <p:nvPr/>
        </p:nvSpPr>
        <p:spPr>
          <a:xfrm>
            <a:off x="457200" y="4238625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AUFSICHTLICHE ORIENTIERUNGSPUNKTE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DE20E4-AE21-46EE-A6C5-08853AF9DD50}"/>
              </a:ext>
            </a:extLst>
          </p:cNvPr>
          <p:cNvSpPr>
            <a:spLocks noGrp="1"/>
          </p:cNvSpPr>
          <p:nvPr/>
        </p:nvSpPr>
        <p:spPr>
          <a:xfrm>
            <a:off x="457200" y="4552950"/>
            <a:ext cx="3495675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838D82-A2B2-4893-88F2-4764315BE8E1}"/>
              </a:ext>
            </a:extLst>
          </p:cNvPr>
          <p:cNvSpPr>
            <a:spLocks noGrp="1"/>
          </p:cNvSpPr>
          <p:nvPr/>
        </p:nvSpPr>
        <p:spPr>
          <a:xfrm>
            <a:off x="457200" y="4552950"/>
            <a:ext cx="76200" cy="13620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75655C-D6DD-4922-8694-2A3E9487E56D}"/>
              </a:ext>
            </a:extLst>
          </p:cNvPr>
          <p:cNvSpPr>
            <a:spLocks noGrp="1"/>
          </p:cNvSpPr>
          <p:nvPr/>
        </p:nvSpPr>
        <p:spPr>
          <a:xfrm>
            <a:off x="695325" y="4714875"/>
            <a:ext cx="1285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4,5 %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DD5C9E-9EC9-43E1-9A38-B6326D8E53A5}"/>
              </a:ext>
            </a:extLst>
          </p:cNvPr>
          <p:cNvSpPr>
            <a:spLocks noGrp="1"/>
          </p:cNvSpPr>
          <p:nvPr/>
        </p:nvSpPr>
        <p:spPr>
          <a:xfrm>
            <a:off x="695325" y="52292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Pillar-1-Minimum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7E22B5-B25F-40C6-B42A-823974B9B4FF}"/>
              </a:ext>
            </a:extLst>
          </p:cNvPr>
          <p:cNvSpPr>
            <a:spLocks noGrp="1"/>
          </p:cNvSpPr>
          <p:nvPr/>
        </p:nvSpPr>
        <p:spPr>
          <a:xfrm>
            <a:off x="695325" y="553402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harte Untergrenze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DF9201B-BE17-49BA-875F-7D44C44843D2}"/>
              </a:ext>
            </a:extLst>
          </p:cNvPr>
          <p:cNvSpPr>
            <a:spLocks noGrp="1"/>
          </p:cNvSpPr>
          <p:nvPr/>
        </p:nvSpPr>
        <p:spPr>
          <a:xfrm>
            <a:off x="4219575" y="4552950"/>
            <a:ext cx="3495675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46B084-B5C2-4BC0-893A-BEDB99747035}"/>
              </a:ext>
            </a:extLst>
          </p:cNvPr>
          <p:cNvSpPr>
            <a:spLocks noGrp="1"/>
          </p:cNvSpPr>
          <p:nvPr/>
        </p:nvSpPr>
        <p:spPr>
          <a:xfrm>
            <a:off x="4219575" y="4552950"/>
            <a:ext cx="76200" cy="136207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85EAEE-714D-4AB1-B4EB-C6D588161CC0}"/>
              </a:ext>
            </a:extLst>
          </p:cNvPr>
          <p:cNvSpPr>
            <a:spLocks noGrp="1"/>
          </p:cNvSpPr>
          <p:nvPr/>
        </p:nvSpPr>
        <p:spPr>
          <a:xfrm>
            <a:off x="4457700" y="4714875"/>
            <a:ext cx="1285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rPr>
              <a:t>7,0 %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CA7074-05C8-4A4C-B297-B34ED9C3BBF5}"/>
              </a:ext>
            </a:extLst>
          </p:cNvPr>
          <p:cNvSpPr>
            <a:spLocks noGrp="1"/>
          </p:cNvSpPr>
          <p:nvPr/>
        </p:nvSpPr>
        <p:spPr>
          <a:xfrm>
            <a:off x="4457700" y="52292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inkl. Kapitalerhaltungspuffer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E9979-6670-44B5-9E16-D63C09354E26}"/>
              </a:ext>
            </a:extLst>
          </p:cNvPr>
          <p:cNvSpPr>
            <a:spLocks noGrp="1"/>
          </p:cNvSpPr>
          <p:nvPr/>
        </p:nvSpPr>
        <p:spPr>
          <a:xfrm>
            <a:off x="4457700" y="553402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Ausschüttungen unter Druck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8AE28D8-1B33-45CE-937D-B8A1352C95A7}"/>
              </a:ext>
            </a:extLst>
          </p:cNvPr>
          <p:cNvSpPr>
            <a:spLocks noGrp="1"/>
          </p:cNvSpPr>
          <p:nvPr/>
        </p:nvSpPr>
        <p:spPr>
          <a:xfrm>
            <a:off x="7981950" y="4552950"/>
            <a:ext cx="3495675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464465-D7C7-4D39-9AFA-643FA685EBFD}"/>
              </a:ext>
            </a:extLst>
          </p:cNvPr>
          <p:cNvSpPr>
            <a:spLocks noGrp="1"/>
          </p:cNvSpPr>
          <p:nvPr/>
        </p:nvSpPr>
        <p:spPr>
          <a:xfrm>
            <a:off x="7981950" y="4552950"/>
            <a:ext cx="76200" cy="136207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7D893D-9A52-4761-BDFC-F8F83B0F1ED6}"/>
              </a:ext>
            </a:extLst>
          </p:cNvPr>
          <p:cNvSpPr>
            <a:spLocks noGrp="1"/>
          </p:cNvSpPr>
          <p:nvPr/>
        </p:nvSpPr>
        <p:spPr>
          <a:xfrm>
            <a:off x="8220075" y="4714875"/>
            <a:ext cx="1285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rPr>
              <a:t>8,0 %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3A3D32-BFCA-4339-A2FD-0823EE9E1BDE}"/>
              </a:ext>
            </a:extLst>
          </p:cNvPr>
          <p:cNvSpPr>
            <a:spLocks noGrp="1"/>
          </p:cNvSpPr>
          <p:nvPr/>
        </p:nvSpPr>
        <p:spPr>
          <a:xfrm>
            <a:off x="8220075" y="52292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typischer SREP-Orientierungswert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EED63C-06CE-46EF-8B6A-67844AD588AF}"/>
              </a:ext>
            </a:extLst>
          </p:cNvPr>
          <p:cNvSpPr>
            <a:spLocks noGrp="1"/>
          </p:cNvSpPr>
          <p:nvPr/>
        </p:nvSpPr>
        <p:spPr>
          <a:xfrm>
            <a:off x="8220075" y="553402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institutsspezifischer Puffer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AB0F71-A885-4A43-B8B0-12206F871C0F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 III / CRR · Modell-Cockpit · Schwellen dienen der Einordnung, nicht als bankspezifische SREP-Prognose</a:t>
            </a:r>
          </a:p>
        </p:txBody>
      </p:sp>
    </p:spTree>
    <p:extLst>
      <p:ext uri="{BB962C8B-B14F-4D97-AF65-F5344CB8AC3E}">
        <p14:creationId xmlns:p14="http://schemas.microsoft.com/office/powerpoint/2010/main" val="2058271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7ABA199E-D632-4148-986D-D1A0E51C7A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0FA02F-ABC5-4385-8199-AAA8FDF2BD2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DATENBASIS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03076-8760-41A2-AD12-A7D0E6F59329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Ein konsistenter Top-10-Datensatz verbindet 56 % der EU-IRB-EAD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5B4013-5BBD-45AC-9CC8-9C1E8290FD10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Bankparameter stammen aus regulatorischen Veröffentlichungen; Marktvariablen liefern die dynamischen Stressimpulse.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51716-DEF4-41A7-8A29-0CA54B4FA2AC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D51001-5037-40EA-80FB-38E05AA70B1F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3638550" cy="451485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4934EB-01C1-4F35-8285-44C305D46A42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BANKENFILTER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24EA16-BDB2-489A-B813-AE6BD4F47DF0}"/>
              </a:ext>
            </a:extLst>
          </p:cNvPr>
          <p:cNvSpPr>
            <a:spLocks noGrp="1"/>
          </p:cNvSpPr>
          <p:nvPr/>
        </p:nvSpPr>
        <p:spPr>
          <a:xfrm>
            <a:off x="647700" y="2038350"/>
            <a:ext cx="3257550" cy="419100"/>
          </a:xfrm>
          <a:prstGeom prst="roundRect">
            <a:avLst>
              <a:gd name="adj" fmla="val 18182"/>
            </a:avLst>
          </a:prstGeom>
          <a:solidFill>
            <a:srgbClr val="E5EC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A50724-EAFC-487E-BF60-E215BB7B9237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31051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120 EBA-Banken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EE0804-1FEA-46B4-AC95-D4646D492613}"/>
              </a:ext>
            </a:extLst>
          </p:cNvPr>
          <p:cNvSpPr>
            <a:spLocks noGrp="1"/>
          </p:cNvSpPr>
          <p:nvPr/>
        </p:nvSpPr>
        <p:spPr>
          <a:xfrm>
            <a:off x="828675" y="2590800"/>
            <a:ext cx="2895600" cy="419100"/>
          </a:xfrm>
          <a:prstGeom prst="roundRect">
            <a:avLst>
              <a:gd name="adj" fmla="val 18182"/>
            </a:avLst>
          </a:prstGeom>
          <a:solidFill>
            <a:srgbClr val="D0DF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94D2B-5AC4-42EF-9B37-D32D60FACB64}"/>
              </a:ext>
            </a:extLst>
          </p:cNvPr>
          <p:cNvSpPr>
            <a:spLocks noGrp="1"/>
          </p:cNvSpPr>
          <p:nvPr/>
        </p:nvSpPr>
        <p:spPr>
          <a:xfrm>
            <a:off x="904875" y="2705100"/>
            <a:ext cx="27432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67 IRB-Banken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635633-876F-4EE1-99BA-CF4DD5CAE534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2533650" cy="419100"/>
          </a:xfrm>
          <a:prstGeom prst="roundRect">
            <a:avLst>
              <a:gd name="adj" fmla="val 18182"/>
            </a:avLst>
          </a:prstGeom>
          <a:solidFill>
            <a:srgbClr val="AFC8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61BFCE-9362-4493-9D02-5BB38A0FC981}"/>
              </a:ext>
            </a:extLst>
          </p:cNvPr>
          <p:cNvSpPr>
            <a:spLocks noGrp="1"/>
          </p:cNvSpPr>
          <p:nvPr/>
        </p:nvSpPr>
        <p:spPr>
          <a:xfrm>
            <a:off x="1085850" y="3257550"/>
            <a:ext cx="2381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 kuratierte Top-Banken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0D0A16-FFC5-4090-A3A8-031D146CA79F}"/>
              </a:ext>
            </a:extLst>
          </p:cNvPr>
          <p:cNvSpPr>
            <a:spLocks noGrp="1"/>
          </p:cNvSpPr>
          <p:nvPr/>
        </p:nvSpPr>
        <p:spPr>
          <a:xfrm>
            <a:off x="1190625" y="3695700"/>
            <a:ext cx="2171700" cy="419100"/>
          </a:xfrm>
          <a:prstGeom prst="roundRect">
            <a:avLst>
              <a:gd name="adj" fmla="val 18182"/>
            </a:avLst>
          </a:prstGeom>
          <a:solidFill>
            <a:srgbClr val="78A4B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BDF3E5-D0D1-4463-B182-B6C30D9DD26E}"/>
              </a:ext>
            </a:extLst>
          </p:cNvPr>
          <p:cNvSpPr>
            <a:spLocks noGrp="1"/>
          </p:cNvSpPr>
          <p:nvPr/>
        </p:nvSpPr>
        <p:spPr>
          <a:xfrm>
            <a:off x="1266825" y="3810000"/>
            <a:ext cx="20193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Einheitlicher Audit-Trail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3C7051-C12C-4B13-AA99-B025012E4F06}"/>
              </a:ext>
            </a:extLst>
          </p:cNvPr>
          <p:cNvSpPr>
            <a:spLocks noGrp="1"/>
          </p:cNvSpPr>
          <p:nvPr/>
        </p:nvSpPr>
        <p:spPr>
          <a:xfrm>
            <a:off x="1000125" y="4419600"/>
            <a:ext cx="2552700" cy="876300"/>
          </a:xfrm>
          <a:prstGeom prst="roundRect">
            <a:avLst>
              <a:gd name="adj" fmla="val 13043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B2737E-9969-4F38-B5A4-82149A3C194F}"/>
              </a:ext>
            </a:extLst>
          </p:cNvPr>
          <p:cNvSpPr>
            <a:spLocks noGrp="1"/>
          </p:cNvSpPr>
          <p:nvPr/>
        </p:nvSpPr>
        <p:spPr>
          <a:xfrm>
            <a:off x="1190625" y="4572000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D087A8-B19D-4FFB-A940-EBD8BFE29234}"/>
              </a:ext>
            </a:extLst>
          </p:cNvPr>
          <p:cNvSpPr>
            <a:spLocks noGrp="1"/>
          </p:cNvSpPr>
          <p:nvPr/>
        </p:nvSpPr>
        <p:spPr>
          <a:xfrm>
            <a:off x="1190625" y="5000625"/>
            <a:ext cx="2171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IRB-EAD · 56 % Abdeckung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99AA99-45FE-4C59-9C90-C70F69BC2326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3067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Filter entfernt Nicht-IRB-Banken, Töchter und Dubletten.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04644F-1E70-40F0-BC9F-ED57A6A55559}"/>
              </a:ext>
            </a:extLst>
          </p:cNvPr>
          <p:cNvSpPr>
            <a:spLocks noGrp="1"/>
          </p:cNvSpPr>
          <p:nvPr/>
        </p:nvSpPr>
        <p:spPr>
          <a:xfrm>
            <a:off x="4400550" y="14668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DATENBAUSTEINE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5A93637-0B0F-442E-810F-F490100674BA}"/>
              </a:ext>
            </a:extLst>
          </p:cNvPr>
          <p:cNvSpPr>
            <a:spLocks noGrp="1"/>
          </p:cNvSpPr>
          <p:nvPr/>
        </p:nvSpPr>
        <p:spPr>
          <a:xfrm>
            <a:off x="4400550" y="1781175"/>
            <a:ext cx="34480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9C1174-3CD6-4038-AE31-010C59A08F49}"/>
              </a:ext>
            </a:extLst>
          </p:cNvPr>
          <p:cNvSpPr>
            <a:spLocks noGrp="1"/>
          </p:cNvSpPr>
          <p:nvPr/>
        </p:nvSpPr>
        <p:spPr>
          <a:xfrm>
            <a:off x="4400550" y="1781175"/>
            <a:ext cx="57150" cy="1190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38EB9F1-2909-4E1E-8A5A-7881C3333B6E}"/>
              </a:ext>
            </a:extLst>
          </p:cNvPr>
          <p:cNvSpPr>
            <a:spLocks noGrp="1"/>
          </p:cNvSpPr>
          <p:nvPr/>
        </p:nvSpPr>
        <p:spPr>
          <a:xfrm>
            <a:off x="4552950" y="1905000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DD846E-9142-46A7-BE52-4D988A0414E0}"/>
              </a:ext>
            </a:extLst>
          </p:cNvPr>
          <p:cNvSpPr>
            <a:spLocks noGrp="1"/>
          </p:cNvSpPr>
          <p:nvPr/>
        </p:nvSpPr>
        <p:spPr>
          <a:xfrm>
            <a:off x="4591050" y="1943100"/>
            <a:ext cx="704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980B9C-879A-49CB-ACDF-8FE596818BCC}"/>
              </a:ext>
            </a:extLst>
          </p:cNvPr>
          <p:cNvSpPr>
            <a:spLocks noGrp="1"/>
          </p:cNvSpPr>
          <p:nvPr/>
        </p:nvSpPr>
        <p:spPr>
          <a:xfrm>
            <a:off x="4562475" y="2228850"/>
            <a:ext cx="3124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Pillar 3 · EU-CR6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FAB96A-6CA2-4DC3-AA90-7ACA6BC0E5E8}"/>
              </a:ext>
            </a:extLst>
          </p:cNvPr>
          <p:cNvSpPr>
            <a:spLocks noGrp="1"/>
          </p:cNvSpPr>
          <p:nvPr/>
        </p:nvSpPr>
        <p:spPr>
          <a:xfrm>
            <a:off x="4562475" y="2552700"/>
            <a:ext cx="3124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und LGD je Bank und IRB-Klasse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31.12.2024 · 69/69 IRB-fähige Kombinationen direkt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6C553D2-0435-4B7F-8DDF-DD31493EFF7C}"/>
              </a:ext>
            </a:extLst>
          </p:cNvPr>
          <p:cNvSpPr>
            <a:spLocks noGrp="1"/>
          </p:cNvSpPr>
          <p:nvPr/>
        </p:nvSpPr>
        <p:spPr>
          <a:xfrm>
            <a:off x="8058150" y="1781175"/>
            <a:ext cx="36766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2C8CFE-B8CE-40C1-945C-6613E6DD8E1C}"/>
              </a:ext>
            </a:extLst>
          </p:cNvPr>
          <p:cNvSpPr>
            <a:spLocks noGrp="1"/>
          </p:cNvSpPr>
          <p:nvPr/>
        </p:nvSpPr>
        <p:spPr>
          <a:xfrm>
            <a:off x="8058150" y="1781175"/>
            <a:ext cx="57150" cy="1190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6DA073-E455-42B9-B743-B945A40414B2}"/>
              </a:ext>
            </a:extLst>
          </p:cNvPr>
          <p:cNvSpPr>
            <a:spLocks noGrp="1"/>
          </p:cNvSpPr>
          <p:nvPr/>
        </p:nvSpPr>
        <p:spPr>
          <a:xfrm>
            <a:off x="8210550" y="1905000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E1ACA2-3797-47AA-B883-4A128CEF9F1E}"/>
              </a:ext>
            </a:extLst>
          </p:cNvPr>
          <p:cNvSpPr>
            <a:spLocks noGrp="1"/>
          </p:cNvSpPr>
          <p:nvPr/>
        </p:nvSpPr>
        <p:spPr>
          <a:xfrm>
            <a:off x="8248650" y="1943100"/>
            <a:ext cx="704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9F3C89-3C58-4E16-97AC-85C6D269D282}"/>
              </a:ext>
            </a:extLst>
          </p:cNvPr>
          <p:cNvSpPr>
            <a:spLocks noGrp="1"/>
          </p:cNvSpPr>
          <p:nvPr/>
        </p:nvSpPr>
        <p:spPr>
          <a:xfrm>
            <a:off x="8220075" y="22288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 2025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0FE369-FF9A-4F6E-8E5F-92DAD17BA023}"/>
              </a:ext>
            </a:extLst>
          </p:cNvPr>
          <p:cNvSpPr>
            <a:spLocks noGrp="1"/>
          </p:cNvSpPr>
          <p:nvPr/>
        </p:nvSpPr>
        <p:spPr>
          <a:xfrm>
            <a:off x="8220075" y="2552700"/>
            <a:ext cx="3352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Bankindividueller IFRS-9-Split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29FB7CD-08AC-4EDB-AF90-9CCB87EDAA9D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34480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4C49AF-CFD7-4360-A88C-1C3F3DDC7B87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57150" cy="1190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EA9403-2B10-4EF7-A704-79E23FF3826A}"/>
              </a:ext>
            </a:extLst>
          </p:cNvPr>
          <p:cNvSpPr>
            <a:spLocks noGrp="1"/>
          </p:cNvSpPr>
          <p:nvPr/>
        </p:nvSpPr>
        <p:spPr>
          <a:xfrm>
            <a:off x="4552950" y="3276600"/>
            <a:ext cx="120015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3E998A-37A6-478D-A217-F6AA1B5419FD}"/>
              </a:ext>
            </a:extLst>
          </p:cNvPr>
          <p:cNvSpPr>
            <a:spLocks noGrp="1"/>
          </p:cNvSpPr>
          <p:nvPr/>
        </p:nvSpPr>
        <p:spPr>
          <a:xfrm>
            <a:off x="4591050" y="3314700"/>
            <a:ext cx="1123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6E1ACF-115B-4F5D-AFF5-916EFE5CEE1A}"/>
              </a:ext>
            </a:extLst>
          </p:cNvPr>
          <p:cNvSpPr>
            <a:spLocks noGrp="1"/>
          </p:cNvSpPr>
          <p:nvPr/>
        </p:nvSpPr>
        <p:spPr>
          <a:xfrm>
            <a:off x="4562475" y="3600450"/>
            <a:ext cx="3124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D75DE30-0A3F-4837-8ECA-C66141F27F71}"/>
              </a:ext>
            </a:extLst>
          </p:cNvPr>
          <p:cNvSpPr>
            <a:spLocks noGrp="1"/>
          </p:cNvSpPr>
          <p:nvPr/>
        </p:nvSpPr>
        <p:spPr>
          <a:xfrm>
            <a:off x="4562475" y="3924300"/>
            <a:ext cx="3124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Aktueller Marktpreis und tägliche Historie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Ölpreis- und Energiepreisschock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D69C65F-D5A4-48FC-A934-FF2168585BA8}"/>
              </a:ext>
            </a:extLst>
          </p:cNvPr>
          <p:cNvSpPr>
            <a:spLocks noGrp="1"/>
          </p:cNvSpPr>
          <p:nvPr/>
        </p:nvSpPr>
        <p:spPr>
          <a:xfrm>
            <a:off x="8058150" y="3152775"/>
            <a:ext cx="36766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276F2B-A1D2-44DD-875A-FB6BF3A28B62}"/>
              </a:ext>
            </a:extLst>
          </p:cNvPr>
          <p:cNvSpPr>
            <a:spLocks noGrp="1"/>
          </p:cNvSpPr>
          <p:nvPr/>
        </p:nvSpPr>
        <p:spPr>
          <a:xfrm>
            <a:off x="8058150" y="3152775"/>
            <a:ext cx="57150" cy="1190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7003A68-891E-46C2-A72E-5B321895E83F}"/>
              </a:ext>
            </a:extLst>
          </p:cNvPr>
          <p:cNvSpPr>
            <a:spLocks noGrp="1"/>
          </p:cNvSpPr>
          <p:nvPr/>
        </p:nvSpPr>
        <p:spPr>
          <a:xfrm>
            <a:off x="8210550" y="3276600"/>
            <a:ext cx="120015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B91963-A193-4758-A019-9591F602E918}"/>
              </a:ext>
            </a:extLst>
          </p:cNvPr>
          <p:cNvSpPr>
            <a:spLocks noGrp="1"/>
          </p:cNvSpPr>
          <p:nvPr/>
        </p:nvSpPr>
        <p:spPr>
          <a:xfrm>
            <a:off x="8248650" y="3314700"/>
            <a:ext cx="1123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4F6E79-680F-473C-8363-CA216657E30A}"/>
              </a:ext>
            </a:extLst>
          </p:cNvPr>
          <p:cNvSpPr>
            <a:spLocks noGrp="1"/>
          </p:cNvSpPr>
          <p:nvPr/>
        </p:nvSpPr>
        <p:spPr>
          <a:xfrm>
            <a:off x="8220075" y="36004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Svensson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D103E5-5787-4449-A85E-E43BC223AAB3}"/>
              </a:ext>
            </a:extLst>
          </p:cNvPr>
          <p:cNvSpPr>
            <a:spLocks noGrp="1"/>
          </p:cNvSpPr>
          <p:nvPr/>
        </p:nvSpPr>
        <p:spPr>
          <a:xfrm>
            <a:off x="8220075" y="3924300"/>
            <a:ext cx="3352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Offizielle Zero-Curve und tägliche Historie</a:t>
            </a:r>
          </a:p>
          <a:p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den 10-Jahres-Zinsschock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33AB327-CF3F-45AB-985A-4D776CDE7526}"/>
              </a:ext>
            </a:extLst>
          </p:cNvPr>
          <p:cNvSpPr>
            <a:spLocks noGrp="1"/>
          </p:cNvSpPr>
          <p:nvPr/>
        </p:nvSpPr>
        <p:spPr>
          <a:xfrm>
            <a:off x="4400550" y="4524375"/>
            <a:ext cx="7334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55FC3B-D958-41E0-960A-70070ED3E8D3}"/>
              </a:ext>
            </a:extLst>
          </p:cNvPr>
          <p:cNvSpPr>
            <a:spLocks noGrp="1"/>
          </p:cNvSpPr>
          <p:nvPr/>
        </p:nvSpPr>
        <p:spPr>
          <a:xfrm>
            <a:off x="4400550" y="4524375"/>
            <a:ext cx="57150" cy="1143000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FE6A5F5-0119-46BA-9050-E458478327F4}"/>
              </a:ext>
            </a:extLst>
          </p:cNvPr>
          <p:cNvSpPr>
            <a:spLocks noGrp="1"/>
          </p:cNvSpPr>
          <p:nvPr/>
        </p:nvSpPr>
        <p:spPr>
          <a:xfrm>
            <a:off x="4552950" y="4648200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3A4F03-C7A1-4A66-BAAF-2DD7A5A89DC7}"/>
              </a:ext>
            </a:extLst>
          </p:cNvPr>
          <p:cNvSpPr>
            <a:spLocks noGrp="1"/>
          </p:cNvSpPr>
          <p:nvPr/>
        </p:nvSpPr>
        <p:spPr>
          <a:xfrm>
            <a:off x="4591050" y="4686300"/>
            <a:ext cx="704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BEB68C-1C51-4FDF-922D-0F4CA45A0EFB}"/>
              </a:ext>
            </a:extLst>
          </p:cNvPr>
          <p:cNvSpPr>
            <a:spLocks noGrp="1"/>
          </p:cNvSpPr>
          <p:nvPr/>
        </p:nvSpPr>
        <p:spPr>
          <a:xfrm>
            <a:off x="4562475" y="4972050"/>
            <a:ext cx="701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Methodik und Kalibrierung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D5600F1-14C3-4996-9933-E2614C7C8886}"/>
              </a:ext>
            </a:extLst>
          </p:cNvPr>
          <p:cNvSpPr>
            <a:spLocks noGrp="1"/>
          </p:cNvSpPr>
          <p:nvPr/>
        </p:nvSpPr>
        <p:spPr>
          <a:xfrm>
            <a:off x="4562475" y="5295900"/>
            <a:ext cx="70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EBA-Stresstestmethodik · ECB Working Papers · Basel-IRB-Formel · IFRS 9</a:t>
            </a:r>
          </a:p>
          <a:p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Quellen liefern Richtung, relative Stärke und regulatorische Rechenlogik.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DDA78D-92D7-4F0B-9DD5-72D184A8D905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82127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8752662-D96B-4385-871F-5C1E6BB777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646EAF-10A4-4D69-B9E2-87411C9DD6D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FAKTORAUSWAHL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DE618C-A117-4E72-8955-273A95B25A9A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Brent und 10Y-Zins adressieren unterschiedliche ökonomische Risiken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212DC0-06DB-4C81-82B2-5DE61D954F40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Faktoren werden nicht aggregiert, weil sie verschiedene Ursachen, Bilanzkanäle und sektorale Gewinner bzw. Verlierer erzeugen.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27FE82-9BFA-407D-9E72-B7775F55BA0F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7E4027-12B6-463F-B54B-B2BA9532A5BC}"/>
              </a:ext>
            </a:extLst>
          </p:cNvPr>
          <p:cNvSpPr>
            <a:spLocks noGrp="1"/>
          </p:cNvSpPr>
          <p:nvPr/>
        </p:nvSpPr>
        <p:spPr>
          <a:xfrm>
            <a:off x="457200" y="1495425"/>
            <a:ext cx="4762500" cy="3743325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FA37D9-53E9-44E1-A518-FF7BABD8C0EE}"/>
              </a:ext>
            </a:extLst>
          </p:cNvPr>
          <p:cNvSpPr>
            <a:spLocks noGrp="1"/>
          </p:cNvSpPr>
          <p:nvPr/>
        </p:nvSpPr>
        <p:spPr>
          <a:xfrm>
            <a:off x="457200" y="1495425"/>
            <a:ext cx="57150" cy="37433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ED9631-40E4-4EF9-AD79-EADD6D110E3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714375" cy="219075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FA1241-4F83-4E34-A6A2-023DFB62C96B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6381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ED000-72F2-4D14-A8F8-D19AFECB8FF3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43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ΔBrent · Energie- und Angebotsschock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872DF2-CBB2-4072-88D8-DDBE189F31B8}"/>
              </a:ext>
            </a:extLst>
          </p:cNvPr>
          <p:cNvSpPr>
            <a:spLocks noGrp="1"/>
          </p:cNvSpPr>
          <p:nvPr/>
        </p:nvSpPr>
        <p:spPr>
          <a:xfrm>
            <a:off x="619125" y="2266950"/>
            <a:ext cx="4438650" cy="2886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Brent?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Europäischer Referenzpreis für global gehandeltes Rohöl.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Energie- und Inputkosten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Headline-Inflation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verfügbares Haushaltseinkommen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Unternehmensmargen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Log-Return: additiv über die Zeit und symmetrisch um null.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790FC1-697A-4F20-87FA-F94B2D32DFB0}"/>
              </a:ext>
            </a:extLst>
          </p:cNvPr>
          <p:cNvSpPr>
            <a:spLocks noGrp="1"/>
          </p:cNvSpPr>
          <p:nvPr/>
        </p:nvSpPr>
        <p:spPr>
          <a:xfrm>
            <a:off x="6972300" y="1495425"/>
            <a:ext cx="4762500" cy="3743325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55497-1FDA-4B6A-BBD9-0E4C566D693F}"/>
              </a:ext>
            </a:extLst>
          </p:cNvPr>
          <p:cNvSpPr>
            <a:spLocks noGrp="1"/>
          </p:cNvSpPr>
          <p:nvPr/>
        </p:nvSpPr>
        <p:spPr>
          <a:xfrm>
            <a:off x="6972300" y="1495425"/>
            <a:ext cx="57150" cy="37433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45C934-ECBD-4A90-9D29-CDEE57747382}"/>
              </a:ext>
            </a:extLst>
          </p:cNvPr>
          <p:cNvSpPr>
            <a:spLocks noGrp="1"/>
          </p:cNvSpPr>
          <p:nvPr/>
        </p:nvSpPr>
        <p:spPr>
          <a:xfrm>
            <a:off x="7124700" y="1619250"/>
            <a:ext cx="714375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3C3C8C-73BC-470C-8F94-A6DF8CDF46A3}"/>
              </a:ext>
            </a:extLst>
          </p:cNvPr>
          <p:cNvSpPr>
            <a:spLocks noGrp="1"/>
          </p:cNvSpPr>
          <p:nvPr/>
        </p:nvSpPr>
        <p:spPr>
          <a:xfrm>
            <a:off x="7162800" y="1657350"/>
            <a:ext cx="6381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AC4849-1633-473A-B821-8DFA1075681F}"/>
              </a:ext>
            </a:extLst>
          </p:cNvPr>
          <p:cNvSpPr>
            <a:spLocks noGrp="1"/>
          </p:cNvSpPr>
          <p:nvPr/>
        </p:nvSpPr>
        <p:spPr>
          <a:xfrm>
            <a:off x="7134225" y="1943100"/>
            <a:ext cx="443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Δr 10Y · Refinanzierungs- und Bewertungsimpuls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671405-4E7C-44E2-A14D-B3CBA8B82078}"/>
              </a:ext>
            </a:extLst>
          </p:cNvPr>
          <p:cNvSpPr>
            <a:spLocks noGrp="1"/>
          </p:cNvSpPr>
          <p:nvPr/>
        </p:nvSpPr>
        <p:spPr>
          <a:xfrm>
            <a:off x="7134225" y="2266950"/>
            <a:ext cx="4438650" cy="2886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zehn Jahre?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Pricing-Anker für Hypotheken, Corporate Bonds und Sovereigns.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Kredit- und Refinanzierungskosten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Immobilienwerte und Recovery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Bond-Duration / Mark-to-Market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Net Interest Margin der Banken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Prozentpunkte: +2,0 pp entsprechen +200 Basispunkten.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56C40F-BF79-4C8F-B9D6-64DF0D05487F}"/>
              </a:ext>
            </a:extLst>
          </p:cNvPr>
          <p:cNvSpPr>
            <a:spLocks noGrp="1"/>
          </p:cNvSpPr>
          <p:nvPr/>
        </p:nvSpPr>
        <p:spPr>
          <a:xfrm>
            <a:off x="5219700" y="2324100"/>
            <a:ext cx="1752600" cy="1428750"/>
          </a:xfrm>
          <a:prstGeom prst="roundRect">
            <a:avLst>
              <a:gd name="adj" fmla="val 8000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17EA13-2ABD-49D2-AC03-3706C1506DDF}"/>
              </a:ext>
            </a:extLst>
          </p:cNvPr>
          <p:cNvSpPr>
            <a:spLocks noGrp="1"/>
          </p:cNvSpPr>
          <p:nvPr/>
        </p:nvSpPr>
        <p:spPr>
          <a:xfrm>
            <a:off x="5334000" y="24955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ZENTRALE THESE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E790A6-6717-4917-B6D8-4F0055521EE0}"/>
              </a:ext>
            </a:extLst>
          </p:cNvPr>
          <p:cNvSpPr>
            <a:spLocks noGrp="1"/>
          </p:cNvSpPr>
          <p:nvPr/>
        </p:nvSpPr>
        <p:spPr>
          <a:xfrm>
            <a:off x="5314950" y="2790825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ρ = +0,070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5F02D5-4AED-470F-B924-1BC66BD3D6BE}"/>
              </a:ext>
            </a:extLst>
          </p:cNvPr>
          <p:cNvSpPr>
            <a:spLocks noGrp="1"/>
          </p:cNvSpPr>
          <p:nvPr/>
        </p:nvSpPr>
        <p:spPr>
          <a:xfrm>
            <a:off x="5353050" y="3248025"/>
            <a:ext cx="148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nahezu unabhängige</a:t>
            </a:r>
          </a:p>
          <a:p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Tagesbewegungen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46D602D-B3DE-407D-B5C9-6395528AEBA8}"/>
              </a:ext>
            </a:extLst>
          </p:cNvPr>
          <p:cNvSpPr>
            <a:spLocks noGrp="1"/>
          </p:cNvSpPr>
          <p:nvPr/>
        </p:nvSpPr>
        <p:spPr>
          <a:xfrm>
            <a:off x="457200" y="5505450"/>
            <a:ext cx="11277600" cy="628650"/>
          </a:xfrm>
          <a:prstGeom prst="roundRect">
            <a:avLst>
              <a:gd name="adj" fmla="val 18182"/>
            </a:avLst>
          </a:prstGeom>
          <a:solidFill>
            <a:srgbClr val="E3F1EF"/>
          </a:solidFill>
          <a:ln w="9525">
            <a:solidFill>
              <a:srgbClr val="B7D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C4DCD0-96AD-4D40-BAFB-D55E99CD8957}"/>
              </a:ext>
            </a:extLst>
          </p:cNvPr>
          <p:cNvSpPr>
            <a:spLocks noGrp="1"/>
          </p:cNvSpPr>
          <p:nvPr/>
        </p:nvSpPr>
        <p:spPr>
          <a:xfrm>
            <a:off x="647700" y="56483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MODELLKONSEQUENZ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093CFF-12E1-4FD3-B7EF-6990060E12D2}"/>
              </a:ext>
            </a:extLst>
          </p:cNvPr>
          <p:cNvSpPr>
            <a:spLocks noGrp="1"/>
          </p:cNvSpPr>
          <p:nvPr/>
        </p:nvSpPr>
        <p:spPr>
          <a:xfrm>
            <a:off x="2428875" y="5629275"/>
            <a:ext cx="895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Zwei getrennte Slider und zwei direkte Faktorbeiträge – keine Verdichtung in einen systemischen Einzelfaktor.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48A0F1-7641-4090-8E76-D76FBE0BE2C7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15760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6D17F83-9D45-477D-9453-B2822D6ACC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4F405-94C2-401D-A195-F4438D0FF7DC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TRANSMISSION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C0195-804F-48C9-A592-A2743AA6ADF7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Sektorale β/γ-Werte übersetzen Schocks in PD und LGD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8D317-5C48-49BD-A628-E28C12235EFF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 Exposure-Klasse reagiert anders – inklusive positiver Zinswirkung auf Bank-Counterparties über den NIM-Kanal.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6B97B5-4DCB-425A-A714-8CA2C68DFFC1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FD10F7-39E1-4DFA-80B5-E4A7B38A11DC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11277600" cy="819150"/>
          </a:xfrm>
          <a:prstGeom prst="roundRect">
            <a:avLst>
              <a:gd name="adj" fmla="val 13953"/>
            </a:avLst>
          </a:prstGeom>
          <a:solidFill>
            <a:srgbClr val="051C2C"/>
          </a:solidFill>
          <a:ln w="9525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488755-501E-479D-9E57-BEC1BA6F9A54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ΔPDKlasse = βoil × ΔBrent + βrate × Δr10Y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194622-F3CD-4893-9242-C0672B3E6ECC}"/>
              </a:ext>
            </a:extLst>
          </p:cNvPr>
          <p:cNvSpPr>
            <a:spLocks noGrp="1"/>
          </p:cNvSpPr>
          <p:nvPr/>
        </p:nvSpPr>
        <p:spPr>
          <a:xfrm>
            <a:off x="6238875" y="15621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ΔLGDKlasse = γoil × ΔBrent + γrate × Δr10Y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38971-F8E8-4293-8236-7B9ED091D4BB}"/>
              </a:ext>
            </a:extLst>
          </p:cNvPr>
          <p:cNvSpPr>
            <a:spLocks noGrp="1"/>
          </p:cNvSpPr>
          <p:nvPr/>
        </p:nvSpPr>
        <p:spPr>
          <a:xfrm>
            <a:off x="457200" y="2381250"/>
            <a:ext cx="2428875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7FCD6-3081-4467-841B-4B704CAEDEC8}"/>
              </a:ext>
            </a:extLst>
          </p:cNvPr>
          <p:cNvSpPr>
            <a:spLocks noGrp="1"/>
          </p:cNvSpPr>
          <p:nvPr/>
        </p:nvSpPr>
        <p:spPr>
          <a:xfrm>
            <a:off x="504825" y="2466975"/>
            <a:ext cx="2333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Exposure-Klasse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FF9D56-DDC6-409D-B325-E02257EA5FF6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6FAE7-90C5-49B9-859B-E5BEB700C4FF}"/>
              </a:ext>
            </a:extLst>
          </p:cNvPr>
          <p:cNvSpPr>
            <a:spLocks noGrp="1"/>
          </p:cNvSpPr>
          <p:nvPr/>
        </p:nvSpPr>
        <p:spPr>
          <a:xfrm>
            <a:off x="3048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Oil · PD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6C667-D14A-41A0-8E4F-4C5A6BBB780B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6B113-F58D-4078-A956-3B2F557720A8}"/>
              </a:ext>
            </a:extLst>
          </p:cNvPr>
          <p:cNvSpPr>
            <a:spLocks noGrp="1"/>
          </p:cNvSpPr>
          <p:nvPr/>
        </p:nvSpPr>
        <p:spPr>
          <a:xfrm>
            <a:off x="4572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Rate · PD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8AED21-8FD1-4AA0-817C-E9AC1AF7E1E1}"/>
              </a:ext>
            </a:extLst>
          </p:cNvPr>
          <p:cNvSpPr>
            <a:spLocks noGrp="1"/>
          </p:cNvSpPr>
          <p:nvPr/>
        </p:nvSpPr>
        <p:spPr>
          <a:xfrm>
            <a:off x="6048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9EDC2B-ECD9-477B-AB3D-0B14ACF32FE7}"/>
              </a:ext>
            </a:extLst>
          </p:cNvPr>
          <p:cNvSpPr>
            <a:spLocks noGrp="1"/>
          </p:cNvSpPr>
          <p:nvPr/>
        </p:nvSpPr>
        <p:spPr>
          <a:xfrm>
            <a:off x="6096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Oil · LGD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0C5E62-30DD-4E3C-A381-B040A2623AFF}"/>
              </a:ext>
            </a:extLst>
          </p:cNvPr>
          <p:cNvSpPr>
            <a:spLocks noGrp="1"/>
          </p:cNvSpPr>
          <p:nvPr/>
        </p:nvSpPr>
        <p:spPr>
          <a:xfrm>
            <a:off x="7572375" y="2381250"/>
            <a:ext cx="1409700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FD84C9-D558-4245-B138-142A73ABF20F}"/>
              </a:ext>
            </a:extLst>
          </p:cNvPr>
          <p:cNvSpPr>
            <a:spLocks noGrp="1"/>
          </p:cNvSpPr>
          <p:nvPr/>
        </p:nvSpPr>
        <p:spPr>
          <a:xfrm>
            <a:off x="7620000" y="2466975"/>
            <a:ext cx="1314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Rate · LGD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F662FF-10B6-4C89-8706-722310FC007B}"/>
              </a:ext>
            </a:extLst>
          </p:cNvPr>
          <p:cNvSpPr>
            <a:spLocks noGrp="1"/>
          </p:cNvSpPr>
          <p:nvPr/>
        </p:nvSpPr>
        <p:spPr>
          <a:xfrm>
            <a:off x="9096375" y="2381250"/>
            <a:ext cx="2638425" cy="323850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D2B036-129F-4C12-B470-46746072D51D}"/>
              </a:ext>
            </a:extLst>
          </p:cNvPr>
          <p:cNvSpPr>
            <a:spLocks noGrp="1"/>
          </p:cNvSpPr>
          <p:nvPr/>
        </p:nvSpPr>
        <p:spPr>
          <a:xfrm>
            <a:off x="9144000" y="2466975"/>
            <a:ext cx="25431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Ökonomisches Profil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1B33A2-FAD9-42DE-B26E-B91C2D4FC488}"/>
              </a:ext>
            </a:extLst>
          </p:cNvPr>
          <p:cNvSpPr>
            <a:spLocks noGrp="1"/>
          </p:cNvSpPr>
          <p:nvPr/>
        </p:nvSpPr>
        <p:spPr>
          <a:xfrm>
            <a:off x="457200" y="270510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724FF3-5013-4E51-879F-64A78358B54D}"/>
              </a:ext>
            </a:extLst>
          </p:cNvPr>
          <p:cNvSpPr>
            <a:spLocks noGrp="1"/>
          </p:cNvSpPr>
          <p:nvPr/>
        </p:nvSpPr>
        <p:spPr>
          <a:xfrm>
            <a:off x="523875" y="282892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B76BD0-726E-490E-AFB4-2436EFB1849A}"/>
              </a:ext>
            </a:extLst>
          </p:cNvPr>
          <p:cNvSpPr>
            <a:spLocks noGrp="1"/>
          </p:cNvSpPr>
          <p:nvPr/>
        </p:nvSpPr>
        <p:spPr>
          <a:xfrm>
            <a:off x="3000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4F91DA-5E04-487D-83EC-17D808C6001D}"/>
              </a:ext>
            </a:extLst>
          </p:cNvPr>
          <p:cNvSpPr>
            <a:spLocks noGrp="1"/>
          </p:cNvSpPr>
          <p:nvPr/>
        </p:nvSpPr>
        <p:spPr>
          <a:xfrm>
            <a:off x="3067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C1051A-6201-4C8C-95D8-024B434C7FED}"/>
              </a:ext>
            </a:extLst>
          </p:cNvPr>
          <p:cNvSpPr>
            <a:spLocks noGrp="1"/>
          </p:cNvSpPr>
          <p:nvPr/>
        </p:nvSpPr>
        <p:spPr>
          <a:xfrm>
            <a:off x="4524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FDCB58-458B-4795-BDFD-68465A670568}"/>
              </a:ext>
            </a:extLst>
          </p:cNvPr>
          <p:cNvSpPr>
            <a:spLocks noGrp="1"/>
          </p:cNvSpPr>
          <p:nvPr/>
        </p:nvSpPr>
        <p:spPr>
          <a:xfrm>
            <a:off x="4591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0508D3-2E47-4D2D-BB76-30EF332DBC06}"/>
              </a:ext>
            </a:extLst>
          </p:cNvPr>
          <p:cNvSpPr>
            <a:spLocks noGrp="1"/>
          </p:cNvSpPr>
          <p:nvPr/>
        </p:nvSpPr>
        <p:spPr>
          <a:xfrm>
            <a:off x="6048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ED4F40-4643-4474-9B81-371FF6F8279B}"/>
              </a:ext>
            </a:extLst>
          </p:cNvPr>
          <p:cNvSpPr>
            <a:spLocks noGrp="1"/>
          </p:cNvSpPr>
          <p:nvPr/>
        </p:nvSpPr>
        <p:spPr>
          <a:xfrm>
            <a:off x="6115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C17E43-F8C0-4617-AA1C-A66796D6EA46}"/>
              </a:ext>
            </a:extLst>
          </p:cNvPr>
          <p:cNvSpPr>
            <a:spLocks noGrp="1"/>
          </p:cNvSpPr>
          <p:nvPr/>
        </p:nvSpPr>
        <p:spPr>
          <a:xfrm>
            <a:off x="7572375" y="27051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EDBDB6-9943-400B-935A-DC21B5B45779}"/>
              </a:ext>
            </a:extLst>
          </p:cNvPr>
          <p:cNvSpPr>
            <a:spLocks noGrp="1"/>
          </p:cNvSpPr>
          <p:nvPr/>
        </p:nvSpPr>
        <p:spPr>
          <a:xfrm>
            <a:off x="7639050" y="28289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CD426A-15AE-436B-9977-D70CD9AE4E71}"/>
              </a:ext>
            </a:extLst>
          </p:cNvPr>
          <p:cNvSpPr>
            <a:spLocks noGrp="1"/>
          </p:cNvSpPr>
          <p:nvPr/>
        </p:nvSpPr>
        <p:spPr>
          <a:xfrm>
            <a:off x="9096375" y="270510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248EA1-E14F-462B-A476-8B248911434A}"/>
              </a:ext>
            </a:extLst>
          </p:cNvPr>
          <p:cNvSpPr>
            <a:spLocks noGrp="1"/>
          </p:cNvSpPr>
          <p:nvPr/>
        </p:nvSpPr>
        <p:spPr>
          <a:xfrm>
            <a:off x="9163050" y="282892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Kosten + Refinanzierung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C2BD84-3F4D-41EB-8965-155E93AA7618}"/>
              </a:ext>
            </a:extLst>
          </p:cNvPr>
          <p:cNvSpPr>
            <a:spLocks noGrp="1"/>
          </p:cNvSpPr>
          <p:nvPr/>
        </p:nvSpPr>
        <p:spPr>
          <a:xfrm>
            <a:off x="457200" y="3114675"/>
            <a:ext cx="242887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315B72-EC96-44A0-AB02-7833914B9329}"/>
              </a:ext>
            </a:extLst>
          </p:cNvPr>
          <p:cNvSpPr>
            <a:spLocks noGrp="1"/>
          </p:cNvSpPr>
          <p:nvPr/>
        </p:nvSpPr>
        <p:spPr>
          <a:xfrm>
            <a:off x="523875" y="3238500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AAF8B5-0F29-4C83-8257-47C50E86CEDF}"/>
              </a:ext>
            </a:extLst>
          </p:cNvPr>
          <p:cNvSpPr>
            <a:spLocks noGrp="1"/>
          </p:cNvSpPr>
          <p:nvPr/>
        </p:nvSpPr>
        <p:spPr>
          <a:xfrm>
            <a:off x="3000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9B7D1A-7E23-4FAE-A1F3-A74611B56AFF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+0,60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B6BAD0-A670-46CB-AE7C-679EAAE40439}"/>
              </a:ext>
            </a:extLst>
          </p:cNvPr>
          <p:cNvSpPr>
            <a:spLocks noGrp="1"/>
          </p:cNvSpPr>
          <p:nvPr/>
        </p:nvSpPr>
        <p:spPr>
          <a:xfrm>
            <a:off x="4524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9F2ADE-8B33-46B3-ABD5-D1C8F1BB2D01}"/>
              </a:ext>
            </a:extLst>
          </p:cNvPr>
          <p:cNvSpPr>
            <a:spLocks noGrp="1"/>
          </p:cNvSpPr>
          <p:nvPr/>
        </p:nvSpPr>
        <p:spPr>
          <a:xfrm>
            <a:off x="4591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243285-E1F3-4204-B9FA-D7BB1B354203}"/>
              </a:ext>
            </a:extLst>
          </p:cNvPr>
          <p:cNvSpPr>
            <a:spLocks noGrp="1"/>
          </p:cNvSpPr>
          <p:nvPr/>
        </p:nvSpPr>
        <p:spPr>
          <a:xfrm>
            <a:off x="6048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E1ECED-46F0-49EB-A272-F1F532A9B2B0}"/>
              </a:ext>
            </a:extLst>
          </p:cNvPr>
          <p:cNvSpPr>
            <a:spLocks noGrp="1"/>
          </p:cNvSpPr>
          <p:nvPr/>
        </p:nvSpPr>
        <p:spPr>
          <a:xfrm>
            <a:off x="6115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649ED7-9CC2-43A6-A742-8719896F7D57}"/>
              </a:ext>
            </a:extLst>
          </p:cNvPr>
          <p:cNvSpPr>
            <a:spLocks noGrp="1"/>
          </p:cNvSpPr>
          <p:nvPr/>
        </p:nvSpPr>
        <p:spPr>
          <a:xfrm>
            <a:off x="7572375" y="31146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EC779D-6081-4382-84AB-60576974ACD2}"/>
              </a:ext>
            </a:extLst>
          </p:cNvPr>
          <p:cNvSpPr>
            <a:spLocks noGrp="1"/>
          </p:cNvSpPr>
          <p:nvPr/>
        </p:nvSpPr>
        <p:spPr>
          <a:xfrm>
            <a:off x="7639050" y="32385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A7115D-736A-4804-B88B-B64700D1B923}"/>
              </a:ext>
            </a:extLst>
          </p:cNvPr>
          <p:cNvSpPr>
            <a:spLocks noGrp="1"/>
          </p:cNvSpPr>
          <p:nvPr/>
        </p:nvSpPr>
        <p:spPr>
          <a:xfrm>
            <a:off x="9096375" y="3114675"/>
            <a:ext cx="263842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70EFE4-8594-4F38-917D-D4F29E57868A}"/>
              </a:ext>
            </a:extLst>
          </p:cNvPr>
          <p:cNvSpPr>
            <a:spLocks noGrp="1"/>
          </p:cNvSpPr>
          <p:nvPr/>
        </p:nvSpPr>
        <p:spPr>
          <a:xfrm>
            <a:off x="9163050" y="3238500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rund 2× Corporate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720520-561F-4499-B2AE-738586A1D86C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3BD41C9-256A-4F91-9A13-38F27520EC68}"/>
              </a:ext>
            </a:extLst>
          </p:cNvPr>
          <p:cNvSpPr>
            <a:spLocks noGrp="1"/>
          </p:cNvSpPr>
          <p:nvPr/>
        </p:nvSpPr>
        <p:spPr>
          <a:xfrm>
            <a:off x="523875" y="364807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516FA0-7519-4216-A716-5D6081AE09B8}"/>
              </a:ext>
            </a:extLst>
          </p:cNvPr>
          <p:cNvSpPr>
            <a:spLocks noGrp="1"/>
          </p:cNvSpPr>
          <p:nvPr/>
        </p:nvSpPr>
        <p:spPr>
          <a:xfrm>
            <a:off x="3000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23705F-6787-47C6-818B-4A5EA0BE65DD}"/>
              </a:ext>
            </a:extLst>
          </p:cNvPr>
          <p:cNvSpPr>
            <a:spLocks noGrp="1"/>
          </p:cNvSpPr>
          <p:nvPr/>
        </p:nvSpPr>
        <p:spPr>
          <a:xfrm>
            <a:off x="3067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C84A7D-7300-4B51-AA14-E6DC2B3C849C}"/>
              </a:ext>
            </a:extLst>
          </p:cNvPr>
          <p:cNvSpPr>
            <a:spLocks noGrp="1"/>
          </p:cNvSpPr>
          <p:nvPr/>
        </p:nvSpPr>
        <p:spPr>
          <a:xfrm>
            <a:off x="4524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9A01D2-529D-4E7B-8862-5D6107C03894}"/>
              </a:ext>
            </a:extLst>
          </p:cNvPr>
          <p:cNvSpPr>
            <a:spLocks noGrp="1"/>
          </p:cNvSpPr>
          <p:nvPr/>
        </p:nvSpPr>
        <p:spPr>
          <a:xfrm>
            <a:off x="4591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F3ACB0-AD32-4CE4-969A-4516E3309B26}"/>
              </a:ext>
            </a:extLst>
          </p:cNvPr>
          <p:cNvSpPr>
            <a:spLocks noGrp="1"/>
          </p:cNvSpPr>
          <p:nvPr/>
        </p:nvSpPr>
        <p:spPr>
          <a:xfrm>
            <a:off x="6048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0D1CBC-3B42-4293-AC1F-036B33FBA331}"/>
              </a:ext>
            </a:extLst>
          </p:cNvPr>
          <p:cNvSpPr>
            <a:spLocks noGrp="1"/>
          </p:cNvSpPr>
          <p:nvPr/>
        </p:nvSpPr>
        <p:spPr>
          <a:xfrm>
            <a:off x="6115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FCF169A-8754-4653-A150-750A63D0F53D}"/>
              </a:ext>
            </a:extLst>
          </p:cNvPr>
          <p:cNvSpPr>
            <a:spLocks noGrp="1"/>
          </p:cNvSpPr>
          <p:nvPr/>
        </p:nvSpPr>
        <p:spPr>
          <a:xfrm>
            <a:off x="7572375" y="352425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580FF1-5DDD-4A54-9DCA-A489D6D714BC}"/>
              </a:ext>
            </a:extLst>
          </p:cNvPr>
          <p:cNvSpPr>
            <a:spLocks noGrp="1"/>
          </p:cNvSpPr>
          <p:nvPr/>
        </p:nvSpPr>
        <p:spPr>
          <a:xfrm>
            <a:off x="7639050" y="36480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+1,50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03B1FF-39F5-4C6E-B198-FDDC95960FBF}"/>
              </a:ext>
            </a:extLst>
          </p:cNvPr>
          <p:cNvSpPr>
            <a:spLocks noGrp="1"/>
          </p:cNvSpPr>
          <p:nvPr/>
        </p:nvSpPr>
        <p:spPr>
          <a:xfrm>
            <a:off x="9096375" y="352425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A1BA945-A827-4070-8BB0-D1DE86D8BA4A}"/>
              </a:ext>
            </a:extLst>
          </p:cNvPr>
          <p:cNvSpPr>
            <a:spLocks noGrp="1"/>
          </p:cNvSpPr>
          <p:nvPr/>
        </p:nvSpPr>
        <p:spPr>
          <a:xfrm>
            <a:off x="9163050" y="364807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zins- und collateral-dominiert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09BEA1-A5D0-4530-AF09-5C06E2B7C109}"/>
              </a:ext>
            </a:extLst>
          </p:cNvPr>
          <p:cNvSpPr>
            <a:spLocks noGrp="1"/>
          </p:cNvSpPr>
          <p:nvPr/>
        </p:nvSpPr>
        <p:spPr>
          <a:xfrm>
            <a:off x="457200" y="3933825"/>
            <a:ext cx="242887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79E3473-CEF4-498F-9F3A-D42C8E957877}"/>
              </a:ext>
            </a:extLst>
          </p:cNvPr>
          <p:cNvSpPr>
            <a:spLocks noGrp="1"/>
          </p:cNvSpPr>
          <p:nvPr/>
        </p:nvSpPr>
        <p:spPr>
          <a:xfrm>
            <a:off x="523875" y="4057650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EE014C7-17BE-422C-BC33-213F7D740185}"/>
              </a:ext>
            </a:extLst>
          </p:cNvPr>
          <p:cNvSpPr>
            <a:spLocks noGrp="1"/>
          </p:cNvSpPr>
          <p:nvPr/>
        </p:nvSpPr>
        <p:spPr>
          <a:xfrm>
            <a:off x="3000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B91B778-F082-4862-8BDA-B9BDD6EC5C8F}"/>
              </a:ext>
            </a:extLst>
          </p:cNvPr>
          <p:cNvSpPr>
            <a:spLocks noGrp="1"/>
          </p:cNvSpPr>
          <p:nvPr/>
        </p:nvSpPr>
        <p:spPr>
          <a:xfrm>
            <a:off x="3067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332D3D4-3AC8-4DDB-9367-3D7E6310C173}"/>
              </a:ext>
            </a:extLst>
          </p:cNvPr>
          <p:cNvSpPr>
            <a:spLocks noGrp="1"/>
          </p:cNvSpPr>
          <p:nvPr/>
        </p:nvSpPr>
        <p:spPr>
          <a:xfrm>
            <a:off x="4524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A88C550-2739-4D0F-9E6F-C1C2CB828B8D}"/>
              </a:ext>
            </a:extLst>
          </p:cNvPr>
          <p:cNvSpPr>
            <a:spLocks noGrp="1"/>
          </p:cNvSpPr>
          <p:nvPr/>
        </p:nvSpPr>
        <p:spPr>
          <a:xfrm>
            <a:off x="4591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BCE129-9874-4A44-A8EA-A67AA393719B}"/>
              </a:ext>
            </a:extLst>
          </p:cNvPr>
          <p:cNvSpPr>
            <a:spLocks noGrp="1"/>
          </p:cNvSpPr>
          <p:nvPr/>
        </p:nvSpPr>
        <p:spPr>
          <a:xfrm>
            <a:off x="6048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E477F77-7511-4711-8919-ED27D07BD498}"/>
              </a:ext>
            </a:extLst>
          </p:cNvPr>
          <p:cNvSpPr>
            <a:spLocks noGrp="1"/>
          </p:cNvSpPr>
          <p:nvPr/>
        </p:nvSpPr>
        <p:spPr>
          <a:xfrm>
            <a:off x="6115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28733C-912D-43EE-9B76-397AC44793EF}"/>
              </a:ext>
            </a:extLst>
          </p:cNvPr>
          <p:cNvSpPr>
            <a:spLocks noGrp="1"/>
          </p:cNvSpPr>
          <p:nvPr/>
        </p:nvSpPr>
        <p:spPr>
          <a:xfrm>
            <a:off x="7572375" y="393382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B35DD6-4510-4FEE-9E72-0496F945255D}"/>
              </a:ext>
            </a:extLst>
          </p:cNvPr>
          <p:cNvSpPr>
            <a:spLocks noGrp="1"/>
          </p:cNvSpPr>
          <p:nvPr/>
        </p:nvSpPr>
        <p:spPr>
          <a:xfrm>
            <a:off x="7639050" y="4057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29FC1B-E5C8-4C6F-8B2E-BBE5AA973D15}"/>
              </a:ext>
            </a:extLst>
          </p:cNvPr>
          <p:cNvSpPr>
            <a:spLocks noGrp="1"/>
          </p:cNvSpPr>
          <p:nvPr/>
        </p:nvSpPr>
        <p:spPr>
          <a:xfrm>
            <a:off x="9096375" y="3933825"/>
            <a:ext cx="263842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34705A8-1539-42D2-BD73-79DD2B32D960}"/>
              </a:ext>
            </a:extLst>
          </p:cNvPr>
          <p:cNvSpPr>
            <a:spLocks noGrp="1"/>
          </p:cNvSpPr>
          <p:nvPr/>
        </p:nvSpPr>
        <p:spPr>
          <a:xfrm>
            <a:off x="9163050" y="4057650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Einkommen / Energieinflation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0C1A91-EE27-4D3A-8E32-41140158DBE2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498E04-ED27-441C-A34B-A6124AC599A2}"/>
              </a:ext>
            </a:extLst>
          </p:cNvPr>
          <p:cNvSpPr>
            <a:spLocks noGrp="1"/>
          </p:cNvSpPr>
          <p:nvPr/>
        </p:nvSpPr>
        <p:spPr>
          <a:xfrm>
            <a:off x="523875" y="446722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55B3B1-5129-4B7B-80B2-3875BFB2628A}"/>
              </a:ext>
            </a:extLst>
          </p:cNvPr>
          <p:cNvSpPr>
            <a:spLocks noGrp="1"/>
          </p:cNvSpPr>
          <p:nvPr/>
        </p:nvSpPr>
        <p:spPr>
          <a:xfrm>
            <a:off x="3000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2FA20E-EE9C-408E-9BED-E3CE67DE9781}"/>
              </a:ext>
            </a:extLst>
          </p:cNvPr>
          <p:cNvSpPr>
            <a:spLocks noGrp="1"/>
          </p:cNvSpPr>
          <p:nvPr/>
        </p:nvSpPr>
        <p:spPr>
          <a:xfrm>
            <a:off x="3067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15430C-FC9C-440B-A1BC-7C6357C49149}"/>
              </a:ext>
            </a:extLst>
          </p:cNvPr>
          <p:cNvSpPr>
            <a:spLocks noGrp="1"/>
          </p:cNvSpPr>
          <p:nvPr/>
        </p:nvSpPr>
        <p:spPr>
          <a:xfrm>
            <a:off x="4524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E4A7D1B-139B-4FE5-82C3-3A2FEE6D076D}"/>
              </a:ext>
            </a:extLst>
          </p:cNvPr>
          <p:cNvSpPr>
            <a:spLocks noGrp="1"/>
          </p:cNvSpPr>
          <p:nvPr/>
        </p:nvSpPr>
        <p:spPr>
          <a:xfrm>
            <a:off x="4591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B783299-23F2-4E1E-9786-B3AD968EA71D}"/>
              </a:ext>
            </a:extLst>
          </p:cNvPr>
          <p:cNvSpPr>
            <a:spLocks noGrp="1"/>
          </p:cNvSpPr>
          <p:nvPr/>
        </p:nvSpPr>
        <p:spPr>
          <a:xfrm>
            <a:off x="6048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A5DAD0A-9683-4F1A-B099-610302FF9D71}"/>
              </a:ext>
            </a:extLst>
          </p:cNvPr>
          <p:cNvSpPr>
            <a:spLocks noGrp="1"/>
          </p:cNvSpPr>
          <p:nvPr/>
        </p:nvSpPr>
        <p:spPr>
          <a:xfrm>
            <a:off x="6115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2992F8C-FB76-4FF0-8269-8F6096EC4BCC}"/>
              </a:ext>
            </a:extLst>
          </p:cNvPr>
          <p:cNvSpPr>
            <a:spLocks noGrp="1"/>
          </p:cNvSpPr>
          <p:nvPr/>
        </p:nvSpPr>
        <p:spPr>
          <a:xfrm>
            <a:off x="7572375" y="4343400"/>
            <a:ext cx="1409700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46B108E-2675-4780-906E-4A5342F01AE9}"/>
              </a:ext>
            </a:extLst>
          </p:cNvPr>
          <p:cNvSpPr>
            <a:spLocks noGrp="1"/>
          </p:cNvSpPr>
          <p:nvPr/>
        </p:nvSpPr>
        <p:spPr>
          <a:xfrm>
            <a:off x="7639050" y="446722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+0,80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2CD75C5-870E-4123-970B-913F445DFFBB}"/>
              </a:ext>
            </a:extLst>
          </p:cNvPr>
          <p:cNvSpPr>
            <a:spLocks noGrp="1"/>
          </p:cNvSpPr>
          <p:nvPr/>
        </p:nvSpPr>
        <p:spPr>
          <a:xfrm>
            <a:off x="9096375" y="434340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E053725-5E53-4345-8320-F459DD221106}"/>
              </a:ext>
            </a:extLst>
          </p:cNvPr>
          <p:cNvSpPr>
            <a:spLocks noGrp="1"/>
          </p:cNvSpPr>
          <p:nvPr/>
        </p:nvSpPr>
        <p:spPr>
          <a:xfrm>
            <a:off x="9163050" y="446722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gemischtes Haushaltsprofil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26DC9BB-AAE3-4CE9-9386-B29C3E23403A}"/>
              </a:ext>
            </a:extLst>
          </p:cNvPr>
          <p:cNvSpPr>
            <a:spLocks noGrp="1"/>
          </p:cNvSpPr>
          <p:nvPr/>
        </p:nvSpPr>
        <p:spPr>
          <a:xfrm>
            <a:off x="457200" y="4752975"/>
            <a:ext cx="242887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F0C9017-55F5-422A-AD8B-137217284EF7}"/>
              </a:ext>
            </a:extLst>
          </p:cNvPr>
          <p:cNvSpPr>
            <a:spLocks noGrp="1"/>
          </p:cNvSpPr>
          <p:nvPr/>
        </p:nvSpPr>
        <p:spPr>
          <a:xfrm>
            <a:off x="523875" y="4876800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37B5AC7-4673-44CB-B756-ABC78AFD8E43}"/>
              </a:ext>
            </a:extLst>
          </p:cNvPr>
          <p:cNvSpPr>
            <a:spLocks noGrp="1"/>
          </p:cNvSpPr>
          <p:nvPr/>
        </p:nvSpPr>
        <p:spPr>
          <a:xfrm>
            <a:off x="3000375" y="47529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261CCD9-D905-485A-A4C6-EB4E68299CCC}"/>
              </a:ext>
            </a:extLst>
          </p:cNvPr>
          <p:cNvSpPr>
            <a:spLocks noGrp="1"/>
          </p:cNvSpPr>
          <p:nvPr/>
        </p:nvSpPr>
        <p:spPr>
          <a:xfrm>
            <a:off x="3067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F4FB7D5-F14D-446A-83D6-088DA2FC3C6C}"/>
              </a:ext>
            </a:extLst>
          </p:cNvPr>
          <p:cNvSpPr>
            <a:spLocks noGrp="1"/>
          </p:cNvSpPr>
          <p:nvPr/>
        </p:nvSpPr>
        <p:spPr>
          <a:xfrm>
            <a:off x="4524375" y="4752975"/>
            <a:ext cx="1409700" cy="409575"/>
          </a:xfrm>
          <a:prstGeom prst="rect">
            <a:avLst/>
          </a:prstGeom>
          <a:solidFill>
            <a:srgbClr val="E3F1E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8B14623-4558-4487-B942-D5A9E73DB01F}"/>
              </a:ext>
            </a:extLst>
          </p:cNvPr>
          <p:cNvSpPr>
            <a:spLocks noGrp="1"/>
          </p:cNvSpPr>
          <p:nvPr/>
        </p:nvSpPr>
        <p:spPr>
          <a:xfrm>
            <a:off x="4591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−0,05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04EB0CC-1F04-48E5-8601-37715D40822D}"/>
              </a:ext>
            </a:extLst>
          </p:cNvPr>
          <p:cNvSpPr>
            <a:spLocks noGrp="1"/>
          </p:cNvSpPr>
          <p:nvPr/>
        </p:nvSpPr>
        <p:spPr>
          <a:xfrm>
            <a:off x="6048375" y="47529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55DBE2A-D4E8-4A47-9277-02AD086E0506}"/>
              </a:ext>
            </a:extLst>
          </p:cNvPr>
          <p:cNvSpPr>
            <a:spLocks noGrp="1"/>
          </p:cNvSpPr>
          <p:nvPr/>
        </p:nvSpPr>
        <p:spPr>
          <a:xfrm>
            <a:off x="6115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40D2784-9339-44C0-A6D2-9EFE6A168160}"/>
              </a:ext>
            </a:extLst>
          </p:cNvPr>
          <p:cNvSpPr>
            <a:spLocks noGrp="1"/>
          </p:cNvSpPr>
          <p:nvPr/>
        </p:nvSpPr>
        <p:spPr>
          <a:xfrm>
            <a:off x="7572375" y="4752975"/>
            <a:ext cx="1409700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AC6C7FB-16A9-4589-8494-D9B59DB0B680}"/>
              </a:ext>
            </a:extLst>
          </p:cNvPr>
          <p:cNvSpPr>
            <a:spLocks noGrp="1"/>
          </p:cNvSpPr>
          <p:nvPr/>
        </p:nvSpPr>
        <p:spPr>
          <a:xfrm>
            <a:off x="7639050" y="48768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CC99775-DCA6-4E03-83DD-0D5FF50A9CBF}"/>
              </a:ext>
            </a:extLst>
          </p:cNvPr>
          <p:cNvSpPr>
            <a:spLocks noGrp="1"/>
          </p:cNvSpPr>
          <p:nvPr/>
        </p:nvSpPr>
        <p:spPr>
          <a:xfrm>
            <a:off x="9096375" y="4752975"/>
            <a:ext cx="2638425" cy="409575"/>
          </a:xfrm>
          <a:prstGeom prst="rect">
            <a:avLst/>
          </a:prstGeom>
          <a:solidFill>
            <a:srgbClr val="F8FAFB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4898E6A-8EAC-491F-9713-C59E2DAAE323}"/>
              </a:ext>
            </a:extLst>
          </p:cNvPr>
          <p:cNvSpPr>
            <a:spLocks noGrp="1"/>
          </p:cNvSpPr>
          <p:nvPr/>
        </p:nvSpPr>
        <p:spPr>
          <a:xfrm>
            <a:off x="9163050" y="4876800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NIM-Effekt senkt PD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9629183-6D69-4E2D-AA14-057D9D7165AC}"/>
              </a:ext>
            </a:extLst>
          </p:cNvPr>
          <p:cNvSpPr>
            <a:spLocks noGrp="1"/>
          </p:cNvSpPr>
          <p:nvPr/>
        </p:nvSpPr>
        <p:spPr>
          <a:xfrm>
            <a:off x="457200" y="5162550"/>
            <a:ext cx="242887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8A63B9B-919A-4C7F-A7C4-DFD6E787F2F9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2295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64F4251-4CF4-4901-B8FE-A3CD56E20139}"/>
              </a:ext>
            </a:extLst>
          </p:cNvPr>
          <p:cNvSpPr>
            <a:spLocks noGrp="1"/>
          </p:cNvSpPr>
          <p:nvPr/>
        </p:nvSpPr>
        <p:spPr>
          <a:xfrm>
            <a:off x="3000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521B466-AEB9-496F-8CB1-D9490924AD1A}"/>
              </a:ext>
            </a:extLst>
          </p:cNvPr>
          <p:cNvSpPr>
            <a:spLocks noGrp="1"/>
          </p:cNvSpPr>
          <p:nvPr/>
        </p:nvSpPr>
        <p:spPr>
          <a:xfrm>
            <a:off x="3067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47528ED-1142-4A28-9DCE-8F59493AA39B}"/>
              </a:ext>
            </a:extLst>
          </p:cNvPr>
          <p:cNvSpPr>
            <a:spLocks noGrp="1"/>
          </p:cNvSpPr>
          <p:nvPr/>
        </p:nvSpPr>
        <p:spPr>
          <a:xfrm>
            <a:off x="4524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CBF2A32-2105-401F-80E3-DDF6837C85A1}"/>
              </a:ext>
            </a:extLst>
          </p:cNvPr>
          <p:cNvSpPr>
            <a:spLocks noGrp="1"/>
          </p:cNvSpPr>
          <p:nvPr/>
        </p:nvSpPr>
        <p:spPr>
          <a:xfrm>
            <a:off x="4591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5E74AD6-5EFA-4BC2-8E3E-EAABCA1C05BA}"/>
              </a:ext>
            </a:extLst>
          </p:cNvPr>
          <p:cNvSpPr>
            <a:spLocks noGrp="1"/>
          </p:cNvSpPr>
          <p:nvPr/>
        </p:nvSpPr>
        <p:spPr>
          <a:xfrm>
            <a:off x="6048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16D1E3-7FEB-47DB-8354-13CB01922B89}"/>
              </a:ext>
            </a:extLst>
          </p:cNvPr>
          <p:cNvSpPr>
            <a:spLocks noGrp="1"/>
          </p:cNvSpPr>
          <p:nvPr/>
        </p:nvSpPr>
        <p:spPr>
          <a:xfrm>
            <a:off x="6115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4AD0E59-1DD6-44A5-A263-427700393BA1}"/>
              </a:ext>
            </a:extLst>
          </p:cNvPr>
          <p:cNvSpPr>
            <a:spLocks noGrp="1"/>
          </p:cNvSpPr>
          <p:nvPr/>
        </p:nvSpPr>
        <p:spPr>
          <a:xfrm>
            <a:off x="7572375" y="5162550"/>
            <a:ext cx="1409700" cy="409575"/>
          </a:xfrm>
          <a:prstGeom prst="rect">
            <a:avLst/>
          </a:prstGeom>
          <a:solidFill>
            <a:srgbClr val="F8EED3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1FBA563-80C5-4C43-9A2A-4412AF1F961F}"/>
              </a:ext>
            </a:extLst>
          </p:cNvPr>
          <p:cNvSpPr>
            <a:spLocks noGrp="1"/>
          </p:cNvSpPr>
          <p:nvPr/>
        </p:nvSpPr>
        <p:spPr>
          <a:xfrm>
            <a:off x="7639050" y="52863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15555A0-424D-4241-9A5A-38F377908313}"/>
              </a:ext>
            </a:extLst>
          </p:cNvPr>
          <p:cNvSpPr>
            <a:spLocks noGrp="1"/>
          </p:cNvSpPr>
          <p:nvPr/>
        </p:nvSpPr>
        <p:spPr>
          <a:xfrm>
            <a:off x="9096375" y="5162550"/>
            <a:ext cx="2638425" cy="409575"/>
          </a:xfrm>
          <a:prstGeom prst="rect">
            <a:avLst/>
          </a:prstGeom>
          <a:solidFill>
            <a:srgbClr val="FFFFFF"/>
          </a:solidFill>
          <a:ln w="4763">
            <a:solidFill>
              <a:srgbClr val="D5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F4FA3E3-22CE-4E4F-97FF-A6BACCCCB67A}"/>
              </a:ext>
            </a:extLst>
          </p:cNvPr>
          <p:cNvSpPr>
            <a:spLocks noGrp="1"/>
          </p:cNvSpPr>
          <p:nvPr/>
        </p:nvSpPr>
        <p:spPr>
          <a:xfrm>
            <a:off x="9163050" y="5286375"/>
            <a:ext cx="2505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separater MtM-Kanal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5C48FDD-077D-4EE2-8F42-2F2B2F030F48}"/>
              </a:ext>
            </a:extLst>
          </p:cNvPr>
          <p:cNvSpPr>
            <a:spLocks noGrp="1"/>
          </p:cNvSpPr>
          <p:nvPr/>
        </p:nvSpPr>
        <p:spPr>
          <a:xfrm>
            <a:off x="457200" y="5743575"/>
            <a:ext cx="11277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Lesebeispiel: +0,50 Brent und +2,0 pp Zins ergeben für Corporate ΔPD = +0,55 pp und ΔLGD = +2,25 pp.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02A6F8B-0433-45B7-8223-22CD74E9FF90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EBA §2.4.2 · ECB WP 2897/3112 · ECB FSR · Modellmatrix in two_factor_stress.py</a:t>
            </a:r>
          </a:p>
        </p:txBody>
      </p:sp>
    </p:spTree>
    <p:extLst>
      <p:ext uri="{BB962C8B-B14F-4D97-AF65-F5344CB8AC3E}">
        <p14:creationId xmlns:p14="http://schemas.microsoft.com/office/powerpoint/2010/main" val="55202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494C72A8-057C-4540-AA11-C828EADF2B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247D7A-FB7E-4FBF-84D1-33332BE0A94B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FAKTOR-ANALYSE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168D0-3588-4A96-B356-26E04C331C99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Nur 0,49 % der täglichen Zinsbewegung werden durch Brent erklärt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071D8-57A2-4E52-8E0F-A58001A3799F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empirische Analyse über fünf Jahre bestätigt: Beide Faktoren tragen weitgehend eigenständige Information.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CC3DD-C80B-4927-B050-7E28C19DC224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890162-B789-454A-97F8-4696EAF6C9D3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D0D928-0C24-4411-A766-524C102DE96A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076450" cy="47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0FDA3A-3F52-416F-904D-65E0F28A958E}"/>
              </a:ext>
            </a:extLst>
          </p:cNvPr>
          <p:cNvSpPr>
            <a:spLocks noGrp="1"/>
          </p:cNvSpPr>
          <p:nvPr/>
        </p:nvSpPr>
        <p:spPr>
          <a:xfrm>
            <a:off x="59055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BEOBACHTUNGEN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FEB852-F71B-483F-A5E2-BC1DB5E8744F}"/>
              </a:ext>
            </a:extLst>
          </p:cNvPr>
          <p:cNvSpPr>
            <a:spLocks noGrp="1"/>
          </p:cNvSpPr>
          <p:nvPr/>
        </p:nvSpPr>
        <p:spPr>
          <a:xfrm>
            <a:off x="59055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1.242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67BF54-4180-4F98-AA84-3C9EFFAC17AB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gemeinsame Handelstage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3979C2-B166-4A09-B27E-1FD7665A33F3}"/>
              </a:ext>
            </a:extLst>
          </p:cNvPr>
          <p:cNvSpPr>
            <a:spLocks noGrp="1"/>
          </p:cNvSpPr>
          <p:nvPr/>
        </p:nvSpPr>
        <p:spPr>
          <a:xfrm>
            <a:off x="272415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EC6C1-B415-4D67-B4E6-1FC907E4E72A}"/>
              </a:ext>
            </a:extLst>
          </p:cNvPr>
          <p:cNvSpPr>
            <a:spLocks noGrp="1"/>
          </p:cNvSpPr>
          <p:nvPr/>
        </p:nvSpPr>
        <p:spPr>
          <a:xfrm>
            <a:off x="2724150" y="1428750"/>
            <a:ext cx="2076450" cy="47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11C557-52F0-4DE3-BB65-78E5470C0774}"/>
              </a:ext>
            </a:extLst>
          </p:cNvPr>
          <p:cNvSpPr>
            <a:spLocks noGrp="1"/>
          </p:cNvSpPr>
          <p:nvPr/>
        </p:nvSpPr>
        <p:spPr>
          <a:xfrm>
            <a:off x="285750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PEARSON 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1AA1FD-BC43-4FAE-922B-5EF9652C826A}"/>
              </a:ext>
            </a:extLst>
          </p:cNvPr>
          <p:cNvSpPr>
            <a:spLocks noGrp="1"/>
          </p:cNvSpPr>
          <p:nvPr/>
        </p:nvSpPr>
        <p:spPr>
          <a:xfrm>
            <a:off x="285750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+0,070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441344-9F2E-42F2-96F8-2FEB3EAF9F9E}"/>
              </a:ext>
            </a:extLst>
          </p:cNvPr>
          <p:cNvSpPr>
            <a:spLocks noGrp="1"/>
          </p:cNvSpPr>
          <p:nvPr/>
        </p:nvSpPr>
        <p:spPr>
          <a:xfrm>
            <a:off x="285750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95%-KI +0,014 bis +0,125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FBD646-1318-414B-BFCE-ACF83C6AB060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5D9CAE-77A9-4544-89AD-83D95128B5B6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076450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973D8A-1D40-4BCC-BF52-F576AC768670}"/>
              </a:ext>
            </a:extLst>
          </p:cNvPr>
          <p:cNvSpPr>
            <a:spLocks noGrp="1"/>
          </p:cNvSpPr>
          <p:nvPr/>
        </p:nvSpPr>
        <p:spPr>
          <a:xfrm>
            <a:off x="512445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SPEARMAN 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DFC792-E5E8-4EC9-9D7D-972F189771AC}"/>
              </a:ext>
            </a:extLst>
          </p:cNvPr>
          <p:cNvSpPr>
            <a:spLocks noGrp="1"/>
          </p:cNvSpPr>
          <p:nvPr/>
        </p:nvSpPr>
        <p:spPr>
          <a:xfrm>
            <a:off x="512445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+0,084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90725B-7323-41F6-9A0F-3634FC6229CA}"/>
              </a:ext>
            </a:extLst>
          </p:cNvPr>
          <p:cNvSpPr>
            <a:spLocks noGrp="1"/>
          </p:cNvSpPr>
          <p:nvPr/>
        </p:nvSpPr>
        <p:spPr>
          <a:xfrm>
            <a:off x="512445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robust gegen Ausreißer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9223D6-F2A5-4067-89BD-676E058632B2}"/>
              </a:ext>
            </a:extLst>
          </p:cNvPr>
          <p:cNvSpPr>
            <a:spLocks noGrp="1"/>
          </p:cNvSpPr>
          <p:nvPr/>
        </p:nvSpPr>
        <p:spPr>
          <a:xfrm>
            <a:off x="725805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5C9AE3-A51B-42D6-845C-72438FB74C91}"/>
              </a:ext>
            </a:extLst>
          </p:cNvPr>
          <p:cNvSpPr>
            <a:spLocks noGrp="1"/>
          </p:cNvSpPr>
          <p:nvPr/>
        </p:nvSpPr>
        <p:spPr>
          <a:xfrm>
            <a:off x="7258050" y="1428750"/>
            <a:ext cx="2076450" cy="476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838C8D-2602-464D-B8E1-4778D01F688E}"/>
              </a:ext>
            </a:extLst>
          </p:cNvPr>
          <p:cNvSpPr>
            <a:spLocks noGrp="1"/>
          </p:cNvSpPr>
          <p:nvPr/>
        </p:nvSpPr>
        <p:spPr>
          <a:xfrm>
            <a:off x="739140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β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083FF-F892-4128-8876-323D1B0FCDF4}"/>
              </a:ext>
            </a:extLst>
          </p:cNvPr>
          <p:cNvSpPr>
            <a:spLocks noGrp="1"/>
          </p:cNvSpPr>
          <p:nvPr/>
        </p:nvSpPr>
        <p:spPr>
          <a:xfrm>
            <a:off x="739140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03FB99-3E36-4E34-9FD6-F984630D2E45}"/>
              </a:ext>
            </a:extLst>
          </p:cNvPr>
          <p:cNvSpPr>
            <a:spLocks noGrp="1"/>
          </p:cNvSpPr>
          <p:nvPr/>
        </p:nvSpPr>
        <p:spPr>
          <a:xfrm>
            <a:off x="739140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 = 2,47 · p = 0,014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5365AF9-2185-4611-96B5-FA4EC9EC05B3}"/>
              </a:ext>
            </a:extLst>
          </p:cNvPr>
          <p:cNvSpPr>
            <a:spLocks noGrp="1"/>
          </p:cNvSpPr>
          <p:nvPr/>
        </p:nvSpPr>
        <p:spPr>
          <a:xfrm>
            <a:off x="9525000" y="1428750"/>
            <a:ext cx="20764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13ACCD-9A2D-4D3F-9F83-736EB0DE5ADD}"/>
              </a:ext>
            </a:extLst>
          </p:cNvPr>
          <p:cNvSpPr>
            <a:spLocks noGrp="1"/>
          </p:cNvSpPr>
          <p:nvPr/>
        </p:nvSpPr>
        <p:spPr>
          <a:xfrm>
            <a:off x="9525000" y="1428750"/>
            <a:ext cx="2076450" cy="4762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A36A94-C04A-4EBB-A0B1-FE94171D2A6C}"/>
              </a:ext>
            </a:extLst>
          </p:cNvPr>
          <p:cNvSpPr>
            <a:spLocks noGrp="1"/>
          </p:cNvSpPr>
          <p:nvPr/>
        </p:nvSpPr>
        <p:spPr>
          <a:xfrm>
            <a:off x="9658350" y="15716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R²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696E55-1832-4528-8407-1F601C350876}"/>
              </a:ext>
            </a:extLst>
          </p:cNvPr>
          <p:cNvSpPr>
            <a:spLocks noGrp="1"/>
          </p:cNvSpPr>
          <p:nvPr/>
        </p:nvSpPr>
        <p:spPr>
          <a:xfrm>
            <a:off x="9658350" y="1781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0,49 %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B817D4-1C8B-4D2D-A6ED-8A5CD00F0A47}"/>
              </a:ext>
            </a:extLst>
          </p:cNvPr>
          <p:cNvSpPr>
            <a:spLocks noGrp="1"/>
          </p:cNvSpPr>
          <p:nvPr/>
        </p:nvSpPr>
        <p:spPr>
          <a:xfrm>
            <a:off x="9658350" y="2152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erklärte Varianz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353BFAB-9ECA-414A-8E02-C2833D1A736D}"/>
              </a:ext>
            </a:extLst>
          </p:cNvPr>
          <p:cNvSpPr>
            <a:spLocks noGrp="1"/>
          </p:cNvSpPr>
          <p:nvPr/>
        </p:nvSpPr>
        <p:spPr>
          <a:xfrm>
            <a:off x="457200" y="2686050"/>
            <a:ext cx="7096125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EE962E-4417-4E2C-905D-3B2A8A3A8989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STREUDIAGRAMM · TAGESVERÄNDERUNGEN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9ECFA1-B5D1-4DE5-B16D-351211434D42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5953125" cy="9525"/>
          </a:xfrm>
          <a:prstGeom prst="rect">
            <a:avLst/>
          </a:prstGeom>
          <a:solidFill>
            <a:srgbClr val="B7C5C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A7990D-9CDA-4DFB-A2DE-CA79CF976B98}"/>
              </a:ext>
            </a:extLst>
          </p:cNvPr>
          <p:cNvSpPr>
            <a:spLocks noGrp="1"/>
          </p:cNvSpPr>
          <p:nvPr/>
        </p:nvSpPr>
        <p:spPr>
          <a:xfrm>
            <a:off x="3962400" y="3200400"/>
            <a:ext cx="9525" cy="2095500"/>
          </a:xfrm>
          <a:prstGeom prst="rect">
            <a:avLst/>
          </a:prstGeom>
          <a:solidFill>
            <a:srgbClr val="B7C5C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6CD20A8-15EE-4647-9B0A-52FAFA239D34}"/>
              </a:ext>
            </a:extLst>
          </p:cNvPr>
          <p:cNvSpPr>
            <a:spLocks noGrp="1"/>
          </p:cNvSpPr>
          <p:nvPr/>
        </p:nvSpPr>
        <p:spPr>
          <a:xfrm>
            <a:off x="1362075" y="4114800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C8E5361-618A-46B3-925D-48831084E72C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CC5047-3F20-4843-A3D1-46E37F8F52E4}"/>
              </a:ext>
            </a:extLst>
          </p:cNvPr>
          <p:cNvSpPr>
            <a:spLocks noGrp="1"/>
          </p:cNvSpPr>
          <p:nvPr/>
        </p:nvSpPr>
        <p:spPr>
          <a:xfrm>
            <a:off x="1762125" y="39147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CE81549-E402-4D45-A814-FA1AA66E4491}"/>
              </a:ext>
            </a:extLst>
          </p:cNvPr>
          <p:cNvSpPr>
            <a:spLocks noGrp="1"/>
          </p:cNvSpPr>
          <p:nvPr/>
        </p:nvSpPr>
        <p:spPr>
          <a:xfrm>
            <a:off x="1952625" y="46577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028446-DCDE-4355-8063-24695B734B4E}"/>
              </a:ext>
            </a:extLst>
          </p:cNvPr>
          <p:cNvSpPr>
            <a:spLocks noGrp="1"/>
          </p:cNvSpPr>
          <p:nvPr/>
        </p:nvSpPr>
        <p:spPr>
          <a:xfrm>
            <a:off x="2171700" y="42481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798BF55-37F9-44D1-B014-DED762C8954C}"/>
              </a:ext>
            </a:extLst>
          </p:cNvPr>
          <p:cNvSpPr>
            <a:spLocks noGrp="1"/>
          </p:cNvSpPr>
          <p:nvPr/>
        </p:nvSpPr>
        <p:spPr>
          <a:xfrm>
            <a:off x="2362200" y="43910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2D0EB4-FE80-4FCF-826F-9A7DF0AE75FB}"/>
              </a:ext>
            </a:extLst>
          </p:cNvPr>
          <p:cNvSpPr>
            <a:spLocks noGrp="1"/>
          </p:cNvSpPr>
          <p:nvPr/>
        </p:nvSpPr>
        <p:spPr>
          <a:xfrm>
            <a:off x="2552700" y="37909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A07831C-4317-4CA4-B145-1FC988CA061B}"/>
              </a:ext>
            </a:extLst>
          </p:cNvPr>
          <p:cNvSpPr>
            <a:spLocks noGrp="1"/>
          </p:cNvSpPr>
          <p:nvPr/>
        </p:nvSpPr>
        <p:spPr>
          <a:xfrm>
            <a:off x="2724150" y="458152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D8D3874-4021-455E-BFF9-B012623695C5}"/>
              </a:ext>
            </a:extLst>
          </p:cNvPr>
          <p:cNvSpPr>
            <a:spLocks noGrp="1"/>
          </p:cNvSpPr>
          <p:nvPr/>
        </p:nvSpPr>
        <p:spPr>
          <a:xfrm>
            <a:off x="2924175" y="40100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588253B-2AB1-442C-A88B-E2DA3D5F6947}"/>
              </a:ext>
            </a:extLst>
          </p:cNvPr>
          <p:cNvSpPr>
            <a:spLocks noGrp="1"/>
          </p:cNvSpPr>
          <p:nvPr/>
        </p:nvSpPr>
        <p:spPr>
          <a:xfrm>
            <a:off x="3133725" y="43434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C9DE1E3-C290-41CD-A218-9B40CACF0587}"/>
              </a:ext>
            </a:extLst>
          </p:cNvPr>
          <p:cNvSpPr>
            <a:spLocks noGrp="1"/>
          </p:cNvSpPr>
          <p:nvPr/>
        </p:nvSpPr>
        <p:spPr>
          <a:xfrm>
            <a:off x="3305175" y="48291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BB5D52C-ACEC-4F71-8D1D-9297D509459F}"/>
              </a:ext>
            </a:extLst>
          </p:cNvPr>
          <p:cNvSpPr>
            <a:spLocks noGrp="1"/>
          </p:cNvSpPr>
          <p:nvPr/>
        </p:nvSpPr>
        <p:spPr>
          <a:xfrm>
            <a:off x="3476625" y="41719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AC174E7-C1EA-4AA2-85EB-65E51E4207B1}"/>
              </a:ext>
            </a:extLst>
          </p:cNvPr>
          <p:cNvSpPr>
            <a:spLocks noGrp="1"/>
          </p:cNvSpPr>
          <p:nvPr/>
        </p:nvSpPr>
        <p:spPr>
          <a:xfrm>
            <a:off x="3638550" y="44958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7C099C1-7F0D-47DC-B051-6955BBC3D122}"/>
              </a:ext>
            </a:extLst>
          </p:cNvPr>
          <p:cNvSpPr>
            <a:spLocks noGrp="1"/>
          </p:cNvSpPr>
          <p:nvPr/>
        </p:nvSpPr>
        <p:spPr>
          <a:xfrm>
            <a:off x="3819525" y="38576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6D954E6-3A64-4351-8374-75F9AF2544AB}"/>
              </a:ext>
            </a:extLst>
          </p:cNvPr>
          <p:cNvSpPr>
            <a:spLocks noGrp="1"/>
          </p:cNvSpPr>
          <p:nvPr/>
        </p:nvSpPr>
        <p:spPr>
          <a:xfrm>
            <a:off x="4038600" y="469582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DD1CD69-A84F-41D1-A3C3-5CB1C8C371D4}"/>
              </a:ext>
            </a:extLst>
          </p:cNvPr>
          <p:cNvSpPr>
            <a:spLocks noGrp="1"/>
          </p:cNvSpPr>
          <p:nvPr/>
        </p:nvSpPr>
        <p:spPr>
          <a:xfrm>
            <a:off x="4200525" y="41433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5958049-CA15-47C2-AB2F-F73CCB847AE1}"/>
              </a:ext>
            </a:extLst>
          </p:cNvPr>
          <p:cNvSpPr>
            <a:spLocks noGrp="1"/>
          </p:cNvSpPr>
          <p:nvPr/>
        </p:nvSpPr>
        <p:spPr>
          <a:xfrm>
            <a:off x="4381500" y="44386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E22B2E4-8BC3-4005-BA0B-E9B5CC325FDB}"/>
              </a:ext>
            </a:extLst>
          </p:cNvPr>
          <p:cNvSpPr>
            <a:spLocks noGrp="1"/>
          </p:cNvSpPr>
          <p:nvPr/>
        </p:nvSpPr>
        <p:spPr>
          <a:xfrm>
            <a:off x="4552950" y="39338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FBFB725-F45F-498B-8F44-2E2BA7372FD1}"/>
              </a:ext>
            </a:extLst>
          </p:cNvPr>
          <p:cNvSpPr>
            <a:spLocks noGrp="1"/>
          </p:cNvSpPr>
          <p:nvPr/>
        </p:nvSpPr>
        <p:spPr>
          <a:xfrm>
            <a:off x="4743450" y="46291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2DA561B-79DD-4759-8303-3058D3E0CFE4}"/>
              </a:ext>
            </a:extLst>
          </p:cNvPr>
          <p:cNvSpPr>
            <a:spLocks noGrp="1"/>
          </p:cNvSpPr>
          <p:nvPr/>
        </p:nvSpPr>
        <p:spPr>
          <a:xfrm>
            <a:off x="4914900" y="42767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48B7C3B-F35A-44C9-902F-128F71625900}"/>
              </a:ext>
            </a:extLst>
          </p:cNvPr>
          <p:cNvSpPr>
            <a:spLocks noGrp="1"/>
          </p:cNvSpPr>
          <p:nvPr/>
        </p:nvSpPr>
        <p:spPr>
          <a:xfrm>
            <a:off x="5105400" y="40481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E8E90D-7614-41A1-922A-D06477F7675C}"/>
              </a:ext>
            </a:extLst>
          </p:cNvPr>
          <p:cNvSpPr>
            <a:spLocks noGrp="1"/>
          </p:cNvSpPr>
          <p:nvPr/>
        </p:nvSpPr>
        <p:spPr>
          <a:xfrm>
            <a:off x="5267325" y="454342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D04140-96EF-4A4C-AB53-6BF0FAB6A1A2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31CBFD8-EBE1-47D0-B09D-13539704B89F}"/>
              </a:ext>
            </a:extLst>
          </p:cNvPr>
          <p:cNvSpPr>
            <a:spLocks noGrp="1"/>
          </p:cNvSpPr>
          <p:nvPr/>
        </p:nvSpPr>
        <p:spPr>
          <a:xfrm>
            <a:off x="5619750" y="43719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D2D02CF-37ED-4894-969E-0ABAAC30B51F}"/>
              </a:ext>
            </a:extLst>
          </p:cNvPr>
          <p:cNvSpPr>
            <a:spLocks noGrp="1"/>
          </p:cNvSpPr>
          <p:nvPr/>
        </p:nvSpPr>
        <p:spPr>
          <a:xfrm>
            <a:off x="5810250" y="46863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CB93657-D83C-4EA8-868E-01E6898653CA}"/>
              </a:ext>
            </a:extLst>
          </p:cNvPr>
          <p:cNvSpPr>
            <a:spLocks noGrp="1"/>
          </p:cNvSpPr>
          <p:nvPr/>
        </p:nvSpPr>
        <p:spPr>
          <a:xfrm>
            <a:off x="5991225" y="41052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C90EB86-A868-48B8-9BAA-4029FB59508B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593F1C9-ABF6-4BE7-96E8-DED530EE383A}"/>
              </a:ext>
            </a:extLst>
          </p:cNvPr>
          <p:cNvSpPr>
            <a:spLocks noGrp="1"/>
          </p:cNvSpPr>
          <p:nvPr/>
        </p:nvSpPr>
        <p:spPr>
          <a:xfrm>
            <a:off x="6419850" y="39719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595EE8A-1B85-4D57-8EDC-C7176C959FBE}"/>
              </a:ext>
            </a:extLst>
          </p:cNvPr>
          <p:cNvSpPr>
            <a:spLocks noGrp="1"/>
          </p:cNvSpPr>
          <p:nvPr/>
        </p:nvSpPr>
        <p:spPr>
          <a:xfrm>
            <a:off x="6648450" y="4295775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589E9FC-8513-4696-9F5F-2B3081E573C9}"/>
              </a:ext>
            </a:extLst>
          </p:cNvPr>
          <p:cNvSpPr>
            <a:spLocks noGrp="1"/>
          </p:cNvSpPr>
          <p:nvPr/>
        </p:nvSpPr>
        <p:spPr>
          <a:xfrm>
            <a:off x="2105025" y="49530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259D7DC-93D0-4AE0-80BA-075980A8BB7A}"/>
              </a:ext>
            </a:extLst>
          </p:cNvPr>
          <p:cNvSpPr>
            <a:spLocks noGrp="1"/>
          </p:cNvSpPr>
          <p:nvPr/>
        </p:nvSpPr>
        <p:spPr>
          <a:xfrm>
            <a:off x="3048000" y="36195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F24A5F2-4065-417E-83E7-72611B268B0E}"/>
              </a:ext>
            </a:extLst>
          </p:cNvPr>
          <p:cNvSpPr>
            <a:spLocks noGrp="1"/>
          </p:cNvSpPr>
          <p:nvPr/>
        </p:nvSpPr>
        <p:spPr>
          <a:xfrm>
            <a:off x="4905375" y="50196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62A61E5-05DD-428D-B33D-691023F65023}"/>
              </a:ext>
            </a:extLst>
          </p:cNvPr>
          <p:cNvSpPr>
            <a:spLocks noGrp="1"/>
          </p:cNvSpPr>
          <p:nvPr/>
        </p:nvSpPr>
        <p:spPr>
          <a:xfrm>
            <a:off x="5905500" y="35242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E996007-B68E-46B2-9244-FD967BBE16A4}"/>
              </a:ext>
            </a:extLst>
          </p:cNvPr>
          <p:cNvSpPr>
            <a:spLocks noGrp="1"/>
          </p:cNvSpPr>
          <p:nvPr/>
        </p:nvSpPr>
        <p:spPr>
          <a:xfrm>
            <a:off x="1628775" y="372427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EE3C857-AF9B-4FCC-ACE4-0F71F8A32866}"/>
              </a:ext>
            </a:extLst>
          </p:cNvPr>
          <p:cNvSpPr>
            <a:spLocks noGrp="1"/>
          </p:cNvSpPr>
          <p:nvPr/>
        </p:nvSpPr>
        <p:spPr>
          <a:xfrm>
            <a:off x="6572250" y="4810125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162DEE8-9B68-47D8-B63D-06B00A930AB8}"/>
              </a:ext>
            </a:extLst>
          </p:cNvPr>
          <p:cNvSpPr>
            <a:spLocks noGrp="1"/>
          </p:cNvSpPr>
          <p:nvPr/>
        </p:nvSpPr>
        <p:spPr>
          <a:xfrm>
            <a:off x="4333875" y="3600450"/>
            <a:ext cx="66675" cy="66675"/>
          </a:xfrm>
          <a:prstGeom prst="ellipse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F4CA323-E441-4DCC-B401-7611E697FB4E}"/>
              </a:ext>
            </a:extLst>
          </p:cNvPr>
          <p:cNvSpPr>
            <a:spLocks noGrp="1"/>
          </p:cNvSpPr>
          <p:nvPr/>
        </p:nvSpPr>
        <p:spPr>
          <a:xfrm>
            <a:off x="3571875" y="499110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E55D889-CA95-4A0B-9826-C95ECE9F87C6}"/>
              </a:ext>
            </a:extLst>
          </p:cNvPr>
          <p:cNvSpPr>
            <a:spLocks noGrp="1"/>
          </p:cNvSpPr>
          <p:nvPr/>
        </p:nvSpPr>
        <p:spPr>
          <a:xfrm>
            <a:off x="2619375" y="48577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F88EEB4-6841-44AA-8EA8-8EA81E6B84F2}"/>
              </a:ext>
            </a:extLst>
          </p:cNvPr>
          <p:cNvSpPr>
            <a:spLocks noGrp="1"/>
          </p:cNvSpPr>
          <p:nvPr/>
        </p:nvSpPr>
        <p:spPr>
          <a:xfrm>
            <a:off x="5334000" y="48958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9BBFAC1-7296-4163-8B51-BD901C111A19}"/>
              </a:ext>
            </a:extLst>
          </p:cNvPr>
          <p:cNvSpPr>
            <a:spLocks noGrp="1"/>
          </p:cNvSpPr>
          <p:nvPr/>
        </p:nvSpPr>
        <p:spPr>
          <a:xfrm>
            <a:off x="3190875" y="3829050"/>
            <a:ext cx="66675" cy="66675"/>
          </a:xfrm>
          <a:prstGeom prst="ellipse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DAA98EB-9F5C-474A-803E-C486E683DE65}"/>
              </a:ext>
            </a:extLst>
          </p:cNvPr>
          <p:cNvSpPr>
            <a:spLocks noGrp="1"/>
          </p:cNvSpPr>
          <p:nvPr/>
        </p:nvSpPr>
        <p:spPr>
          <a:xfrm>
            <a:off x="1000125" y="4257675"/>
            <a:ext cx="5953125" cy="2857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859219C-2F9D-4D04-84A8-24B498F01309}"/>
              </a:ext>
            </a:extLst>
          </p:cNvPr>
          <p:cNvSpPr>
            <a:spLocks noGrp="1"/>
          </p:cNvSpPr>
          <p:nvPr/>
        </p:nvSpPr>
        <p:spPr>
          <a:xfrm>
            <a:off x="2762250" y="5353050"/>
            <a:ext cx="257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 · täglicher Log-Return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C4D47F-7A79-4CBA-A0A5-6F314432C73D}"/>
              </a:ext>
            </a:extLst>
          </p:cNvPr>
          <p:cNvSpPr>
            <a:spLocks noGrp="1"/>
          </p:cNvSpPr>
          <p:nvPr/>
        </p:nvSpPr>
        <p:spPr>
          <a:xfrm>
            <a:off x="581025" y="40005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5FEA55F-5822-45E3-93D1-F5B95E8FABE1}"/>
              </a:ext>
            </a:extLst>
          </p:cNvPr>
          <p:cNvSpPr>
            <a:spLocks noGrp="1"/>
          </p:cNvSpPr>
          <p:nvPr/>
        </p:nvSpPr>
        <p:spPr>
          <a:xfrm>
            <a:off x="5019675" y="3009900"/>
            <a:ext cx="1714500" cy="219075"/>
          </a:xfrm>
          <a:prstGeom prst="roundRect">
            <a:avLst>
              <a:gd name="adj" fmla="val 50000"/>
            </a:avLst>
          </a:prstGeom>
          <a:solidFill>
            <a:srgbClr val="F5E5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5F00772-07CA-4E05-9CC7-F53F71CCC947}"/>
              </a:ext>
            </a:extLst>
          </p:cNvPr>
          <p:cNvSpPr>
            <a:spLocks noGrp="1"/>
          </p:cNvSpPr>
          <p:nvPr/>
        </p:nvSpPr>
        <p:spPr>
          <a:xfrm>
            <a:off x="5057775" y="3048000"/>
            <a:ext cx="16383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nahezu flache OLS-Linie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39D4897-599A-49A4-B12E-83603B32AA10}"/>
              </a:ext>
            </a:extLst>
          </p:cNvPr>
          <p:cNvSpPr>
            <a:spLocks noGrp="1"/>
          </p:cNvSpPr>
          <p:nvPr/>
        </p:nvSpPr>
        <p:spPr>
          <a:xfrm>
            <a:off x="7858125" y="2686050"/>
            <a:ext cx="3876675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515924B-D398-4288-B228-87EBA1FD255D}"/>
              </a:ext>
            </a:extLst>
          </p:cNvPr>
          <p:cNvSpPr>
            <a:spLocks noGrp="1"/>
          </p:cNvSpPr>
          <p:nvPr/>
        </p:nvSpPr>
        <p:spPr>
          <a:xfrm>
            <a:off x="7858125" y="2686050"/>
            <a:ext cx="57150" cy="2952750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231BD06-A593-48B3-AF08-510FE72E08A0}"/>
              </a:ext>
            </a:extLst>
          </p:cNvPr>
          <p:cNvSpPr>
            <a:spLocks noGrp="1"/>
          </p:cNvSpPr>
          <p:nvPr/>
        </p:nvSpPr>
        <p:spPr>
          <a:xfrm>
            <a:off x="8010525" y="2809875"/>
            <a:ext cx="552450" cy="219075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78C84E8-49BF-4059-8258-99B38370F2D3}"/>
              </a:ext>
            </a:extLst>
          </p:cNvPr>
          <p:cNvSpPr>
            <a:spLocks noGrp="1"/>
          </p:cNvSpPr>
          <p:nvPr/>
        </p:nvSpPr>
        <p:spPr>
          <a:xfrm>
            <a:off x="8048625" y="2847975"/>
            <a:ext cx="476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7D0B271-A7BB-4BA5-B8BD-B0A7EC0F64E7}"/>
              </a:ext>
            </a:extLst>
          </p:cNvPr>
          <p:cNvSpPr>
            <a:spLocks noGrp="1"/>
          </p:cNvSpPr>
          <p:nvPr/>
        </p:nvSpPr>
        <p:spPr>
          <a:xfrm>
            <a:off x="8020050" y="3133725"/>
            <a:ext cx="355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Empirisches Urteil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E77D85D-F852-489B-A0BC-7DD4130082B5}"/>
              </a:ext>
            </a:extLst>
          </p:cNvPr>
          <p:cNvSpPr>
            <a:spLocks noGrp="1"/>
          </p:cNvSpPr>
          <p:nvPr/>
        </p:nvSpPr>
        <p:spPr>
          <a:xfrm>
            <a:off x="8020050" y="3457575"/>
            <a:ext cx="35528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Korrelation ist statistisch messbar, aber ökonomisch sehr klein.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R² = 0,0049 bedeutet: 99,51 % der täglichen Zinsvarianz bleiben durch Brent unerklärt.</a:t>
            </a:r>
          </a:p>
          <a:p>
            <a:endParaRPr sz="1050" b="0" i="0">
              <a:solidFill>
                <a:srgbClr val="4F687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Konsequenz</a:t>
            </a:r>
          </a:p>
          <a:p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Eine Aggregation würde Information vernichten und potenziell unterschiedliche sektorale Wirkungen verdecken.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B6D0B6-9518-441D-A68D-81719E8BAFBF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Daten: ICE Brent + Deutsche Bundesbank Svensson · 22.04.2021–22.04.2026 · lokaler Modell-Cache</a:t>
            </a:r>
          </a:p>
        </p:txBody>
      </p:sp>
    </p:spTree>
    <p:extLst>
      <p:ext uri="{BB962C8B-B14F-4D97-AF65-F5344CB8AC3E}">
        <p14:creationId xmlns:p14="http://schemas.microsoft.com/office/powerpoint/2010/main" val="127033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881DF8A-6548-45CC-AF6B-56D1C1C35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8E326-FAC7-4CDA-816C-1EA734D2470A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STABILITÄT DER FAKTORBEZIEHUNG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BC4C2F-627F-484F-AE32-451084E61075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Die Faktorbeziehung schwankt – strukturell bleibt die Korrelation niedrig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BF2BED-0932-4CD2-9DCC-480D27466E17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 explizites Zwei-Faktor-Modell kann temporäre Gleichläufe abbilden, ohne eine dauerhafte Abhängigkeit zu unterstellen.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25DB8-6F2D-4FCF-B605-AB7A0B496C3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BEAC2E-AF1A-4B69-8AC3-051268EE98A1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7286625" cy="4210050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E66FED-9BF6-449A-9FB1-3E7704AC8946}"/>
              </a:ext>
            </a:extLst>
          </p:cNvPr>
          <p:cNvSpPr>
            <a:spLocks noGrp="1"/>
          </p:cNvSpPr>
          <p:nvPr/>
        </p:nvSpPr>
        <p:spPr>
          <a:xfrm>
            <a:off x="657225" y="1628775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PEARSON-KORRELATION PRO KALENDERJAHR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AF3D16-11BC-447F-B0FB-FEF6133C0FB3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6096000" cy="9525"/>
          </a:xfrm>
          <a:prstGeom prst="rect">
            <a:avLst/>
          </a:prstGeom>
          <a:solidFill>
            <a:srgbClr val="AFC0C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62693E-D3FB-4390-8164-828A030792FC}"/>
              </a:ext>
            </a:extLst>
          </p:cNvPr>
          <p:cNvSpPr>
            <a:spLocks noGrp="1"/>
          </p:cNvSpPr>
          <p:nvPr/>
        </p:nvSpPr>
        <p:spPr>
          <a:xfrm>
            <a:off x="1238250" y="3528536"/>
            <a:ext cx="514350" cy="910114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8281D4-F26C-4F6D-8183-F3350CCD1BDE}"/>
              </a:ext>
            </a:extLst>
          </p:cNvPr>
          <p:cNvSpPr>
            <a:spLocks noGrp="1"/>
          </p:cNvSpPr>
          <p:nvPr/>
        </p:nvSpPr>
        <p:spPr>
          <a:xfrm>
            <a:off x="1152525" y="3299936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+0,182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EF223-0035-4DCE-8A8C-9E80EBD1567F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6E084-B418-47EC-B20C-7F39C489F159}"/>
              </a:ext>
            </a:extLst>
          </p:cNvPr>
          <p:cNvSpPr>
            <a:spLocks noGrp="1"/>
          </p:cNvSpPr>
          <p:nvPr/>
        </p:nvSpPr>
        <p:spPr>
          <a:xfrm>
            <a:off x="2190750" y="4438650"/>
            <a:ext cx="514350" cy="305038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47A44-C840-41D0-8E2C-396706A4329A}"/>
              </a:ext>
            </a:extLst>
          </p:cNvPr>
          <p:cNvSpPr>
            <a:spLocks noGrp="1"/>
          </p:cNvSpPr>
          <p:nvPr/>
        </p:nvSpPr>
        <p:spPr>
          <a:xfrm>
            <a:off x="2105025" y="4800838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-0,061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317BA8-E1D6-4224-9D92-98566964807A}"/>
              </a:ext>
            </a:extLst>
          </p:cNvPr>
          <p:cNvSpPr>
            <a:spLocks noGrp="1"/>
          </p:cNvSpPr>
          <p:nvPr/>
        </p:nvSpPr>
        <p:spPr>
          <a:xfrm>
            <a:off x="21526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8A38B5-AFDF-4826-B494-54712B06A234}"/>
              </a:ext>
            </a:extLst>
          </p:cNvPr>
          <p:cNvSpPr>
            <a:spLocks noGrp="1"/>
          </p:cNvSpPr>
          <p:nvPr/>
        </p:nvSpPr>
        <p:spPr>
          <a:xfrm>
            <a:off x="3143250" y="3943588"/>
            <a:ext cx="514350" cy="495062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54B3DD-CE0F-42C6-8DDC-75A911CF77CA}"/>
              </a:ext>
            </a:extLst>
          </p:cNvPr>
          <p:cNvSpPr>
            <a:spLocks noGrp="1"/>
          </p:cNvSpPr>
          <p:nvPr/>
        </p:nvSpPr>
        <p:spPr>
          <a:xfrm>
            <a:off x="3057525" y="3714988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+0,099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DCB2E9-F3BB-4A8E-BDE0-C75E5ACF4F2E}"/>
              </a:ext>
            </a:extLst>
          </p:cNvPr>
          <p:cNvSpPr>
            <a:spLocks noGrp="1"/>
          </p:cNvSpPr>
          <p:nvPr/>
        </p:nvSpPr>
        <p:spPr>
          <a:xfrm>
            <a:off x="31051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60C605-C27A-4128-BDCE-76FCA148F7A3}"/>
              </a:ext>
            </a:extLst>
          </p:cNvPr>
          <p:cNvSpPr>
            <a:spLocks noGrp="1"/>
          </p:cNvSpPr>
          <p:nvPr/>
        </p:nvSpPr>
        <p:spPr>
          <a:xfrm>
            <a:off x="4095750" y="3463528"/>
            <a:ext cx="514350" cy="975122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FD36F3-E82F-4554-91B1-7D77C5C09D70}"/>
              </a:ext>
            </a:extLst>
          </p:cNvPr>
          <p:cNvSpPr>
            <a:spLocks noGrp="1"/>
          </p:cNvSpPr>
          <p:nvPr/>
        </p:nvSpPr>
        <p:spPr>
          <a:xfrm>
            <a:off x="4010025" y="3234928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+0,195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192916-4998-4DBF-B3CF-7CD4FA5FA389}"/>
              </a:ext>
            </a:extLst>
          </p:cNvPr>
          <p:cNvSpPr>
            <a:spLocks noGrp="1"/>
          </p:cNvSpPr>
          <p:nvPr/>
        </p:nvSpPr>
        <p:spPr>
          <a:xfrm>
            <a:off x="40576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CA9F54-52F0-41B0-82B5-AC180AB43617}"/>
              </a:ext>
            </a:extLst>
          </p:cNvPr>
          <p:cNvSpPr>
            <a:spLocks noGrp="1"/>
          </p:cNvSpPr>
          <p:nvPr/>
        </p:nvSpPr>
        <p:spPr>
          <a:xfrm>
            <a:off x="5048250" y="4208621"/>
            <a:ext cx="514350" cy="230029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2CDEBE-DD1C-43FB-992E-3112E3455A7F}"/>
              </a:ext>
            </a:extLst>
          </p:cNvPr>
          <p:cNvSpPr>
            <a:spLocks noGrp="1"/>
          </p:cNvSpPr>
          <p:nvPr/>
        </p:nvSpPr>
        <p:spPr>
          <a:xfrm>
            <a:off x="4962525" y="3980021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+0,046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0A8244-10C4-41AE-BF83-F3C6279ECA55}"/>
              </a:ext>
            </a:extLst>
          </p:cNvPr>
          <p:cNvSpPr>
            <a:spLocks noGrp="1"/>
          </p:cNvSpPr>
          <p:nvPr/>
        </p:nvSpPr>
        <p:spPr>
          <a:xfrm>
            <a:off x="50101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504632-DF32-486C-8ACA-A101C6A24DAD}"/>
              </a:ext>
            </a:extLst>
          </p:cNvPr>
          <p:cNvSpPr>
            <a:spLocks noGrp="1"/>
          </p:cNvSpPr>
          <p:nvPr/>
        </p:nvSpPr>
        <p:spPr>
          <a:xfrm>
            <a:off x="6000750" y="2628424"/>
            <a:ext cx="514350" cy="1810226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E8C1B7-7A9D-4986-A54F-1083805D2950}"/>
              </a:ext>
            </a:extLst>
          </p:cNvPr>
          <p:cNvSpPr>
            <a:spLocks noGrp="1"/>
          </p:cNvSpPr>
          <p:nvPr/>
        </p:nvSpPr>
        <p:spPr>
          <a:xfrm>
            <a:off x="5915025" y="2399824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+0,362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A84D35-EDF3-4A02-BDC8-175AA2A3291A}"/>
              </a:ext>
            </a:extLst>
          </p:cNvPr>
          <p:cNvSpPr>
            <a:spLocks noGrp="1"/>
          </p:cNvSpPr>
          <p:nvPr/>
        </p:nvSpPr>
        <p:spPr>
          <a:xfrm>
            <a:off x="5962650" y="5162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2026*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221551-F3D4-4C57-AB1F-5383353B539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6572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1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* 2026 ist ein Teilsample bis 22. April und daher nicht direkt mit Volljahren vergleichbar.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298430F-F85F-4719-B2CB-6B7200E80511}"/>
              </a:ext>
            </a:extLst>
          </p:cNvPr>
          <p:cNvSpPr>
            <a:spLocks noGrp="1"/>
          </p:cNvSpPr>
          <p:nvPr/>
        </p:nvSpPr>
        <p:spPr>
          <a:xfrm>
            <a:off x="8048625" y="1438275"/>
            <a:ext cx="36861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51A887-EB8C-4404-8DEF-C1DCEC3EC77B}"/>
              </a:ext>
            </a:extLst>
          </p:cNvPr>
          <p:cNvSpPr>
            <a:spLocks noGrp="1"/>
          </p:cNvSpPr>
          <p:nvPr/>
        </p:nvSpPr>
        <p:spPr>
          <a:xfrm>
            <a:off x="8048625" y="1438275"/>
            <a:ext cx="3686175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AD4015-2F53-4F6F-893C-37EBEE65F639}"/>
              </a:ext>
            </a:extLst>
          </p:cNvPr>
          <p:cNvSpPr>
            <a:spLocks noGrp="1"/>
          </p:cNvSpPr>
          <p:nvPr/>
        </p:nvSpPr>
        <p:spPr>
          <a:xfrm>
            <a:off x="8181975" y="1581150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 252 TAGE · SPANNWEITE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1F8A39-57A6-40BC-B630-28F000A951BC}"/>
              </a:ext>
            </a:extLst>
          </p:cNvPr>
          <p:cNvSpPr>
            <a:spLocks noGrp="1"/>
          </p:cNvSpPr>
          <p:nvPr/>
        </p:nvSpPr>
        <p:spPr>
          <a:xfrm>
            <a:off x="8181975" y="1790700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−0,175 bis +0,235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434CA3-2FF0-4668-BAD5-B576785F5CB3}"/>
              </a:ext>
            </a:extLst>
          </p:cNvPr>
          <p:cNvSpPr>
            <a:spLocks noGrp="1"/>
          </p:cNvSpPr>
          <p:nvPr/>
        </p:nvSpPr>
        <p:spPr>
          <a:xfrm>
            <a:off x="8181975" y="2162175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temporäre negative und positive Regime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86C8688-51F1-46B5-892C-4E7CC286AFB5}"/>
              </a:ext>
            </a:extLst>
          </p:cNvPr>
          <p:cNvSpPr>
            <a:spLocks noGrp="1"/>
          </p:cNvSpPr>
          <p:nvPr/>
        </p:nvSpPr>
        <p:spPr>
          <a:xfrm>
            <a:off x="8048625" y="2733675"/>
            <a:ext cx="36861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E4A0D2-19AB-4020-8EF4-16D53EB7E9A2}"/>
              </a:ext>
            </a:extLst>
          </p:cNvPr>
          <p:cNvSpPr>
            <a:spLocks noGrp="1"/>
          </p:cNvSpPr>
          <p:nvPr/>
        </p:nvSpPr>
        <p:spPr>
          <a:xfrm>
            <a:off x="8048625" y="2733675"/>
            <a:ext cx="3686175" cy="47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0EBD41-C867-46DD-A81B-F9B8F4B55D2D}"/>
              </a:ext>
            </a:extLst>
          </p:cNvPr>
          <p:cNvSpPr>
            <a:spLocks noGrp="1"/>
          </p:cNvSpPr>
          <p:nvPr/>
        </p:nvSpPr>
        <p:spPr>
          <a:xfrm>
            <a:off x="8181975" y="2876550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ROLLING-MITTEL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65C616-DFA1-4448-885C-9169BA4E5E5F}"/>
              </a:ext>
            </a:extLst>
          </p:cNvPr>
          <p:cNvSpPr>
            <a:spLocks noGrp="1"/>
          </p:cNvSpPr>
          <p:nvPr/>
        </p:nvSpPr>
        <p:spPr>
          <a:xfrm>
            <a:off x="8181975" y="3086100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+0,065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81295B-699B-4C57-9A34-E7D2BF179668}"/>
              </a:ext>
            </a:extLst>
          </p:cNvPr>
          <p:cNvSpPr>
            <a:spLocks noGrp="1"/>
          </p:cNvSpPr>
          <p:nvPr/>
        </p:nvSpPr>
        <p:spPr>
          <a:xfrm>
            <a:off x="8181975" y="3457575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nahe am Full-Sample-Wert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DB76FB3-7C43-445F-A7AB-0A32C93E74D7}"/>
              </a:ext>
            </a:extLst>
          </p:cNvPr>
          <p:cNvSpPr>
            <a:spLocks noGrp="1"/>
          </p:cNvSpPr>
          <p:nvPr/>
        </p:nvSpPr>
        <p:spPr>
          <a:xfrm>
            <a:off x="8048625" y="4029075"/>
            <a:ext cx="3686175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C14C51-EFFC-48DD-9D88-0DB253B68857}"/>
              </a:ext>
            </a:extLst>
          </p:cNvPr>
          <p:cNvSpPr>
            <a:spLocks noGrp="1"/>
          </p:cNvSpPr>
          <p:nvPr/>
        </p:nvSpPr>
        <p:spPr>
          <a:xfrm>
            <a:off x="8048625" y="4029075"/>
            <a:ext cx="3686175" cy="4762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B88B4E-35C4-46D4-8FD2-DB30E80202DC}"/>
              </a:ext>
            </a:extLst>
          </p:cNvPr>
          <p:cNvSpPr>
            <a:spLocks noGrp="1"/>
          </p:cNvSpPr>
          <p:nvPr/>
        </p:nvSpPr>
        <p:spPr>
          <a:xfrm>
            <a:off x="8181975" y="4171950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LETZTER CACHE-WERT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C1C58A-4D12-4532-AEE4-58C26BDFF1CF}"/>
              </a:ext>
            </a:extLst>
          </p:cNvPr>
          <p:cNvSpPr>
            <a:spLocks noGrp="1"/>
          </p:cNvSpPr>
          <p:nvPr/>
        </p:nvSpPr>
        <p:spPr>
          <a:xfrm>
            <a:off x="8181975" y="4381500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+0,198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487AB6A-A46B-4AE8-BBCC-2DA56E38199A}"/>
              </a:ext>
            </a:extLst>
          </p:cNvPr>
          <p:cNvSpPr>
            <a:spLocks noGrp="1"/>
          </p:cNvSpPr>
          <p:nvPr/>
        </p:nvSpPr>
        <p:spPr>
          <a:xfrm>
            <a:off x="8181975" y="4752975"/>
            <a:ext cx="3419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22. April 2026 · erhöht, aber moderat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FFB14A3-12D9-4493-B02F-41084F38267D}"/>
              </a:ext>
            </a:extLst>
          </p:cNvPr>
          <p:cNvSpPr>
            <a:spLocks noGrp="1"/>
          </p:cNvSpPr>
          <p:nvPr/>
        </p:nvSpPr>
        <p:spPr>
          <a:xfrm>
            <a:off x="457200" y="5857875"/>
            <a:ext cx="11277600" cy="400050"/>
          </a:xfrm>
          <a:prstGeom prst="roundRect">
            <a:avLst>
              <a:gd name="adj" fmla="val 28571"/>
            </a:avLst>
          </a:prstGeom>
          <a:solidFill>
            <a:srgbClr val="E3F1EF"/>
          </a:solidFill>
          <a:ln w="9525">
            <a:solidFill>
              <a:srgbClr val="B7D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08756B-82FF-499D-9ED7-AB10B6F2D9BF}"/>
              </a:ext>
            </a:extLst>
          </p:cNvPr>
          <p:cNvSpPr>
            <a:spLocks noGrp="1"/>
          </p:cNvSpPr>
          <p:nvPr/>
        </p:nvSpPr>
        <p:spPr>
          <a:xfrm>
            <a:off x="619125" y="5972175"/>
            <a:ext cx="1095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Interpretation: Zeitvariation ja – strukturelle Ein-Faktor-Abhängigkeit nein. Deshalb bleiben Brent und Zins getrennt steuerbar.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3DBB14-BE4A-4FB9-B186-F5D88B6C202F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factor_correlation.py · Rolling Window 252 Handelstage · lokale Markt- und Bundesbankdaten</a:t>
            </a:r>
          </a:p>
        </p:txBody>
      </p:sp>
    </p:spTree>
    <p:extLst>
      <p:ext uri="{BB962C8B-B14F-4D97-AF65-F5344CB8AC3E}">
        <p14:creationId xmlns:p14="http://schemas.microsoft.com/office/powerpoint/2010/main" val="1759392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1F8097BF-6DCF-49F2-BEE3-D267560A7F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51B21C-2120-4864-AA02-8157DD573D5F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KONKRETER MODELLLAUF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8FEE9-92BF-41AE-BF28-BDCB65FFE755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Retail-PD steigt am stärksten; Bank-PD sinkt leicht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D3DE9-35A3-41A0-94DF-24E5D231F5E1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Szenario: ΔBrent +0,50 log ≈ +65 % Ölpreis und Δr 10Y +2,0 pp = +200 bp.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59412B-E3EF-484C-93D8-B26157257E55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9FD648-91AB-4A73-BECF-59C0EF5B2097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F6161F-F344-4C09-92AC-24F0D2F2D67E}"/>
              </a:ext>
            </a:extLst>
          </p:cNvPr>
          <p:cNvSpPr>
            <a:spLocks noGrp="1"/>
          </p:cNvSpPr>
          <p:nvPr/>
        </p:nvSpPr>
        <p:spPr>
          <a:xfrm>
            <a:off x="495300" y="1419225"/>
            <a:ext cx="704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SZENARIO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4D351D-1D79-44B6-9E8D-DBE7FF37D386}"/>
              </a:ext>
            </a:extLst>
          </p:cNvPr>
          <p:cNvSpPr>
            <a:spLocks noGrp="1"/>
          </p:cNvSpPr>
          <p:nvPr/>
        </p:nvSpPr>
        <p:spPr>
          <a:xfrm>
            <a:off x="1381125" y="1314450"/>
            <a:ext cx="233362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C86244-3F7A-4A37-A625-FB219644895E}"/>
              </a:ext>
            </a:extLst>
          </p:cNvPr>
          <p:cNvSpPr>
            <a:spLocks noGrp="1"/>
          </p:cNvSpPr>
          <p:nvPr/>
        </p:nvSpPr>
        <p:spPr>
          <a:xfrm>
            <a:off x="1381125" y="1314450"/>
            <a:ext cx="2333625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F0E0D0-0730-4667-BC4A-4FD20C412D1D}"/>
              </a:ext>
            </a:extLst>
          </p:cNvPr>
          <p:cNvSpPr>
            <a:spLocks noGrp="1"/>
          </p:cNvSpPr>
          <p:nvPr/>
        </p:nvSpPr>
        <p:spPr>
          <a:xfrm>
            <a:off x="1514475" y="1457325"/>
            <a:ext cx="2066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ÖLPREIS-SCHOCK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7EE6F-F6A6-4D7D-8647-153E05413C0B}"/>
              </a:ext>
            </a:extLst>
          </p:cNvPr>
          <p:cNvSpPr>
            <a:spLocks noGrp="1"/>
          </p:cNvSpPr>
          <p:nvPr/>
        </p:nvSpPr>
        <p:spPr>
          <a:xfrm>
            <a:off x="1514475" y="1666875"/>
            <a:ext cx="2066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+0,50 log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129A54-5A47-4BAC-B8A0-F9C1A72E98B9}"/>
              </a:ext>
            </a:extLst>
          </p:cNvPr>
          <p:cNvSpPr>
            <a:spLocks noGrp="1"/>
          </p:cNvSpPr>
          <p:nvPr/>
        </p:nvSpPr>
        <p:spPr>
          <a:xfrm>
            <a:off x="1514475" y="2038350"/>
            <a:ext cx="2066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≈ +65 % Preisbewegung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84E95B-A47E-404E-A2A2-03E8772EC26C}"/>
              </a:ext>
            </a:extLst>
          </p:cNvPr>
          <p:cNvSpPr>
            <a:spLocks noGrp="1"/>
          </p:cNvSpPr>
          <p:nvPr/>
        </p:nvSpPr>
        <p:spPr>
          <a:xfrm>
            <a:off x="3905250" y="1314450"/>
            <a:ext cx="233362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B34446-42C1-48DC-BBDC-08995835938B}"/>
              </a:ext>
            </a:extLst>
          </p:cNvPr>
          <p:cNvSpPr>
            <a:spLocks noGrp="1"/>
          </p:cNvSpPr>
          <p:nvPr/>
        </p:nvSpPr>
        <p:spPr>
          <a:xfrm>
            <a:off x="3905250" y="1314450"/>
            <a:ext cx="2333625" cy="476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A28FAB-5732-4C71-B979-356B725EC937}"/>
              </a:ext>
            </a:extLst>
          </p:cNvPr>
          <p:cNvSpPr>
            <a:spLocks noGrp="1"/>
          </p:cNvSpPr>
          <p:nvPr/>
        </p:nvSpPr>
        <p:spPr>
          <a:xfrm>
            <a:off x="4038600" y="1457325"/>
            <a:ext cx="2066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ZINSSCHOCK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42B2A-6464-4708-A59A-4B6EE9FACEBD}"/>
              </a:ext>
            </a:extLst>
          </p:cNvPr>
          <p:cNvSpPr>
            <a:spLocks noGrp="1"/>
          </p:cNvSpPr>
          <p:nvPr/>
        </p:nvSpPr>
        <p:spPr>
          <a:xfrm>
            <a:off x="4038600" y="1666875"/>
            <a:ext cx="2066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+2,0 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DFA995-BC81-4955-9A7E-E60B97527352}"/>
              </a:ext>
            </a:extLst>
          </p:cNvPr>
          <p:cNvSpPr>
            <a:spLocks noGrp="1"/>
          </p:cNvSpPr>
          <p:nvPr/>
        </p:nvSpPr>
        <p:spPr>
          <a:xfrm>
            <a:off x="4038600" y="2038350"/>
            <a:ext cx="2066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+200 Basispunkte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27512B-5DF3-4543-8A2C-762547483746}"/>
              </a:ext>
            </a:extLst>
          </p:cNvPr>
          <p:cNvSpPr>
            <a:spLocks noGrp="1"/>
          </p:cNvSpPr>
          <p:nvPr/>
        </p:nvSpPr>
        <p:spPr>
          <a:xfrm>
            <a:off x="6429375" y="1314450"/>
            <a:ext cx="233362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AD71C4-C48B-42FA-9355-49D3F43E8B91}"/>
              </a:ext>
            </a:extLst>
          </p:cNvPr>
          <p:cNvSpPr>
            <a:spLocks noGrp="1"/>
          </p:cNvSpPr>
          <p:nvPr/>
        </p:nvSpPr>
        <p:spPr>
          <a:xfrm>
            <a:off x="6429375" y="1314450"/>
            <a:ext cx="2333625" cy="47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A423BA-FC7F-4F09-859B-1C22D4F04B30}"/>
              </a:ext>
            </a:extLst>
          </p:cNvPr>
          <p:cNvSpPr>
            <a:spLocks noGrp="1"/>
          </p:cNvSpPr>
          <p:nvPr/>
        </p:nvSpPr>
        <p:spPr>
          <a:xfrm>
            <a:off x="6562725" y="1457325"/>
            <a:ext cx="2066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MODELL-UNIVERSUM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7CC4D2-EB11-4867-AF68-4C41C98741F4}"/>
              </a:ext>
            </a:extLst>
          </p:cNvPr>
          <p:cNvSpPr>
            <a:spLocks noGrp="1"/>
          </p:cNvSpPr>
          <p:nvPr/>
        </p:nvSpPr>
        <p:spPr>
          <a:xfrm>
            <a:off x="6562725" y="1666875"/>
            <a:ext cx="2066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24CC68-0865-496A-88B4-9BE2113F8FE9}"/>
              </a:ext>
            </a:extLst>
          </p:cNvPr>
          <p:cNvSpPr>
            <a:spLocks noGrp="1"/>
          </p:cNvSpPr>
          <p:nvPr/>
        </p:nvSpPr>
        <p:spPr>
          <a:xfrm>
            <a:off x="6562725" y="2038350"/>
            <a:ext cx="2066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10 EU-IRB-Banken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1B6E2E-FB92-4963-BF41-8722E8FD3307}"/>
              </a:ext>
            </a:extLst>
          </p:cNvPr>
          <p:cNvSpPr>
            <a:spLocks noGrp="1"/>
          </p:cNvSpPr>
          <p:nvPr/>
        </p:nvSpPr>
        <p:spPr>
          <a:xfrm>
            <a:off x="8953500" y="1314450"/>
            <a:ext cx="27813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04EBBC-6D75-46C9-8453-ECF16A579120}"/>
              </a:ext>
            </a:extLst>
          </p:cNvPr>
          <p:cNvSpPr>
            <a:spLocks noGrp="1"/>
          </p:cNvSpPr>
          <p:nvPr/>
        </p:nvSpPr>
        <p:spPr>
          <a:xfrm>
            <a:off x="8953500" y="1314450"/>
            <a:ext cx="2781300" cy="47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65E735-87CA-4AF5-B522-77BDF0BCE6AC}"/>
              </a:ext>
            </a:extLst>
          </p:cNvPr>
          <p:cNvSpPr>
            <a:spLocks noGrp="1"/>
          </p:cNvSpPr>
          <p:nvPr/>
        </p:nvSpPr>
        <p:spPr>
          <a:xfrm>
            <a:off x="9086850" y="1457325"/>
            <a:ext cx="2514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STICHTAGE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06E7E7-9140-4D16-92E0-CA6F1A32C02B}"/>
              </a:ext>
            </a:extLst>
          </p:cNvPr>
          <p:cNvSpPr>
            <a:spLocks noGrp="1"/>
          </p:cNvSpPr>
          <p:nvPr/>
        </p:nvSpPr>
        <p:spPr>
          <a:xfrm>
            <a:off x="9086850" y="16668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2024 / 2025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2B41CE-E29F-458B-B119-726053529DE5}"/>
              </a:ext>
            </a:extLst>
          </p:cNvPr>
          <p:cNvSpPr>
            <a:spLocks noGrp="1"/>
          </p:cNvSpPr>
          <p:nvPr/>
        </p:nvSpPr>
        <p:spPr>
          <a:xfrm>
            <a:off x="9086850" y="2038350"/>
            <a:ext cx="2514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Pillar 3 / EBA Transparency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49CA74-8A43-4D9E-9FE2-8B8F8E5AA15A}"/>
              </a:ext>
            </a:extLst>
          </p:cNvPr>
          <p:cNvSpPr>
            <a:spLocks noGrp="1"/>
          </p:cNvSpPr>
          <p:nvPr/>
        </p:nvSpPr>
        <p:spPr>
          <a:xfrm>
            <a:off x="457200" y="2476500"/>
            <a:ext cx="5410200" cy="32766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384807-3BC6-4188-AD68-2A58A2A43C32}"/>
              </a:ext>
            </a:extLst>
          </p:cNvPr>
          <p:cNvSpPr>
            <a:spLocks noGrp="1"/>
          </p:cNvSpPr>
          <p:nvPr/>
        </p:nvSpPr>
        <p:spPr>
          <a:xfrm>
            <a:off x="647700" y="2667000"/>
            <a:ext cx="257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· BASELINE → STRESS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C5B071-1DE1-4C7F-BE09-E7B7EA39E20D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3C73F86-DFD5-45E1-9E33-BCAA80BF5E34}"/>
              </a:ext>
            </a:extLst>
          </p:cNvPr>
          <p:cNvSpPr>
            <a:spLocks noGrp="1"/>
          </p:cNvSpPr>
          <p:nvPr/>
        </p:nvSpPr>
        <p:spPr>
          <a:xfrm>
            <a:off x="1905000" y="311467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D2D4AC6-BB05-4276-9354-938D5B152DF7}"/>
              </a:ext>
            </a:extLst>
          </p:cNvPr>
          <p:cNvSpPr>
            <a:spLocks noGrp="1"/>
          </p:cNvSpPr>
          <p:nvPr/>
        </p:nvSpPr>
        <p:spPr>
          <a:xfrm>
            <a:off x="1905000" y="3114675"/>
            <a:ext cx="2395157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1AB9AD-5B6A-4291-B9F7-4D002A6CF6F1}"/>
              </a:ext>
            </a:extLst>
          </p:cNvPr>
          <p:cNvSpPr>
            <a:spLocks noGrp="1"/>
          </p:cNvSpPr>
          <p:nvPr/>
        </p:nvSpPr>
        <p:spPr>
          <a:xfrm>
            <a:off x="1905000" y="3333750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0CD7609-A659-461C-9422-B8652CFD0A65}"/>
              </a:ext>
            </a:extLst>
          </p:cNvPr>
          <p:cNvSpPr>
            <a:spLocks noGrp="1"/>
          </p:cNvSpPr>
          <p:nvPr/>
        </p:nvSpPr>
        <p:spPr>
          <a:xfrm>
            <a:off x="1905000" y="3333750"/>
            <a:ext cx="2580894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2B93CA-4A2C-4794-BD6B-2F2781FF9555}"/>
              </a:ext>
            </a:extLst>
          </p:cNvPr>
          <p:cNvSpPr>
            <a:spLocks noGrp="1"/>
          </p:cNvSpPr>
          <p:nvPr/>
        </p:nvSpPr>
        <p:spPr>
          <a:xfrm>
            <a:off x="4810125" y="3086100"/>
            <a:ext cx="704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8,38 %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D42BCA-40C8-4521-A7A5-5849FA34E5DF}"/>
              </a:ext>
            </a:extLst>
          </p:cNvPr>
          <p:cNvSpPr>
            <a:spLocks noGrp="1"/>
          </p:cNvSpPr>
          <p:nvPr/>
        </p:nvSpPr>
        <p:spPr>
          <a:xfrm>
            <a:off x="4810125" y="3305175"/>
            <a:ext cx="704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9,03 %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3CDDD3-525B-4058-B811-F8BD4A615B64}"/>
              </a:ext>
            </a:extLst>
          </p:cNvPr>
          <p:cNvSpPr>
            <a:spLocks noGrp="1"/>
          </p:cNvSpPr>
          <p:nvPr/>
        </p:nvSpPr>
        <p:spPr>
          <a:xfrm>
            <a:off x="1905000" y="3552825"/>
            <a:ext cx="2857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 +0,650 pp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4BFE20-C29E-4916-ACFB-9E05A5A7C92C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7749ADF-361F-41AD-A507-582C15DC4FC5}"/>
              </a:ext>
            </a:extLst>
          </p:cNvPr>
          <p:cNvSpPr>
            <a:spLocks noGrp="1"/>
          </p:cNvSpPr>
          <p:nvPr/>
        </p:nvSpPr>
        <p:spPr>
          <a:xfrm>
            <a:off x="1905000" y="389572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D242010-014C-4232-8F70-7184717624AF}"/>
              </a:ext>
            </a:extLst>
          </p:cNvPr>
          <p:cNvSpPr>
            <a:spLocks noGrp="1"/>
          </p:cNvSpPr>
          <p:nvPr/>
        </p:nvSpPr>
        <p:spPr>
          <a:xfrm>
            <a:off x="1905000" y="3895725"/>
            <a:ext cx="962120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A41EDD9-0236-40CF-88A3-F25B4E1FDB49}"/>
              </a:ext>
            </a:extLst>
          </p:cNvPr>
          <p:cNvSpPr>
            <a:spLocks noGrp="1"/>
          </p:cNvSpPr>
          <p:nvPr/>
        </p:nvSpPr>
        <p:spPr>
          <a:xfrm>
            <a:off x="1905000" y="4114800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8EB28D3-EF0C-4535-B0EA-08CC8AB7FF0F}"/>
              </a:ext>
            </a:extLst>
          </p:cNvPr>
          <p:cNvSpPr>
            <a:spLocks noGrp="1"/>
          </p:cNvSpPr>
          <p:nvPr/>
        </p:nvSpPr>
        <p:spPr>
          <a:xfrm>
            <a:off x="1905000" y="4114800"/>
            <a:ext cx="1119283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082A21-AB75-4859-A216-42A7D3A78165}"/>
              </a:ext>
            </a:extLst>
          </p:cNvPr>
          <p:cNvSpPr>
            <a:spLocks noGrp="1"/>
          </p:cNvSpPr>
          <p:nvPr/>
        </p:nvSpPr>
        <p:spPr>
          <a:xfrm>
            <a:off x="4810125" y="3867150"/>
            <a:ext cx="704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3,37 %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DD725C-837E-4836-A9D4-E677116DF7BB}"/>
              </a:ext>
            </a:extLst>
          </p:cNvPr>
          <p:cNvSpPr>
            <a:spLocks noGrp="1"/>
          </p:cNvSpPr>
          <p:nvPr/>
        </p:nvSpPr>
        <p:spPr>
          <a:xfrm>
            <a:off x="4810125" y="4086225"/>
            <a:ext cx="704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3,92 %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28ABC0-C38B-4972-BC3F-EBE89A20A1C0}"/>
              </a:ext>
            </a:extLst>
          </p:cNvPr>
          <p:cNvSpPr>
            <a:spLocks noGrp="1"/>
          </p:cNvSpPr>
          <p:nvPr/>
        </p:nvSpPr>
        <p:spPr>
          <a:xfrm>
            <a:off x="1905000" y="4333875"/>
            <a:ext cx="2857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Δ +0,550 pp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177147-650B-484F-9945-D2374900D55B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B721A66-BBE8-4F9C-8703-772F63D4A1BB}"/>
              </a:ext>
            </a:extLst>
          </p:cNvPr>
          <p:cNvSpPr>
            <a:spLocks noGrp="1"/>
          </p:cNvSpPr>
          <p:nvPr/>
        </p:nvSpPr>
        <p:spPr>
          <a:xfrm>
            <a:off x="1905000" y="4676775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FCF79BC-BA02-44E5-A353-CF4BDF55B891}"/>
              </a:ext>
            </a:extLst>
          </p:cNvPr>
          <p:cNvSpPr>
            <a:spLocks noGrp="1"/>
          </p:cNvSpPr>
          <p:nvPr/>
        </p:nvSpPr>
        <p:spPr>
          <a:xfrm>
            <a:off x="1905000" y="4676775"/>
            <a:ext cx="253174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690DF2E-C9DA-49AE-84D1-F38869D1EBA1}"/>
              </a:ext>
            </a:extLst>
          </p:cNvPr>
          <p:cNvSpPr>
            <a:spLocks noGrp="1"/>
          </p:cNvSpPr>
          <p:nvPr/>
        </p:nvSpPr>
        <p:spPr>
          <a:xfrm>
            <a:off x="1905000" y="4895850"/>
            <a:ext cx="285750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A77A768-9467-4E93-8CF0-EFC6B8A34171}"/>
              </a:ext>
            </a:extLst>
          </p:cNvPr>
          <p:cNvSpPr>
            <a:spLocks noGrp="1"/>
          </p:cNvSpPr>
          <p:nvPr/>
        </p:nvSpPr>
        <p:spPr>
          <a:xfrm>
            <a:off x="1905000" y="4895850"/>
            <a:ext cx="231743" cy="133350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BEDCD67-14A0-4F9A-97DD-ED2F042A1EA5}"/>
              </a:ext>
            </a:extLst>
          </p:cNvPr>
          <p:cNvSpPr>
            <a:spLocks noGrp="1"/>
          </p:cNvSpPr>
          <p:nvPr/>
        </p:nvSpPr>
        <p:spPr>
          <a:xfrm>
            <a:off x="4810125" y="4648200"/>
            <a:ext cx="704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0,89 %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E305E57-1257-4FD3-86E7-923F0E135754}"/>
              </a:ext>
            </a:extLst>
          </p:cNvPr>
          <p:cNvSpPr>
            <a:spLocks noGrp="1"/>
          </p:cNvSpPr>
          <p:nvPr/>
        </p:nvSpPr>
        <p:spPr>
          <a:xfrm>
            <a:off x="4810125" y="4867275"/>
            <a:ext cx="704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0,81 %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B5D18C6-D2E7-4D23-89F3-6334D6AB82CB}"/>
              </a:ext>
            </a:extLst>
          </p:cNvPr>
          <p:cNvSpPr>
            <a:spLocks noGrp="1"/>
          </p:cNvSpPr>
          <p:nvPr/>
        </p:nvSpPr>
        <p:spPr>
          <a:xfrm>
            <a:off x="1905000" y="5114925"/>
            <a:ext cx="2857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Δ -0,075 pp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4FBB4B8-7DB0-4432-B2EF-7B403F0EE34B}"/>
              </a:ext>
            </a:extLst>
          </p:cNvPr>
          <p:cNvSpPr>
            <a:spLocks noGrp="1"/>
          </p:cNvSpPr>
          <p:nvPr/>
        </p:nvSpPr>
        <p:spPr>
          <a:xfrm>
            <a:off x="6134100" y="2476500"/>
            <a:ext cx="5600700" cy="32766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ADE9C2D-9FBD-466D-BEE3-3D0B2BD10BEB}"/>
              </a:ext>
            </a:extLst>
          </p:cNvPr>
          <p:cNvSpPr>
            <a:spLocks noGrp="1"/>
          </p:cNvSpPr>
          <p:nvPr/>
        </p:nvSpPr>
        <p:spPr>
          <a:xfrm>
            <a:off x="6324600" y="2667000"/>
            <a:ext cx="257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LGD · BASELINE → STRESS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B24B1FE-1879-459D-8BD4-94BFBC4DC6C7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0CEB619-D71A-4076-A22A-6A86FD189E7D}"/>
              </a:ext>
            </a:extLst>
          </p:cNvPr>
          <p:cNvSpPr>
            <a:spLocks noGrp="1"/>
          </p:cNvSpPr>
          <p:nvPr/>
        </p:nvSpPr>
        <p:spPr>
          <a:xfrm>
            <a:off x="7581900" y="3114675"/>
            <a:ext cx="300037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89169F2-DCC0-44A4-B132-9FE5E28A7438}"/>
              </a:ext>
            </a:extLst>
          </p:cNvPr>
          <p:cNvSpPr>
            <a:spLocks noGrp="1"/>
          </p:cNvSpPr>
          <p:nvPr/>
        </p:nvSpPr>
        <p:spPr>
          <a:xfrm>
            <a:off x="7581900" y="3114675"/>
            <a:ext cx="2400300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79909EA-DE40-48E3-8648-3038C8DF2FB0}"/>
              </a:ext>
            </a:extLst>
          </p:cNvPr>
          <p:cNvSpPr>
            <a:spLocks noGrp="1"/>
          </p:cNvSpPr>
          <p:nvPr/>
        </p:nvSpPr>
        <p:spPr>
          <a:xfrm>
            <a:off x="7581900" y="3333750"/>
            <a:ext cx="300037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D4AFE03-2C20-4DF7-B9F7-02614CA62DB7}"/>
              </a:ext>
            </a:extLst>
          </p:cNvPr>
          <p:cNvSpPr>
            <a:spLocks noGrp="1"/>
          </p:cNvSpPr>
          <p:nvPr/>
        </p:nvSpPr>
        <p:spPr>
          <a:xfrm>
            <a:off x="7581900" y="3333750"/>
            <a:ext cx="2569071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66FB831-2B85-4A54-A6E2-78303546471F}"/>
              </a:ext>
            </a:extLst>
          </p:cNvPr>
          <p:cNvSpPr>
            <a:spLocks noGrp="1"/>
          </p:cNvSpPr>
          <p:nvPr/>
        </p:nvSpPr>
        <p:spPr>
          <a:xfrm>
            <a:off x="10620375" y="3086100"/>
            <a:ext cx="7429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32,00 %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C463C0-48E4-438F-B6CA-A19BA84B3816}"/>
              </a:ext>
            </a:extLst>
          </p:cNvPr>
          <p:cNvSpPr>
            <a:spLocks noGrp="1"/>
          </p:cNvSpPr>
          <p:nvPr/>
        </p:nvSpPr>
        <p:spPr>
          <a:xfrm>
            <a:off x="10620375" y="3305175"/>
            <a:ext cx="7429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34,25 %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3A17A2D-3A7B-4C02-890A-3F64F165D448}"/>
              </a:ext>
            </a:extLst>
          </p:cNvPr>
          <p:cNvSpPr>
            <a:spLocks noGrp="1"/>
          </p:cNvSpPr>
          <p:nvPr/>
        </p:nvSpPr>
        <p:spPr>
          <a:xfrm>
            <a:off x="7581900" y="3552825"/>
            <a:ext cx="30003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 +2,25 pp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3A52669-6FC6-4636-B6F1-37946245490C}"/>
              </a:ext>
            </a:extLst>
          </p:cNvPr>
          <p:cNvSpPr>
            <a:spLocks noGrp="1"/>
          </p:cNvSpPr>
          <p:nvPr/>
        </p:nvSpPr>
        <p:spPr>
          <a:xfrm>
            <a:off x="6343650" y="38862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B541F08-30D4-4F40-8A39-2B7A9D315F1B}"/>
              </a:ext>
            </a:extLst>
          </p:cNvPr>
          <p:cNvSpPr>
            <a:spLocks noGrp="1"/>
          </p:cNvSpPr>
          <p:nvPr/>
        </p:nvSpPr>
        <p:spPr>
          <a:xfrm>
            <a:off x="7581900" y="3895725"/>
            <a:ext cx="300037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9CA3556-434C-4D5F-A705-EEB27BB7EFAB}"/>
              </a:ext>
            </a:extLst>
          </p:cNvPr>
          <p:cNvSpPr>
            <a:spLocks noGrp="1"/>
          </p:cNvSpPr>
          <p:nvPr/>
        </p:nvSpPr>
        <p:spPr>
          <a:xfrm>
            <a:off x="7581900" y="3895725"/>
            <a:ext cx="2518065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E9FEE62-2533-4DD3-BA45-2423B78FBCC1}"/>
              </a:ext>
            </a:extLst>
          </p:cNvPr>
          <p:cNvSpPr>
            <a:spLocks noGrp="1"/>
          </p:cNvSpPr>
          <p:nvPr/>
        </p:nvSpPr>
        <p:spPr>
          <a:xfrm>
            <a:off x="7581900" y="4114800"/>
            <a:ext cx="300037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B0F03AC-AE28-4C71-9D6E-2599170C658D}"/>
              </a:ext>
            </a:extLst>
          </p:cNvPr>
          <p:cNvSpPr>
            <a:spLocks noGrp="1"/>
          </p:cNvSpPr>
          <p:nvPr/>
        </p:nvSpPr>
        <p:spPr>
          <a:xfrm>
            <a:off x="7581900" y="4114800"/>
            <a:ext cx="2647081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6CC221-DAED-467A-AE7E-386825EBAF34}"/>
              </a:ext>
            </a:extLst>
          </p:cNvPr>
          <p:cNvSpPr>
            <a:spLocks noGrp="1"/>
          </p:cNvSpPr>
          <p:nvPr/>
        </p:nvSpPr>
        <p:spPr>
          <a:xfrm>
            <a:off x="10620375" y="3867150"/>
            <a:ext cx="7429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33,57 %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3AC1599-9A09-4DFE-ABB2-6EFC6A80B677}"/>
              </a:ext>
            </a:extLst>
          </p:cNvPr>
          <p:cNvSpPr>
            <a:spLocks noGrp="1"/>
          </p:cNvSpPr>
          <p:nvPr/>
        </p:nvSpPr>
        <p:spPr>
          <a:xfrm>
            <a:off x="10620375" y="4086225"/>
            <a:ext cx="7429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35,29 %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380E537-C0BC-41C3-B3E1-B9BEF0EAEA3A}"/>
              </a:ext>
            </a:extLst>
          </p:cNvPr>
          <p:cNvSpPr>
            <a:spLocks noGrp="1"/>
          </p:cNvSpPr>
          <p:nvPr/>
        </p:nvSpPr>
        <p:spPr>
          <a:xfrm>
            <a:off x="7581900" y="4333875"/>
            <a:ext cx="30003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Δ +1,72 pp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F064254-9FC3-4421-AAEF-6C6DF02D05A8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831323D-E202-4872-85C7-54D2E1784620}"/>
              </a:ext>
            </a:extLst>
          </p:cNvPr>
          <p:cNvSpPr>
            <a:spLocks noGrp="1"/>
          </p:cNvSpPr>
          <p:nvPr/>
        </p:nvSpPr>
        <p:spPr>
          <a:xfrm>
            <a:off x="7581900" y="4676775"/>
            <a:ext cx="300037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DBBE3E1-B84F-4731-B7B8-87603D28A35B}"/>
              </a:ext>
            </a:extLst>
          </p:cNvPr>
          <p:cNvSpPr>
            <a:spLocks noGrp="1"/>
          </p:cNvSpPr>
          <p:nvPr/>
        </p:nvSpPr>
        <p:spPr>
          <a:xfrm>
            <a:off x="7581900" y="4676775"/>
            <a:ext cx="2182023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2931F9-7E26-4BFE-92D4-F007914F62BB}"/>
              </a:ext>
            </a:extLst>
          </p:cNvPr>
          <p:cNvSpPr>
            <a:spLocks noGrp="1"/>
          </p:cNvSpPr>
          <p:nvPr/>
        </p:nvSpPr>
        <p:spPr>
          <a:xfrm>
            <a:off x="7581900" y="4895850"/>
            <a:ext cx="300037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F2B3AE1-F91C-4630-81CA-18B7A879C67C}"/>
              </a:ext>
            </a:extLst>
          </p:cNvPr>
          <p:cNvSpPr>
            <a:spLocks noGrp="1"/>
          </p:cNvSpPr>
          <p:nvPr/>
        </p:nvSpPr>
        <p:spPr>
          <a:xfrm>
            <a:off x="7581900" y="4895850"/>
            <a:ext cx="2260783" cy="133350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A4EEAA6-5A4B-4E29-AFAC-6DBB33FD2068}"/>
              </a:ext>
            </a:extLst>
          </p:cNvPr>
          <p:cNvSpPr>
            <a:spLocks noGrp="1"/>
          </p:cNvSpPr>
          <p:nvPr/>
        </p:nvSpPr>
        <p:spPr>
          <a:xfrm>
            <a:off x="10620375" y="4648200"/>
            <a:ext cx="7429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29,09 %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C045C5B-CB8F-4C0A-B9E1-A7525441DEFA}"/>
              </a:ext>
            </a:extLst>
          </p:cNvPr>
          <p:cNvSpPr>
            <a:spLocks noGrp="1"/>
          </p:cNvSpPr>
          <p:nvPr/>
        </p:nvSpPr>
        <p:spPr>
          <a:xfrm>
            <a:off x="10620375" y="4867275"/>
            <a:ext cx="7429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30,14 %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586ED41-3901-4514-87A6-423126931069}"/>
              </a:ext>
            </a:extLst>
          </p:cNvPr>
          <p:cNvSpPr>
            <a:spLocks noGrp="1"/>
          </p:cNvSpPr>
          <p:nvPr/>
        </p:nvSpPr>
        <p:spPr>
          <a:xfrm>
            <a:off x="7581900" y="5114925"/>
            <a:ext cx="30003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Δ +1,05 pp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3CC205D-14D9-4A24-8559-A1760DEF5979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Konkreter Modelllauf · Werte EAD-gewichtet über das Top-10-Universum · Sovereign-Default separat vom MtM-Kanal</a:t>
            </a:r>
          </a:p>
        </p:txBody>
      </p:sp>
    </p:spTree>
    <p:extLst>
      <p:ext uri="{BB962C8B-B14F-4D97-AF65-F5344CB8AC3E}">
        <p14:creationId xmlns:p14="http://schemas.microsoft.com/office/powerpoint/2010/main" val="87968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324629E-44D4-4103-A474-BA59A5018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31B99E-2BF1-4187-AF1A-D44C5107579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IRB-CAPITAL-BRIDGE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493536-230F-42D4-8205-961723167AED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LGD-Stress erklärt rund zwei Drittel des zusätzlichen IRB-Kapitalbedarfs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F1E23-9FDF-407D-A242-1EB32D430893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 und LGD werden nacheinander in die unveränderte Basel-IRB-Formel eingesetzt.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468D75-C16C-4D76-A0CB-95AF7240FFFE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DA4FC7-9B5C-4F82-B36E-9909B64631D5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7067550" cy="3867150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18396E-BC72-406E-BF4F-B4333DEB66B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KAPITALBEDARF K · € MRD.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565FE-CBBE-43CA-AC7D-670761782DD8}"/>
              </a:ext>
            </a:extLst>
          </p:cNvPr>
          <p:cNvSpPr>
            <a:spLocks noGrp="1"/>
          </p:cNvSpPr>
          <p:nvPr/>
        </p:nvSpPr>
        <p:spPr>
          <a:xfrm>
            <a:off x="857250" y="4524375"/>
            <a:ext cx="6191250" cy="9525"/>
          </a:xfrm>
          <a:prstGeom prst="rect">
            <a:avLst/>
          </a:prstGeom>
          <a:solidFill>
            <a:srgbClr val="AFC0C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47295-0EEC-4478-946C-6F3373EB842A}"/>
              </a:ext>
            </a:extLst>
          </p:cNvPr>
          <p:cNvSpPr>
            <a:spLocks noGrp="1"/>
          </p:cNvSpPr>
          <p:nvPr/>
        </p:nvSpPr>
        <p:spPr>
          <a:xfrm>
            <a:off x="1047750" y="2643436"/>
            <a:ext cx="1381125" cy="1880939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CC77B-B3C2-4A11-96A8-22F666F3CDCF}"/>
              </a:ext>
            </a:extLst>
          </p:cNvPr>
          <p:cNvSpPr>
            <a:spLocks noGrp="1"/>
          </p:cNvSpPr>
          <p:nvPr/>
        </p:nvSpPr>
        <p:spPr>
          <a:xfrm>
            <a:off x="1047750" y="2376736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€412,9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8D7BB-8B8D-4A93-9831-A1F50440B590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Baseline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E2A1B8-1D38-4106-8A49-522DDA31C9DD}"/>
              </a:ext>
            </a:extLst>
          </p:cNvPr>
          <p:cNvSpPr>
            <a:spLocks noGrp="1"/>
          </p:cNvSpPr>
          <p:nvPr/>
        </p:nvSpPr>
        <p:spPr>
          <a:xfrm>
            <a:off x="2571750" y="3476625"/>
            <a:ext cx="428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6F5AD3-E745-49BE-9AD5-AF4EB3820D84}"/>
              </a:ext>
            </a:extLst>
          </p:cNvPr>
          <p:cNvSpPr>
            <a:spLocks noGrp="1"/>
          </p:cNvSpPr>
          <p:nvPr/>
        </p:nvSpPr>
        <p:spPr>
          <a:xfrm>
            <a:off x="3143250" y="3945731"/>
            <a:ext cx="1381125" cy="578644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0B257-C85E-44D3-9305-C9AE2A470A50}"/>
              </a:ext>
            </a:extLst>
          </p:cNvPr>
          <p:cNvSpPr>
            <a:spLocks noGrp="1"/>
          </p:cNvSpPr>
          <p:nvPr/>
        </p:nvSpPr>
        <p:spPr>
          <a:xfrm>
            <a:off x="3143250" y="3688556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+€13,5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19004E-6152-4B91-96C4-A63523A477FA}"/>
              </a:ext>
            </a:extLst>
          </p:cNvPr>
          <p:cNvSpPr>
            <a:spLocks noGrp="1"/>
          </p:cNvSpPr>
          <p:nvPr/>
        </p:nvSpPr>
        <p:spPr>
          <a:xfrm>
            <a:off x="3143250" y="47625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PD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B842B6-2749-4507-A7BF-325DD561E802}"/>
              </a:ext>
            </a:extLst>
          </p:cNvPr>
          <p:cNvSpPr>
            <a:spLocks noGrp="1"/>
          </p:cNvSpPr>
          <p:nvPr/>
        </p:nvSpPr>
        <p:spPr>
          <a:xfrm>
            <a:off x="4667250" y="3476625"/>
            <a:ext cx="428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60EB0-C7C9-45A4-B1C4-E218215467B8}"/>
              </a:ext>
            </a:extLst>
          </p:cNvPr>
          <p:cNvSpPr>
            <a:spLocks noGrp="1"/>
          </p:cNvSpPr>
          <p:nvPr/>
        </p:nvSpPr>
        <p:spPr>
          <a:xfrm>
            <a:off x="5238750" y="3371374"/>
            <a:ext cx="1381125" cy="1153001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8CFB8-75C6-4B03-A8FE-29685937FD3A}"/>
              </a:ext>
            </a:extLst>
          </p:cNvPr>
          <p:cNvSpPr>
            <a:spLocks noGrp="1"/>
          </p:cNvSpPr>
          <p:nvPr/>
        </p:nvSpPr>
        <p:spPr>
          <a:xfrm>
            <a:off x="5238750" y="3114199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+€26,9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7D1049-5C7F-44A0-9CEA-C81257CC3D65}"/>
              </a:ext>
            </a:extLst>
          </p:cNvPr>
          <p:cNvSpPr>
            <a:spLocks noGrp="1"/>
          </p:cNvSpPr>
          <p:nvPr/>
        </p:nvSpPr>
        <p:spPr>
          <a:xfrm>
            <a:off x="5238750" y="47625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LGD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EA616E-575E-494F-9408-7E45DFE2D2C4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3667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K Stress = €453,3 Mrd.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721AE0-085C-44C8-92B9-1E8C437C8922}"/>
              </a:ext>
            </a:extLst>
          </p:cNvPr>
          <p:cNvSpPr>
            <a:spLocks noGrp="1"/>
          </p:cNvSpPr>
          <p:nvPr/>
        </p:nvSpPr>
        <p:spPr>
          <a:xfrm>
            <a:off x="7848600" y="1438275"/>
            <a:ext cx="38862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D5A45E-8B9F-4832-833A-5C58C5942AF2}"/>
              </a:ext>
            </a:extLst>
          </p:cNvPr>
          <p:cNvSpPr>
            <a:spLocks noGrp="1"/>
          </p:cNvSpPr>
          <p:nvPr/>
        </p:nvSpPr>
        <p:spPr>
          <a:xfrm>
            <a:off x="7848600" y="1438275"/>
            <a:ext cx="3886200" cy="476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F2E2B3-283E-4F5E-9E93-88F4D396DFA4}"/>
              </a:ext>
            </a:extLst>
          </p:cNvPr>
          <p:cNvSpPr>
            <a:spLocks noGrp="1"/>
          </p:cNvSpPr>
          <p:nvPr/>
        </p:nvSpPr>
        <p:spPr>
          <a:xfrm>
            <a:off x="7981950" y="15811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EXPECTED LOSS · VERÄNDERUNG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D44472-1431-4D3B-B342-555D8924274A}"/>
              </a:ext>
            </a:extLst>
          </p:cNvPr>
          <p:cNvSpPr>
            <a:spLocks noGrp="1"/>
          </p:cNvSpPr>
          <p:nvPr/>
        </p:nvSpPr>
        <p:spPr>
          <a:xfrm>
            <a:off x="7981950" y="17907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+€21,0 Mrd.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74B059-4729-4446-82B5-1A81BDCED5D2}"/>
              </a:ext>
            </a:extLst>
          </p:cNvPr>
          <p:cNvSpPr>
            <a:spLocks noGrp="1"/>
          </p:cNvSpPr>
          <p:nvPr/>
        </p:nvSpPr>
        <p:spPr>
          <a:xfrm>
            <a:off x="7981950" y="216217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zusätzliche Kreditvorsorge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1872F2B-BDF3-46C3-AC1F-0A3673014AC8}"/>
              </a:ext>
            </a:extLst>
          </p:cNvPr>
          <p:cNvSpPr>
            <a:spLocks noGrp="1"/>
          </p:cNvSpPr>
          <p:nvPr/>
        </p:nvSpPr>
        <p:spPr>
          <a:xfrm>
            <a:off x="7848600" y="2714625"/>
            <a:ext cx="38862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76FC17-7AC2-49FC-AC11-8AE15F473AAF}"/>
              </a:ext>
            </a:extLst>
          </p:cNvPr>
          <p:cNvSpPr>
            <a:spLocks noGrp="1"/>
          </p:cNvSpPr>
          <p:nvPr/>
        </p:nvSpPr>
        <p:spPr>
          <a:xfrm>
            <a:off x="7848600" y="2714625"/>
            <a:ext cx="3886200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315112-C25B-4DEF-B752-E06274EF5145}"/>
              </a:ext>
            </a:extLst>
          </p:cNvPr>
          <p:cNvSpPr>
            <a:spLocks noGrp="1"/>
          </p:cNvSpPr>
          <p:nvPr/>
        </p:nvSpPr>
        <p:spPr>
          <a:xfrm>
            <a:off x="7981950" y="28575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CREDIT RWA · VERÄNDERUNG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DABB79-3C9F-4617-90FD-5C7C676CAAFF}"/>
              </a:ext>
            </a:extLst>
          </p:cNvPr>
          <p:cNvSpPr>
            <a:spLocks noGrp="1"/>
          </p:cNvSpPr>
          <p:nvPr/>
        </p:nvSpPr>
        <p:spPr>
          <a:xfrm>
            <a:off x="7981950" y="30670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+€505,1 Mrd.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55A42D-5A4B-4418-94CF-D1269F1D5CD3}"/>
              </a:ext>
            </a:extLst>
          </p:cNvPr>
          <p:cNvSpPr>
            <a:spLocks noGrp="1"/>
          </p:cNvSpPr>
          <p:nvPr/>
        </p:nvSpPr>
        <p:spPr>
          <a:xfrm>
            <a:off x="7981950" y="34385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Basel-IRB-Nennerwirkung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C3F4C05-8AE0-4C96-BD9B-C8A3A41BC2D7}"/>
              </a:ext>
            </a:extLst>
          </p:cNvPr>
          <p:cNvSpPr>
            <a:spLocks noGrp="1"/>
          </p:cNvSpPr>
          <p:nvPr/>
        </p:nvSpPr>
        <p:spPr>
          <a:xfrm>
            <a:off x="7848600" y="3990975"/>
            <a:ext cx="38862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5E4685-BC5A-4965-AA17-042C97211C4E}"/>
              </a:ext>
            </a:extLst>
          </p:cNvPr>
          <p:cNvSpPr>
            <a:spLocks noGrp="1"/>
          </p:cNvSpPr>
          <p:nvPr/>
        </p:nvSpPr>
        <p:spPr>
          <a:xfrm>
            <a:off x="7848600" y="3990975"/>
            <a:ext cx="3886200" cy="47625"/>
          </a:xfrm>
          <a:prstGeom prst="rect">
            <a:avLst/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8F1251-F0BD-480B-BA49-768C6536D607}"/>
              </a:ext>
            </a:extLst>
          </p:cNvPr>
          <p:cNvSpPr>
            <a:spLocks noGrp="1"/>
          </p:cNvSpPr>
          <p:nvPr/>
        </p:nvSpPr>
        <p:spPr>
          <a:xfrm>
            <a:off x="7981950" y="41338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IRB-KAPITAL K · VERÄNDERUNG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8DDD96-D050-4022-841B-FD88BD464DFE}"/>
              </a:ext>
            </a:extLst>
          </p:cNvPr>
          <p:cNvSpPr>
            <a:spLocks noGrp="1"/>
          </p:cNvSpPr>
          <p:nvPr/>
        </p:nvSpPr>
        <p:spPr>
          <a:xfrm>
            <a:off x="7981950" y="43434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+€40,4 Mrd.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938049-8DA9-494D-83F4-73C71F87623B}"/>
              </a:ext>
            </a:extLst>
          </p:cNvPr>
          <p:cNvSpPr>
            <a:spLocks noGrp="1"/>
          </p:cNvSpPr>
          <p:nvPr/>
        </p:nvSpPr>
        <p:spPr>
          <a:xfrm>
            <a:off x="7981950" y="471487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+9,8 % gegenüber Baseline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33A3D38-0D7F-4982-89CE-8F0A852017DB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1277600" cy="523875"/>
          </a:xfrm>
          <a:prstGeom prst="roundRect">
            <a:avLst>
              <a:gd name="adj" fmla="val 21818"/>
            </a:avLst>
          </a:prstGeom>
          <a:solidFill>
            <a:srgbClr val="F8EED3"/>
          </a:solidFill>
          <a:ln w="9525">
            <a:solidFill>
              <a:srgbClr val="E4C9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D38508-AD94-4715-B76A-3B9A29B26949}"/>
              </a:ext>
            </a:extLst>
          </p:cNvPr>
          <p:cNvSpPr>
            <a:spLocks noGrp="1"/>
          </p:cNvSpPr>
          <p:nvPr/>
        </p:nvSpPr>
        <p:spPr>
          <a:xfrm>
            <a:off x="638175" y="5781675"/>
            <a:ext cx="1090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Warum LGD dominiert: Der +200-bp-Zinsschock senkt Sicherheitenwerte und erhöht insbesondere die Downturn-LGD.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DA6E67-2F27-4A78-9648-D0E51D286664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Basel-III-IRB / CRR Art. 153–155 · konkreter Modelllauf ΔBrent +0,50 / Δr10Y +2,0 pp</a:t>
            </a:r>
          </a:p>
        </p:txBody>
      </p:sp>
    </p:spTree>
    <p:extLst>
      <p:ext uri="{BB962C8B-B14F-4D97-AF65-F5344CB8AC3E}">
        <p14:creationId xmlns:p14="http://schemas.microsoft.com/office/powerpoint/2010/main" val="73762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282EE42D-F760-4A75-BA8C-11F52C23DC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4243A1-07A9-47D1-8EBD-F3ED9E14D07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CET1-ERGEBNIS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01FFE0-DF8C-4F93-97CE-8A3EB65BAFA3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1119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kombinierte Schock senkt die aggregierte CET1-Quote um 4,15 Prozentpunkte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C498F6-E628-4D03-B79F-0749BE0DFC21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09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Sovereign-Marktwertkanal dominiert den Zählerverlust; zusätzliche Kredit-RWA verstärken den Nennerdruck.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3252ED-4AA3-49C2-9444-549AD8F8B501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716609-F907-4F38-83A5-EC87A436BA22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25050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962A99-5353-4984-9C9C-05836F70643B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2505075" cy="47625"/>
          </a:xfrm>
          <a:prstGeom prst="rect">
            <a:avLst/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F5FBB-79E7-404A-80E9-56BD6F83D33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BASELINE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7A5E4-D4C6-4FE6-B441-E0D4D3721FF4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15,17 %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12D6C6-B661-4645-AEE4-DDF24977F615}"/>
              </a:ext>
            </a:extLst>
          </p:cNvPr>
          <p:cNvSpPr>
            <a:spLocks noGrp="1"/>
          </p:cNvSpPr>
          <p:nvPr/>
        </p:nvSpPr>
        <p:spPr>
          <a:xfrm>
            <a:off x="590550" y="2105025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Top-10-Aggregat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1D38A3-68F8-4F74-8B06-DF3A604CE735}"/>
              </a:ext>
            </a:extLst>
          </p:cNvPr>
          <p:cNvSpPr>
            <a:spLocks noGrp="1"/>
          </p:cNvSpPr>
          <p:nvPr/>
        </p:nvSpPr>
        <p:spPr>
          <a:xfrm>
            <a:off x="3133725" y="1381125"/>
            <a:ext cx="25050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D6AFF3-5436-4945-877E-A4C22035E0C8}"/>
              </a:ext>
            </a:extLst>
          </p:cNvPr>
          <p:cNvSpPr>
            <a:spLocks noGrp="1"/>
          </p:cNvSpPr>
          <p:nvPr/>
        </p:nvSpPr>
        <p:spPr>
          <a:xfrm>
            <a:off x="3133725" y="1381125"/>
            <a:ext cx="2505075" cy="47625"/>
          </a:xfrm>
          <a:prstGeom prst="rect">
            <a:avLst/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7F6044-EF28-4652-AE2A-CEEF82668CD0}"/>
              </a:ext>
            </a:extLst>
          </p:cNvPr>
          <p:cNvSpPr>
            <a:spLocks noGrp="1"/>
          </p:cNvSpPr>
          <p:nvPr/>
        </p:nvSpPr>
        <p:spPr>
          <a:xfrm>
            <a:off x="3267075" y="1524000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STRESS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B45C14-34D4-4561-A932-984D11349938}"/>
              </a:ext>
            </a:extLst>
          </p:cNvPr>
          <p:cNvSpPr>
            <a:spLocks noGrp="1"/>
          </p:cNvSpPr>
          <p:nvPr/>
        </p:nvSpPr>
        <p:spPr>
          <a:xfrm>
            <a:off x="3267075" y="17335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11,02 %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453F6-1D1D-4777-9B68-2ACCD1111FE9}"/>
              </a:ext>
            </a:extLst>
          </p:cNvPr>
          <p:cNvSpPr>
            <a:spLocks noGrp="1"/>
          </p:cNvSpPr>
          <p:nvPr/>
        </p:nvSpPr>
        <p:spPr>
          <a:xfrm>
            <a:off x="3267075" y="2105025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−4,15 Prozentpunkte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C06DF8-5235-40A1-BFCB-046A996C59C7}"/>
              </a:ext>
            </a:extLst>
          </p:cNvPr>
          <p:cNvSpPr>
            <a:spLocks noGrp="1"/>
          </p:cNvSpPr>
          <p:nvPr/>
        </p:nvSpPr>
        <p:spPr>
          <a:xfrm>
            <a:off x="5810250" y="1381125"/>
            <a:ext cx="25050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4CCF3F-3BC4-4B1B-804A-99A7CCD9EED7}"/>
              </a:ext>
            </a:extLst>
          </p:cNvPr>
          <p:cNvSpPr>
            <a:spLocks noGrp="1"/>
          </p:cNvSpPr>
          <p:nvPr/>
        </p:nvSpPr>
        <p:spPr>
          <a:xfrm>
            <a:off x="5810250" y="1381125"/>
            <a:ext cx="2505075" cy="47625"/>
          </a:xfrm>
          <a:prstGeom prst="rect">
            <a:avLst/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B638D1-2699-4FEF-A407-15D5AF142FC7}"/>
              </a:ext>
            </a:extLst>
          </p:cNvPr>
          <p:cNvSpPr>
            <a:spLocks noGrp="1"/>
          </p:cNvSpPr>
          <p:nvPr/>
        </p:nvSpPr>
        <p:spPr>
          <a:xfrm>
            <a:off x="5943600" y="1524000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CET1-KAPITAL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DD10A2-C573-42D8-B84E-0B49F39CA8B6}"/>
              </a:ext>
            </a:extLst>
          </p:cNvPr>
          <p:cNvSpPr>
            <a:spLocks noGrp="1"/>
          </p:cNvSpPr>
          <p:nvPr/>
        </p:nvSpPr>
        <p:spPr>
          <a:xfrm>
            <a:off x="5943600" y="17335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€678 → €548 Mrd.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57BC5B-3B7E-434E-BDA3-4FF0CA7FEBFF}"/>
              </a:ext>
            </a:extLst>
          </p:cNvPr>
          <p:cNvSpPr>
            <a:spLocks noGrp="1"/>
          </p:cNvSpPr>
          <p:nvPr/>
        </p:nvSpPr>
        <p:spPr>
          <a:xfrm>
            <a:off x="5943600" y="2105025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−€129,7 Mrd.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8C607B-C47C-4F46-BA72-7F1767CF72A8}"/>
              </a:ext>
            </a:extLst>
          </p:cNvPr>
          <p:cNvSpPr>
            <a:spLocks noGrp="1"/>
          </p:cNvSpPr>
          <p:nvPr/>
        </p:nvSpPr>
        <p:spPr>
          <a:xfrm>
            <a:off x="8486775" y="1381125"/>
            <a:ext cx="324802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411977-EA00-47AE-B453-5004D4645869}"/>
              </a:ext>
            </a:extLst>
          </p:cNvPr>
          <p:cNvSpPr>
            <a:spLocks noGrp="1"/>
          </p:cNvSpPr>
          <p:nvPr/>
        </p:nvSpPr>
        <p:spPr>
          <a:xfrm>
            <a:off x="8486775" y="1381125"/>
            <a:ext cx="3248025" cy="47625"/>
          </a:xfrm>
          <a:prstGeom prst="rect">
            <a:avLst/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177B8C-0BDD-4140-8210-B0909B6581F2}"/>
              </a:ext>
            </a:extLst>
          </p:cNvPr>
          <p:cNvSpPr>
            <a:spLocks noGrp="1"/>
          </p:cNvSpPr>
          <p:nvPr/>
        </p:nvSpPr>
        <p:spPr>
          <a:xfrm>
            <a:off x="8620125" y="1524000"/>
            <a:ext cx="2981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TOTAL RWA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D3B54D-AFD4-4B4E-80FA-80B1FA333CE9}"/>
              </a:ext>
            </a:extLst>
          </p:cNvPr>
          <p:cNvSpPr>
            <a:spLocks noGrp="1"/>
          </p:cNvSpPr>
          <p:nvPr/>
        </p:nvSpPr>
        <p:spPr>
          <a:xfrm>
            <a:off x="8620125" y="1733550"/>
            <a:ext cx="2981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€4.468 → €4.974 Mrd.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CE56EB-0B1F-4347-903E-888C4CD33C9C}"/>
              </a:ext>
            </a:extLst>
          </p:cNvPr>
          <p:cNvSpPr>
            <a:spLocks noGrp="1"/>
          </p:cNvSpPr>
          <p:nvPr/>
        </p:nvSpPr>
        <p:spPr>
          <a:xfrm>
            <a:off x="8620125" y="2105025"/>
            <a:ext cx="2981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F35E25-1ED8-4A5D-A56A-8691E7A0D019}"/>
              </a:ext>
            </a:extLst>
          </p:cNvPr>
          <p:cNvSpPr>
            <a:spLocks noGrp="1"/>
          </p:cNvSpPr>
          <p:nvPr/>
        </p:nvSpPr>
        <p:spPr>
          <a:xfrm>
            <a:off x="457200" y="2638425"/>
            <a:ext cx="6858000" cy="3124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2D7A96-E732-4EFE-A693-CD6252F9BD34}"/>
              </a:ext>
            </a:extLst>
          </p:cNvPr>
          <p:cNvSpPr>
            <a:spLocks noGrp="1"/>
          </p:cNvSpPr>
          <p:nvPr/>
        </p:nvSpPr>
        <p:spPr>
          <a:xfrm>
            <a:off x="647700" y="28289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BEITRÄGE ZUM STRESSERGEBNIS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2E2A7E-02FE-4149-9D6F-74A3D6607209}"/>
              </a:ext>
            </a:extLst>
          </p:cNvPr>
          <p:cNvSpPr>
            <a:spLocks noGrp="1"/>
          </p:cNvSpPr>
          <p:nvPr/>
        </p:nvSpPr>
        <p:spPr>
          <a:xfrm>
            <a:off x="714375" y="3276600"/>
            <a:ext cx="1219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Kreditvorsorge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A40D1E-9AFF-48CC-88C4-26DCB93DE8A3}"/>
              </a:ext>
            </a:extLst>
          </p:cNvPr>
          <p:cNvSpPr>
            <a:spLocks noGrp="1"/>
          </p:cNvSpPr>
          <p:nvPr/>
        </p:nvSpPr>
        <p:spPr>
          <a:xfrm>
            <a:off x="1971675" y="3295650"/>
            <a:ext cx="423862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1C1188A-E2F1-4433-8B53-D664BF6D2501}"/>
              </a:ext>
            </a:extLst>
          </p:cNvPr>
          <p:cNvSpPr>
            <a:spLocks noGrp="1"/>
          </p:cNvSpPr>
          <p:nvPr/>
        </p:nvSpPr>
        <p:spPr>
          <a:xfrm>
            <a:off x="1971675" y="3295650"/>
            <a:ext cx="809192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5CD13B-8464-48CC-9A91-BD35BBE4DFA7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6477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−€21,0 Mrd.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D4CC1C-3E05-41C5-92F7-D8216111BD10}"/>
              </a:ext>
            </a:extLst>
          </p:cNvPr>
          <p:cNvSpPr>
            <a:spLocks noGrp="1"/>
          </p:cNvSpPr>
          <p:nvPr/>
        </p:nvSpPr>
        <p:spPr>
          <a:xfrm>
            <a:off x="714375" y="3781425"/>
            <a:ext cx="1219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Sovereign-MtM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1E2C299-D60E-4A3A-B45B-0721F12A79D3}"/>
              </a:ext>
            </a:extLst>
          </p:cNvPr>
          <p:cNvSpPr>
            <a:spLocks noGrp="1"/>
          </p:cNvSpPr>
          <p:nvPr/>
        </p:nvSpPr>
        <p:spPr>
          <a:xfrm>
            <a:off x="1971675" y="3800475"/>
            <a:ext cx="423862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BA99A14-6369-416C-838E-C9FF5B6B7549}"/>
              </a:ext>
            </a:extLst>
          </p:cNvPr>
          <p:cNvSpPr>
            <a:spLocks noGrp="1"/>
          </p:cNvSpPr>
          <p:nvPr/>
        </p:nvSpPr>
        <p:spPr>
          <a:xfrm>
            <a:off x="1971675" y="3800475"/>
            <a:ext cx="4188532" cy="133350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F8639B-AF3A-420E-AE32-2BE8811BAB70}"/>
              </a:ext>
            </a:extLst>
          </p:cNvPr>
          <p:cNvSpPr>
            <a:spLocks noGrp="1"/>
          </p:cNvSpPr>
          <p:nvPr/>
        </p:nvSpPr>
        <p:spPr>
          <a:xfrm>
            <a:off x="6257925" y="3781425"/>
            <a:ext cx="6477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−€108,7 Mrd.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680CF0-0EC6-4CBE-A2A6-B1A24020A13D}"/>
              </a:ext>
            </a:extLst>
          </p:cNvPr>
          <p:cNvSpPr>
            <a:spLocks noGrp="1"/>
          </p:cNvSpPr>
          <p:nvPr/>
        </p:nvSpPr>
        <p:spPr>
          <a:xfrm>
            <a:off x="714375" y="4286250"/>
            <a:ext cx="1219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zusätzliche RWA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26850FD-0378-4806-9A90-A83EC3EB13A7}"/>
              </a:ext>
            </a:extLst>
          </p:cNvPr>
          <p:cNvSpPr>
            <a:spLocks noGrp="1"/>
          </p:cNvSpPr>
          <p:nvPr/>
        </p:nvSpPr>
        <p:spPr>
          <a:xfrm>
            <a:off x="1971675" y="4305300"/>
            <a:ext cx="4238625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350A72B-ECF4-4847-AFDC-059B51661BC2}"/>
              </a:ext>
            </a:extLst>
          </p:cNvPr>
          <p:cNvSpPr>
            <a:spLocks noGrp="1"/>
          </p:cNvSpPr>
          <p:nvPr/>
        </p:nvSpPr>
        <p:spPr>
          <a:xfrm>
            <a:off x="1971675" y="4305300"/>
            <a:ext cx="4117172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9A9ED3-6C55-4F5D-8626-AF07F18DEBA1}"/>
              </a:ext>
            </a:extLst>
          </p:cNvPr>
          <p:cNvSpPr>
            <a:spLocks noGrp="1"/>
          </p:cNvSpPr>
          <p:nvPr/>
        </p:nvSpPr>
        <p:spPr>
          <a:xfrm>
            <a:off x="6257925" y="4286250"/>
            <a:ext cx="6477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65193B5-8B7E-4958-8C6F-DC213F625EB4}"/>
              </a:ext>
            </a:extLst>
          </p:cNvPr>
          <p:cNvSpPr>
            <a:spLocks noGrp="1"/>
          </p:cNvSpPr>
          <p:nvPr/>
        </p:nvSpPr>
        <p:spPr>
          <a:xfrm>
            <a:off x="714375" y="4810125"/>
            <a:ext cx="6191250" cy="581025"/>
          </a:xfrm>
          <a:prstGeom prst="roundRect">
            <a:avLst>
              <a:gd name="adj" fmla="val 13115"/>
            </a:avLst>
          </a:prstGeom>
          <a:solidFill>
            <a:srgbClr val="051C2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97E7F9-EA02-445A-A87E-6658A34FD5B2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ZÄHLER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910D23-EB8A-4CBE-85FB-2D951E7090B3}"/>
              </a:ext>
            </a:extLst>
          </p:cNvPr>
          <p:cNvSpPr>
            <a:spLocks noGrp="1"/>
          </p:cNvSpPr>
          <p:nvPr/>
        </p:nvSpPr>
        <p:spPr>
          <a:xfrm>
            <a:off x="1638300" y="488632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CET1 −€129,7 Mrd.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1D3767-6EEF-4D3C-B69D-6F2D74BA4E55}"/>
              </a:ext>
            </a:extLst>
          </p:cNvPr>
          <p:cNvSpPr>
            <a:spLocks noGrp="1"/>
          </p:cNvSpPr>
          <p:nvPr/>
        </p:nvSpPr>
        <p:spPr>
          <a:xfrm>
            <a:off x="3857625" y="491490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NENNER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AC4348-0642-43AA-8F34-68F1925DF0EB}"/>
              </a:ext>
            </a:extLst>
          </p:cNvPr>
          <p:cNvSpPr>
            <a:spLocks noGrp="1"/>
          </p:cNvSpPr>
          <p:nvPr/>
        </p:nvSpPr>
        <p:spPr>
          <a:xfrm>
            <a:off x="4619625" y="488632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RWA +€505,1 Mrd.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139700-8D96-4921-9538-E2F95BE413DA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Marktwertkanal ist im Zähler der größte Einzelbeitrag; die Kredit-RWA wirken zusätzlich über den Nenner.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550DFE1-791C-4736-A7B1-1BA12E4011C3}"/>
              </a:ext>
            </a:extLst>
          </p:cNvPr>
          <p:cNvSpPr>
            <a:spLocks noGrp="1"/>
          </p:cNvSpPr>
          <p:nvPr/>
        </p:nvSpPr>
        <p:spPr>
          <a:xfrm>
            <a:off x="7600950" y="2638425"/>
            <a:ext cx="4133850" cy="3124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D5E0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9D4AF9-B7BB-462E-B6A6-9966C13323F5}"/>
              </a:ext>
            </a:extLst>
          </p:cNvPr>
          <p:cNvSpPr>
            <a:spLocks noGrp="1"/>
          </p:cNvSpPr>
          <p:nvPr/>
        </p:nvSpPr>
        <p:spPr>
          <a:xfrm>
            <a:off x="7791450" y="2828925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NIEDRIGSTE CET1-QUOTEN NACH STRESS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15E961-774C-430F-82B1-5BE476B1509B}"/>
              </a:ext>
            </a:extLst>
          </p:cNvPr>
          <p:cNvSpPr>
            <a:spLocks noGrp="1"/>
          </p:cNvSpPr>
          <p:nvPr/>
        </p:nvSpPr>
        <p:spPr>
          <a:xfrm>
            <a:off x="7810500" y="32194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Société Générale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8BCCC3D-E54E-4282-BA35-C4E251ABED78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3767A91-9D28-4A13-8582-2FCFBD75A664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716862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BE4691-CCC6-4A70-9448-C69053E7628C}"/>
              </a:ext>
            </a:extLst>
          </p:cNvPr>
          <p:cNvSpPr>
            <a:spLocks noGrp="1"/>
          </p:cNvSpPr>
          <p:nvPr/>
        </p:nvSpPr>
        <p:spPr>
          <a:xfrm>
            <a:off x="10877550" y="32099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7,13 %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A0E6035-11A4-4B9A-87D5-DDFBC3EC0EA9}"/>
              </a:ext>
            </a:extLst>
          </p:cNvPr>
          <p:cNvSpPr>
            <a:spLocks noGrp="1"/>
          </p:cNvSpPr>
          <p:nvPr/>
        </p:nvSpPr>
        <p:spPr>
          <a:xfrm>
            <a:off x="7810500" y="36385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Deutsche Bank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A4BA98D-CFE8-436A-AA36-501951D8471D}"/>
              </a:ext>
            </a:extLst>
          </p:cNvPr>
          <p:cNvSpPr>
            <a:spLocks noGrp="1"/>
          </p:cNvSpPr>
          <p:nvPr/>
        </p:nvSpPr>
        <p:spPr>
          <a:xfrm>
            <a:off x="9220200" y="36576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71039B9-543E-40D4-98DD-406BB911ED6B}"/>
              </a:ext>
            </a:extLst>
          </p:cNvPr>
          <p:cNvSpPr>
            <a:spLocks noGrp="1"/>
          </p:cNvSpPr>
          <p:nvPr/>
        </p:nvSpPr>
        <p:spPr>
          <a:xfrm>
            <a:off x="9220200" y="3657600"/>
            <a:ext cx="723900" cy="133350"/>
          </a:xfrm>
          <a:prstGeom prst="roundRect">
            <a:avLst>
              <a:gd name="adj" fmla="val 50000"/>
            </a:avLst>
          </a:prstGeom>
          <a:solidFill>
            <a:srgbClr val="A52F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9EBB40-986D-47C6-8C1C-68A9067E4B42}"/>
              </a:ext>
            </a:extLst>
          </p:cNvPr>
          <p:cNvSpPr>
            <a:spLocks noGrp="1"/>
          </p:cNvSpPr>
          <p:nvPr/>
        </p:nvSpPr>
        <p:spPr>
          <a:xfrm>
            <a:off x="10877550" y="36290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7,20 %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30168C-E0D0-415A-88C0-67C45915388B}"/>
              </a:ext>
            </a:extLst>
          </p:cNvPr>
          <p:cNvSpPr>
            <a:spLocks noGrp="1"/>
          </p:cNvSpPr>
          <p:nvPr/>
        </p:nvSpPr>
        <p:spPr>
          <a:xfrm>
            <a:off x="7810500" y="40576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BNP Paribas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403DFB1-F2D6-4427-A44B-830F33032815}"/>
              </a:ext>
            </a:extLst>
          </p:cNvPr>
          <p:cNvSpPr>
            <a:spLocks noGrp="1"/>
          </p:cNvSpPr>
          <p:nvPr/>
        </p:nvSpPr>
        <p:spPr>
          <a:xfrm>
            <a:off x="9220200" y="40767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0964193-78D3-446D-8891-93454C8124A7}"/>
              </a:ext>
            </a:extLst>
          </p:cNvPr>
          <p:cNvSpPr>
            <a:spLocks noGrp="1"/>
          </p:cNvSpPr>
          <p:nvPr/>
        </p:nvSpPr>
        <p:spPr>
          <a:xfrm>
            <a:off x="9220200" y="4076700"/>
            <a:ext cx="811371" cy="133350"/>
          </a:xfrm>
          <a:prstGeom prst="roundRect">
            <a:avLst>
              <a:gd name="adj" fmla="val 50000"/>
            </a:avLst>
          </a:prstGeom>
          <a:solidFill>
            <a:srgbClr val="D9A1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9DE7E7-04BE-4AE8-A644-B78681EFF9BB}"/>
              </a:ext>
            </a:extLst>
          </p:cNvPr>
          <p:cNvSpPr>
            <a:spLocks noGrp="1"/>
          </p:cNvSpPr>
          <p:nvPr/>
        </p:nvSpPr>
        <p:spPr>
          <a:xfrm>
            <a:off x="10877550" y="4048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8,07 %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18ACC27-DD78-4539-8304-424C4FB5A9C5}"/>
              </a:ext>
            </a:extLst>
          </p:cNvPr>
          <p:cNvSpPr>
            <a:spLocks noGrp="1"/>
          </p:cNvSpPr>
          <p:nvPr/>
        </p:nvSpPr>
        <p:spPr>
          <a:xfrm>
            <a:off x="7810500" y="44767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ING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3036F48-2FE1-4705-AF36-9C2CDABF105C}"/>
              </a:ext>
            </a:extLst>
          </p:cNvPr>
          <p:cNvSpPr>
            <a:spLocks noGrp="1"/>
          </p:cNvSpPr>
          <p:nvPr/>
        </p:nvSpPr>
        <p:spPr>
          <a:xfrm>
            <a:off x="9220200" y="44958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B473293-FA28-464D-BFE9-2AFE4FA5B52C}"/>
              </a:ext>
            </a:extLst>
          </p:cNvPr>
          <p:cNvSpPr>
            <a:spLocks noGrp="1"/>
          </p:cNvSpPr>
          <p:nvPr/>
        </p:nvSpPr>
        <p:spPr>
          <a:xfrm>
            <a:off x="9220200" y="4495800"/>
            <a:ext cx="970227" cy="13335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997C389-2C64-4516-A543-CB82586C02A0}"/>
              </a:ext>
            </a:extLst>
          </p:cNvPr>
          <p:cNvSpPr>
            <a:spLocks noGrp="1"/>
          </p:cNvSpPr>
          <p:nvPr/>
        </p:nvSpPr>
        <p:spPr>
          <a:xfrm>
            <a:off x="10877550" y="4467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9,65 %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7A21B60-AA8A-4F49-B3EF-AA9176EA5869}"/>
              </a:ext>
            </a:extLst>
          </p:cNvPr>
          <p:cNvSpPr>
            <a:spLocks noGrp="1"/>
          </p:cNvSpPr>
          <p:nvPr/>
        </p:nvSpPr>
        <p:spPr>
          <a:xfrm>
            <a:off x="7810500" y="4895850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880519F-9E30-4CC7-9340-2EA956B1491E}"/>
              </a:ext>
            </a:extLst>
          </p:cNvPr>
          <p:cNvSpPr>
            <a:spLocks noGrp="1"/>
          </p:cNvSpPr>
          <p:nvPr/>
        </p:nvSpPr>
        <p:spPr>
          <a:xfrm>
            <a:off x="9220200" y="4914900"/>
            <a:ext cx="1809750" cy="133350"/>
          </a:xfrm>
          <a:prstGeom prst="roundRect">
            <a:avLst>
              <a:gd name="adj" fmla="val 50000"/>
            </a:avLst>
          </a:prstGeom>
          <a:solidFill>
            <a:srgbClr val="E7EE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3407D9F-0DA3-4796-97BC-3ECF66A983E1}"/>
              </a:ext>
            </a:extLst>
          </p:cNvPr>
          <p:cNvSpPr>
            <a:spLocks noGrp="1"/>
          </p:cNvSpPr>
          <p:nvPr/>
        </p:nvSpPr>
        <p:spPr>
          <a:xfrm>
            <a:off x="9220200" y="4914900"/>
            <a:ext cx="1055688" cy="133350"/>
          </a:xfrm>
          <a:prstGeom prst="roundRect">
            <a:avLst>
              <a:gd name="adj" fmla="val 50000"/>
            </a:avLst>
          </a:prstGeom>
          <a:solidFill>
            <a:srgbClr val="1B777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A010F49-8335-4872-BA29-2F0470745CBD}"/>
              </a:ext>
            </a:extLst>
          </p:cNvPr>
          <p:cNvSpPr>
            <a:spLocks noGrp="1"/>
          </p:cNvSpPr>
          <p:nvPr/>
        </p:nvSpPr>
        <p:spPr>
          <a:xfrm>
            <a:off x="10877550" y="48863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10,50 %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2EDFCC-64C1-4F02-9948-7EB604F5A167}"/>
              </a:ext>
            </a:extLst>
          </p:cNvPr>
          <p:cNvSpPr>
            <a:spLocks noGrp="1"/>
          </p:cNvSpPr>
          <p:nvPr/>
        </p:nvSpPr>
        <p:spPr>
          <a:xfrm>
            <a:off x="7791450" y="5381625"/>
            <a:ext cx="3733800" cy="9525"/>
          </a:xfrm>
          <a:prstGeom prst="rect">
            <a:avLst/>
          </a:prstGeom>
          <a:solidFill>
            <a:srgbClr val="D5E0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652E39-40DF-4221-86AF-EEA31CBB5DB9}"/>
              </a:ext>
            </a:extLst>
          </p:cNvPr>
          <p:cNvSpPr>
            <a:spLocks noGrp="1"/>
          </p:cNvSpPr>
          <p:nvPr/>
        </p:nvSpPr>
        <p:spPr>
          <a:xfrm>
            <a:off x="7791450" y="5495925"/>
            <a:ext cx="809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B658425-00CB-42A8-A97C-E4618FCD3E79}"/>
              </a:ext>
            </a:extLst>
          </p:cNvPr>
          <p:cNvSpPr>
            <a:spLocks noGrp="1"/>
          </p:cNvSpPr>
          <p:nvPr/>
        </p:nvSpPr>
        <p:spPr>
          <a:xfrm>
            <a:off x="8648700" y="5467350"/>
            <a:ext cx="2876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Alle Banken bleiben über 7,0 %; zwei Institute liegen jedoch nur knapp oberhalb des Pufferniveaus.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858C3B8-868B-4F38-8ECF-BDFBCF82307A}"/>
              </a:ext>
            </a:extLst>
          </p:cNvPr>
          <p:cNvSpPr>
            <a:spLocks noGrp="1"/>
          </p:cNvSpPr>
          <p:nvPr/>
        </p:nvSpPr>
        <p:spPr>
          <a:xfrm>
            <a:off x="457200" y="64865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Illustrativer Modellstress, keine regulatorische Prognose · Werte aus dem lokalen Modelllauf und EBA/Pillar-3-Daten</a:t>
            </a:r>
          </a:p>
        </p:txBody>
      </p:sp>
    </p:spTree>
    <p:extLst>
      <p:ext uri="{BB962C8B-B14F-4D97-AF65-F5344CB8AC3E}">
        <p14:creationId xmlns:p14="http://schemas.microsoft.com/office/powerpoint/2010/main" val="16382300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Microsoft Office PowerPoint</Application>
  <DocSecurity>0</DocSecurity>
  <PresentationFormat>Widescreen</PresentationFormat>
  <Paragraphs>461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Gashi, Bleron</cp:lastModifiedBy>
  <cp:revision>1</cp:revision>
  <dcterms:created xsi:type="dcterms:W3CDTF">2026-06-18T12:08:36Z</dcterms:created>
  <dcterms:modified xsi:type="dcterms:W3CDTF">2026-06-18T12:25:21Z</dcterms:modified>
</cp:coreProperties>
</file>