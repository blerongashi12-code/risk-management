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eb1f5ac71a48e2" /><Relationship Type="http://schemas.openxmlformats.org/officeDocument/2006/relationships/extended-properties" Target="/docProps/app.xml" Id="Re713383e2e344036" /><Relationship Type="http://schemas.openxmlformats.org/officeDocument/2006/relationships/officeDocument" Target="/ppt/presentation.xml" Id="R65b8e2885d8940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2d2f956dd54933"/>
  </p:sldMasterIdLst>
  <p:notesMasterIdLst>
    <p:notesMasterId xmlns:r="http://schemas.openxmlformats.org/officeDocument/2006/relationships" r:id="R11de9f11c91f4296"/>
  </p:notesMasterIdLst>
  <p:sldIdLst>
    <p:sldId xmlns:r="http://schemas.openxmlformats.org/officeDocument/2006/relationships" id="256" r:id="R9ef84b35f77b4491"/>
    <p:sldId xmlns:r="http://schemas.openxmlformats.org/officeDocument/2006/relationships" id="257" r:id="R960e7e00a5ea4d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0113d5a59746ee" /><Relationship Type="http://schemas.openxmlformats.org/officeDocument/2006/relationships/slideMaster" Target="/ppt/slideMasters/slideMaster1.xml" Id="R372d2f956dd54933" /><Relationship Type="http://schemas.openxmlformats.org/officeDocument/2006/relationships/notesMaster" Target="/ppt/notesMasters/notesMaster1.xml" Id="R11de9f11c91f4296" /><Relationship Type="http://schemas.openxmlformats.org/officeDocument/2006/relationships/presProps" Target="/ppt/presProps.xml" Id="R41d681ef38284d7d" /><Relationship Type="http://schemas.openxmlformats.org/officeDocument/2006/relationships/tableStyles" Target="/ppt/tableStyles.xml" Id="R5d70230ba2114f5f" /><Relationship Type="http://schemas.openxmlformats.org/officeDocument/2006/relationships/slide" Target="/ppt/slides/slide1.xml" Id="R9ef84b35f77b4491" /><Relationship Type="http://schemas.openxmlformats.org/officeDocument/2006/relationships/slide" Target="/ppt/slides/slide2.xml" Id="R960e7e00a5ea4d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f595093e414b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c4dbdef6c4b14" /><Relationship Type="http://schemas.openxmlformats.org/officeDocument/2006/relationships/notesMaster" Target="/ppt/notesMasters/notesMaster1.xml" Id="R9db9a4feb3c64d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1ce7be04184b7d" /><Relationship Type="http://schemas.openxmlformats.org/officeDocument/2006/relationships/notesMaster" Target="/ppt/notesMasters/notesMaster1.xml" Id="Rbf2b43a65739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c3f44deb34f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fb97b97e8a4903" /><Relationship Type="http://schemas.openxmlformats.org/officeDocument/2006/relationships/slideLayout" Target="/ppt/slideLayouts/slideLayout1.xml" Id="R2a57d7dfde514c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57d7dfde514c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94cfc2d214eb1" /><Relationship Type="http://schemas.openxmlformats.org/officeDocument/2006/relationships/image" Target="/ppt/media/image.png" Id="Rab8f1d402431443f" /><Relationship Type="http://schemas.openxmlformats.org/officeDocument/2006/relationships/notesSlide" Target="/ppt/notesSlides/notesSlide1.xml" Id="R1bebc429f0714c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b782d0fad431f" /><Relationship Type="http://schemas.openxmlformats.org/officeDocument/2006/relationships/notesSlide" Target="/ppt/notesSlides/notesSlide2.xml" Id="R5971da7a6ffa45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f1d402431443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33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B8FAD-D09D-4EB0-BAA1-50F770A9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26617-AEBC-420E-95F5-D0200D68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DATENBASIS &amp; BANKENUNIVERSUM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0AE18-5D66-4142-8D1A-F9C58739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23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Konsistenz vor Breite: 10 kuratierte Banken decken 56 % des EU-IRB-EAD 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4BA6-AAB7-4DA3-AE8B-15D7D28B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 nachvollziehbarer Filter, ein einheitlicher Stichtag und klar getrennte aktuelle, historische und statische Datenquellen.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11082-BB9F-4A94-ABDE-5BC46B31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04925"/>
            <a:ext cx="1381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AE48F-C536-42CC-9FFA-6F99C4B2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43025"/>
            <a:ext cx="1304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/ REFRESHED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D6541-9C9C-4D19-810D-B826CC8A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04925"/>
            <a:ext cx="9048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716F8-0F31-4A9A-B14F-4C565C6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43025"/>
            <a:ext cx="828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HISTORISCH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5267D-8493-4A86-88A7-45178185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04925"/>
            <a:ext cx="1381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453D1-5295-429B-AA47-D8381B8E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343025"/>
            <a:ext cx="1304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STATISCHER SNAPSHOT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2EF8F-7FE3-4626-92E7-7705A5EC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304925"/>
            <a:ext cx="8763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3B9C2-D415-4714-8F2F-DBC33A9D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34302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METHODIK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FBA31-F4A6-47EB-8479-6C98A106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857625" cy="448627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C6C00-2466-4B61-AC5A-DFAAD0CA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Bankenfilter · von ≈67 auf 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D5F62-B8F3-4AD4-9F58-24D49559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Die Auswahl reduziert Komplexität, nicht die Systemrelevanz.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46F2C-F8D2-4DBF-AA06-03FB95BD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47925"/>
            <a:ext cx="34290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5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74382-236B-47F7-900A-98C196B5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3200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ca. 67  ·  EBA-IRB-Institute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9F0D7-0852-40D0-B24B-30D18218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31242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0D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C7F7B1-00DE-4630-90DA-D7B3BA06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2895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  ·  LEI- &amp; Konzernabgleich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27C09C-16FB-445C-9E0F-96215B1C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57575"/>
            <a:ext cx="28194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AFC8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E886B-C1D0-4077-AE12-CB082B20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7187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  ·  Top-10 nach IRB-EAD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1FF84-F4BB-4C00-A96D-42466C3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25146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78A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09E8C-E753-430C-8F60-88C8A25F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3  ·  Stichtag &amp; Datenqualität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EEA9C-4E78-42CE-9002-DEA2B2A6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29337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16564-4361-4925-A1F6-5C2804FC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705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RAUS: Töchter/Dubletten · 57 außerhalb Top-10 · Vintage-Mix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39056-7212-41CA-817A-075FC135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1981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B8902-F049-47DD-AEE4-26E29C3E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181600"/>
            <a:ext cx="1695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 BANKEN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55CBC7-3B1B-4164-A29C-4531B6BD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486400"/>
            <a:ext cx="1695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€8,28 tn · 56 % Coverage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E954D5-0F95-43DC-8406-F18C8781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3429000" cy="238125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5E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54B202-B45B-4B9E-A1C2-AC4A353A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32766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Guardrail: alle Baseline-PDs/LGDs auf 31.12.2024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4BF048-2BB7-468F-A15E-962B21C3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57350"/>
            <a:ext cx="7219950" cy="4486275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3C0E6-4EC0-444B-8A5F-7994622D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383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Datenquellen · Aktualität und Funktion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D675D9-7FF1-4DD1-8736-B8AF6603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145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Aktuelle Inputs treiben den Schock; statische Snapshots verankern die Bankbilanz; Historie validiert.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8F4927-2DA4-4EF2-A83D-119A0BD7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47925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94FBA2-D8EF-4D3B-A17A-5C6560E6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4792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BE43E1-D676-4711-97D2-6E84A0EB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62225"/>
            <a:ext cx="1066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AD3C34-2DC8-479F-A99B-5FBA80C9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003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CA2F3E-7A3A-47D8-9817-3D922E2B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575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ICE Brent · BZ=F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2AE998-7085-4F0E-870C-D005EB16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95625"/>
            <a:ext cx="3009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Letzter Marktschluss + tägliche Historie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Log-Returns &amp; 30-Tage-Vola · Refresh ≤12 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CCA4BA-B044-47D0-A065-39E8C3C9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47925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F91A0F-C156-4CBE-83CF-16ABDC93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4792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5DC0BC-EB2C-492B-A1F5-8B456368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62225"/>
            <a:ext cx="10668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DB2A77-987A-4E15-AACD-F04174F6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032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AKTUELL + HIST.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D4411D-92A1-4ECD-B655-D9955E6C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Bundesbank · Svensson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BBE799-87A3-4B34-AA11-4F6237D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95625"/>
            <a:ext cx="3009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Aktuelle Zero-Curve + tägliche Historie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Offizielle CSV · manueller Source-Refresh / Cache 24 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6B27EA-74DC-480E-A52A-C3D945BB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57575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7FA0C1-5253-4AE2-AC43-E899C358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5757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23CFAC-639A-483B-8F7E-F7127811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71875"/>
            <a:ext cx="666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F7453F-B56E-4027-850C-18BFB9DF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099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STATISCH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A5B5E5-41F6-49D5-947E-7B6A7ABA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67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Pillar 3 · EU-CR6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143BE4-8BD6-4A61-9607-5B7597FE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05275"/>
            <a:ext cx="3009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Bank × 7 IRB-Klassen: PD &amp; LGD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Einheitlicher Vintage 31.12.2024 · Audit-Trail je Zelle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9C9863-3B98-47F6-855A-2185669C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57575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ECEAFA-8005-4DD5-B4A7-96FFB30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5757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097EDF-CA18-4DB9-93D3-C7B75D1D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66675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1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074CE7-4933-4593-AB93-2B711C13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99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STATISCH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D1BF2A-6C02-4382-823E-28C860E7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67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Transparency 2025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D87E6E-2854-4CD6-AB5E-3081061C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3009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EAD · CET1 · RWA · Sovereign-Bestände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IFRS-9-Split HfT / FVTPL / FVOCI / AC · Juni 2025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00C64F-1931-41BC-8422-FF7DF4BD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67225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E323C87-E52B-43AE-8D20-4A9D3F5F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6722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00D02D2-A656-418C-BF5A-0641BA9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81525"/>
            <a:ext cx="809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CA8F1B-6F0D-4808-AF9F-FA5E2DA6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1962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HISTORISCH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A32121-F611-43C4-BF6E-EB5ECD72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768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Walk-Forward-Validierung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8BD824-3B2E-43C7-B5E1-A6175D2C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14925"/>
            <a:ext cx="3009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EBA-Vintages 2020–2025 · 22 Quartalsstichtage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Realisierte Brent- und 10Y-Bewegungen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50BAAB-6B15-42C7-881D-49E18785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67225"/>
            <a:ext cx="33147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D65974-6C1A-4FC3-B034-D08181C2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67225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EE8352-4535-4C4A-827E-9C24AA4F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81525"/>
            <a:ext cx="71437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47A33E-1A1C-4D4B-A43C-F31DF3DC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9625"/>
            <a:ext cx="638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METHODIK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A4A33A0-7A2D-4021-8D1F-891BB2A9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768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051C2C"/>
                </a:solidFill>
                <a:latin typeface="Aptos Display"/>
                <a:ea typeface="Aptos Display"/>
                <a:cs typeface="Aptos Display"/>
              </a:rPr>
              <a:t>EBA · ECB · Basel / CRR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865F5DD-5AB9-444D-A9D5-57755CFF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14925"/>
            <a:ext cx="3009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Stressszenario · sektorale β/γ-Kalibrierung</a:t>
            </a:r>
          </a:p>
          <a:p xmlns:a="http://schemas.openxmlformats.org/drawingml/2006/main">
            <a:pPr algn="l">
              <a:defRPr sz="938" b="0" i="0">
                <a:solidFill>
                  <a:srgbClr val="4F687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F6875"/>
                </a:solidFill>
                <a:latin typeface="Aptos"/>
                <a:ea typeface="Aptos"/>
                <a:cs typeface="Aptos"/>
              </a:rPr>
              <a:t>IRB-Kapitalformel · IFRS-9-Behandlung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BF45E5-0946-41FA-9743-CF6512AD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245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93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Pillar-3-Abdeckung · 70 Bank-Klassen-Zellen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98EB1BF-95B1-4631-9E97-B0F03478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781675"/>
            <a:ext cx="62769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B8E802-FC44-4CAE-9418-722E5C18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781675"/>
            <a:ext cx="285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BCC5C12-8116-41CA-8271-A73DD717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781675"/>
            <a:ext cx="2000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F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C57F87-5E22-4C82-9EFF-10EA1DA5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95312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1B777F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B777F"/>
                </a:solidFill>
                <a:latin typeface="Aptos"/>
                <a:ea typeface="Aptos"/>
                <a:cs typeface="Aptos"/>
              </a:rPr>
              <a:t>65 direkt verifiziert · 93 %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11D2439-9EAD-4F19-868F-79E325F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531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D9A124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D9A124"/>
                </a:solidFill>
                <a:latin typeface="Aptos"/>
                <a:ea typeface="Aptos"/>
                <a:cs typeface="Aptos"/>
              </a:rPr>
              <a:t>3 Country-Proxies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F4CCCB-31A7-4008-858C-C942EC6D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9531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 i="0">
                <a:solidFill>
                  <a:srgbClr val="A52F4D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A52F4D"/>
                </a:solidFill>
                <a:latin typeface="Aptos"/>
                <a:ea typeface="Aptos"/>
                <a:cs typeface="Aptos"/>
              </a:rPr>
              <a:t>2 Basel-Defaults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79305D-BD19-48D9-9CB0-603B32E8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9531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10/10 Banken im Datensatz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1A19BE-EACB-48FA-80FF-F1D4726B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76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3" b="0" i="0">
                <a:solidFill>
                  <a:srgbClr val="71858F"/>
                </a:solidFill>
                <a:latin typeface="Aptos"/>
                <a:ea typeface="Aptos"/>
                <a:cs typeface="Aptos"/>
              </a:defRPr>
            </a:pPr>
            <a:r>
              <a:rPr sz="713" b="0" i="0">
                <a:solidFill>
                  <a:srgbClr val="71858F"/>
                </a:solidFill>
                <a:latin typeface="Aptos"/>
                <a:ea typeface="Aptos"/>
                <a:cs typeface="Aptos"/>
              </a:rPr>
              <a:t>Quellen: Bank-Pillar-3 EU-CR6 · EBA Transparency 2025 &amp; Vintages 2020–2025 · ICE Brent · Deutsche Bundesbank Svensson · EBA/ECB/Basel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3E0857-CD48-47AA-BC1B-7339307C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51C2C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051C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7443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2026-06-18T10:10:08.2230000Z</dcterms:created>
  <dcterms:modified xsi:type="dcterms:W3CDTF">2026-06-18T10:10:08.2230000Z</dcterms:modified>
</coreProperties>
</file>