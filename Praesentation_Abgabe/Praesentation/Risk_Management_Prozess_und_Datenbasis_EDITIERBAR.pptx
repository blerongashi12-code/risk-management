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b2ac5d6ac74469" /><Relationship Type="http://schemas.openxmlformats.org/officeDocument/2006/relationships/extended-properties" Target="/docProps/app.xml" Id="Raef80241df944d3f" /><Relationship Type="http://schemas.openxmlformats.org/officeDocument/2006/relationships/officeDocument" Target="/ppt/presentation.xml" Id="R79190202c913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db8eda596049aa"/>
  </p:sldMasterIdLst>
  <p:notesMasterIdLst>
    <p:notesMasterId xmlns:r="http://schemas.openxmlformats.org/officeDocument/2006/relationships" r:id="R0682c919520e4373"/>
  </p:notesMasterIdLst>
  <p:sldIdLst>
    <p:sldId xmlns:r="http://schemas.openxmlformats.org/officeDocument/2006/relationships" id="256" r:id="R9647e31d01654bf3"/>
    <p:sldId xmlns:r="http://schemas.openxmlformats.org/officeDocument/2006/relationships" id="257" r:id="Rec1f1214aebf46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1c9868bb724912" /><Relationship Type="http://schemas.openxmlformats.org/officeDocument/2006/relationships/slideMaster" Target="/ppt/slideMasters/slideMaster1.xml" Id="R46db8eda596049aa" /><Relationship Type="http://schemas.openxmlformats.org/officeDocument/2006/relationships/notesMaster" Target="/ppt/notesMasters/notesMaster1.xml" Id="R0682c919520e4373" /><Relationship Type="http://schemas.openxmlformats.org/officeDocument/2006/relationships/presProps" Target="/ppt/presProps.xml" Id="Rb4e9b5ff62b340c2" /><Relationship Type="http://schemas.openxmlformats.org/officeDocument/2006/relationships/tableStyles" Target="/ppt/tableStyles.xml" Id="R96a002674a714ece" /><Relationship Type="http://schemas.openxmlformats.org/officeDocument/2006/relationships/slide" Target="/ppt/slides/slide1.xml" Id="R9647e31d01654bf3" /><Relationship Type="http://schemas.openxmlformats.org/officeDocument/2006/relationships/slide" Target="/ppt/slides/slide2.xml" Id="Rec1f1214aebf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06e9df707e42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f60daadf9e4b91" /><Relationship Type="http://schemas.openxmlformats.org/officeDocument/2006/relationships/notesMaster" Target="/ppt/notesMasters/notesMaster1.xml" Id="R444528283000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493d666f8d4407" /><Relationship Type="http://schemas.openxmlformats.org/officeDocument/2006/relationships/notesMaster" Target="/ppt/notesMasters/notesMaster1.xml" Id="Rfa4f8e0a17e642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c0275f3e34c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f2d383432348b6" /><Relationship Type="http://schemas.openxmlformats.org/officeDocument/2006/relationships/slideLayout" Target="/ppt/slideLayouts/slideLayout1.xml" Id="R711d1e508cc143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d1e508cc143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17d88b4374e64" /><Relationship Type="http://schemas.openxmlformats.org/officeDocument/2006/relationships/notesSlide" Target="/ppt/notesSlides/notesSlide1.xml" Id="Rb7f8731dcb85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6a7a04e57456d" /><Relationship Type="http://schemas.openxmlformats.org/officeDocument/2006/relationships/notesSlide" Target="/ppt/notesSlides/notesSlide2.xml" Id="Rfd94a1694d114c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A5CB1E-4BCA-4A2E-9ED8-513DC30E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37D39-4C62-4318-BF5D-B04E6DB0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EU BANKING CREDIT STRESS COCKPIT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FAA4-50C9-4421-9BAF-213A3112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Vom Makroschock zur gestressten CET1-Quote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CBB88-A7D3-4902-B332-E119400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Zwei Faktoren wirken über zwei getrennte Risikokanäle auf Kapital und RWA.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0F26B-5E6A-42A9-B8EF-A8802E3B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"/>
            <a:ext cx="25717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17A58-78B0-4FDF-9A9A-B6E83983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"/>
            <a:ext cx="2495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FAKTOREN · 2 KANÄLE · 10 BANKEN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73017-C404-4BE2-B527-8045A5D4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685925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526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54407-FECA-47B1-AA27-1321FD6A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F232F-4A3D-44A7-A9FD-317BA71F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0175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26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D7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925F6-0FD5-46D7-9F71-1481CFB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01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Datenbasis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BC483-D63D-47B8-A8C2-EA9E146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04925"/>
            <a:ext cx="1685925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6A175-C4E8-41CB-9976-AB542EEA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6207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B250E-20D4-4060-8C9D-FCEE4F38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00175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75EBC-288A-48D4-A342-A5D17DA8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001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Stressfaktoren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833DF-5707-427D-8D67-B5CDC655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04925"/>
            <a:ext cx="1876425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53D07-8BC3-470F-9689-D22B4694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6207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6DA22-DBF8-4A16-AE39-88228ECC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00175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6284A-74F4-48B9-B636-E70B5BB8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00175"/>
            <a:ext cx="141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D7600-69D9-49C9-9939-D1BADFC1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04925"/>
            <a:ext cx="29527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03C08-3956-4AEC-B206-AB5D9C3A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6207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E4924-F0EC-4459-90BF-31DF73DB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00175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9306B1-3F90-4A89-92A5-B5392607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001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Risikokanäle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A2021-F21D-496A-A630-21D78FA8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304925"/>
            <a:ext cx="2200275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3E89E-2514-49C3-BFCA-361416BA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62075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75607-165B-4E36-90B3-2DB45C5B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00175"/>
            <a:ext cx="238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88828-9279-482C-A8E2-C9E4B696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00175"/>
            <a:ext cx="1743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CET1-Ergebnis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C856A-AC34-47DA-BEF9-2AAE7B9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1685925" cy="29718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05E9A3-1252-4408-9262-58ED56B5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571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463519-61C9-4BDB-8E09-FC692C8B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95475"/>
            <a:ext cx="6858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C034C-BDDB-484A-B18C-2887205A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3DEAD-4CA0-4F2A-BC85-FC9A19BD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09800"/>
            <a:ext cx="1419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Bankdaten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3F378D-1CA3-447F-A0F5-387EDEB2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975"/>
            <a:ext cx="1419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526D7A"/>
                </a:solidFill>
                <a:latin typeface="Aptos"/>
                <a:ea typeface="Aptos"/>
                <a:cs typeface="Aptos"/>
              </a:rPr>
              <a:t>Einheitlicher Stichtag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394CB9-47A6-416E-84C3-3EAF006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14625"/>
            <a:ext cx="1419225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Pillar 3 EU-CR6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&amp; LGD je IRB-Klasse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 Transparency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Sovereign-Bestände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31.12.2024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10 EU-IRB-Banken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812CB1-29AB-40EF-A30F-4F2D8344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813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E8C732-98BC-4F3A-AF84-72159E6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81175"/>
            <a:ext cx="1685925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9110A5-8F09-4267-BD8E-3CBC7022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81175"/>
            <a:ext cx="57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D5BF35-423D-481B-ACA9-767F786E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95475"/>
            <a:ext cx="6667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0266F6-64E5-4E88-93C7-69F06631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33575"/>
            <a:ext cx="590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8C38DC-D90A-4F3E-9532-42D496E1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09800"/>
            <a:ext cx="1419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ΔBrent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ABB004-34E5-4D1B-842B-C2B3360E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66975"/>
            <a:ext cx="1419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Ölpreis · Log-Return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7D180E-308A-442C-9647-67DC3A9D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14625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Energie, Inflation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und Inputkosten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18B391-0E56-4A85-BB23-1EB43077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1685925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E02640-3EE4-4C06-850E-57C1A56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571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E6D75F-FD37-4E9D-833B-12AD3704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33750"/>
            <a:ext cx="6667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12CA47-B7CE-488D-8020-046273C1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371850"/>
            <a:ext cx="590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C507D0-8836-4F40-BA93-8604FC6A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648075"/>
            <a:ext cx="1419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Δr 10Y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AFEB73-328F-4A4A-9CD4-96835B7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905250"/>
            <a:ext cx="1419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Zins · Prozentpunkte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64D715-46D2-4DBE-AC84-038DCE47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152900"/>
            <a:ext cx="141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Refinanzierung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und Bond-Bewertung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6E8B74-8EF1-492D-8F9A-A8DBF26C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38675"/>
            <a:ext cx="13430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49A0FF-24FE-4E4F-87C5-F5D783E3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33925"/>
            <a:ext cx="1190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Nahezu unabhängig</a:t>
            </a:r>
          </a:p>
          <a:p xmlns:a="http://schemas.openxmlformats.org/drawingml/2006/main">
            <a:pPr algn="ct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ρ ≈ +0,07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83F59E-7909-4F7B-9D1A-D0404D90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813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0E7B7C-0CF9-4616-9720-2F85A07F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81175"/>
            <a:ext cx="1876425" cy="297180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3AEAE4-8ADE-46C2-B9BD-4099A733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81175"/>
            <a:ext cx="571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84AA88-E6D8-4904-990A-D83845F7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95475"/>
            <a:ext cx="8382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8AC358-9684-442B-B8AB-A2CCB640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3357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/ γ-MATRIX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AF225C-FFF8-40B2-98A7-6A2D316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0980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Sektorale Wirkung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75FAF8-FDDA-4D4C-BDA6-ACFD272C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66975"/>
            <a:ext cx="1609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Schock → PD &amp; LGD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4C64C6-B6E6-4D20-9916-C2EEFD6C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14625"/>
            <a:ext cx="1609725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ΔPD = βoil × ΔBrent</a:t>
            </a:r>
          </a:p>
          <a:p xmlns:a="http://schemas.openxmlformats.org/drawingml/2006/main">
            <a:pPr algn="l">
              <a:defRPr sz="91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       + βrate × Δr10Y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ΔLGD = γoil × ΔBrent</a:t>
            </a:r>
          </a:p>
          <a:p xmlns:a="http://schemas.openxmlformats.org/drawingml/2006/main">
            <a:pPr algn="l">
              <a:defRPr sz="91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        + γrate × Δr10Y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7 Exposure-Klassen</a:t>
            </a:r>
          </a:p>
          <a:p xmlns:a="http://schemas.openxmlformats.org/drawingml/2006/main">
            <a:pPr algn="l">
              <a:defRPr sz="91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1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mit eigenen Sensitivitäten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EB25C1-D1F0-45BC-BE88-F92073F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813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790629-9C06-49C5-9DD0-7988D0B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81175"/>
            <a:ext cx="2952750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21CD01-B40D-4F01-B79A-6FF4F25D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81175"/>
            <a:ext cx="571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87F3D0-275A-4DC9-B3FE-22242D4A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95475"/>
            <a:ext cx="619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B2B3A8-9F5F-4B77-9A41-D4C6875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33575"/>
            <a:ext cx="542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KANAL 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18FC56-431F-484C-AB69-55FC1561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0980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Kreditbuch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F0E8648-DE03-4587-BB51-4121F02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66975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Expected Loss &amp; IRB-RWA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B286D1-44F1-45F0-92E1-7466A6D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146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PD/LGD → höhere Vorsorge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Basel-IRB-Formel → zusätzliche RWA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AC6A6C-E5BD-42C5-AB3D-896D6A25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295275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D9EAB0-5AEA-43BC-B0E0-DED18319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571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85DC7F0-46E6-4036-8AB0-EC7802DC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29000"/>
            <a:ext cx="619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5F0F11-74CC-430B-B2BB-A344DB99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67100"/>
            <a:ext cx="542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KANAL 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52DF7B2-2E88-4229-A108-A3595206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4332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Sovereign-Buch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BB29953-5F59-4E69-A3E8-4810E1AE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00050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Duration &amp; IFRS-9-Filter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F884B9-866F-4CC5-8138-B842A80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481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ΔFair Value ≈ −Duration × Δr × Bestand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HfT / FVTPL / FVOCI wirken auf CET1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1D4CFC-2A4B-45CC-A584-8EFC0B9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81325"/>
            <a:ext cx="21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018C5B-ED28-4B1F-A8EA-D7A4FCBD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781175"/>
            <a:ext cx="2200275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123B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D28D47-92EC-4C7D-9673-48FF54DA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781175"/>
            <a:ext cx="571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175E82-1A1E-47A0-8F47-621A4222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95475"/>
            <a:ext cx="8953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065CCE-8C75-4D3F-8E64-9742C42B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33575"/>
            <a:ext cx="819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CET1-BRIDGE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47C9BF-BAC9-41D7-8F08-0EA43805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933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Zusammenführung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D4BAC51-FB9F-47DB-8759-79F6BB89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66975"/>
            <a:ext cx="1933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E8F0F3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E8F0F3"/>
                </a:solidFill>
                <a:latin typeface="Aptos"/>
                <a:ea typeface="Aptos"/>
                <a:cs typeface="Aptos"/>
              </a:rPr>
              <a:t>Zähler:</a:t>
            </a:r>
          </a:p>
          <a:p xmlns:a="http://schemas.openxmlformats.org/drawingml/2006/main">
            <a:pPr algn="l">
              <a:defRPr sz="960" b="0" i="0">
                <a:solidFill>
                  <a:srgbClr val="E8F0F3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E8F0F3"/>
                </a:solidFill>
                <a:latin typeface="Aptos"/>
                <a:ea typeface="Aptos"/>
                <a:cs typeface="Aptos"/>
              </a:rPr>
              <a:t>CET1 − Kreditvorsorge</a:t>
            </a:r>
          </a:p>
          <a:p xmlns:a="http://schemas.openxmlformats.org/drawingml/2006/main">
            <a:pPr algn="l">
              <a:defRPr sz="960" b="0" i="0">
                <a:solidFill>
                  <a:srgbClr val="E8F0F3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E8F0F3"/>
                </a:solidFill>
                <a:latin typeface="Aptos"/>
                <a:ea typeface="Aptos"/>
                <a:cs typeface="Aptos"/>
              </a:rPr>
              <a:t>− Sovereign-MtM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 i="0">
                <a:solidFill>
                  <a:srgbClr val="E8F0F3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E8F0F3"/>
                </a:solidFill>
                <a:latin typeface="Aptos"/>
                <a:ea typeface="Aptos"/>
                <a:cs typeface="Aptos"/>
              </a:rPr>
              <a:t>Nenner:</a:t>
            </a:r>
          </a:p>
          <a:p xmlns:a="http://schemas.openxmlformats.org/drawingml/2006/main">
            <a:pPr algn="l">
              <a:defRPr sz="960" b="0" i="0">
                <a:solidFill>
                  <a:srgbClr val="E8F0F3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E8F0F3"/>
                </a:solidFill>
                <a:latin typeface="Aptos"/>
                <a:ea typeface="Aptos"/>
                <a:cs typeface="Aptos"/>
              </a:rPr>
              <a:t>RWA + zusätzliche Kredit-RWA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6A3D03-E66B-4C3B-A698-77D8B851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76675"/>
            <a:ext cx="220027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55A629D-6624-4838-80C1-7E307C1D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7667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A7A4D74-0608-4999-A94C-538EFEE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90975"/>
            <a:ext cx="5524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DE66E2C-E7F9-4D96-AD0C-97FE65D2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29075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9FF45D-F418-4137-B291-6F62748A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05300"/>
            <a:ext cx="1933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Gestresste CET1-Quote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D74F9F-4554-4E97-AEC4-B44E910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62475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Bankenvergleich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4,5 % · 7,0 % · 8,0 % Schwellen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3169678-02EB-4C6B-9F9F-F5595E72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1127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51E386-5CF3-46D2-B178-4EF9484B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666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COCKPIT-REIHENFOLGE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F0CDB37-7AC4-477F-8C7C-D6E1A01A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1762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12175AE-C22D-4B89-A8B0-F595B505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19775"/>
            <a:ext cx="1685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· Faktor-Analyse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58C187-AF84-4265-A655-7B25677B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76950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Korrelation &amp; Transmission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E68B72B-F371-46BD-991D-2A2ED004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72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482117E-E15D-4361-9B51-0E8A956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81675"/>
            <a:ext cx="1762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C7DF31C-3FCD-4623-ABAB-240B51F4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819775"/>
            <a:ext cx="1685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· Kreditbuch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FAB224-3576-461E-8FBB-CCD50CA6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76950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PD/LGD · EL · RWA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0291208-A52C-476E-B55D-D41AFBDD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772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1985F2B-1EB7-4D74-AAD5-A7D7CD38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81675"/>
            <a:ext cx="1762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DA5EF6-811D-4FF8-9F36-39C60D1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819775"/>
            <a:ext cx="1685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3 · Marktbuch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EF9117-B865-4FEE-AB25-F1B8549B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76950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Yield Curve · Sovereigns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41BA51D-DF87-421C-8E61-E2707EFD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72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7CE3B10-423C-4EB9-81A6-069F882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81675"/>
            <a:ext cx="1762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AE4362B-28B4-423C-816A-164BCD06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819775"/>
            <a:ext cx="1685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 · Eigenkapital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2E2F99-D70E-42DA-9036-363D8599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76950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CET1-Waterfall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2F52B2-C9AF-47F3-B6A4-CEF2376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772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662A9D-B191-4350-9903-74FA2348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781675"/>
            <a:ext cx="1762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32C6A0E-24EF-4DE0-839F-5F369FA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819775"/>
            <a:ext cx="1685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 · Validierung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911B43-5AE2-460D-A807-5C72DFC1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076950"/>
            <a:ext cx="1762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Backtest &amp; Governance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22C40B-DACE-4E59-B0B0-482F865E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Alle Elemente dieser Folie sind editierbare PowerPoint-Formen.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FAC4082-70B1-4A10-B813-F0D1A124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79013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39880B-65F3-4AD4-9F61-547ADFC9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ECAD9-CD08-498B-9442-BD6F5D48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DATENBASIS &amp; BANKENUNIVERSUM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225DF-42DD-4F2D-BFFD-2209FA65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10 kuratierte Banken verbinden hohe Abdeckung mit konsistenten Daten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A401-B6F9-4665-826F-AA71DC5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Filter reduziert das EBA-Universum; Aktualität und Modellfunktion jeder Quelle sind transparent.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8F32B-F2D5-453F-873F-39CF84F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382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FARBCODE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26DE4-8F9F-4D39-8E3E-8A1F5DF9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90625"/>
            <a:ext cx="1524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A47D6-4514-4CAA-9844-CFBF7E90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28725"/>
            <a:ext cx="1447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AKTUELL: regelmäßig erneuert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ED0C4-880E-481C-A37F-E9A0899E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90625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9F0FB-62CC-4315-8137-82CE83A6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28725"/>
            <a:ext cx="106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HISTORIE: Backtest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8B7C-48AD-444C-872F-7B753F97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190625"/>
            <a:ext cx="14478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4B724-D922-49C0-9992-12C20B77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228725"/>
            <a:ext cx="1371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SNAPSHOT: fixer Stichtag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3DD97-1A59-4A26-B40B-F3467980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752850" cy="44767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C55AA-C5C3-415B-8704-DA73ABBE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Bankenfilter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5BAC3-B3A7-48B2-ADCE-0FFCA79B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Von 120 EBA-Banken zum belastbaren IRB-Sample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B2CBF-2E61-44FE-BD15-437AA04F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3276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18C73-75B3-4B84-A400-2651BE0B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120 · EBA-Banken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99709-98A0-4F83-9344-8BAF6E8B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971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4DED6-B8D1-46B5-AB21-D8727896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67 · Banken mit IRB-Ansatz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B2BB3-FD5D-4C63-97B7-C92B029B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AFC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A90CB-AE08-48CB-AAAE-647C167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 · Top-Banken nach IRB-EAD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102DF-A47B-431C-9094-47831398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362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8A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DDFF5-9663-4842-9657-F78469FE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Einheitlicher Vintage &amp; Audit-Trail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97DCC-2C43-4A6F-82BB-C7CA1482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362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102AA-1637-4E70-B46D-0C4A59BE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 BANKEN · €8,28 tn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B40A9-6424-4511-99D0-2A32F19A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217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DCE8E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DCE8ED"/>
                </a:solidFill>
                <a:latin typeface="Aptos"/>
                <a:ea typeface="Aptos"/>
                <a:cs typeface="Aptos"/>
              </a:rPr>
              <a:t>56 % der EU-IRB-EAD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A28EE-650F-4EA1-82AC-6E907BB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4352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9525">
            <a:solidFill>
              <a:srgbClr val="EBC8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CB37A8-3E57-4807-8843-D612CB32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Herausgefiltert: Nicht-IRB-Banken,</a:t>
            </a:r>
          </a:p>
          <a:p xmlns:a="http://schemas.openxmlformats.org/drawingml/2006/main">
            <a:pPr algn="ctr">
              <a:defRPr sz="84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4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Tochtergesellschaften und Dubletten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0B174-816C-40C2-88D3-16A0A0CF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81150"/>
            <a:ext cx="7334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29BA04-EDA6-450D-960A-DCB4CB8F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Datenquellen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BE3572-02A9-4BC5-8755-DA4EB85A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669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Was wird aktualisiert – und wofür wird es verwendet?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75ED93-9B35-489C-B09C-B9798D3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371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AFFF98-D443-4C43-A8FC-0BCACEAF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A19A9A-D573-4582-B9A6-9FA15D84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47925"/>
            <a:ext cx="11811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549009-A154-474B-B68A-1BD4E210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86025"/>
            <a:ext cx="1104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969357-E231-4829-9167-A217B46F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622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ICE Brent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C50D64-3879-4F8D-B371-F4FEBB8D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19425"/>
            <a:ext cx="3105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Marktschluss &amp; Historie · Ölpreis-Schock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F4FB4-480B-49E6-8EC9-0D52A746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3371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3427E1-E27C-4A4B-BEDD-283970EF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2B633B-06E8-417E-BC28-BAF3BCDD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47925"/>
            <a:ext cx="11811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1C7FEC-29DD-4400-8307-C22E530E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86025"/>
            <a:ext cx="1104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353A29-74E5-493E-8BA3-303F7207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622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Bundesbank Svensson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879E37-E084-47CC-9F0E-AC6EFB6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19425"/>
            <a:ext cx="3105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Zero-Curve &amp; Historie · 10Y-Zinsschock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B6E07B-6756-482E-90FE-BD7E44DF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05175"/>
            <a:ext cx="3371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68887C-7432-4662-99BB-72C8441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0517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09DD2F-D0F1-4909-AC04-4715B1C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419475"/>
            <a:ext cx="1162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2F7EC7-7967-479C-AE27-881465B9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57575"/>
            <a:ext cx="1085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 31.12.2024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EA8D6D-241C-4DDF-A2C0-7F95EDB5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3380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Bank-Pillar-3 · EU-CR6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FD139C-48A9-48BA-B3CF-AB894A98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90975"/>
            <a:ext cx="3105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&amp; LGD · 69/69 IRB-Klassen direkt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A0D5CD-6411-4DAB-8478-D7EB4376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05175"/>
            <a:ext cx="3371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EC41DC-1E12-4A5B-9BDA-B8B0AC0A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0517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1F348E-09EE-4194-B272-E39368EC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19475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0A7224-E1B6-430D-97E7-1122531F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57575"/>
            <a:ext cx="106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 JUNI 2025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E7611F-81E4-42A2-9265-F983310E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3380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Transparency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0AB696-3ECF-4291-B2A6-AD0049D1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90975"/>
            <a:ext cx="3105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 · Sovereign-Bestände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7C3FF9-4697-4D18-9B2F-43746AB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76725"/>
            <a:ext cx="3371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9DD8CA-26EB-404D-A1D6-6D28DD78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7672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B91C6E-AFC6-4BEA-9020-B1B993DF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91025"/>
            <a:ext cx="11049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678D05-E4A9-43D1-9DCC-376B01DB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29125"/>
            <a:ext cx="1028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HISTORIE 2020–2025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C30EA7-C952-4D0F-A8C8-8B8A8D2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7053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EBA-Vintages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3D82A4-D609-4098-99AF-1906C109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62525"/>
            <a:ext cx="3105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22 Quartalsstichtage · Walk-Forward-Test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FA83E0-8F56-447A-988F-2732165C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76725"/>
            <a:ext cx="3371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C9FF58-2349-4235-BBE7-77C9D13F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76725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474488-36CA-49BC-A497-7A41AD15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91025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E65338-3538-4CBB-9D63-7142B1D0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29125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4ED228-BBD9-40B6-8217-E929C21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0535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· ECB · Basel / CRR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ECA9EF-0F8C-4CC6-9DA5-A1965908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62525"/>
            <a:ext cx="3105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1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Stresskalibrierung · IRB · IFRS 9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C2DC1C-9A23-4DF5-9BDE-FF572E51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67325"/>
            <a:ext cx="6915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4D73AD-6CC1-4BAF-B6F0-53806B9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81625"/>
            <a:ext cx="1238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DATENABDECKUNG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28111A-7A8C-4C69-86BD-60BAB178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530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69 / 69 IRB-fähige Bank-Klassen: PD &amp; LGD direkt aus Pillar 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C5BC2D-36FF-4343-B721-FA05FF5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48300"/>
            <a:ext cx="16859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B02DA1-4D89-44E3-BE12-8B00A88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86400"/>
            <a:ext cx="1609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 × NICHT ANWENDBAR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67BE33-166C-41A9-9112-8BC3CEBE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57875"/>
            <a:ext cx="512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Santander Sovereign: Standardansatz → kein IRB-PD/LGD; bleibt im Sovereign-MtM-Kanal.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37C053-4C31-460A-B9F0-11020FE6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66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Quellen: Bank-Pillar-3 EU-CR6 · EBA Transparency 2025 &amp; Vintages 2020–2025 · ICE Brent · Deutsche Bundesbank · EBA/ECB/Basel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A9A17A-D36A-428D-BC80-D0AB89A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67475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4152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2026-06-18T11:10:47.6050000Z</dcterms:created>
  <dcterms:modified xsi:type="dcterms:W3CDTF">2026-06-18T11:10:47.6050000Z</dcterms:modified>
</coreProperties>
</file>