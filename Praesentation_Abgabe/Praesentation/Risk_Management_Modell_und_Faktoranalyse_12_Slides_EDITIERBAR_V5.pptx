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A2DD456-D0AC-4133-89C5-F98EB31A33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3C20B4-2AD5-495F-8C27-22105BBF597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GRUNDLAGEN · VOM KREDITRISIKO ZUR CET1-QUOTE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CC39B-268E-490D-ACCE-7AB01895AEA1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Drei einfache Formeln verbinden Kreditrisiko und unsere Zielgröße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346EB-6E5A-452C-A822-9686AF226FAD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Loss, Kredit-RWA und Sovereign-Marktwert werden getrennt berechnet und anschließend in der CET1-Quote zusammengeführt.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6AC9C-D1F6-4F9E-8FCA-B5736224DB68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A50D2C-1C9D-4343-AC17-820D53AE72A1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6E93F6-8C4B-4BCD-97BE-F05BECF46A29}"/>
              </a:ext>
            </a:extLst>
          </p:cNvPr>
          <p:cNvSpPr>
            <a:spLocks noGrp="1"/>
          </p:cNvSpPr>
          <p:nvPr/>
        </p:nvSpPr>
        <p:spPr>
          <a:xfrm>
            <a:off x="628650" y="1600200"/>
            <a:ext cx="1000125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DD760-36D1-4BE7-AA27-A26DB6DBEC6D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9239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· EINGABEN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475ECC-BBF8-4780-A979-799400991945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geht in die Formeln ein?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72B36B-F549-4D9A-B78D-BD9E3F4E36CE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F5E5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AF4002-B320-4CA5-B3E5-C115899E2C98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AB3C07-49B3-46DF-A969-9C865D5AB500}"/>
              </a:ext>
            </a:extLst>
          </p:cNvPr>
          <p:cNvSpPr>
            <a:spLocks noGrp="1"/>
          </p:cNvSpPr>
          <p:nvPr/>
        </p:nvSpPr>
        <p:spPr>
          <a:xfrm>
            <a:off x="1257300" y="241935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wahrscheinlich ist ein Ausfall?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F947-0621-4917-9F15-EE37DC14C3C9}"/>
              </a:ext>
            </a:extLst>
          </p:cNvPr>
          <p:cNvSpPr>
            <a:spLocks noGrp="1"/>
          </p:cNvSpPr>
          <p:nvPr/>
        </p:nvSpPr>
        <p:spPr>
          <a:xfrm>
            <a:off x="1257300" y="26193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176B47-3080-4B44-B40C-C2877C1560C6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F8EED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0D9080-BA51-493E-8192-C92AAD99EFD8}"/>
              </a:ext>
            </a:extLst>
          </p:cNvPr>
          <p:cNvSpPr>
            <a:spLocks noGrp="1"/>
          </p:cNvSpPr>
          <p:nvPr/>
        </p:nvSpPr>
        <p:spPr>
          <a:xfrm>
            <a:off x="628650" y="313372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LGD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A8A99-13C3-4408-936D-949BA7F64338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viel verlieren wir bei einem Ausfall?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0407F-C229-4D59-8C63-D7F6F7C65D95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E8C715-F612-48AF-AF1F-0CB9F34D3419}"/>
              </a:ext>
            </a:extLst>
          </p:cNvPr>
          <p:cNvSpPr>
            <a:spLocks noGrp="1"/>
          </p:cNvSpPr>
          <p:nvPr/>
        </p:nvSpPr>
        <p:spPr>
          <a:xfrm>
            <a:off x="628650" y="365760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E3EF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FFDBC-D4F1-4642-B77A-3D18C35F080D}"/>
              </a:ext>
            </a:extLst>
          </p:cNvPr>
          <p:cNvSpPr>
            <a:spLocks noGrp="1"/>
          </p:cNvSpPr>
          <p:nvPr/>
        </p:nvSpPr>
        <p:spPr>
          <a:xfrm>
            <a:off x="628650" y="376237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E7B4E7-0DF6-41F7-983D-5A3EA7ABCCD1}"/>
              </a:ext>
            </a:extLst>
          </p:cNvPr>
          <p:cNvSpPr>
            <a:spLocks noGrp="1"/>
          </p:cNvSpPr>
          <p:nvPr/>
        </p:nvSpPr>
        <p:spPr>
          <a:xfrm>
            <a:off x="1257300" y="367665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hoch ist die offene Forderung?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C254E2-3287-48BE-9C59-35ED667D6BAF}"/>
              </a:ext>
            </a:extLst>
          </p:cNvPr>
          <p:cNvSpPr>
            <a:spLocks noGrp="1"/>
          </p:cNvSpPr>
          <p:nvPr/>
        </p:nvSpPr>
        <p:spPr>
          <a:xfrm>
            <a:off x="1257300" y="3876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EBA Transparency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5ED4C4-BEED-41D3-852D-5F65E659B39A}"/>
              </a:ext>
            </a:extLst>
          </p:cNvPr>
          <p:cNvSpPr>
            <a:spLocks noGrp="1"/>
          </p:cNvSpPr>
          <p:nvPr/>
        </p:nvSpPr>
        <p:spPr>
          <a:xfrm>
            <a:off x="628650" y="4257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Makroschock verändert PD und LGD; EAD bleibt die Bezugsgröße.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804A0-6630-4851-99CE-1FDED88FE392}"/>
              </a:ext>
            </a:extLst>
          </p:cNvPr>
          <p:cNvSpPr>
            <a:spLocks noGrp="1"/>
          </p:cNvSpPr>
          <p:nvPr/>
        </p:nvSpPr>
        <p:spPr>
          <a:xfrm>
            <a:off x="3829050" y="27146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3823F8-0739-4F9E-8B25-D30F41E1BB1E}"/>
              </a:ext>
            </a:extLst>
          </p:cNvPr>
          <p:cNvSpPr>
            <a:spLocks noGrp="1"/>
          </p:cNvSpPr>
          <p:nvPr/>
        </p:nvSpPr>
        <p:spPr>
          <a:xfrm>
            <a:off x="4248150" y="1438275"/>
            <a:ext cx="34861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4EF1B4-2EED-4A1E-8972-00462622E4FA}"/>
              </a:ext>
            </a:extLst>
          </p:cNvPr>
          <p:cNvSpPr>
            <a:spLocks noGrp="1"/>
          </p:cNvSpPr>
          <p:nvPr/>
        </p:nvSpPr>
        <p:spPr>
          <a:xfrm>
            <a:off x="4419600" y="1600200"/>
            <a:ext cx="12858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F7C377-F840-46AD-8394-1A237DB0756E}"/>
              </a:ext>
            </a:extLst>
          </p:cNvPr>
          <p:cNvSpPr>
            <a:spLocks noGrp="1"/>
          </p:cNvSpPr>
          <p:nvPr/>
        </p:nvSpPr>
        <p:spPr>
          <a:xfrm>
            <a:off x="4457700" y="1638300"/>
            <a:ext cx="1209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· VERLUST &amp; RWA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2F0779-9879-4C75-B15C-6DE24FBBFA69}"/>
              </a:ext>
            </a:extLst>
          </p:cNvPr>
          <p:cNvSpPr>
            <a:spLocks noGrp="1"/>
          </p:cNvSpPr>
          <p:nvPr/>
        </p:nvSpPr>
        <p:spPr>
          <a:xfrm>
            <a:off x="4419600" y="1971675"/>
            <a:ext cx="2952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wird berechnet?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6ADDE7-0745-4F9F-9CDD-AD6DC93E91FC}"/>
              </a:ext>
            </a:extLst>
          </p:cNvPr>
          <p:cNvSpPr>
            <a:spLocks noGrp="1"/>
          </p:cNvSpPr>
          <p:nvPr/>
        </p:nvSpPr>
        <p:spPr>
          <a:xfrm>
            <a:off x="4419600" y="2343150"/>
            <a:ext cx="3143250" cy="619125"/>
          </a:xfrm>
          <a:prstGeom prst="roundRect">
            <a:avLst>
              <a:gd name="adj" fmla="val 18462"/>
            </a:avLst>
          </a:prstGeom>
          <a:solidFill>
            <a:srgbClr val="F5E5E9"/>
          </a:solidFill>
          <a:ln w="9525">
            <a:solidFill>
              <a:srgbClr val="EBC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353C8F-F54C-4EB8-A1A9-4273604BA4C7}"/>
              </a:ext>
            </a:extLst>
          </p:cNvPr>
          <p:cNvSpPr>
            <a:spLocks noGrp="1"/>
          </p:cNvSpPr>
          <p:nvPr/>
        </p:nvSpPr>
        <p:spPr>
          <a:xfrm>
            <a:off x="4552950" y="24479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1 · Erwarteter Verlust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02E6EB-B859-4A35-9CF8-161DCC138638}"/>
              </a:ext>
            </a:extLst>
          </p:cNvPr>
          <p:cNvSpPr>
            <a:spLocks noGrp="1"/>
          </p:cNvSpPr>
          <p:nvPr/>
        </p:nvSpPr>
        <p:spPr>
          <a:xfrm>
            <a:off x="4552950" y="2647950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EL = PD × LGD × EAD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C282D0B-18DA-4E4A-A753-6DB88BB183D3}"/>
              </a:ext>
            </a:extLst>
          </p:cNvPr>
          <p:cNvSpPr>
            <a:spLocks noGrp="1"/>
          </p:cNvSpPr>
          <p:nvPr/>
        </p:nvSpPr>
        <p:spPr>
          <a:xfrm>
            <a:off x="4419600" y="3048000"/>
            <a:ext cx="3143250" cy="628650"/>
          </a:xfrm>
          <a:prstGeom prst="roundRect">
            <a:avLst>
              <a:gd name="adj" fmla="val 18182"/>
            </a:avLst>
          </a:prstGeom>
          <a:solidFill>
            <a:srgbClr val="E3EFF4"/>
          </a:solidFill>
          <a:ln w="9525">
            <a:solidFill>
              <a:srgbClr val="B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7F15F6-7A3A-4555-882A-06619636A2D1}"/>
              </a:ext>
            </a:extLst>
          </p:cNvPr>
          <p:cNvSpPr>
            <a:spLocks noGrp="1"/>
          </p:cNvSpPr>
          <p:nvPr/>
        </p:nvSpPr>
        <p:spPr>
          <a:xfrm>
            <a:off x="4552950" y="3143250"/>
            <a:ext cx="2000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2 · Regulatorische Kredit-RWA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7748A5-F7D4-4D6C-BD87-D92BB58CAC6C}"/>
              </a:ext>
            </a:extLst>
          </p:cNvPr>
          <p:cNvSpPr>
            <a:spLocks noGrp="1"/>
          </p:cNvSpPr>
          <p:nvPr/>
        </p:nvSpPr>
        <p:spPr>
          <a:xfrm>
            <a:off x="4552950" y="3343275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RWA = K × 12,5 × EAD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747ACB-C72E-4F24-9799-46F1BFDAAAE8}"/>
              </a:ext>
            </a:extLst>
          </p:cNvPr>
          <p:cNvSpPr>
            <a:spLocks noGrp="1"/>
          </p:cNvSpPr>
          <p:nvPr/>
        </p:nvSpPr>
        <p:spPr>
          <a:xfrm>
            <a:off x="4419600" y="3762375"/>
            <a:ext cx="3143250" cy="685800"/>
          </a:xfrm>
          <a:prstGeom prst="roundRect">
            <a:avLst>
              <a:gd name="adj" fmla="val 16667"/>
            </a:avLst>
          </a:prstGeom>
          <a:solidFill>
            <a:srgbClr val="F8EED3"/>
          </a:solidFill>
          <a:ln w="9525">
            <a:solidFill>
              <a:srgbClr val="E4C9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093A6-4350-4D39-8942-BDF275A31501}"/>
              </a:ext>
            </a:extLst>
          </p:cNvPr>
          <p:cNvSpPr>
            <a:spLocks noGrp="1"/>
          </p:cNvSpPr>
          <p:nvPr/>
        </p:nvSpPr>
        <p:spPr>
          <a:xfrm>
            <a:off x="4552950" y="3857625"/>
            <a:ext cx="1762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3 · Sovereign-Marktwert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A68F62-929F-4F3A-B547-BE5C42F8CD20}"/>
              </a:ext>
            </a:extLst>
          </p:cNvPr>
          <p:cNvSpPr>
            <a:spLocks noGrp="1"/>
          </p:cNvSpPr>
          <p:nvPr/>
        </p:nvSpPr>
        <p:spPr>
          <a:xfrm>
            <a:off x="4552950" y="4057650"/>
            <a:ext cx="2876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ΔFV = −D × (Δr ÷ 100) × Bestand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E5BBC8-404F-42E8-B1D9-6B1EF54D0B05}"/>
              </a:ext>
            </a:extLst>
          </p:cNvPr>
          <p:cNvSpPr>
            <a:spLocks noGrp="1"/>
          </p:cNvSpPr>
          <p:nvPr/>
        </p:nvSpPr>
        <p:spPr>
          <a:xfrm>
            <a:off x="4552950" y="4286250"/>
            <a:ext cx="2876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3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CET1: HfT / FVTPL / FVOCI ja · AC nein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E0423D-AFF0-4B5A-AACB-8268DBCB12E7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379934C-5F49-4854-AFF3-DA41F8DB8264}"/>
              </a:ext>
            </a:extLst>
          </p:cNvPr>
          <p:cNvSpPr>
            <a:spLocks noGrp="1"/>
          </p:cNvSpPr>
          <p:nvPr/>
        </p:nvSpPr>
        <p:spPr>
          <a:xfrm>
            <a:off x="8191500" y="1438275"/>
            <a:ext cx="3543300" cy="3143250"/>
          </a:xfrm>
          <a:prstGeom prst="roundRect">
            <a:avLst>
              <a:gd name="adj" fmla="val 3636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45F3D6-3A26-43DC-B420-C1E2597B6690}"/>
              </a:ext>
            </a:extLst>
          </p:cNvPr>
          <p:cNvSpPr>
            <a:spLocks noGrp="1"/>
          </p:cNvSpPr>
          <p:nvPr/>
        </p:nvSpPr>
        <p:spPr>
          <a:xfrm>
            <a:off x="8362950" y="1600200"/>
            <a:ext cx="114300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E0B827-28F6-4931-9E87-A2F60900AFF9}"/>
              </a:ext>
            </a:extLst>
          </p:cNvPr>
          <p:cNvSpPr>
            <a:spLocks noGrp="1"/>
          </p:cNvSpPr>
          <p:nvPr/>
        </p:nvSpPr>
        <p:spPr>
          <a:xfrm>
            <a:off x="8401050" y="1638300"/>
            <a:ext cx="1066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· ZIELGRÖSSE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34D95D-8BB2-4E39-AFEE-ABA0B4C80418}"/>
              </a:ext>
            </a:extLst>
          </p:cNvPr>
          <p:cNvSpPr>
            <a:spLocks noGrp="1"/>
          </p:cNvSpPr>
          <p:nvPr/>
        </p:nvSpPr>
        <p:spPr>
          <a:xfrm>
            <a:off x="8362950" y="1971675"/>
            <a:ext cx="3000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Wie entsteht die CET1-Quote?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C33225-B9A5-47A9-956B-D88A06C78923}"/>
              </a:ext>
            </a:extLst>
          </p:cNvPr>
          <p:cNvSpPr>
            <a:spLocks noGrp="1"/>
          </p:cNvSpPr>
          <p:nvPr/>
        </p:nvSpPr>
        <p:spPr>
          <a:xfrm>
            <a:off x="8572500" y="242887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CET1 nach Stress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079C1F-74E1-4C18-BC91-BB56F1F1807D}"/>
              </a:ext>
            </a:extLst>
          </p:cNvPr>
          <p:cNvSpPr>
            <a:spLocks noGrp="1"/>
          </p:cNvSpPr>
          <p:nvPr/>
        </p:nvSpPr>
        <p:spPr>
          <a:xfrm>
            <a:off x="8439150" y="2752725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− ΔEL + ΔFV Sovereigns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410653-9886-4C16-8F5A-A71303E47E72}"/>
              </a:ext>
            </a:extLst>
          </p:cNvPr>
          <p:cNvSpPr>
            <a:spLocks noGrp="1"/>
          </p:cNvSpPr>
          <p:nvPr/>
        </p:nvSpPr>
        <p:spPr>
          <a:xfrm>
            <a:off x="8591550" y="3124200"/>
            <a:ext cx="2743200" cy="19050"/>
          </a:xfrm>
          <a:prstGeom prst="rect">
            <a:avLst/>
          </a:prstGeom>
          <a:solidFill>
            <a:srgbClr val="8299A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BAC3-04C5-4F06-8D62-48982DC1CADA}"/>
              </a:ext>
            </a:extLst>
          </p:cNvPr>
          <p:cNvSpPr>
            <a:spLocks noGrp="1"/>
          </p:cNvSpPr>
          <p:nvPr/>
        </p:nvSpPr>
        <p:spPr>
          <a:xfrm>
            <a:off x="8572500" y="3276600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+ ΔRWA Kreditbuch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3A8AAC3-F316-445F-9CF5-FA8E56D29735}"/>
              </a:ext>
            </a:extLst>
          </p:cNvPr>
          <p:cNvSpPr>
            <a:spLocks noGrp="1"/>
          </p:cNvSpPr>
          <p:nvPr/>
        </p:nvSpPr>
        <p:spPr>
          <a:xfrm>
            <a:off x="8401050" y="3781425"/>
            <a:ext cx="3124200" cy="561975"/>
          </a:xfrm>
          <a:prstGeom prst="roundRect">
            <a:avLst>
              <a:gd name="adj" fmla="val 20339"/>
            </a:avLst>
          </a:prstGeom>
          <a:solidFill>
            <a:srgbClr val="123B50"/>
          </a:solidFill>
          <a:ln w="9525">
            <a:solidFill>
              <a:srgbClr val="3555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D31095-8227-43EA-A099-C35DE39F467E}"/>
              </a:ext>
            </a:extLst>
          </p:cNvPr>
          <p:cNvSpPr>
            <a:spLocks noGrp="1"/>
          </p:cNvSpPr>
          <p:nvPr/>
        </p:nvSpPr>
        <p:spPr>
          <a:xfrm>
            <a:off x="8572500" y="3876675"/>
            <a:ext cx="1095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F1BCC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1BCC8"/>
                </a:solidFill>
                <a:latin typeface="Aptos"/>
                <a:ea typeface="Aptos"/>
                <a:cs typeface="Aptos"/>
              </a:rPr>
              <a:t>Zähler sinkt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700CC7-BD7B-4E8C-A2E9-FC96F08390E5}"/>
              </a:ext>
            </a:extLst>
          </p:cNvPr>
          <p:cNvSpPr>
            <a:spLocks noGrp="1"/>
          </p:cNvSpPr>
          <p:nvPr/>
        </p:nvSpPr>
        <p:spPr>
          <a:xfrm>
            <a:off x="9620250" y="38766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Vorsorge und Sovereign-Verluste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8949D9-9F4C-4253-8963-2EA4E5DDD17A}"/>
              </a:ext>
            </a:extLst>
          </p:cNvPr>
          <p:cNvSpPr>
            <a:spLocks noGrp="1"/>
          </p:cNvSpPr>
          <p:nvPr/>
        </p:nvSpPr>
        <p:spPr>
          <a:xfrm>
            <a:off x="8572500" y="4105275"/>
            <a:ext cx="1095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9D6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D6DF"/>
                </a:solidFill>
                <a:latin typeface="Aptos"/>
                <a:ea typeface="Aptos"/>
                <a:cs typeface="Aptos"/>
              </a:rPr>
              <a:t>Nenner steigt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6C8DE77-2764-4173-9560-3BF49137560F}"/>
              </a:ext>
            </a:extLst>
          </p:cNvPr>
          <p:cNvSpPr>
            <a:spLocks noGrp="1"/>
          </p:cNvSpPr>
          <p:nvPr/>
        </p:nvSpPr>
        <p:spPr>
          <a:xfrm>
            <a:off x="9620250" y="41052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zusätzliche Kredit-RWA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02F5B14-0628-4990-B5CA-1C43AADD22D4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112776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44CB726-B9A1-43B4-A013-C28A8D18B9B7}"/>
              </a:ext>
            </a:extLst>
          </p:cNvPr>
          <p:cNvSpPr>
            <a:spLocks noGrp="1"/>
          </p:cNvSpPr>
          <p:nvPr/>
        </p:nvSpPr>
        <p:spPr>
          <a:xfrm>
            <a:off x="638175" y="5038725"/>
            <a:ext cx="2667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WOHER KOMMEN FORMELN UND WERTE?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83C0B95-EA86-4156-AA67-522E3A158461}"/>
              </a:ext>
            </a:extLst>
          </p:cNvPr>
          <p:cNvSpPr>
            <a:spLocks noGrp="1"/>
          </p:cNvSpPr>
          <p:nvPr/>
        </p:nvSpPr>
        <p:spPr>
          <a:xfrm>
            <a:off x="6381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8FAFB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55A4295-AB70-4538-922A-B6FC881C4A3F}"/>
              </a:ext>
            </a:extLst>
          </p:cNvPr>
          <p:cNvSpPr>
            <a:spLocks noGrp="1"/>
          </p:cNvSpPr>
          <p:nvPr/>
        </p:nvSpPr>
        <p:spPr>
          <a:xfrm>
            <a:off x="638175" y="5314950"/>
            <a:ext cx="47625" cy="6381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720D43-4FDB-4563-93BD-8F59440399D0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/ LGD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BA24F8-C712-404D-9E62-45731888437D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Banken melden diese Werte in Pillar 3 EU-CR6.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8B2E880-6136-4970-BB1B-BCB26898202C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3F6F7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BFC960-0952-4D08-8DF4-3515AC9F0146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47625" cy="63817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0BEE8E4-D1B0-4D66-9860-7EB655C9B9DC}"/>
              </a:ext>
            </a:extLst>
          </p:cNvPr>
          <p:cNvSpPr>
            <a:spLocks noGrp="1"/>
          </p:cNvSpPr>
          <p:nvPr/>
        </p:nvSpPr>
        <p:spPr>
          <a:xfrm>
            <a:off x="35242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 / CET1 / RWA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E071ABF-E5F7-4AB4-9E5A-38C1CD129DCF}"/>
              </a:ext>
            </a:extLst>
          </p:cNvPr>
          <p:cNvSpPr>
            <a:spLocks noGrp="1"/>
          </p:cNvSpPr>
          <p:nvPr/>
        </p:nvSpPr>
        <p:spPr>
          <a:xfrm>
            <a:off x="35242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Stammen aus der EBA Transparency Exercise.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A6BFF1B-F4E5-4581-91B9-E2DF7D29234C}"/>
              </a:ext>
            </a:extLst>
          </p:cNvPr>
          <p:cNvSpPr>
            <a:spLocks noGrp="1"/>
          </p:cNvSpPr>
          <p:nvPr/>
        </p:nvSpPr>
        <p:spPr>
          <a:xfrm>
            <a:off x="61245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8FAFB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652BAFB-5BA8-4BD0-9674-6FC7676372E2}"/>
              </a:ext>
            </a:extLst>
          </p:cNvPr>
          <p:cNvSpPr>
            <a:spLocks noGrp="1"/>
          </p:cNvSpPr>
          <p:nvPr/>
        </p:nvSpPr>
        <p:spPr>
          <a:xfrm>
            <a:off x="6124575" y="5314950"/>
            <a:ext cx="47625" cy="63817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B0D667-8E60-4BD7-B072-479641F65F22}"/>
              </a:ext>
            </a:extLst>
          </p:cNvPr>
          <p:cNvSpPr>
            <a:spLocks noGrp="1"/>
          </p:cNvSpPr>
          <p:nvPr/>
        </p:nvSpPr>
        <p:spPr>
          <a:xfrm>
            <a:off x="62674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und 12,5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492155-2C94-4D5E-BEA1-7610D75F9F89}"/>
              </a:ext>
            </a:extLst>
          </p:cNvPr>
          <p:cNvSpPr>
            <a:spLocks noGrp="1"/>
          </p:cNvSpPr>
          <p:nvPr/>
        </p:nvSpPr>
        <p:spPr>
          <a:xfrm>
            <a:off x="62674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 III / CRR geben Formel und 8%-Umrechnung fest vor.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01D9F4B-DE3B-4A2C-8960-BEF156DE8173}"/>
              </a:ext>
            </a:extLst>
          </p:cNvPr>
          <p:cNvSpPr>
            <a:spLocks noGrp="1"/>
          </p:cNvSpPr>
          <p:nvPr/>
        </p:nvSpPr>
        <p:spPr>
          <a:xfrm>
            <a:off x="88677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3F6F7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CFC058A-C2DC-4332-B496-B332062A678B}"/>
              </a:ext>
            </a:extLst>
          </p:cNvPr>
          <p:cNvSpPr>
            <a:spLocks noGrp="1"/>
          </p:cNvSpPr>
          <p:nvPr/>
        </p:nvSpPr>
        <p:spPr>
          <a:xfrm>
            <a:off x="8867775" y="5314950"/>
            <a:ext cx="47625" cy="63817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253E152-B5E7-4BD7-8813-98DDDE7D6D27}"/>
              </a:ext>
            </a:extLst>
          </p:cNvPr>
          <p:cNvSpPr>
            <a:spLocks noGrp="1"/>
          </p:cNvSpPr>
          <p:nvPr/>
        </p:nvSpPr>
        <p:spPr>
          <a:xfrm>
            <a:off x="90106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Sovereign ΔFV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CC80A82-81EA-48AB-A85E-41E43CB6D43B}"/>
              </a:ext>
            </a:extLst>
          </p:cNvPr>
          <p:cNvSpPr>
            <a:spLocks noGrp="1"/>
          </p:cNvSpPr>
          <p:nvPr/>
        </p:nvSpPr>
        <p:spPr>
          <a:xfrm>
            <a:off x="90106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EBA-Bestand, Laufzeit und IFRS-9-Klasse; Duration aus Laufzeitband.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0115F15-B843-4F3D-9503-3612C915B1B6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Prämissen ΔFV: paralleler Zinsschock · Duration ≈ Laufzeitband-Mittelpunkt; &gt;10 Jahre = 15 Jahre · keine Spread-, Hedge- oder Konvexitätseffekte.</a:t>
            </a:r>
          </a:p>
        </p:txBody>
      </p:sp>
    </p:spTree>
    <p:extLst>
      <p:ext uri="{BB962C8B-B14F-4D97-AF65-F5344CB8AC3E}">
        <p14:creationId xmlns:p14="http://schemas.microsoft.com/office/powerpoint/2010/main" val="63111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DAF8A59-F058-4FF7-BD9E-B1CDB0F573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5127B8-4BC0-46B3-8C4A-60E4DD500A2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EINFÜHRUNG IN DAS MODELL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977425-541E-4FAA-9E5E-AB3F0B4BDFAB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Das Modell übersetzt zwei Makroschocks in eine belastbare CET1-Aussage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48B0E-1DDD-4743-ACB6-ED620BABD7F5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Kern ist eine transparente Wirkungskette – von Marktvariablen über Risikoparameter bis zur Kapitalquote.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873E5-7A56-4E1F-9B37-9C9316EAB2D0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15133F-3837-4906-BF18-B595279E2B1E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1543050" cy="26670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A1BA9-B6A5-4881-9A88-2DA4C1F1C92A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293D3-B197-442A-8CF9-7BC5CFC7436E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Wie stark sinkt die harte Kernkapitalquote der zehn größten EU-IRB-Banken unter Ölpreis- und Zinsschocks?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86B896-69ED-44FB-B210-99DF5F427B04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2362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54221-8549-40AB-88B6-9471CEE99952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57150" cy="2095500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963E52-126D-4BED-B9F8-0316592E9EAE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590550" cy="2190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BBBC85-A0C1-4AFE-8A0C-D956F04DCCA7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514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E0C83-60F4-48BD-BA59-DBF44CC1149C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 · Makrofaktoren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B71D8-C836-4B26-926E-F28CE8999EB3}"/>
              </a:ext>
            </a:extLst>
          </p:cNvPr>
          <p:cNvSpPr>
            <a:spLocks noGrp="1"/>
          </p:cNvSpPr>
          <p:nvPr/>
        </p:nvSpPr>
        <p:spPr>
          <a:xfrm>
            <a:off x="619125" y="3486150"/>
            <a:ext cx="20383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Ölpreis als Energie- und Inflationsschock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Zins als Refinanzierungs- und Bewertungsimpuls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A96E93-953A-4F2D-8A1A-A0FEB25AF219}"/>
              </a:ext>
            </a:extLst>
          </p:cNvPr>
          <p:cNvSpPr>
            <a:spLocks noGrp="1"/>
          </p:cNvSpPr>
          <p:nvPr/>
        </p:nvSpPr>
        <p:spPr>
          <a:xfrm>
            <a:off x="2867025" y="3543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305602-CCF1-4D83-AF6B-E3661321352F}"/>
              </a:ext>
            </a:extLst>
          </p:cNvPr>
          <p:cNvSpPr>
            <a:spLocks noGrp="1"/>
          </p:cNvSpPr>
          <p:nvPr/>
        </p:nvSpPr>
        <p:spPr>
          <a:xfrm>
            <a:off x="3238500" y="2714625"/>
            <a:ext cx="2362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9350AE-E4A8-4DA2-81A1-5213C6C30884}"/>
              </a:ext>
            </a:extLst>
          </p:cNvPr>
          <p:cNvSpPr>
            <a:spLocks noGrp="1"/>
          </p:cNvSpPr>
          <p:nvPr/>
        </p:nvSpPr>
        <p:spPr>
          <a:xfrm>
            <a:off x="3238500" y="2714625"/>
            <a:ext cx="57150" cy="2095500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F23739-77EE-4FA6-975C-1AC155C75CA7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64770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2325D9-E53C-41A7-B04E-07DA33A643BA}"/>
              </a:ext>
            </a:extLst>
          </p:cNvPr>
          <p:cNvSpPr>
            <a:spLocks noGrp="1"/>
          </p:cNvSpPr>
          <p:nvPr/>
        </p:nvSpPr>
        <p:spPr>
          <a:xfrm>
            <a:off x="3429000" y="2876550"/>
            <a:ext cx="571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FF79C0-0FF5-4ABE-961A-890396AB4645}"/>
              </a:ext>
            </a:extLst>
          </p:cNvPr>
          <p:cNvSpPr>
            <a:spLocks noGrp="1"/>
          </p:cNvSpPr>
          <p:nvPr/>
        </p:nvSpPr>
        <p:spPr>
          <a:xfrm>
            <a:off x="3400425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 · Transmission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AC448-6788-4BB4-887F-124FF529B627}"/>
              </a:ext>
            </a:extLst>
          </p:cNvPr>
          <p:cNvSpPr>
            <a:spLocks noGrp="1"/>
          </p:cNvSpPr>
          <p:nvPr/>
        </p:nvSpPr>
        <p:spPr>
          <a:xfrm>
            <a:off x="3400425" y="3486150"/>
            <a:ext cx="20383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Sektorale β/γ-Matrix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je Exposure-Klasse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Keine pauschale Ein-Faktor-Logik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877136-FEB7-4B13-96E4-047E8386EC63}"/>
              </a:ext>
            </a:extLst>
          </p:cNvPr>
          <p:cNvSpPr>
            <a:spLocks noGrp="1"/>
          </p:cNvSpPr>
          <p:nvPr/>
        </p:nvSpPr>
        <p:spPr>
          <a:xfrm>
            <a:off x="5648325" y="3543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9E67F6-0EB9-45D3-94BF-7525102F9750}"/>
              </a:ext>
            </a:extLst>
          </p:cNvPr>
          <p:cNvSpPr>
            <a:spLocks noGrp="1"/>
          </p:cNvSpPr>
          <p:nvPr/>
        </p:nvSpPr>
        <p:spPr>
          <a:xfrm>
            <a:off x="6019800" y="2714625"/>
            <a:ext cx="2362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EF00F-F4B4-4A13-BADC-FED6885A0053}"/>
              </a:ext>
            </a:extLst>
          </p:cNvPr>
          <p:cNvSpPr>
            <a:spLocks noGrp="1"/>
          </p:cNvSpPr>
          <p:nvPr/>
        </p:nvSpPr>
        <p:spPr>
          <a:xfrm>
            <a:off x="6019800" y="2714625"/>
            <a:ext cx="57150" cy="20955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146C065-3617-4CAD-AE57-8A934F3C1927}"/>
              </a:ext>
            </a:extLst>
          </p:cNvPr>
          <p:cNvSpPr>
            <a:spLocks noGrp="1"/>
          </p:cNvSpPr>
          <p:nvPr/>
        </p:nvSpPr>
        <p:spPr>
          <a:xfrm>
            <a:off x="6172200" y="2838450"/>
            <a:ext cx="68580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61BDCE-3555-45E7-83E9-861902719E11}"/>
              </a:ext>
            </a:extLst>
          </p:cNvPr>
          <p:cNvSpPr>
            <a:spLocks noGrp="1"/>
          </p:cNvSpPr>
          <p:nvPr/>
        </p:nvSpPr>
        <p:spPr>
          <a:xfrm>
            <a:off x="6210300" y="2876550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KANÄLE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ACB9F7-F733-417C-9D2C-76A30B60A4B4}"/>
              </a:ext>
            </a:extLst>
          </p:cNvPr>
          <p:cNvSpPr>
            <a:spLocks noGrp="1"/>
          </p:cNvSpPr>
          <p:nvPr/>
        </p:nvSpPr>
        <p:spPr>
          <a:xfrm>
            <a:off x="6181725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3 · Risikokanäle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43D6C3-B46C-4EF3-B40A-627EB6277EF8}"/>
              </a:ext>
            </a:extLst>
          </p:cNvPr>
          <p:cNvSpPr>
            <a:spLocks noGrp="1"/>
          </p:cNvSpPr>
          <p:nvPr/>
        </p:nvSpPr>
        <p:spPr>
          <a:xfrm>
            <a:off x="6181725" y="3486150"/>
            <a:ext cx="20383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Kreditbuch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+ IRB-RWA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Sovereign-Buch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Duration-MtM + IFRS-9-Filter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D8EE50-EF1C-4D2B-8F97-BD274CDA6E23}"/>
              </a:ext>
            </a:extLst>
          </p:cNvPr>
          <p:cNvSpPr>
            <a:spLocks noGrp="1"/>
          </p:cNvSpPr>
          <p:nvPr/>
        </p:nvSpPr>
        <p:spPr>
          <a:xfrm>
            <a:off x="8429625" y="3543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D1AE87E-F6E4-4EE3-A897-02EBB2232482}"/>
              </a:ext>
            </a:extLst>
          </p:cNvPr>
          <p:cNvSpPr>
            <a:spLocks noGrp="1"/>
          </p:cNvSpPr>
          <p:nvPr/>
        </p:nvSpPr>
        <p:spPr>
          <a:xfrm>
            <a:off x="8801100" y="2714625"/>
            <a:ext cx="2933700" cy="2095500"/>
          </a:xfrm>
          <a:prstGeom prst="roundRect">
            <a:avLst>
              <a:gd name="adj" fmla="val 5455"/>
            </a:avLst>
          </a:prstGeom>
          <a:solidFill>
            <a:srgbClr val="123B50"/>
          </a:solidFill>
          <a:ln w="9525">
            <a:solidFill>
              <a:srgbClr val="123B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BA2EF4-AD13-4E15-B0F2-5146959E8B90}"/>
              </a:ext>
            </a:extLst>
          </p:cNvPr>
          <p:cNvSpPr>
            <a:spLocks noGrp="1"/>
          </p:cNvSpPr>
          <p:nvPr/>
        </p:nvSpPr>
        <p:spPr>
          <a:xfrm>
            <a:off x="8801100" y="2714625"/>
            <a:ext cx="57150" cy="209550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11846F3-F0C5-4342-97E9-D687EA5031B9}"/>
              </a:ext>
            </a:extLst>
          </p:cNvPr>
          <p:cNvSpPr>
            <a:spLocks noGrp="1"/>
          </p:cNvSpPr>
          <p:nvPr/>
        </p:nvSpPr>
        <p:spPr>
          <a:xfrm>
            <a:off x="8953500" y="2838450"/>
            <a:ext cx="62865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B6942C-F764-4048-AEA7-AA6997EF2288}"/>
              </a:ext>
            </a:extLst>
          </p:cNvPr>
          <p:cNvSpPr>
            <a:spLocks noGrp="1"/>
          </p:cNvSpPr>
          <p:nvPr/>
        </p:nvSpPr>
        <p:spPr>
          <a:xfrm>
            <a:off x="8991600" y="2876550"/>
            <a:ext cx="552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392D52-D959-4475-8580-03607963C903}"/>
              </a:ext>
            </a:extLst>
          </p:cNvPr>
          <p:cNvSpPr>
            <a:spLocks noGrp="1"/>
          </p:cNvSpPr>
          <p:nvPr/>
        </p:nvSpPr>
        <p:spPr>
          <a:xfrm>
            <a:off x="8963025" y="31623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· CET1-Ergebnis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294DA8-3487-44D8-99C7-D942761A8F0B}"/>
              </a:ext>
            </a:extLst>
          </p:cNvPr>
          <p:cNvSpPr>
            <a:spLocks noGrp="1"/>
          </p:cNvSpPr>
          <p:nvPr/>
        </p:nvSpPr>
        <p:spPr>
          <a:xfrm>
            <a:off x="8963025" y="3486150"/>
            <a:ext cx="2609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Zähler: CET1 minus Vorsorge und Marktwertverluste</a:t>
            </a:r>
          </a:p>
          <a:p>
            <a:endParaRPr sz="990" b="0" i="0">
              <a:solidFill>
                <a:srgbClr val="E4EEF2"/>
              </a:solidFill>
              <a:latin typeface="Aptos"/>
              <a:ea typeface="Aptos"/>
              <a:cs typeface="Aptos"/>
            </a:endParaRPr>
          </a:p>
          <a:p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Nenner: RWA plus zusätzlicher Kredit-RWA</a:t>
            </a:r>
          </a:p>
          <a:p>
            <a:endParaRPr sz="990" b="0" i="0">
              <a:solidFill>
                <a:srgbClr val="E4EEF2"/>
              </a:solidFill>
              <a:latin typeface="Aptos"/>
              <a:ea typeface="Aptos"/>
              <a:cs typeface="Aptos"/>
            </a:endParaRPr>
          </a:p>
          <a:p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Output: Quote je Bank und im Aggregat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5B74990-B124-41B3-8578-D4F2E24D998A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11277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3E1B82-9643-49CF-BD28-2A3E11CED6B3}"/>
              </a:ext>
            </a:extLst>
          </p:cNvPr>
          <p:cNvSpPr>
            <a:spLocks noGrp="1"/>
          </p:cNvSpPr>
          <p:nvPr/>
        </p:nvSpPr>
        <p:spPr>
          <a:xfrm>
            <a:off x="628650" y="5257800"/>
            <a:ext cx="1333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DESIGNPRINZIP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9803A9-EE6B-445D-B27A-46FD97D657CB}"/>
              </a:ext>
            </a:extLst>
          </p:cNvPr>
          <p:cNvSpPr>
            <a:spLocks noGrp="1"/>
          </p:cNvSpPr>
          <p:nvPr/>
        </p:nvSpPr>
        <p:spPr>
          <a:xfrm>
            <a:off x="628650" y="5505450"/>
            <a:ext cx="2381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Keine Black Box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B2D8D0-D10D-446C-9F40-3ADED000B538}"/>
              </a:ext>
            </a:extLst>
          </p:cNvPr>
          <p:cNvSpPr>
            <a:spLocks noGrp="1"/>
          </p:cNvSpPr>
          <p:nvPr/>
        </p:nvSpPr>
        <p:spPr>
          <a:xfrm>
            <a:off x="3009900" y="548640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Jeder Schritt besitzt eine Formel, eine Datenquelle und einen messbaren Beitrag zur finalen CET1-Bridge.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7CBBA6-6DEA-44F8-BCB3-2C94FD82C11B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27941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76E187C-0553-45E4-AE5B-2DB7249D6E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69DCD-DCF8-435B-A550-D0A13BB8BE6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ZIELGRÖSSE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00A3D9-EBD6-4108-9D41-F5D7053B5E70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CET1 fällt gleichzeitig über den Zähler und den RWA-Nenner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EA7D5-431B-4317-A500-EDB9C0DA0B5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Das Modell verbindet Kreditvorsorge, Marktwertverluste und zusätzliche RWA in einer konsistenten Kapitalgleichung.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2A827-25ED-4E13-8DF6-3BDF1956D75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9457D6-C357-4F92-8EFC-05EDA057E97F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6953250" cy="2428875"/>
          </a:xfrm>
          <a:prstGeom prst="roundRect">
            <a:avLst>
              <a:gd name="adj" fmla="val 4706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299E9-2605-45FB-BEB3-E257AF4ACC71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GESTRESSTE CET1-QUOTE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F8559-849C-4D45-9998-B2658258CD76}"/>
              </a:ext>
            </a:extLst>
          </p:cNvPr>
          <p:cNvSpPr>
            <a:spLocks noGrp="1"/>
          </p:cNvSpPr>
          <p:nvPr/>
        </p:nvSpPr>
        <p:spPr>
          <a:xfrm>
            <a:off x="904875" y="2124075"/>
            <a:ext cx="604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 −  ΔEL Kreditbuch  +  ΔFV Sovereigns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27C0B-904C-4618-B8B6-5BFFADA992A6}"/>
              </a:ext>
            </a:extLst>
          </p:cNvPr>
          <p:cNvSpPr>
            <a:spLocks noGrp="1"/>
          </p:cNvSpPr>
          <p:nvPr/>
        </p:nvSpPr>
        <p:spPr>
          <a:xfrm>
            <a:off x="1123950" y="2609850"/>
            <a:ext cx="5619750" cy="19050"/>
          </a:xfrm>
          <a:prstGeom prst="rect">
            <a:avLst/>
          </a:prstGeom>
          <a:solidFill>
            <a:srgbClr val="8299A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A13E8-4968-4042-A031-328B1D0F8C7E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4619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 +  ΔRWA Kreditbuch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28A78-E007-4BD2-9206-DDC9E45222DB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E8B6C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E8B6C2"/>
                </a:solidFill>
                <a:latin typeface="Aptos"/>
                <a:ea typeface="Aptos"/>
                <a:cs typeface="Aptos"/>
              </a:rPr>
              <a:t>Zählerwirkung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CF34F-643D-4963-A02C-9FDDB8198CC2}"/>
              </a:ext>
            </a:extLst>
          </p:cNvPr>
          <p:cNvSpPr>
            <a:spLocks noGrp="1"/>
          </p:cNvSpPr>
          <p:nvPr/>
        </p:nvSpPr>
        <p:spPr>
          <a:xfrm>
            <a:off x="2000250" y="3390900"/>
            <a:ext cx="466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Vorsorge und Sovereign-MtM reduzieren hartes Kernkapital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700E20-BCAB-46FB-812E-F372A023B142}"/>
              </a:ext>
            </a:extLst>
          </p:cNvPr>
          <p:cNvSpPr>
            <a:spLocks noGrp="1"/>
          </p:cNvSpPr>
          <p:nvPr/>
        </p:nvSpPr>
        <p:spPr>
          <a:xfrm>
            <a:off x="7715250" y="1438275"/>
            <a:ext cx="4019550" cy="242887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C2C3C-F29B-4F05-A8DB-BD722A0DB97D}"/>
              </a:ext>
            </a:extLst>
          </p:cNvPr>
          <p:cNvSpPr>
            <a:spLocks noGrp="1"/>
          </p:cNvSpPr>
          <p:nvPr/>
        </p:nvSpPr>
        <p:spPr>
          <a:xfrm>
            <a:off x="7715250" y="1438275"/>
            <a:ext cx="57150" cy="24288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F0058F-62C4-47FA-B521-77888D5E4A95}"/>
              </a:ext>
            </a:extLst>
          </p:cNvPr>
          <p:cNvSpPr>
            <a:spLocks noGrp="1"/>
          </p:cNvSpPr>
          <p:nvPr/>
        </p:nvSpPr>
        <p:spPr>
          <a:xfrm>
            <a:off x="7867650" y="1562100"/>
            <a:ext cx="7905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726C25-E8DD-456B-AEEC-0CE3AFFD37D2}"/>
              </a:ext>
            </a:extLst>
          </p:cNvPr>
          <p:cNvSpPr>
            <a:spLocks noGrp="1"/>
          </p:cNvSpPr>
          <p:nvPr/>
        </p:nvSpPr>
        <p:spPr>
          <a:xfrm>
            <a:off x="7905750" y="1600200"/>
            <a:ext cx="714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83FC3A-F0BD-4DAA-A31D-8EFEE0E63CFF}"/>
              </a:ext>
            </a:extLst>
          </p:cNvPr>
          <p:cNvSpPr>
            <a:spLocks noGrp="1"/>
          </p:cNvSpPr>
          <p:nvPr/>
        </p:nvSpPr>
        <p:spPr>
          <a:xfrm>
            <a:off x="7877175" y="1885950"/>
            <a:ext cx="3695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Warum beide Seiten zählen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F4F843-ED4E-436D-A618-580F005A356F}"/>
              </a:ext>
            </a:extLst>
          </p:cNvPr>
          <p:cNvSpPr>
            <a:spLocks noGrp="1"/>
          </p:cNvSpPr>
          <p:nvPr/>
        </p:nvSpPr>
        <p:spPr>
          <a:xfrm>
            <a:off x="7877175" y="2209800"/>
            <a:ext cx="36957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Höhere PD/LGD erhöhen den Expected Loss</a:t>
            </a:r>
          </a:p>
          <a:p>
            <a:endParaRPr sz="998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Die Basel-IRB-Formel erhöht den Kapitalbedarf und die RWA</a:t>
            </a:r>
          </a:p>
          <a:p>
            <a:endParaRPr sz="998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Steigende Zinsen senken den Fair Value marktwertbewerteter Staatsanleihen</a:t>
            </a:r>
          </a:p>
          <a:p>
            <a:endParaRPr sz="998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Alle Effekte wirken gemeinsam auf die Quote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7F1620-3752-4E43-B9BE-CBA4668A24E8}"/>
              </a:ext>
            </a:extLst>
          </p:cNvPr>
          <p:cNvSpPr>
            <a:spLocks noGrp="1"/>
          </p:cNvSpPr>
          <p:nvPr/>
        </p:nvSpPr>
        <p:spPr>
          <a:xfrm>
            <a:off x="457200" y="4238625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AUFSICHTLICHE ORIENTIERUNGSPUNKTE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A222D2-9312-4E10-8CEB-70B1121CC35E}"/>
              </a:ext>
            </a:extLst>
          </p:cNvPr>
          <p:cNvSpPr>
            <a:spLocks noGrp="1"/>
          </p:cNvSpPr>
          <p:nvPr/>
        </p:nvSpPr>
        <p:spPr>
          <a:xfrm>
            <a:off x="457200" y="4552950"/>
            <a:ext cx="349567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5FA55-902C-4663-9BCF-8664D09EBEAA}"/>
              </a:ext>
            </a:extLst>
          </p:cNvPr>
          <p:cNvSpPr>
            <a:spLocks noGrp="1"/>
          </p:cNvSpPr>
          <p:nvPr/>
        </p:nvSpPr>
        <p:spPr>
          <a:xfrm>
            <a:off x="457200" y="4552950"/>
            <a:ext cx="76200" cy="13620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14C60-2CA0-46EB-98F4-347E5ACD146B}"/>
              </a:ext>
            </a:extLst>
          </p:cNvPr>
          <p:cNvSpPr>
            <a:spLocks noGrp="1"/>
          </p:cNvSpPr>
          <p:nvPr/>
        </p:nvSpPr>
        <p:spPr>
          <a:xfrm>
            <a:off x="695325" y="47148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4,5 %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B4C862-B077-4690-A10F-96F20845AFE4}"/>
              </a:ext>
            </a:extLst>
          </p:cNvPr>
          <p:cNvSpPr>
            <a:spLocks noGrp="1"/>
          </p:cNvSpPr>
          <p:nvPr/>
        </p:nvSpPr>
        <p:spPr>
          <a:xfrm>
            <a:off x="695325" y="52292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Pillar-1-Minimum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628743-85EE-4DAA-AAAB-C7F49E45EF83}"/>
              </a:ext>
            </a:extLst>
          </p:cNvPr>
          <p:cNvSpPr>
            <a:spLocks noGrp="1"/>
          </p:cNvSpPr>
          <p:nvPr/>
        </p:nvSpPr>
        <p:spPr>
          <a:xfrm>
            <a:off x="695325" y="553402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harte Untergrenze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0D2862-1D0D-4F58-B2C2-49C604F4CF3E}"/>
              </a:ext>
            </a:extLst>
          </p:cNvPr>
          <p:cNvSpPr>
            <a:spLocks noGrp="1"/>
          </p:cNvSpPr>
          <p:nvPr/>
        </p:nvSpPr>
        <p:spPr>
          <a:xfrm>
            <a:off x="4219575" y="4552950"/>
            <a:ext cx="349567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F6DE04-264F-4D5A-ACE7-D3D33B6F7CC4}"/>
              </a:ext>
            </a:extLst>
          </p:cNvPr>
          <p:cNvSpPr>
            <a:spLocks noGrp="1"/>
          </p:cNvSpPr>
          <p:nvPr/>
        </p:nvSpPr>
        <p:spPr>
          <a:xfrm>
            <a:off x="4219575" y="4552950"/>
            <a:ext cx="76200" cy="136207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896F4D-54C4-4C37-8E75-6B9261475336}"/>
              </a:ext>
            </a:extLst>
          </p:cNvPr>
          <p:cNvSpPr>
            <a:spLocks noGrp="1"/>
          </p:cNvSpPr>
          <p:nvPr/>
        </p:nvSpPr>
        <p:spPr>
          <a:xfrm>
            <a:off x="4457700" y="47148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rPr>
              <a:t>7,0 %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3B84AE-2710-48AB-85AA-811F75993670}"/>
              </a:ext>
            </a:extLst>
          </p:cNvPr>
          <p:cNvSpPr>
            <a:spLocks noGrp="1"/>
          </p:cNvSpPr>
          <p:nvPr/>
        </p:nvSpPr>
        <p:spPr>
          <a:xfrm>
            <a:off x="4457700" y="52292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inkl. Kapitalerhaltungspuffer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C3DCE3-8570-469F-B77E-70686ACF047F}"/>
              </a:ext>
            </a:extLst>
          </p:cNvPr>
          <p:cNvSpPr>
            <a:spLocks noGrp="1"/>
          </p:cNvSpPr>
          <p:nvPr/>
        </p:nvSpPr>
        <p:spPr>
          <a:xfrm>
            <a:off x="4457700" y="553402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Ausschüttungen unter Druck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D5A64E8-4E02-4C57-B01B-987A956F1A13}"/>
              </a:ext>
            </a:extLst>
          </p:cNvPr>
          <p:cNvSpPr>
            <a:spLocks noGrp="1"/>
          </p:cNvSpPr>
          <p:nvPr/>
        </p:nvSpPr>
        <p:spPr>
          <a:xfrm>
            <a:off x="7981950" y="4552950"/>
            <a:ext cx="349567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8094DD-7BF1-44B4-A023-660DAB724935}"/>
              </a:ext>
            </a:extLst>
          </p:cNvPr>
          <p:cNvSpPr>
            <a:spLocks noGrp="1"/>
          </p:cNvSpPr>
          <p:nvPr/>
        </p:nvSpPr>
        <p:spPr>
          <a:xfrm>
            <a:off x="7981950" y="4552950"/>
            <a:ext cx="76200" cy="136207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BFBF03-10AF-4154-BF8F-55BB2F36DBB7}"/>
              </a:ext>
            </a:extLst>
          </p:cNvPr>
          <p:cNvSpPr>
            <a:spLocks noGrp="1"/>
          </p:cNvSpPr>
          <p:nvPr/>
        </p:nvSpPr>
        <p:spPr>
          <a:xfrm>
            <a:off x="8220075" y="47148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rPr>
              <a:t>8,0 %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A78FA3-ED51-4D8C-BF4C-C34CD5DC2E68}"/>
              </a:ext>
            </a:extLst>
          </p:cNvPr>
          <p:cNvSpPr>
            <a:spLocks noGrp="1"/>
          </p:cNvSpPr>
          <p:nvPr/>
        </p:nvSpPr>
        <p:spPr>
          <a:xfrm>
            <a:off x="8220075" y="52292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typischer SREP-Orientierungswert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62DC1D-78A3-455E-89F7-719804135FCF}"/>
              </a:ext>
            </a:extLst>
          </p:cNvPr>
          <p:cNvSpPr>
            <a:spLocks noGrp="1"/>
          </p:cNvSpPr>
          <p:nvPr/>
        </p:nvSpPr>
        <p:spPr>
          <a:xfrm>
            <a:off x="8220075" y="553402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institutsspezifischer Puffer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7F1197-4925-4260-A631-15B9488CD6FF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 III / CRR · Modell-Cockpit · Schwellen dienen der Einordnung, nicht als bankspezifische SREP-Prognose</a:t>
            </a:r>
          </a:p>
        </p:txBody>
      </p:sp>
    </p:spTree>
    <p:extLst>
      <p:ext uri="{BB962C8B-B14F-4D97-AF65-F5344CB8AC3E}">
        <p14:creationId xmlns:p14="http://schemas.microsoft.com/office/powerpoint/2010/main" val="182619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CFEB9B30-B65E-4F2B-A279-CE8C079A33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F7D856-9A66-4B1F-9468-74A69679AB1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DATENBASIS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9E411-D2D3-4D0A-9C54-22BD30B7227B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Ein konsistenter Top-10-Datensatz verbindet 56 % der EU-IRB-EAD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F90D4-41E4-4314-B892-9266D647967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Bankparameter stammen aus regulatorischen Veröffentlichungen; Marktvariablen liefern die dynamischen Stressimpulse.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21A5E-057A-4DCC-89E3-B53B6DF49E2D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955B5B-E311-4523-99D3-47F777218C63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638550" cy="45148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C6DEC-312F-472D-B475-D872E39C315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BANKENFILTER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DDA20F-D8C9-42A5-9F42-B0F96E998D6F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3257550" cy="419100"/>
          </a:xfrm>
          <a:prstGeom prst="roundRect">
            <a:avLst>
              <a:gd name="adj" fmla="val 18182"/>
            </a:avLst>
          </a:prstGeom>
          <a:solidFill>
            <a:srgbClr val="E5EC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DC5EF2-4675-43B5-A9DB-B798061CC7CF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31051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EBA-Banken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541A68-2D2B-47A7-8CA5-3732BBAA75DC}"/>
              </a:ext>
            </a:extLst>
          </p:cNvPr>
          <p:cNvSpPr>
            <a:spLocks noGrp="1"/>
          </p:cNvSpPr>
          <p:nvPr/>
        </p:nvSpPr>
        <p:spPr>
          <a:xfrm>
            <a:off x="828675" y="2590800"/>
            <a:ext cx="2895600" cy="419100"/>
          </a:xfrm>
          <a:prstGeom prst="roundRect">
            <a:avLst>
              <a:gd name="adj" fmla="val 18182"/>
            </a:avLst>
          </a:prstGeom>
          <a:solidFill>
            <a:srgbClr val="D0DF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895B2-080B-4D4B-94A9-951FF5FB721E}"/>
              </a:ext>
            </a:extLst>
          </p:cNvPr>
          <p:cNvSpPr>
            <a:spLocks noGrp="1"/>
          </p:cNvSpPr>
          <p:nvPr/>
        </p:nvSpPr>
        <p:spPr>
          <a:xfrm>
            <a:off x="904875" y="2705100"/>
            <a:ext cx="27432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IRB-Banken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3CFADD-37F6-4B5C-B95F-BD58E91C076C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2533650" cy="419100"/>
          </a:xfrm>
          <a:prstGeom prst="roundRect">
            <a:avLst>
              <a:gd name="adj" fmla="val 18182"/>
            </a:avLst>
          </a:prstGeom>
          <a:solidFill>
            <a:srgbClr val="AFC8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16DC3E-DDE3-455B-A64C-98F82FD9580B}"/>
              </a:ext>
            </a:extLst>
          </p:cNvPr>
          <p:cNvSpPr>
            <a:spLocks noGrp="1"/>
          </p:cNvSpPr>
          <p:nvPr/>
        </p:nvSpPr>
        <p:spPr>
          <a:xfrm>
            <a:off x="1085850" y="3257550"/>
            <a:ext cx="2381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kuratierte Top-Banken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CA84B2-B80A-4B56-AF3E-7637EB80E51A}"/>
              </a:ext>
            </a:extLst>
          </p:cNvPr>
          <p:cNvSpPr>
            <a:spLocks noGrp="1"/>
          </p:cNvSpPr>
          <p:nvPr/>
        </p:nvSpPr>
        <p:spPr>
          <a:xfrm>
            <a:off x="1190625" y="3695700"/>
            <a:ext cx="2171700" cy="419100"/>
          </a:xfrm>
          <a:prstGeom prst="roundRect">
            <a:avLst>
              <a:gd name="adj" fmla="val 18182"/>
            </a:avLst>
          </a:prstGeom>
          <a:solidFill>
            <a:srgbClr val="78A4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6F097D-9205-44C0-8473-6FD86374842D}"/>
              </a:ext>
            </a:extLst>
          </p:cNvPr>
          <p:cNvSpPr>
            <a:spLocks noGrp="1"/>
          </p:cNvSpPr>
          <p:nvPr/>
        </p:nvSpPr>
        <p:spPr>
          <a:xfrm>
            <a:off x="1266825" y="3810000"/>
            <a:ext cx="2019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Audit-Trail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22A6DE-6491-436F-9D69-B0798D0BA31E}"/>
              </a:ext>
            </a:extLst>
          </p:cNvPr>
          <p:cNvSpPr>
            <a:spLocks noGrp="1"/>
          </p:cNvSpPr>
          <p:nvPr/>
        </p:nvSpPr>
        <p:spPr>
          <a:xfrm>
            <a:off x="1000125" y="4419600"/>
            <a:ext cx="2552700" cy="876300"/>
          </a:xfrm>
          <a:prstGeom prst="roundRect">
            <a:avLst>
              <a:gd name="adj" fmla="val 13043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5B4CF5-6637-4E66-AA01-B4BE3658ECD8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3408BC-D9BF-4034-96F6-283A6825F1B9}"/>
              </a:ext>
            </a:extLst>
          </p:cNvPr>
          <p:cNvSpPr>
            <a:spLocks noGrp="1"/>
          </p:cNvSpPr>
          <p:nvPr/>
        </p:nvSpPr>
        <p:spPr>
          <a:xfrm>
            <a:off x="1190625" y="5000625"/>
            <a:ext cx="2171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IRB-EAD · 56 % Abdeckung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51887-27C4-4508-A41E-B31BEA2E7D54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3067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Filter entfernt Nicht-IRB-Banken, Töchter und Dubletten.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769E5A-7FC2-4BFC-A98D-BA73C95530E2}"/>
              </a:ext>
            </a:extLst>
          </p:cNvPr>
          <p:cNvSpPr>
            <a:spLocks noGrp="1"/>
          </p:cNvSpPr>
          <p:nvPr/>
        </p:nvSpPr>
        <p:spPr>
          <a:xfrm>
            <a:off x="4400550" y="14668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DATENBAUSTEINE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CFCC71-0FF8-479E-8A9C-5E849FF709D2}"/>
              </a:ext>
            </a:extLst>
          </p:cNvPr>
          <p:cNvSpPr>
            <a:spLocks noGrp="1"/>
          </p:cNvSpPr>
          <p:nvPr/>
        </p:nvSpPr>
        <p:spPr>
          <a:xfrm>
            <a:off x="4400550" y="1781175"/>
            <a:ext cx="34480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EDFF19-A9D5-437F-B3E4-7E9DD9BB9EB9}"/>
              </a:ext>
            </a:extLst>
          </p:cNvPr>
          <p:cNvSpPr>
            <a:spLocks noGrp="1"/>
          </p:cNvSpPr>
          <p:nvPr/>
        </p:nvSpPr>
        <p:spPr>
          <a:xfrm>
            <a:off x="4400550" y="1781175"/>
            <a:ext cx="57150" cy="1190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D29F24-9525-4623-A8B4-B11DD3108027}"/>
              </a:ext>
            </a:extLst>
          </p:cNvPr>
          <p:cNvSpPr>
            <a:spLocks noGrp="1"/>
          </p:cNvSpPr>
          <p:nvPr/>
        </p:nvSpPr>
        <p:spPr>
          <a:xfrm>
            <a:off x="4552950" y="1905000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2141D2-17DD-4DBA-9D8F-6BD70AEA3026}"/>
              </a:ext>
            </a:extLst>
          </p:cNvPr>
          <p:cNvSpPr>
            <a:spLocks noGrp="1"/>
          </p:cNvSpPr>
          <p:nvPr/>
        </p:nvSpPr>
        <p:spPr>
          <a:xfrm>
            <a:off x="4591050" y="1943100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5C438C-F334-4099-9230-BB992BF792F2}"/>
              </a:ext>
            </a:extLst>
          </p:cNvPr>
          <p:cNvSpPr>
            <a:spLocks noGrp="1"/>
          </p:cNvSpPr>
          <p:nvPr/>
        </p:nvSpPr>
        <p:spPr>
          <a:xfrm>
            <a:off x="4562475" y="2228850"/>
            <a:ext cx="3124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4FF431-49C7-4951-8107-6D971FEF6A0C}"/>
              </a:ext>
            </a:extLst>
          </p:cNvPr>
          <p:cNvSpPr>
            <a:spLocks noGrp="1"/>
          </p:cNvSpPr>
          <p:nvPr/>
        </p:nvSpPr>
        <p:spPr>
          <a:xfrm>
            <a:off x="4562475" y="2552700"/>
            <a:ext cx="3124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und LGD je Bank und IRB-Klasse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 · 69/69 IRB-fähige Kombinationen direkt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3A3E9BE-57C8-4D15-88CB-18A6F2F8C6D7}"/>
              </a:ext>
            </a:extLst>
          </p:cNvPr>
          <p:cNvSpPr>
            <a:spLocks noGrp="1"/>
          </p:cNvSpPr>
          <p:nvPr/>
        </p:nvSpPr>
        <p:spPr>
          <a:xfrm>
            <a:off x="8058150" y="1781175"/>
            <a:ext cx="36766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4AA046-80B6-4F6B-9410-8AADA0771C95}"/>
              </a:ext>
            </a:extLst>
          </p:cNvPr>
          <p:cNvSpPr>
            <a:spLocks noGrp="1"/>
          </p:cNvSpPr>
          <p:nvPr/>
        </p:nvSpPr>
        <p:spPr>
          <a:xfrm>
            <a:off x="8058150" y="1781175"/>
            <a:ext cx="57150" cy="1190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B914524-DB9C-4912-91A9-788B9D29C51B}"/>
              </a:ext>
            </a:extLst>
          </p:cNvPr>
          <p:cNvSpPr>
            <a:spLocks noGrp="1"/>
          </p:cNvSpPr>
          <p:nvPr/>
        </p:nvSpPr>
        <p:spPr>
          <a:xfrm>
            <a:off x="8210550" y="1905000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89A74C-15C9-489A-B563-9DBF26757AA4}"/>
              </a:ext>
            </a:extLst>
          </p:cNvPr>
          <p:cNvSpPr>
            <a:spLocks noGrp="1"/>
          </p:cNvSpPr>
          <p:nvPr/>
        </p:nvSpPr>
        <p:spPr>
          <a:xfrm>
            <a:off x="8248650" y="1943100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321FDA-94FF-41FB-82DC-3082D282736D}"/>
              </a:ext>
            </a:extLst>
          </p:cNvPr>
          <p:cNvSpPr>
            <a:spLocks noGrp="1"/>
          </p:cNvSpPr>
          <p:nvPr/>
        </p:nvSpPr>
        <p:spPr>
          <a:xfrm>
            <a:off x="8220075" y="22288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220B2B-D869-4C06-BA87-226C1E4EEE51}"/>
              </a:ext>
            </a:extLst>
          </p:cNvPr>
          <p:cNvSpPr>
            <a:spLocks noGrp="1"/>
          </p:cNvSpPr>
          <p:nvPr/>
        </p:nvSpPr>
        <p:spPr>
          <a:xfrm>
            <a:off x="8220075" y="2552700"/>
            <a:ext cx="335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Bankindividueller IFRS-9-Split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80D8A6-3838-427F-A7F5-6EF8592B6973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34480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A39A7C-4D1A-4779-82E0-CEFD46091B5A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57150" cy="1190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10A2F46-437D-49FA-9426-CCE4837ED7CD}"/>
              </a:ext>
            </a:extLst>
          </p:cNvPr>
          <p:cNvSpPr>
            <a:spLocks noGrp="1"/>
          </p:cNvSpPr>
          <p:nvPr/>
        </p:nvSpPr>
        <p:spPr>
          <a:xfrm>
            <a:off x="4552950" y="3276600"/>
            <a:ext cx="120015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6A4FFD9-069D-446E-8BAF-A6B6D5911D59}"/>
              </a:ext>
            </a:extLst>
          </p:cNvPr>
          <p:cNvSpPr>
            <a:spLocks noGrp="1"/>
          </p:cNvSpPr>
          <p:nvPr/>
        </p:nvSpPr>
        <p:spPr>
          <a:xfrm>
            <a:off x="4591050" y="3314700"/>
            <a:ext cx="1123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741B23-F5E2-4EB8-88E3-CEA2B5546790}"/>
              </a:ext>
            </a:extLst>
          </p:cNvPr>
          <p:cNvSpPr>
            <a:spLocks noGrp="1"/>
          </p:cNvSpPr>
          <p:nvPr/>
        </p:nvSpPr>
        <p:spPr>
          <a:xfrm>
            <a:off x="4562475" y="3600450"/>
            <a:ext cx="3124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F83A12-52F3-473D-B375-A700AB07CF80}"/>
              </a:ext>
            </a:extLst>
          </p:cNvPr>
          <p:cNvSpPr>
            <a:spLocks noGrp="1"/>
          </p:cNvSpPr>
          <p:nvPr/>
        </p:nvSpPr>
        <p:spPr>
          <a:xfrm>
            <a:off x="4562475" y="3924300"/>
            <a:ext cx="3124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Aktueller Marktpreis und tägliche Historie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Ölpreis- und Energiepreisschock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5D6AE13-C4F2-420F-864B-10C389496343}"/>
              </a:ext>
            </a:extLst>
          </p:cNvPr>
          <p:cNvSpPr>
            <a:spLocks noGrp="1"/>
          </p:cNvSpPr>
          <p:nvPr/>
        </p:nvSpPr>
        <p:spPr>
          <a:xfrm>
            <a:off x="8058150" y="3152775"/>
            <a:ext cx="36766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7166E2-A5F2-450A-9731-F69D2A7A6E3B}"/>
              </a:ext>
            </a:extLst>
          </p:cNvPr>
          <p:cNvSpPr>
            <a:spLocks noGrp="1"/>
          </p:cNvSpPr>
          <p:nvPr/>
        </p:nvSpPr>
        <p:spPr>
          <a:xfrm>
            <a:off x="8058150" y="3152775"/>
            <a:ext cx="57150" cy="1190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7BE6C7-1E87-4E7C-9AA4-7BACBD379B55}"/>
              </a:ext>
            </a:extLst>
          </p:cNvPr>
          <p:cNvSpPr>
            <a:spLocks noGrp="1"/>
          </p:cNvSpPr>
          <p:nvPr/>
        </p:nvSpPr>
        <p:spPr>
          <a:xfrm>
            <a:off x="8210550" y="3276600"/>
            <a:ext cx="120015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B100D94-FA49-46F0-9165-D40AD4C46994}"/>
              </a:ext>
            </a:extLst>
          </p:cNvPr>
          <p:cNvSpPr>
            <a:spLocks noGrp="1"/>
          </p:cNvSpPr>
          <p:nvPr/>
        </p:nvSpPr>
        <p:spPr>
          <a:xfrm>
            <a:off x="8248650" y="3314700"/>
            <a:ext cx="1123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FDDA4A-A920-4693-9DD7-84862F6F3A71}"/>
              </a:ext>
            </a:extLst>
          </p:cNvPr>
          <p:cNvSpPr>
            <a:spLocks noGrp="1"/>
          </p:cNvSpPr>
          <p:nvPr/>
        </p:nvSpPr>
        <p:spPr>
          <a:xfrm>
            <a:off x="8220075" y="36004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A0D0BD-868E-4B52-A078-31E8A2DCFAC5}"/>
              </a:ext>
            </a:extLst>
          </p:cNvPr>
          <p:cNvSpPr>
            <a:spLocks noGrp="1"/>
          </p:cNvSpPr>
          <p:nvPr/>
        </p:nvSpPr>
        <p:spPr>
          <a:xfrm>
            <a:off x="8220075" y="3924300"/>
            <a:ext cx="335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Zero-Curve und tägliche Historie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den 10-Jahres-Zinsschock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8ADFFC8-3759-449B-9A4A-EA1AD1DAF0DA}"/>
              </a:ext>
            </a:extLst>
          </p:cNvPr>
          <p:cNvSpPr>
            <a:spLocks noGrp="1"/>
          </p:cNvSpPr>
          <p:nvPr/>
        </p:nvSpPr>
        <p:spPr>
          <a:xfrm>
            <a:off x="4400550" y="4524375"/>
            <a:ext cx="7334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33DBCE-DBB9-460F-B57E-F3DD11AF3240}"/>
              </a:ext>
            </a:extLst>
          </p:cNvPr>
          <p:cNvSpPr>
            <a:spLocks noGrp="1"/>
          </p:cNvSpPr>
          <p:nvPr/>
        </p:nvSpPr>
        <p:spPr>
          <a:xfrm>
            <a:off x="4400550" y="4524375"/>
            <a:ext cx="57150" cy="1143000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8D929B0-E34F-4AA4-9953-64792AD02EDE}"/>
              </a:ext>
            </a:extLst>
          </p:cNvPr>
          <p:cNvSpPr>
            <a:spLocks noGrp="1"/>
          </p:cNvSpPr>
          <p:nvPr/>
        </p:nvSpPr>
        <p:spPr>
          <a:xfrm>
            <a:off x="4552950" y="4648200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17688A-5F76-4EDB-A610-B1EAE772153A}"/>
              </a:ext>
            </a:extLst>
          </p:cNvPr>
          <p:cNvSpPr>
            <a:spLocks noGrp="1"/>
          </p:cNvSpPr>
          <p:nvPr/>
        </p:nvSpPr>
        <p:spPr>
          <a:xfrm>
            <a:off x="4591050" y="4686300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A2C441-5229-4C61-88BE-73C1DCC0C5F5}"/>
              </a:ext>
            </a:extLst>
          </p:cNvPr>
          <p:cNvSpPr>
            <a:spLocks noGrp="1"/>
          </p:cNvSpPr>
          <p:nvPr/>
        </p:nvSpPr>
        <p:spPr>
          <a:xfrm>
            <a:off x="4562475" y="4972050"/>
            <a:ext cx="701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Methodik und Kalibrierung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10BDE10-FC83-4088-A645-746F53601CE5}"/>
              </a:ext>
            </a:extLst>
          </p:cNvPr>
          <p:cNvSpPr>
            <a:spLocks noGrp="1"/>
          </p:cNvSpPr>
          <p:nvPr/>
        </p:nvSpPr>
        <p:spPr>
          <a:xfrm>
            <a:off x="4562475" y="5295900"/>
            <a:ext cx="70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EBA-Stresstestmethodik · ECB Working Papers · Basel-IRB-Formel · IFRS 9</a:t>
            </a:r>
          </a:p>
          <a:p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Quellen liefern Richtung, relative Stärke und regulatorische Rechenlogik.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6B4FA17-7892-41A9-A4C1-17C31AA45651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01710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F58F97-C3EF-497A-8576-2A8179F58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031D0-FBF2-4577-AADA-B1E0BC649409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FAKTORAUSWAHL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4CA37-F8B7-4DFE-A33B-E12126110422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Brent und 10Y-Zins adressieren unterschiedliche ökonomische Risiken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D1FD1-3FB7-4FBD-BEB7-EF1B8757F230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Faktoren werden nicht aggregiert, weil sie verschiedene Ursachen, Bilanzkanäle und sektorale Gewinner bzw. Verlierer erzeugen.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71FD2-7DB3-4CB2-84C9-E698CA05221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24B5D0-08E5-4A26-A53D-A5361642E938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4762500" cy="3743325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F015A1-71DD-4C18-8691-C5FF77C978CF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57150" cy="37433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CEFB3D-6A68-4BD1-8F7D-24665E7D85CF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714375" cy="2190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958845-4431-4FDA-9B75-7AB14976B28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6381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5A207B-679A-4796-806E-740A859A457A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43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 · Energie- und Angebotsschock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03498-DC4B-45C4-AAAF-C6443FEEEEBF}"/>
              </a:ext>
            </a:extLst>
          </p:cNvPr>
          <p:cNvSpPr>
            <a:spLocks noGrp="1"/>
          </p:cNvSpPr>
          <p:nvPr/>
        </p:nvSpPr>
        <p:spPr>
          <a:xfrm>
            <a:off x="619125" y="2266950"/>
            <a:ext cx="4438650" cy="2886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Brent?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Europäischer Referenzpreis für global gehandeltes Rohöl.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Energie- und Inputkosten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Headline-Inflation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verfügbares Haushaltseinkommen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Unternehmensmargen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Log-Return: additiv über die Zeit und symmetrisch um null.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6E7418-4BA4-4B38-9C81-DA4AA5A55064}"/>
              </a:ext>
            </a:extLst>
          </p:cNvPr>
          <p:cNvSpPr>
            <a:spLocks noGrp="1"/>
          </p:cNvSpPr>
          <p:nvPr/>
        </p:nvSpPr>
        <p:spPr>
          <a:xfrm>
            <a:off x="6972300" y="1495425"/>
            <a:ext cx="4762500" cy="3743325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B9107-35F0-4D0C-8895-732895C93FB1}"/>
              </a:ext>
            </a:extLst>
          </p:cNvPr>
          <p:cNvSpPr>
            <a:spLocks noGrp="1"/>
          </p:cNvSpPr>
          <p:nvPr/>
        </p:nvSpPr>
        <p:spPr>
          <a:xfrm>
            <a:off x="6972300" y="1495425"/>
            <a:ext cx="57150" cy="37433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396176B-B1F5-4D50-AC64-BC3B34402152}"/>
              </a:ext>
            </a:extLst>
          </p:cNvPr>
          <p:cNvSpPr>
            <a:spLocks noGrp="1"/>
          </p:cNvSpPr>
          <p:nvPr/>
        </p:nvSpPr>
        <p:spPr>
          <a:xfrm>
            <a:off x="7124700" y="1619250"/>
            <a:ext cx="7143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A2653-13B5-4B20-ACEF-18F94B308AB2}"/>
              </a:ext>
            </a:extLst>
          </p:cNvPr>
          <p:cNvSpPr>
            <a:spLocks noGrp="1"/>
          </p:cNvSpPr>
          <p:nvPr/>
        </p:nvSpPr>
        <p:spPr>
          <a:xfrm>
            <a:off x="7162800" y="1657350"/>
            <a:ext cx="6381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0A556-FE56-415C-81AB-4369532C5CC9}"/>
              </a:ext>
            </a:extLst>
          </p:cNvPr>
          <p:cNvSpPr>
            <a:spLocks noGrp="1"/>
          </p:cNvSpPr>
          <p:nvPr/>
        </p:nvSpPr>
        <p:spPr>
          <a:xfrm>
            <a:off x="7134225" y="1943100"/>
            <a:ext cx="443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 · Refinanzierungs- und Bewertungsimpuls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BC3509-1444-49AD-97A7-6A06F76C6048}"/>
              </a:ext>
            </a:extLst>
          </p:cNvPr>
          <p:cNvSpPr>
            <a:spLocks noGrp="1"/>
          </p:cNvSpPr>
          <p:nvPr/>
        </p:nvSpPr>
        <p:spPr>
          <a:xfrm>
            <a:off x="7134225" y="2266950"/>
            <a:ext cx="4438650" cy="2886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zehn Jahre?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Pricing-Anker für Hypotheken, Corporate Bonds und Sovereigns.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Kredit- und Refinanzierungskosten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Immobilienwerte und Recovery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Bond-Duration / Mark-to-Market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Net Interest Margin der Banken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Prozentpunkte: +2,0 pp entsprechen +200 Basispunkten.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AC5FBF-7852-48E4-8F42-EC3ADB320448}"/>
              </a:ext>
            </a:extLst>
          </p:cNvPr>
          <p:cNvSpPr>
            <a:spLocks noGrp="1"/>
          </p:cNvSpPr>
          <p:nvPr/>
        </p:nvSpPr>
        <p:spPr>
          <a:xfrm>
            <a:off x="5219700" y="2324100"/>
            <a:ext cx="1752600" cy="1428750"/>
          </a:xfrm>
          <a:prstGeom prst="roundRect">
            <a:avLst>
              <a:gd name="adj" fmla="val 8000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6EDB2-79FD-4399-B8D3-43C849A6CF29}"/>
              </a:ext>
            </a:extLst>
          </p:cNvPr>
          <p:cNvSpPr>
            <a:spLocks noGrp="1"/>
          </p:cNvSpPr>
          <p:nvPr/>
        </p:nvSpPr>
        <p:spPr>
          <a:xfrm>
            <a:off x="5334000" y="24955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ZENTRALE THESE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15F47C-BC83-4BE8-A657-F23CD8739A4B}"/>
              </a:ext>
            </a:extLst>
          </p:cNvPr>
          <p:cNvSpPr>
            <a:spLocks noGrp="1"/>
          </p:cNvSpPr>
          <p:nvPr/>
        </p:nvSpPr>
        <p:spPr>
          <a:xfrm>
            <a:off x="5314950" y="2790825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ρ = +0,070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64D687-8289-4460-B007-7F22767DA5E7}"/>
              </a:ext>
            </a:extLst>
          </p:cNvPr>
          <p:cNvSpPr>
            <a:spLocks noGrp="1"/>
          </p:cNvSpPr>
          <p:nvPr/>
        </p:nvSpPr>
        <p:spPr>
          <a:xfrm>
            <a:off x="5353050" y="3248025"/>
            <a:ext cx="148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nahezu unabhängige</a:t>
            </a:r>
          </a:p>
          <a:p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Tagesbewegungen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4B0238-3C2A-44A4-905A-742F925B3A74}"/>
              </a:ext>
            </a:extLst>
          </p:cNvPr>
          <p:cNvSpPr>
            <a:spLocks noGrp="1"/>
          </p:cNvSpPr>
          <p:nvPr/>
        </p:nvSpPr>
        <p:spPr>
          <a:xfrm>
            <a:off x="457200" y="5505450"/>
            <a:ext cx="11277600" cy="628650"/>
          </a:xfrm>
          <a:prstGeom prst="roundRect">
            <a:avLst>
              <a:gd name="adj" fmla="val 18182"/>
            </a:avLst>
          </a:prstGeom>
          <a:solidFill>
            <a:srgbClr val="E3F1EF"/>
          </a:solidFill>
          <a:ln w="9525">
            <a:solidFill>
              <a:srgbClr val="B7D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39D565-E142-4841-BA85-41629AD707E0}"/>
              </a:ext>
            </a:extLst>
          </p:cNvPr>
          <p:cNvSpPr>
            <a:spLocks noGrp="1"/>
          </p:cNvSpPr>
          <p:nvPr/>
        </p:nvSpPr>
        <p:spPr>
          <a:xfrm>
            <a:off x="647700" y="56483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MODELLKONSEQUENZ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1817B3-2CEA-47AF-A5EC-680AA0046B4E}"/>
              </a:ext>
            </a:extLst>
          </p:cNvPr>
          <p:cNvSpPr>
            <a:spLocks noGrp="1"/>
          </p:cNvSpPr>
          <p:nvPr/>
        </p:nvSpPr>
        <p:spPr>
          <a:xfrm>
            <a:off x="2428875" y="5629275"/>
            <a:ext cx="895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Zwei getrennte Slider und zwei direkte Faktorbeiträge – keine Verdichtung in einen systemischen Einzelfaktor.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C696B4-C909-498A-89A5-CBDBA57B84AF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40176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EC744F89-9009-4F1E-AE83-7F5CFC554A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3D1E9F-FCD4-45A8-A12F-0B70C8B7E9B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TRANSMISSION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6E6DE-DFF3-4BDF-ABBA-34D6E492B725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β/γ-Werte übersetzen Schocks in PD und LGD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417CF-EE2C-4153-A502-21B392E26E9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 Exposure-Klasse reagiert anders – inklusive positiver Zinswirkung auf Bank-Counterparties über den NIM-Kanal.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4D0BD-8609-4AC6-BB5A-D10E9F0CDFBF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ABB1E5-4D6E-48FC-A1D6-CFDD4CD0FD99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277600" cy="819150"/>
          </a:xfrm>
          <a:prstGeom prst="roundRect">
            <a:avLst>
              <a:gd name="adj" fmla="val 13953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51186-7769-4745-BD5B-FF371AC3281D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ΔPDKlasse = βoil × ΔBrent + βrate × Δr10Y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9C5F1-9EE4-4B92-B780-CF969B59F054}"/>
              </a:ext>
            </a:extLst>
          </p:cNvPr>
          <p:cNvSpPr>
            <a:spLocks noGrp="1"/>
          </p:cNvSpPr>
          <p:nvPr/>
        </p:nvSpPr>
        <p:spPr>
          <a:xfrm>
            <a:off x="6238875" y="15621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ΔLGDKlasse = γoil × ΔBrent + γrate × Δr10Y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D27791-3B2E-4AC7-A68F-272310211506}"/>
              </a:ext>
            </a:extLst>
          </p:cNvPr>
          <p:cNvSpPr>
            <a:spLocks noGrp="1"/>
          </p:cNvSpPr>
          <p:nvPr/>
        </p:nvSpPr>
        <p:spPr>
          <a:xfrm>
            <a:off x="457200" y="2381250"/>
            <a:ext cx="2428875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C2F2B-CBA7-4C49-877E-7C9ED0D3DBF6}"/>
              </a:ext>
            </a:extLst>
          </p:cNvPr>
          <p:cNvSpPr>
            <a:spLocks noGrp="1"/>
          </p:cNvSpPr>
          <p:nvPr/>
        </p:nvSpPr>
        <p:spPr>
          <a:xfrm>
            <a:off x="504825" y="2466975"/>
            <a:ext cx="2333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Exposure-Klasse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59A0C6-5D4E-4DC8-8697-FF7C75030E99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B63A1-6E43-49CA-9420-A93DE0C86CC7}"/>
              </a:ext>
            </a:extLst>
          </p:cNvPr>
          <p:cNvSpPr>
            <a:spLocks noGrp="1"/>
          </p:cNvSpPr>
          <p:nvPr/>
        </p:nvSpPr>
        <p:spPr>
          <a:xfrm>
            <a:off x="3048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Oil · PD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3D780B-88B4-434F-8279-3A71F7F60E8A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381DE-8F40-4D32-8593-0BB7B90250BF}"/>
              </a:ext>
            </a:extLst>
          </p:cNvPr>
          <p:cNvSpPr>
            <a:spLocks noGrp="1"/>
          </p:cNvSpPr>
          <p:nvPr/>
        </p:nvSpPr>
        <p:spPr>
          <a:xfrm>
            <a:off x="4572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Rate · PD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F9BA4A-88EF-4235-8DAE-1EAD265D3728}"/>
              </a:ext>
            </a:extLst>
          </p:cNvPr>
          <p:cNvSpPr>
            <a:spLocks noGrp="1"/>
          </p:cNvSpPr>
          <p:nvPr/>
        </p:nvSpPr>
        <p:spPr>
          <a:xfrm>
            <a:off x="6048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A61D48-64BD-4E81-A121-C7DBCA8EAFEA}"/>
              </a:ext>
            </a:extLst>
          </p:cNvPr>
          <p:cNvSpPr>
            <a:spLocks noGrp="1"/>
          </p:cNvSpPr>
          <p:nvPr/>
        </p:nvSpPr>
        <p:spPr>
          <a:xfrm>
            <a:off x="6096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Oil · LGD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662A8-BFDD-43EE-8DB0-55052FAED367}"/>
              </a:ext>
            </a:extLst>
          </p:cNvPr>
          <p:cNvSpPr>
            <a:spLocks noGrp="1"/>
          </p:cNvSpPr>
          <p:nvPr/>
        </p:nvSpPr>
        <p:spPr>
          <a:xfrm>
            <a:off x="7572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A20625-83EF-476E-897A-BBDCF26FA446}"/>
              </a:ext>
            </a:extLst>
          </p:cNvPr>
          <p:cNvSpPr>
            <a:spLocks noGrp="1"/>
          </p:cNvSpPr>
          <p:nvPr/>
        </p:nvSpPr>
        <p:spPr>
          <a:xfrm>
            <a:off x="7620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Rate · LGD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3334E8-EEEE-4550-BA5B-FC257CD9CC71}"/>
              </a:ext>
            </a:extLst>
          </p:cNvPr>
          <p:cNvSpPr>
            <a:spLocks noGrp="1"/>
          </p:cNvSpPr>
          <p:nvPr/>
        </p:nvSpPr>
        <p:spPr>
          <a:xfrm>
            <a:off x="9096375" y="2381250"/>
            <a:ext cx="2638425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D4AF18-E2BC-405D-B039-011C9C12FF36}"/>
              </a:ext>
            </a:extLst>
          </p:cNvPr>
          <p:cNvSpPr>
            <a:spLocks noGrp="1"/>
          </p:cNvSpPr>
          <p:nvPr/>
        </p:nvSpPr>
        <p:spPr>
          <a:xfrm>
            <a:off x="9144000" y="2466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Ökonomisches Profil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71D0E9-FDD0-4DE9-B113-499FE97E30E7}"/>
              </a:ext>
            </a:extLst>
          </p:cNvPr>
          <p:cNvSpPr>
            <a:spLocks noGrp="1"/>
          </p:cNvSpPr>
          <p:nvPr/>
        </p:nvSpPr>
        <p:spPr>
          <a:xfrm>
            <a:off x="457200" y="270510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29EFA0-8ACB-4672-8ABB-DBC1DBE8B107}"/>
              </a:ext>
            </a:extLst>
          </p:cNvPr>
          <p:cNvSpPr>
            <a:spLocks noGrp="1"/>
          </p:cNvSpPr>
          <p:nvPr/>
        </p:nvSpPr>
        <p:spPr>
          <a:xfrm>
            <a:off x="523875" y="282892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091057-DD8B-41E0-99AF-5AE7138E8886}"/>
              </a:ext>
            </a:extLst>
          </p:cNvPr>
          <p:cNvSpPr>
            <a:spLocks noGrp="1"/>
          </p:cNvSpPr>
          <p:nvPr/>
        </p:nvSpPr>
        <p:spPr>
          <a:xfrm>
            <a:off x="3000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89E7A8-554B-4BD4-9409-4A699F8D2E20}"/>
              </a:ext>
            </a:extLst>
          </p:cNvPr>
          <p:cNvSpPr>
            <a:spLocks noGrp="1"/>
          </p:cNvSpPr>
          <p:nvPr/>
        </p:nvSpPr>
        <p:spPr>
          <a:xfrm>
            <a:off x="3067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B185BB-F92D-4858-ADFE-FDB7C7E0CB70}"/>
              </a:ext>
            </a:extLst>
          </p:cNvPr>
          <p:cNvSpPr>
            <a:spLocks noGrp="1"/>
          </p:cNvSpPr>
          <p:nvPr/>
        </p:nvSpPr>
        <p:spPr>
          <a:xfrm>
            <a:off x="4524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A9615F-BDD8-41A5-8027-E7E3B86AB7E7}"/>
              </a:ext>
            </a:extLst>
          </p:cNvPr>
          <p:cNvSpPr>
            <a:spLocks noGrp="1"/>
          </p:cNvSpPr>
          <p:nvPr/>
        </p:nvSpPr>
        <p:spPr>
          <a:xfrm>
            <a:off x="4591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939699-8420-4842-B6BC-20339A41510F}"/>
              </a:ext>
            </a:extLst>
          </p:cNvPr>
          <p:cNvSpPr>
            <a:spLocks noGrp="1"/>
          </p:cNvSpPr>
          <p:nvPr/>
        </p:nvSpPr>
        <p:spPr>
          <a:xfrm>
            <a:off x="6048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6F7CCB-CDC0-4CBE-B7F2-252A6402A664}"/>
              </a:ext>
            </a:extLst>
          </p:cNvPr>
          <p:cNvSpPr>
            <a:spLocks noGrp="1"/>
          </p:cNvSpPr>
          <p:nvPr/>
        </p:nvSpPr>
        <p:spPr>
          <a:xfrm>
            <a:off x="6115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187499-F00B-4139-AABF-743FC5B74ED2}"/>
              </a:ext>
            </a:extLst>
          </p:cNvPr>
          <p:cNvSpPr>
            <a:spLocks noGrp="1"/>
          </p:cNvSpPr>
          <p:nvPr/>
        </p:nvSpPr>
        <p:spPr>
          <a:xfrm>
            <a:off x="7572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B57329-B51F-4F68-9267-6A57750E5D25}"/>
              </a:ext>
            </a:extLst>
          </p:cNvPr>
          <p:cNvSpPr>
            <a:spLocks noGrp="1"/>
          </p:cNvSpPr>
          <p:nvPr/>
        </p:nvSpPr>
        <p:spPr>
          <a:xfrm>
            <a:off x="7639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2E4DDD-6A8A-44AB-8C2C-3A0D10039FBE}"/>
              </a:ext>
            </a:extLst>
          </p:cNvPr>
          <p:cNvSpPr>
            <a:spLocks noGrp="1"/>
          </p:cNvSpPr>
          <p:nvPr/>
        </p:nvSpPr>
        <p:spPr>
          <a:xfrm>
            <a:off x="9096375" y="270510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E73829-09CD-4B13-86CE-6E6E2682A209}"/>
              </a:ext>
            </a:extLst>
          </p:cNvPr>
          <p:cNvSpPr>
            <a:spLocks noGrp="1"/>
          </p:cNvSpPr>
          <p:nvPr/>
        </p:nvSpPr>
        <p:spPr>
          <a:xfrm>
            <a:off x="9163050" y="282892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Kosten + Refinanzierung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FFFF58-8678-4297-BEE8-94C51D74CCD8}"/>
              </a:ext>
            </a:extLst>
          </p:cNvPr>
          <p:cNvSpPr>
            <a:spLocks noGrp="1"/>
          </p:cNvSpPr>
          <p:nvPr/>
        </p:nvSpPr>
        <p:spPr>
          <a:xfrm>
            <a:off x="457200" y="3114675"/>
            <a:ext cx="242887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544B52-FA87-48B5-BA3B-C8CA056CA87F}"/>
              </a:ext>
            </a:extLst>
          </p:cNvPr>
          <p:cNvSpPr>
            <a:spLocks noGrp="1"/>
          </p:cNvSpPr>
          <p:nvPr/>
        </p:nvSpPr>
        <p:spPr>
          <a:xfrm>
            <a:off x="523875" y="3238500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3AD4B8-3C5D-4B35-B0FD-27930A402BB2}"/>
              </a:ext>
            </a:extLst>
          </p:cNvPr>
          <p:cNvSpPr>
            <a:spLocks noGrp="1"/>
          </p:cNvSpPr>
          <p:nvPr/>
        </p:nvSpPr>
        <p:spPr>
          <a:xfrm>
            <a:off x="3000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08145F-826B-47D7-BF50-84BE2C7F6AE7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+0,60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64096B-9B78-40F8-9549-CCB5634F3673}"/>
              </a:ext>
            </a:extLst>
          </p:cNvPr>
          <p:cNvSpPr>
            <a:spLocks noGrp="1"/>
          </p:cNvSpPr>
          <p:nvPr/>
        </p:nvSpPr>
        <p:spPr>
          <a:xfrm>
            <a:off x="4524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EB7ACE-35F8-41B6-884B-1C70496C592E}"/>
              </a:ext>
            </a:extLst>
          </p:cNvPr>
          <p:cNvSpPr>
            <a:spLocks noGrp="1"/>
          </p:cNvSpPr>
          <p:nvPr/>
        </p:nvSpPr>
        <p:spPr>
          <a:xfrm>
            <a:off x="4591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EBE1F1-6ACA-41C5-9B5B-5E60E7A8C9D0}"/>
              </a:ext>
            </a:extLst>
          </p:cNvPr>
          <p:cNvSpPr>
            <a:spLocks noGrp="1"/>
          </p:cNvSpPr>
          <p:nvPr/>
        </p:nvSpPr>
        <p:spPr>
          <a:xfrm>
            <a:off x="6048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61C79B-39B2-4768-A025-961A1BC8E443}"/>
              </a:ext>
            </a:extLst>
          </p:cNvPr>
          <p:cNvSpPr>
            <a:spLocks noGrp="1"/>
          </p:cNvSpPr>
          <p:nvPr/>
        </p:nvSpPr>
        <p:spPr>
          <a:xfrm>
            <a:off x="6115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68CD73-D5CA-4CA9-925C-30FE14E2CA6D}"/>
              </a:ext>
            </a:extLst>
          </p:cNvPr>
          <p:cNvSpPr>
            <a:spLocks noGrp="1"/>
          </p:cNvSpPr>
          <p:nvPr/>
        </p:nvSpPr>
        <p:spPr>
          <a:xfrm>
            <a:off x="7572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08522C-8C8A-4ECA-ABE5-D4034848CCAB}"/>
              </a:ext>
            </a:extLst>
          </p:cNvPr>
          <p:cNvSpPr>
            <a:spLocks noGrp="1"/>
          </p:cNvSpPr>
          <p:nvPr/>
        </p:nvSpPr>
        <p:spPr>
          <a:xfrm>
            <a:off x="7639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873F8C-B33A-4061-AFFC-0EB8FDD87001}"/>
              </a:ext>
            </a:extLst>
          </p:cNvPr>
          <p:cNvSpPr>
            <a:spLocks noGrp="1"/>
          </p:cNvSpPr>
          <p:nvPr/>
        </p:nvSpPr>
        <p:spPr>
          <a:xfrm>
            <a:off x="9096375" y="3114675"/>
            <a:ext cx="263842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79C654-277F-4AA7-AC67-0823D346CC77}"/>
              </a:ext>
            </a:extLst>
          </p:cNvPr>
          <p:cNvSpPr>
            <a:spLocks noGrp="1"/>
          </p:cNvSpPr>
          <p:nvPr/>
        </p:nvSpPr>
        <p:spPr>
          <a:xfrm>
            <a:off x="9163050" y="3238500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rund 2× Corporate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44051C-000C-4CAF-869D-D95256B4BACE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3DFE4D-488D-450D-A785-26552616BFD0}"/>
              </a:ext>
            </a:extLst>
          </p:cNvPr>
          <p:cNvSpPr>
            <a:spLocks noGrp="1"/>
          </p:cNvSpPr>
          <p:nvPr/>
        </p:nvSpPr>
        <p:spPr>
          <a:xfrm>
            <a:off x="523875" y="364807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8B3325-B3AC-419A-AD79-1E913BB503B1}"/>
              </a:ext>
            </a:extLst>
          </p:cNvPr>
          <p:cNvSpPr>
            <a:spLocks noGrp="1"/>
          </p:cNvSpPr>
          <p:nvPr/>
        </p:nvSpPr>
        <p:spPr>
          <a:xfrm>
            <a:off x="3000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003B66-28CE-416C-8D45-C7AE2BD9A122}"/>
              </a:ext>
            </a:extLst>
          </p:cNvPr>
          <p:cNvSpPr>
            <a:spLocks noGrp="1"/>
          </p:cNvSpPr>
          <p:nvPr/>
        </p:nvSpPr>
        <p:spPr>
          <a:xfrm>
            <a:off x="3067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1A2EC4-5B8E-44D8-92A0-156954D21995}"/>
              </a:ext>
            </a:extLst>
          </p:cNvPr>
          <p:cNvSpPr>
            <a:spLocks noGrp="1"/>
          </p:cNvSpPr>
          <p:nvPr/>
        </p:nvSpPr>
        <p:spPr>
          <a:xfrm>
            <a:off x="4524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B2EA62-7250-479C-9DC5-30CE4EB45099}"/>
              </a:ext>
            </a:extLst>
          </p:cNvPr>
          <p:cNvSpPr>
            <a:spLocks noGrp="1"/>
          </p:cNvSpPr>
          <p:nvPr/>
        </p:nvSpPr>
        <p:spPr>
          <a:xfrm>
            <a:off x="4591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D9A0B1-4A78-401E-B0CC-8809D1330977}"/>
              </a:ext>
            </a:extLst>
          </p:cNvPr>
          <p:cNvSpPr>
            <a:spLocks noGrp="1"/>
          </p:cNvSpPr>
          <p:nvPr/>
        </p:nvSpPr>
        <p:spPr>
          <a:xfrm>
            <a:off x="6048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5892A3-5C67-4CA2-A6D7-B351802358E5}"/>
              </a:ext>
            </a:extLst>
          </p:cNvPr>
          <p:cNvSpPr>
            <a:spLocks noGrp="1"/>
          </p:cNvSpPr>
          <p:nvPr/>
        </p:nvSpPr>
        <p:spPr>
          <a:xfrm>
            <a:off x="6115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CCF914-A51A-4B4B-9995-B47061285FE3}"/>
              </a:ext>
            </a:extLst>
          </p:cNvPr>
          <p:cNvSpPr>
            <a:spLocks noGrp="1"/>
          </p:cNvSpPr>
          <p:nvPr/>
        </p:nvSpPr>
        <p:spPr>
          <a:xfrm>
            <a:off x="7572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2DC470-C879-43F9-9988-1FBFBC9270BA}"/>
              </a:ext>
            </a:extLst>
          </p:cNvPr>
          <p:cNvSpPr>
            <a:spLocks noGrp="1"/>
          </p:cNvSpPr>
          <p:nvPr/>
        </p:nvSpPr>
        <p:spPr>
          <a:xfrm>
            <a:off x="7639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+1,50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9F47937-7102-489C-BB7F-A9F566FC47FB}"/>
              </a:ext>
            </a:extLst>
          </p:cNvPr>
          <p:cNvSpPr>
            <a:spLocks noGrp="1"/>
          </p:cNvSpPr>
          <p:nvPr/>
        </p:nvSpPr>
        <p:spPr>
          <a:xfrm>
            <a:off x="9096375" y="352425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8552DB-28E3-4B94-A9AA-B11CC62DF027}"/>
              </a:ext>
            </a:extLst>
          </p:cNvPr>
          <p:cNvSpPr>
            <a:spLocks noGrp="1"/>
          </p:cNvSpPr>
          <p:nvPr/>
        </p:nvSpPr>
        <p:spPr>
          <a:xfrm>
            <a:off x="9163050" y="364807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zins- und collateral-dominiert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E0CCE1-D75A-4CDD-911B-6CC39E29775A}"/>
              </a:ext>
            </a:extLst>
          </p:cNvPr>
          <p:cNvSpPr>
            <a:spLocks noGrp="1"/>
          </p:cNvSpPr>
          <p:nvPr/>
        </p:nvSpPr>
        <p:spPr>
          <a:xfrm>
            <a:off x="457200" y="3933825"/>
            <a:ext cx="242887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3F6C5D-867F-40FA-AD75-C7559271867A}"/>
              </a:ext>
            </a:extLst>
          </p:cNvPr>
          <p:cNvSpPr>
            <a:spLocks noGrp="1"/>
          </p:cNvSpPr>
          <p:nvPr/>
        </p:nvSpPr>
        <p:spPr>
          <a:xfrm>
            <a:off x="523875" y="4057650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59329DF-7A6D-47AC-89A5-45BAFD20CDDB}"/>
              </a:ext>
            </a:extLst>
          </p:cNvPr>
          <p:cNvSpPr>
            <a:spLocks noGrp="1"/>
          </p:cNvSpPr>
          <p:nvPr/>
        </p:nvSpPr>
        <p:spPr>
          <a:xfrm>
            <a:off x="3000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1C5B11E-B5B0-4A0A-A053-109EFADC0EC8}"/>
              </a:ext>
            </a:extLst>
          </p:cNvPr>
          <p:cNvSpPr>
            <a:spLocks noGrp="1"/>
          </p:cNvSpPr>
          <p:nvPr/>
        </p:nvSpPr>
        <p:spPr>
          <a:xfrm>
            <a:off x="3067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C7AC5B2-4B98-4CF0-8585-3DAB91234D40}"/>
              </a:ext>
            </a:extLst>
          </p:cNvPr>
          <p:cNvSpPr>
            <a:spLocks noGrp="1"/>
          </p:cNvSpPr>
          <p:nvPr/>
        </p:nvSpPr>
        <p:spPr>
          <a:xfrm>
            <a:off x="4524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69DDED6-885C-4A65-A37C-7A3407ACF35A}"/>
              </a:ext>
            </a:extLst>
          </p:cNvPr>
          <p:cNvSpPr>
            <a:spLocks noGrp="1"/>
          </p:cNvSpPr>
          <p:nvPr/>
        </p:nvSpPr>
        <p:spPr>
          <a:xfrm>
            <a:off x="4591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75BAB02-1262-47BF-A122-90058868FE32}"/>
              </a:ext>
            </a:extLst>
          </p:cNvPr>
          <p:cNvSpPr>
            <a:spLocks noGrp="1"/>
          </p:cNvSpPr>
          <p:nvPr/>
        </p:nvSpPr>
        <p:spPr>
          <a:xfrm>
            <a:off x="6048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80C0482-A170-468F-88B7-83382836058A}"/>
              </a:ext>
            </a:extLst>
          </p:cNvPr>
          <p:cNvSpPr>
            <a:spLocks noGrp="1"/>
          </p:cNvSpPr>
          <p:nvPr/>
        </p:nvSpPr>
        <p:spPr>
          <a:xfrm>
            <a:off x="6115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BCB5A0-098C-40D9-9D00-69DC4F2ED6B7}"/>
              </a:ext>
            </a:extLst>
          </p:cNvPr>
          <p:cNvSpPr>
            <a:spLocks noGrp="1"/>
          </p:cNvSpPr>
          <p:nvPr/>
        </p:nvSpPr>
        <p:spPr>
          <a:xfrm>
            <a:off x="7572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BC9529-FDB6-4F9B-A726-A753A47A16EC}"/>
              </a:ext>
            </a:extLst>
          </p:cNvPr>
          <p:cNvSpPr>
            <a:spLocks noGrp="1"/>
          </p:cNvSpPr>
          <p:nvPr/>
        </p:nvSpPr>
        <p:spPr>
          <a:xfrm>
            <a:off x="7639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FAAA53-ABD6-46D5-9138-BA0E9135194E}"/>
              </a:ext>
            </a:extLst>
          </p:cNvPr>
          <p:cNvSpPr>
            <a:spLocks noGrp="1"/>
          </p:cNvSpPr>
          <p:nvPr/>
        </p:nvSpPr>
        <p:spPr>
          <a:xfrm>
            <a:off x="9096375" y="3933825"/>
            <a:ext cx="263842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9F2D52D-AB5A-4D63-9134-62B51370926C}"/>
              </a:ext>
            </a:extLst>
          </p:cNvPr>
          <p:cNvSpPr>
            <a:spLocks noGrp="1"/>
          </p:cNvSpPr>
          <p:nvPr/>
        </p:nvSpPr>
        <p:spPr>
          <a:xfrm>
            <a:off x="9163050" y="4057650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Einkommen / Energieinflation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9CF5F3A-6F47-4AE3-9ABC-90E03FB31B2E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F2B3C1A-ABFE-4BFF-B508-28CACB401FE1}"/>
              </a:ext>
            </a:extLst>
          </p:cNvPr>
          <p:cNvSpPr>
            <a:spLocks noGrp="1"/>
          </p:cNvSpPr>
          <p:nvPr/>
        </p:nvSpPr>
        <p:spPr>
          <a:xfrm>
            <a:off x="523875" y="446722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16FC250-2BA9-4ED9-BCBF-0FF5EEFB4DF6}"/>
              </a:ext>
            </a:extLst>
          </p:cNvPr>
          <p:cNvSpPr>
            <a:spLocks noGrp="1"/>
          </p:cNvSpPr>
          <p:nvPr/>
        </p:nvSpPr>
        <p:spPr>
          <a:xfrm>
            <a:off x="3000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EA3634A-A0BB-4FA7-ACA7-815E7D5DB549}"/>
              </a:ext>
            </a:extLst>
          </p:cNvPr>
          <p:cNvSpPr>
            <a:spLocks noGrp="1"/>
          </p:cNvSpPr>
          <p:nvPr/>
        </p:nvSpPr>
        <p:spPr>
          <a:xfrm>
            <a:off x="3067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0DF6690-9E62-45EB-A98E-437E02FD5B27}"/>
              </a:ext>
            </a:extLst>
          </p:cNvPr>
          <p:cNvSpPr>
            <a:spLocks noGrp="1"/>
          </p:cNvSpPr>
          <p:nvPr/>
        </p:nvSpPr>
        <p:spPr>
          <a:xfrm>
            <a:off x="4524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6A583B2-B6B8-4F12-8E7A-39E64CE247DD}"/>
              </a:ext>
            </a:extLst>
          </p:cNvPr>
          <p:cNvSpPr>
            <a:spLocks noGrp="1"/>
          </p:cNvSpPr>
          <p:nvPr/>
        </p:nvSpPr>
        <p:spPr>
          <a:xfrm>
            <a:off x="4591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474A713-17C3-4099-94C4-C7AF55BB32B7}"/>
              </a:ext>
            </a:extLst>
          </p:cNvPr>
          <p:cNvSpPr>
            <a:spLocks noGrp="1"/>
          </p:cNvSpPr>
          <p:nvPr/>
        </p:nvSpPr>
        <p:spPr>
          <a:xfrm>
            <a:off x="6048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98196EB-4D67-4092-99D0-7828F8888587}"/>
              </a:ext>
            </a:extLst>
          </p:cNvPr>
          <p:cNvSpPr>
            <a:spLocks noGrp="1"/>
          </p:cNvSpPr>
          <p:nvPr/>
        </p:nvSpPr>
        <p:spPr>
          <a:xfrm>
            <a:off x="6115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172E9EA-4405-4B34-99B4-13869000E363}"/>
              </a:ext>
            </a:extLst>
          </p:cNvPr>
          <p:cNvSpPr>
            <a:spLocks noGrp="1"/>
          </p:cNvSpPr>
          <p:nvPr/>
        </p:nvSpPr>
        <p:spPr>
          <a:xfrm>
            <a:off x="7572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F1A47FB-C5A6-438B-AC44-AA4287C34CC2}"/>
              </a:ext>
            </a:extLst>
          </p:cNvPr>
          <p:cNvSpPr>
            <a:spLocks noGrp="1"/>
          </p:cNvSpPr>
          <p:nvPr/>
        </p:nvSpPr>
        <p:spPr>
          <a:xfrm>
            <a:off x="7639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+0,80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A1CF277-94E0-4CA5-8573-44FC815CACC0}"/>
              </a:ext>
            </a:extLst>
          </p:cNvPr>
          <p:cNvSpPr>
            <a:spLocks noGrp="1"/>
          </p:cNvSpPr>
          <p:nvPr/>
        </p:nvSpPr>
        <p:spPr>
          <a:xfrm>
            <a:off x="9096375" y="434340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3C6C908-B5C9-4C2E-9ED2-E603AC7C4837}"/>
              </a:ext>
            </a:extLst>
          </p:cNvPr>
          <p:cNvSpPr>
            <a:spLocks noGrp="1"/>
          </p:cNvSpPr>
          <p:nvPr/>
        </p:nvSpPr>
        <p:spPr>
          <a:xfrm>
            <a:off x="9163050" y="446722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gemischtes Haushaltsprofil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090F74-7CEC-4165-9423-0569921A114D}"/>
              </a:ext>
            </a:extLst>
          </p:cNvPr>
          <p:cNvSpPr>
            <a:spLocks noGrp="1"/>
          </p:cNvSpPr>
          <p:nvPr/>
        </p:nvSpPr>
        <p:spPr>
          <a:xfrm>
            <a:off x="457200" y="4752975"/>
            <a:ext cx="242887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6B8D70F-A924-4165-97D5-E9BD35E4E674}"/>
              </a:ext>
            </a:extLst>
          </p:cNvPr>
          <p:cNvSpPr>
            <a:spLocks noGrp="1"/>
          </p:cNvSpPr>
          <p:nvPr/>
        </p:nvSpPr>
        <p:spPr>
          <a:xfrm>
            <a:off x="523875" y="4876800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CB29F2A-4550-4797-AC20-6A6F81702421}"/>
              </a:ext>
            </a:extLst>
          </p:cNvPr>
          <p:cNvSpPr>
            <a:spLocks noGrp="1"/>
          </p:cNvSpPr>
          <p:nvPr/>
        </p:nvSpPr>
        <p:spPr>
          <a:xfrm>
            <a:off x="3000375" y="47529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BE7168F-07C2-4EE3-97F1-C6E8C86A6B7D}"/>
              </a:ext>
            </a:extLst>
          </p:cNvPr>
          <p:cNvSpPr>
            <a:spLocks noGrp="1"/>
          </p:cNvSpPr>
          <p:nvPr/>
        </p:nvSpPr>
        <p:spPr>
          <a:xfrm>
            <a:off x="3067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24204CB-9EAC-4BF0-A32D-A70C59614E23}"/>
              </a:ext>
            </a:extLst>
          </p:cNvPr>
          <p:cNvSpPr>
            <a:spLocks noGrp="1"/>
          </p:cNvSpPr>
          <p:nvPr/>
        </p:nvSpPr>
        <p:spPr>
          <a:xfrm>
            <a:off x="4524375" y="4752975"/>
            <a:ext cx="1409700" cy="409575"/>
          </a:xfrm>
          <a:prstGeom prst="rect">
            <a:avLst/>
          </a:prstGeom>
          <a:solidFill>
            <a:srgbClr val="E3F1E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6398A4A-19C5-419D-A91B-8CA277B3A886}"/>
              </a:ext>
            </a:extLst>
          </p:cNvPr>
          <p:cNvSpPr>
            <a:spLocks noGrp="1"/>
          </p:cNvSpPr>
          <p:nvPr/>
        </p:nvSpPr>
        <p:spPr>
          <a:xfrm>
            <a:off x="4591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−0,05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E82D9C1-D7DE-41F9-A147-7865088C78C1}"/>
              </a:ext>
            </a:extLst>
          </p:cNvPr>
          <p:cNvSpPr>
            <a:spLocks noGrp="1"/>
          </p:cNvSpPr>
          <p:nvPr/>
        </p:nvSpPr>
        <p:spPr>
          <a:xfrm>
            <a:off x="6048375" y="47529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ED64E25-CCBF-4CF3-B1F8-45969FB76188}"/>
              </a:ext>
            </a:extLst>
          </p:cNvPr>
          <p:cNvSpPr>
            <a:spLocks noGrp="1"/>
          </p:cNvSpPr>
          <p:nvPr/>
        </p:nvSpPr>
        <p:spPr>
          <a:xfrm>
            <a:off x="6115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8474D73-8B17-4175-AE8A-175628A3F876}"/>
              </a:ext>
            </a:extLst>
          </p:cNvPr>
          <p:cNvSpPr>
            <a:spLocks noGrp="1"/>
          </p:cNvSpPr>
          <p:nvPr/>
        </p:nvSpPr>
        <p:spPr>
          <a:xfrm>
            <a:off x="7572375" y="47529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8DC8D9-A4D9-4E4B-8433-34BFE237C369}"/>
              </a:ext>
            </a:extLst>
          </p:cNvPr>
          <p:cNvSpPr>
            <a:spLocks noGrp="1"/>
          </p:cNvSpPr>
          <p:nvPr/>
        </p:nvSpPr>
        <p:spPr>
          <a:xfrm>
            <a:off x="7639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153DD9-6E86-4193-B56A-8D06BE59D9F1}"/>
              </a:ext>
            </a:extLst>
          </p:cNvPr>
          <p:cNvSpPr>
            <a:spLocks noGrp="1"/>
          </p:cNvSpPr>
          <p:nvPr/>
        </p:nvSpPr>
        <p:spPr>
          <a:xfrm>
            <a:off x="9096375" y="4752975"/>
            <a:ext cx="263842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064D811-193E-4AA1-B24C-B6B17D2B12AB}"/>
              </a:ext>
            </a:extLst>
          </p:cNvPr>
          <p:cNvSpPr>
            <a:spLocks noGrp="1"/>
          </p:cNvSpPr>
          <p:nvPr/>
        </p:nvSpPr>
        <p:spPr>
          <a:xfrm>
            <a:off x="9163050" y="4876800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NIM-Effekt senkt PD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DEB2003-268D-4D24-A216-2B4B086A9150}"/>
              </a:ext>
            </a:extLst>
          </p:cNvPr>
          <p:cNvSpPr>
            <a:spLocks noGrp="1"/>
          </p:cNvSpPr>
          <p:nvPr/>
        </p:nvSpPr>
        <p:spPr>
          <a:xfrm>
            <a:off x="457200" y="516255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B673F20-AAEA-4F6A-BFF9-B37FD9B51903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6F5ED17-4AA6-4D0D-BF79-C8FAD14D4CE8}"/>
              </a:ext>
            </a:extLst>
          </p:cNvPr>
          <p:cNvSpPr>
            <a:spLocks noGrp="1"/>
          </p:cNvSpPr>
          <p:nvPr/>
        </p:nvSpPr>
        <p:spPr>
          <a:xfrm>
            <a:off x="3000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617B1EC-DA2D-48ED-BA50-817CD2FB39F2}"/>
              </a:ext>
            </a:extLst>
          </p:cNvPr>
          <p:cNvSpPr>
            <a:spLocks noGrp="1"/>
          </p:cNvSpPr>
          <p:nvPr/>
        </p:nvSpPr>
        <p:spPr>
          <a:xfrm>
            <a:off x="3067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ADF38F8-57EC-491F-8011-8E52433C9EC1}"/>
              </a:ext>
            </a:extLst>
          </p:cNvPr>
          <p:cNvSpPr>
            <a:spLocks noGrp="1"/>
          </p:cNvSpPr>
          <p:nvPr/>
        </p:nvSpPr>
        <p:spPr>
          <a:xfrm>
            <a:off x="4524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B78C410-68A3-4875-BF9C-79A9B48645F8}"/>
              </a:ext>
            </a:extLst>
          </p:cNvPr>
          <p:cNvSpPr>
            <a:spLocks noGrp="1"/>
          </p:cNvSpPr>
          <p:nvPr/>
        </p:nvSpPr>
        <p:spPr>
          <a:xfrm>
            <a:off x="4591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9F42FBB-72DC-4B46-A278-626666486470}"/>
              </a:ext>
            </a:extLst>
          </p:cNvPr>
          <p:cNvSpPr>
            <a:spLocks noGrp="1"/>
          </p:cNvSpPr>
          <p:nvPr/>
        </p:nvSpPr>
        <p:spPr>
          <a:xfrm>
            <a:off x="6048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B5CD783-2C95-4F97-ADBC-E0D684A6B995}"/>
              </a:ext>
            </a:extLst>
          </p:cNvPr>
          <p:cNvSpPr>
            <a:spLocks noGrp="1"/>
          </p:cNvSpPr>
          <p:nvPr/>
        </p:nvSpPr>
        <p:spPr>
          <a:xfrm>
            <a:off x="6115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F0746D2-76ED-4EE7-AEDE-44C84910E78C}"/>
              </a:ext>
            </a:extLst>
          </p:cNvPr>
          <p:cNvSpPr>
            <a:spLocks noGrp="1"/>
          </p:cNvSpPr>
          <p:nvPr/>
        </p:nvSpPr>
        <p:spPr>
          <a:xfrm>
            <a:off x="7572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B6A256D-E759-4E36-9E98-3977F8AC50B8}"/>
              </a:ext>
            </a:extLst>
          </p:cNvPr>
          <p:cNvSpPr>
            <a:spLocks noGrp="1"/>
          </p:cNvSpPr>
          <p:nvPr/>
        </p:nvSpPr>
        <p:spPr>
          <a:xfrm>
            <a:off x="7639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66FC9E0-B3C9-461A-B975-9ED5F9EE6B4C}"/>
              </a:ext>
            </a:extLst>
          </p:cNvPr>
          <p:cNvSpPr>
            <a:spLocks noGrp="1"/>
          </p:cNvSpPr>
          <p:nvPr/>
        </p:nvSpPr>
        <p:spPr>
          <a:xfrm>
            <a:off x="9096375" y="516255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E779064-3B3F-4A80-84AD-266AC2D963FD}"/>
              </a:ext>
            </a:extLst>
          </p:cNvPr>
          <p:cNvSpPr>
            <a:spLocks noGrp="1"/>
          </p:cNvSpPr>
          <p:nvPr/>
        </p:nvSpPr>
        <p:spPr>
          <a:xfrm>
            <a:off x="9163050" y="528637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separater MtM-Kanal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34D3268-8CB4-4761-81BC-CFE176BF4403}"/>
              </a:ext>
            </a:extLst>
          </p:cNvPr>
          <p:cNvSpPr>
            <a:spLocks noGrp="1"/>
          </p:cNvSpPr>
          <p:nvPr/>
        </p:nvSpPr>
        <p:spPr>
          <a:xfrm>
            <a:off x="457200" y="5743575"/>
            <a:ext cx="1127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Lesebeispiel: +0,50 Brent und +2,0 pp Zins ergeben für Corporate ΔPD = +0,55 pp und ΔLGD = +2,25 pp.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5E76B94-E10B-4143-852C-425F659E21E6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EBA §2.4.2 · ECB WP 2897/3112 · ECB FSR · Modellmatrix in two_factor_stress.py</a:t>
            </a:r>
          </a:p>
        </p:txBody>
      </p:sp>
    </p:spTree>
    <p:extLst>
      <p:ext uri="{BB962C8B-B14F-4D97-AF65-F5344CB8AC3E}">
        <p14:creationId xmlns:p14="http://schemas.microsoft.com/office/powerpoint/2010/main" val="1491473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0BEACA67-F872-4217-B16C-2EA70A09E2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435535-88EA-475B-8C31-3B923D3B848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FAKTOR-ANALYSE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A000E-46B3-4903-BF6B-7B15B9A28AAE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Nur 0,49 % der täglichen Zinsbewegung werden durch Brent erklärt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5A91F-06FA-4132-B026-E2CFC0D1E8C2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empirische Analyse über fünf Jahre bestätigt: Beide Faktoren tragen weitgehend eigenständige Information.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E578-BFC5-4FFC-B605-B21CF0515AB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5DF246-B8E1-4698-ACE7-B523323A17CE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D9E3B-E541-4C86-AA06-84809A5027FC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076450" cy="47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766DE-FEB2-44BE-A8F7-D425D38D0C3F}"/>
              </a:ext>
            </a:extLst>
          </p:cNvPr>
          <p:cNvSpPr>
            <a:spLocks noGrp="1"/>
          </p:cNvSpPr>
          <p:nvPr/>
        </p:nvSpPr>
        <p:spPr>
          <a:xfrm>
            <a:off x="59055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BEOBACHTUNGEN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77F83-5267-461D-AE4B-BE4839FA3706}"/>
              </a:ext>
            </a:extLst>
          </p:cNvPr>
          <p:cNvSpPr>
            <a:spLocks noGrp="1"/>
          </p:cNvSpPr>
          <p:nvPr/>
        </p:nvSpPr>
        <p:spPr>
          <a:xfrm>
            <a:off x="59055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1.242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507F91-3194-4521-A9E2-E3DDAF856FA2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gemeinsame Handelstage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1C486F-D314-4A59-9A38-9709EC2E781E}"/>
              </a:ext>
            </a:extLst>
          </p:cNvPr>
          <p:cNvSpPr>
            <a:spLocks noGrp="1"/>
          </p:cNvSpPr>
          <p:nvPr/>
        </p:nvSpPr>
        <p:spPr>
          <a:xfrm>
            <a:off x="272415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B66F1-306D-4FFA-A0FD-6EEF8F31D922}"/>
              </a:ext>
            </a:extLst>
          </p:cNvPr>
          <p:cNvSpPr>
            <a:spLocks noGrp="1"/>
          </p:cNvSpPr>
          <p:nvPr/>
        </p:nvSpPr>
        <p:spPr>
          <a:xfrm>
            <a:off x="2724150" y="1428750"/>
            <a:ext cx="2076450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D03C9-496A-454B-99A3-42F70A96D4FC}"/>
              </a:ext>
            </a:extLst>
          </p:cNvPr>
          <p:cNvSpPr>
            <a:spLocks noGrp="1"/>
          </p:cNvSpPr>
          <p:nvPr/>
        </p:nvSpPr>
        <p:spPr>
          <a:xfrm>
            <a:off x="285750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PEARSON 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C6BEDF-412A-428D-81DA-D1A8E3550E78}"/>
              </a:ext>
            </a:extLst>
          </p:cNvPr>
          <p:cNvSpPr>
            <a:spLocks noGrp="1"/>
          </p:cNvSpPr>
          <p:nvPr/>
        </p:nvSpPr>
        <p:spPr>
          <a:xfrm>
            <a:off x="285750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+0,070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6E4D7-5385-4951-9E7D-BA73D9DA96D6}"/>
              </a:ext>
            </a:extLst>
          </p:cNvPr>
          <p:cNvSpPr>
            <a:spLocks noGrp="1"/>
          </p:cNvSpPr>
          <p:nvPr/>
        </p:nvSpPr>
        <p:spPr>
          <a:xfrm>
            <a:off x="285750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95%-KI +0,014 bis +0,125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12A14C-97B5-4775-9C19-7D2EA831810A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70387E-92E4-4156-9215-7F88979DE86E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076450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18EEC-A534-41F1-86C6-95D58CDF4E9E}"/>
              </a:ext>
            </a:extLst>
          </p:cNvPr>
          <p:cNvSpPr>
            <a:spLocks noGrp="1"/>
          </p:cNvSpPr>
          <p:nvPr/>
        </p:nvSpPr>
        <p:spPr>
          <a:xfrm>
            <a:off x="512445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15618-7AFC-443F-AE33-49DA79BC1A12}"/>
              </a:ext>
            </a:extLst>
          </p:cNvPr>
          <p:cNvSpPr>
            <a:spLocks noGrp="1"/>
          </p:cNvSpPr>
          <p:nvPr/>
        </p:nvSpPr>
        <p:spPr>
          <a:xfrm>
            <a:off x="512445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+0,084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DDBA06-787A-4A10-A266-54537BC767E7}"/>
              </a:ext>
            </a:extLst>
          </p:cNvPr>
          <p:cNvSpPr>
            <a:spLocks noGrp="1"/>
          </p:cNvSpPr>
          <p:nvPr/>
        </p:nvSpPr>
        <p:spPr>
          <a:xfrm>
            <a:off x="512445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robust gegen Ausreißer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5EC0CC-90CE-48A7-B90A-140137E63EA7}"/>
              </a:ext>
            </a:extLst>
          </p:cNvPr>
          <p:cNvSpPr>
            <a:spLocks noGrp="1"/>
          </p:cNvSpPr>
          <p:nvPr/>
        </p:nvSpPr>
        <p:spPr>
          <a:xfrm>
            <a:off x="725805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EAF799-D195-42DA-97A2-7439099D90A5}"/>
              </a:ext>
            </a:extLst>
          </p:cNvPr>
          <p:cNvSpPr>
            <a:spLocks noGrp="1"/>
          </p:cNvSpPr>
          <p:nvPr/>
        </p:nvSpPr>
        <p:spPr>
          <a:xfrm>
            <a:off x="7258050" y="1428750"/>
            <a:ext cx="2076450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C40CA5-7998-4ECA-B145-E63FFDCC25F1}"/>
              </a:ext>
            </a:extLst>
          </p:cNvPr>
          <p:cNvSpPr>
            <a:spLocks noGrp="1"/>
          </p:cNvSpPr>
          <p:nvPr/>
        </p:nvSpPr>
        <p:spPr>
          <a:xfrm>
            <a:off x="739140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β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8B684-8CF5-47F5-8A5F-1914058D82DA}"/>
              </a:ext>
            </a:extLst>
          </p:cNvPr>
          <p:cNvSpPr>
            <a:spLocks noGrp="1"/>
          </p:cNvSpPr>
          <p:nvPr/>
        </p:nvSpPr>
        <p:spPr>
          <a:xfrm>
            <a:off x="739140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4F9CD5-CEA3-4130-84D1-5A0D2CBBF747}"/>
              </a:ext>
            </a:extLst>
          </p:cNvPr>
          <p:cNvSpPr>
            <a:spLocks noGrp="1"/>
          </p:cNvSpPr>
          <p:nvPr/>
        </p:nvSpPr>
        <p:spPr>
          <a:xfrm>
            <a:off x="739140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 = 2,47 · p = 0,014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0E2D7D-113E-4B53-BB9E-9DFB99A13DB5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1F5918-5ACC-4377-AEB0-408FA3169C02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2076450" cy="4762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C4F195-3DC7-41E8-9027-E305932CB414}"/>
              </a:ext>
            </a:extLst>
          </p:cNvPr>
          <p:cNvSpPr>
            <a:spLocks noGrp="1"/>
          </p:cNvSpPr>
          <p:nvPr/>
        </p:nvSpPr>
        <p:spPr>
          <a:xfrm>
            <a:off x="965835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R²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82F6DB-6AF6-4756-9E7D-E49D85B83189}"/>
              </a:ext>
            </a:extLst>
          </p:cNvPr>
          <p:cNvSpPr>
            <a:spLocks noGrp="1"/>
          </p:cNvSpPr>
          <p:nvPr/>
        </p:nvSpPr>
        <p:spPr>
          <a:xfrm>
            <a:off x="965835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0,49 %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05B5A1-5EB6-4CFB-AC86-02F6209095C1}"/>
              </a:ext>
            </a:extLst>
          </p:cNvPr>
          <p:cNvSpPr>
            <a:spLocks noGrp="1"/>
          </p:cNvSpPr>
          <p:nvPr/>
        </p:nvSpPr>
        <p:spPr>
          <a:xfrm>
            <a:off x="965835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erklärte Varianz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EE06855-AF0D-406A-90DE-A7DBA2081EE1}"/>
              </a:ext>
            </a:extLst>
          </p:cNvPr>
          <p:cNvSpPr>
            <a:spLocks noGrp="1"/>
          </p:cNvSpPr>
          <p:nvPr/>
        </p:nvSpPr>
        <p:spPr>
          <a:xfrm>
            <a:off x="457200" y="2686050"/>
            <a:ext cx="7096125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962E88-E682-4980-BB49-019C81C2D094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STREUDIAGRAMM · TAGESVERÄNDERUNGEN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D574C2-EAB3-4756-9A5A-C53C2959EB22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5953125" cy="9525"/>
          </a:xfrm>
          <a:prstGeom prst="rect">
            <a:avLst/>
          </a:prstGeom>
          <a:solidFill>
            <a:srgbClr val="B7C5C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528C8A-6753-4159-8A1F-D6049105C0D8}"/>
              </a:ext>
            </a:extLst>
          </p:cNvPr>
          <p:cNvSpPr>
            <a:spLocks noGrp="1"/>
          </p:cNvSpPr>
          <p:nvPr/>
        </p:nvSpPr>
        <p:spPr>
          <a:xfrm>
            <a:off x="3962400" y="3200400"/>
            <a:ext cx="9525" cy="2095500"/>
          </a:xfrm>
          <a:prstGeom prst="rect">
            <a:avLst/>
          </a:prstGeom>
          <a:solidFill>
            <a:srgbClr val="B7C5C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B74539B-ADC8-43B5-A38B-BDF59DB8CB74}"/>
              </a:ext>
            </a:extLst>
          </p:cNvPr>
          <p:cNvSpPr>
            <a:spLocks noGrp="1"/>
          </p:cNvSpPr>
          <p:nvPr/>
        </p:nvSpPr>
        <p:spPr>
          <a:xfrm>
            <a:off x="1362075" y="4114800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FAA701A-6C08-4836-B99C-637E9C23F2E6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B764B6-93F8-43C8-BB7F-9950C8D831EB}"/>
              </a:ext>
            </a:extLst>
          </p:cNvPr>
          <p:cNvSpPr>
            <a:spLocks noGrp="1"/>
          </p:cNvSpPr>
          <p:nvPr/>
        </p:nvSpPr>
        <p:spPr>
          <a:xfrm>
            <a:off x="1762125" y="39147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0FF9737-02A2-4E7B-9582-96554D7FF868}"/>
              </a:ext>
            </a:extLst>
          </p:cNvPr>
          <p:cNvSpPr>
            <a:spLocks noGrp="1"/>
          </p:cNvSpPr>
          <p:nvPr/>
        </p:nvSpPr>
        <p:spPr>
          <a:xfrm>
            <a:off x="1952625" y="46577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D72E421-F8CC-4941-8881-73EDD62E0822}"/>
              </a:ext>
            </a:extLst>
          </p:cNvPr>
          <p:cNvSpPr>
            <a:spLocks noGrp="1"/>
          </p:cNvSpPr>
          <p:nvPr/>
        </p:nvSpPr>
        <p:spPr>
          <a:xfrm>
            <a:off x="2171700" y="42481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7A2A474-4539-4955-B810-BB2B797545C0}"/>
              </a:ext>
            </a:extLst>
          </p:cNvPr>
          <p:cNvSpPr>
            <a:spLocks noGrp="1"/>
          </p:cNvSpPr>
          <p:nvPr/>
        </p:nvSpPr>
        <p:spPr>
          <a:xfrm>
            <a:off x="2362200" y="43910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9DFF8D-16E3-4A6E-B6A3-A029E4324409}"/>
              </a:ext>
            </a:extLst>
          </p:cNvPr>
          <p:cNvSpPr>
            <a:spLocks noGrp="1"/>
          </p:cNvSpPr>
          <p:nvPr/>
        </p:nvSpPr>
        <p:spPr>
          <a:xfrm>
            <a:off x="2552700" y="37909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405A09A-46F3-40BD-8E2A-A0F0389940CF}"/>
              </a:ext>
            </a:extLst>
          </p:cNvPr>
          <p:cNvSpPr>
            <a:spLocks noGrp="1"/>
          </p:cNvSpPr>
          <p:nvPr/>
        </p:nvSpPr>
        <p:spPr>
          <a:xfrm>
            <a:off x="2724150" y="458152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88D6E23-2DB9-467E-BA23-4FB1998D6349}"/>
              </a:ext>
            </a:extLst>
          </p:cNvPr>
          <p:cNvSpPr>
            <a:spLocks noGrp="1"/>
          </p:cNvSpPr>
          <p:nvPr/>
        </p:nvSpPr>
        <p:spPr>
          <a:xfrm>
            <a:off x="2924175" y="40100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F011532-CFB5-47C1-8408-6A0C6D9DC74B}"/>
              </a:ext>
            </a:extLst>
          </p:cNvPr>
          <p:cNvSpPr>
            <a:spLocks noGrp="1"/>
          </p:cNvSpPr>
          <p:nvPr/>
        </p:nvSpPr>
        <p:spPr>
          <a:xfrm>
            <a:off x="3133725" y="43434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61BEE33-BBDE-4735-A86F-4BC56E8B85CD}"/>
              </a:ext>
            </a:extLst>
          </p:cNvPr>
          <p:cNvSpPr>
            <a:spLocks noGrp="1"/>
          </p:cNvSpPr>
          <p:nvPr/>
        </p:nvSpPr>
        <p:spPr>
          <a:xfrm>
            <a:off x="3305175" y="48291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A0B0A2-3EE1-496E-A199-A078A5FB0383}"/>
              </a:ext>
            </a:extLst>
          </p:cNvPr>
          <p:cNvSpPr>
            <a:spLocks noGrp="1"/>
          </p:cNvSpPr>
          <p:nvPr/>
        </p:nvSpPr>
        <p:spPr>
          <a:xfrm>
            <a:off x="3476625" y="41719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9004E58-8978-4531-A867-B209A608115A}"/>
              </a:ext>
            </a:extLst>
          </p:cNvPr>
          <p:cNvSpPr>
            <a:spLocks noGrp="1"/>
          </p:cNvSpPr>
          <p:nvPr/>
        </p:nvSpPr>
        <p:spPr>
          <a:xfrm>
            <a:off x="3638550" y="44958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9B5C658-65D1-43B1-9EF4-61897F8AFC35}"/>
              </a:ext>
            </a:extLst>
          </p:cNvPr>
          <p:cNvSpPr>
            <a:spLocks noGrp="1"/>
          </p:cNvSpPr>
          <p:nvPr/>
        </p:nvSpPr>
        <p:spPr>
          <a:xfrm>
            <a:off x="3819525" y="38576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45E1CCE-898B-48BB-9D58-E1C9852D9955}"/>
              </a:ext>
            </a:extLst>
          </p:cNvPr>
          <p:cNvSpPr>
            <a:spLocks noGrp="1"/>
          </p:cNvSpPr>
          <p:nvPr/>
        </p:nvSpPr>
        <p:spPr>
          <a:xfrm>
            <a:off x="4038600" y="469582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5B21685-93F8-46AC-BC92-3FA76929F310}"/>
              </a:ext>
            </a:extLst>
          </p:cNvPr>
          <p:cNvSpPr>
            <a:spLocks noGrp="1"/>
          </p:cNvSpPr>
          <p:nvPr/>
        </p:nvSpPr>
        <p:spPr>
          <a:xfrm>
            <a:off x="4200525" y="41433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86FB015-08B1-4654-9BE8-6428F764440A}"/>
              </a:ext>
            </a:extLst>
          </p:cNvPr>
          <p:cNvSpPr>
            <a:spLocks noGrp="1"/>
          </p:cNvSpPr>
          <p:nvPr/>
        </p:nvSpPr>
        <p:spPr>
          <a:xfrm>
            <a:off x="4381500" y="44386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A74F7B0-E504-4130-858B-37AD6813689F}"/>
              </a:ext>
            </a:extLst>
          </p:cNvPr>
          <p:cNvSpPr>
            <a:spLocks noGrp="1"/>
          </p:cNvSpPr>
          <p:nvPr/>
        </p:nvSpPr>
        <p:spPr>
          <a:xfrm>
            <a:off x="4552950" y="39338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D9DA76A-A980-4E0D-99FB-7B4D49E7C4F9}"/>
              </a:ext>
            </a:extLst>
          </p:cNvPr>
          <p:cNvSpPr>
            <a:spLocks noGrp="1"/>
          </p:cNvSpPr>
          <p:nvPr/>
        </p:nvSpPr>
        <p:spPr>
          <a:xfrm>
            <a:off x="4743450" y="46291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EF379B2-3E07-46C3-82DE-B65E244AD439}"/>
              </a:ext>
            </a:extLst>
          </p:cNvPr>
          <p:cNvSpPr>
            <a:spLocks noGrp="1"/>
          </p:cNvSpPr>
          <p:nvPr/>
        </p:nvSpPr>
        <p:spPr>
          <a:xfrm>
            <a:off x="4914900" y="42767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E21487C-291A-40E3-91C4-AAC5999A4252}"/>
              </a:ext>
            </a:extLst>
          </p:cNvPr>
          <p:cNvSpPr>
            <a:spLocks noGrp="1"/>
          </p:cNvSpPr>
          <p:nvPr/>
        </p:nvSpPr>
        <p:spPr>
          <a:xfrm>
            <a:off x="5105400" y="40481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B73ED6D-42BC-46A2-A9FE-F85B39ED08F8}"/>
              </a:ext>
            </a:extLst>
          </p:cNvPr>
          <p:cNvSpPr>
            <a:spLocks noGrp="1"/>
          </p:cNvSpPr>
          <p:nvPr/>
        </p:nvSpPr>
        <p:spPr>
          <a:xfrm>
            <a:off x="5267325" y="454342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20F2E1D-A358-4040-8F65-987CA6364331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3CB081B-8AD1-4DFC-A2DB-DDB51DFC68A3}"/>
              </a:ext>
            </a:extLst>
          </p:cNvPr>
          <p:cNvSpPr>
            <a:spLocks noGrp="1"/>
          </p:cNvSpPr>
          <p:nvPr/>
        </p:nvSpPr>
        <p:spPr>
          <a:xfrm>
            <a:off x="5619750" y="43719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0443516-3EBE-4AA5-A4F4-61A7BF248EC9}"/>
              </a:ext>
            </a:extLst>
          </p:cNvPr>
          <p:cNvSpPr>
            <a:spLocks noGrp="1"/>
          </p:cNvSpPr>
          <p:nvPr/>
        </p:nvSpPr>
        <p:spPr>
          <a:xfrm>
            <a:off x="5810250" y="46863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48DAB03-A4A3-4E6C-83DB-4031E17F184B}"/>
              </a:ext>
            </a:extLst>
          </p:cNvPr>
          <p:cNvSpPr>
            <a:spLocks noGrp="1"/>
          </p:cNvSpPr>
          <p:nvPr/>
        </p:nvSpPr>
        <p:spPr>
          <a:xfrm>
            <a:off x="5991225" y="41052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4191827-9262-47F4-9C02-40DDD535CCFA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3D06549-84E2-45E9-BEC4-7AFCC138146A}"/>
              </a:ext>
            </a:extLst>
          </p:cNvPr>
          <p:cNvSpPr>
            <a:spLocks noGrp="1"/>
          </p:cNvSpPr>
          <p:nvPr/>
        </p:nvSpPr>
        <p:spPr>
          <a:xfrm>
            <a:off x="6419850" y="39719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0AA0789-AC9B-45CE-A70E-10E587F96C9F}"/>
              </a:ext>
            </a:extLst>
          </p:cNvPr>
          <p:cNvSpPr>
            <a:spLocks noGrp="1"/>
          </p:cNvSpPr>
          <p:nvPr/>
        </p:nvSpPr>
        <p:spPr>
          <a:xfrm>
            <a:off x="6648450" y="429577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2038FBB-DBE3-407D-8260-8FF51E5DF7CB}"/>
              </a:ext>
            </a:extLst>
          </p:cNvPr>
          <p:cNvSpPr>
            <a:spLocks noGrp="1"/>
          </p:cNvSpPr>
          <p:nvPr/>
        </p:nvSpPr>
        <p:spPr>
          <a:xfrm>
            <a:off x="2105025" y="49530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4246074-E462-4108-BED0-D0869E2C7F1D}"/>
              </a:ext>
            </a:extLst>
          </p:cNvPr>
          <p:cNvSpPr>
            <a:spLocks noGrp="1"/>
          </p:cNvSpPr>
          <p:nvPr/>
        </p:nvSpPr>
        <p:spPr>
          <a:xfrm>
            <a:off x="3048000" y="36195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037D517-A1EB-4819-8BF6-734EB7FCDF82}"/>
              </a:ext>
            </a:extLst>
          </p:cNvPr>
          <p:cNvSpPr>
            <a:spLocks noGrp="1"/>
          </p:cNvSpPr>
          <p:nvPr/>
        </p:nvSpPr>
        <p:spPr>
          <a:xfrm>
            <a:off x="4905375" y="50196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0A0F336-DEB1-42B8-891A-D17DB96C0F36}"/>
              </a:ext>
            </a:extLst>
          </p:cNvPr>
          <p:cNvSpPr>
            <a:spLocks noGrp="1"/>
          </p:cNvSpPr>
          <p:nvPr/>
        </p:nvSpPr>
        <p:spPr>
          <a:xfrm>
            <a:off x="5905500" y="35242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150E83D-3D42-425B-BA22-51B2A4FB475B}"/>
              </a:ext>
            </a:extLst>
          </p:cNvPr>
          <p:cNvSpPr>
            <a:spLocks noGrp="1"/>
          </p:cNvSpPr>
          <p:nvPr/>
        </p:nvSpPr>
        <p:spPr>
          <a:xfrm>
            <a:off x="1628775" y="37242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F18AC09-7209-4160-A982-C140AD1B2138}"/>
              </a:ext>
            </a:extLst>
          </p:cNvPr>
          <p:cNvSpPr>
            <a:spLocks noGrp="1"/>
          </p:cNvSpPr>
          <p:nvPr/>
        </p:nvSpPr>
        <p:spPr>
          <a:xfrm>
            <a:off x="6572250" y="48101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31F8A37-CB24-4232-BBC4-60D5851973C2}"/>
              </a:ext>
            </a:extLst>
          </p:cNvPr>
          <p:cNvSpPr>
            <a:spLocks noGrp="1"/>
          </p:cNvSpPr>
          <p:nvPr/>
        </p:nvSpPr>
        <p:spPr>
          <a:xfrm>
            <a:off x="4333875" y="3600450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0C9BA95-6E69-4B87-9159-BA6E0DFB58E9}"/>
              </a:ext>
            </a:extLst>
          </p:cNvPr>
          <p:cNvSpPr>
            <a:spLocks noGrp="1"/>
          </p:cNvSpPr>
          <p:nvPr/>
        </p:nvSpPr>
        <p:spPr>
          <a:xfrm>
            <a:off x="3571875" y="49911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2B051DF-2D7E-4EE4-ACCA-D7AC1EDCBA67}"/>
              </a:ext>
            </a:extLst>
          </p:cNvPr>
          <p:cNvSpPr>
            <a:spLocks noGrp="1"/>
          </p:cNvSpPr>
          <p:nvPr/>
        </p:nvSpPr>
        <p:spPr>
          <a:xfrm>
            <a:off x="2619375" y="48577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2541AE4-ECBD-4990-842A-78C31C2E2027}"/>
              </a:ext>
            </a:extLst>
          </p:cNvPr>
          <p:cNvSpPr>
            <a:spLocks noGrp="1"/>
          </p:cNvSpPr>
          <p:nvPr/>
        </p:nvSpPr>
        <p:spPr>
          <a:xfrm>
            <a:off x="5334000" y="48958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E2BF273-7723-4912-AE29-62B7C11E4179}"/>
              </a:ext>
            </a:extLst>
          </p:cNvPr>
          <p:cNvSpPr>
            <a:spLocks noGrp="1"/>
          </p:cNvSpPr>
          <p:nvPr/>
        </p:nvSpPr>
        <p:spPr>
          <a:xfrm>
            <a:off x="3190875" y="38290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F8BC989-349A-483A-916B-B9F432A4E719}"/>
              </a:ext>
            </a:extLst>
          </p:cNvPr>
          <p:cNvSpPr>
            <a:spLocks noGrp="1"/>
          </p:cNvSpPr>
          <p:nvPr/>
        </p:nvSpPr>
        <p:spPr>
          <a:xfrm>
            <a:off x="1000125" y="4257675"/>
            <a:ext cx="5953125" cy="285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7132A1C-283F-426B-9F6C-03F75F5F78CA}"/>
              </a:ext>
            </a:extLst>
          </p:cNvPr>
          <p:cNvSpPr>
            <a:spLocks noGrp="1"/>
          </p:cNvSpPr>
          <p:nvPr/>
        </p:nvSpPr>
        <p:spPr>
          <a:xfrm>
            <a:off x="2762250" y="535305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 · täglicher Log-Return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3CDDA01-B706-4234-8CC3-D14A006FE761}"/>
              </a:ext>
            </a:extLst>
          </p:cNvPr>
          <p:cNvSpPr>
            <a:spLocks noGrp="1"/>
          </p:cNvSpPr>
          <p:nvPr/>
        </p:nvSpPr>
        <p:spPr>
          <a:xfrm>
            <a:off x="581025" y="40005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1FA0FE2-455F-4B72-8FAE-189A17917560}"/>
              </a:ext>
            </a:extLst>
          </p:cNvPr>
          <p:cNvSpPr>
            <a:spLocks noGrp="1"/>
          </p:cNvSpPr>
          <p:nvPr/>
        </p:nvSpPr>
        <p:spPr>
          <a:xfrm>
            <a:off x="5019675" y="3009900"/>
            <a:ext cx="1714500" cy="219075"/>
          </a:xfrm>
          <a:prstGeom prst="roundRect">
            <a:avLst>
              <a:gd name="adj" fmla="val 50000"/>
            </a:avLst>
          </a:prstGeom>
          <a:solidFill>
            <a:srgbClr val="F5E5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E0A2E41-5075-4EA0-AC7C-105EE96B8C1C}"/>
              </a:ext>
            </a:extLst>
          </p:cNvPr>
          <p:cNvSpPr>
            <a:spLocks noGrp="1"/>
          </p:cNvSpPr>
          <p:nvPr/>
        </p:nvSpPr>
        <p:spPr>
          <a:xfrm>
            <a:off x="5057775" y="3048000"/>
            <a:ext cx="16383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nahezu flache OLS-Linie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F36D18B-0768-4F47-BB1A-816BFBB4276C}"/>
              </a:ext>
            </a:extLst>
          </p:cNvPr>
          <p:cNvSpPr>
            <a:spLocks noGrp="1"/>
          </p:cNvSpPr>
          <p:nvPr/>
        </p:nvSpPr>
        <p:spPr>
          <a:xfrm>
            <a:off x="7858125" y="2686050"/>
            <a:ext cx="3876675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D7996AB-13BC-4E61-B40C-A953C5E8ED1F}"/>
              </a:ext>
            </a:extLst>
          </p:cNvPr>
          <p:cNvSpPr>
            <a:spLocks noGrp="1"/>
          </p:cNvSpPr>
          <p:nvPr/>
        </p:nvSpPr>
        <p:spPr>
          <a:xfrm>
            <a:off x="7858125" y="2686050"/>
            <a:ext cx="57150" cy="2952750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49F2F8F-6045-44A5-AB8D-ED5FD4D0014F}"/>
              </a:ext>
            </a:extLst>
          </p:cNvPr>
          <p:cNvSpPr>
            <a:spLocks noGrp="1"/>
          </p:cNvSpPr>
          <p:nvPr/>
        </p:nvSpPr>
        <p:spPr>
          <a:xfrm>
            <a:off x="8010525" y="2809875"/>
            <a:ext cx="55245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2FEC605-289B-408F-B088-4FAB065E39F8}"/>
              </a:ext>
            </a:extLst>
          </p:cNvPr>
          <p:cNvSpPr>
            <a:spLocks noGrp="1"/>
          </p:cNvSpPr>
          <p:nvPr/>
        </p:nvSpPr>
        <p:spPr>
          <a:xfrm>
            <a:off x="8048625" y="2847975"/>
            <a:ext cx="476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1689E09-BE62-4CA3-B130-373491D14460}"/>
              </a:ext>
            </a:extLst>
          </p:cNvPr>
          <p:cNvSpPr>
            <a:spLocks noGrp="1"/>
          </p:cNvSpPr>
          <p:nvPr/>
        </p:nvSpPr>
        <p:spPr>
          <a:xfrm>
            <a:off x="8020050" y="3133725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Empirisches Urteil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2F7D974-A11A-44B2-B034-D8424BBCC5E4}"/>
              </a:ext>
            </a:extLst>
          </p:cNvPr>
          <p:cNvSpPr>
            <a:spLocks noGrp="1"/>
          </p:cNvSpPr>
          <p:nvPr/>
        </p:nvSpPr>
        <p:spPr>
          <a:xfrm>
            <a:off x="8020050" y="3457575"/>
            <a:ext cx="35528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Korrelation ist statistisch messbar, aber ökonomisch sehr klein.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R² = 0,0049 bedeutet: 99,51 % der täglichen Zinsvarianz bleiben durch Brent unerklärt.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Konsequenz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Eine Aggregation würde Information vernichten und potenziell unterschiedliche sektorale Wirkungen verdecken.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28EA99D-0C31-4B39-9A9F-0225C5D6AC36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Daten: ICE Brent + Deutsche Bundesbank Svensson · 22.04.2021–22.04.2026 · lokaler Modell-Cache</a:t>
            </a:r>
          </a:p>
        </p:txBody>
      </p:sp>
    </p:spTree>
    <p:extLst>
      <p:ext uri="{BB962C8B-B14F-4D97-AF65-F5344CB8AC3E}">
        <p14:creationId xmlns:p14="http://schemas.microsoft.com/office/powerpoint/2010/main" val="1675000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B34C780-A16F-49F5-A803-D1211ED59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4738AC-1560-4788-8556-5B9C18B9927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STABILITÄT DER FAKTORBEZIEHUNG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B7841-4070-4E03-835A-185EA807F82E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Die Faktorbeziehung schwankt – strukturell bleibt die Korrelation niedrig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ECF5C-AD84-4CDF-80AA-5F33513BE31D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explizites Zwei-Faktor-Modell kann temporäre Gleichläufe abbilden, ohne eine dauerhafte Abhängigkeit zu unterstellen.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23FEA9-1358-4A88-AD1F-C1F3BC01D82D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AE4230-1C05-414C-8389-8D5BD5D1BA90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7286625" cy="4210050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4F929-15F9-43B4-A8BC-2DA197EE4FBF}"/>
              </a:ext>
            </a:extLst>
          </p:cNvPr>
          <p:cNvSpPr>
            <a:spLocks noGrp="1"/>
          </p:cNvSpPr>
          <p:nvPr/>
        </p:nvSpPr>
        <p:spPr>
          <a:xfrm>
            <a:off x="657225" y="162877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PEARSON-KORRELATION PRO KALENDERJAHR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178060-6CEB-4730-ABF6-2D255155873C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6096000" cy="9525"/>
          </a:xfrm>
          <a:prstGeom prst="rect">
            <a:avLst/>
          </a:prstGeom>
          <a:solidFill>
            <a:srgbClr val="AFC0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6EF36-B90F-42EE-BEC1-6F54A1BEB961}"/>
              </a:ext>
            </a:extLst>
          </p:cNvPr>
          <p:cNvSpPr>
            <a:spLocks noGrp="1"/>
          </p:cNvSpPr>
          <p:nvPr/>
        </p:nvSpPr>
        <p:spPr>
          <a:xfrm>
            <a:off x="1238250" y="3528536"/>
            <a:ext cx="514350" cy="910114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2C7FAA-016B-4440-8F46-F07E6608AED0}"/>
              </a:ext>
            </a:extLst>
          </p:cNvPr>
          <p:cNvSpPr>
            <a:spLocks noGrp="1"/>
          </p:cNvSpPr>
          <p:nvPr/>
        </p:nvSpPr>
        <p:spPr>
          <a:xfrm>
            <a:off x="1152525" y="3299936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+0,182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DD9C88-6F06-453E-8011-5150B738307A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E38C0D-6362-470D-8E15-D18B3498E3AA}"/>
              </a:ext>
            </a:extLst>
          </p:cNvPr>
          <p:cNvSpPr>
            <a:spLocks noGrp="1"/>
          </p:cNvSpPr>
          <p:nvPr/>
        </p:nvSpPr>
        <p:spPr>
          <a:xfrm>
            <a:off x="2190750" y="4438650"/>
            <a:ext cx="514350" cy="305038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716D9D-7E61-4656-9E1D-8343AAA27B7E}"/>
              </a:ext>
            </a:extLst>
          </p:cNvPr>
          <p:cNvSpPr>
            <a:spLocks noGrp="1"/>
          </p:cNvSpPr>
          <p:nvPr/>
        </p:nvSpPr>
        <p:spPr>
          <a:xfrm>
            <a:off x="2105025" y="4800838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-0,061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77F1CA-A62F-4F83-81D1-161AF1773A4F}"/>
              </a:ext>
            </a:extLst>
          </p:cNvPr>
          <p:cNvSpPr>
            <a:spLocks noGrp="1"/>
          </p:cNvSpPr>
          <p:nvPr/>
        </p:nvSpPr>
        <p:spPr>
          <a:xfrm>
            <a:off x="21526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366A2-1CEE-4DF3-9D23-7BBC92F8B12E}"/>
              </a:ext>
            </a:extLst>
          </p:cNvPr>
          <p:cNvSpPr>
            <a:spLocks noGrp="1"/>
          </p:cNvSpPr>
          <p:nvPr/>
        </p:nvSpPr>
        <p:spPr>
          <a:xfrm>
            <a:off x="3143250" y="3943588"/>
            <a:ext cx="514350" cy="495062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229DCB-F882-484D-8FD9-FB7B7E1B0A22}"/>
              </a:ext>
            </a:extLst>
          </p:cNvPr>
          <p:cNvSpPr>
            <a:spLocks noGrp="1"/>
          </p:cNvSpPr>
          <p:nvPr/>
        </p:nvSpPr>
        <p:spPr>
          <a:xfrm>
            <a:off x="3057525" y="3714988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+0,099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2B46C-CF02-4466-9335-95E40F224458}"/>
              </a:ext>
            </a:extLst>
          </p:cNvPr>
          <p:cNvSpPr>
            <a:spLocks noGrp="1"/>
          </p:cNvSpPr>
          <p:nvPr/>
        </p:nvSpPr>
        <p:spPr>
          <a:xfrm>
            <a:off x="31051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CFBAC8-55B0-408E-B443-FCA063318BCE}"/>
              </a:ext>
            </a:extLst>
          </p:cNvPr>
          <p:cNvSpPr>
            <a:spLocks noGrp="1"/>
          </p:cNvSpPr>
          <p:nvPr/>
        </p:nvSpPr>
        <p:spPr>
          <a:xfrm>
            <a:off x="4095750" y="3463528"/>
            <a:ext cx="514350" cy="975122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B5D468-FD2F-477A-AC05-3441CFF29A4A}"/>
              </a:ext>
            </a:extLst>
          </p:cNvPr>
          <p:cNvSpPr>
            <a:spLocks noGrp="1"/>
          </p:cNvSpPr>
          <p:nvPr/>
        </p:nvSpPr>
        <p:spPr>
          <a:xfrm>
            <a:off x="4010025" y="3234928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+0,195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BA4979-891D-43DA-BC81-C8BF27F1C291}"/>
              </a:ext>
            </a:extLst>
          </p:cNvPr>
          <p:cNvSpPr>
            <a:spLocks noGrp="1"/>
          </p:cNvSpPr>
          <p:nvPr/>
        </p:nvSpPr>
        <p:spPr>
          <a:xfrm>
            <a:off x="40576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3F3FD-534C-4BDB-A4DC-EB5C278E90B3}"/>
              </a:ext>
            </a:extLst>
          </p:cNvPr>
          <p:cNvSpPr>
            <a:spLocks noGrp="1"/>
          </p:cNvSpPr>
          <p:nvPr/>
        </p:nvSpPr>
        <p:spPr>
          <a:xfrm>
            <a:off x="5048250" y="4208621"/>
            <a:ext cx="514350" cy="230029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E89BC0-AAE2-496B-B0AC-6D88E3789E03}"/>
              </a:ext>
            </a:extLst>
          </p:cNvPr>
          <p:cNvSpPr>
            <a:spLocks noGrp="1"/>
          </p:cNvSpPr>
          <p:nvPr/>
        </p:nvSpPr>
        <p:spPr>
          <a:xfrm>
            <a:off x="4962525" y="3980021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+0,046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75EA5-ACA0-4EC0-9C1F-A3559CE0C57D}"/>
              </a:ext>
            </a:extLst>
          </p:cNvPr>
          <p:cNvSpPr>
            <a:spLocks noGrp="1"/>
          </p:cNvSpPr>
          <p:nvPr/>
        </p:nvSpPr>
        <p:spPr>
          <a:xfrm>
            <a:off x="50101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468482-E728-43BE-B434-6CD19FBD4383}"/>
              </a:ext>
            </a:extLst>
          </p:cNvPr>
          <p:cNvSpPr>
            <a:spLocks noGrp="1"/>
          </p:cNvSpPr>
          <p:nvPr/>
        </p:nvSpPr>
        <p:spPr>
          <a:xfrm>
            <a:off x="6000750" y="2628424"/>
            <a:ext cx="514350" cy="1810226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D5DA40-ABC0-4604-9189-E95B0015E217}"/>
              </a:ext>
            </a:extLst>
          </p:cNvPr>
          <p:cNvSpPr>
            <a:spLocks noGrp="1"/>
          </p:cNvSpPr>
          <p:nvPr/>
        </p:nvSpPr>
        <p:spPr>
          <a:xfrm>
            <a:off x="5915025" y="2399824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+0,362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506C24-3385-4E8F-9A30-F8670DD3EEE7}"/>
              </a:ext>
            </a:extLst>
          </p:cNvPr>
          <p:cNvSpPr>
            <a:spLocks noGrp="1"/>
          </p:cNvSpPr>
          <p:nvPr/>
        </p:nvSpPr>
        <p:spPr>
          <a:xfrm>
            <a:off x="59626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2026*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A70F8C-5883-4E73-803A-083757556E03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6572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* 2026 ist ein Teilsample bis 22. April und daher nicht direkt mit Volljahren vergleichbar.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33A5AB-7B09-41F2-A21B-9DA6C15CD8DD}"/>
              </a:ext>
            </a:extLst>
          </p:cNvPr>
          <p:cNvSpPr>
            <a:spLocks noGrp="1"/>
          </p:cNvSpPr>
          <p:nvPr/>
        </p:nvSpPr>
        <p:spPr>
          <a:xfrm>
            <a:off x="8048625" y="1438275"/>
            <a:ext cx="36861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3304B8-2198-493D-BBD7-B74DF0EA4B5F}"/>
              </a:ext>
            </a:extLst>
          </p:cNvPr>
          <p:cNvSpPr>
            <a:spLocks noGrp="1"/>
          </p:cNvSpPr>
          <p:nvPr/>
        </p:nvSpPr>
        <p:spPr>
          <a:xfrm>
            <a:off x="8048625" y="1438275"/>
            <a:ext cx="3686175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F58538-AECD-4D25-9937-0C8D4F72001F}"/>
              </a:ext>
            </a:extLst>
          </p:cNvPr>
          <p:cNvSpPr>
            <a:spLocks noGrp="1"/>
          </p:cNvSpPr>
          <p:nvPr/>
        </p:nvSpPr>
        <p:spPr>
          <a:xfrm>
            <a:off x="8181975" y="1581150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 252 TAGE · SPANNWEITE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6D1005-C352-4556-B199-738DE8844618}"/>
              </a:ext>
            </a:extLst>
          </p:cNvPr>
          <p:cNvSpPr>
            <a:spLocks noGrp="1"/>
          </p:cNvSpPr>
          <p:nvPr/>
        </p:nvSpPr>
        <p:spPr>
          <a:xfrm>
            <a:off x="8181975" y="1790700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−0,175 bis +0,235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8598D0-C9EE-4519-A333-237BAB650C0D}"/>
              </a:ext>
            </a:extLst>
          </p:cNvPr>
          <p:cNvSpPr>
            <a:spLocks noGrp="1"/>
          </p:cNvSpPr>
          <p:nvPr/>
        </p:nvSpPr>
        <p:spPr>
          <a:xfrm>
            <a:off x="8181975" y="2162175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temporäre negative und positive Regime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DC6A8DA-EF0B-45D0-8D7B-F60BC3BFECA5}"/>
              </a:ext>
            </a:extLst>
          </p:cNvPr>
          <p:cNvSpPr>
            <a:spLocks noGrp="1"/>
          </p:cNvSpPr>
          <p:nvPr/>
        </p:nvSpPr>
        <p:spPr>
          <a:xfrm>
            <a:off x="8048625" y="2733675"/>
            <a:ext cx="36861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89E93B-9EE6-4FDC-AB00-A7586F98F58E}"/>
              </a:ext>
            </a:extLst>
          </p:cNvPr>
          <p:cNvSpPr>
            <a:spLocks noGrp="1"/>
          </p:cNvSpPr>
          <p:nvPr/>
        </p:nvSpPr>
        <p:spPr>
          <a:xfrm>
            <a:off x="8048625" y="2733675"/>
            <a:ext cx="3686175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C5CCCE-410D-462A-A53C-6AE1E6E9E468}"/>
              </a:ext>
            </a:extLst>
          </p:cNvPr>
          <p:cNvSpPr>
            <a:spLocks noGrp="1"/>
          </p:cNvSpPr>
          <p:nvPr/>
        </p:nvSpPr>
        <p:spPr>
          <a:xfrm>
            <a:off x="8181975" y="2876550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ROLLING-MITTEL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753B6B-25D3-4240-BE6D-896EB30AEBE7}"/>
              </a:ext>
            </a:extLst>
          </p:cNvPr>
          <p:cNvSpPr>
            <a:spLocks noGrp="1"/>
          </p:cNvSpPr>
          <p:nvPr/>
        </p:nvSpPr>
        <p:spPr>
          <a:xfrm>
            <a:off x="8181975" y="3086100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+0,065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5F2CBC-03A6-4DC7-A72F-B81784E44F5C}"/>
              </a:ext>
            </a:extLst>
          </p:cNvPr>
          <p:cNvSpPr>
            <a:spLocks noGrp="1"/>
          </p:cNvSpPr>
          <p:nvPr/>
        </p:nvSpPr>
        <p:spPr>
          <a:xfrm>
            <a:off x="8181975" y="3457575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nahe am Full-Sample-Wert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B9CA31E-FD0E-465C-85AF-EC22A50ECB04}"/>
              </a:ext>
            </a:extLst>
          </p:cNvPr>
          <p:cNvSpPr>
            <a:spLocks noGrp="1"/>
          </p:cNvSpPr>
          <p:nvPr/>
        </p:nvSpPr>
        <p:spPr>
          <a:xfrm>
            <a:off x="8048625" y="4029075"/>
            <a:ext cx="36861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9C858F-40F4-4C7A-B7B9-7EB4BDC62AD2}"/>
              </a:ext>
            </a:extLst>
          </p:cNvPr>
          <p:cNvSpPr>
            <a:spLocks noGrp="1"/>
          </p:cNvSpPr>
          <p:nvPr/>
        </p:nvSpPr>
        <p:spPr>
          <a:xfrm>
            <a:off x="8048625" y="4029075"/>
            <a:ext cx="3686175" cy="4762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8F8E2-A489-4EB2-BEFE-8CC7404D022A}"/>
              </a:ext>
            </a:extLst>
          </p:cNvPr>
          <p:cNvSpPr>
            <a:spLocks noGrp="1"/>
          </p:cNvSpPr>
          <p:nvPr/>
        </p:nvSpPr>
        <p:spPr>
          <a:xfrm>
            <a:off x="8181975" y="4171950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LETZTER CACHE-WERT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0059B7-588D-45F0-A81C-1813E3133AE9}"/>
              </a:ext>
            </a:extLst>
          </p:cNvPr>
          <p:cNvSpPr>
            <a:spLocks noGrp="1"/>
          </p:cNvSpPr>
          <p:nvPr/>
        </p:nvSpPr>
        <p:spPr>
          <a:xfrm>
            <a:off x="8181975" y="4381500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+0,198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77A717-8602-4F07-A3D9-DB037481E4AA}"/>
              </a:ext>
            </a:extLst>
          </p:cNvPr>
          <p:cNvSpPr>
            <a:spLocks noGrp="1"/>
          </p:cNvSpPr>
          <p:nvPr/>
        </p:nvSpPr>
        <p:spPr>
          <a:xfrm>
            <a:off x="8181975" y="4752975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22. April 2026 · erhöht, aber moderat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7141CFA-33DD-4DBF-8B07-0364A7DAE185}"/>
              </a:ext>
            </a:extLst>
          </p:cNvPr>
          <p:cNvSpPr>
            <a:spLocks noGrp="1"/>
          </p:cNvSpPr>
          <p:nvPr/>
        </p:nvSpPr>
        <p:spPr>
          <a:xfrm>
            <a:off x="457200" y="5857875"/>
            <a:ext cx="11277600" cy="400050"/>
          </a:xfrm>
          <a:prstGeom prst="roundRect">
            <a:avLst>
              <a:gd name="adj" fmla="val 28571"/>
            </a:avLst>
          </a:prstGeom>
          <a:solidFill>
            <a:srgbClr val="E3F1EF"/>
          </a:solidFill>
          <a:ln w="9525">
            <a:solidFill>
              <a:srgbClr val="B7D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157374-4670-48B0-86F6-F4114256E58A}"/>
              </a:ext>
            </a:extLst>
          </p:cNvPr>
          <p:cNvSpPr>
            <a:spLocks noGrp="1"/>
          </p:cNvSpPr>
          <p:nvPr/>
        </p:nvSpPr>
        <p:spPr>
          <a:xfrm>
            <a:off x="619125" y="5972175"/>
            <a:ext cx="1095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Interpretation: Zeitvariation ja – strukturelle Ein-Faktor-Abhängigkeit nein. Deshalb bleiben Brent und Zins getrennt steuerbar.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2B083D-7823-4D13-966A-9E040A8658D3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factor_correlation.py · Rolling Window 252 Handelstage · lokale Markt- und Bundesbankdaten</a:t>
            </a:r>
          </a:p>
        </p:txBody>
      </p:sp>
    </p:spTree>
    <p:extLst>
      <p:ext uri="{BB962C8B-B14F-4D97-AF65-F5344CB8AC3E}">
        <p14:creationId xmlns:p14="http://schemas.microsoft.com/office/powerpoint/2010/main" val="27099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E1148FBE-FEDC-41B7-9FE5-E30C17AD4C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6263A3-5B37-4861-A1F9-AD9293BE7B6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VOLLSTÄNDIGE SEGMENTREAKTION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20821-F3F5-4EFB-A7F8-2B335626DFD2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gleiche Schock erzeugt sieben unterschiedliche PD- und LGD-Bewegungen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384872-5D38-40C3-AEFB-D964FDC40F1F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Korrekte direkte Klassenreaktionen für ΔBrent +0,50 log und Δr 10Y +2,0 pp – identisch über alle zehn Banken angewendet.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B39A7-8710-4CD5-9FFB-CA2EA108ACA3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671587-C831-4569-A53C-FD6CB249C995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1277600" cy="685800"/>
          </a:xfrm>
          <a:prstGeom prst="roundRect">
            <a:avLst>
              <a:gd name="adj" fmla="val 16667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B6B265-9440-45CD-B5AA-44B122BCE475}"/>
              </a:ext>
            </a:extLst>
          </p:cNvPr>
          <p:cNvSpPr>
            <a:spLocks noGrp="1"/>
          </p:cNvSpPr>
          <p:nvPr/>
        </p:nvSpPr>
        <p:spPr>
          <a:xfrm>
            <a:off x="628650" y="1504950"/>
            <a:ext cx="61912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5CE7D-F114-4813-9352-15F655E18543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5429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SCHOCK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E4E2BD-0E40-4E88-BF5E-4B05EFD86631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ΔBrent = +0,50 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B3823-C2D8-479E-9627-4274C11B437E}"/>
              </a:ext>
            </a:extLst>
          </p:cNvPr>
          <p:cNvSpPr>
            <a:spLocks noGrp="1"/>
          </p:cNvSpPr>
          <p:nvPr/>
        </p:nvSpPr>
        <p:spPr>
          <a:xfrm>
            <a:off x="1476375" y="1762125"/>
            <a:ext cx="2143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≈ +65 % Ölpreis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3E09A6-6201-4C31-8C40-B84ABF17F390}"/>
              </a:ext>
            </a:extLst>
          </p:cNvPr>
          <p:cNvSpPr>
            <a:spLocks noGrp="1"/>
          </p:cNvSpPr>
          <p:nvPr/>
        </p:nvSpPr>
        <p:spPr>
          <a:xfrm>
            <a:off x="3857625" y="1552575"/>
            <a:ext cx="2143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Δr 10Y = +2,0 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F91DF-5263-456C-806F-FC35DF194E77}"/>
              </a:ext>
            </a:extLst>
          </p:cNvPr>
          <p:cNvSpPr>
            <a:spLocks noGrp="1"/>
          </p:cNvSpPr>
          <p:nvPr/>
        </p:nvSpPr>
        <p:spPr>
          <a:xfrm>
            <a:off x="3857625" y="1762125"/>
            <a:ext cx="2143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= +200 Basispunkte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B81DEF-F453-4EDA-AE04-30ECFA1CCD03}"/>
              </a:ext>
            </a:extLst>
          </p:cNvPr>
          <p:cNvSpPr>
            <a:spLocks noGrp="1"/>
          </p:cNvSpPr>
          <p:nvPr/>
        </p:nvSpPr>
        <p:spPr>
          <a:xfrm>
            <a:off x="6572250" y="1495425"/>
            <a:ext cx="61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Formel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A06442-7F27-4589-BB34-2C1B5AFFB7F3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048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ΔPD = βoil × 0,50 + βrate × 2,0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4CE805-0EB3-468C-B44C-15EF0D3F836F}"/>
              </a:ext>
            </a:extLst>
          </p:cNvPr>
          <p:cNvSpPr>
            <a:spLocks noGrp="1"/>
          </p:cNvSpPr>
          <p:nvPr/>
        </p:nvSpPr>
        <p:spPr>
          <a:xfrm>
            <a:off x="7191375" y="1724025"/>
            <a:ext cx="4048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ΔLGD = γoil × 0,50 + γrate × 2,0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414344-E91C-4042-A461-D48FE5D7D501}"/>
              </a:ext>
            </a:extLst>
          </p:cNvPr>
          <p:cNvSpPr>
            <a:spLocks noGrp="1"/>
          </p:cNvSpPr>
          <p:nvPr/>
        </p:nvSpPr>
        <p:spPr>
          <a:xfrm>
            <a:off x="457200" y="2228850"/>
            <a:ext cx="5429250" cy="3657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0F917C-A8E4-4AC2-8460-0FB7510B5118}"/>
              </a:ext>
            </a:extLst>
          </p:cNvPr>
          <p:cNvSpPr>
            <a:spLocks noGrp="1"/>
          </p:cNvSpPr>
          <p:nvPr/>
        </p:nvSpPr>
        <p:spPr>
          <a:xfrm>
            <a:off x="647700" y="2409825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ΔPD · AUSFALLWAHRSCHEINLICHKEIT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86D21-DD50-43FC-B442-B8301BC9AB61}"/>
              </a:ext>
            </a:extLst>
          </p:cNvPr>
          <p:cNvSpPr>
            <a:spLocks noGrp="1"/>
          </p:cNvSpPr>
          <p:nvPr/>
        </p:nvSpPr>
        <p:spPr>
          <a:xfrm>
            <a:off x="647700" y="26289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Veränderung in Prozentpunkten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9018DE-9843-4A39-B677-A05DC890C980}"/>
              </a:ext>
            </a:extLst>
          </p:cNvPr>
          <p:cNvSpPr>
            <a:spLocks noGrp="1"/>
          </p:cNvSpPr>
          <p:nvPr/>
        </p:nvSpPr>
        <p:spPr>
          <a:xfrm>
            <a:off x="2047875" y="2914650"/>
            <a:ext cx="9525" cy="2609850"/>
          </a:xfrm>
          <a:prstGeom prst="rect">
            <a:avLst/>
          </a:prstGeom>
          <a:solidFill>
            <a:srgbClr val="AFC0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8D6ACB-7DD2-48A6-9C2D-098ABCF70857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ABC3AE-3228-453C-B60F-BF4FA022872D}"/>
              </a:ext>
            </a:extLst>
          </p:cNvPr>
          <p:cNvSpPr>
            <a:spLocks noGrp="1"/>
          </p:cNvSpPr>
          <p:nvPr/>
        </p:nvSpPr>
        <p:spPr>
          <a:xfrm>
            <a:off x="2047875" y="302895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3EEABF-C184-4406-801A-69F0C3C5F47B}"/>
              </a:ext>
            </a:extLst>
          </p:cNvPr>
          <p:cNvSpPr>
            <a:spLocks noGrp="1"/>
          </p:cNvSpPr>
          <p:nvPr/>
        </p:nvSpPr>
        <p:spPr>
          <a:xfrm>
            <a:off x="4981575" y="30099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+1,100 pp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BA09AD-C4C5-4C7B-B089-9141BD1E7F78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CDFA652-4940-442C-84E9-8D0836629465}"/>
              </a:ext>
            </a:extLst>
          </p:cNvPr>
          <p:cNvSpPr>
            <a:spLocks noGrp="1"/>
          </p:cNvSpPr>
          <p:nvPr/>
        </p:nvSpPr>
        <p:spPr>
          <a:xfrm>
            <a:off x="2047875" y="3390900"/>
            <a:ext cx="1623580" cy="142875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350C2D-E7E1-4752-B1A6-3D92112EA083}"/>
              </a:ext>
            </a:extLst>
          </p:cNvPr>
          <p:cNvSpPr>
            <a:spLocks noGrp="1"/>
          </p:cNvSpPr>
          <p:nvPr/>
        </p:nvSpPr>
        <p:spPr>
          <a:xfrm>
            <a:off x="3747655" y="337185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+0,625 pp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370858-2C4E-44B4-92FF-A90074EF9141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152ABC-B6BA-4BFD-BF26-98EB32E8B797}"/>
              </a:ext>
            </a:extLst>
          </p:cNvPr>
          <p:cNvSpPr>
            <a:spLocks noGrp="1"/>
          </p:cNvSpPr>
          <p:nvPr/>
        </p:nvSpPr>
        <p:spPr>
          <a:xfrm>
            <a:off x="2047875" y="3752850"/>
            <a:ext cx="1688523" cy="1428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E967D5-C1E4-48AF-BF97-71E6C1C0B602}"/>
              </a:ext>
            </a:extLst>
          </p:cNvPr>
          <p:cNvSpPr>
            <a:spLocks noGrp="1"/>
          </p:cNvSpPr>
          <p:nvPr/>
        </p:nvSpPr>
        <p:spPr>
          <a:xfrm>
            <a:off x="3812598" y="37338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+0,650 pp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A82C1-81A5-48CC-835E-0FF948D10A0E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0745E8-BA60-4B23-B27C-40BEA3D1CEBA}"/>
              </a:ext>
            </a:extLst>
          </p:cNvPr>
          <p:cNvSpPr>
            <a:spLocks noGrp="1"/>
          </p:cNvSpPr>
          <p:nvPr/>
        </p:nvSpPr>
        <p:spPr>
          <a:xfrm>
            <a:off x="2047875" y="4114800"/>
            <a:ext cx="1428750" cy="1428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D53E8E-423C-49C5-A7E6-433911B3D2FC}"/>
              </a:ext>
            </a:extLst>
          </p:cNvPr>
          <p:cNvSpPr>
            <a:spLocks noGrp="1"/>
          </p:cNvSpPr>
          <p:nvPr/>
        </p:nvSpPr>
        <p:spPr>
          <a:xfrm>
            <a:off x="3552825" y="409575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+0,550 pp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F1BFFD-81D1-4F48-AD01-137A2F2F8FC1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64D3B22-A985-446B-82D3-4F251EFF6F1A}"/>
              </a:ext>
            </a:extLst>
          </p:cNvPr>
          <p:cNvSpPr>
            <a:spLocks noGrp="1"/>
          </p:cNvSpPr>
          <p:nvPr/>
        </p:nvSpPr>
        <p:spPr>
          <a:xfrm>
            <a:off x="2047875" y="4476750"/>
            <a:ext cx="1298864" cy="1428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0C904D-9410-4F19-B838-98AE5608061E}"/>
              </a:ext>
            </a:extLst>
          </p:cNvPr>
          <p:cNvSpPr>
            <a:spLocks noGrp="1"/>
          </p:cNvSpPr>
          <p:nvPr/>
        </p:nvSpPr>
        <p:spPr>
          <a:xfrm>
            <a:off x="3422939" y="44577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+0,500 pp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5F9549-E751-4414-9B92-6A27757E2E15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3ECA77-A103-487F-927F-CF067002CBDB}"/>
              </a:ext>
            </a:extLst>
          </p:cNvPr>
          <p:cNvSpPr>
            <a:spLocks noGrp="1"/>
          </p:cNvSpPr>
          <p:nvPr/>
        </p:nvSpPr>
        <p:spPr>
          <a:xfrm>
            <a:off x="1853045" y="4838700"/>
            <a:ext cx="194830" cy="1428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A66011-418C-4B4D-B130-255857DCA2C9}"/>
              </a:ext>
            </a:extLst>
          </p:cNvPr>
          <p:cNvSpPr>
            <a:spLocks noGrp="1"/>
          </p:cNvSpPr>
          <p:nvPr/>
        </p:nvSpPr>
        <p:spPr>
          <a:xfrm>
            <a:off x="2124075" y="481965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−0,075 pp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8BA66C-8AC5-4450-9DA9-1D030AFBE61E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7724FF-8565-46F4-84DA-8001C1EB4015}"/>
              </a:ext>
            </a:extLst>
          </p:cNvPr>
          <p:cNvSpPr>
            <a:spLocks noGrp="1"/>
          </p:cNvSpPr>
          <p:nvPr/>
        </p:nvSpPr>
        <p:spPr>
          <a:xfrm>
            <a:off x="2019300" y="5219700"/>
            <a:ext cx="66675" cy="104775"/>
          </a:xfrm>
          <a:prstGeom prst="rect">
            <a:avLst/>
          </a:prstGeom>
          <a:solidFill>
            <a:srgbClr val="8B92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37A60FA-04AB-4B14-A3BB-FEA3BDC23256}"/>
              </a:ext>
            </a:extLst>
          </p:cNvPr>
          <p:cNvSpPr>
            <a:spLocks noGrp="1"/>
          </p:cNvSpPr>
          <p:nvPr/>
        </p:nvSpPr>
        <p:spPr>
          <a:xfrm>
            <a:off x="2124075" y="5181600"/>
            <a:ext cx="714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8B9296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8B9296"/>
                </a:solidFill>
                <a:latin typeface="Aptos"/>
                <a:ea typeface="Aptos"/>
                <a:cs typeface="Aptos"/>
              </a:rPr>
              <a:t>0,000 pp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16738BE-2A16-47F3-9EDC-6B7F9C6FCFD3}"/>
              </a:ext>
            </a:extLst>
          </p:cNvPr>
          <p:cNvSpPr>
            <a:spLocks noGrp="1"/>
          </p:cNvSpPr>
          <p:nvPr/>
        </p:nvSpPr>
        <p:spPr>
          <a:xfrm>
            <a:off x="647700" y="5619750"/>
            <a:ext cx="5048250" cy="161925"/>
          </a:xfrm>
          <a:prstGeom prst="roundRect">
            <a:avLst>
              <a:gd name="adj" fmla="val 50000"/>
            </a:avLst>
          </a:prstGeom>
          <a:solidFill>
            <a:srgbClr val="F5E5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6CBB82-9D3D-4695-B204-D0E32616980D}"/>
              </a:ext>
            </a:extLst>
          </p:cNvPr>
          <p:cNvSpPr>
            <a:spLocks noGrp="1"/>
          </p:cNvSpPr>
          <p:nvPr/>
        </p:nvSpPr>
        <p:spPr>
          <a:xfrm>
            <a:off x="695325" y="5638800"/>
            <a:ext cx="4953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3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Corporate +0,550 pp · Other Retail +0,650 pp – unterschiedliche Klassen, beide Werte korrekt.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64B7E5-ED63-41A1-882B-F98E2A4D68C1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5600700" cy="3657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4F3F2C-A5A7-497D-8B08-B0FB5B393D84}"/>
              </a:ext>
            </a:extLst>
          </p:cNvPr>
          <p:cNvSpPr>
            <a:spLocks noGrp="1"/>
          </p:cNvSpPr>
          <p:nvPr/>
        </p:nvSpPr>
        <p:spPr>
          <a:xfrm>
            <a:off x="6324600" y="2409825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ΔLGD · VERLUSTQUOTE BEI AUSFALL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341BA8-0A87-45C4-9800-4F506B71E3E2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Veränderung in Prozentpunkten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72436B-CC26-416B-9D1B-9B26B0A4E5BB}"/>
              </a:ext>
            </a:extLst>
          </p:cNvPr>
          <p:cNvSpPr>
            <a:spLocks noGrp="1"/>
          </p:cNvSpPr>
          <p:nvPr/>
        </p:nvSpPr>
        <p:spPr>
          <a:xfrm>
            <a:off x="6343650" y="30099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A85202A-DF2A-4D8B-80ED-FA8A78CC7FBD}"/>
              </a:ext>
            </a:extLst>
          </p:cNvPr>
          <p:cNvSpPr>
            <a:spLocks noGrp="1"/>
          </p:cNvSpPr>
          <p:nvPr/>
        </p:nvSpPr>
        <p:spPr>
          <a:xfrm>
            <a:off x="7715250" y="302895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44F49A5-709F-45A7-A0A0-39D8E913D391}"/>
              </a:ext>
            </a:extLst>
          </p:cNvPr>
          <p:cNvSpPr>
            <a:spLocks noGrp="1"/>
          </p:cNvSpPr>
          <p:nvPr/>
        </p:nvSpPr>
        <p:spPr>
          <a:xfrm>
            <a:off x="7715250" y="3028950"/>
            <a:ext cx="2461276" cy="1428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ABF972-9005-49F3-B3F3-FFD0161AC4E0}"/>
              </a:ext>
            </a:extLst>
          </p:cNvPr>
          <p:cNvSpPr>
            <a:spLocks noGrp="1"/>
          </p:cNvSpPr>
          <p:nvPr/>
        </p:nvSpPr>
        <p:spPr>
          <a:xfrm>
            <a:off x="10887075" y="30099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+2,425 pp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3F129F-FF90-42D2-94DF-856990127383}"/>
              </a:ext>
            </a:extLst>
          </p:cNvPr>
          <p:cNvSpPr>
            <a:spLocks noGrp="1"/>
          </p:cNvSpPr>
          <p:nvPr/>
        </p:nvSpPr>
        <p:spPr>
          <a:xfrm>
            <a:off x="6343650" y="337185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A342802-04A1-4C87-AF4C-59710DAB1698}"/>
              </a:ext>
            </a:extLst>
          </p:cNvPr>
          <p:cNvSpPr>
            <a:spLocks noGrp="1"/>
          </p:cNvSpPr>
          <p:nvPr/>
        </p:nvSpPr>
        <p:spPr>
          <a:xfrm>
            <a:off x="7715250" y="339090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156686F-EEEB-47C5-B220-3A659E7A2F79}"/>
              </a:ext>
            </a:extLst>
          </p:cNvPr>
          <p:cNvSpPr>
            <a:spLocks noGrp="1"/>
          </p:cNvSpPr>
          <p:nvPr/>
        </p:nvSpPr>
        <p:spPr>
          <a:xfrm>
            <a:off x="7715250" y="339090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1CEAC42-AE17-40E2-8F87-7DCA7375967F}"/>
              </a:ext>
            </a:extLst>
          </p:cNvPr>
          <p:cNvSpPr>
            <a:spLocks noGrp="1"/>
          </p:cNvSpPr>
          <p:nvPr/>
        </p:nvSpPr>
        <p:spPr>
          <a:xfrm>
            <a:off x="10887075" y="3371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+3,050 pp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F8D1284-75A7-4AC2-959F-FB57947E10AC}"/>
              </a:ext>
            </a:extLst>
          </p:cNvPr>
          <p:cNvSpPr>
            <a:spLocks noGrp="1"/>
          </p:cNvSpPr>
          <p:nvPr/>
        </p:nvSpPr>
        <p:spPr>
          <a:xfrm>
            <a:off x="6343650" y="37338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8FCA501-0A66-4B43-8205-5E9FAE165EA9}"/>
              </a:ext>
            </a:extLst>
          </p:cNvPr>
          <p:cNvSpPr>
            <a:spLocks noGrp="1"/>
          </p:cNvSpPr>
          <p:nvPr/>
        </p:nvSpPr>
        <p:spPr>
          <a:xfrm>
            <a:off x="7715250" y="375285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0DA888A-56B8-43AE-AD59-C0C448E04327}"/>
              </a:ext>
            </a:extLst>
          </p:cNvPr>
          <p:cNvSpPr>
            <a:spLocks noGrp="1"/>
          </p:cNvSpPr>
          <p:nvPr/>
        </p:nvSpPr>
        <p:spPr>
          <a:xfrm>
            <a:off x="7715250" y="3752850"/>
            <a:ext cx="1750804" cy="1428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BF748A-1AB1-457D-A228-03061090970A}"/>
              </a:ext>
            </a:extLst>
          </p:cNvPr>
          <p:cNvSpPr>
            <a:spLocks noGrp="1"/>
          </p:cNvSpPr>
          <p:nvPr/>
        </p:nvSpPr>
        <p:spPr>
          <a:xfrm>
            <a:off x="10887075" y="37338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+1,725 pp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DB9F5E-0AF2-4B00-A229-64696F859815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46EDEB5-17C4-4FF0-BA21-74508E54E4DA}"/>
              </a:ext>
            </a:extLst>
          </p:cNvPr>
          <p:cNvSpPr>
            <a:spLocks noGrp="1"/>
          </p:cNvSpPr>
          <p:nvPr/>
        </p:nvSpPr>
        <p:spPr>
          <a:xfrm>
            <a:off x="7715250" y="411480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614B015-7CCE-426D-9675-716BADC3C39F}"/>
              </a:ext>
            </a:extLst>
          </p:cNvPr>
          <p:cNvSpPr>
            <a:spLocks noGrp="1"/>
          </p:cNvSpPr>
          <p:nvPr/>
        </p:nvSpPr>
        <p:spPr>
          <a:xfrm>
            <a:off x="7715250" y="4114800"/>
            <a:ext cx="2283658" cy="1428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B1C787A-5C25-4A5C-A35C-E6FA01EA727F}"/>
              </a:ext>
            </a:extLst>
          </p:cNvPr>
          <p:cNvSpPr>
            <a:spLocks noGrp="1"/>
          </p:cNvSpPr>
          <p:nvPr/>
        </p:nvSpPr>
        <p:spPr>
          <a:xfrm>
            <a:off x="10887075" y="40957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+2,250 pp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73EC4-FFA9-4C55-9D53-7AA2DFC858A6}"/>
              </a:ext>
            </a:extLst>
          </p:cNvPr>
          <p:cNvSpPr>
            <a:spLocks noGrp="1"/>
          </p:cNvSpPr>
          <p:nvPr/>
        </p:nvSpPr>
        <p:spPr>
          <a:xfrm>
            <a:off x="6343650" y="44577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4BEC785-2EAE-47B3-9EFF-FB08C23B116A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326BFF6-FFE5-4443-A0EC-1B74B18056AC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1167203" cy="1428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020C0A-72A6-40AD-947A-CE06B2EA7222}"/>
              </a:ext>
            </a:extLst>
          </p:cNvPr>
          <p:cNvSpPr>
            <a:spLocks noGrp="1"/>
          </p:cNvSpPr>
          <p:nvPr/>
        </p:nvSpPr>
        <p:spPr>
          <a:xfrm>
            <a:off x="10887075" y="44577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+1,150 pp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D2588E2-35FA-4F81-ADF5-5368F9BF3765}"/>
              </a:ext>
            </a:extLst>
          </p:cNvPr>
          <p:cNvSpPr>
            <a:spLocks noGrp="1"/>
          </p:cNvSpPr>
          <p:nvPr/>
        </p:nvSpPr>
        <p:spPr>
          <a:xfrm>
            <a:off x="6343650" y="481965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57C85C4-D2A5-4EC7-B21E-FCD3D21C3D43}"/>
              </a:ext>
            </a:extLst>
          </p:cNvPr>
          <p:cNvSpPr>
            <a:spLocks noGrp="1"/>
          </p:cNvSpPr>
          <p:nvPr/>
        </p:nvSpPr>
        <p:spPr>
          <a:xfrm>
            <a:off x="7715250" y="483870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09DA0DA-42F9-4622-A8FF-67FEA0F7F215}"/>
              </a:ext>
            </a:extLst>
          </p:cNvPr>
          <p:cNvSpPr>
            <a:spLocks noGrp="1"/>
          </p:cNvSpPr>
          <p:nvPr/>
        </p:nvSpPr>
        <p:spPr>
          <a:xfrm>
            <a:off x="7715250" y="4838700"/>
            <a:ext cx="1065707" cy="1428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C519E8F-616F-4CEE-881E-3104B27C151B}"/>
              </a:ext>
            </a:extLst>
          </p:cNvPr>
          <p:cNvSpPr>
            <a:spLocks noGrp="1"/>
          </p:cNvSpPr>
          <p:nvPr/>
        </p:nvSpPr>
        <p:spPr>
          <a:xfrm>
            <a:off x="10887075" y="48196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+1,050 pp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2BEDBD4-5E52-47EB-BD5A-F062E364FDB4}"/>
              </a:ext>
            </a:extLst>
          </p:cNvPr>
          <p:cNvSpPr>
            <a:spLocks noGrp="1"/>
          </p:cNvSpPr>
          <p:nvPr/>
        </p:nvSpPr>
        <p:spPr>
          <a:xfrm>
            <a:off x="6343650" y="5181600"/>
            <a:ext cx="1285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D85E157-8C16-48F7-B514-49DC7BBE19E4}"/>
              </a:ext>
            </a:extLst>
          </p:cNvPr>
          <p:cNvSpPr>
            <a:spLocks noGrp="1"/>
          </p:cNvSpPr>
          <p:nvPr/>
        </p:nvSpPr>
        <p:spPr>
          <a:xfrm>
            <a:off x="7715250" y="5200650"/>
            <a:ext cx="3095625" cy="142875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BF8E17F-90DE-42AC-AD9A-105BFBE9860C}"/>
              </a:ext>
            </a:extLst>
          </p:cNvPr>
          <p:cNvSpPr>
            <a:spLocks noGrp="1"/>
          </p:cNvSpPr>
          <p:nvPr/>
        </p:nvSpPr>
        <p:spPr>
          <a:xfrm>
            <a:off x="7686675" y="5219700"/>
            <a:ext cx="66675" cy="104775"/>
          </a:xfrm>
          <a:prstGeom prst="rect">
            <a:avLst/>
          </a:prstGeom>
          <a:solidFill>
            <a:srgbClr val="8B92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6F8145B-BB01-4D0D-89D3-1F96B03FE005}"/>
              </a:ext>
            </a:extLst>
          </p:cNvPr>
          <p:cNvSpPr>
            <a:spLocks noGrp="1"/>
          </p:cNvSpPr>
          <p:nvPr/>
        </p:nvSpPr>
        <p:spPr>
          <a:xfrm>
            <a:off x="10887075" y="51816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8B9296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8B9296"/>
                </a:solidFill>
                <a:latin typeface="Aptos"/>
                <a:ea typeface="Aptos"/>
                <a:cs typeface="Aptos"/>
              </a:rPr>
              <a:t>0,000 pp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2989195-3A74-45D6-A4B7-7DF63D2204E1}"/>
              </a:ext>
            </a:extLst>
          </p:cNvPr>
          <p:cNvSpPr>
            <a:spLocks noGrp="1"/>
          </p:cNvSpPr>
          <p:nvPr/>
        </p:nvSpPr>
        <p:spPr>
          <a:xfrm>
            <a:off x="6324600" y="5619750"/>
            <a:ext cx="5219700" cy="161925"/>
          </a:xfrm>
          <a:prstGeom prst="roundRect">
            <a:avLst>
              <a:gd name="adj" fmla="val 50000"/>
            </a:avLst>
          </a:prstGeom>
          <a:solidFill>
            <a:srgbClr val="E3EF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BC9D919-C949-4586-821D-7C6C6E52422B}"/>
              </a:ext>
            </a:extLst>
          </p:cNvPr>
          <p:cNvSpPr>
            <a:spLocks noGrp="1"/>
          </p:cNvSpPr>
          <p:nvPr/>
        </p:nvSpPr>
        <p:spPr>
          <a:xfrm>
            <a:off x="6381750" y="5638800"/>
            <a:ext cx="5105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3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Höchste LGD-Reaktion: Mortgage +3,050 pp durch den starken Zins- und Sicherheitenkanal.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3D86C55-0C39-44A7-A943-964CB72D7AB1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Alle sieben Werte direkt aus der aktiven β/γ-Matrix. Die additive Klassenverschiebung gilt je Bank; daher bleibt sie auch im Bankenaggregat gleich.</a:t>
            </a:r>
          </a:p>
        </p:txBody>
      </p:sp>
    </p:spTree>
    <p:extLst>
      <p:ext uri="{BB962C8B-B14F-4D97-AF65-F5344CB8AC3E}">
        <p14:creationId xmlns:p14="http://schemas.microsoft.com/office/powerpoint/2010/main" val="962449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91EE050-B55E-4029-97F0-64E67CD113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BBFFF3-78CA-4E45-A33A-825CF3F8DC00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IRB-CAPITAL-BRIDGE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73F962-B41C-4546-9030-C63892ACBC90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LGD-Stress erklärt rund zwei Drittel des zusätzlichen IRB-Kapitalbedarfs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1E057-C066-43F5-BC07-34169AB32A83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 und LGD werden nacheinander in die unveränderte Basel-IRB-Formel eingesetzt.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A7D91-AB1D-438F-851E-E83C171C9CEE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47F471-B101-4AA4-B1DC-941F0C296A3A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7067550" cy="3867150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0D538-8FD6-4EAA-9F2F-48FEB2001873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KAPITALBEDARF K · € MRD.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54F12-DCD4-480A-88B2-C23B73850B0B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6191250" cy="9525"/>
          </a:xfrm>
          <a:prstGeom prst="rect">
            <a:avLst/>
          </a:prstGeom>
          <a:solidFill>
            <a:srgbClr val="AFC0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951B4-1B96-4651-B66B-A9DB15DE6880}"/>
              </a:ext>
            </a:extLst>
          </p:cNvPr>
          <p:cNvSpPr>
            <a:spLocks noGrp="1"/>
          </p:cNvSpPr>
          <p:nvPr/>
        </p:nvSpPr>
        <p:spPr>
          <a:xfrm>
            <a:off x="1047750" y="2643436"/>
            <a:ext cx="1381125" cy="1880939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C06F-BB5D-4506-81BB-6214964DCC5C}"/>
              </a:ext>
            </a:extLst>
          </p:cNvPr>
          <p:cNvSpPr>
            <a:spLocks noGrp="1"/>
          </p:cNvSpPr>
          <p:nvPr/>
        </p:nvSpPr>
        <p:spPr>
          <a:xfrm>
            <a:off x="1047750" y="2376736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€412,9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01003-DBC0-42B7-B0D8-8EC3C164CDD3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Baseline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F4DBAE-91CB-439F-BEAA-FA6217BD7C3E}"/>
              </a:ext>
            </a:extLst>
          </p:cNvPr>
          <p:cNvSpPr>
            <a:spLocks noGrp="1"/>
          </p:cNvSpPr>
          <p:nvPr/>
        </p:nvSpPr>
        <p:spPr>
          <a:xfrm>
            <a:off x="2571750" y="3476625"/>
            <a:ext cx="42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EC5D2-C7C0-4CCD-831E-44E9738C8DE2}"/>
              </a:ext>
            </a:extLst>
          </p:cNvPr>
          <p:cNvSpPr>
            <a:spLocks noGrp="1"/>
          </p:cNvSpPr>
          <p:nvPr/>
        </p:nvSpPr>
        <p:spPr>
          <a:xfrm>
            <a:off x="3143250" y="3945731"/>
            <a:ext cx="1381125" cy="578644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29ACC2-8D4A-4776-879F-388E68B7E5FF}"/>
              </a:ext>
            </a:extLst>
          </p:cNvPr>
          <p:cNvSpPr>
            <a:spLocks noGrp="1"/>
          </p:cNvSpPr>
          <p:nvPr/>
        </p:nvSpPr>
        <p:spPr>
          <a:xfrm>
            <a:off x="3143250" y="3688556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+€13,5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DBC19A-B739-46D2-A236-918AD4EA66C4}"/>
              </a:ext>
            </a:extLst>
          </p:cNvPr>
          <p:cNvSpPr>
            <a:spLocks noGrp="1"/>
          </p:cNvSpPr>
          <p:nvPr/>
        </p:nvSpPr>
        <p:spPr>
          <a:xfrm>
            <a:off x="31432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PD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D22584-09BE-434B-8314-E9ED00D5AA02}"/>
              </a:ext>
            </a:extLst>
          </p:cNvPr>
          <p:cNvSpPr>
            <a:spLocks noGrp="1"/>
          </p:cNvSpPr>
          <p:nvPr/>
        </p:nvSpPr>
        <p:spPr>
          <a:xfrm>
            <a:off x="4667250" y="3476625"/>
            <a:ext cx="42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802744-E84E-41C8-B669-B4D0BD3BF21B}"/>
              </a:ext>
            </a:extLst>
          </p:cNvPr>
          <p:cNvSpPr>
            <a:spLocks noGrp="1"/>
          </p:cNvSpPr>
          <p:nvPr/>
        </p:nvSpPr>
        <p:spPr>
          <a:xfrm>
            <a:off x="5238750" y="3371374"/>
            <a:ext cx="1381125" cy="1153001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DF437E-F1D5-41FA-8949-9CA077969765}"/>
              </a:ext>
            </a:extLst>
          </p:cNvPr>
          <p:cNvSpPr>
            <a:spLocks noGrp="1"/>
          </p:cNvSpPr>
          <p:nvPr/>
        </p:nvSpPr>
        <p:spPr>
          <a:xfrm>
            <a:off x="5238750" y="3114199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+€26,9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A1B9B1-2B44-4E43-8157-65FFE1691092}"/>
              </a:ext>
            </a:extLst>
          </p:cNvPr>
          <p:cNvSpPr>
            <a:spLocks noGrp="1"/>
          </p:cNvSpPr>
          <p:nvPr/>
        </p:nvSpPr>
        <p:spPr>
          <a:xfrm>
            <a:off x="52387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LGD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ADB7CF-1694-4931-A826-6A08F7151051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3667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K Stress = €453,3 Mrd.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EB58C61-85EF-4A91-A3E6-54DA622A4EE6}"/>
              </a:ext>
            </a:extLst>
          </p:cNvPr>
          <p:cNvSpPr>
            <a:spLocks noGrp="1"/>
          </p:cNvSpPr>
          <p:nvPr/>
        </p:nvSpPr>
        <p:spPr>
          <a:xfrm>
            <a:off x="7848600" y="1438275"/>
            <a:ext cx="38862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A024C3-B52F-4641-9D58-E2990084261E}"/>
              </a:ext>
            </a:extLst>
          </p:cNvPr>
          <p:cNvSpPr>
            <a:spLocks noGrp="1"/>
          </p:cNvSpPr>
          <p:nvPr/>
        </p:nvSpPr>
        <p:spPr>
          <a:xfrm>
            <a:off x="7848600" y="1438275"/>
            <a:ext cx="3886200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784572-1C7A-43CD-AB7C-719418B2E142}"/>
              </a:ext>
            </a:extLst>
          </p:cNvPr>
          <p:cNvSpPr>
            <a:spLocks noGrp="1"/>
          </p:cNvSpPr>
          <p:nvPr/>
        </p:nvSpPr>
        <p:spPr>
          <a:xfrm>
            <a:off x="7981950" y="15811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EXPECTED LOSS · VERÄNDERUNG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07046D-0D00-4F3F-B6B1-506FFACAD490}"/>
              </a:ext>
            </a:extLst>
          </p:cNvPr>
          <p:cNvSpPr>
            <a:spLocks noGrp="1"/>
          </p:cNvSpPr>
          <p:nvPr/>
        </p:nvSpPr>
        <p:spPr>
          <a:xfrm>
            <a:off x="7981950" y="17907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+€21,0 Mrd.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67B5E7-1289-4FBE-BB00-0EF8CD1CBAC3}"/>
              </a:ext>
            </a:extLst>
          </p:cNvPr>
          <p:cNvSpPr>
            <a:spLocks noGrp="1"/>
          </p:cNvSpPr>
          <p:nvPr/>
        </p:nvSpPr>
        <p:spPr>
          <a:xfrm>
            <a:off x="7981950" y="216217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zusätzliche Kreditvorsorge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5E674ED-55C1-403F-A7E5-F29727D6B72D}"/>
              </a:ext>
            </a:extLst>
          </p:cNvPr>
          <p:cNvSpPr>
            <a:spLocks noGrp="1"/>
          </p:cNvSpPr>
          <p:nvPr/>
        </p:nvSpPr>
        <p:spPr>
          <a:xfrm>
            <a:off x="7848600" y="2714625"/>
            <a:ext cx="38862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79243-DF65-4A16-BCDE-3CCE01A27517}"/>
              </a:ext>
            </a:extLst>
          </p:cNvPr>
          <p:cNvSpPr>
            <a:spLocks noGrp="1"/>
          </p:cNvSpPr>
          <p:nvPr/>
        </p:nvSpPr>
        <p:spPr>
          <a:xfrm>
            <a:off x="7848600" y="2714625"/>
            <a:ext cx="3886200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732291-56CF-463E-86A2-6EDA28D0D0C7}"/>
              </a:ext>
            </a:extLst>
          </p:cNvPr>
          <p:cNvSpPr>
            <a:spLocks noGrp="1"/>
          </p:cNvSpPr>
          <p:nvPr/>
        </p:nvSpPr>
        <p:spPr>
          <a:xfrm>
            <a:off x="7981950" y="28575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CREDIT RWA · VERÄNDERUNG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0505BE-FF8F-465F-82BA-F67318981468}"/>
              </a:ext>
            </a:extLst>
          </p:cNvPr>
          <p:cNvSpPr>
            <a:spLocks noGrp="1"/>
          </p:cNvSpPr>
          <p:nvPr/>
        </p:nvSpPr>
        <p:spPr>
          <a:xfrm>
            <a:off x="7981950" y="30670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+€505,1 Mrd.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E74F3A-EF2C-44B2-862C-07E3D0612749}"/>
              </a:ext>
            </a:extLst>
          </p:cNvPr>
          <p:cNvSpPr>
            <a:spLocks noGrp="1"/>
          </p:cNvSpPr>
          <p:nvPr/>
        </p:nvSpPr>
        <p:spPr>
          <a:xfrm>
            <a:off x="7981950" y="34385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Basel-IRB-Nennerwirkung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0496C54-D2F4-45CB-8FD5-C4EFE48675AF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38862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C78C76-11EF-4B8F-AFE0-BB9FBFE0DCD5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3886200" cy="4762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3D7E9B-F057-4458-8295-827B1B5E3558}"/>
              </a:ext>
            </a:extLst>
          </p:cNvPr>
          <p:cNvSpPr>
            <a:spLocks noGrp="1"/>
          </p:cNvSpPr>
          <p:nvPr/>
        </p:nvSpPr>
        <p:spPr>
          <a:xfrm>
            <a:off x="7981950" y="41338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IRB-KAPITAL K · VERÄNDERUNG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DAF76A-54FB-4234-86AE-42E9507FDAFB}"/>
              </a:ext>
            </a:extLst>
          </p:cNvPr>
          <p:cNvSpPr>
            <a:spLocks noGrp="1"/>
          </p:cNvSpPr>
          <p:nvPr/>
        </p:nvSpPr>
        <p:spPr>
          <a:xfrm>
            <a:off x="7981950" y="43434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+€40,4 Mrd.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72DB31-72B0-4635-AB1F-18A0C647F5CD}"/>
              </a:ext>
            </a:extLst>
          </p:cNvPr>
          <p:cNvSpPr>
            <a:spLocks noGrp="1"/>
          </p:cNvSpPr>
          <p:nvPr/>
        </p:nvSpPr>
        <p:spPr>
          <a:xfrm>
            <a:off x="7981950" y="471487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+9,8 % gegenüber Baseline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22F1471-7741-4954-A0FC-88DACEECF0AF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1277600" cy="523875"/>
          </a:xfrm>
          <a:prstGeom prst="roundRect">
            <a:avLst>
              <a:gd name="adj" fmla="val 21818"/>
            </a:avLst>
          </a:prstGeom>
          <a:solidFill>
            <a:srgbClr val="F8EED3"/>
          </a:solidFill>
          <a:ln w="9525">
            <a:solidFill>
              <a:srgbClr val="E4C9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72EFD6-DA64-427D-B67B-F39A6AF5C10B}"/>
              </a:ext>
            </a:extLst>
          </p:cNvPr>
          <p:cNvSpPr>
            <a:spLocks noGrp="1"/>
          </p:cNvSpPr>
          <p:nvPr/>
        </p:nvSpPr>
        <p:spPr>
          <a:xfrm>
            <a:off x="638175" y="5781675"/>
            <a:ext cx="1090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Warum LGD dominiert: Der +200-bp-Zinsschock senkt Sicherheitenwerte und erhöht insbesondere die Downturn-LGD.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86D27D9-D8FF-4BA4-AAF3-EBC366B121A9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Basel-III-IRB / CRR Art. 153–155 · konkreter Modelllauf ΔBrent +0,50 / Δr10Y +2,0 pp</a:t>
            </a:r>
          </a:p>
        </p:txBody>
      </p:sp>
    </p:spTree>
    <p:extLst>
      <p:ext uri="{BB962C8B-B14F-4D97-AF65-F5344CB8AC3E}">
        <p14:creationId xmlns:p14="http://schemas.microsoft.com/office/powerpoint/2010/main" val="157952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08066743-A5A0-405B-85F6-32E6932AFC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8A84CA-DF71-4FFE-B776-26C626A45888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8BAA6-DA7D-48DB-AFCB-1862420148A6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kombinierte Schock senkt die aggregierte CET1-Quote um 4,15 Prozentpunkte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DFC32-E605-406E-9876-530C8964350E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Sovereign-Marktwertkanal dominiert den Zählerverlust; zusätzliche Kredit-RWA verstärken den Nennerdruck.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6D827-9F68-4656-B4EF-EBA2E5A8250A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CF784E-B542-46D4-BDC5-2F2D3628927A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25050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889959-A46F-4330-86FC-0CE47AC612D0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2505075" cy="47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E22165-89BF-4492-95FC-636B6F4001BE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BASELINE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05746-BAEB-4D7B-A996-CADB894CB33F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15,17 %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B156D7-181D-4065-B44A-C0C06846A9CE}"/>
              </a:ext>
            </a:extLst>
          </p:cNvPr>
          <p:cNvSpPr>
            <a:spLocks noGrp="1"/>
          </p:cNvSpPr>
          <p:nvPr/>
        </p:nvSpPr>
        <p:spPr>
          <a:xfrm>
            <a:off x="590550" y="210502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Top-10-Aggregat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F062F7-B840-4E21-9722-8B5FA8C846DB}"/>
              </a:ext>
            </a:extLst>
          </p:cNvPr>
          <p:cNvSpPr>
            <a:spLocks noGrp="1"/>
          </p:cNvSpPr>
          <p:nvPr/>
        </p:nvSpPr>
        <p:spPr>
          <a:xfrm>
            <a:off x="3133725" y="1381125"/>
            <a:ext cx="25050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CB632B-9409-4FFC-8960-C46892E2B16B}"/>
              </a:ext>
            </a:extLst>
          </p:cNvPr>
          <p:cNvSpPr>
            <a:spLocks noGrp="1"/>
          </p:cNvSpPr>
          <p:nvPr/>
        </p:nvSpPr>
        <p:spPr>
          <a:xfrm>
            <a:off x="3133725" y="1381125"/>
            <a:ext cx="2505075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2A1B92-9113-4730-902A-F4B175E07E6C}"/>
              </a:ext>
            </a:extLst>
          </p:cNvPr>
          <p:cNvSpPr>
            <a:spLocks noGrp="1"/>
          </p:cNvSpPr>
          <p:nvPr/>
        </p:nvSpPr>
        <p:spPr>
          <a:xfrm>
            <a:off x="3267075" y="1524000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STRESS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C5B899-3175-4C45-949E-3CB408B5A935}"/>
              </a:ext>
            </a:extLst>
          </p:cNvPr>
          <p:cNvSpPr>
            <a:spLocks noGrp="1"/>
          </p:cNvSpPr>
          <p:nvPr/>
        </p:nvSpPr>
        <p:spPr>
          <a:xfrm>
            <a:off x="3267075" y="17335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11,02 %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BF62C0-E3F6-4975-97B5-A2575E9D3465}"/>
              </a:ext>
            </a:extLst>
          </p:cNvPr>
          <p:cNvSpPr>
            <a:spLocks noGrp="1"/>
          </p:cNvSpPr>
          <p:nvPr/>
        </p:nvSpPr>
        <p:spPr>
          <a:xfrm>
            <a:off x="3267075" y="210502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−4,15 Prozentpunkte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5C93DC-5106-4A77-92A7-65D948FF771B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25050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F06B36-0EB2-4E06-87C6-DADDD3418F0B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2505075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1E2CC0-96AC-42B9-A131-41EEA88AB330}"/>
              </a:ext>
            </a:extLst>
          </p:cNvPr>
          <p:cNvSpPr>
            <a:spLocks noGrp="1"/>
          </p:cNvSpPr>
          <p:nvPr/>
        </p:nvSpPr>
        <p:spPr>
          <a:xfrm>
            <a:off x="5943600" y="1524000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CET1-KAPITAL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AC80EC-FF08-43DF-915F-4EF9569C8A85}"/>
              </a:ext>
            </a:extLst>
          </p:cNvPr>
          <p:cNvSpPr>
            <a:spLocks noGrp="1"/>
          </p:cNvSpPr>
          <p:nvPr/>
        </p:nvSpPr>
        <p:spPr>
          <a:xfrm>
            <a:off x="5943600" y="17335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€678 → €548 Mrd.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66F5E3-9FD1-4F28-AC12-371E98D1A270}"/>
              </a:ext>
            </a:extLst>
          </p:cNvPr>
          <p:cNvSpPr>
            <a:spLocks noGrp="1"/>
          </p:cNvSpPr>
          <p:nvPr/>
        </p:nvSpPr>
        <p:spPr>
          <a:xfrm>
            <a:off x="5943600" y="210502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−€129,7 Mrd.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6DADDE-6473-4171-A773-F87EC627DB25}"/>
              </a:ext>
            </a:extLst>
          </p:cNvPr>
          <p:cNvSpPr>
            <a:spLocks noGrp="1"/>
          </p:cNvSpPr>
          <p:nvPr/>
        </p:nvSpPr>
        <p:spPr>
          <a:xfrm>
            <a:off x="8486775" y="1381125"/>
            <a:ext cx="324802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24E25D-D657-4BD1-8538-659A601BF1C9}"/>
              </a:ext>
            </a:extLst>
          </p:cNvPr>
          <p:cNvSpPr>
            <a:spLocks noGrp="1"/>
          </p:cNvSpPr>
          <p:nvPr/>
        </p:nvSpPr>
        <p:spPr>
          <a:xfrm>
            <a:off x="8486775" y="1381125"/>
            <a:ext cx="3248025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53CA97-1C7E-460D-B93A-35043262CBBF}"/>
              </a:ext>
            </a:extLst>
          </p:cNvPr>
          <p:cNvSpPr>
            <a:spLocks noGrp="1"/>
          </p:cNvSpPr>
          <p:nvPr/>
        </p:nvSpPr>
        <p:spPr>
          <a:xfrm>
            <a:off x="8620125" y="1524000"/>
            <a:ext cx="2981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TOTAL RWA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293057-605A-4297-9554-539541FBD708}"/>
              </a:ext>
            </a:extLst>
          </p:cNvPr>
          <p:cNvSpPr>
            <a:spLocks noGrp="1"/>
          </p:cNvSpPr>
          <p:nvPr/>
        </p:nvSpPr>
        <p:spPr>
          <a:xfrm>
            <a:off x="8620125" y="1733550"/>
            <a:ext cx="2981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€4.468 → €4.974 Mrd.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41EB33-057F-4444-BB3C-4499042DD60C}"/>
              </a:ext>
            </a:extLst>
          </p:cNvPr>
          <p:cNvSpPr>
            <a:spLocks noGrp="1"/>
          </p:cNvSpPr>
          <p:nvPr/>
        </p:nvSpPr>
        <p:spPr>
          <a:xfrm>
            <a:off x="8620125" y="2105025"/>
            <a:ext cx="2981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3812522-D6E1-4AF2-ACE8-50A1CEAF6A15}"/>
              </a:ext>
            </a:extLst>
          </p:cNvPr>
          <p:cNvSpPr>
            <a:spLocks noGrp="1"/>
          </p:cNvSpPr>
          <p:nvPr/>
        </p:nvSpPr>
        <p:spPr>
          <a:xfrm>
            <a:off x="457200" y="2638425"/>
            <a:ext cx="6858000" cy="3124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8C6F81-61F8-4AAE-86F4-25D39C85DBB8}"/>
              </a:ext>
            </a:extLst>
          </p:cNvPr>
          <p:cNvSpPr>
            <a:spLocks noGrp="1"/>
          </p:cNvSpPr>
          <p:nvPr/>
        </p:nvSpPr>
        <p:spPr>
          <a:xfrm>
            <a:off x="647700" y="282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BEITRÄGE ZUM STRESSERGEBNIS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6E3463-0169-4C54-8799-23760E39CB06}"/>
              </a:ext>
            </a:extLst>
          </p:cNvPr>
          <p:cNvSpPr>
            <a:spLocks noGrp="1"/>
          </p:cNvSpPr>
          <p:nvPr/>
        </p:nvSpPr>
        <p:spPr>
          <a:xfrm>
            <a:off x="714375" y="3276600"/>
            <a:ext cx="1219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Kreditvorsorge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27D219F-58CD-422D-BB5F-7C8F09C26092}"/>
              </a:ext>
            </a:extLst>
          </p:cNvPr>
          <p:cNvSpPr>
            <a:spLocks noGrp="1"/>
          </p:cNvSpPr>
          <p:nvPr/>
        </p:nvSpPr>
        <p:spPr>
          <a:xfrm>
            <a:off x="1971675" y="3295650"/>
            <a:ext cx="423862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4EBF752-7836-4577-B0DF-075F776FE085}"/>
              </a:ext>
            </a:extLst>
          </p:cNvPr>
          <p:cNvSpPr>
            <a:spLocks noGrp="1"/>
          </p:cNvSpPr>
          <p:nvPr/>
        </p:nvSpPr>
        <p:spPr>
          <a:xfrm>
            <a:off x="1971675" y="3295650"/>
            <a:ext cx="809192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728C15-FE79-4408-9584-B112C349E92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6477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−€21,0 Mrd.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EED8C1-0123-4BEE-B209-9FC07284E1C9}"/>
              </a:ext>
            </a:extLst>
          </p:cNvPr>
          <p:cNvSpPr>
            <a:spLocks noGrp="1"/>
          </p:cNvSpPr>
          <p:nvPr/>
        </p:nvSpPr>
        <p:spPr>
          <a:xfrm>
            <a:off x="714375" y="3781425"/>
            <a:ext cx="1219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Sovereign-MtM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9142A4-37C0-43B3-8FC1-4258C3400CE2}"/>
              </a:ext>
            </a:extLst>
          </p:cNvPr>
          <p:cNvSpPr>
            <a:spLocks noGrp="1"/>
          </p:cNvSpPr>
          <p:nvPr/>
        </p:nvSpPr>
        <p:spPr>
          <a:xfrm>
            <a:off x="1971675" y="3800475"/>
            <a:ext cx="423862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8C20C54-02E4-42B5-9A4B-BEDD612EC4D7}"/>
              </a:ext>
            </a:extLst>
          </p:cNvPr>
          <p:cNvSpPr>
            <a:spLocks noGrp="1"/>
          </p:cNvSpPr>
          <p:nvPr/>
        </p:nvSpPr>
        <p:spPr>
          <a:xfrm>
            <a:off x="1971675" y="3800475"/>
            <a:ext cx="4188532" cy="133350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0C483D-1895-456C-B2F1-1CB1B8C795FB}"/>
              </a:ext>
            </a:extLst>
          </p:cNvPr>
          <p:cNvSpPr>
            <a:spLocks noGrp="1"/>
          </p:cNvSpPr>
          <p:nvPr/>
        </p:nvSpPr>
        <p:spPr>
          <a:xfrm>
            <a:off x="6257925" y="3781425"/>
            <a:ext cx="6477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−€108,7 Mrd.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626A3F-EE84-4549-91FE-C4675D1BD3BC}"/>
              </a:ext>
            </a:extLst>
          </p:cNvPr>
          <p:cNvSpPr>
            <a:spLocks noGrp="1"/>
          </p:cNvSpPr>
          <p:nvPr/>
        </p:nvSpPr>
        <p:spPr>
          <a:xfrm>
            <a:off x="714375" y="4286250"/>
            <a:ext cx="1219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zusätzliche RWA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81BA915-8609-49F9-AD03-358780C7687D}"/>
              </a:ext>
            </a:extLst>
          </p:cNvPr>
          <p:cNvSpPr>
            <a:spLocks noGrp="1"/>
          </p:cNvSpPr>
          <p:nvPr/>
        </p:nvSpPr>
        <p:spPr>
          <a:xfrm>
            <a:off x="1971675" y="4305300"/>
            <a:ext cx="423862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72FA1FC-8806-4292-A711-AEAC9E5A02E3}"/>
              </a:ext>
            </a:extLst>
          </p:cNvPr>
          <p:cNvSpPr>
            <a:spLocks noGrp="1"/>
          </p:cNvSpPr>
          <p:nvPr/>
        </p:nvSpPr>
        <p:spPr>
          <a:xfrm>
            <a:off x="1971675" y="4305300"/>
            <a:ext cx="4117172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46BB84-0840-45F3-A11E-A717494B4BA8}"/>
              </a:ext>
            </a:extLst>
          </p:cNvPr>
          <p:cNvSpPr>
            <a:spLocks noGrp="1"/>
          </p:cNvSpPr>
          <p:nvPr/>
        </p:nvSpPr>
        <p:spPr>
          <a:xfrm>
            <a:off x="6257925" y="4286250"/>
            <a:ext cx="6477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6C40374-908D-4556-8B53-81CADF206593}"/>
              </a:ext>
            </a:extLst>
          </p:cNvPr>
          <p:cNvSpPr>
            <a:spLocks noGrp="1"/>
          </p:cNvSpPr>
          <p:nvPr/>
        </p:nvSpPr>
        <p:spPr>
          <a:xfrm>
            <a:off x="714375" y="4810125"/>
            <a:ext cx="6191250" cy="581025"/>
          </a:xfrm>
          <a:prstGeom prst="roundRect">
            <a:avLst>
              <a:gd name="adj" fmla="val 13115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C691B3-16E0-4E37-8B5F-37A7F1011A92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54E653-886B-4CF9-90E7-B28531A0B10A}"/>
              </a:ext>
            </a:extLst>
          </p:cNvPr>
          <p:cNvSpPr>
            <a:spLocks noGrp="1"/>
          </p:cNvSpPr>
          <p:nvPr/>
        </p:nvSpPr>
        <p:spPr>
          <a:xfrm>
            <a:off x="1638300" y="488632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CET1 −€129,7 Mrd.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57C39C-5DA9-4006-A567-40221F4AFA33}"/>
              </a:ext>
            </a:extLst>
          </p:cNvPr>
          <p:cNvSpPr>
            <a:spLocks noGrp="1"/>
          </p:cNvSpPr>
          <p:nvPr/>
        </p:nvSpPr>
        <p:spPr>
          <a:xfrm>
            <a:off x="3857625" y="49149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4421CD-B1AD-49CF-8580-6E3F112B4607}"/>
              </a:ext>
            </a:extLst>
          </p:cNvPr>
          <p:cNvSpPr>
            <a:spLocks noGrp="1"/>
          </p:cNvSpPr>
          <p:nvPr/>
        </p:nvSpPr>
        <p:spPr>
          <a:xfrm>
            <a:off x="4619625" y="488632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RWA +€505,1 Mrd.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4BFC05-8E0F-4796-9A84-F1B38D74D568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Marktwertkanal ist im Zähler der größte Einzelbeitrag; die Kredit-RWA wirken zusätzlich über den Nenner.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ABD9D82-E068-481A-B87A-3DA655B8C8C3}"/>
              </a:ext>
            </a:extLst>
          </p:cNvPr>
          <p:cNvSpPr>
            <a:spLocks noGrp="1"/>
          </p:cNvSpPr>
          <p:nvPr/>
        </p:nvSpPr>
        <p:spPr>
          <a:xfrm>
            <a:off x="7600950" y="2638425"/>
            <a:ext cx="4133850" cy="3124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3F0994-B4B6-4FB9-B998-0DCAA0691FA6}"/>
              </a:ext>
            </a:extLst>
          </p:cNvPr>
          <p:cNvSpPr>
            <a:spLocks noGrp="1"/>
          </p:cNvSpPr>
          <p:nvPr/>
        </p:nvSpPr>
        <p:spPr>
          <a:xfrm>
            <a:off x="7791450" y="2828925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NIEDRIGSTE CET1-QUOTEN NACH STRESS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2FEDBA-9FA0-4F35-A418-06382E40C8C3}"/>
              </a:ext>
            </a:extLst>
          </p:cNvPr>
          <p:cNvSpPr>
            <a:spLocks noGrp="1"/>
          </p:cNvSpPr>
          <p:nvPr/>
        </p:nvSpPr>
        <p:spPr>
          <a:xfrm>
            <a:off x="7810500" y="32194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Société Générale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764A66F-AF8C-48F1-AEA5-EDA8290630B4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98AFA25-6E89-46B5-BFEE-0BDC71883B2F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716862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CD1CE22-61EF-47AA-8887-CD30BCECA19B}"/>
              </a:ext>
            </a:extLst>
          </p:cNvPr>
          <p:cNvSpPr>
            <a:spLocks noGrp="1"/>
          </p:cNvSpPr>
          <p:nvPr/>
        </p:nvSpPr>
        <p:spPr>
          <a:xfrm>
            <a:off x="10877550" y="32099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7,13 %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12D6A56-1D21-4FE6-9BB6-439F760181AA}"/>
              </a:ext>
            </a:extLst>
          </p:cNvPr>
          <p:cNvSpPr>
            <a:spLocks noGrp="1"/>
          </p:cNvSpPr>
          <p:nvPr/>
        </p:nvSpPr>
        <p:spPr>
          <a:xfrm>
            <a:off x="7810500" y="36385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Deutsche Bank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E990D56-C73E-4D98-9280-F1B886A0F11A}"/>
              </a:ext>
            </a:extLst>
          </p:cNvPr>
          <p:cNvSpPr>
            <a:spLocks noGrp="1"/>
          </p:cNvSpPr>
          <p:nvPr/>
        </p:nvSpPr>
        <p:spPr>
          <a:xfrm>
            <a:off x="9220200" y="36576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4050E3E-CFF0-41A2-A2E4-5BAD651F9167}"/>
              </a:ext>
            </a:extLst>
          </p:cNvPr>
          <p:cNvSpPr>
            <a:spLocks noGrp="1"/>
          </p:cNvSpPr>
          <p:nvPr/>
        </p:nvSpPr>
        <p:spPr>
          <a:xfrm>
            <a:off x="9220200" y="3657600"/>
            <a:ext cx="723900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29FE74-89E1-4537-AB73-C55AF62EA4BC}"/>
              </a:ext>
            </a:extLst>
          </p:cNvPr>
          <p:cNvSpPr>
            <a:spLocks noGrp="1"/>
          </p:cNvSpPr>
          <p:nvPr/>
        </p:nvSpPr>
        <p:spPr>
          <a:xfrm>
            <a:off x="10877550" y="36290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7,20 %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A8572E7-D4B4-4CC8-80FA-2865EF6652B8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BNP Paribas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CD31A76-F4B3-44A5-A95B-4A2AE8FDC063}"/>
              </a:ext>
            </a:extLst>
          </p:cNvPr>
          <p:cNvSpPr>
            <a:spLocks noGrp="1"/>
          </p:cNvSpPr>
          <p:nvPr/>
        </p:nvSpPr>
        <p:spPr>
          <a:xfrm>
            <a:off x="9220200" y="40767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A1033D6-9788-43A1-822C-1AFEFBF44F28}"/>
              </a:ext>
            </a:extLst>
          </p:cNvPr>
          <p:cNvSpPr>
            <a:spLocks noGrp="1"/>
          </p:cNvSpPr>
          <p:nvPr/>
        </p:nvSpPr>
        <p:spPr>
          <a:xfrm>
            <a:off x="9220200" y="4076700"/>
            <a:ext cx="811371" cy="133350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42123C-8F4A-4B24-88A5-6482F4B3A07F}"/>
              </a:ext>
            </a:extLst>
          </p:cNvPr>
          <p:cNvSpPr>
            <a:spLocks noGrp="1"/>
          </p:cNvSpPr>
          <p:nvPr/>
        </p:nvSpPr>
        <p:spPr>
          <a:xfrm>
            <a:off x="10877550" y="4048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8,07 %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166BEDB-1CAE-4487-B198-56B04831082D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ING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08DACD5-195A-4E4C-9856-94CA8CB87D5B}"/>
              </a:ext>
            </a:extLst>
          </p:cNvPr>
          <p:cNvSpPr>
            <a:spLocks noGrp="1"/>
          </p:cNvSpPr>
          <p:nvPr/>
        </p:nvSpPr>
        <p:spPr>
          <a:xfrm>
            <a:off x="9220200" y="44958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77267AB-C0D7-4A49-92CE-934AB57168F4}"/>
              </a:ext>
            </a:extLst>
          </p:cNvPr>
          <p:cNvSpPr>
            <a:spLocks noGrp="1"/>
          </p:cNvSpPr>
          <p:nvPr/>
        </p:nvSpPr>
        <p:spPr>
          <a:xfrm>
            <a:off x="9220200" y="4495800"/>
            <a:ext cx="970227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767ED8D-C9A8-48AC-BA94-94320E98898A}"/>
              </a:ext>
            </a:extLst>
          </p:cNvPr>
          <p:cNvSpPr>
            <a:spLocks noGrp="1"/>
          </p:cNvSpPr>
          <p:nvPr/>
        </p:nvSpPr>
        <p:spPr>
          <a:xfrm>
            <a:off x="10877550" y="4467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9,65 %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A41DBED-D637-42F9-93C9-B7BEEE167556}"/>
              </a:ext>
            </a:extLst>
          </p:cNvPr>
          <p:cNvSpPr>
            <a:spLocks noGrp="1"/>
          </p:cNvSpPr>
          <p:nvPr/>
        </p:nvSpPr>
        <p:spPr>
          <a:xfrm>
            <a:off x="7810500" y="48958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B773F4D-660B-4BC2-8B3B-E4E75DD06295}"/>
              </a:ext>
            </a:extLst>
          </p:cNvPr>
          <p:cNvSpPr>
            <a:spLocks noGrp="1"/>
          </p:cNvSpPr>
          <p:nvPr/>
        </p:nvSpPr>
        <p:spPr>
          <a:xfrm>
            <a:off x="9220200" y="49149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4FBB781-9166-40D2-841D-ECDE392C158C}"/>
              </a:ext>
            </a:extLst>
          </p:cNvPr>
          <p:cNvSpPr>
            <a:spLocks noGrp="1"/>
          </p:cNvSpPr>
          <p:nvPr/>
        </p:nvSpPr>
        <p:spPr>
          <a:xfrm>
            <a:off x="9220200" y="4914900"/>
            <a:ext cx="1055688" cy="133350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AE09050-7751-47D6-960A-59B3241B7DB5}"/>
              </a:ext>
            </a:extLst>
          </p:cNvPr>
          <p:cNvSpPr>
            <a:spLocks noGrp="1"/>
          </p:cNvSpPr>
          <p:nvPr/>
        </p:nvSpPr>
        <p:spPr>
          <a:xfrm>
            <a:off x="10877550" y="48863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10,50 %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8B04E0B-79CA-4122-8991-71C0C0E933F2}"/>
              </a:ext>
            </a:extLst>
          </p:cNvPr>
          <p:cNvSpPr>
            <a:spLocks noGrp="1"/>
          </p:cNvSpPr>
          <p:nvPr/>
        </p:nvSpPr>
        <p:spPr>
          <a:xfrm>
            <a:off x="7791450" y="5381625"/>
            <a:ext cx="3733800" cy="9525"/>
          </a:xfrm>
          <a:prstGeom prst="rect">
            <a:avLst/>
          </a:prstGeom>
          <a:solidFill>
            <a:srgbClr val="D5E0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00FAE90-4989-45E4-BF72-44A1B05C435F}"/>
              </a:ext>
            </a:extLst>
          </p:cNvPr>
          <p:cNvSpPr>
            <a:spLocks noGrp="1"/>
          </p:cNvSpPr>
          <p:nvPr/>
        </p:nvSpPr>
        <p:spPr>
          <a:xfrm>
            <a:off x="7791450" y="5495925"/>
            <a:ext cx="809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099EFB1-E630-411A-A7EB-9326366CF772}"/>
              </a:ext>
            </a:extLst>
          </p:cNvPr>
          <p:cNvSpPr>
            <a:spLocks noGrp="1"/>
          </p:cNvSpPr>
          <p:nvPr/>
        </p:nvSpPr>
        <p:spPr>
          <a:xfrm>
            <a:off x="8648700" y="5467350"/>
            <a:ext cx="2876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Alle Banken bleiben über 7,0 %; zwei Institute liegen jedoch nur knapp oberhalb des Pufferniveaus.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8398C60-AD55-407A-82ED-BD6CBBEB3F03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Illustrativer Modellstress, keine regulatorische Prognose · Werte aus dem lokalen Modelllauf und EBA/Pillar-3-Daten</a:t>
            </a:r>
          </a:p>
        </p:txBody>
      </p:sp>
    </p:spTree>
    <p:extLst>
      <p:ext uri="{BB962C8B-B14F-4D97-AF65-F5344CB8AC3E}">
        <p14:creationId xmlns:p14="http://schemas.microsoft.com/office/powerpoint/2010/main" val="1967131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8DBE6B1-6593-4A01-893E-EBFAC5A84B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B86C0B-D762-4F89-AD21-E28A00C7B75F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GOVERNANCE · PRÄMISSEN UND MODELLGRENZEN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695C19-59DD-4033-93CA-E9306CAF8FDA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Klare Prämissen begrenzen die Aussagekraft des Stressindikators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790E9-9CDA-4D49-A9F5-ED1BDEA3D3B9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Ergebnisse zeigen relative Verwundbarkeit und Wirkungskanäle; ihre Aussagekraft hängt von klar dokumentierten Vereinfachungen ab.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B92B5-477F-43B7-A0EA-DBAD822D08B9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CF00C4-6AEE-423E-956F-2163E3DD6CE7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3429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5BEB2-A9B3-4743-94A2-B7EA9ACF06A9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57150" cy="18097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668996-6846-49D8-8B60-538AAF3A6F37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83D6EA-A51A-464A-B666-691D306062C3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952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2E97DF-6D41-4B45-A1E6-7A157E8E40A0}"/>
              </a:ext>
            </a:extLst>
          </p:cNvPr>
          <p:cNvSpPr>
            <a:spLocks noGrp="1"/>
          </p:cNvSpPr>
          <p:nvPr/>
        </p:nvSpPr>
        <p:spPr>
          <a:xfrm>
            <a:off x="628650" y="1876425"/>
            <a:ext cx="308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Fixe regulatorische Snapshots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424DE-660A-4E5E-AB86-77F11DCF89E7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Pillar 3 PD/LGD: 31.12.2024</a:t>
            </a: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 Kapital &amp; Sovereigns: Juni 2025</a:t>
            </a: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Top-10-Universum bleibt konstant</a:t>
            </a:r>
          </a:p>
          <a:p>
            <a:endParaRPr sz="86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Grenze: kein vollständig synchroner Tagesabschluss.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FE6EFB-F9C3-49C0-B548-CEEB46BAAEA9}"/>
              </a:ext>
            </a:extLst>
          </p:cNvPr>
          <p:cNvSpPr>
            <a:spLocks noGrp="1"/>
          </p:cNvSpPr>
          <p:nvPr/>
        </p:nvSpPr>
        <p:spPr>
          <a:xfrm>
            <a:off x="4248150" y="1390650"/>
            <a:ext cx="3429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90E915-58B2-478A-80B5-4E0869A8E244}"/>
              </a:ext>
            </a:extLst>
          </p:cNvPr>
          <p:cNvSpPr>
            <a:spLocks noGrp="1"/>
          </p:cNvSpPr>
          <p:nvPr/>
        </p:nvSpPr>
        <p:spPr>
          <a:xfrm>
            <a:off x="4248150" y="1390650"/>
            <a:ext cx="57150" cy="1809750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3F68A0-C656-4BDF-8CA0-7DC990B67EFA}"/>
              </a:ext>
            </a:extLst>
          </p:cNvPr>
          <p:cNvSpPr>
            <a:spLocks noGrp="1"/>
          </p:cNvSpPr>
          <p:nvPr/>
        </p:nvSpPr>
        <p:spPr>
          <a:xfrm>
            <a:off x="4419600" y="152400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AA603D-2C0D-4493-992B-69B32A3C8044}"/>
              </a:ext>
            </a:extLst>
          </p:cNvPr>
          <p:cNvSpPr>
            <a:spLocks noGrp="1"/>
          </p:cNvSpPr>
          <p:nvPr/>
        </p:nvSpPr>
        <p:spPr>
          <a:xfrm>
            <a:off x="4457700" y="1562100"/>
            <a:ext cx="952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TRANSMISSION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CAA388-783E-4E1D-BD7A-63469D7FD358}"/>
              </a:ext>
            </a:extLst>
          </p:cNvPr>
          <p:cNvSpPr>
            <a:spLocks noGrp="1"/>
          </p:cNvSpPr>
          <p:nvPr/>
        </p:nvSpPr>
        <p:spPr>
          <a:xfrm>
            <a:off x="4419600" y="1876425"/>
            <a:ext cx="308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Lineare Klassenreaktion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59CD55-AA9E-4864-8D6A-ADCC75160D79}"/>
              </a:ext>
            </a:extLst>
          </p:cNvPr>
          <p:cNvSpPr>
            <a:spLocks noGrp="1"/>
          </p:cNvSpPr>
          <p:nvPr/>
        </p:nvSpPr>
        <p:spPr>
          <a:xfrm>
            <a:off x="4419600" y="220980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folgen festen β/γ-Werten je Klasse; dieselbe Sensitivität gilt für alle Banken.</a:t>
            </a:r>
          </a:p>
          <a:p>
            <a:endParaRPr sz="86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Grenze: keine bankindividuellen Betas, Schwellen- oder Nichtlinearitäten.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76BB99-81EB-42AE-95D8-142F1B614CDE}"/>
              </a:ext>
            </a:extLst>
          </p:cNvPr>
          <p:cNvSpPr>
            <a:spLocks noGrp="1"/>
          </p:cNvSpPr>
          <p:nvPr/>
        </p:nvSpPr>
        <p:spPr>
          <a:xfrm>
            <a:off x="8039100" y="1390650"/>
            <a:ext cx="3429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7642D3-ACC2-4429-8891-281E246C98AB}"/>
              </a:ext>
            </a:extLst>
          </p:cNvPr>
          <p:cNvSpPr>
            <a:spLocks noGrp="1"/>
          </p:cNvSpPr>
          <p:nvPr/>
        </p:nvSpPr>
        <p:spPr>
          <a:xfrm>
            <a:off x="8039100" y="1390650"/>
            <a:ext cx="57150" cy="180975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462FAF6-F007-4EB6-BBA5-7A5D93D9EE2A}"/>
              </a:ext>
            </a:extLst>
          </p:cNvPr>
          <p:cNvSpPr>
            <a:spLocks noGrp="1"/>
          </p:cNvSpPr>
          <p:nvPr/>
        </p:nvSpPr>
        <p:spPr>
          <a:xfrm>
            <a:off x="8210550" y="152400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A89B91-C037-4D3C-9195-3B2C0D463613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952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LOSS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59C407-0F0C-4B69-92EE-82C1E2AFADB7}"/>
              </a:ext>
            </a:extLst>
          </p:cNvPr>
          <p:cNvSpPr>
            <a:spLocks noGrp="1"/>
          </p:cNvSpPr>
          <p:nvPr/>
        </p:nvSpPr>
        <p:spPr>
          <a:xfrm>
            <a:off x="8210550" y="1876425"/>
            <a:ext cx="308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Vereinfachter 1-Jahres-Verlust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A53980-705A-4E8B-B5A6-64308BD658D5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ΔEL = Veränderung von PD × LGD × EAD und wirkt als zusätzliche Vorsorge auf CET1.</a:t>
            </a:r>
          </a:p>
          <a:p>
            <a:endParaRPr sz="86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Grenze: keine IFRS-9-Stages, Lifetime-ECL, Diskontierung oder Steuereffekte.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179450-4A8E-47F4-BEF3-78A5C02AFAB2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3429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7289CB-5A93-433F-B8D9-DB795AB71600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57150" cy="1809750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E48C102-C8FF-4546-8FBD-26181AD98BFE}"/>
              </a:ext>
            </a:extLst>
          </p:cNvPr>
          <p:cNvSpPr>
            <a:spLocks noGrp="1"/>
          </p:cNvSpPr>
          <p:nvPr/>
        </p:nvSpPr>
        <p:spPr>
          <a:xfrm>
            <a:off x="628650" y="356235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031FE7-0667-4B17-9758-5BF1ECA03A63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952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IRB / RWA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4D2B5F-1697-4454-907B-453B0A361E8D}"/>
              </a:ext>
            </a:extLst>
          </p:cNvPr>
          <p:cNvSpPr>
            <a:spLocks noGrp="1"/>
          </p:cNvSpPr>
          <p:nvPr/>
        </p:nvSpPr>
        <p:spPr>
          <a:xfrm>
            <a:off x="628650" y="3914775"/>
            <a:ext cx="308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Regulatorische Kapitalmechanik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BC9C4E-BFF0-491E-8B62-A1FD19B3BC55}"/>
              </a:ext>
            </a:extLst>
          </p:cNvPr>
          <p:cNvSpPr>
            <a:spLocks noGrp="1"/>
          </p:cNvSpPr>
          <p:nvPr/>
        </p:nvSpPr>
        <p:spPr>
          <a:xfrm>
            <a:off x="628650" y="424815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PD/LGD fließen in die Basel-IRB-Formel; RWA = K × 12,5 × EAD.</a:t>
            </a:r>
          </a:p>
          <a:p>
            <a:endParaRPr sz="86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Grenze: keine Portfolio-Umschichtung, Kapitalmaßnahmen oder Management Actions.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8F4A108-728A-4DC2-9776-44C4D912B7B0}"/>
              </a:ext>
            </a:extLst>
          </p:cNvPr>
          <p:cNvSpPr>
            <a:spLocks noGrp="1"/>
          </p:cNvSpPr>
          <p:nvPr/>
        </p:nvSpPr>
        <p:spPr>
          <a:xfrm>
            <a:off x="4248150" y="3429000"/>
            <a:ext cx="3429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29F45B-2DBA-4D90-8389-8C3B0DB9F8DF}"/>
              </a:ext>
            </a:extLst>
          </p:cNvPr>
          <p:cNvSpPr>
            <a:spLocks noGrp="1"/>
          </p:cNvSpPr>
          <p:nvPr/>
        </p:nvSpPr>
        <p:spPr>
          <a:xfrm>
            <a:off x="4248150" y="3429000"/>
            <a:ext cx="57150" cy="1809750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0760FD3-394D-436D-B06B-193FA328CC1E}"/>
              </a:ext>
            </a:extLst>
          </p:cNvPr>
          <p:cNvSpPr>
            <a:spLocks noGrp="1"/>
          </p:cNvSpPr>
          <p:nvPr/>
        </p:nvSpPr>
        <p:spPr>
          <a:xfrm>
            <a:off x="4419600" y="356235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F1513F-25D8-444B-80FD-3B1A2F64D405}"/>
              </a:ext>
            </a:extLst>
          </p:cNvPr>
          <p:cNvSpPr>
            <a:spLocks noGrp="1"/>
          </p:cNvSpPr>
          <p:nvPr/>
        </p:nvSpPr>
        <p:spPr>
          <a:xfrm>
            <a:off x="4457700" y="3600450"/>
            <a:ext cx="952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SOVEREIGNS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D55CDD-7FB6-4253-B77D-456A8EFE3B81}"/>
              </a:ext>
            </a:extLst>
          </p:cNvPr>
          <p:cNvSpPr>
            <a:spLocks noGrp="1"/>
          </p:cNvSpPr>
          <p:nvPr/>
        </p:nvSpPr>
        <p:spPr>
          <a:xfrm>
            <a:off x="4419600" y="3914775"/>
            <a:ext cx="308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Duration- und IFRS-9-Proxy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9DBBA7-5D1F-4B6B-957D-024954C72F40}"/>
              </a:ext>
            </a:extLst>
          </p:cNvPr>
          <p:cNvSpPr>
            <a:spLocks noGrp="1"/>
          </p:cNvSpPr>
          <p:nvPr/>
        </p:nvSpPr>
        <p:spPr>
          <a:xfrm>
            <a:off x="4419600" y="424815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Parallel-Shift; Duration aus Laufzeitband-Mittelpunkten, &gt;10Y = 15Y. Nur HfT/FVTPL/FVOCI wirken direkt auf CET1.</a:t>
            </a:r>
          </a:p>
          <a:p>
            <a:endParaRPr sz="86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Grenze: keine Spreads, Hedges oder Konvexität.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9F0270-376D-499C-B7B2-58B06A6A5075}"/>
              </a:ext>
            </a:extLst>
          </p:cNvPr>
          <p:cNvSpPr>
            <a:spLocks noGrp="1"/>
          </p:cNvSpPr>
          <p:nvPr/>
        </p:nvSpPr>
        <p:spPr>
          <a:xfrm>
            <a:off x="8039100" y="3429000"/>
            <a:ext cx="3429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C1D7B9-1C1A-482A-847C-30A5113C40E3}"/>
              </a:ext>
            </a:extLst>
          </p:cNvPr>
          <p:cNvSpPr>
            <a:spLocks noGrp="1"/>
          </p:cNvSpPr>
          <p:nvPr/>
        </p:nvSpPr>
        <p:spPr>
          <a:xfrm>
            <a:off x="8039100" y="3429000"/>
            <a:ext cx="57150" cy="1809750"/>
          </a:xfrm>
          <a:prstGeom prst="rect">
            <a:avLst/>
          </a:prstGeom>
          <a:solidFill>
            <a:srgbClr val="687A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0AF605B-2ECF-491D-A037-E0291F88691E}"/>
              </a:ext>
            </a:extLst>
          </p:cNvPr>
          <p:cNvSpPr>
            <a:spLocks noGrp="1"/>
          </p:cNvSpPr>
          <p:nvPr/>
        </p:nvSpPr>
        <p:spPr>
          <a:xfrm>
            <a:off x="8210550" y="356235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687A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F92A66-BBD0-4D60-BD14-670CF554B136}"/>
              </a:ext>
            </a:extLst>
          </p:cNvPr>
          <p:cNvSpPr>
            <a:spLocks noGrp="1"/>
          </p:cNvSpPr>
          <p:nvPr/>
        </p:nvSpPr>
        <p:spPr>
          <a:xfrm>
            <a:off x="8248650" y="3600450"/>
            <a:ext cx="952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B0B63E-69C3-470C-B425-AB643D7113F8}"/>
              </a:ext>
            </a:extLst>
          </p:cNvPr>
          <p:cNvSpPr>
            <a:spLocks noGrp="1"/>
          </p:cNvSpPr>
          <p:nvPr/>
        </p:nvSpPr>
        <p:spPr>
          <a:xfrm>
            <a:off x="8210550" y="3914775"/>
            <a:ext cx="308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Bewusst nicht modelliert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B367E8-8DE7-4A82-A503-9E93492E0955}"/>
              </a:ext>
            </a:extLst>
          </p:cNvPr>
          <p:cNvSpPr>
            <a:spLocks noGrp="1"/>
          </p:cNvSpPr>
          <p:nvPr/>
        </p:nvSpPr>
        <p:spPr>
          <a:xfrm>
            <a:off x="8210550" y="424815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Trading-Book-Stress, Liquiditätsrisiko, operationelles Risiko, Zweitrundeneffekte und dynamische Bilanzreaktionen.</a:t>
            </a:r>
          </a:p>
          <a:p>
            <a:endParaRPr sz="86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Folge: Ergebnis nicht als regulatorischer Kapitalplan interpretieren.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149A434-FD31-4313-B7D5-004637D5E1E7}"/>
              </a:ext>
            </a:extLst>
          </p:cNvPr>
          <p:cNvSpPr>
            <a:spLocks noGrp="1"/>
          </p:cNvSpPr>
          <p:nvPr/>
        </p:nvSpPr>
        <p:spPr>
          <a:xfrm>
            <a:off x="457200" y="5467350"/>
            <a:ext cx="11277600" cy="704850"/>
          </a:xfrm>
          <a:prstGeom prst="roundRect">
            <a:avLst>
              <a:gd name="adj" fmla="val 16216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F54AF5-EC64-46E1-95E2-9465860F0C4E}"/>
              </a:ext>
            </a:extLst>
          </p:cNvPr>
          <p:cNvSpPr>
            <a:spLocks noGrp="1"/>
          </p:cNvSpPr>
          <p:nvPr/>
        </p:nvSpPr>
        <p:spPr>
          <a:xfrm>
            <a:off x="638175" y="5619750"/>
            <a:ext cx="1047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9D6D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9D6DF"/>
                </a:solidFill>
                <a:latin typeface="Aptos"/>
                <a:ea typeface="Aptos"/>
                <a:cs typeface="Aptos"/>
              </a:rPr>
              <a:t>GEEIGNET FÜR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06D074-8687-4C73-8A8C-41063BAA0A9D}"/>
              </a:ext>
            </a:extLst>
          </p:cNvPr>
          <p:cNvSpPr>
            <a:spLocks noGrp="1"/>
          </p:cNvSpPr>
          <p:nvPr/>
        </p:nvSpPr>
        <p:spPr>
          <a:xfrm>
            <a:off x="1685925" y="5600700"/>
            <a:ext cx="4286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Szenariovergleich · relative Bank- und Klassenanfälligkeit · Kanalattribution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C07219-548C-4CE2-AED8-78FA11BD29DE}"/>
              </a:ext>
            </a:extLst>
          </p:cNvPr>
          <p:cNvSpPr>
            <a:spLocks noGrp="1"/>
          </p:cNvSpPr>
          <p:nvPr/>
        </p:nvSpPr>
        <p:spPr>
          <a:xfrm>
            <a:off x="6286500" y="5619750"/>
            <a:ext cx="1476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F1BCC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1BCC8"/>
                </a:solidFill>
                <a:latin typeface="Aptos"/>
                <a:ea typeface="Aptos"/>
                <a:cs typeface="Aptos"/>
              </a:rPr>
              <a:t>NICHT GEEIGNET FÜR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DB924E-2D1B-4E8C-A26A-7A66A0AED08D}"/>
              </a:ext>
            </a:extLst>
          </p:cNvPr>
          <p:cNvSpPr>
            <a:spLocks noGrp="1"/>
          </p:cNvSpPr>
          <p:nvPr/>
        </p:nvSpPr>
        <p:spPr>
          <a:xfrm>
            <a:off x="7762875" y="5600700"/>
            <a:ext cx="3667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 · IFRS-9-Abschluss · regulatorische Kapitalplanung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D02184-BD7D-44AF-9988-35FAA2C442AB}"/>
              </a:ext>
            </a:extLst>
          </p:cNvPr>
          <p:cNvSpPr>
            <a:spLocks noGrp="1"/>
          </p:cNvSpPr>
          <p:nvPr/>
        </p:nvSpPr>
        <p:spPr>
          <a:xfrm>
            <a:off x="638175" y="5905500"/>
            <a:ext cx="108108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Governance-Prinzip: Annahmen sind transparent, editierbar und über Sensitivitäts- sowie Backtests zu challengen.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4C4EE4-B136-422D-8000-A2F86E279A47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MODEL_ASSUMPTIONS.md · EBA/Pillar-3-Daten · Basel III / CRR · IFRS 9 · Modellimplementierung</a:t>
            </a:r>
          </a:p>
        </p:txBody>
      </p:sp>
    </p:spTree>
    <p:extLst>
      <p:ext uri="{BB962C8B-B14F-4D97-AF65-F5344CB8AC3E}">
        <p14:creationId xmlns:p14="http://schemas.microsoft.com/office/powerpoint/2010/main" val="9372291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Microsoft Office PowerPoint</Application>
  <DocSecurity>0</DocSecurity>
  <PresentationFormat>Widescreen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Gashi, Bleron</cp:lastModifiedBy>
  <cp:revision>1</cp:revision>
  <dcterms:created xsi:type="dcterms:W3CDTF">2026-06-18T12:45:25Z</dcterms:created>
  <dcterms:modified xsi:type="dcterms:W3CDTF">2026-06-18T17:02:08Z</dcterms:modified>
</cp:coreProperties>
</file>